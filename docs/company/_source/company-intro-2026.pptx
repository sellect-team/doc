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36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634" r:id="rId9"/>
    <p:sldId id="622" r:id="rId10"/>
    <p:sldId id="621" r:id="rId11"/>
    <p:sldId id="611" r:id="rId12"/>
    <p:sldId id="302" r:id="rId13"/>
    <p:sldId id="589" r:id="rId14"/>
    <p:sldId id="590" r:id="rId15"/>
    <p:sldId id="592" r:id="rId16"/>
    <p:sldId id="593" r:id="rId17"/>
    <p:sldId id="548" r:id="rId18"/>
    <p:sldId id="256" r:id="rId19"/>
    <p:sldId id="257" r:id="rId20"/>
    <p:sldId id="258" r:id="rId21"/>
    <p:sldId id="623" r:id="rId22"/>
    <p:sldId id="625" r:id="rId23"/>
    <p:sldId id="597" r:id="rId24"/>
    <p:sldId id="624" r:id="rId25"/>
    <p:sldId id="259" r:id="rId26"/>
    <p:sldId id="260" r:id="rId27"/>
    <p:sldId id="261" r:id="rId28"/>
    <p:sldId id="617" r:id="rId29"/>
    <p:sldId id="626" r:id="rId30"/>
    <p:sldId id="627" r:id="rId31"/>
    <p:sldId id="628" r:id="rId32"/>
    <p:sldId id="629" r:id="rId33"/>
    <p:sldId id="630" r:id="rId34"/>
    <p:sldId id="262" r:id="rId3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34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256"/>
            <p14:sldId id="257"/>
            <p14:sldId id="258"/>
            <p14:sldId id="623"/>
            <p14:sldId id="625"/>
            <p14:sldId id="597"/>
            <p14:sldId id="624"/>
            <p14:sldId id="259"/>
            <p14:sldId id="260"/>
            <p14:sldId id="261"/>
            <p14:sldId id="617"/>
            <p14:sldId id="626"/>
            <p14:sldId id="627"/>
            <p14:sldId id="628"/>
            <p14:sldId id="629"/>
            <p14:sldId id="630"/>
            <p14:sldId id="262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5.svg"/><Relationship Id="rId3" Type="http://schemas.openxmlformats.org/officeDocument/2006/relationships/image" Target="../media/image21.png"/><Relationship Id="rId7" Type="http://schemas.openxmlformats.org/officeDocument/2006/relationships/image" Target="../media/image31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svg"/><Relationship Id="rId11" Type="http://schemas.openxmlformats.org/officeDocument/2006/relationships/image" Target="../media/image26.svg"/><Relationship Id="rId5" Type="http://schemas.openxmlformats.org/officeDocument/2006/relationships/image" Target="../media/image29.png"/><Relationship Id="rId15" Type="http://schemas.openxmlformats.org/officeDocument/2006/relationships/image" Target="../media/image37.svg"/><Relationship Id="rId10" Type="http://schemas.openxmlformats.org/officeDocument/2006/relationships/image" Target="../media/image25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36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17" Type="http://schemas.openxmlformats.org/officeDocument/2006/relationships/image" Target="../media/image54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19" Type="http://schemas.openxmlformats.org/officeDocument/2006/relationships/image" Target="../media/image56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18" Type="http://schemas.openxmlformats.org/officeDocument/2006/relationships/image" Target="../media/image70.svg"/><Relationship Id="rId26" Type="http://schemas.openxmlformats.org/officeDocument/2006/relationships/image" Target="../media/image78.svg"/><Relationship Id="rId3" Type="http://schemas.openxmlformats.org/officeDocument/2006/relationships/image" Target="../media/image38.svg"/><Relationship Id="rId21" Type="http://schemas.openxmlformats.org/officeDocument/2006/relationships/image" Target="../media/image73.svg"/><Relationship Id="rId7" Type="http://schemas.openxmlformats.org/officeDocument/2006/relationships/image" Target="../media/image60.svg"/><Relationship Id="rId12" Type="http://schemas.openxmlformats.org/officeDocument/2006/relationships/image" Target="../media/image65.svg"/><Relationship Id="rId17" Type="http://schemas.openxmlformats.org/officeDocument/2006/relationships/image" Target="../media/image69.svg"/><Relationship Id="rId25" Type="http://schemas.openxmlformats.org/officeDocument/2006/relationships/image" Target="../media/image77.sv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68.svg"/><Relationship Id="rId20" Type="http://schemas.openxmlformats.org/officeDocument/2006/relationships/image" Target="../media/image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11" Type="http://schemas.openxmlformats.org/officeDocument/2006/relationships/image" Target="../media/image64.svg"/><Relationship Id="rId24" Type="http://schemas.openxmlformats.org/officeDocument/2006/relationships/image" Target="../media/image76.svg"/><Relationship Id="rId5" Type="http://schemas.openxmlformats.org/officeDocument/2006/relationships/image" Target="../media/image39.svg"/><Relationship Id="rId15" Type="http://schemas.openxmlformats.org/officeDocument/2006/relationships/image" Target="../media/image55.svg"/><Relationship Id="rId23" Type="http://schemas.openxmlformats.org/officeDocument/2006/relationships/image" Target="../media/image75.svg"/><Relationship Id="rId10" Type="http://schemas.openxmlformats.org/officeDocument/2006/relationships/image" Target="../media/image63.svg"/><Relationship Id="rId19" Type="http://schemas.openxmlformats.org/officeDocument/2006/relationships/image" Target="../media/image71.svg"/><Relationship Id="rId4" Type="http://schemas.openxmlformats.org/officeDocument/2006/relationships/image" Target="../media/image58.svg"/><Relationship Id="rId9" Type="http://schemas.openxmlformats.org/officeDocument/2006/relationships/image" Target="../media/image62.svg"/><Relationship Id="rId14" Type="http://schemas.openxmlformats.org/officeDocument/2006/relationships/image" Target="../media/image67.svg"/><Relationship Id="rId22" Type="http://schemas.openxmlformats.org/officeDocument/2006/relationships/image" Target="../media/image74.svg"/><Relationship Id="rId27" Type="http://schemas.openxmlformats.org/officeDocument/2006/relationships/image" Target="../media/image79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5.sv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sv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png"/><Relationship Id="rId15" Type="http://schemas.openxmlformats.org/officeDocument/2006/relationships/image" Target="../media/image4.png"/><Relationship Id="rId10" Type="http://schemas.openxmlformats.org/officeDocument/2006/relationships/image" Target="../media/image88.svg"/><Relationship Id="rId19" Type="http://schemas.openxmlformats.org/officeDocument/2006/relationships/image" Target="../media/image96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0.svg"/><Relationship Id="rId5" Type="http://schemas.openxmlformats.org/officeDocument/2006/relationships/image" Target="../media/image99.svg"/><Relationship Id="rId4" Type="http://schemas.openxmlformats.org/officeDocument/2006/relationships/image" Target="../media/image98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svg"/><Relationship Id="rId13" Type="http://schemas.openxmlformats.org/officeDocument/2006/relationships/image" Target="../media/image113.svg"/><Relationship Id="rId3" Type="http://schemas.openxmlformats.org/officeDocument/2006/relationships/image" Target="../media/image103.png"/><Relationship Id="rId7" Type="http://schemas.openxmlformats.org/officeDocument/2006/relationships/image" Target="../media/image107.svg"/><Relationship Id="rId12" Type="http://schemas.openxmlformats.org/officeDocument/2006/relationships/image" Target="../media/image112.svg"/><Relationship Id="rId17" Type="http://schemas.openxmlformats.org/officeDocument/2006/relationships/image" Target="../media/image117.png"/><Relationship Id="rId2" Type="http://schemas.openxmlformats.org/officeDocument/2006/relationships/image" Target="../media/image102.png"/><Relationship Id="rId16" Type="http://schemas.openxmlformats.org/officeDocument/2006/relationships/image" Target="../media/image116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6.svg"/><Relationship Id="rId11" Type="http://schemas.openxmlformats.org/officeDocument/2006/relationships/image" Target="../media/image111.svg"/><Relationship Id="rId5" Type="http://schemas.openxmlformats.org/officeDocument/2006/relationships/image" Target="../media/image105.png"/><Relationship Id="rId15" Type="http://schemas.openxmlformats.org/officeDocument/2006/relationships/image" Target="../media/image115.svg"/><Relationship Id="rId10" Type="http://schemas.openxmlformats.org/officeDocument/2006/relationships/image" Target="../media/image110.svg"/><Relationship Id="rId4" Type="http://schemas.openxmlformats.org/officeDocument/2006/relationships/image" Target="../media/image104.png"/><Relationship Id="rId9" Type="http://schemas.openxmlformats.org/officeDocument/2006/relationships/image" Target="../media/image109.svg"/><Relationship Id="rId14" Type="http://schemas.openxmlformats.org/officeDocument/2006/relationships/image" Target="../media/image114.sv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svg"/><Relationship Id="rId3" Type="http://schemas.openxmlformats.org/officeDocument/2006/relationships/image" Target="../media/image118.svg"/><Relationship Id="rId7" Type="http://schemas.openxmlformats.org/officeDocument/2006/relationships/image" Target="../media/image122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1.svg"/><Relationship Id="rId5" Type="http://schemas.openxmlformats.org/officeDocument/2006/relationships/image" Target="../media/image120.svg"/><Relationship Id="rId4" Type="http://schemas.openxmlformats.org/officeDocument/2006/relationships/image" Target="../media/image119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svg"/><Relationship Id="rId13" Type="http://schemas.openxmlformats.org/officeDocument/2006/relationships/image" Target="../media/image133.svg"/><Relationship Id="rId3" Type="http://schemas.openxmlformats.org/officeDocument/2006/relationships/image" Target="../media/image124.svg"/><Relationship Id="rId7" Type="http://schemas.openxmlformats.org/officeDocument/2006/relationships/image" Target="../media/image128.svg"/><Relationship Id="rId12" Type="http://schemas.openxmlformats.org/officeDocument/2006/relationships/image" Target="../media/image118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7.svg"/><Relationship Id="rId11" Type="http://schemas.openxmlformats.org/officeDocument/2006/relationships/image" Target="../media/image132.svg"/><Relationship Id="rId5" Type="http://schemas.openxmlformats.org/officeDocument/2006/relationships/image" Target="../media/image126.svg"/><Relationship Id="rId10" Type="http://schemas.openxmlformats.org/officeDocument/2006/relationships/image" Target="../media/image131.svg"/><Relationship Id="rId4" Type="http://schemas.openxmlformats.org/officeDocument/2006/relationships/image" Target="../media/image125.svg"/><Relationship Id="rId9" Type="http://schemas.openxmlformats.org/officeDocument/2006/relationships/image" Target="../media/image130.svg"/><Relationship Id="rId14" Type="http://schemas.openxmlformats.org/officeDocument/2006/relationships/image" Target="../media/image119.sv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svg"/><Relationship Id="rId3" Type="http://schemas.openxmlformats.org/officeDocument/2006/relationships/image" Target="../media/image134.svg"/><Relationship Id="rId7" Type="http://schemas.openxmlformats.org/officeDocument/2006/relationships/image" Target="../media/image138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7.svg"/><Relationship Id="rId5" Type="http://schemas.openxmlformats.org/officeDocument/2006/relationships/image" Target="../media/image136.svg"/><Relationship Id="rId4" Type="http://schemas.openxmlformats.org/officeDocument/2006/relationships/image" Target="../media/image135.svg"/><Relationship Id="rId9" Type="http://schemas.openxmlformats.org/officeDocument/2006/relationships/image" Target="../media/image140.sv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성장 지표 · 레퍼런스 · 핵심 역량 · 조직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Apps · Insight Mate · Tableau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사례 및 예시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구축 사례와 현장 적용 예시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82명 (2026. 09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Work Space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7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7년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약 15년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15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15년 가까이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7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15년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  <p:sp>
        <p:nvSpPr>
          <p:cNvPr id="273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470400"/>
            <a:ext cx="40640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LG 전자</a:t>
            </a:r>
          </a:p>
        </p:txBody>
      </p:sp>
      <p:sp>
        <p:nvSpPr>
          <p:cNvPr id="274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52700" y="4457700"/>
            <a:ext cx="10795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HR Index 대시보드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75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4318000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76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2600" y="4305300"/>
            <a:ext cx="11303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HR DataLab 구축</a:t>
            </a: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0726" y="1324966"/>
            <a:ext cx="7306788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297173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83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9" name="Shape 7"/>
          <p:cNvSpPr/>
          <p:nvPr/>
        </p:nvSpPr>
        <p:spPr>
          <a:xfrm>
            <a:off x="1739146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47957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1" name="Shape 9"/>
          <p:cNvSpPr/>
          <p:nvPr/>
        </p:nvSpPr>
        <p:spPr>
          <a:xfrm>
            <a:off x="3181119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89929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3" name="Shape 11"/>
          <p:cNvSpPr/>
          <p:nvPr/>
        </p:nvSpPr>
        <p:spPr>
          <a:xfrm>
            <a:off x="4623091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31902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5" name="Shape 13"/>
          <p:cNvSpPr/>
          <p:nvPr/>
        </p:nvSpPr>
        <p:spPr>
          <a:xfrm>
            <a:off x="6065064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3875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7" name="Shape 15"/>
          <p:cNvSpPr/>
          <p:nvPr/>
        </p:nvSpPr>
        <p:spPr>
          <a:xfrm>
            <a:off x="7507037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15847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5133" y="2623700"/>
            <a:ext cx="7801466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Shape 18"/>
          <p:cNvSpPr/>
          <p:nvPr/>
        </p:nvSpPr>
        <p:spPr>
          <a:xfrm>
            <a:off x="297173" y="2820696"/>
            <a:ext cx="2651694" cy="1575454"/>
          </a:xfrm>
          <a:prstGeom prst="roundRect">
            <a:avLst>
              <a:gd name="adj" fmla="val 652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4330" y="2940540"/>
            <a:ext cx="422442" cy="166649"/>
          </a:xfrm>
          <a:prstGeom prst="roundRect">
            <a:avLst>
              <a:gd name="adj" fmla="val 2400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4330" y="3393167"/>
            <a:ext cx="237738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4330" y="3661144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30" y="3851968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330" y="4193496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6" name="Shape 24"/>
          <p:cNvSpPr/>
          <p:nvPr/>
        </p:nvSpPr>
        <p:spPr>
          <a:xfrm>
            <a:off x="3246039" y="2820696"/>
            <a:ext cx="2651694" cy="1575454"/>
          </a:xfrm>
          <a:prstGeom prst="roundRect">
            <a:avLst>
              <a:gd name="adj" fmla="val 652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3195" y="2940540"/>
            <a:ext cx="611718" cy="166649"/>
          </a:xfrm>
          <a:prstGeom prst="roundRect">
            <a:avLst>
              <a:gd name="adj" fmla="val 2400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196" y="3393167"/>
            <a:ext cx="237738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196" y="3661144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0" name="Shape 28"/>
          <p:cNvSpPr/>
          <p:nvPr/>
        </p:nvSpPr>
        <p:spPr>
          <a:xfrm>
            <a:off x="3383196" y="4002673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1" name="Shape 29"/>
          <p:cNvSpPr/>
          <p:nvPr/>
        </p:nvSpPr>
        <p:spPr>
          <a:xfrm>
            <a:off x="3383196" y="4193496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2" name="Shape 30"/>
          <p:cNvSpPr/>
          <p:nvPr/>
        </p:nvSpPr>
        <p:spPr>
          <a:xfrm>
            <a:off x="6194905" y="2820696"/>
            <a:ext cx="2651694" cy="1575454"/>
          </a:xfrm>
          <a:prstGeom prst="roundRect">
            <a:avLst>
              <a:gd name="adj" fmla="val 652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32062" y="2940540"/>
            <a:ext cx="600746" cy="166649"/>
          </a:xfrm>
          <a:prstGeom prst="roundRect">
            <a:avLst>
              <a:gd name="adj" fmla="val 2400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2062" y="3393167"/>
            <a:ext cx="237738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32062" y="3661144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6" name="Shape 34"/>
          <p:cNvSpPr/>
          <p:nvPr/>
        </p:nvSpPr>
        <p:spPr>
          <a:xfrm>
            <a:off x="6332062" y="3851968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7" name="Shape 35"/>
          <p:cNvSpPr/>
          <p:nvPr/>
        </p:nvSpPr>
        <p:spPr>
          <a:xfrm>
            <a:off x="6332062" y="4193496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8" name="Shape 36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sp>
        <p:nvSpPr>
          <p:cNvPr id="39" name="Shape 37"/>
          <p:cNvSpPr/>
          <p:nvPr/>
        </p:nvSpPr>
        <p:spPr>
          <a:xfrm>
            <a:off x="484620" y="1692115"/>
            <a:ext cx="38404" cy="38255"/>
          </a:xfrm>
          <a:prstGeom prst="ellipse">
            <a:avLst/>
          </a:prstGeom>
          <a:ln w="11681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8162" y="1741300"/>
            <a:ext cx="71321" cy="35522"/>
          </a:xfrm>
          <a:custGeom>
            <a:avLst/>
            <a:gdLst/>
            <a:ahLst/>
            <a:cxnLst/>
            <a:rect l="l" t="t" r="r" b="b"/>
            <a:pathLst>
              <a:path w="95095" h="47363">
                <a:moveTo>
                  <a:pt x="0" y="47363"/>
                </a:moveTo>
                <a:cubicBezTo>
                  <a:pt x="0" y="21205"/>
                  <a:pt x="21288" y="0"/>
                  <a:pt x="47548" y="0"/>
                </a:cubicBezTo>
                <a:cubicBezTo>
                  <a:pt x="73807" y="0"/>
                  <a:pt x="95095" y="21205"/>
                  <a:pt x="95095" y="47363"/>
                </a:cubicBez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3997" y="1703046"/>
            <a:ext cx="27431" cy="27325"/>
          </a:xfrm>
          <a:prstGeom prst="ellipse">
            <a:avLst/>
          </a:prstGeom>
          <a:ln w="11681">
            <a:solidFill>
              <a:srgbClr val="0D94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2226" y="1751467"/>
            <a:ext cx="30175" cy="25355"/>
          </a:xfrm>
          <a:custGeom>
            <a:avLst/>
            <a:gdLst/>
            <a:ahLst/>
            <a:cxnLst/>
            <a:rect l="l" t="t" r="r" b="b"/>
            <a:pathLst>
              <a:path w="40233" h="33806">
                <a:moveTo>
                  <a:pt x="0" y="1016"/>
                </a:moveTo>
                <a:cubicBezTo>
                  <a:pt x="9710" y="0"/>
                  <a:pt x="19425" y="2893"/>
                  <a:pt x="26982" y="9052"/>
                </a:cubicBezTo>
                <a:cubicBezTo>
                  <a:pt x="34539" y="15211"/>
                  <a:pt x="39310" y="24124"/>
                  <a:pt x="40233" y="33806"/>
                </a:cubicBez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18364" y="1705777"/>
            <a:ext cx="71321" cy="2744"/>
          </a:xfrm>
          <a:custGeom>
            <a:avLst/>
            <a:gdLst/>
            <a:ahLst/>
            <a:cxnLst/>
            <a:rect l="l" t="t" r="r" b="b"/>
            <a:pathLst>
              <a:path w="95095" h="3658">
                <a:moveTo>
                  <a:pt x="0" y="0"/>
                </a:moveTo>
                <a:lnTo>
                  <a:pt x="95095" y="0"/>
                </a:ln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73226" y="1689383"/>
            <a:ext cx="16459" cy="32790"/>
          </a:xfrm>
          <a:custGeom>
            <a:avLst/>
            <a:gdLst/>
            <a:ahLst/>
            <a:cxnLst/>
            <a:rect l="l" t="t" r="r" b="b"/>
            <a:pathLst>
              <a:path w="21945" h="43720">
                <a:moveTo>
                  <a:pt x="0" y="0"/>
                </a:moveTo>
                <a:lnTo>
                  <a:pt x="21945" y="21860"/>
                </a:lnTo>
                <a:lnTo>
                  <a:pt x="0" y="43720"/>
                </a:ln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34823" y="1760427"/>
            <a:ext cx="71321" cy="2744"/>
          </a:xfrm>
          <a:custGeom>
            <a:avLst/>
            <a:gdLst/>
            <a:ahLst/>
            <a:cxnLst/>
            <a:rect l="l" t="t" r="r" b="b"/>
            <a:pathLst>
              <a:path w="95095" h="3658">
                <a:moveTo>
                  <a:pt x="95095" y="0"/>
                </a:moveTo>
                <a:lnTo>
                  <a:pt x="0" y="0"/>
                </a:ln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34823" y="1744032"/>
            <a:ext cx="16459" cy="32790"/>
          </a:xfrm>
          <a:custGeom>
            <a:avLst/>
            <a:gdLst/>
            <a:ahLst/>
            <a:cxnLst/>
            <a:rect l="l" t="t" r="r" b="b"/>
            <a:pathLst>
              <a:path w="21945" h="43720">
                <a:moveTo>
                  <a:pt x="21945" y="0"/>
                </a:moveTo>
                <a:lnTo>
                  <a:pt x="0" y="21860"/>
                </a:lnTo>
                <a:lnTo>
                  <a:pt x="21945" y="43720"/>
                </a:ln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54850" y="1694848"/>
            <a:ext cx="98753" cy="76510"/>
          </a:xfrm>
          <a:custGeom>
            <a:avLst/>
            <a:gdLst/>
            <a:ahLst/>
            <a:cxnLst/>
            <a:rect l="l" t="t" r="r" b="b"/>
            <a:pathLst>
              <a:path w="131670" h="102013">
                <a:moveTo>
                  <a:pt x="0" y="0"/>
                </a:moveTo>
                <a:lnTo>
                  <a:pt x="131670" y="0"/>
                </a:lnTo>
                <a:lnTo>
                  <a:pt x="80465" y="58293"/>
                </a:lnTo>
                <a:lnTo>
                  <a:pt x="80465" y="102013"/>
                </a:lnTo>
                <a:lnTo>
                  <a:pt x="51205" y="87439"/>
                </a:lnTo>
                <a:lnTo>
                  <a:pt x="51205" y="58293"/>
                </a:lnTo>
                <a:close/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99566" y="1686651"/>
            <a:ext cx="93266" cy="92905"/>
          </a:xfrm>
          <a:prstGeom prst="ellipse">
            <a:avLst/>
          </a:prstGeom>
          <a:ln w="11681">
            <a:solidFill>
              <a:srgbClr val="0D948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21511" y="1708510"/>
            <a:ext cx="49376" cy="49185"/>
          </a:xfrm>
          <a:prstGeom prst="ellipse">
            <a:avLst/>
          </a:prstGeom>
          <a:ln w="11681">
            <a:solidFill>
              <a:srgbClr val="0D948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840712" y="1727637"/>
            <a:ext cx="10973" cy="10930"/>
          </a:xfrm>
          <a:prstGeom prst="ellipse">
            <a:avLst/>
          </a:prstGeom>
          <a:ln w="11681">
            <a:solidFill>
              <a:srgbClr val="0D948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44282" y="1694848"/>
            <a:ext cx="49376" cy="81974"/>
          </a:xfrm>
          <a:custGeom>
            <a:avLst/>
            <a:gdLst/>
            <a:ahLst/>
            <a:cxnLst/>
            <a:rect l="l" t="t" r="r" b="b"/>
            <a:pathLst>
              <a:path w="65835" h="109299">
                <a:moveTo>
                  <a:pt x="0" y="0"/>
                </a:moveTo>
                <a:lnTo>
                  <a:pt x="43890" y="0"/>
                </a:lnTo>
                <a:cubicBezTo>
                  <a:pt x="56010" y="0"/>
                  <a:pt x="65835" y="9787"/>
                  <a:pt x="65835" y="21860"/>
                </a:cubicBezTo>
                <a:lnTo>
                  <a:pt x="65835" y="109299"/>
                </a:lnTo>
                <a:cubicBezTo>
                  <a:pt x="65835" y="101251"/>
                  <a:pt x="59285" y="94726"/>
                  <a:pt x="51205" y="94726"/>
                </a:cubicBezTo>
                <a:lnTo>
                  <a:pt x="0" y="94726"/>
                </a:lnTo>
                <a:close/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82686" y="1694848"/>
            <a:ext cx="49376" cy="81974"/>
          </a:xfrm>
          <a:custGeom>
            <a:avLst/>
            <a:gdLst/>
            <a:ahLst/>
            <a:cxnLst/>
            <a:rect l="l" t="t" r="r" b="b"/>
            <a:pathLst>
              <a:path w="65835" h="109299">
                <a:moveTo>
                  <a:pt x="65835" y="0"/>
                </a:moveTo>
                <a:lnTo>
                  <a:pt x="21945" y="0"/>
                </a:lnTo>
                <a:cubicBezTo>
                  <a:pt x="9825" y="0"/>
                  <a:pt x="0" y="9787"/>
                  <a:pt x="0" y="21860"/>
                </a:cubicBezTo>
                <a:lnTo>
                  <a:pt x="0" y="109299"/>
                </a:lnTo>
                <a:cubicBezTo>
                  <a:pt x="0" y="101251"/>
                  <a:pt x="6550" y="94726"/>
                  <a:pt x="14630" y="94726"/>
                </a:cubicBezTo>
                <a:lnTo>
                  <a:pt x="65835" y="94726"/>
                </a:lnTo>
                <a:close/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688997" y="1683918"/>
            <a:ext cx="82294" cy="98369"/>
          </a:xfrm>
          <a:custGeom>
            <a:avLst/>
            <a:gdLst/>
            <a:ahLst/>
            <a:cxnLst/>
            <a:rect l="l" t="t" r="r" b="b"/>
            <a:pathLst>
              <a:path w="109725" h="131159">
                <a:moveTo>
                  <a:pt x="54863" y="0"/>
                </a:moveTo>
                <a:lnTo>
                  <a:pt x="109725" y="21860"/>
                </a:lnTo>
                <a:lnTo>
                  <a:pt x="109725" y="61936"/>
                </a:lnTo>
                <a:cubicBezTo>
                  <a:pt x="109725" y="94726"/>
                  <a:pt x="86317" y="120229"/>
                  <a:pt x="54863" y="131159"/>
                </a:cubicBezTo>
                <a:cubicBezTo>
                  <a:pt x="23408" y="120229"/>
                  <a:pt x="0" y="94726"/>
                  <a:pt x="0" y="61936"/>
                </a:cubicBezTo>
                <a:lnTo>
                  <a:pt x="0" y="21860"/>
                </a:lnTo>
                <a:close/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713685" y="1722172"/>
            <a:ext cx="32918" cy="21860"/>
          </a:xfrm>
          <a:custGeom>
            <a:avLst/>
            <a:gdLst/>
            <a:ahLst/>
            <a:cxnLst/>
            <a:rect l="l" t="t" r="r" b="b"/>
            <a:pathLst>
              <a:path w="43890" h="29146">
                <a:moveTo>
                  <a:pt x="0" y="14573"/>
                </a:moveTo>
                <a:lnTo>
                  <a:pt x="14630" y="29146"/>
                </a:lnTo>
                <a:lnTo>
                  <a:pt x="43890" y="0"/>
                </a:ln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81877" y="4639888"/>
            <a:ext cx="82294" cy="98369"/>
          </a:xfrm>
          <a:custGeom>
            <a:avLst/>
            <a:gdLst/>
            <a:ahLst/>
            <a:cxnLst/>
            <a:rect l="l" t="t" r="r" b="b"/>
            <a:pathLst>
              <a:path w="109725" h="131159">
                <a:moveTo>
                  <a:pt x="54863" y="0"/>
                </a:moveTo>
                <a:lnTo>
                  <a:pt x="109725" y="21860"/>
                </a:lnTo>
                <a:lnTo>
                  <a:pt x="109725" y="61936"/>
                </a:lnTo>
                <a:cubicBezTo>
                  <a:pt x="109725" y="94726"/>
                  <a:pt x="86317" y="120229"/>
                  <a:pt x="54863" y="131159"/>
                </a:cubicBezTo>
                <a:cubicBezTo>
                  <a:pt x="23408" y="120229"/>
                  <a:pt x="0" y="94726"/>
                  <a:pt x="0" y="61936"/>
                </a:cubicBezTo>
                <a:lnTo>
                  <a:pt x="0" y="21860"/>
                </a:lnTo>
                <a:close/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45303" y="167678"/>
            <a:ext cx="478667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인사 데이터를 대시보드로,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HR 데이터 분석 레퍼런스</a:t>
            </a:r>
            <a:endParaRPr lang="en-US" sz="1710" dirty="0"/>
          </a:p>
        </p:txBody>
      </p:sp>
      <p:sp>
        <p:nvSpPr>
          <p:cNvPr id="57" name="Text 55"/>
          <p:cNvSpPr txBox="1"/>
          <p:nvPr/>
        </p:nvSpPr>
        <p:spPr>
          <a:xfrm>
            <a:off x="7923078" y="241745"/>
            <a:ext cx="10606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01 · Who We Are</a:t>
            </a:r>
            <a:endParaRPr lang="en-US" sz="885" dirty="0"/>
          </a:p>
        </p:txBody>
      </p:sp>
      <p:sp>
        <p:nvSpPr>
          <p:cNvPr id="58" name="Text 56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 · 삼성전자 DX · 삼성전자 DS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세 곳의 인사 데이터를 Tableau 대시보드와 포털로 구축했습니다. 인력 현황부터 발령 추적, 권한별 열람 제한까지 같은 모듈 구성을 세</a:t>
            </a:r>
            <a:endParaRPr lang="en-US" sz="990" dirty="0"/>
          </a:p>
        </p:txBody>
      </p:sp>
      <p:sp>
        <p:nvSpPr>
          <p:cNvPr id="59" name="Text 57"/>
          <p:cNvSpPr txBox="1"/>
          <p:nvPr/>
        </p:nvSpPr>
        <p:spPr>
          <a:xfrm>
            <a:off x="297173" y="843020"/>
            <a:ext cx="4226434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곳에서 반복 수행했고, 구축 이후 유지보수와 단계 확장으로 이어지고 있습니다.</a:t>
            </a:r>
            <a:endParaRPr lang="en-US" sz="990" dirty="0"/>
          </a:p>
        </p:txBody>
      </p:sp>
      <p:sp>
        <p:nvSpPr>
          <p:cNvPr id="60" name="Text 58"/>
          <p:cNvSpPr txBox="1"/>
          <p:nvPr/>
        </p:nvSpPr>
        <p:spPr>
          <a:xfrm>
            <a:off x="297173" y="1263758"/>
            <a:ext cx="1300248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공통 모듈 - 세 곳 모두 적용</a:t>
            </a:r>
            <a:endParaRPr lang="en-US" sz="720" dirty="0"/>
          </a:p>
        </p:txBody>
      </p:sp>
      <p:sp>
        <p:nvSpPr>
          <p:cNvPr id="61" name="Text 59"/>
          <p:cNvSpPr txBox="1"/>
          <p:nvPr/>
        </p:nvSpPr>
        <p:spPr>
          <a:xfrm>
            <a:off x="405983" y="1900524"/>
            <a:ext cx="548630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인력 현황</a:t>
            </a:r>
            <a:endParaRPr lang="en-US" sz="885" dirty="0"/>
          </a:p>
        </p:txBody>
      </p:sp>
      <p:sp>
        <p:nvSpPr>
          <p:cNvPr id="62" name="Text 60"/>
          <p:cNvSpPr txBox="1"/>
          <p:nvPr/>
        </p:nvSpPr>
        <p:spPr>
          <a:xfrm>
            <a:off x="1847957" y="1900524"/>
            <a:ext cx="629095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발령 · 이동</a:t>
            </a:r>
            <a:endParaRPr lang="en-US" sz="885" dirty="0"/>
          </a:p>
        </p:txBody>
      </p:sp>
      <p:sp>
        <p:nvSpPr>
          <p:cNvPr id="63" name="Text 61"/>
          <p:cNvSpPr txBox="1"/>
          <p:nvPr/>
        </p:nvSpPr>
        <p:spPr>
          <a:xfrm>
            <a:off x="3289929" y="1900524"/>
            <a:ext cx="548630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조건 추출</a:t>
            </a:r>
            <a:endParaRPr lang="en-US" sz="885" dirty="0"/>
          </a:p>
        </p:txBody>
      </p:sp>
      <p:sp>
        <p:nvSpPr>
          <p:cNvPr id="64" name="Text 62"/>
          <p:cNvSpPr txBox="1"/>
          <p:nvPr/>
        </p:nvSpPr>
        <p:spPr>
          <a:xfrm>
            <a:off x="4731902" y="1900524"/>
            <a:ext cx="767166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핵심 인력 추적</a:t>
            </a:r>
            <a:endParaRPr lang="en-US" sz="885" dirty="0"/>
          </a:p>
        </p:txBody>
      </p:sp>
      <p:sp>
        <p:nvSpPr>
          <p:cNvPr id="65" name="Text 63"/>
          <p:cNvSpPr txBox="1"/>
          <p:nvPr/>
        </p:nvSpPr>
        <p:spPr>
          <a:xfrm>
            <a:off x="6173875" y="1900524"/>
            <a:ext cx="94364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교육 · 복지 활용도</a:t>
            </a:r>
            <a:endParaRPr lang="en-US" sz="885" dirty="0"/>
          </a:p>
        </p:txBody>
      </p:sp>
      <p:sp>
        <p:nvSpPr>
          <p:cNvPr id="66" name="Text 64"/>
          <p:cNvSpPr txBox="1"/>
          <p:nvPr/>
        </p:nvSpPr>
        <p:spPr>
          <a:xfrm>
            <a:off x="7615848" y="1900524"/>
            <a:ext cx="863176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권한별 열람 제한</a:t>
            </a:r>
            <a:endParaRPr lang="en-US" sz="885" dirty="0"/>
          </a:p>
        </p:txBody>
      </p:sp>
      <p:sp>
        <p:nvSpPr>
          <p:cNvPr id="67" name="Text 65"/>
          <p:cNvSpPr txBox="1"/>
          <p:nvPr/>
        </p:nvSpPr>
        <p:spPr>
          <a:xfrm>
            <a:off x="405983" y="2072316"/>
            <a:ext cx="125087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성별 · 연령 · 학력 등 재직 인원</a:t>
            </a:r>
            <a:endParaRPr lang="en-US" sz="720" dirty="0"/>
          </a:p>
        </p:txBody>
      </p:sp>
      <p:sp>
        <p:nvSpPr>
          <p:cNvPr id="68" name="Text 66"/>
          <p:cNvSpPr txBox="1"/>
          <p:nvPr/>
        </p:nvSpPr>
        <p:spPr>
          <a:xfrm>
            <a:off x="1847957" y="2072316"/>
            <a:ext cx="121521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입사 · 퇴사 · 발령 · 해외 발령</a:t>
            </a:r>
            <a:endParaRPr lang="en-US" sz="720" dirty="0"/>
          </a:p>
        </p:txBody>
      </p:sp>
      <p:sp>
        <p:nvSpPr>
          <p:cNvPr id="69" name="Text 67"/>
          <p:cNvSpPr txBox="1"/>
          <p:nvPr/>
        </p:nvSpPr>
        <p:spPr>
          <a:xfrm>
            <a:off x="3289929" y="2072316"/>
            <a:ext cx="125910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원하는 조건의 인원만 골라 목록</a:t>
            </a:r>
            <a:endParaRPr lang="en-US" sz="720" dirty="0"/>
          </a:p>
        </p:txBody>
      </p:sp>
      <p:sp>
        <p:nvSpPr>
          <p:cNvPr id="70" name="Text 68"/>
          <p:cNvSpPr txBox="1"/>
          <p:nvPr/>
        </p:nvSpPr>
        <p:spPr>
          <a:xfrm>
            <a:off x="4731902" y="2072316"/>
            <a:ext cx="1223440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핵심인재 · 관리직의 이동과 해</a:t>
            </a:r>
            <a:endParaRPr lang="en-US" sz="720" dirty="0"/>
          </a:p>
        </p:txBody>
      </p:sp>
      <p:sp>
        <p:nvSpPr>
          <p:cNvPr id="71" name="Text 69"/>
          <p:cNvSpPr txBox="1"/>
          <p:nvPr/>
        </p:nvSpPr>
        <p:spPr>
          <a:xfrm>
            <a:off x="6173875" y="2072316"/>
            <a:ext cx="1210639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교육, 휴가 · 복지 제도 이</a:t>
            </a:r>
            <a:endParaRPr lang="en-US" sz="720" dirty="0"/>
          </a:p>
        </p:txBody>
      </p:sp>
      <p:sp>
        <p:nvSpPr>
          <p:cNvPr id="72" name="Text 70"/>
          <p:cNvSpPr txBox="1"/>
          <p:nvPr/>
        </p:nvSpPr>
        <p:spPr>
          <a:xfrm>
            <a:off x="7615848" y="2072316"/>
            <a:ext cx="1245385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부서 · 역할에 따라 조회 인원을</a:t>
            </a:r>
            <a:endParaRPr lang="en-US" sz="720" dirty="0"/>
          </a:p>
        </p:txBody>
      </p:sp>
      <p:sp>
        <p:nvSpPr>
          <p:cNvPr id="73" name="Text 71"/>
          <p:cNvSpPr txBox="1"/>
          <p:nvPr/>
        </p:nvSpPr>
        <p:spPr>
          <a:xfrm>
            <a:off x="405984" y="2205019"/>
            <a:ext cx="29717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구성</a:t>
            </a:r>
            <a:endParaRPr lang="en-US" sz="720" dirty="0"/>
          </a:p>
        </p:txBody>
      </p:sp>
      <p:sp>
        <p:nvSpPr>
          <p:cNvPr id="74" name="Text 72"/>
          <p:cNvSpPr txBox="1"/>
          <p:nvPr/>
        </p:nvSpPr>
        <p:spPr>
          <a:xfrm>
            <a:off x="1847957" y="2205019"/>
            <a:ext cx="29717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이력</a:t>
            </a:r>
            <a:endParaRPr lang="en-US" sz="720" dirty="0"/>
          </a:p>
        </p:txBody>
      </p:sp>
      <p:sp>
        <p:nvSpPr>
          <p:cNvPr id="75" name="Text 73"/>
          <p:cNvSpPr txBox="1"/>
          <p:nvPr/>
        </p:nvSpPr>
        <p:spPr>
          <a:xfrm>
            <a:off x="3289929" y="2205019"/>
            <a:ext cx="456278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다운로드</a:t>
            </a:r>
            <a:endParaRPr lang="en-US" sz="720" dirty="0"/>
          </a:p>
        </p:txBody>
      </p:sp>
      <p:sp>
        <p:nvSpPr>
          <p:cNvPr id="76" name="Text 74"/>
          <p:cNvSpPr txBox="1"/>
          <p:nvPr/>
        </p:nvSpPr>
        <p:spPr>
          <a:xfrm>
            <a:off x="4731902" y="2205019"/>
            <a:ext cx="578804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외 발령 관리</a:t>
            </a:r>
            <a:endParaRPr lang="en-US" sz="720" dirty="0"/>
          </a:p>
        </p:txBody>
      </p:sp>
      <p:sp>
        <p:nvSpPr>
          <p:cNvPr id="77" name="Text 75"/>
          <p:cNvSpPr txBox="1"/>
          <p:nvPr/>
        </p:nvSpPr>
        <p:spPr>
          <a:xfrm>
            <a:off x="6173875" y="2205019"/>
            <a:ext cx="397757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용 측정</a:t>
            </a:r>
            <a:endParaRPr lang="en-US" sz="720" dirty="0"/>
          </a:p>
        </p:txBody>
      </p:sp>
      <p:sp>
        <p:nvSpPr>
          <p:cNvPr id="78" name="Text 76"/>
          <p:cNvSpPr txBox="1"/>
          <p:nvPr/>
        </p:nvSpPr>
        <p:spPr>
          <a:xfrm>
            <a:off x="7615848" y="2205019"/>
            <a:ext cx="644639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제한하는 RLS</a:t>
            </a:r>
            <a:endParaRPr lang="en-US" sz="720" dirty="0"/>
          </a:p>
        </p:txBody>
      </p:sp>
      <p:sp>
        <p:nvSpPr>
          <p:cNvPr id="79" name="Text 77"/>
          <p:cNvSpPr txBox="1"/>
          <p:nvPr/>
        </p:nvSpPr>
        <p:spPr>
          <a:xfrm>
            <a:off x="297172" y="2562492"/>
            <a:ext cx="80465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고객별 프로젝트</a:t>
            </a:r>
            <a:endParaRPr lang="en-US" sz="720" dirty="0"/>
          </a:p>
        </p:txBody>
      </p:sp>
      <p:sp>
        <p:nvSpPr>
          <p:cNvPr id="80" name="Text 78"/>
          <p:cNvSpPr txBox="1"/>
          <p:nvPr/>
        </p:nvSpPr>
        <p:spPr>
          <a:xfrm>
            <a:off x="502908" y="2960084"/>
            <a:ext cx="42244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334155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3451774" y="2960084"/>
            <a:ext cx="61263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334155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DX</a:t>
            </a:r>
            <a:endParaRPr lang="en-US" sz="720" dirty="0"/>
          </a:p>
        </p:txBody>
      </p:sp>
      <p:sp>
        <p:nvSpPr>
          <p:cNvPr id="82" name="Text 80"/>
          <p:cNvSpPr txBox="1"/>
          <p:nvPr/>
        </p:nvSpPr>
        <p:spPr>
          <a:xfrm>
            <a:off x="6400641" y="2960084"/>
            <a:ext cx="60074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334155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720" dirty="0"/>
          </a:p>
        </p:txBody>
      </p:sp>
      <p:sp>
        <p:nvSpPr>
          <p:cNvPr id="83" name="Text 81"/>
          <p:cNvSpPr txBox="1"/>
          <p:nvPr/>
        </p:nvSpPr>
        <p:spPr>
          <a:xfrm>
            <a:off x="1847042" y="2961627"/>
            <a:ext cx="11018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2023</a:t>
            </a:r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구축 · 이후 유지보수</a:t>
            </a:r>
            <a:endParaRPr lang="en-US" sz="705" dirty="0"/>
          </a:p>
        </p:txBody>
      </p:sp>
      <p:sp>
        <p:nvSpPr>
          <p:cNvPr id="84" name="Text 82"/>
          <p:cNvSpPr txBox="1"/>
          <p:nvPr/>
        </p:nvSpPr>
        <p:spPr>
          <a:xfrm>
            <a:off x="4508794" y="2961627"/>
            <a:ext cx="138894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2023~2024</a:t>
            </a:r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구축 · 이후 유지보수</a:t>
            </a:r>
            <a:endParaRPr lang="en-US" sz="705" dirty="0"/>
          </a:p>
        </p:txBody>
      </p:sp>
      <p:sp>
        <p:nvSpPr>
          <p:cNvPr id="85" name="Text 83"/>
          <p:cNvSpPr txBox="1"/>
          <p:nvPr/>
        </p:nvSpPr>
        <p:spPr>
          <a:xfrm>
            <a:off x="7345192" y="2961627"/>
            <a:ext cx="150141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2024~현재</a:t>
            </a:r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4차 진행 중 · 단계별 확장</a:t>
            </a:r>
            <a:endParaRPr lang="en-US" sz="705" dirty="0"/>
          </a:p>
        </p:txBody>
      </p:sp>
      <p:sp>
        <p:nvSpPr>
          <p:cNvPr id="86" name="Text 84"/>
          <p:cNvSpPr txBox="1"/>
          <p:nvPr/>
        </p:nvSpPr>
        <p:spPr>
          <a:xfrm>
            <a:off x="434330" y="3152966"/>
            <a:ext cx="1850699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6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HR Index 대시보드</a:t>
            </a:r>
            <a:r>
              <a:rPr lang="en-US" sz="720" kern="0" spc="-11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대시보드 + 포털</a:t>
            </a:r>
            <a:endParaRPr lang="en-US" sz="1065" dirty="0"/>
          </a:p>
        </p:txBody>
      </p:sp>
      <p:sp>
        <p:nvSpPr>
          <p:cNvPr id="87" name="Text 85"/>
          <p:cNvSpPr txBox="1"/>
          <p:nvPr/>
        </p:nvSpPr>
        <p:spPr>
          <a:xfrm>
            <a:off x="3383196" y="3152966"/>
            <a:ext cx="1518781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6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HR DataLab</a:t>
            </a:r>
            <a:r>
              <a:rPr lang="en-US" sz="720" kern="0" spc="-11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대시보드 + 포털</a:t>
            </a:r>
            <a:endParaRPr lang="en-US" sz="1065" dirty="0"/>
          </a:p>
        </p:txBody>
      </p:sp>
      <p:sp>
        <p:nvSpPr>
          <p:cNvPr id="88" name="Text 86"/>
          <p:cNvSpPr txBox="1"/>
          <p:nvPr/>
        </p:nvSpPr>
        <p:spPr>
          <a:xfrm>
            <a:off x="6332062" y="3152966"/>
            <a:ext cx="1602263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6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HR 분석 플랫폼</a:t>
            </a:r>
            <a:r>
              <a:rPr lang="en-US" sz="720" kern="0" spc="-11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대시보드 + 포털</a:t>
            </a:r>
            <a:endParaRPr lang="en-US" sz="1065" dirty="0"/>
          </a:p>
        </p:txBody>
      </p:sp>
      <p:sp>
        <p:nvSpPr>
          <p:cNvPr id="89" name="Text 87"/>
          <p:cNvSpPr txBox="1"/>
          <p:nvPr/>
        </p:nvSpPr>
        <p:spPr>
          <a:xfrm>
            <a:off x="434330" y="3449232"/>
            <a:ext cx="95552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 프로젝트의 특화 항목</a:t>
            </a:r>
            <a:endParaRPr lang="en-US" sz="683" dirty="0"/>
          </a:p>
        </p:txBody>
      </p:sp>
      <p:sp>
        <p:nvSpPr>
          <p:cNvPr id="90" name="Text 88"/>
          <p:cNvSpPr txBox="1"/>
          <p:nvPr/>
        </p:nvSpPr>
        <p:spPr>
          <a:xfrm>
            <a:off x="3383196" y="3449232"/>
            <a:ext cx="95552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 프로젝트의 특화 항목</a:t>
            </a:r>
            <a:endParaRPr lang="en-US" sz="683" dirty="0"/>
          </a:p>
        </p:txBody>
      </p:sp>
      <p:sp>
        <p:nvSpPr>
          <p:cNvPr id="91" name="Text 89"/>
          <p:cNvSpPr txBox="1"/>
          <p:nvPr/>
        </p:nvSpPr>
        <p:spPr>
          <a:xfrm>
            <a:off x="6332062" y="3449232"/>
            <a:ext cx="95552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 프로젝트의 특화 항목</a:t>
            </a:r>
            <a:endParaRPr lang="en-US" sz="683" dirty="0"/>
          </a:p>
        </p:txBody>
      </p:sp>
      <p:sp>
        <p:nvSpPr>
          <p:cNvPr id="92" name="Text 90"/>
          <p:cNvSpPr txBox="1"/>
          <p:nvPr/>
        </p:nvSpPr>
        <p:spPr>
          <a:xfrm>
            <a:off x="531253" y="3597364"/>
            <a:ext cx="134871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핵심인재 현황과 관리 대시보드</a:t>
            </a:r>
            <a:endParaRPr lang="en-US" sz="795" dirty="0"/>
          </a:p>
        </p:txBody>
      </p:sp>
      <p:sp>
        <p:nvSpPr>
          <p:cNvPr id="93" name="Text 91"/>
          <p:cNvSpPr txBox="1"/>
          <p:nvPr/>
        </p:nvSpPr>
        <p:spPr>
          <a:xfrm>
            <a:off x="3480119" y="3597364"/>
            <a:ext cx="2505485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출생 연 · 월 기준으로 피크임금 도달 시기와 정년퇴직 시기</a:t>
            </a:r>
            <a:endParaRPr lang="en-US" sz="795" dirty="0"/>
          </a:p>
        </p:txBody>
      </p:sp>
      <p:sp>
        <p:nvSpPr>
          <p:cNvPr id="94" name="Text 92"/>
          <p:cNvSpPr txBox="1"/>
          <p:nvPr/>
        </p:nvSpPr>
        <p:spPr>
          <a:xfrm>
            <a:off x="6428986" y="3597364"/>
            <a:ext cx="2111206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인사 이동을 추적해 특정 인원의 전체 경력을 확인</a:t>
            </a:r>
            <a:endParaRPr lang="en-US" sz="795" dirty="0"/>
          </a:p>
        </p:txBody>
      </p:sp>
      <p:sp>
        <p:nvSpPr>
          <p:cNvPr id="95" name="Text 93"/>
          <p:cNvSpPr txBox="1"/>
          <p:nvPr/>
        </p:nvSpPr>
        <p:spPr>
          <a:xfrm>
            <a:off x="3480120" y="3748069"/>
            <a:ext cx="424274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산출</a:t>
            </a:r>
            <a:endParaRPr lang="en-US" sz="795" dirty="0"/>
          </a:p>
        </p:txBody>
      </p:sp>
      <p:sp>
        <p:nvSpPr>
          <p:cNvPr id="96" name="Text 94"/>
          <p:cNvSpPr txBox="1"/>
          <p:nvPr/>
        </p:nvSpPr>
        <p:spPr>
          <a:xfrm>
            <a:off x="531253" y="3788188"/>
            <a:ext cx="2434072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부서장 · 팀장 등 관리직의 인사 이동과 해외 발령 인원 추</a:t>
            </a:r>
            <a:endParaRPr lang="en-US" sz="795" dirty="0"/>
          </a:p>
        </p:txBody>
      </p:sp>
      <p:sp>
        <p:nvSpPr>
          <p:cNvPr id="97" name="Text 95"/>
          <p:cNvSpPr txBox="1"/>
          <p:nvPr/>
        </p:nvSpPr>
        <p:spPr>
          <a:xfrm>
            <a:off x="6428986" y="3788188"/>
            <a:ext cx="2452177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부서장 평가 등 평가 요소로 활용할 항목을 한 화면에서 확</a:t>
            </a:r>
            <a:endParaRPr lang="en-US" sz="795" dirty="0"/>
          </a:p>
        </p:txBody>
      </p:sp>
      <p:sp>
        <p:nvSpPr>
          <p:cNvPr id="98" name="Text 96"/>
          <p:cNvSpPr txBox="1"/>
          <p:nvPr/>
        </p:nvSpPr>
        <p:spPr>
          <a:xfrm>
            <a:off x="531253" y="3938893"/>
            <a:ext cx="22494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적</a:t>
            </a:r>
            <a:endParaRPr lang="en-US" sz="795" dirty="0"/>
          </a:p>
        </p:txBody>
      </p:sp>
      <p:sp>
        <p:nvSpPr>
          <p:cNvPr id="99" name="Text 97"/>
          <p:cNvSpPr txBox="1"/>
          <p:nvPr/>
        </p:nvSpPr>
        <p:spPr>
          <a:xfrm>
            <a:off x="3480119" y="3938893"/>
            <a:ext cx="1866792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도래가 임박한 인원 목록을 추출해 다운로드</a:t>
            </a:r>
            <a:endParaRPr lang="en-US" sz="795" dirty="0"/>
          </a:p>
        </p:txBody>
      </p:sp>
      <p:sp>
        <p:nvSpPr>
          <p:cNvPr id="100" name="Text 98"/>
          <p:cNvSpPr txBox="1"/>
          <p:nvPr/>
        </p:nvSpPr>
        <p:spPr>
          <a:xfrm>
            <a:off x="6428986" y="3938893"/>
            <a:ext cx="22494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</a:t>
            </a:r>
            <a:endParaRPr lang="en-US" sz="795" dirty="0"/>
          </a:p>
        </p:txBody>
      </p:sp>
      <p:sp>
        <p:nvSpPr>
          <p:cNvPr id="101" name="Text 99"/>
          <p:cNvSpPr txBox="1"/>
          <p:nvPr/>
        </p:nvSpPr>
        <p:spPr>
          <a:xfrm>
            <a:off x="531253" y="4129717"/>
            <a:ext cx="1316707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2차 프로젝트로 포털까지 확장</a:t>
            </a:r>
            <a:endParaRPr lang="en-US" sz="795" dirty="0"/>
          </a:p>
        </p:txBody>
      </p:sp>
      <p:sp>
        <p:nvSpPr>
          <p:cNvPr id="102" name="Text 100"/>
          <p:cNvSpPr txBox="1"/>
          <p:nvPr/>
        </p:nvSpPr>
        <p:spPr>
          <a:xfrm>
            <a:off x="3480120" y="4129717"/>
            <a:ext cx="1268245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교육 활용도 파악 · 측정</a:t>
            </a:r>
            <a:endParaRPr lang="en-US" sz="795" dirty="0"/>
          </a:p>
        </p:txBody>
      </p:sp>
      <p:sp>
        <p:nvSpPr>
          <p:cNvPr id="103" name="Text 101"/>
          <p:cNvSpPr txBox="1"/>
          <p:nvPr/>
        </p:nvSpPr>
        <p:spPr>
          <a:xfrm>
            <a:off x="6428986" y="4129717"/>
            <a:ext cx="1760176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휴가 사용 · 복지 제도 활용도 파악 · 측정</a:t>
            </a:r>
            <a:endParaRPr lang="en-US" sz="795" dirty="0"/>
          </a:p>
        </p:txBody>
      </p:sp>
      <p:sp>
        <p:nvSpPr>
          <p:cNvPr id="104" name="Text 102"/>
          <p:cNvSpPr txBox="1"/>
          <p:nvPr/>
        </p:nvSpPr>
        <p:spPr>
          <a:xfrm>
            <a:off x="679383" y="4609605"/>
            <a:ext cx="700550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세 곳 모두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민감한 인사 정보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다루는 사업입니다. 부서와 권한에 따라 조회 가능한 인원을 제한하는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RLS 설계와 반영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까지 포함해 수행했습니다.</a:t>
            </a:r>
            <a:endParaRPr lang="en-US" sz="900" dirty="0"/>
          </a:p>
        </p:txBody>
      </p:sp>
      <p:sp>
        <p:nvSpPr>
          <p:cNvPr id="105" name="Text 103"/>
          <p:cNvSpPr txBox="1"/>
          <p:nvPr/>
        </p:nvSpPr>
        <p:spPr>
          <a:xfrm>
            <a:off x="4475877" y="4923873"/>
            <a:ext cx="33009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- 8 -</a:t>
            </a:r>
            <a:endParaRPr lang="en-US" sz="705" dirty="0"/>
          </a:p>
        </p:txBody>
      </p:sp>
      <p:sp>
        <p:nvSpPr>
          <p:cNvPr id="106" name="Text 104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1270445"/>
            <a:ext cx="5065649" cy="3124676"/>
          </a:xfrm>
          <a:prstGeom prst="roundRect">
            <a:avLst>
              <a:gd name="adj" fmla="val 3658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39816" y="4195554"/>
            <a:ext cx="85952" cy="8538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726344" y="4195554"/>
            <a:ext cx="85952" cy="85382"/>
          </a:xfrm>
          <a:prstGeom prst="ellipse">
            <a:avLst/>
          </a:prstGeom>
          <a:solidFill>
            <a:srgbClr val="7C6FD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2926921" y="4195554"/>
            <a:ext cx="85952" cy="8538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659994" y="1270445"/>
            <a:ext cx="318660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791665" y="1378973"/>
            <a:ext cx="239567" cy="239687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659994" y="2354180"/>
            <a:ext cx="318660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791665" y="2462708"/>
            <a:ext cx="239567" cy="239687"/>
          </a:xfrm>
          <a:prstGeom prst="ellipse">
            <a:avLst/>
          </a:prstGeom>
          <a:solidFill>
            <a:srgbClr val="7C6FD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659994" y="3437401"/>
            <a:ext cx="318660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791665" y="3545929"/>
            <a:ext cx="239567" cy="239687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773330" y="1856995"/>
            <a:ext cx="333514" cy="225884"/>
          </a:xfrm>
          <a:custGeom>
            <a:avLst/>
            <a:gdLst/>
            <a:ahLst/>
            <a:cxnLst/>
            <a:rect l="l" t="t" r="r" b="b"/>
            <a:pathLst>
              <a:path w="444685" h="301178">
                <a:moveTo>
                  <a:pt x="444685" y="301178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745536" y="2082879"/>
            <a:ext cx="361307" cy="112942"/>
          </a:xfrm>
          <a:custGeom>
            <a:avLst/>
            <a:gdLst/>
            <a:ahLst/>
            <a:cxnLst/>
            <a:rect l="l" t="t" r="r" b="b"/>
            <a:pathLst>
              <a:path w="481742" h="150589">
                <a:moveTo>
                  <a:pt x="481742" y="0"/>
                </a:moveTo>
                <a:lnTo>
                  <a:pt x="0" y="150589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995672" y="1772288"/>
            <a:ext cx="111171" cy="310590"/>
          </a:xfrm>
          <a:custGeom>
            <a:avLst/>
            <a:gdLst/>
            <a:ahLst/>
            <a:cxnLst/>
            <a:rect l="l" t="t" r="r" b="b"/>
            <a:pathLst>
              <a:path w="148228" h="414120">
                <a:moveTo>
                  <a:pt x="148228" y="414120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1056816" y="2032054"/>
            <a:ext cx="100054" cy="10164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745536" y="1828759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717743" y="2167585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967879" y="1744053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664323" y="1828760"/>
            <a:ext cx="333514" cy="197648"/>
          </a:xfrm>
          <a:custGeom>
            <a:avLst/>
            <a:gdLst/>
            <a:ahLst/>
            <a:cxnLst/>
            <a:rect l="l" t="t" r="r" b="b"/>
            <a:pathLst>
              <a:path w="444685" h="263531">
                <a:moveTo>
                  <a:pt x="0" y="263531"/>
                </a:moveTo>
                <a:lnTo>
                  <a:pt x="444685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664323" y="2026408"/>
            <a:ext cx="305721" cy="197648"/>
          </a:xfrm>
          <a:custGeom>
            <a:avLst/>
            <a:gdLst/>
            <a:ahLst/>
            <a:cxnLst/>
            <a:rect l="l" t="t" r="r" b="b"/>
            <a:pathLst>
              <a:path w="407628" h="263531">
                <a:moveTo>
                  <a:pt x="0" y="0"/>
                </a:moveTo>
                <a:lnTo>
                  <a:pt x="407628" y="263531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330809" y="1828760"/>
            <a:ext cx="333514" cy="197648"/>
          </a:xfrm>
          <a:custGeom>
            <a:avLst/>
            <a:gdLst/>
            <a:ahLst/>
            <a:cxnLst/>
            <a:rect l="l" t="t" r="r" b="b"/>
            <a:pathLst>
              <a:path w="444685" h="263531">
                <a:moveTo>
                  <a:pt x="444685" y="263531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4614296" y="1975584"/>
            <a:ext cx="100054" cy="10164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4970044" y="1800524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4942251" y="2195820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303016" y="1800524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831080" y="3494650"/>
            <a:ext cx="250136" cy="225884"/>
          </a:xfrm>
          <a:custGeom>
            <a:avLst/>
            <a:gdLst/>
            <a:ahLst/>
            <a:cxnLst/>
            <a:rect l="l" t="t" r="r" b="b"/>
            <a:pathLst>
              <a:path w="333514" h="301178">
                <a:moveTo>
                  <a:pt x="0" y="301178"/>
                </a:moveTo>
                <a:lnTo>
                  <a:pt x="333514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4831081" y="3720533"/>
            <a:ext cx="277928" cy="197648"/>
          </a:xfrm>
          <a:custGeom>
            <a:avLst/>
            <a:gdLst/>
            <a:ahLst/>
            <a:cxnLst/>
            <a:rect l="l" t="t" r="r" b="b"/>
            <a:pathLst>
              <a:path w="370571" h="263531">
                <a:moveTo>
                  <a:pt x="0" y="0"/>
                </a:moveTo>
                <a:lnTo>
                  <a:pt x="370571" y="263531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497567" y="3720532"/>
            <a:ext cx="333514" cy="225884"/>
          </a:xfrm>
          <a:custGeom>
            <a:avLst/>
            <a:gdLst/>
            <a:ahLst/>
            <a:cxnLst/>
            <a:rect l="l" t="t" r="r" b="b"/>
            <a:pathLst>
              <a:path w="444685" h="301178">
                <a:moveTo>
                  <a:pt x="444685" y="0"/>
                </a:moveTo>
                <a:lnTo>
                  <a:pt x="0" y="301178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4781053" y="3669709"/>
            <a:ext cx="100054" cy="10164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5053422" y="3466414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5081215" y="3889945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4469773" y="3918181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 txBox="1"/>
          <p:nvPr/>
        </p:nvSpPr>
        <p:spPr>
          <a:xfrm>
            <a:off x="944193" y="2277228"/>
            <a:ext cx="236862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차원군</a:t>
            </a:r>
            <a:endParaRPr lang="en-US" sz="585" dirty="0"/>
          </a:p>
        </p:txBody>
      </p:sp>
      <p:sp>
        <p:nvSpPr>
          <p:cNvPr id="39" name="Text 37"/>
          <p:cNvSpPr txBox="1"/>
          <p:nvPr/>
        </p:nvSpPr>
        <p:spPr>
          <a:xfrm>
            <a:off x="4501673" y="2249434"/>
            <a:ext cx="236862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지표군</a:t>
            </a:r>
            <a:endParaRPr lang="en-US" sz="585" dirty="0"/>
          </a:p>
        </p:txBody>
      </p:sp>
      <p:sp>
        <p:nvSpPr>
          <p:cNvPr id="40" name="Text 38"/>
          <p:cNvSpPr txBox="1"/>
          <p:nvPr/>
        </p:nvSpPr>
        <p:spPr>
          <a:xfrm>
            <a:off x="4668430" y="3500192"/>
            <a:ext cx="236861" cy="857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제약군</a:t>
            </a:r>
            <a:endParaRPr lang="en-US" sz="585" dirty="0"/>
          </a:p>
        </p:txBody>
      </p:sp>
      <p:sp>
        <p:nvSpPr>
          <p:cNvPr id="41" name="Shape 39"/>
          <p:cNvSpPr/>
          <p:nvPr/>
        </p:nvSpPr>
        <p:spPr>
          <a:xfrm>
            <a:off x="1440357" y="2421704"/>
            <a:ext cx="667028" cy="480002"/>
          </a:xfrm>
          <a:custGeom>
            <a:avLst/>
            <a:gdLst/>
            <a:ahLst/>
            <a:cxnLst/>
            <a:rect l="l" t="t" r="r" b="b"/>
            <a:pathLst>
              <a:path w="889370" h="640003">
                <a:moveTo>
                  <a:pt x="0" y="640003"/>
                </a:moveTo>
                <a:lnTo>
                  <a:pt x="889370" y="0"/>
                </a:lnTo>
              </a:path>
            </a:pathLst>
          </a:custGeom>
          <a:solidFill>
            <a:srgbClr val="000000"/>
          </a:solidFill>
          <a:ln w="14941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1440357" y="3042883"/>
            <a:ext cx="667028" cy="451767"/>
          </a:xfrm>
          <a:custGeom>
            <a:avLst/>
            <a:gdLst/>
            <a:ahLst/>
            <a:cxnLst/>
            <a:rect l="l" t="t" r="r" b="b"/>
            <a:pathLst>
              <a:path w="889370" h="602356">
                <a:moveTo>
                  <a:pt x="0" y="0"/>
                </a:moveTo>
                <a:lnTo>
                  <a:pt x="889370" y="602356"/>
                </a:lnTo>
              </a:path>
            </a:pathLst>
          </a:custGeom>
          <a:solidFill>
            <a:srgbClr val="000000"/>
          </a:solidFill>
          <a:ln w="14941">
            <a:solidFill>
              <a:srgbClr val="7C6F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2357520" y="2139349"/>
            <a:ext cx="694820" cy="214589"/>
          </a:xfrm>
          <a:custGeom>
            <a:avLst/>
            <a:gdLst/>
            <a:ahLst/>
            <a:cxnLst/>
            <a:rect l="l" t="t" r="r" b="b"/>
            <a:pathLst>
              <a:path w="926427" h="286119">
                <a:moveTo>
                  <a:pt x="0" y="286119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1953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2357520" y="2478174"/>
            <a:ext cx="694820" cy="254119"/>
          </a:xfrm>
          <a:custGeom>
            <a:avLst/>
            <a:gdLst/>
            <a:ahLst/>
            <a:cxnLst/>
            <a:rect l="l" t="t" r="r" b="b"/>
            <a:pathLst>
              <a:path w="926427" h="338825">
                <a:moveTo>
                  <a:pt x="0" y="0"/>
                </a:moveTo>
                <a:lnTo>
                  <a:pt x="926427" y="338825"/>
                </a:lnTo>
              </a:path>
            </a:pathLst>
          </a:custGeom>
          <a:solidFill>
            <a:srgbClr val="000000"/>
          </a:solidFill>
          <a:ln w="11953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2357520" y="3381709"/>
            <a:ext cx="694820" cy="169412"/>
          </a:xfrm>
          <a:custGeom>
            <a:avLst/>
            <a:gdLst/>
            <a:ahLst/>
            <a:cxnLst/>
            <a:rect l="l" t="t" r="r" b="b"/>
            <a:pathLst>
              <a:path w="926427" h="225883">
                <a:moveTo>
                  <a:pt x="0" y="225883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1953">
            <a:solidFill>
              <a:srgbClr val="7C6F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3274682" y="2139349"/>
            <a:ext cx="722613" cy="395296"/>
          </a:xfrm>
          <a:custGeom>
            <a:avLst/>
            <a:gdLst/>
            <a:ahLst/>
            <a:cxnLst/>
            <a:rect l="l" t="t" r="r" b="b"/>
            <a:pathLst>
              <a:path w="963484" h="527061">
                <a:moveTo>
                  <a:pt x="0" y="0"/>
                </a:moveTo>
                <a:lnTo>
                  <a:pt x="963484" y="527061"/>
                </a:lnTo>
              </a:path>
            </a:pathLst>
          </a:custGeom>
          <a:solidFill>
            <a:srgbClr val="000000"/>
          </a:solidFill>
          <a:ln w="10459">
            <a:solidFill>
              <a:srgbClr val="2563EB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3346944" y="3398649"/>
            <a:ext cx="661469" cy="163766"/>
          </a:xfrm>
          <a:custGeom>
            <a:avLst/>
            <a:gdLst/>
            <a:ahLst/>
            <a:cxnLst/>
            <a:rect l="l" t="t" r="r" b="b"/>
            <a:pathLst>
              <a:path w="881959" h="218354">
                <a:moveTo>
                  <a:pt x="0" y="0"/>
                </a:moveTo>
                <a:lnTo>
                  <a:pt x="881959" y="218354"/>
                </a:lnTo>
              </a:path>
            </a:pathLst>
          </a:custGeom>
          <a:solidFill>
            <a:srgbClr val="000000"/>
          </a:solidFill>
          <a:ln w="10459">
            <a:solidFill>
              <a:srgbClr val="F59E0B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2507601" y="2173232"/>
            <a:ext cx="422451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 txBox="1"/>
          <p:nvPr/>
        </p:nvSpPr>
        <p:spPr>
          <a:xfrm>
            <a:off x="2565607" y="2216549"/>
            <a:ext cx="310148" cy="628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:HAS_DIM</a:t>
            </a:r>
            <a:endParaRPr lang="en-US" sz="495" dirty="0"/>
          </a:p>
        </p:txBody>
      </p:sp>
      <p:sp>
        <p:nvSpPr>
          <p:cNvPr id="50" name="Shape 48"/>
          <p:cNvSpPr/>
          <p:nvPr/>
        </p:nvSpPr>
        <p:spPr>
          <a:xfrm>
            <a:off x="2440898" y="3336531"/>
            <a:ext cx="533622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7C6F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 txBox="1"/>
          <p:nvPr/>
        </p:nvSpPr>
        <p:spPr>
          <a:xfrm>
            <a:off x="2497226" y="3361688"/>
            <a:ext cx="424698" cy="628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7C6FD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:HAS_METRIC</a:t>
            </a:r>
            <a:endParaRPr lang="en-US" sz="495" dirty="0"/>
          </a:p>
        </p:txBody>
      </p:sp>
      <p:sp>
        <p:nvSpPr>
          <p:cNvPr id="52" name="Shape 50"/>
          <p:cNvSpPr/>
          <p:nvPr/>
        </p:nvSpPr>
        <p:spPr>
          <a:xfrm>
            <a:off x="3419205" y="2263585"/>
            <a:ext cx="533622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25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 txBox="1"/>
          <p:nvPr/>
        </p:nvSpPr>
        <p:spPr>
          <a:xfrm>
            <a:off x="3471702" y="2299777"/>
            <a:ext cx="428628" cy="68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2563E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:SATISFIES</a:t>
            </a:r>
            <a:endParaRPr lang="en-US" sz="518" dirty="0"/>
          </a:p>
        </p:txBody>
      </p:sp>
      <p:sp>
        <p:nvSpPr>
          <p:cNvPr id="54" name="Shape 52"/>
          <p:cNvSpPr/>
          <p:nvPr/>
        </p:nvSpPr>
        <p:spPr>
          <a:xfrm>
            <a:off x="3369178" y="3398649"/>
            <a:ext cx="600325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 txBox="1"/>
          <p:nvPr/>
        </p:nvSpPr>
        <p:spPr>
          <a:xfrm>
            <a:off x="3414005" y="3422836"/>
            <a:ext cx="510671" cy="57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B4530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:ANALYZED_WITH</a:t>
            </a:r>
            <a:endParaRPr lang="en-US" sz="472" dirty="0"/>
          </a:p>
        </p:txBody>
      </p:sp>
      <p:sp>
        <p:nvSpPr>
          <p:cNvPr id="56" name="Shape 54"/>
          <p:cNvSpPr/>
          <p:nvPr/>
        </p:nvSpPr>
        <p:spPr>
          <a:xfrm>
            <a:off x="539870" y="2704057"/>
            <a:ext cx="944956" cy="508238"/>
          </a:xfrm>
          <a:prstGeom prst="roundRect">
            <a:avLst>
              <a:gd name="adj" fmla="val 13229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Text 55"/>
          <p:cNvSpPr txBox="1"/>
          <p:nvPr/>
        </p:nvSpPr>
        <p:spPr>
          <a:xfrm>
            <a:off x="812440" y="2816444"/>
            <a:ext cx="401988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사용자 질문</a:t>
            </a:r>
            <a:endParaRPr lang="en-US" sz="563" dirty="0"/>
          </a:p>
        </p:txBody>
      </p:sp>
      <p:sp>
        <p:nvSpPr>
          <p:cNvPr id="58" name="Text 56"/>
          <p:cNvSpPr txBox="1"/>
          <p:nvPr/>
        </p:nvSpPr>
        <p:spPr>
          <a:xfrm>
            <a:off x="577714" y="2927466"/>
            <a:ext cx="872222" cy="914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"2025년 브라질 냉장고</a:t>
            </a:r>
            <a:endParaRPr lang="en-US" sz="608" dirty="0"/>
          </a:p>
        </p:txBody>
      </p:sp>
      <p:sp>
        <p:nvSpPr>
          <p:cNvPr id="59" name="Text 57"/>
          <p:cNvSpPr txBox="1"/>
          <p:nvPr/>
        </p:nvSpPr>
        <p:spPr>
          <a:xfrm>
            <a:off x="551349" y="3033086"/>
            <a:ext cx="921997" cy="91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매출, 경쟁사와 비교해줘"</a:t>
            </a:r>
            <a:endParaRPr lang="en-US" sz="608" dirty="0"/>
          </a:p>
        </p:txBody>
      </p:sp>
      <p:sp>
        <p:nvSpPr>
          <p:cNvPr id="60" name="Shape 58"/>
          <p:cNvSpPr/>
          <p:nvPr/>
        </p:nvSpPr>
        <p:spPr>
          <a:xfrm>
            <a:off x="2040682" y="2218408"/>
            <a:ext cx="377982" cy="38400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Text 59"/>
          <p:cNvSpPr txBox="1"/>
          <p:nvPr/>
        </p:nvSpPr>
        <p:spPr>
          <a:xfrm>
            <a:off x="2018141" y="2321544"/>
            <a:ext cx="423135" cy="91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Dimension</a:t>
            </a:r>
            <a:endParaRPr lang="en-US" sz="608" dirty="0"/>
          </a:p>
        </p:txBody>
      </p:sp>
      <p:sp>
        <p:nvSpPr>
          <p:cNvPr id="62" name="Text 60"/>
          <p:cNvSpPr txBox="1"/>
          <p:nvPr/>
        </p:nvSpPr>
        <p:spPr>
          <a:xfrm>
            <a:off x="2155699" y="2427476"/>
            <a:ext cx="147948" cy="80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CCFBF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</a:t>
            </a:r>
            <a:endParaRPr lang="en-US" sz="495" dirty="0"/>
          </a:p>
        </p:txBody>
      </p:sp>
      <p:sp>
        <p:nvSpPr>
          <p:cNvPr id="63" name="Shape 61"/>
          <p:cNvSpPr/>
          <p:nvPr/>
        </p:nvSpPr>
        <p:spPr>
          <a:xfrm>
            <a:off x="2040682" y="3359119"/>
            <a:ext cx="377982" cy="384002"/>
          </a:xfrm>
          <a:prstGeom prst="ellipse">
            <a:avLst/>
          </a:prstGeom>
          <a:solidFill>
            <a:srgbClr val="7C6FD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4" name="Text 62"/>
          <p:cNvSpPr txBox="1"/>
          <p:nvPr/>
        </p:nvSpPr>
        <p:spPr>
          <a:xfrm>
            <a:off x="2100669" y="3444446"/>
            <a:ext cx="263116" cy="91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Metric</a:t>
            </a:r>
            <a:endParaRPr lang="en-US" sz="608" dirty="0"/>
          </a:p>
        </p:txBody>
      </p:sp>
      <p:sp>
        <p:nvSpPr>
          <p:cNvPr id="65" name="Text 63"/>
          <p:cNvSpPr txBox="1"/>
          <p:nvPr/>
        </p:nvSpPr>
        <p:spPr>
          <a:xfrm>
            <a:off x="2155699" y="3550379"/>
            <a:ext cx="151694" cy="80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EDE9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</a:t>
            </a:r>
            <a:endParaRPr lang="en-US" sz="495" dirty="0"/>
          </a:p>
        </p:txBody>
      </p:sp>
      <p:sp>
        <p:nvSpPr>
          <p:cNvPr id="66" name="Shape 64"/>
          <p:cNvSpPr/>
          <p:nvPr/>
        </p:nvSpPr>
        <p:spPr>
          <a:xfrm>
            <a:off x="3018989" y="1936054"/>
            <a:ext cx="311279" cy="316237"/>
          </a:xfrm>
          <a:prstGeom prst="ellipse">
            <a:avLst/>
          </a:prstGeom>
          <a:solidFill>
            <a:srgbClr val="FFFFFF"/>
          </a:solidFill>
          <a:ln w="14941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 txBox="1"/>
          <p:nvPr/>
        </p:nvSpPr>
        <p:spPr>
          <a:xfrm>
            <a:off x="3060830" y="2021518"/>
            <a:ext cx="227597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브라질</a:t>
            </a:r>
            <a:endParaRPr lang="en-US" sz="563" dirty="0"/>
          </a:p>
        </p:txBody>
      </p:sp>
      <p:sp>
        <p:nvSpPr>
          <p:cNvPr id="68" name="Text 66"/>
          <p:cNvSpPr txBox="1"/>
          <p:nvPr/>
        </p:nvSpPr>
        <p:spPr>
          <a:xfrm>
            <a:off x="3103021" y="2116333"/>
            <a:ext cx="143582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법인</a:t>
            </a:r>
            <a:endParaRPr lang="en-US" sz="472" dirty="0"/>
          </a:p>
        </p:txBody>
      </p:sp>
      <p:sp>
        <p:nvSpPr>
          <p:cNvPr id="69" name="Shape 67"/>
          <p:cNvSpPr/>
          <p:nvPr/>
        </p:nvSpPr>
        <p:spPr>
          <a:xfrm>
            <a:off x="3018989" y="2613705"/>
            <a:ext cx="311279" cy="316237"/>
          </a:xfrm>
          <a:prstGeom prst="ellipse">
            <a:avLst/>
          </a:prstGeom>
          <a:solidFill>
            <a:srgbClr val="FFFFFF"/>
          </a:solidFill>
          <a:ln w="14941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 txBox="1"/>
          <p:nvPr/>
        </p:nvSpPr>
        <p:spPr>
          <a:xfrm>
            <a:off x="3060559" y="2688589"/>
            <a:ext cx="230303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냉장고</a:t>
            </a:r>
            <a:endParaRPr lang="en-US" sz="563" dirty="0"/>
          </a:p>
        </p:txBody>
      </p:sp>
      <p:sp>
        <p:nvSpPr>
          <p:cNvPr id="71" name="Text 69"/>
          <p:cNvSpPr txBox="1"/>
          <p:nvPr/>
        </p:nvSpPr>
        <p:spPr>
          <a:xfrm>
            <a:off x="3100252" y="2783404"/>
            <a:ext cx="149660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REF</a:t>
            </a:r>
            <a:endParaRPr lang="en-US" sz="472" dirty="0"/>
          </a:p>
        </p:txBody>
      </p:sp>
      <p:sp>
        <p:nvSpPr>
          <p:cNvPr id="72" name="Shape 70"/>
          <p:cNvSpPr/>
          <p:nvPr/>
        </p:nvSpPr>
        <p:spPr>
          <a:xfrm>
            <a:off x="3002313" y="3206648"/>
            <a:ext cx="344631" cy="350120"/>
          </a:xfrm>
          <a:prstGeom prst="ellipse">
            <a:avLst/>
          </a:prstGeom>
          <a:solidFill>
            <a:srgbClr val="FFFFFF"/>
          </a:solidFill>
          <a:ln w="14941">
            <a:solidFill>
              <a:srgbClr val="7C6F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Text 71"/>
          <p:cNvSpPr txBox="1"/>
          <p:nvPr/>
        </p:nvSpPr>
        <p:spPr>
          <a:xfrm>
            <a:off x="2991122" y="3288953"/>
            <a:ext cx="367013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40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GMV 매출</a:t>
            </a:r>
            <a:endParaRPr lang="en-US" sz="540" dirty="0"/>
          </a:p>
        </p:txBody>
      </p:sp>
      <p:sp>
        <p:nvSpPr>
          <p:cNvPr id="74" name="Text 72"/>
          <p:cNvSpPr txBox="1"/>
          <p:nvPr/>
        </p:nvSpPr>
        <p:spPr>
          <a:xfrm>
            <a:off x="2983470" y="3383767"/>
            <a:ext cx="383706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75" name="Shape 73"/>
          <p:cNvSpPr/>
          <p:nvPr/>
        </p:nvSpPr>
        <p:spPr>
          <a:xfrm>
            <a:off x="3997296" y="2421704"/>
            <a:ext cx="311279" cy="316237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6" name="Text 74"/>
          <p:cNvSpPr txBox="1"/>
          <p:nvPr/>
        </p:nvSpPr>
        <p:spPr>
          <a:xfrm>
            <a:off x="4051636" y="2499585"/>
            <a:ext cx="202598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2025</a:t>
            </a:r>
            <a:endParaRPr lang="en-US" sz="563" dirty="0"/>
          </a:p>
        </p:txBody>
      </p:sp>
      <p:sp>
        <p:nvSpPr>
          <p:cNvPr id="77" name="Text 75"/>
          <p:cNvSpPr txBox="1"/>
          <p:nvPr/>
        </p:nvSpPr>
        <p:spPr>
          <a:xfrm>
            <a:off x="4081327" y="2594401"/>
            <a:ext cx="143582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DBEA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기간</a:t>
            </a:r>
            <a:endParaRPr lang="en-US" sz="472" dirty="0"/>
          </a:p>
        </p:txBody>
      </p:sp>
      <p:sp>
        <p:nvSpPr>
          <p:cNvPr id="78" name="Shape 76"/>
          <p:cNvSpPr/>
          <p:nvPr/>
        </p:nvSpPr>
        <p:spPr>
          <a:xfrm>
            <a:off x="3997296" y="3415590"/>
            <a:ext cx="355748" cy="361414"/>
          </a:xfrm>
          <a:prstGeom prst="ellipse">
            <a:avLst/>
          </a:prstGeom>
          <a:solidFill>
            <a:srgbClr val="FFFFFF"/>
          </a:solidFill>
          <a:ln w="14941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Text 77"/>
          <p:cNvSpPr txBox="1"/>
          <p:nvPr/>
        </p:nvSpPr>
        <p:spPr>
          <a:xfrm>
            <a:off x="3991284" y="3505907"/>
            <a:ext cx="369025" cy="80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경쟁사 매출</a:t>
            </a:r>
            <a:endParaRPr lang="en-US" sz="518" dirty="0"/>
          </a:p>
        </p:txBody>
      </p:sp>
      <p:sp>
        <p:nvSpPr>
          <p:cNvPr id="80" name="Text 78"/>
          <p:cNvSpPr txBox="1"/>
          <p:nvPr/>
        </p:nvSpPr>
        <p:spPr>
          <a:xfrm>
            <a:off x="3984011" y="3595007"/>
            <a:ext cx="383706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81" name="Shape 79"/>
          <p:cNvSpPr/>
          <p:nvPr/>
        </p:nvSpPr>
        <p:spPr>
          <a:xfrm>
            <a:off x="3246890" y="1930407"/>
            <a:ext cx="100054" cy="10164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2" name="Shape 80"/>
          <p:cNvSpPr/>
          <p:nvPr/>
        </p:nvSpPr>
        <p:spPr>
          <a:xfrm>
            <a:off x="3246890" y="2608057"/>
            <a:ext cx="100054" cy="10164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3" name="Shape 81"/>
          <p:cNvSpPr/>
          <p:nvPr/>
        </p:nvSpPr>
        <p:spPr>
          <a:xfrm>
            <a:off x="3246890" y="3217942"/>
            <a:ext cx="100054" cy="101648"/>
          </a:xfrm>
          <a:prstGeom prst="ellipse">
            <a:avLst/>
          </a:prstGeom>
          <a:solidFill>
            <a:srgbClr val="7C6FD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4" name="Shape 82"/>
          <p:cNvSpPr/>
          <p:nvPr/>
        </p:nvSpPr>
        <p:spPr>
          <a:xfrm>
            <a:off x="4225197" y="2416056"/>
            <a:ext cx="100054" cy="10164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5" name="Shape 83"/>
          <p:cNvSpPr/>
          <p:nvPr/>
        </p:nvSpPr>
        <p:spPr>
          <a:xfrm>
            <a:off x="3277462" y="1964290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Shape 84"/>
          <p:cNvSpPr/>
          <p:nvPr/>
        </p:nvSpPr>
        <p:spPr>
          <a:xfrm>
            <a:off x="3277462" y="2641940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7" name="Shape 85"/>
          <p:cNvSpPr/>
          <p:nvPr/>
        </p:nvSpPr>
        <p:spPr>
          <a:xfrm>
            <a:off x="3277462" y="3251825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8" name="Shape 86"/>
          <p:cNvSpPr/>
          <p:nvPr/>
        </p:nvSpPr>
        <p:spPr>
          <a:xfrm>
            <a:off x="4255769" y="2449939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9" name="Shape 87"/>
          <p:cNvSpPr/>
          <p:nvPr/>
        </p:nvSpPr>
        <p:spPr>
          <a:xfrm>
            <a:off x="472550" y="4644259"/>
            <a:ext cx="24140" cy="24046"/>
          </a:xfrm>
          <a:prstGeom prst="ellipse">
            <a:avLst/>
          </a:pr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0" name="Shape 88"/>
          <p:cNvSpPr/>
          <p:nvPr/>
        </p:nvSpPr>
        <p:spPr>
          <a:xfrm>
            <a:off x="549358" y="4644259"/>
            <a:ext cx="24140" cy="24046"/>
          </a:xfrm>
          <a:prstGeom prst="ellipse">
            <a:avLst/>
          </a:pr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1" name="Shape 89"/>
          <p:cNvSpPr/>
          <p:nvPr/>
        </p:nvSpPr>
        <p:spPr>
          <a:xfrm>
            <a:off x="510954" y="4709839"/>
            <a:ext cx="24140" cy="24046"/>
          </a:xfrm>
          <a:prstGeom prst="ellipse">
            <a:avLst/>
          </a:pr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2" name="Shape 90"/>
          <p:cNvSpPr/>
          <p:nvPr/>
        </p:nvSpPr>
        <p:spPr>
          <a:xfrm>
            <a:off x="494495" y="4663933"/>
            <a:ext cx="20300" cy="48092"/>
          </a:xfrm>
          <a:custGeom>
            <a:avLst/>
            <a:gdLst/>
            <a:ahLst/>
            <a:cxnLst/>
            <a:rect l="l" t="t" r="r" b="b"/>
            <a:pathLst>
              <a:path w="27066" h="64122">
                <a:moveTo>
                  <a:pt x="0" y="0"/>
                </a:moveTo>
                <a:lnTo>
                  <a:pt x="27066" y="64122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3" name="Shape 91"/>
          <p:cNvSpPr/>
          <p:nvPr/>
        </p:nvSpPr>
        <p:spPr>
          <a:xfrm>
            <a:off x="531253" y="4663933"/>
            <a:ext cx="20300" cy="48092"/>
          </a:xfrm>
          <a:custGeom>
            <a:avLst/>
            <a:gdLst/>
            <a:ahLst/>
            <a:cxnLst/>
            <a:rect l="l" t="t" r="r" b="b"/>
            <a:pathLst>
              <a:path w="27066" h="64122">
                <a:moveTo>
                  <a:pt x="27066" y="0"/>
                </a:moveTo>
                <a:lnTo>
                  <a:pt x="0" y="64122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4" name="Shape 92"/>
          <p:cNvSpPr/>
          <p:nvPr/>
        </p:nvSpPr>
        <p:spPr>
          <a:xfrm>
            <a:off x="496690" y="4656282"/>
            <a:ext cx="52668" cy="2744"/>
          </a:xfrm>
          <a:custGeom>
            <a:avLst/>
            <a:gdLst/>
            <a:ahLst/>
            <a:cxnLst/>
            <a:rect l="l" t="t" r="r" b="b"/>
            <a:pathLst>
              <a:path w="70224" h="3658">
                <a:moveTo>
                  <a:pt x="0" y="0"/>
                </a:moveTo>
                <a:lnTo>
                  <a:pt x="70224" y="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5" name="Text 93"/>
          <p:cNvSpPr txBox="1"/>
          <p:nvPr/>
        </p:nvSpPr>
        <p:spPr>
          <a:xfrm>
            <a:off x="445303" y="167678"/>
            <a:ext cx="435417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그래프(Graph DB) 기반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시맨틱 질의 검증</a:t>
            </a:r>
            <a:endParaRPr lang="en-US" sz="1710" dirty="0"/>
          </a:p>
        </p:txBody>
      </p:sp>
      <p:sp>
        <p:nvSpPr>
          <p:cNvPr id="96" name="Text 94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97" name="Text 95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기준정보 · 지표 · 조건(라벨)과 표준 의미(노드), 연결 관계(엣지)를 정교하게 설계해 둡니다. 유효성 검증까지 AI에 맡기지 않고,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검증된 지식 그래프로 먼저 확인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뒤 AI는 잘</a:t>
            </a:r>
            <a:endParaRPr lang="en-US" sz="990" dirty="0"/>
          </a:p>
        </p:txBody>
      </p:sp>
      <p:sp>
        <p:nvSpPr>
          <p:cNvPr id="98" name="Text 96"/>
          <p:cNvSpPr txBox="1"/>
          <p:nvPr/>
        </p:nvSpPr>
        <p:spPr>
          <a:xfrm>
            <a:off x="297173" y="843020"/>
            <a:ext cx="1436490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분석에 집중시킵니다.</a:t>
            </a:r>
            <a:endParaRPr lang="en-US" sz="990" dirty="0"/>
          </a:p>
        </p:txBody>
      </p:sp>
      <p:sp>
        <p:nvSpPr>
          <p:cNvPr id="99" name="Text 97"/>
          <p:cNvSpPr txBox="1"/>
          <p:nvPr/>
        </p:nvSpPr>
        <p:spPr>
          <a:xfrm>
            <a:off x="6145529" y="1369200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무엇을 묻는지 분류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라벨</a:t>
            </a:r>
            <a:endParaRPr lang="en-US" sz="1005" dirty="0"/>
          </a:p>
        </p:txBody>
      </p:sp>
      <p:sp>
        <p:nvSpPr>
          <p:cNvPr id="100" name="Text 98"/>
          <p:cNvSpPr txBox="1"/>
          <p:nvPr/>
        </p:nvSpPr>
        <p:spPr>
          <a:xfrm>
            <a:off x="439816" y="1382573"/>
            <a:ext cx="176017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KNOWLEDGE GRAPH VIEW</a:t>
            </a:r>
            <a:endParaRPr lang="en-US" sz="765" dirty="0"/>
          </a:p>
        </p:txBody>
      </p:sp>
      <p:sp>
        <p:nvSpPr>
          <p:cNvPr id="101" name="Text 99"/>
          <p:cNvSpPr txBox="1"/>
          <p:nvPr/>
        </p:nvSpPr>
        <p:spPr>
          <a:xfrm>
            <a:off x="5884018" y="1414977"/>
            <a:ext cx="191108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945" dirty="0"/>
          </a:p>
        </p:txBody>
      </p:sp>
      <p:sp>
        <p:nvSpPr>
          <p:cNvPr id="102" name="Text 100"/>
          <p:cNvSpPr txBox="1"/>
          <p:nvPr/>
        </p:nvSpPr>
        <p:spPr>
          <a:xfrm>
            <a:off x="439816" y="1525048"/>
            <a:ext cx="3187427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개념도 - 라벨 · 속성 · 관계의 상세 정의는 온톨로지 스키마로 일원화해 관리됩니다.</a:t>
            </a:r>
            <a:endParaRPr lang="en-US" sz="705" dirty="0"/>
          </a:p>
        </p:txBody>
      </p:sp>
      <p:sp>
        <p:nvSpPr>
          <p:cNvPr id="103" name="Text 101"/>
          <p:cNvSpPr txBox="1"/>
          <p:nvPr/>
        </p:nvSpPr>
        <p:spPr>
          <a:xfrm>
            <a:off x="6145528" y="1563110"/>
            <a:ext cx="279013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 속 단어가 분석 기준인지 · 측정 지표인지 · 조건인지 종</a:t>
            </a:r>
            <a:endParaRPr lang="en-US" sz="855" dirty="0"/>
          </a:p>
        </p:txBody>
      </p:sp>
      <p:sp>
        <p:nvSpPr>
          <p:cNvPr id="104" name="Text 102"/>
          <p:cNvSpPr txBox="1"/>
          <p:nvPr/>
        </p:nvSpPr>
        <p:spPr>
          <a:xfrm>
            <a:off x="6145529" y="1731303"/>
            <a:ext cx="97472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류를 먼저 가립니다.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6145529" y="2452935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정확한 의미로 특정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노드</a:t>
            </a:r>
            <a:endParaRPr lang="en-US" sz="1005" dirty="0"/>
          </a:p>
        </p:txBody>
      </p:sp>
      <p:sp>
        <p:nvSpPr>
          <p:cNvPr id="106" name="Text 104"/>
          <p:cNvSpPr txBox="1"/>
          <p:nvPr/>
        </p:nvSpPr>
        <p:spPr>
          <a:xfrm>
            <a:off x="5875787" y="2498199"/>
            <a:ext cx="2075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945" dirty="0"/>
          </a:p>
        </p:txBody>
      </p:sp>
      <p:sp>
        <p:nvSpPr>
          <p:cNvPr id="107" name="Text 105"/>
          <p:cNvSpPr txBox="1"/>
          <p:nvPr/>
        </p:nvSpPr>
        <p:spPr>
          <a:xfrm>
            <a:off x="6145529" y="2646846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"냉장고=REF"처럼 표준 용어로 바꿔, 부서 · 사람마다 다른</a:t>
            </a:r>
            <a:endParaRPr lang="en-US" sz="855" dirty="0"/>
          </a:p>
        </p:txBody>
      </p:sp>
      <p:sp>
        <p:nvSpPr>
          <p:cNvPr id="108" name="Text 106"/>
          <p:cNvSpPr txBox="1"/>
          <p:nvPr/>
        </p:nvSpPr>
        <p:spPr>
          <a:xfrm>
            <a:off x="6145529" y="2815038"/>
            <a:ext cx="157510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표현을 같은 대상으로 집어냅니다.</a:t>
            </a:r>
            <a:endParaRPr lang="en-US" sz="855" dirty="0"/>
          </a:p>
        </p:txBody>
      </p:sp>
      <p:sp>
        <p:nvSpPr>
          <p:cNvPr id="109" name="Text 107"/>
          <p:cNvSpPr txBox="1"/>
          <p:nvPr/>
        </p:nvSpPr>
        <p:spPr>
          <a:xfrm>
            <a:off x="6145529" y="3536156"/>
            <a:ext cx="118229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연결을 따라 검증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관계</a:t>
            </a:r>
            <a:endParaRPr lang="en-US" sz="1005" dirty="0"/>
          </a:p>
        </p:txBody>
      </p:sp>
      <p:sp>
        <p:nvSpPr>
          <p:cNvPr id="110" name="Text 108"/>
          <p:cNvSpPr txBox="1"/>
          <p:nvPr/>
        </p:nvSpPr>
        <p:spPr>
          <a:xfrm>
            <a:off x="5874873" y="3581934"/>
            <a:ext cx="20939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945" dirty="0"/>
          </a:p>
        </p:txBody>
      </p:sp>
      <p:sp>
        <p:nvSpPr>
          <p:cNvPr id="111" name="Text 109"/>
          <p:cNvSpPr txBox="1"/>
          <p:nvPr/>
        </p:nvSpPr>
        <p:spPr>
          <a:xfrm>
            <a:off x="6145529" y="3730581"/>
            <a:ext cx="275090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 조합이 실제로 분석 가능한지 데이터 간 연결을 따라 확인</a:t>
            </a:r>
            <a:endParaRPr lang="en-US" sz="855" dirty="0"/>
          </a:p>
        </p:txBody>
      </p:sp>
      <p:sp>
        <p:nvSpPr>
          <p:cNvPr id="112" name="Text 110"/>
          <p:cNvSpPr txBox="1"/>
          <p:nvPr/>
        </p:nvSpPr>
        <p:spPr>
          <a:xfrm>
            <a:off x="6145529" y="3898773"/>
            <a:ext cx="24964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하고, 모호하면 사용자에게 되물어 명확히 유도합니다.</a:t>
            </a:r>
            <a:endParaRPr lang="en-US" sz="855" dirty="0"/>
          </a:p>
        </p:txBody>
      </p:sp>
      <p:sp>
        <p:nvSpPr>
          <p:cNvPr id="113" name="Text 111"/>
          <p:cNvSpPr txBox="1"/>
          <p:nvPr/>
        </p:nvSpPr>
        <p:spPr>
          <a:xfrm>
            <a:off x="571486" y="4170350"/>
            <a:ext cx="1109143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기준 (법인 · 제품군)</a:t>
            </a:r>
            <a:endParaRPr lang="en-US" sz="765" dirty="0"/>
          </a:p>
        </p:txBody>
      </p:sp>
      <p:sp>
        <p:nvSpPr>
          <p:cNvPr id="114" name="Text 112"/>
          <p:cNvSpPr txBox="1"/>
          <p:nvPr/>
        </p:nvSpPr>
        <p:spPr>
          <a:xfrm>
            <a:off x="1857100" y="4170350"/>
            <a:ext cx="102410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측정 지표 (매출 · 손익)</a:t>
            </a:r>
            <a:endParaRPr lang="en-US" sz="765" dirty="0"/>
          </a:p>
        </p:txBody>
      </p:sp>
      <p:sp>
        <p:nvSpPr>
          <p:cNvPr id="115" name="Text 113"/>
          <p:cNvSpPr txBox="1"/>
          <p:nvPr/>
        </p:nvSpPr>
        <p:spPr>
          <a:xfrm>
            <a:off x="3058591" y="4170350"/>
            <a:ext cx="76076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확정된 값 · 조건</a:t>
            </a:r>
            <a:endParaRPr lang="en-US" sz="765" dirty="0"/>
          </a:p>
        </p:txBody>
      </p:sp>
      <p:sp>
        <p:nvSpPr>
          <p:cNvPr id="116" name="Text 114"/>
          <p:cNvSpPr txBox="1"/>
          <p:nvPr/>
        </p:nvSpPr>
        <p:spPr>
          <a:xfrm>
            <a:off x="679382" y="4609605"/>
            <a:ext cx="646739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대충 물어봐도 기준정보 · 지표를 표준으로 또렷하게 인식합니다.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검증은 지식 그래프가, 분석은 AI가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각자 잘하는 일에 집중합니다.</a:t>
            </a:r>
            <a:endParaRPr lang="en-US" sz="900" dirty="0"/>
          </a:p>
        </p:txBody>
      </p:sp>
      <p:sp>
        <p:nvSpPr>
          <p:cNvPr id="117" name="Text 115"/>
          <p:cNvSpPr txBox="1"/>
          <p:nvPr/>
        </p:nvSpPr>
        <p:spPr>
          <a:xfrm>
            <a:off x="4460332" y="4923873"/>
            <a:ext cx="361183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- 18 -</a:t>
            </a:r>
            <a:endParaRPr lang="en-US" sz="705" dirty="0"/>
          </a:p>
        </p:txBody>
      </p:sp>
      <p:sp>
        <p:nvSpPr>
          <p:cNvPr id="118" name="Text 116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2" y="1270445"/>
            <a:ext cx="1948538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497164" y="1270445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697156" y="1270445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898062" y="1270445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2232279"/>
            <a:ext cx="8549426" cy="2613927"/>
          </a:xfrm>
          <a:prstGeom prst="roundRect">
            <a:avLst>
              <a:gd name="adj" fmla="val 4373"/>
            </a:avLst>
          </a:prstGeom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39816" y="2129409"/>
            <a:ext cx="2076551" cy="209341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51703" y="2409730"/>
            <a:ext cx="1985113" cy="1023042"/>
          </a:xfrm>
          <a:prstGeom prst="roundRect">
            <a:avLst>
              <a:gd name="adj" fmla="val 782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1703" y="2409730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435901" y="2409730"/>
            <a:ext cx="686" cy="1023042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51703" y="343225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51702" y="2409730"/>
            <a:ext cx="686" cy="1023042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2550198" y="2409730"/>
            <a:ext cx="1985113" cy="1023042"/>
          </a:xfrm>
          <a:prstGeom prst="roundRect">
            <a:avLst>
              <a:gd name="adj" fmla="val 782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550198" y="2409730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4535311" y="2409730"/>
            <a:ext cx="686" cy="1023042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2550198" y="343225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550198" y="2409730"/>
            <a:ext cx="686" cy="1023042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451703" y="3546443"/>
            <a:ext cx="1985113" cy="1168604"/>
          </a:xfrm>
          <a:prstGeom prst="roundRect">
            <a:avLst>
              <a:gd name="adj" fmla="val 6846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51703" y="3546443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2435901" y="3546443"/>
            <a:ext cx="686" cy="1168604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51703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51702" y="3546443"/>
            <a:ext cx="686" cy="1168604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550198" y="3546443"/>
            <a:ext cx="1985113" cy="1168604"/>
          </a:xfrm>
          <a:prstGeom prst="roundRect">
            <a:avLst>
              <a:gd name="adj" fmla="val 6846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550198" y="3546443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4535311" y="3546443"/>
            <a:ext cx="686" cy="1168604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2550198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2550198" y="3546443"/>
            <a:ext cx="686" cy="1168604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4832484" y="2409730"/>
            <a:ext cx="3859586" cy="2305831"/>
          </a:xfrm>
          <a:prstGeom prst="roundRect">
            <a:avLst>
              <a:gd name="adj" fmla="val 4213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21147" y="1395111"/>
            <a:ext cx="96772" cy="82703"/>
          </a:xfrm>
          <a:custGeom>
            <a:avLst/>
            <a:gdLst/>
            <a:ahLst/>
            <a:cxnLst/>
            <a:rect l="l" t="t" r="r" b="b"/>
            <a:pathLst>
              <a:path w="129029" h="110271">
                <a:moveTo>
                  <a:pt x="12903" y="110271"/>
                </a:moveTo>
                <a:lnTo>
                  <a:pt x="116126" y="110271"/>
                </a:lnTo>
                <a:cubicBezTo>
                  <a:pt x="123252" y="110271"/>
                  <a:pt x="129029" y="104463"/>
                  <a:pt x="129029" y="97298"/>
                </a:cubicBezTo>
                <a:lnTo>
                  <a:pt x="129029" y="32433"/>
                </a:lnTo>
                <a:cubicBezTo>
                  <a:pt x="129029" y="25268"/>
                  <a:pt x="123252" y="19460"/>
                  <a:pt x="116126" y="19460"/>
                </a:cubicBezTo>
                <a:lnTo>
                  <a:pt x="65160" y="19460"/>
                </a:lnTo>
                <a:cubicBezTo>
                  <a:pt x="60775" y="19503"/>
                  <a:pt x="56668" y="17304"/>
                  <a:pt x="54257" y="13622"/>
                </a:cubicBezTo>
                <a:lnTo>
                  <a:pt x="49031" y="5838"/>
                </a:lnTo>
                <a:cubicBezTo>
                  <a:pt x="46644" y="2194"/>
                  <a:pt x="42596" y="1"/>
                  <a:pt x="38257" y="0"/>
                </a:cubicBez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97298"/>
                </a:lnTo>
                <a:cubicBezTo>
                  <a:pt x="0" y="104463"/>
                  <a:pt x="5777" y="110271"/>
                  <a:pt x="12903" y="110271"/>
                </a:cubicBez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2625976" y="1395111"/>
            <a:ext cx="87095" cy="87568"/>
          </a:xfrm>
          <a:prstGeom prst="roundRect">
            <a:avLst>
              <a:gd name="adj" fmla="val 11141"/>
            </a:avLst>
          </a:pr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2625976" y="1424299"/>
            <a:ext cx="87095" cy="2744"/>
          </a:xfrm>
          <a:custGeom>
            <a:avLst/>
            <a:gdLst/>
            <a:ahLst/>
            <a:cxnLst/>
            <a:rect l="l" t="t" r="r" b="b"/>
            <a:pathLst>
              <a:path w="116126" h="3658">
                <a:moveTo>
                  <a:pt x="0" y="0"/>
                </a:move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2655008" y="1424299"/>
            <a:ext cx="2744" cy="58379"/>
          </a:xfrm>
          <a:custGeom>
            <a:avLst/>
            <a:gdLst/>
            <a:ahLst/>
            <a:cxnLst/>
            <a:rect l="l" t="t" r="r" b="b"/>
            <a:pathLst>
              <a:path w="3658" h="77838">
                <a:moveTo>
                  <a:pt x="0" y="0"/>
                </a:moveTo>
                <a:lnTo>
                  <a:pt x="0" y="77838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4830808" y="1390246"/>
            <a:ext cx="77417" cy="97298"/>
          </a:xfrm>
          <a:custGeom>
            <a:avLst/>
            <a:gdLst/>
            <a:ahLst/>
            <a:cxnLst/>
            <a:rect l="l" t="t" r="r" b="b"/>
            <a:pathLst>
              <a:path w="103223" h="129731">
                <a:moveTo>
                  <a:pt x="64514" y="0"/>
                </a:move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116757"/>
                </a:lnTo>
                <a:cubicBezTo>
                  <a:pt x="0" y="123922"/>
                  <a:pt x="5777" y="129731"/>
                  <a:pt x="12903" y="129731"/>
                </a:cubicBezTo>
                <a:lnTo>
                  <a:pt x="90320" y="129731"/>
                </a:lnTo>
                <a:cubicBezTo>
                  <a:pt x="97446" y="129731"/>
                  <a:pt x="103223" y="123922"/>
                  <a:pt x="103223" y="116757"/>
                </a:cubicBezTo>
                <a:lnTo>
                  <a:pt x="103223" y="38919"/>
                </a:ln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4879193" y="1390246"/>
            <a:ext cx="29032" cy="29189"/>
          </a:xfrm>
          <a:custGeom>
            <a:avLst/>
            <a:gdLst/>
            <a:ahLst/>
            <a:cxnLst/>
            <a:rect l="l" t="t" r="r" b="b"/>
            <a:pathLst>
              <a:path w="38709" h="38919">
                <a:moveTo>
                  <a:pt x="0" y="0"/>
                </a:moveTo>
                <a:lnTo>
                  <a:pt x="0" y="38919"/>
                </a:lnTo>
                <a:lnTo>
                  <a:pt x="38709" y="38919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7025959" y="1390246"/>
            <a:ext cx="87095" cy="29189"/>
          </a:xfrm>
          <a:prstGeom prst="ellipse">
            <a:avLst/>
          </a:pr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7025959" y="1438895"/>
            <a:ext cx="87095" cy="14595"/>
          </a:xfrm>
          <a:custGeom>
            <a:avLst/>
            <a:gdLst/>
            <a:ahLst/>
            <a:cxnLst/>
            <a:rect l="l" t="t" r="r" b="b"/>
            <a:pathLst>
              <a:path w="116126" h="19460">
                <a:moveTo>
                  <a:pt x="116126" y="0"/>
                </a:moveTo>
                <a:cubicBezTo>
                  <a:pt x="116126" y="10768"/>
                  <a:pt x="90320" y="19460"/>
                  <a:pt x="58063" y="19460"/>
                </a:cubicBezTo>
                <a:cubicBezTo>
                  <a:pt x="25806" y="19460"/>
                  <a:pt x="0" y="10768"/>
                  <a:pt x="0" y="0"/>
                </a:cubicBez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7025959" y="1404841"/>
            <a:ext cx="87095" cy="82703"/>
          </a:xfrm>
          <a:custGeom>
            <a:avLst/>
            <a:gdLst/>
            <a:ahLst/>
            <a:cxnLst/>
            <a:rect l="l" t="t" r="r" b="b"/>
            <a:pathLst>
              <a:path w="116126" h="110271">
                <a:moveTo>
                  <a:pt x="0" y="0"/>
                </a:moveTo>
                <a:lnTo>
                  <a:pt x="0" y="90811"/>
                </a:lnTo>
                <a:cubicBezTo>
                  <a:pt x="0" y="101579"/>
                  <a:pt x="25806" y="110271"/>
                  <a:pt x="58063" y="110271"/>
                </a:cubicBezTo>
                <a:cubicBezTo>
                  <a:pt x="90320" y="110271"/>
                  <a:pt x="116126" y="101579"/>
                  <a:pt x="116126" y="90811"/>
                </a:cubicBez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5063821" y="3304956"/>
            <a:ext cx="51205" cy="2744"/>
          </a:xfrm>
          <a:custGeom>
            <a:avLst/>
            <a:gdLst/>
            <a:ahLst/>
            <a:cxnLst/>
            <a:rect l="l" t="t" r="r" b="b"/>
            <a:pathLst>
              <a:path w="68273" h="3658">
                <a:moveTo>
                  <a:pt x="0" y="0"/>
                </a:moveTo>
                <a:lnTo>
                  <a:pt x="68273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5072355" y="3341131"/>
            <a:ext cx="34137" cy="2744"/>
          </a:xfrm>
          <a:custGeom>
            <a:avLst/>
            <a:gdLst/>
            <a:ahLst/>
            <a:cxnLst/>
            <a:rect l="l" t="t" r="r" b="b"/>
            <a:pathLst>
              <a:path w="45516" h="3658">
                <a:moveTo>
                  <a:pt x="0" y="0"/>
                </a:moveTo>
                <a:lnTo>
                  <a:pt x="45516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5038219" y="3160252"/>
            <a:ext cx="102602" cy="108528"/>
          </a:xfrm>
          <a:custGeom>
            <a:avLst/>
            <a:gdLst/>
            <a:ahLst/>
            <a:cxnLst/>
            <a:rect l="l" t="t" r="r" b="b"/>
            <a:pathLst>
              <a:path w="136803" h="144704">
                <a:moveTo>
                  <a:pt x="103434" y="144704"/>
                </a:moveTo>
                <a:cubicBezTo>
                  <a:pt x="105483" y="132886"/>
                  <a:pt x="110831" y="123722"/>
                  <a:pt x="119479" y="114557"/>
                </a:cubicBezTo>
                <a:cubicBezTo>
                  <a:pt x="130592" y="103716"/>
                  <a:pt x="136803" y="88357"/>
                  <a:pt x="136547" y="72352"/>
                </a:cubicBezTo>
                <a:cubicBezTo>
                  <a:pt x="136547" y="32393"/>
                  <a:pt x="105980" y="0"/>
                  <a:pt x="68273" y="0"/>
                </a:cubicBezTo>
                <a:cubicBezTo>
                  <a:pt x="30567" y="0"/>
                  <a:pt x="0" y="32393"/>
                  <a:pt x="0" y="72352"/>
                </a:cubicBezTo>
                <a:cubicBezTo>
                  <a:pt x="0" y="84411"/>
                  <a:pt x="2617" y="99243"/>
                  <a:pt x="17068" y="114557"/>
                </a:cubicBezTo>
                <a:cubicBezTo>
                  <a:pt x="24806" y="122757"/>
                  <a:pt x="30154" y="132042"/>
                  <a:pt x="33113" y="144704"/>
                </a:cubicBez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 txBox="1"/>
          <p:nvPr/>
        </p:nvSpPr>
        <p:spPr>
          <a:xfrm>
            <a:off x="445302" y="167678"/>
            <a:ext cx="4296841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비정형 문서까지 데이터로,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Document Parser</a:t>
            </a:r>
            <a:endParaRPr lang="en-US" sz="1710" dirty="0"/>
          </a:p>
        </p:txBody>
      </p:sp>
      <p:sp>
        <p:nvSpPr>
          <p:cNvPr id="46" name="Text 44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47" name="Text 45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기업 내 방치된 정형 · 비정형 문서(PDF, 엑셀 등)를 AI가 스스로 읽고 해석해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지식 DB로 자동 마이그레이션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 단순 텍스트 추출을 넘어 다단 레이아웃, 복잡한 표(Table)</a:t>
            </a:r>
            <a:endParaRPr lang="en-US" sz="990" dirty="0"/>
          </a:p>
        </p:txBody>
      </p:sp>
      <p:sp>
        <p:nvSpPr>
          <p:cNvPr id="48" name="Text 46"/>
          <p:cNvSpPr txBox="1"/>
          <p:nvPr/>
        </p:nvSpPr>
        <p:spPr>
          <a:xfrm>
            <a:off x="297172" y="843020"/>
            <a:ext cx="1549961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구조의 맥락까지 파싱합니다.</a:t>
            </a:r>
            <a:endParaRPr lang="en-US" sz="990" dirty="0"/>
          </a:p>
        </p:txBody>
      </p:sp>
      <p:sp>
        <p:nvSpPr>
          <p:cNvPr id="49" name="Text 47"/>
          <p:cNvSpPr txBox="1"/>
          <p:nvPr/>
        </p:nvSpPr>
        <p:spPr>
          <a:xfrm>
            <a:off x="585202" y="1357370"/>
            <a:ext cx="113383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멀티 포맷 데이터 인입</a:t>
            </a:r>
            <a:endParaRPr lang="en-US" sz="915" dirty="0"/>
          </a:p>
        </p:txBody>
      </p:sp>
      <p:sp>
        <p:nvSpPr>
          <p:cNvPr id="50" name="Text 48"/>
          <p:cNvSpPr txBox="1"/>
          <p:nvPr/>
        </p:nvSpPr>
        <p:spPr>
          <a:xfrm>
            <a:off x="2785193" y="1357370"/>
            <a:ext cx="14401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지능형 구조 분석 (Parsing)</a:t>
            </a:r>
            <a:endParaRPr lang="en-US" sz="915" dirty="0"/>
          </a:p>
        </p:txBody>
      </p:sp>
      <p:sp>
        <p:nvSpPr>
          <p:cNvPr id="51" name="Text 49"/>
          <p:cNvSpPr txBox="1"/>
          <p:nvPr/>
        </p:nvSpPr>
        <p:spPr>
          <a:xfrm>
            <a:off x="4985184" y="1357370"/>
            <a:ext cx="140357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마크다운(MD) 최적화 변환</a:t>
            </a:r>
            <a:endParaRPr lang="en-US" sz="915" dirty="0"/>
          </a:p>
        </p:txBody>
      </p:sp>
      <p:sp>
        <p:nvSpPr>
          <p:cNvPr id="52" name="Text 50"/>
          <p:cNvSpPr txBox="1"/>
          <p:nvPr/>
        </p:nvSpPr>
        <p:spPr>
          <a:xfrm>
            <a:off x="7185175" y="1357370"/>
            <a:ext cx="139442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DB 자동 마이그레이션</a:t>
            </a:r>
            <a:endParaRPr lang="en-US" sz="915" dirty="0"/>
          </a:p>
        </p:txBody>
      </p:sp>
      <p:sp>
        <p:nvSpPr>
          <p:cNvPr id="53" name="Text 51"/>
          <p:cNvSpPr txBox="1"/>
          <p:nvPr/>
        </p:nvSpPr>
        <p:spPr>
          <a:xfrm>
            <a:off x="411470" y="1553852"/>
            <a:ext cx="178934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텍스트 · 도형 · 표가 혼재된 비정형 문서와</a:t>
            </a:r>
            <a:endParaRPr lang="en-US" sz="773" dirty="0"/>
          </a:p>
        </p:txBody>
      </p:sp>
      <p:sp>
        <p:nvSpPr>
          <p:cNvPr id="54" name="Text 52"/>
          <p:cNvSpPr txBox="1"/>
          <p:nvPr/>
        </p:nvSpPr>
        <p:spPr>
          <a:xfrm>
            <a:off x="2611461" y="1553852"/>
            <a:ext cx="184868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다중 레이아웃 등 구조를 완벽히 식별해 원본</a:t>
            </a:r>
            <a:endParaRPr lang="en-US" sz="773" dirty="0"/>
          </a:p>
        </p:txBody>
      </p:sp>
      <p:sp>
        <p:nvSpPr>
          <p:cNvPr id="55" name="Text 53"/>
          <p:cNvSpPr txBox="1"/>
          <p:nvPr/>
        </p:nvSpPr>
        <p:spPr>
          <a:xfrm>
            <a:off x="4811453" y="1553852"/>
            <a:ext cx="185170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LLM이 가장 잘 이해하는 마크다운 규격으로</a:t>
            </a:r>
            <a:endParaRPr lang="en-US" sz="773" dirty="0"/>
          </a:p>
        </p:txBody>
      </p:sp>
      <p:sp>
        <p:nvSpPr>
          <p:cNvPr id="56" name="Text 54"/>
          <p:cNvSpPr txBox="1"/>
          <p:nvPr/>
        </p:nvSpPr>
        <p:spPr>
          <a:xfrm>
            <a:off x="7011444" y="1553852"/>
            <a:ext cx="1831589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가공 완료된 정성 · 정량 데이터를 사내 지식</a:t>
            </a:r>
            <a:endParaRPr lang="en-US" sz="773" dirty="0"/>
          </a:p>
        </p:txBody>
      </p:sp>
      <p:sp>
        <p:nvSpPr>
          <p:cNvPr id="57" name="Text 55"/>
          <p:cNvSpPr txBox="1"/>
          <p:nvPr/>
        </p:nvSpPr>
        <p:spPr>
          <a:xfrm>
            <a:off x="2353607" y="1608373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4553599" y="1608373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753590" y="1608373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411470" y="1700956"/>
            <a:ext cx="1873833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정량 엑셀 데이터를 포맷 제약 없이 일괄 수집</a:t>
            </a:r>
            <a:endParaRPr lang="en-US" sz="773" dirty="0"/>
          </a:p>
        </p:txBody>
      </p:sp>
      <p:sp>
        <p:nvSpPr>
          <p:cNvPr id="61" name="Text 59"/>
          <p:cNvSpPr txBox="1"/>
          <p:nvPr/>
        </p:nvSpPr>
        <p:spPr>
          <a:xfrm>
            <a:off x="2611462" y="1700956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데이터의 문서 흐름과 맥락을 정확히 추출합</a:t>
            </a:r>
            <a:endParaRPr lang="en-US" sz="773" dirty="0"/>
          </a:p>
        </p:txBody>
      </p:sp>
      <p:sp>
        <p:nvSpPr>
          <p:cNvPr id="62" name="Text 60"/>
          <p:cNvSpPr txBox="1"/>
          <p:nvPr/>
        </p:nvSpPr>
        <p:spPr>
          <a:xfrm>
            <a:off x="4811453" y="1700956"/>
            <a:ext cx="175917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변환하고, 최적의 시맨틱 단위로 분할</a:t>
            </a:r>
            <a:endParaRPr lang="en-US" sz="773" dirty="0"/>
          </a:p>
        </p:txBody>
      </p:sp>
      <p:sp>
        <p:nvSpPr>
          <p:cNvPr id="63" name="Text 61"/>
          <p:cNvSpPr txBox="1"/>
          <p:nvPr/>
        </p:nvSpPr>
        <p:spPr>
          <a:xfrm>
            <a:off x="7011445" y="1700956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위키와 Vector DB로 이관해 즉시 검색 가능</a:t>
            </a:r>
            <a:endParaRPr lang="en-US" sz="773" dirty="0"/>
          </a:p>
        </p:txBody>
      </p:sp>
      <p:sp>
        <p:nvSpPr>
          <p:cNvPr id="64" name="Text 62"/>
          <p:cNvSpPr txBox="1"/>
          <p:nvPr/>
        </p:nvSpPr>
        <p:spPr>
          <a:xfrm>
            <a:off x="411470" y="1848574"/>
            <a:ext cx="420617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</a:t>
            </a:r>
            <a:endParaRPr lang="en-US" sz="773" dirty="0"/>
          </a:p>
        </p:txBody>
      </p:sp>
      <p:sp>
        <p:nvSpPr>
          <p:cNvPr id="65" name="Text 63"/>
          <p:cNvSpPr txBox="1"/>
          <p:nvPr/>
        </p:nvSpPr>
        <p:spPr>
          <a:xfrm>
            <a:off x="2611461" y="1848574"/>
            <a:ext cx="334666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73" dirty="0"/>
          </a:p>
        </p:txBody>
      </p:sp>
      <p:sp>
        <p:nvSpPr>
          <p:cNvPr id="66" name="Text 64"/>
          <p:cNvSpPr txBox="1"/>
          <p:nvPr/>
        </p:nvSpPr>
        <p:spPr>
          <a:xfrm>
            <a:off x="4811452" y="1848574"/>
            <a:ext cx="90158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(Chunking)합니다.</a:t>
            </a:r>
            <a:endParaRPr lang="en-US" sz="773" dirty="0"/>
          </a:p>
        </p:txBody>
      </p:sp>
      <p:sp>
        <p:nvSpPr>
          <p:cNvPr id="67" name="Text 65"/>
          <p:cNvSpPr txBox="1"/>
          <p:nvPr/>
        </p:nvSpPr>
        <p:spPr>
          <a:xfrm>
            <a:off x="7011445" y="1848574"/>
            <a:ext cx="1067081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자산으로 편입합니다.</a:t>
            </a:r>
            <a:endParaRPr lang="en-US" sz="773" dirty="0"/>
          </a:p>
        </p:txBody>
      </p:sp>
      <p:sp>
        <p:nvSpPr>
          <p:cNvPr id="68" name="Text 66"/>
          <p:cNvSpPr txBox="1"/>
          <p:nvPr/>
        </p:nvSpPr>
        <p:spPr>
          <a:xfrm>
            <a:off x="565086" y="2160785"/>
            <a:ext cx="2007607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Document Parser Core Engine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576972" y="2493055"/>
            <a:ext cx="1837624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정성 · 정량 데이터 통합 마이그레이션</a:t>
            </a:r>
            <a:endParaRPr lang="en-US" sz="893" dirty="0"/>
          </a:p>
        </p:txBody>
      </p:sp>
      <p:sp>
        <p:nvSpPr>
          <p:cNvPr id="70" name="Text 68"/>
          <p:cNvSpPr txBox="1"/>
          <p:nvPr/>
        </p:nvSpPr>
        <p:spPr>
          <a:xfrm>
            <a:off x="2676382" y="2493055"/>
            <a:ext cx="1547949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표 · 이미지 맥락 이해 (Vision)</a:t>
            </a:r>
            <a:endParaRPr lang="en-US" sz="893" dirty="0"/>
          </a:p>
        </p:txBody>
      </p:sp>
      <p:sp>
        <p:nvSpPr>
          <p:cNvPr id="71" name="Text 69"/>
          <p:cNvSpPr txBox="1"/>
          <p:nvPr/>
        </p:nvSpPr>
        <p:spPr>
          <a:xfrm>
            <a:off x="576972" y="2676678"/>
            <a:ext cx="190400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내부 · 외부 문서 업로드 즉시 파싱 파이프라인</a:t>
            </a:r>
            <a:endParaRPr lang="en-US" sz="765" dirty="0"/>
          </a:p>
        </p:txBody>
      </p:sp>
      <p:sp>
        <p:nvSpPr>
          <p:cNvPr id="72" name="Text 70"/>
          <p:cNvSpPr txBox="1"/>
          <p:nvPr/>
        </p:nvSpPr>
        <p:spPr>
          <a:xfrm>
            <a:off x="2676382" y="2676678"/>
            <a:ext cx="1917083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표의 헤더-본문 관계, 이미지 내 객체의 의미까</a:t>
            </a:r>
            <a:endParaRPr lang="en-US" sz="765" dirty="0"/>
          </a:p>
        </p:txBody>
      </p:sp>
      <p:sp>
        <p:nvSpPr>
          <p:cNvPr id="73" name="Text 71"/>
          <p:cNvSpPr txBox="1"/>
          <p:nvPr/>
        </p:nvSpPr>
        <p:spPr>
          <a:xfrm>
            <a:off x="576972" y="2822239"/>
            <a:ext cx="162036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이관해 지식 관계를 구조화합니다.</a:t>
            </a:r>
            <a:endParaRPr lang="en-US" sz="765" dirty="0"/>
          </a:p>
        </p:txBody>
      </p:sp>
      <p:sp>
        <p:nvSpPr>
          <p:cNvPr id="74" name="Text 72"/>
          <p:cNvSpPr txBox="1"/>
          <p:nvPr/>
        </p:nvSpPr>
        <p:spPr>
          <a:xfrm>
            <a:off x="2676382" y="2822239"/>
            <a:ext cx="152682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 파악해 데이터 손실을 방지합니다.</a:t>
            </a:r>
            <a:endParaRPr lang="en-US" sz="765" dirty="0"/>
          </a:p>
        </p:txBody>
      </p:sp>
      <p:sp>
        <p:nvSpPr>
          <p:cNvPr id="75" name="Text 73"/>
          <p:cNvSpPr txBox="1"/>
          <p:nvPr/>
        </p:nvSpPr>
        <p:spPr>
          <a:xfrm>
            <a:off x="5271384" y="3040838"/>
            <a:ext cx="3526387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'문서'를 '살아있는 AI 데이터 베이스'로 실시간 마이그레</a:t>
            </a:r>
            <a:endParaRPr lang="en-US" sz="1155" dirty="0"/>
          </a:p>
        </p:txBody>
      </p:sp>
      <p:sp>
        <p:nvSpPr>
          <p:cNvPr id="76" name="Text 74"/>
          <p:cNvSpPr txBox="1"/>
          <p:nvPr/>
        </p:nvSpPr>
        <p:spPr>
          <a:xfrm>
            <a:off x="5271385" y="3245549"/>
            <a:ext cx="393185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이션</a:t>
            </a:r>
            <a:endParaRPr lang="en-US" sz="1155" dirty="0"/>
          </a:p>
        </p:txBody>
      </p:sp>
      <p:sp>
        <p:nvSpPr>
          <p:cNvPr id="77" name="Text 75"/>
          <p:cNvSpPr txBox="1"/>
          <p:nvPr/>
        </p:nvSpPr>
        <p:spPr>
          <a:xfrm>
            <a:off x="4987013" y="3523297"/>
            <a:ext cx="3809021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단순 문서 저장을 넘어 사내 각종 문서를 통합 적재하고,</a:t>
            </a:r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문서 위키화 - 지식 관계</a:t>
            </a:r>
            <a:endParaRPr lang="en-US" sz="885" dirty="0"/>
          </a:p>
        </p:txBody>
      </p:sp>
      <p:sp>
        <p:nvSpPr>
          <p:cNvPr id="78" name="Text 76"/>
          <p:cNvSpPr txBox="1"/>
          <p:nvPr/>
        </p:nvSpPr>
        <p:spPr>
          <a:xfrm>
            <a:off x="576972" y="3630282"/>
            <a:ext cx="1386200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메타데이터 자동 추출 · 태깅</a:t>
            </a:r>
            <a:endParaRPr lang="en-US" sz="893" dirty="0"/>
          </a:p>
        </p:txBody>
      </p:sp>
      <p:sp>
        <p:nvSpPr>
          <p:cNvPr id="79" name="Text 77"/>
          <p:cNvSpPr txBox="1"/>
          <p:nvPr/>
        </p:nvSpPr>
        <p:spPr>
          <a:xfrm>
            <a:off x="2676382" y="3630282"/>
            <a:ext cx="1607292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무인(Human-less) 파이프라인</a:t>
            </a:r>
            <a:endParaRPr lang="en-US" sz="893" dirty="0"/>
          </a:p>
        </p:txBody>
      </p:sp>
      <p:sp>
        <p:nvSpPr>
          <p:cNvPr id="80" name="Text 78"/>
          <p:cNvSpPr txBox="1"/>
          <p:nvPr/>
        </p:nvSpPr>
        <p:spPr>
          <a:xfrm>
            <a:off x="4987013" y="3707949"/>
            <a:ext cx="3886469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망 형성 - 태그 기반 연관 탐색</a:t>
            </a:r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이어지는 답변 제공 플로우를 구현합니다. 지식</a:t>
            </a:r>
            <a:endParaRPr lang="en-US" sz="885" dirty="0"/>
          </a:p>
        </p:txBody>
      </p:sp>
      <p:sp>
        <p:nvSpPr>
          <p:cNvPr id="81" name="Text 79"/>
          <p:cNvSpPr txBox="1"/>
          <p:nvPr/>
        </p:nvSpPr>
        <p:spPr>
          <a:xfrm>
            <a:off x="576972" y="3813391"/>
            <a:ext cx="1871822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핵심 엔티티(부서명, 날짜, 제품명 등)</a:t>
            </a:r>
            <a:endParaRPr lang="en-US" sz="765" dirty="0"/>
          </a:p>
        </p:txBody>
      </p:sp>
      <p:sp>
        <p:nvSpPr>
          <p:cNvPr id="82" name="Text 80"/>
          <p:cNvSpPr txBox="1"/>
          <p:nvPr/>
        </p:nvSpPr>
        <p:spPr>
          <a:xfrm>
            <a:off x="2676382" y="3813391"/>
            <a:ext cx="184064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즉시 파싱-청킹-임베딩-적재까지 사</a:t>
            </a:r>
            <a:endParaRPr lang="en-US" sz="765" dirty="0"/>
          </a:p>
        </p:txBody>
      </p:sp>
      <p:sp>
        <p:nvSpPr>
          <p:cNvPr id="83" name="Text 81"/>
          <p:cNvSpPr txBox="1"/>
          <p:nvPr/>
        </p:nvSpPr>
        <p:spPr>
          <a:xfrm>
            <a:off x="4987013" y="3892600"/>
            <a:ext cx="2873613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그래프 · 지능형 위키와 같은 데이터를 바라보며 동작합니다.</a:t>
            </a:r>
            <a:endParaRPr lang="en-US" sz="885" dirty="0"/>
          </a:p>
        </p:txBody>
      </p:sp>
      <p:sp>
        <p:nvSpPr>
          <p:cNvPr id="84" name="Text 82"/>
          <p:cNvSpPr txBox="1"/>
          <p:nvPr/>
        </p:nvSpPr>
        <p:spPr>
          <a:xfrm>
            <a:off x="576972" y="3959466"/>
            <a:ext cx="185271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자동 식별해 검색 효율을 높이는 태그를 부</a:t>
            </a:r>
            <a:endParaRPr lang="en-US" sz="765" dirty="0"/>
          </a:p>
        </p:txBody>
      </p:sp>
      <p:sp>
        <p:nvSpPr>
          <p:cNvPr id="85" name="Text 83"/>
          <p:cNvSpPr txBox="1"/>
          <p:nvPr/>
        </p:nvSpPr>
        <p:spPr>
          <a:xfrm>
            <a:off x="2676382" y="3959466"/>
            <a:ext cx="1827566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 개입 없이 완전 자동화된 백엔드로 동작합</a:t>
            </a:r>
            <a:endParaRPr lang="en-US" sz="765" dirty="0"/>
          </a:p>
        </p:txBody>
      </p:sp>
      <p:sp>
        <p:nvSpPr>
          <p:cNvPr id="86" name="Text 84"/>
          <p:cNvSpPr txBox="1"/>
          <p:nvPr/>
        </p:nvSpPr>
        <p:spPr>
          <a:xfrm>
            <a:off x="576972" y="4105028"/>
            <a:ext cx="50199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여합니다.</a:t>
            </a:r>
            <a:endParaRPr lang="en-US" sz="765" dirty="0"/>
          </a:p>
        </p:txBody>
      </p:sp>
      <p:sp>
        <p:nvSpPr>
          <p:cNvPr id="87" name="Text 85"/>
          <p:cNvSpPr txBox="1"/>
          <p:nvPr/>
        </p:nvSpPr>
        <p:spPr>
          <a:xfrm>
            <a:off x="2676382" y="4105028"/>
            <a:ext cx="33283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65" dirty="0"/>
          </a:p>
        </p:txBody>
      </p:sp>
      <p:sp>
        <p:nvSpPr>
          <p:cNvPr id="88" name="Text 86"/>
          <p:cNvSpPr txBox="1"/>
          <p:nvPr/>
        </p:nvSpPr>
        <p:spPr>
          <a:xfrm>
            <a:off x="4458504" y="4923873"/>
            <a:ext cx="36301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- 19 -</a:t>
            </a:r>
            <a:endParaRPr lang="en-US" sz="705" dirty="0"/>
          </a:p>
        </p:txBody>
      </p:sp>
      <p:sp>
        <p:nvSpPr>
          <p:cNvPr id="89" name="Text 87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2" y="1270445"/>
            <a:ext cx="5000729" cy="3124676"/>
          </a:xfrm>
          <a:prstGeom prst="roundRect">
            <a:avLst>
              <a:gd name="adj" fmla="val 3658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39816" y="1852175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2041805" y="1852175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643793" y="1852175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39816" y="2551690"/>
            <a:ext cx="4715443" cy="302438"/>
          </a:xfrm>
          <a:prstGeom prst="roundRect">
            <a:avLst>
              <a:gd name="adj" fmla="val 302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804395" y="2620099"/>
            <a:ext cx="715958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3571557" y="2620099"/>
            <a:ext cx="641893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264656" y="2620099"/>
            <a:ext cx="776306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39816" y="3459518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39816" y="3459518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1950367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39816" y="4041248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39816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31253" y="3533585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531253" y="3756298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786365" y="3905459"/>
            <a:ext cx="84945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786364" y="3905459"/>
            <a:ext cx="306317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2041805" y="3459518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2041805" y="3459518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3552355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2041805" y="4041248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041804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133241" y="3533585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2133242" y="3756298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2388354" y="3905459"/>
            <a:ext cx="853114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2388353" y="3905459"/>
            <a:ext cx="187448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3643793" y="3459518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3643793" y="3459518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5155258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3643793" y="4041248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3643793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3735231" y="3533585"/>
            <a:ext cx="1328590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3735231" y="3756298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3990342" y="3905459"/>
            <a:ext cx="86591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3990343" y="3905459"/>
            <a:ext cx="441644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5595074" y="1270445"/>
            <a:ext cx="325152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5725830" y="1378973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5595074" y="2354180"/>
            <a:ext cx="325152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5725830" y="2462708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5595074" y="3437401"/>
            <a:ext cx="325152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5725830" y="3545929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551027" y="1996063"/>
            <a:ext cx="85723" cy="85640"/>
          </a:xfrm>
          <a:prstGeom prst="roundRect">
            <a:avLst>
              <a:gd name="adj" fmla="val 11117"/>
            </a:avLst>
          </a:pr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551027" y="2024610"/>
            <a:ext cx="85723" cy="2744"/>
          </a:xfrm>
          <a:custGeom>
            <a:avLst/>
            <a:gdLst/>
            <a:ahLst/>
            <a:cxnLst/>
            <a:rect l="l" t="t" r="r" b="b"/>
            <a:pathLst>
              <a:path w="114297" h="3658">
                <a:moveTo>
                  <a:pt x="0" y="0"/>
                </a:moveTo>
                <a:lnTo>
                  <a:pt x="114297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579601" y="2024610"/>
            <a:ext cx="2744" cy="57093"/>
          </a:xfrm>
          <a:custGeom>
            <a:avLst/>
            <a:gdLst/>
            <a:ahLst/>
            <a:cxnLst/>
            <a:rect l="l" t="t" r="r" b="b"/>
            <a:pathLst>
              <a:path w="3658" h="76124">
                <a:moveTo>
                  <a:pt x="0" y="7612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2153016" y="1990891"/>
            <a:ext cx="85723" cy="95985"/>
          </a:xfrm>
          <a:custGeom>
            <a:avLst/>
            <a:gdLst/>
            <a:ahLst/>
            <a:cxnLst/>
            <a:rect l="l" t="t" r="r" b="b"/>
            <a:pathLst>
              <a:path w="114297" h="127980">
                <a:moveTo>
                  <a:pt x="114297" y="89365"/>
                </a:moveTo>
                <a:lnTo>
                  <a:pt x="114297" y="38615"/>
                </a:lnTo>
                <a:cubicBezTo>
                  <a:pt x="114292" y="34087"/>
                  <a:pt x="111873" y="29905"/>
                  <a:pt x="107947" y="27641"/>
                </a:cubicBezTo>
                <a:lnTo>
                  <a:pt x="63498" y="2266"/>
                </a:lnTo>
                <a:cubicBezTo>
                  <a:pt x="59569" y="0"/>
                  <a:pt x="54728" y="0"/>
                  <a:pt x="50799" y="2266"/>
                </a:cubicBezTo>
                <a:lnTo>
                  <a:pt x="6350" y="27641"/>
                </a:lnTo>
                <a:cubicBezTo>
                  <a:pt x="2425" y="29905"/>
                  <a:pt x="5" y="34087"/>
                  <a:pt x="0" y="38615"/>
                </a:cubicBezTo>
                <a:lnTo>
                  <a:pt x="0" y="89365"/>
                </a:lnTo>
                <a:cubicBezTo>
                  <a:pt x="5" y="93893"/>
                  <a:pt x="2425" y="98075"/>
                  <a:pt x="6350" y="100339"/>
                </a:cubicBezTo>
                <a:lnTo>
                  <a:pt x="50799" y="125714"/>
                </a:lnTo>
                <a:cubicBezTo>
                  <a:pt x="54728" y="127980"/>
                  <a:pt x="59569" y="127980"/>
                  <a:pt x="63498" y="125714"/>
                </a:cubicBezTo>
                <a:lnTo>
                  <a:pt x="107947" y="100339"/>
                </a:lnTo>
                <a:cubicBezTo>
                  <a:pt x="111873" y="98075"/>
                  <a:pt x="114292" y="93893"/>
                  <a:pt x="114297" y="89365"/>
                </a:cubicBez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2154301" y="2014905"/>
            <a:ext cx="83151" cy="24026"/>
          </a:xfrm>
          <a:custGeom>
            <a:avLst/>
            <a:gdLst/>
            <a:ahLst/>
            <a:cxnLst/>
            <a:rect l="l" t="t" r="r" b="b"/>
            <a:pathLst>
              <a:path w="110868" h="32035">
                <a:moveTo>
                  <a:pt x="0" y="0"/>
                </a:moveTo>
                <a:lnTo>
                  <a:pt x="55434" y="32035"/>
                </a:lnTo>
                <a:lnTo>
                  <a:pt x="110868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2195877" y="2038883"/>
            <a:ext cx="2744" cy="47958"/>
          </a:xfrm>
          <a:custGeom>
            <a:avLst/>
            <a:gdLst/>
            <a:ahLst/>
            <a:cxnLst/>
            <a:rect l="l" t="t" r="r" b="b"/>
            <a:pathLst>
              <a:path w="3658" h="63944">
                <a:moveTo>
                  <a:pt x="0" y="6394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3760681" y="1991307"/>
            <a:ext cx="76198" cy="95155"/>
          </a:xfrm>
          <a:custGeom>
            <a:avLst/>
            <a:gdLst/>
            <a:ahLst/>
            <a:cxnLst/>
            <a:rect l="l" t="t" r="r" b="b"/>
            <a:pathLst>
              <a:path w="101597" h="126873">
                <a:moveTo>
                  <a:pt x="63498" y="0"/>
                </a:moveTo>
                <a:lnTo>
                  <a:pt x="12700" y="0"/>
                </a:lnTo>
                <a:cubicBezTo>
                  <a:pt x="5686" y="0"/>
                  <a:pt x="0" y="5680"/>
                  <a:pt x="0" y="12687"/>
                </a:cubicBezTo>
                <a:lnTo>
                  <a:pt x="0" y="114186"/>
                </a:lnTo>
                <a:cubicBezTo>
                  <a:pt x="0" y="121193"/>
                  <a:pt x="5686" y="126873"/>
                  <a:pt x="12700" y="126873"/>
                </a:cubicBezTo>
                <a:lnTo>
                  <a:pt x="88898" y="126873"/>
                </a:lnTo>
                <a:cubicBezTo>
                  <a:pt x="95912" y="126873"/>
                  <a:pt x="101597" y="121193"/>
                  <a:pt x="101597" y="114186"/>
                </a:cubicBezTo>
                <a:lnTo>
                  <a:pt x="101597" y="38062"/>
                </a:ln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3808305" y="1991306"/>
            <a:ext cx="28574" cy="28547"/>
          </a:xfrm>
          <a:custGeom>
            <a:avLst/>
            <a:gdLst/>
            <a:ahLst/>
            <a:cxnLst/>
            <a:rect l="l" t="t" r="r" b="b"/>
            <a:pathLst>
              <a:path w="38099" h="38062">
                <a:moveTo>
                  <a:pt x="0" y="0"/>
                </a:moveTo>
                <a:lnTo>
                  <a:pt x="0" y="38062"/>
                </a:lnTo>
                <a:lnTo>
                  <a:pt x="38099" y="38062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3784493" y="2053156"/>
            <a:ext cx="28574" cy="2744"/>
          </a:xfrm>
          <a:custGeom>
            <a:avLst/>
            <a:gdLst/>
            <a:ahLst/>
            <a:cxnLst/>
            <a:rect l="l" t="t" r="r" b="b"/>
            <a:pathLst>
              <a:path w="38099" h="3658">
                <a:moveTo>
                  <a:pt x="0" y="0"/>
                </a:moveTo>
                <a:lnTo>
                  <a:pt x="38099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601661" y="2702910"/>
            <a:ext cx="47548" cy="23831"/>
          </a:xfrm>
          <a:custGeom>
            <a:avLst/>
            <a:gdLst/>
            <a:ahLst/>
            <a:cxnLst/>
            <a:rect l="l" t="t" r="r" b="b"/>
            <a:pathLst>
              <a:path w="63397" h="31775">
                <a:moveTo>
                  <a:pt x="63397" y="31775"/>
                </a:moveTo>
                <a:lnTo>
                  <a:pt x="31698" y="0"/>
                </a:lnTo>
                <a:lnTo>
                  <a:pt x="0" y="3177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625434" y="2702910"/>
            <a:ext cx="2744" cy="53621"/>
          </a:xfrm>
          <a:custGeom>
            <a:avLst/>
            <a:gdLst/>
            <a:ahLst/>
            <a:cxnLst/>
            <a:rect l="l" t="t" r="r" b="b"/>
            <a:pathLst>
              <a:path w="3658" h="71495">
                <a:moveTo>
                  <a:pt x="0" y="0"/>
                </a:moveTo>
                <a:lnTo>
                  <a:pt x="0" y="7149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556310" y="2647372"/>
            <a:ext cx="136914" cy="93608"/>
          </a:xfrm>
          <a:custGeom>
            <a:avLst/>
            <a:gdLst/>
            <a:ahLst/>
            <a:cxnLst/>
            <a:rect l="l" t="t" r="r" b="b"/>
            <a:pathLst>
              <a:path w="182552" h="124810">
                <a:moveTo>
                  <a:pt x="158652" y="124810"/>
                </a:moveTo>
                <a:cubicBezTo>
                  <a:pt x="174552" y="116121"/>
                  <a:pt x="182552" y="97732"/>
                  <a:pt x="178085" y="80140"/>
                </a:cubicBezTo>
                <a:cubicBezTo>
                  <a:pt x="173618" y="62547"/>
                  <a:pt x="157822" y="50230"/>
                  <a:pt x="139713" y="50218"/>
                </a:cubicBezTo>
                <a:lnTo>
                  <a:pt x="129728" y="50218"/>
                </a:lnTo>
                <a:cubicBezTo>
                  <a:pt x="123159" y="24748"/>
                  <a:pt x="101615" y="5969"/>
                  <a:pt x="75541" y="2984"/>
                </a:cubicBezTo>
                <a:cubicBezTo>
                  <a:pt x="49467" y="0"/>
                  <a:pt x="24254" y="13428"/>
                  <a:pt x="12127" y="36758"/>
                </a:cubicBezTo>
                <a:cubicBezTo>
                  <a:pt x="0" y="60087"/>
                  <a:pt x="3466" y="88495"/>
                  <a:pt x="20844" y="108208"/>
                </a:cubicBez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612709" y="3577004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612709" y="3614080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634883" y="3577005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Shape 61"/>
          <p:cNvSpPr/>
          <p:nvPr/>
        </p:nvSpPr>
        <p:spPr>
          <a:xfrm>
            <a:off x="2214697" y="3577004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Shape 62"/>
          <p:cNvSpPr/>
          <p:nvPr/>
        </p:nvSpPr>
        <p:spPr>
          <a:xfrm>
            <a:off x="2214697" y="3614080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Shape 63"/>
          <p:cNvSpPr/>
          <p:nvPr/>
        </p:nvSpPr>
        <p:spPr>
          <a:xfrm>
            <a:off x="2236871" y="3577005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Shape 64"/>
          <p:cNvSpPr/>
          <p:nvPr/>
        </p:nvSpPr>
        <p:spPr>
          <a:xfrm>
            <a:off x="3816686" y="3577004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Shape 65"/>
          <p:cNvSpPr/>
          <p:nvPr/>
        </p:nvSpPr>
        <p:spPr>
          <a:xfrm>
            <a:off x="3816686" y="3614080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Shape 66"/>
          <p:cNvSpPr/>
          <p:nvPr/>
        </p:nvSpPr>
        <p:spPr>
          <a:xfrm>
            <a:off x="3838860" y="3577005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Shape 67"/>
          <p:cNvSpPr/>
          <p:nvPr/>
        </p:nvSpPr>
        <p:spPr>
          <a:xfrm>
            <a:off x="5846527" y="1521447"/>
            <a:ext cx="45719" cy="22803"/>
          </a:xfrm>
          <a:custGeom>
            <a:avLst/>
            <a:gdLst/>
            <a:ahLst/>
            <a:cxnLst/>
            <a:rect l="l" t="t" r="r" b="b"/>
            <a:pathLst>
              <a:path w="60958" h="30404">
                <a:moveTo>
                  <a:pt x="60958" y="30404"/>
                </a:moveTo>
                <a:lnTo>
                  <a:pt x="30479" y="0"/>
                </a:ln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Shape 68"/>
          <p:cNvSpPr/>
          <p:nvPr/>
        </p:nvSpPr>
        <p:spPr>
          <a:xfrm>
            <a:off x="5869387" y="1521447"/>
            <a:ext cx="2744" cy="51307"/>
          </a:xfrm>
          <a:custGeom>
            <a:avLst/>
            <a:gdLst/>
            <a:ahLst/>
            <a:cxnLst/>
            <a:rect l="l" t="t" r="r" b="b"/>
            <a:pathLst>
              <a:path w="3658" h="68409">
                <a:moveTo>
                  <a:pt x="0" y="0"/>
                </a:moveTo>
                <a:lnTo>
                  <a:pt x="0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Shape 69"/>
          <p:cNvSpPr/>
          <p:nvPr/>
        </p:nvSpPr>
        <p:spPr>
          <a:xfrm>
            <a:off x="5802922" y="1468309"/>
            <a:ext cx="131648" cy="89567"/>
          </a:xfrm>
          <a:custGeom>
            <a:avLst/>
            <a:gdLst/>
            <a:ahLst/>
            <a:cxnLst/>
            <a:rect l="l" t="t" r="r" b="b"/>
            <a:pathLst>
              <a:path w="175531" h="119423">
                <a:moveTo>
                  <a:pt x="152550" y="119423"/>
                </a:moveTo>
                <a:cubicBezTo>
                  <a:pt x="167839" y="111109"/>
                  <a:pt x="175531" y="93513"/>
                  <a:pt x="171236" y="76680"/>
                </a:cubicBezTo>
                <a:cubicBezTo>
                  <a:pt x="166941" y="59848"/>
                  <a:pt x="151752" y="48061"/>
                  <a:pt x="134339" y="48050"/>
                </a:cubicBezTo>
                <a:lnTo>
                  <a:pt x="124738" y="48050"/>
                </a:lnTo>
                <a:cubicBezTo>
                  <a:pt x="118422" y="23680"/>
                  <a:pt x="97706" y="5711"/>
                  <a:pt x="72635" y="2855"/>
                </a:cubicBezTo>
                <a:cubicBezTo>
                  <a:pt x="47564" y="0"/>
                  <a:pt x="23321" y="12848"/>
                  <a:pt x="11661" y="35171"/>
                </a:cubicBezTo>
                <a:cubicBezTo>
                  <a:pt x="0" y="57493"/>
                  <a:pt x="3332" y="84675"/>
                  <a:pt x="20042" y="103537"/>
                </a:cubicBez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Shape 70"/>
          <p:cNvSpPr/>
          <p:nvPr/>
        </p:nvSpPr>
        <p:spPr>
          <a:xfrm>
            <a:off x="5812238" y="2553876"/>
            <a:ext cx="114297" cy="79810"/>
          </a:xfrm>
          <a:prstGeom prst="roundRect">
            <a:avLst>
              <a:gd name="adj" fmla="val 14303"/>
            </a:avLst>
          </a:pr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Shape 71"/>
          <p:cNvSpPr/>
          <p:nvPr/>
        </p:nvSpPr>
        <p:spPr>
          <a:xfrm>
            <a:off x="5846527" y="2656489"/>
            <a:ext cx="45719" cy="2744"/>
          </a:xfrm>
          <a:custGeom>
            <a:avLst/>
            <a:gdLst/>
            <a:ahLst/>
            <a:cxnLst/>
            <a:rect l="l" t="t" r="r" b="b"/>
            <a:pathLst>
              <a:path w="60958" h="3658">
                <a:moveTo>
                  <a:pt x="0" y="0"/>
                </a:moveTo>
                <a:lnTo>
                  <a:pt x="60958" y="0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Shape 72"/>
          <p:cNvSpPr/>
          <p:nvPr/>
        </p:nvSpPr>
        <p:spPr>
          <a:xfrm>
            <a:off x="5869387" y="2633687"/>
            <a:ext cx="2744" cy="22803"/>
          </a:xfrm>
          <a:custGeom>
            <a:avLst/>
            <a:gdLst/>
            <a:ahLst/>
            <a:cxnLst/>
            <a:rect l="l" t="t" r="r" b="b"/>
            <a:pathLst>
              <a:path w="3658" h="30404">
                <a:moveTo>
                  <a:pt x="0" y="0"/>
                </a:move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Shape 73"/>
          <p:cNvSpPr/>
          <p:nvPr/>
        </p:nvSpPr>
        <p:spPr>
          <a:xfrm>
            <a:off x="5817954" y="3683218"/>
            <a:ext cx="102868" cy="62708"/>
          </a:xfrm>
          <a:prstGeom prst="roundRect">
            <a:avLst>
              <a:gd name="adj" fmla="val 18204"/>
            </a:avLst>
          </a:pr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5840812" y="3631911"/>
            <a:ext cx="57149" cy="51307"/>
          </a:xfrm>
          <a:custGeom>
            <a:avLst/>
            <a:gdLst/>
            <a:ahLst/>
            <a:cxnLst/>
            <a:rect l="l" t="t" r="r" b="b"/>
            <a:pathLst>
              <a:path w="76198" h="68409">
                <a:moveTo>
                  <a:pt x="0" y="68409"/>
                </a:moveTo>
                <a:lnTo>
                  <a:pt x="0" y="38005"/>
                </a:lnTo>
                <a:cubicBezTo>
                  <a:pt x="0" y="17015"/>
                  <a:pt x="17058" y="0"/>
                  <a:pt x="38099" y="0"/>
                </a:cubicBezTo>
                <a:cubicBezTo>
                  <a:pt x="59141" y="0"/>
                  <a:pt x="76198" y="17015"/>
                  <a:pt x="76198" y="38005"/>
                </a:cubicBezTo>
                <a:lnTo>
                  <a:pt x="76198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Shape 75"/>
          <p:cNvSpPr/>
          <p:nvPr/>
        </p:nvSpPr>
        <p:spPr>
          <a:xfrm>
            <a:off x="468161" y="4634422"/>
            <a:ext cx="109725" cy="54650"/>
          </a:xfrm>
          <a:custGeom>
            <a:avLst/>
            <a:gdLst/>
            <a:ahLst/>
            <a:cxnLst/>
            <a:rect l="l" t="t" r="r" b="b"/>
            <a:pathLst>
              <a:path w="146300" h="72866">
                <a:moveTo>
                  <a:pt x="73150" y="0"/>
                </a:moveTo>
                <a:lnTo>
                  <a:pt x="0" y="36433"/>
                </a:lnTo>
                <a:lnTo>
                  <a:pt x="73150" y="72866"/>
                </a:lnTo>
                <a:lnTo>
                  <a:pt x="146300" y="36433"/>
                </a:lnTo>
                <a:lnTo>
                  <a:pt x="73150" y="0"/>
                </a:lnTo>
                <a:close/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Shape 76"/>
          <p:cNvSpPr/>
          <p:nvPr/>
        </p:nvSpPr>
        <p:spPr>
          <a:xfrm>
            <a:off x="468161" y="4716397"/>
            <a:ext cx="109725" cy="27325"/>
          </a:xfrm>
          <a:custGeom>
            <a:avLst/>
            <a:gdLst/>
            <a:ahLst/>
            <a:cxnLst/>
            <a:rect l="l" t="t" r="r" b="b"/>
            <a:pathLst>
              <a:path w="146300" h="36433">
                <a:moveTo>
                  <a:pt x="0" y="0"/>
                </a:moveTo>
                <a:lnTo>
                  <a:pt x="73150" y="36433"/>
                </a:lnTo>
                <a:lnTo>
                  <a:pt x="146300" y="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Shape 77"/>
          <p:cNvSpPr/>
          <p:nvPr/>
        </p:nvSpPr>
        <p:spPr>
          <a:xfrm>
            <a:off x="468161" y="4689072"/>
            <a:ext cx="109725" cy="27325"/>
          </a:xfrm>
          <a:custGeom>
            <a:avLst/>
            <a:gdLst/>
            <a:ahLst/>
            <a:cxnLst/>
            <a:rect l="l" t="t" r="r" b="b"/>
            <a:pathLst>
              <a:path w="146300" h="36433">
                <a:moveTo>
                  <a:pt x="0" y="0"/>
                </a:moveTo>
                <a:lnTo>
                  <a:pt x="73150" y="36433"/>
                </a:lnTo>
                <a:lnTo>
                  <a:pt x="146300" y="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 txBox="1"/>
          <p:nvPr/>
        </p:nvSpPr>
        <p:spPr>
          <a:xfrm>
            <a:off x="445303" y="167678"/>
            <a:ext cx="273179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산출물 배포 플랫폼,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Apps</a:t>
            </a:r>
            <a:endParaRPr lang="en-US" sz="1710" dirty="0"/>
          </a:p>
        </p:txBody>
      </p:sp>
      <p:sp>
        <p:nvSpPr>
          <p:cNvPr id="81" name="Text 79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82" name="Text 80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요즘은 현업 개인이 AI로 직접 포털 · 업무 프로그램을 만듭니다. Apps는 이 산출물들을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원클릭으로 각자의 공간에 배포하고 한곳에서 관리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세일링스톤 자체 배포 플랫폼입</a:t>
            </a:r>
            <a:endParaRPr lang="en-US" sz="990" dirty="0"/>
          </a:p>
        </p:txBody>
      </p:sp>
      <p:sp>
        <p:nvSpPr>
          <p:cNvPr id="83" name="Text 81"/>
          <p:cNvSpPr txBox="1"/>
          <p:nvPr/>
        </p:nvSpPr>
        <p:spPr>
          <a:xfrm>
            <a:off x="297172" y="843020"/>
            <a:ext cx="390443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990" dirty="0"/>
          </a:p>
        </p:txBody>
      </p:sp>
      <p:sp>
        <p:nvSpPr>
          <p:cNvPr id="84" name="Text 82"/>
          <p:cNvSpPr txBox="1"/>
          <p:nvPr/>
        </p:nvSpPr>
        <p:spPr>
          <a:xfrm>
            <a:off x="6126328" y="1369200"/>
            <a:ext cx="97930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원클릭 개별 배포</a:t>
            </a:r>
            <a:endParaRPr lang="en-US" sz="1005" dirty="0"/>
          </a:p>
        </p:txBody>
      </p:sp>
      <p:sp>
        <p:nvSpPr>
          <p:cNvPr id="85" name="Text 83"/>
          <p:cNvSpPr txBox="1"/>
          <p:nvPr/>
        </p:nvSpPr>
        <p:spPr>
          <a:xfrm>
            <a:off x="439816" y="1382573"/>
            <a:ext cx="99667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DEPLOY FLOW</a:t>
            </a:r>
            <a:endParaRPr lang="en-US" sz="765" dirty="0"/>
          </a:p>
        </p:txBody>
      </p:sp>
      <p:sp>
        <p:nvSpPr>
          <p:cNvPr id="86" name="Text 84"/>
          <p:cNvSpPr txBox="1"/>
          <p:nvPr/>
        </p:nvSpPr>
        <p:spPr>
          <a:xfrm>
            <a:off x="6126327" y="1563110"/>
            <a:ext cx="280018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산출물을 올리면 논리적으로 격리된 전용 공간에 즉시 배포됩</a:t>
            </a:r>
            <a:endParaRPr lang="en-US" sz="855" dirty="0"/>
          </a:p>
        </p:txBody>
      </p:sp>
      <p:sp>
        <p:nvSpPr>
          <p:cNvPr id="87" name="Text 85"/>
          <p:cNvSpPr txBox="1"/>
          <p:nvPr/>
        </p:nvSpPr>
        <p:spPr>
          <a:xfrm>
            <a:off x="439816" y="1627404"/>
            <a:ext cx="112194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개인이 AI로 만든 산출물</a:t>
            </a:r>
            <a:endParaRPr lang="en-US" sz="705" dirty="0"/>
          </a:p>
        </p:txBody>
      </p:sp>
      <p:sp>
        <p:nvSpPr>
          <p:cNvPr id="88" name="Text 86"/>
          <p:cNvSpPr txBox="1"/>
          <p:nvPr/>
        </p:nvSpPr>
        <p:spPr>
          <a:xfrm>
            <a:off x="6126328" y="1731303"/>
            <a:ext cx="2784095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 접속 주소가 자동 발급되어 IT 요청 없이 바로 서비스가</a:t>
            </a:r>
            <a:endParaRPr lang="en-US" sz="855" dirty="0"/>
          </a:p>
        </p:txBody>
      </p:sp>
      <p:sp>
        <p:nvSpPr>
          <p:cNvPr id="89" name="Text 87"/>
          <p:cNvSpPr txBox="1"/>
          <p:nvPr/>
        </p:nvSpPr>
        <p:spPr>
          <a:xfrm>
            <a:off x="6126328" y="1900009"/>
            <a:ext cx="4507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됩니다.</a:t>
            </a:r>
            <a:endParaRPr lang="en-US" sz="855" dirty="0"/>
          </a:p>
        </p:txBody>
      </p:sp>
      <p:sp>
        <p:nvSpPr>
          <p:cNvPr id="90" name="Text 88"/>
          <p:cNvSpPr txBox="1"/>
          <p:nvPr/>
        </p:nvSpPr>
        <p:spPr>
          <a:xfrm>
            <a:off x="714128" y="1919555"/>
            <a:ext cx="723276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영업 현황 포털</a:t>
            </a:r>
            <a:endParaRPr lang="en-US" sz="810" dirty="0"/>
          </a:p>
        </p:txBody>
      </p:sp>
      <p:sp>
        <p:nvSpPr>
          <p:cNvPr id="91" name="Text 89"/>
          <p:cNvSpPr txBox="1"/>
          <p:nvPr/>
        </p:nvSpPr>
        <p:spPr>
          <a:xfrm>
            <a:off x="2316117" y="1919555"/>
            <a:ext cx="837573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재고 조회 미니 앱</a:t>
            </a:r>
            <a:endParaRPr lang="en-US" sz="810" dirty="0"/>
          </a:p>
        </p:txBody>
      </p:sp>
      <p:sp>
        <p:nvSpPr>
          <p:cNvPr id="92" name="Text 90"/>
          <p:cNvSpPr txBox="1"/>
          <p:nvPr/>
        </p:nvSpPr>
        <p:spPr>
          <a:xfrm>
            <a:off x="3918106" y="1919555"/>
            <a:ext cx="813799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주간 보고 생성기</a:t>
            </a:r>
            <a:endParaRPr lang="en-US" sz="810" dirty="0"/>
          </a:p>
        </p:txBody>
      </p:sp>
      <p:sp>
        <p:nvSpPr>
          <p:cNvPr id="93" name="Text 91"/>
          <p:cNvSpPr txBox="1"/>
          <p:nvPr/>
        </p:nvSpPr>
        <p:spPr>
          <a:xfrm>
            <a:off x="714128" y="2048143"/>
            <a:ext cx="67847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영업팀 김 매니저</a:t>
            </a:r>
            <a:endParaRPr lang="en-US" sz="645" dirty="0"/>
          </a:p>
        </p:txBody>
      </p:sp>
      <p:sp>
        <p:nvSpPr>
          <p:cNvPr id="94" name="Text 92"/>
          <p:cNvSpPr txBox="1"/>
          <p:nvPr/>
        </p:nvSpPr>
        <p:spPr>
          <a:xfrm>
            <a:off x="2316118" y="2048143"/>
            <a:ext cx="71504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SCM팀 박 파트장</a:t>
            </a:r>
            <a:endParaRPr lang="en-US" sz="645" dirty="0"/>
          </a:p>
        </p:txBody>
      </p:sp>
      <p:sp>
        <p:nvSpPr>
          <p:cNvPr id="95" name="Text 93"/>
          <p:cNvSpPr txBox="1"/>
          <p:nvPr/>
        </p:nvSpPr>
        <p:spPr>
          <a:xfrm>
            <a:off x="3918106" y="2048143"/>
            <a:ext cx="60623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기획팀 이 책임</a:t>
            </a:r>
            <a:endParaRPr lang="en-US" sz="645" dirty="0"/>
          </a:p>
        </p:txBody>
      </p:sp>
      <p:sp>
        <p:nvSpPr>
          <p:cNvPr id="96" name="Text 94"/>
          <p:cNvSpPr txBox="1"/>
          <p:nvPr/>
        </p:nvSpPr>
        <p:spPr>
          <a:xfrm>
            <a:off x="1183204" y="2314061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7" name="Text 95"/>
          <p:cNvSpPr txBox="1"/>
          <p:nvPr/>
        </p:nvSpPr>
        <p:spPr>
          <a:xfrm>
            <a:off x="2754104" y="2314061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8" name="Text 96"/>
          <p:cNvSpPr txBox="1"/>
          <p:nvPr/>
        </p:nvSpPr>
        <p:spPr>
          <a:xfrm>
            <a:off x="4325918" y="2314061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9" name="Text 97"/>
          <p:cNvSpPr txBox="1"/>
          <p:nvPr/>
        </p:nvSpPr>
        <p:spPr>
          <a:xfrm>
            <a:off x="6126327" y="2452935"/>
            <a:ext cx="86683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통합 관리 콘솔</a:t>
            </a:r>
            <a:endParaRPr lang="en-US" sz="1005" dirty="0"/>
          </a:p>
        </p:txBody>
      </p:sp>
      <p:sp>
        <p:nvSpPr>
          <p:cNvPr id="100" name="Text 98"/>
          <p:cNvSpPr txBox="1"/>
          <p:nvPr/>
        </p:nvSpPr>
        <p:spPr>
          <a:xfrm>
            <a:off x="754362" y="2616499"/>
            <a:ext cx="446219" cy="1728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Apps</a:t>
            </a:r>
            <a:endParaRPr lang="en-US" sz="975" dirty="0"/>
          </a:p>
        </p:txBody>
      </p:sp>
      <p:sp>
        <p:nvSpPr>
          <p:cNvPr id="101" name="Text 99"/>
          <p:cNvSpPr txBox="1"/>
          <p:nvPr/>
        </p:nvSpPr>
        <p:spPr>
          <a:xfrm>
            <a:off x="2883946" y="2643759"/>
            <a:ext cx="693101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논리적 격리 공간</a:t>
            </a:r>
            <a:endParaRPr lang="en-US" sz="668" dirty="0"/>
          </a:p>
        </p:txBody>
      </p:sp>
      <p:sp>
        <p:nvSpPr>
          <p:cNvPr id="102" name="Text 100"/>
          <p:cNvSpPr txBox="1"/>
          <p:nvPr/>
        </p:nvSpPr>
        <p:spPr>
          <a:xfrm>
            <a:off x="3651108" y="2643759"/>
            <a:ext cx="61903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주소 자동 발급</a:t>
            </a:r>
            <a:endParaRPr lang="en-US" sz="668" dirty="0"/>
          </a:p>
        </p:txBody>
      </p:sp>
      <p:sp>
        <p:nvSpPr>
          <p:cNvPr id="103" name="Text 101"/>
          <p:cNvSpPr txBox="1"/>
          <p:nvPr/>
        </p:nvSpPr>
        <p:spPr>
          <a:xfrm>
            <a:off x="4344206" y="2643759"/>
            <a:ext cx="75345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 할당 · 관리</a:t>
            </a:r>
            <a:endParaRPr lang="en-US" sz="668" dirty="0"/>
          </a:p>
        </p:txBody>
      </p:sp>
      <p:sp>
        <p:nvSpPr>
          <p:cNvPr id="104" name="Text 102"/>
          <p:cNvSpPr txBox="1"/>
          <p:nvPr/>
        </p:nvSpPr>
        <p:spPr>
          <a:xfrm>
            <a:off x="6126327" y="2646846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누가 어떤 앱을 올렸는지, 상태와 리소스 사용량은 어떤지 한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6126327" y="2815038"/>
            <a:ext cx="27659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화면에서 관리합니다. 중지 · 재배포 · 회수도 콘솔에서 즉시</a:t>
            </a:r>
            <a:endParaRPr lang="en-US" sz="855" dirty="0"/>
          </a:p>
        </p:txBody>
      </p:sp>
      <p:sp>
        <p:nvSpPr>
          <p:cNvPr id="106" name="Text 104"/>
          <p:cNvSpPr txBox="1"/>
          <p:nvPr/>
        </p:nvSpPr>
        <p:spPr>
          <a:xfrm>
            <a:off x="1183204" y="294208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7" name="Text 105"/>
          <p:cNvSpPr txBox="1"/>
          <p:nvPr/>
        </p:nvSpPr>
        <p:spPr>
          <a:xfrm>
            <a:off x="2754104" y="294208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8" name="Text 106"/>
          <p:cNvSpPr txBox="1"/>
          <p:nvPr/>
        </p:nvSpPr>
        <p:spPr>
          <a:xfrm>
            <a:off x="4325918" y="294208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9" name="Text 107"/>
          <p:cNvSpPr txBox="1"/>
          <p:nvPr/>
        </p:nvSpPr>
        <p:spPr>
          <a:xfrm>
            <a:off x="6126328" y="2983230"/>
            <a:ext cx="6400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처리합니다.</a:t>
            </a:r>
            <a:endParaRPr lang="en-US" sz="855" dirty="0"/>
          </a:p>
        </p:txBody>
      </p:sp>
      <p:sp>
        <p:nvSpPr>
          <p:cNvPr id="110" name="Text 108"/>
          <p:cNvSpPr txBox="1"/>
          <p:nvPr/>
        </p:nvSpPr>
        <p:spPr>
          <a:xfrm>
            <a:off x="439816" y="3234747"/>
            <a:ext cx="129659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바로 접속 가능한 사내 서비스</a:t>
            </a:r>
            <a:endParaRPr lang="en-US" sz="705" dirty="0"/>
          </a:p>
        </p:txBody>
      </p:sp>
      <p:sp>
        <p:nvSpPr>
          <p:cNvPr id="111" name="Text 109"/>
          <p:cNvSpPr txBox="1"/>
          <p:nvPr/>
        </p:nvSpPr>
        <p:spPr>
          <a:xfrm>
            <a:off x="6126327" y="3536156"/>
            <a:ext cx="1214297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접근 권한 · 공유 통제</a:t>
            </a:r>
            <a:endParaRPr lang="en-US" sz="1005" dirty="0"/>
          </a:p>
        </p:txBody>
      </p:sp>
      <p:sp>
        <p:nvSpPr>
          <p:cNvPr id="112" name="Text 110"/>
          <p:cNvSpPr txBox="1"/>
          <p:nvPr/>
        </p:nvSpPr>
        <p:spPr>
          <a:xfrm>
            <a:off x="739731" y="3552102"/>
            <a:ext cx="9518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sales-hub.corp.app</a:t>
            </a:r>
            <a:endParaRPr lang="en-US" sz="705" dirty="0"/>
          </a:p>
        </p:txBody>
      </p:sp>
      <p:sp>
        <p:nvSpPr>
          <p:cNvPr id="113" name="Text 111"/>
          <p:cNvSpPr txBox="1"/>
          <p:nvPr/>
        </p:nvSpPr>
        <p:spPr>
          <a:xfrm>
            <a:off x="2342635" y="3552102"/>
            <a:ext cx="101953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stock-mate.corp.app</a:t>
            </a:r>
            <a:endParaRPr lang="en-US" sz="705" dirty="0"/>
          </a:p>
        </p:txBody>
      </p:sp>
      <p:sp>
        <p:nvSpPr>
          <p:cNvPr id="114" name="Text 112"/>
          <p:cNvSpPr txBox="1"/>
          <p:nvPr/>
        </p:nvSpPr>
        <p:spPr>
          <a:xfrm>
            <a:off x="3944623" y="3552102"/>
            <a:ext cx="99027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report-gen.corp.app</a:t>
            </a:r>
            <a:endParaRPr lang="en-US" sz="705" dirty="0"/>
          </a:p>
        </p:txBody>
      </p:sp>
      <p:sp>
        <p:nvSpPr>
          <p:cNvPr id="115" name="Text 113"/>
          <p:cNvSpPr txBox="1"/>
          <p:nvPr/>
        </p:nvSpPr>
        <p:spPr>
          <a:xfrm>
            <a:off x="633663" y="3727495"/>
            <a:ext cx="827515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영업팀 공개</a:t>
            </a:r>
            <a:endParaRPr lang="en-US" sz="645" dirty="0"/>
          </a:p>
        </p:txBody>
      </p:sp>
      <p:sp>
        <p:nvSpPr>
          <p:cNvPr id="116" name="Text 114"/>
          <p:cNvSpPr txBox="1"/>
          <p:nvPr/>
        </p:nvSpPr>
        <p:spPr>
          <a:xfrm>
            <a:off x="2235652" y="3727495"/>
            <a:ext cx="864090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SCM팀 공개</a:t>
            </a:r>
            <a:endParaRPr lang="en-US" sz="645" dirty="0"/>
          </a:p>
        </p:txBody>
      </p:sp>
      <p:sp>
        <p:nvSpPr>
          <p:cNvPr id="117" name="Text 115"/>
          <p:cNvSpPr txBox="1"/>
          <p:nvPr/>
        </p:nvSpPr>
        <p:spPr>
          <a:xfrm>
            <a:off x="3838555" y="3727495"/>
            <a:ext cx="756194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지정 인원</a:t>
            </a:r>
            <a:endParaRPr lang="en-US" sz="645" dirty="0"/>
          </a:p>
        </p:txBody>
      </p:sp>
      <p:sp>
        <p:nvSpPr>
          <p:cNvPr id="118" name="Text 116"/>
          <p:cNvSpPr txBox="1"/>
          <p:nvPr/>
        </p:nvSpPr>
        <p:spPr>
          <a:xfrm>
            <a:off x="6126327" y="3730581"/>
            <a:ext cx="275492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계정과 연동해 앱별 공개 범위를 지정합니다. 팀 공개부</a:t>
            </a:r>
            <a:endParaRPr lang="en-US" sz="855" dirty="0"/>
          </a:p>
        </p:txBody>
      </p:sp>
      <p:sp>
        <p:nvSpPr>
          <p:cNvPr id="119" name="Text 117"/>
          <p:cNvSpPr txBox="1"/>
          <p:nvPr/>
        </p:nvSpPr>
        <p:spPr>
          <a:xfrm>
            <a:off x="531253" y="3869455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0" name="Text 118"/>
          <p:cNvSpPr txBox="1"/>
          <p:nvPr/>
        </p:nvSpPr>
        <p:spPr>
          <a:xfrm>
            <a:off x="1687940" y="3869455"/>
            <a:ext cx="309063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36%</a:t>
            </a:r>
            <a:endParaRPr lang="en-US" sz="615" dirty="0"/>
          </a:p>
        </p:txBody>
      </p:sp>
      <p:sp>
        <p:nvSpPr>
          <p:cNvPr id="121" name="Text 119"/>
          <p:cNvSpPr txBox="1"/>
          <p:nvPr/>
        </p:nvSpPr>
        <p:spPr>
          <a:xfrm>
            <a:off x="2133242" y="3869455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2" name="Text 120"/>
          <p:cNvSpPr txBox="1"/>
          <p:nvPr/>
        </p:nvSpPr>
        <p:spPr>
          <a:xfrm>
            <a:off x="3293587" y="3869455"/>
            <a:ext cx="305405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22%</a:t>
            </a:r>
            <a:endParaRPr lang="en-US" sz="615" dirty="0"/>
          </a:p>
        </p:txBody>
      </p:sp>
      <p:sp>
        <p:nvSpPr>
          <p:cNvPr id="123" name="Text 121"/>
          <p:cNvSpPr txBox="1"/>
          <p:nvPr/>
        </p:nvSpPr>
        <p:spPr>
          <a:xfrm>
            <a:off x="3735231" y="3869455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4" name="Text 122"/>
          <p:cNvSpPr txBox="1"/>
          <p:nvPr/>
        </p:nvSpPr>
        <p:spPr>
          <a:xfrm>
            <a:off x="4907462" y="3869455"/>
            <a:ext cx="293519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51%</a:t>
            </a:r>
            <a:endParaRPr lang="en-US" sz="615" dirty="0"/>
          </a:p>
        </p:txBody>
      </p:sp>
      <p:sp>
        <p:nvSpPr>
          <p:cNvPr id="125" name="Text 123"/>
          <p:cNvSpPr txBox="1"/>
          <p:nvPr/>
        </p:nvSpPr>
        <p:spPr>
          <a:xfrm>
            <a:off x="6126327" y="3898773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 지정 인원까지, 개인 산출물도 통제된 범위 안에서 공유됩</a:t>
            </a:r>
            <a:endParaRPr lang="en-US" sz="855" dirty="0"/>
          </a:p>
        </p:txBody>
      </p:sp>
      <p:sp>
        <p:nvSpPr>
          <p:cNvPr id="126" name="Text 124"/>
          <p:cNvSpPr txBox="1"/>
          <p:nvPr/>
        </p:nvSpPr>
        <p:spPr>
          <a:xfrm>
            <a:off x="6126327" y="4066966"/>
            <a:ext cx="35569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855" dirty="0"/>
          </a:p>
        </p:txBody>
      </p:sp>
      <p:sp>
        <p:nvSpPr>
          <p:cNvPr id="127" name="Text 125"/>
          <p:cNvSpPr txBox="1"/>
          <p:nvPr/>
        </p:nvSpPr>
        <p:spPr>
          <a:xfrm>
            <a:off x="839399" y="4165206"/>
            <a:ext cx="4307905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서버를 새로 만드는 것이 아니라,</a:t>
            </a:r>
            <a:r>
              <a:rPr lang="en-US" sz="720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논리적으로 격리된 전용 공간</a:t>
            </a:r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에 올라가 주소와 리소스가 자동으로 관리됩니다.</a:t>
            </a:r>
            <a:endParaRPr lang="en-US" sz="720" dirty="0"/>
          </a:p>
        </p:txBody>
      </p:sp>
      <p:sp>
        <p:nvSpPr>
          <p:cNvPr id="128" name="Text 126"/>
          <p:cNvSpPr txBox="1"/>
          <p:nvPr/>
        </p:nvSpPr>
        <p:spPr>
          <a:xfrm>
            <a:off x="679382" y="4609605"/>
            <a:ext cx="5741192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 PC에 잠들어 있던 AI 산출물이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조직의 서비스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 됩니다. 만드는 사람은 늘어나도, 관리는 한곳에서 이루어집니다.</a:t>
            </a:r>
            <a:endParaRPr lang="en-US" sz="900" dirty="0"/>
          </a:p>
        </p:txBody>
      </p:sp>
      <p:sp>
        <p:nvSpPr>
          <p:cNvPr id="129" name="Text 127"/>
          <p:cNvSpPr txBox="1"/>
          <p:nvPr/>
        </p:nvSpPr>
        <p:spPr>
          <a:xfrm>
            <a:off x="4458503" y="4923873"/>
            <a:ext cx="36392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- 20 -</a:t>
            </a:r>
            <a:endParaRPr lang="en-US" sz="705" dirty="0"/>
          </a:p>
        </p:txBody>
      </p:sp>
      <p:sp>
        <p:nvSpPr>
          <p:cNvPr id="130" name="Text 128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-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사례 및 예시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34329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34329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509051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646208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646208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720015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857171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57171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93189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7069050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7069050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63776" y="4629271"/>
            <a:ext cx="114112" cy="119039"/>
          </a:xfrm>
          <a:custGeom>
            <a:avLst/>
            <a:gdLst/>
            <a:ahLst/>
            <a:cxnLst/>
            <a:rect l="l" t="t" r="r" b="b"/>
            <a:pathLst>
              <a:path w="152149" h="158718">
                <a:moveTo>
                  <a:pt x="152149" y="73030"/>
                </a:moveTo>
                <a:lnTo>
                  <a:pt x="152149" y="79734"/>
                </a:lnTo>
                <a:cubicBezTo>
                  <a:pt x="152130" y="112004"/>
                  <a:pt x="130806" y="140418"/>
                  <a:pt x="99739" y="149568"/>
                </a:cubicBezTo>
                <a:cubicBezTo>
                  <a:pt x="68673" y="158718"/>
                  <a:pt x="35265" y="146423"/>
                  <a:pt x="17632" y="119352"/>
                </a:cubicBezTo>
                <a:cubicBezTo>
                  <a:pt x="0" y="92280"/>
                  <a:pt x="2343" y="56880"/>
                  <a:pt x="23392" y="32349"/>
                </a:cubicBezTo>
                <a:cubicBezTo>
                  <a:pt x="44440" y="7818"/>
                  <a:pt x="79179" y="0"/>
                  <a:pt x="108771" y="13134"/>
                </a:cubicBez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506566" y="4645353"/>
            <a:ext cx="71321" cy="54704"/>
          </a:xfrm>
          <a:custGeom>
            <a:avLst/>
            <a:gdLst/>
            <a:ahLst/>
            <a:cxnLst/>
            <a:rect l="l" t="t" r="r" b="b"/>
            <a:pathLst>
              <a:path w="95095" h="72939">
                <a:moveTo>
                  <a:pt x="95095" y="0"/>
                </a:moveTo>
                <a:lnTo>
                  <a:pt x="21945" y="72939"/>
                </a:lnTo>
                <a:lnTo>
                  <a:pt x="0" y="51079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445302" y="167678"/>
            <a:ext cx="4718278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A - 실적 조회부터 외부 연동까지,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네 가지 기능</a:t>
            </a:r>
            <a:endParaRPr lang="en-US" sz="1710" dirty="0"/>
          </a:p>
        </p:txBody>
      </p:sp>
      <p:sp>
        <p:nvSpPr>
          <p:cNvPr id="26" name="Text 24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7" name="Text 25"/>
          <p:cNvSpPr txBox="1"/>
          <p:nvPr/>
        </p:nvSpPr>
        <p:spPr>
          <a:xfrm>
            <a:off x="297173" y="641909"/>
            <a:ext cx="8655037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하나의 프로젝트 안에서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사내 데이터 · 사내 문서 · 산출물 공유 · 외부 시스템 연동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까지 순차 적용했습니다. 8월 구축 완료, 일부 조직이 파일럿으로 사용 중입니다.</a:t>
            </a:r>
            <a:endParaRPr lang="en-US" sz="990" dirty="0"/>
          </a:p>
        </p:txBody>
      </p:sp>
      <p:sp>
        <p:nvSpPr>
          <p:cNvPr id="28" name="Text 26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29" name="Text 27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30" name="Text 28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31" name="Text 29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705" dirty="0"/>
          </a:p>
        </p:txBody>
      </p:sp>
      <p:sp>
        <p:nvSpPr>
          <p:cNvPr id="32" name="Text 30"/>
          <p:cNvSpPr txBox="1"/>
          <p:nvPr/>
        </p:nvSpPr>
        <p:spPr>
          <a:xfrm>
            <a:off x="428844" y="1262730"/>
            <a:ext cx="89335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국내 통신 유통사</a:t>
            </a:r>
            <a:endParaRPr lang="en-US" sz="915" dirty="0"/>
          </a:p>
        </p:txBody>
      </p:sp>
      <p:sp>
        <p:nvSpPr>
          <p:cNvPr id="33" name="Text 31"/>
          <p:cNvSpPr txBox="1"/>
          <p:nvPr/>
        </p:nvSpPr>
        <p:spPr>
          <a:xfrm>
            <a:off x="2806224" y="1262730"/>
            <a:ext cx="64921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유통 · 통신</a:t>
            </a:r>
            <a:endParaRPr lang="en-US" sz="915" dirty="0"/>
          </a:p>
        </p:txBody>
      </p:sp>
      <p:sp>
        <p:nvSpPr>
          <p:cNvPr id="34" name="Text 32"/>
          <p:cNvSpPr txBox="1"/>
          <p:nvPr/>
        </p:nvSpPr>
        <p:spPr>
          <a:xfrm>
            <a:off x="4324090" y="1262730"/>
            <a:ext cx="13304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완료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· 파일럿 사용 중</a:t>
            </a:r>
            <a:endParaRPr lang="en-US" sz="915" dirty="0"/>
          </a:p>
        </p:txBody>
      </p:sp>
      <p:sp>
        <p:nvSpPr>
          <p:cNvPr id="35" name="Text 33"/>
          <p:cNvSpPr txBox="1"/>
          <p:nvPr/>
        </p:nvSpPr>
        <p:spPr>
          <a:xfrm>
            <a:off x="6410699" y="1262730"/>
            <a:ext cx="1967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사내 문서 · 대시보드 · 도매 거래</a:t>
            </a:r>
            <a:endParaRPr lang="en-US" sz="915" dirty="0"/>
          </a:p>
        </p:txBody>
      </p:sp>
      <p:sp>
        <p:nvSpPr>
          <p:cNvPr id="36" name="Text 34"/>
          <p:cNvSpPr txBox="1"/>
          <p:nvPr/>
        </p:nvSpPr>
        <p:spPr>
          <a:xfrm>
            <a:off x="434330" y="174570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37" name="Text 35"/>
          <p:cNvSpPr txBox="1"/>
          <p:nvPr/>
        </p:nvSpPr>
        <p:spPr>
          <a:xfrm>
            <a:off x="1665081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데이터</a:t>
            </a:r>
            <a:endParaRPr lang="en-US" sz="683" dirty="0"/>
          </a:p>
        </p:txBody>
      </p:sp>
      <p:sp>
        <p:nvSpPr>
          <p:cNvPr id="38" name="Text 36"/>
          <p:cNvSpPr txBox="1"/>
          <p:nvPr/>
        </p:nvSpPr>
        <p:spPr>
          <a:xfrm>
            <a:off x="2646208" y="174570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39" name="Text 37"/>
          <p:cNvSpPr txBox="1"/>
          <p:nvPr/>
        </p:nvSpPr>
        <p:spPr>
          <a:xfrm>
            <a:off x="3953767" y="1745704"/>
            <a:ext cx="46907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</a:t>
            </a:r>
            <a:endParaRPr lang="en-US" sz="683" dirty="0"/>
          </a:p>
        </p:txBody>
      </p:sp>
      <p:sp>
        <p:nvSpPr>
          <p:cNvPr id="40" name="Text 38"/>
          <p:cNvSpPr txBox="1"/>
          <p:nvPr/>
        </p:nvSpPr>
        <p:spPr>
          <a:xfrm>
            <a:off x="4857171" y="174570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41" name="Text 39"/>
          <p:cNvSpPr txBox="1"/>
          <p:nvPr/>
        </p:nvSpPr>
        <p:spPr>
          <a:xfrm>
            <a:off x="6087923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산출물 공유</a:t>
            </a:r>
            <a:endParaRPr lang="en-US" sz="683" dirty="0"/>
          </a:p>
        </p:txBody>
      </p:sp>
      <p:sp>
        <p:nvSpPr>
          <p:cNvPr id="42" name="Text 40"/>
          <p:cNvSpPr txBox="1"/>
          <p:nvPr/>
        </p:nvSpPr>
        <p:spPr>
          <a:xfrm>
            <a:off x="7069050" y="174570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43" name="Text 41"/>
          <p:cNvSpPr txBox="1"/>
          <p:nvPr/>
        </p:nvSpPr>
        <p:spPr>
          <a:xfrm>
            <a:off x="8299802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외부 시스템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434330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셀프 조회</a:t>
            </a:r>
            <a:endParaRPr lang="en-US" sz="1095" dirty="0"/>
          </a:p>
        </p:txBody>
      </p:sp>
      <p:sp>
        <p:nvSpPr>
          <p:cNvPr id="45" name="Text 43"/>
          <p:cNvSpPr txBox="1"/>
          <p:nvPr/>
        </p:nvSpPr>
        <p:spPr>
          <a:xfrm>
            <a:off x="2646208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챗봇</a:t>
            </a:r>
            <a:endParaRPr lang="en-US" sz="1095" dirty="0"/>
          </a:p>
        </p:txBody>
      </p:sp>
      <p:sp>
        <p:nvSpPr>
          <p:cNvPr id="46" name="Text 44"/>
          <p:cNvSpPr txBox="1"/>
          <p:nvPr/>
        </p:nvSpPr>
        <p:spPr>
          <a:xfrm>
            <a:off x="4857172" y="1894865"/>
            <a:ext cx="1313963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대시보드 공유 · SDK</a:t>
            </a:r>
            <a:endParaRPr lang="en-US" sz="1095" dirty="0"/>
          </a:p>
        </p:txBody>
      </p:sp>
      <p:sp>
        <p:nvSpPr>
          <p:cNvPr id="47" name="Text 45"/>
          <p:cNvSpPr txBox="1"/>
          <p:nvPr/>
        </p:nvSpPr>
        <p:spPr>
          <a:xfrm>
            <a:off x="7069050" y="1894865"/>
            <a:ext cx="1162177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도매 에이전트 연동</a:t>
            </a:r>
            <a:endParaRPr lang="en-US" sz="1095" dirty="0"/>
          </a:p>
        </p:txBody>
      </p:sp>
      <p:sp>
        <p:nvSpPr>
          <p:cNvPr id="48" name="Text 46"/>
          <p:cNvSpPr txBox="1"/>
          <p:nvPr/>
        </p:nvSpPr>
        <p:spPr>
          <a:xfrm>
            <a:off x="434330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49" name="Text 47"/>
          <p:cNvSpPr txBox="1"/>
          <p:nvPr/>
        </p:nvSpPr>
        <p:spPr>
          <a:xfrm>
            <a:off x="2646208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50" name="Text 48"/>
          <p:cNvSpPr txBox="1"/>
          <p:nvPr/>
        </p:nvSpPr>
        <p:spPr>
          <a:xfrm>
            <a:off x="4857172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51" name="Text 49"/>
          <p:cNvSpPr txBox="1"/>
          <p:nvPr/>
        </p:nvSpPr>
        <p:spPr>
          <a:xfrm>
            <a:off x="7069051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52" name="Text 50"/>
          <p:cNvSpPr txBox="1"/>
          <p:nvPr/>
        </p:nvSpPr>
        <p:spPr>
          <a:xfrm>
            <a:off x="434329" y="2339778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실적이 시스템별로 흩어져 있고, 조회 요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2646208" y="2339778"/>
            <a:ext cx="174609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2,000여 건이 쌓여 탐색에 시</a:t>
            </a:r>
            <a:endParaRPr lang="en-US" sz="810" dirty="0"/>
          </a:p>
        </p:txBody>
      </p:sp>
      <p:sp>
        <p:nvSpPr>
          <p:cNvPr id="54" name="Text 52"/>
          <p:cNvSpPr txBox="1"/>
          <p:nvPr/>
        </p:nvSpPr>
        <p:spPr>
          <a:xfrm>
            <a:off x="4857171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개인이 만든 분석 결과물이 파일로 흩어</a:t>
            </a:r>
            <a:endParaRPr lang="en-US" sz="810" dirty="0"/>
          </a:p>
        </p:txBody>
      </p:sp>
      <p:sp>
        <p:nvSpPr>
          <p:cNvPr id="55" name="Text 53"/>
          <p:cNvSpPr txBox="1"/>
          <p:nvPr/>
        </p:nvSpPr>
        <p:spPr>
          <a:xfrm>
            <a:off x="7069050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업무가 별도 시스템이라 분석 도구</a:t>
            </a:r>
            <a:endParaRPr lang="en-US" sz="810" dirty="0"/>
          </a:p>
        </p:txBody>
      </p:sp>
      <p:sp>
        <p:nvSpPr>
          <p:cNvPr id="56" name="Text 54"/>
          <p:cNvSpPr txBox="1"/>
          <p:nvPr/>
        </p:nvSpPr>
        <p:spPr>
          <a:xfrm>
            <a:off x="434330" y="2494083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청이 본사 담당자에게 집중되어 대기가</a:t>
            </a:r>
            <a:endParaRPr lang="en-US" sz="810" dirty="0"/>
          </a:p>
        </p:txBody>
      </p:sp>
      <p:sp>
        <p:nvSpPr>
          <p:cNvPr id="57" name="Text 55"/>
          <p:cNvSpPr txBox="1"/>
          <p:nvPr/>
        </p:nvSpPr>
        <p:spPr>
          <a:xfrm>
            <a:off x="2646208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간이 들고, 열람 권한이 달라 통합 검색이</a:t>
            </a:r>
            <a:endParaRPr lang="en-US" sz="810" dirty="0"/>
          </a:p>
        </p:txBody>
      </p:sp>
      <p:sp>
        <p:nvSpPr>
          <p:cNvPr id="58" name="Text 56"/>
          <p:cNvSpPr txBox="1"/>
          <p:nvPr/>
        </p:nvSpPr>
        <p:spPr>
          <a:xfrm>
            <a:off x="4857171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지고, 공유 시 열람 범위를 통제할 수단이</a:t>
            </a:r>
            <a:endParaRPr lang="en-US" sz="810" dirty="0"/>
          </a:p>
        </p:txBody>
      </p:sp>
      <p:sp>
        <p:nvSpPr>
          <p:cNvPr id="59" name="Text 57"/>
          <p:cNvSpPr txBox="1"/>
          <p:nvPr/>
        </p:nvSpPr>
        <p:spPr>
          <a:xfrm>
            <a:off x="7069050" y="2494083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와 분리되고, 확인한 내용이 액션으로 이</a:t>
            </a:r>
            <a:endParaRPr lang="en-US" sz="810" dirty="0"/>
          </a:p>
        </p:txBody>
      </p:sp>
      <p:sp>
        <p:nvSpPr>
          <p:cNvPr id="60" name="Text 58"/>
          <p:cNvSpPr txBox="1"/>
          <p:nvPr/>
        </p:nvSpPr>
        <p:spPr>
          <a:xfrm>
            <a:off x="434330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발생</a:t>
            </a:r>
            <a:endParaRPr lang="en-US" sz="810" dirty="0"/>
          </a:p>
        </p:txBody>
      </p:sp>
      <p:sp>
        <p:nvSpPr>
          <p:cNvPr id="61" name="Text 59"/>
          <p:cNvSpPr txBox="1"/>
          <p:nvPr/>
        </p:nvSpPr>
        <p:spPr>
          <a:xfrm>
            <a:off x="2646208" y="2648388"/>
            <a:ext cx="40690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어려움</a:t>
            </a:r>
            <a:endParaRPr lang="en-US" sz="810" dirty="0"/>
          </a:p>
        </p:txBody>
      </p:sp>
      <p:sp>
        <p:nvSpPr>
          <p:cNvPr id="62" name="Text 60"/>
          <p:cNvSpPr txBox="1"/>
          <p:nvPr/>
        </p:nvSpPr>
        <p:spPr>
          <a:xfrm>
            <a:off x="4857171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없음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7069051" y="2648388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어지지 않음</a:t>
            </a:r>
            <a:endParaRPr lang="en-US" sz="810" dirty="0"/>
          </a:p>
        </p:txBody>
      </p:sp>
      <p:sp>
        <p:nvSpPr>
          <p:cNvPr id="64" name="Text 62"/>
          <p:cNvSpPr txBox="1"/>
          <p:nvPr/>
        </p:nvSpPr>
        <p:spPr>
          <a:xfrm>
            <a:off x="434330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5" name="Text 63"/>
          <p:cNvSpPr txBox="1"/>
          <p:nvPr/>
        </p:nvSpPr>
        <p:spPr>
          <a:xfrm>
            <a:off x="2646208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6" name="Text 64"/>
          <p:cNvSpPr txBox="1"/>
          <p:nvPr/>
        </p:nvSpPr>
        <p:spPr>
          <a:xfrm>
            <a:off x="4857172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7" name="Text 65"/>
          <p:cNvSpPr txBox="1"/>
          <p:nvPr/>
        </p:nvSpPr>
        <p:spPr>
          <a:xfrm>
            <a:off x="7069051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8" name="Text 66"/>
          <p:cNvSpPr txBox="1"/>
          <p:nvPr/>
        </p:nvSpPr>
        <p:spPr>
          <a:xfrm>
            <a:off x="434330" y="2989916"/>
            <a:ext cx="176621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무선 · 유선 상품군별 실적을 대화형으로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2646208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시스템을 API로 연동하고, 권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857171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HTML 산출물을 플랫폼에 등록하고, 권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7069050" y="2989916"/>
            <a:ext cx="175011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aisight AI 기능을 API로 제공해 고객사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434329" y="3144221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조회하고, 팀장 이상 관리자용 현황 요약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2646208" y="3144221"/>
            <a:ext cx="133408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범위 내 문서만 답변에 활용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4857171" y="3144221"/>
            <a:ext cx="121978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관리 기반으로 링크 공유</a:t>
            </a:r>
            <a:endParaRPr lang="en-US" sz="810" dirty="0"/>
          </a:p>
        </p:txBody>
      </p:sp>
      <p:sp>
        <p:nvSpPr>
          <p:cNvPr id="75" name="Text 73"/>
          <p:cNvSpPr txBox="1"/>
          <p:nvPr/>
        </p:nvSpPr>
        <p:spPr>
          <a:xfrm>
            <a:off x="7069050" y="3144221"/>
            <a:ext cx="12865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에이전트 시스템에 탑재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434330" y="3298526"/>
            <a:ext cx="43067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뷰 제공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519367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78" name="Text 76"/>
          <p:cNvSpPr txBox="1"/>
          <p:nvPr/>
        </p:nvSpPr>
        <p:spPr>
          <a:xfrm>
            <a:off x="2731245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79" name="Text 77"/>
          <p:cNvSpPr txBox="1"/>
          <p:nvPr/>
        </p:nvSpPr>
        <p:spPr>
          <a:xfrm>
            <a:off x="4943123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80" name="Text 78"/>
          <p:cNvSpPr txBox="1"/>
          <p:nvPr/>
        </p:nvSpPr>
        <p:spPr>
          <a:xfrm>
            <a:off x="7155001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81" name="Text 79"/>
          <p:cNvSpPr txBox="1"/>
          <p:nvPr/>
        </p:nvSpPr>
        <p:spPr>
          <a:xfrm>
            <a:off x="519367" y="3909575"/>
            <a:ext cx="158415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요청 대기열 감소 · 현황 파악 시점 단</a:t>
            </a:r>
            <a:endParaRPr lang="en-US" sz="795" dirty="0"/>
          </a:p>
        </p:txBody>
      </p:sp>
      <p:sp>
        <p:nvSpPr>
          <p:cNvPr id="82" name="Text 80"/>
          <p:cNvSpPr txBox="1"/>
          <p:nvPr/>
        </p:nvSpPr>
        <p:spPr>
          <a:xfrm>
            <a:off x="2731245" y="3909575"/>
            <a:ext cx="161030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탐색 시간 단축 · 권한 밖 노출 없</a:t>
            </a:r>
            <a:endParaRPr lang="en-US" sz="795" dirty="0"/>
          </a:p>
        </p:txBody>
      </p:sp>
      <p:sp>
        <p:nvSpPr>
          <p:cNvPr id="83" name="Text 81"/>
          <p:cNvSpPr txBox="1"/>
          <p:nvPr/>
        </p:nvSpPr>
        <p:spPr>
          <a:xfrm>
            <a:off x="4943123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결과물이 조직 자산으로 축적 ·</a:t>
            </a:r>
            <a:endParaRPr lang="en-US" sz="795" dirty="0"/>
          </a:p>
        </p:txBody>
      </p:sp>
      <p:sp>
        <p:nvSpPr>
          <p:cNvPr id="84" name="Text 82"/>
          <p:cNvSpPr txBox="1"/>
          <p:nvPr/>
        </p:nvSpPr>
        <p:spPr>
          <a:xfrm>
            <a:off x="7155001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업무 화면에서 바로 인사이트 확보 ·</a:t>
            </a:r>
            <a:endParaRPr lang="en-US" sz="795" dirty="0"/>
          </a:p>
        </p:txBody>
      </p:sp>
      <p:sp>
        <p:nvSpPr>
          <p:cNvPr id="85" name="Text 83"/>
          <p:cNvSpPr txBox="1"/>
          <p:nvPr/>
        </p:nvSpPr>
        <p:spPr>
          <a:xfrm>
            <a:off x="519366" y="4060794"/>
            <a:ext cx="109177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축 · 조회 이력 전건 기록</a:t>
            </a:r>
            <a:endParaRPr lang="en-US" sz="795" dirty="0"/>
          </a:p>
        </p:txBody>
      </p:sp>
      <p:sp>
        <p:nvSpPr>
          <p:cNvPr id="86" name="Text 84"/>
          <p:cNvSpPr txBox="1"/>
          <p:nvPr/>
        </p:nvSpPr>
        <p:spPr>
          <a:xfrm>
            <a:off x="2731245" y="4060794"/>
            <a:ext cx="1356025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음 · 답변 근거를 원문으로 확인</a:t>
            </a:r>
            <a:endParaRPr lang="en-US" sz="795" dirty="0"/>
          </a:p>
        </p:txBody>
      </p:sp>
      <p:sp>
        <p:nvSpPr>
          <p:cNvPr id="87" name="Text 85"/>
          <p:cNvSpPr txBox="1"/>
          <p:nvPr/>
        </p:nvSpPr>
        <p:spPr>
          <a:xfrm>
            <a:off x="4943123" y="4060794"/>
            <a:ext cx="710474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중복 제작 감소</a:t>
            </a:r>
            <a:endParaRPr lang="en-US" sz="795" dirty="0"/>
          </a:p>
        </p:txBody>
      </p:sp>
      <p:sp>
        <p:nvSpPr>
          <p:cNvPr id="88" name="Text 86"/>
          <p:cNvSpPr txBox="1"/>
          <p:nvPr/>
        </p:nvSpPr>
        <p:spPr>
          <a:xfrm>
            <a:off x="7155001" y="4060794"/>
            <a:ext cx="108536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이후 액션까지 연결</a:t>
            </a:r>
            <a:endParaRPr lang="en-US" sz="795" dirty="0"/>
          </a:p>
        </p:txBody>
      </p:sp>
      <p:sp>
        <p:nvSpPr>
          <p:cNvPr id="89" name="Text 87"/>
          <p:cNvSpPr txBox="1"/>
          <p:nvPr/>
        </p:nvSpPr>
        <p:spPr>
          <a:xfrm>
            <a:off x="679382" y="4609605"/>
            <a:ext cx="6232029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8월 구축을 완료하고 일부 조직이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파일럿으로 사용 중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문서 접근은 사내 문서 시스템의 기존 권한 체계를 그대로 따릅니다.</a:t>
            </a:r>
            <a:endParaRPr lang="en-US" sz="900" dirty="0"/>
          </a:p>
        </p:txBody>
      </p:sp>
      <p:sp>
        <p:nvSpPr>
          <p:cNvPr id="90" name="Text 88"/>
          <p:cNvSpPr txBox="1"/>
          <p:nvPr/>
        </p:nvSpPr>
        <p:spPr>
          <a:xfrm>
            <a:off x="4449360" y="4923873"/>
            <a:ext cx="3831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- 25 -</a:t>
            </a:r>
            <a:endParaRPr lang="en-US" sz="705" dirty="0"/>
          </a:p>
        </p:txBody>
      </p:sp>
      <p:sp>
        <p:nvSpPr>
          <p:cNvPr id="91" name="Text 89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1626889"/>
            <a:ext cx="8549426" cy="377018"/>
          </a:xfrm>
          <a:prstGeom prst="roundRect">
            <a:avLst>
              <a:gd name="adj" fmla="val 2425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937237" y="1695298"/>
            <a:ext cx="3394168" cy="239687"/>
          </a:xfrm>
          <a:prstGeom prst="roundRect">
            <a:avLst>
              <a:gd name="adj" fmla="val 26227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548112" y="1695298"/>
            <a:ext cx="3394168" cy="239687"/>
          </a:xfrm>
          <a:prstGeom prst="roundRect">
            <a:avLst>
              <a:gd name="adj" fmla="val 26227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9717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34329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509051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646208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720015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57171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93189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7069050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473647" y="4639888"/>
            <a:ext cx="98753" cy="98369"/>
          </a:xfrm>
          <a:custGeom>
            <a:avLst/>
            <a:gdLst/>
            <a:ahLst/>
            <a:cxnLst/>
            <a:rect l="l" t="t" r="r" b="b"/>
            <a:pathLst>
              <a:path w="131670" h="131159">
                <a:moveTo>
                  <a:pt x="131670" y="65580"/>
                </a:moveTo>
                <a:cubicBezTo>
                  <a:pt x="131670" y="101798"/>
                  <a:pt x="102195" y="131159"/>
                  <a:pt x="65835" y="131159"/>
                </a:cubicBezTo>
                <a:cubicBezTo>
                  <a:pt x="29475" y="131159"/>
                  <a:pt x="0" y="101798"/>
                  <a:pt x="0" y="65580"/>
                </a:cubicBezTo>
                <a:cubicBezTo>
                  <a:pt x="0" y="29361"/>
                  <a:pt x="29475" y="0"/>
                  <a:pt x="65835" y="0"/>
                </a:cubicBez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539482" y="4639887"/>
            <a:ext cx="32918" cy="32790"/>
          </a:xfrm>
          <a:custGeom>
            <a:avLst/>
            <a:gdLst/>
            <a:ahLst/>
            <a:cxnLst/>
            <a:rect l="l" t="t" r="r" b="b"/>
            <a:pathLst>
              <a:path w="43890" h="43720">
                <a:moveTo>
                  <a:pt x="43890" y="0"/>
                </a:moveTo>
                <a:lnTo>
                  <a:pt x="43890" y="43720"/>
                </a:lnTo>
                <a:lnTo>
                  <a:pt x="0" y="4372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445302" y="167678"/>
            <a:ext cx="408260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B - 글로벌 D2C 채널의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 Agent 구축</a:t>
            </a:r>
            <a:endParaRPr lang="en-US" sz="1710" dirty="0"/>
          </a:p>
        </p:txBody>
      </p:sp>
      <p:sp>
        <p:nvSpPr>
          <p:cNvPr id="25" name="Text 23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6" name="Text 24"/>
          <p:cNvSpPr txBox="1"/>
          <p:nvPr/>
        </p:nvSpPr>
        <p:spPr>
          <a:xfrm>
            <a:off x="297173" y="641909"/>
            <a:ext cx="6235046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PoC로 가능성을 검증한 뒤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본 구축으로 이어진 건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9월 중 해외 판매 법인 전체를 대상으로 오픈할 예정입니다.</a:t>
            </a:r>
            <a:endParaRPr lang="en-US" sz="990" dirty="0"/>
          </a:p>
        </p:txBody>
      </p:sp>
      <p:sp>
        <p:nvSpPr>
          <p:cNvPr id="27" name="Text 25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28" name="Text 26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29" name="Text 27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30" name="Text 28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영역</a:t>
            </a:r>
            <a:endParaRPr lang="en-US" sz="705" dirty="0"/>
          </a:p>
        </p:txBody>
      </p:sp>
      <p:sp>
        <p:nvSpPr>
          <p:cNvPr id="31" name="Text 29"/>
          <p:cNvSpPr txBox="1"/>
          <p:nvPr/>
        </p:nvSpPr>
        <p:spPr>
          <a:xfrm>
            <a:off x="428843" y="1262730"/>
            <a:ext cx="1794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 · D2C 해외영업 조직</a:t>
            </a:r>
            <a:endParaRPr lang="en-US" sz="915" dirty="0"/>
          </a:p>
        </p:txBody>
      </p:sp>
      <p:sp>
        <p:nvSpPr>
          <p:cNvPr id="32" name="Text 30"/>
          <p:cNvSpPr txBox="1"/>
          <p:nvPr/>
        </p:nvSpPr>
        <p:spPr>
          <a:xfrm>
            <a:off x="2806223" y="1262730"/>
            <a:ext cx="850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제조 · 이커머스</a:t>
            </a:r>
            <a:endParaRPr lang="en-US" sz="915" dirty="0"/>
          </a:p>
        </p:txBody>
      </p:sp>
      <p:sp>
        <p:nvSpPr>
          <p:cNvPr id="33" name="Text 31"/>
          <p:cNvSpPr txBox="1"/>
          <p:nvPr/>
        </p:nvSpPr>
        <p:spPr>
          <a:xfrm>
            <a:off x="4324090" y="1262730"/>
            <a:ext cx="157510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9월 중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해외 법인 전체 오픈 예정</a:t>
            </a:r>
            <a:endParaRPr lang="en-US" sz="915" dirty="0"/>
          </a:p>
        </p:txBody>
      </p:sp>
      <p:sp>
        <p:nvSpPr>
          <p:cNvPr id="34" name="Text 32"/>
          <p:cNvSpPr txBox="1"/>
          <p:nvPr/>
        </p:nvSpPr>
        <p:spPr>
          <a:xfrm>
            <a:off x="6410698" y="1262730"/>
            <a:ext cx="170888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매출 GMV · 손익 · 트래픽 · 상품</a:t>
            </a:r>
            <a:endParaRPr lang="en-US" sz="915" dirty="0"/>
          </a:p>
        </p:txBody>
      </p:sp>
      <p:sp>
        <p:nvSpPr>
          <p:cNvPr id="35" name="Text 33"/>
          <p:cNvSpPr txBox="1"/>
          <p:nvPr/>
        </p:nvSpPr>
        <p:spPr>
          <a:xfrm>
            <a:off x="2242053" y="1739018"/>
            <a:ext cx="92078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PoC 검증 · 4개월</a:t>
            </a:r>
            <a:endParaRPr lang="en-US" sz="855" dirty="0"/>
          </a:p>
        </p:txBody>
      </p:sp>
      <p:sp>
        <p:nvSpPr>
          <p:cNvPr id="36" name="Text 34"/>
          <p:cNvSpPr txBox="1"/>
          <p:nvPr/>
        </p:nvSpPr>
        <p:spPr>
          <a:xfrm>
            <a:off x="5810867" y="1739018"/>
            <a:ext cx="1004904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D2C 사업 영역 구축</a:t>
            </a:r>
            <a:endParaRPr lang="en-US" sz="855" dirty="0"/>
          </a:p>
        </p:txBody>
      </p:sp>
      <p:sp>
        <p:nvSpPr>
          <p:cNvPr id="37" name="Text 35"/>
          <p:cNvSpPr txBox="1"/>
          <p:nvPr/>
        </p:nvSpPr>
        <p:spPr>
          <a:xfrm>
            <a:off x="428843" y="1743132"/>
            <a:ext cx="52028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경과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4422842" y="1742104"/>
            <a:ext cx="17190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855" dirty="0"/>
          </a:p>
        </p:txBody>
      </p:sp>
      <p:sp>
        <p:nvSpPr>
          <p:cNvPr id="39" name="Text 37"/>
          <p:cNvSpPr txBox="1"/>
          <p:nvPr/>
        </p:nvSpPr>
        <p:spPr>
          <a:xfrm>
            <a:off x="8033717" y="1742104"/>
            <a:ext cx="17190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855" dirty="0"/>
          </a:p>
        </p:txBody>
      </p:sp>
      <p:sp>
        <p:nvSpPr>
          <p:cNvPr id="40" name="Text 38"/>
          <p:cNvSpPr txBox="1"/>
          <p:nvPr/>
        </p:nvSpPr>
        <p:spPr>
          <a:xfrm>
            <a:off x="8192819" y="1746218"/>
            <a:ext cx="659270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· 고도화</a:t>
            </a:r>
            <a:endParaRPr lang="en-US" sz="773" dirty="0"/>
          </a:p>
        </p:txBody>
      </p:sp>
      <p:sp>
        <p:nvSpPr>
          <p:cNvPr id="41" name="Text 39"/>
          <p:cNvSpPr txBox="1"/>
          <p:nvPr/>
        </p:nvSpPr>
        <p:spPr>
          <a:xfrm>
            <a:off x="434330" y="226005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42" name="Text 40"/>
          <p:cNvSpPr txBox="1"/>
          <p:nvPr/>
        </p:nvSpPr>
        <p:spPr>
          <a:xfrm>
            <a:off x="1587359" y="2260054"/>
            <a:ext cx="62452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분석 인사이트</a:t>
            </a:r>
            <a:endParaRPr lang="en-US" sz="683" dirty="0"/>
          </a:p>
        </p:txBody>
      </p:sp>
      <p:sp>
        <p:nvSpPr>
          <p:cNvPr id="43" name="Text 41"/>
          <p:cNvSpPr txBox="1"/>
          <p:nvPr/>
        </p:nvSpPr>
        <p:spPr>
          <a:xfrm>
            <a:off x="2646208" y="226005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3876045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조회</a:t>
            </a:r>
            <a:endParaRPr lang="en-US" sz="683" dirty="0"/>
          </a:p>
        </p:txBody>
      </p:sp>
      <p:sp>
        <p:nvSpPr>
          <p:cNvPr id="45" name="Text 43"/>
          <p:cNvSpPr txBox="1"/>
          <p:nvPr/>
        </p:nvSpPr>
        <p:spPr>
          <a:xfrm>
            <a:off x="4857171" y="226005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46" name="Text 44"/>
          <p:cNvSpPr txBox="1"/>
          <p:nvPr/>
        </p:nvSpPr>
        <p:spPr>
          <a:xfrm>
            <a:off x="6087923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산출물 생성</a:t>
            </a:r>
            <a:endParaRPr lang="en-US" sz="683" dirty="0"/>
          </a:p>
        </p:txBody>
      </p:sp>
      <p:sp>
        <p:nvSpPr>
          <p:cNvPr id="47" name="Text 45"/>
          <p:cNvSpPr txBox="1"/>
          <p:nvPr/>
        </p:nvSpPr>
        <p:spPr>
          <a:xfrm>
            <a:off x="7069050" y="226005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48" name="Text 46"/>
          <p:cNvSpPr txBox="1"/>
          <p:nvPr/>
        </p:nvSpPr>
        <p:spPr>
          <a:xfrm>
            <a:off x="8329976" y="2260054"/>
            <a:ext cx="516626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문서 RAG</a:t>
            </a:r>
            <a:endParaRPr lang="en-US" sz="683" dirty="0"/>
          </a:p>
        </p:txBody>
      </p:sp>
      <p:sp>
        <p:nvSpPr>
          <p:cNvPr id="49" name="Text 47"/>
          <p:cNvSpPr txBox="1"/>
          <p:nvPr/>
        </p:nvSpPr>
        <p:spPr>
          <a:xfrm>
            <a:off x="434330" y="2408701"/>
            <a:ext cx="64921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현황 분석</a:t>
            </a:r>
            <a:endParaRPr lang="en-US" sz="1095" dirty="0"/>
          </a:p>
        </p:txBody>
      </p:sp>
      <p:sp>
        <p:nvSpPr>
          <p:cNvPr id="50" name="Text 48"/>
          <p:cNvSpPr txBox="1"/>
          <p:nvPr/>
        </p:nvSpPr>
        <p:spPr>
          <a:xfrm>
            <a:off x="2646208" y="2408701"/>
            <a:ext cx="1451120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탐색 · GenSQL</a:t>
            </a:r>
            <a:endParaRPr lang="en-US" sz="1095" dirty="0"/>
          </a:p>
        </p:txBody>
      </p:sp>
      <p:sp>
        <p:nvSpPr>
          <p:cNvPr id="51" name="Text 49"/>
          <p:cNvSpPr txBox="1"/>
          <p:nvPr/>
        </p:nvSpPr>
        <p:spPr>
          <a:xfrm>
            <a:off x="4857171" y="2408701"/>
            <a:ext cx="1292933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차트 · 문서 자동 생성</a:t>
            </a:r>
            <a:endParaRPr lang="en-US" sz="1095" dirty="0"/>
          </a:p>
        </p:txBody>
      </p:sp>
      <p:sp>
        <p:nvSpPr>
          <p:cNvPr id="52" name="Text 50"/>
          <p:cNvSpPr txBox="1"/>
          <p:nvPr/>
        </p:nvSpPr>
        <p:spPr>
          <a:xfrm>
            <a:off x="7069051" y="2408701"/>
            <a:ext cx="1535879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궁금해요 · 문서 기반 응답</a:t>
            </a:r>
            <a:endParaRPr lang="en-US" sz="1095" dirty="0"/>
          </a:p>
        </p:txBody>
      </p:sp>
      <p:sp>
        <p:nvSpPr>
          <p:cNvPr id="53" name="Text 51"/>
          <p:cNvSpPr txBox="1"/>
          <p:nvPr/>
        </p:nvSpPr>
        <p:spPr>
          <a:xfrm>
            <a:off x="434330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4" name="Text 52"/>
          <p:cNvSpPr txBox="1"/>
          <p:nvPr/>
        </p:nvSpPr>
        <p:spPr>
          <a:xfrm>
            <a:off x="2646208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5" name="Text 53"/>
          <p:cNvSpPr txBox="1"/>
          <p:nvPr/>
        </p:nvSpPr>
        <p:spPr>
          <a:xfrm>
            <a:off x="4857172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6" name="Text 54"/>
          <p:cNvSpPr txBox="1"/>
          <p:nvPr/>
        </p:nvSpPr>
        <p:spPr>
          <a:xfrm>
            <a:off x="7069051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7" name="Text 55"/>
          <p:cNvSpPr txBox="1"/>
          <p:nvPr/>
        </p:nvSpPr>
        <p:spPr>
          <a:xfrm>
            <a:off x="434330" y="2853614"/>
            <a:ext cx="180040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지표의 현황 · 증감 · 원인을 질문 한</a:t>
            </a:r>
            <a:endParaRPr lang="en-US" sz="810" dirty="0"/>
          </a:p>
        </p:txBody>
      </p:sp>
      <p:sp>
        <p:nvSpPr>
          <p:cNvPr id="58" name="Text 56"/>
          <p:cNvSpPr txBox="1"/>
          <p:nvPr/>
        </p:nvSpPr>
        <p:spPr>
          <a:xfrm>
            <a:off x="2646208" y="2853614"/>
            <a:ext cx="178532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DB를 직접 조회해 표 형태</a:t>
            </a:r>
            <a:endParaRPr lang="en-US" sz="810" dirty="0"/>
          </a:p>
        </p:txBody>
      </p:sp>
      <p:sp>
        <p:nvSpPr>
          <p:cNvPr id="59" name="Text 57"/>
          <p:cNvSpPr txBox="1"/>
          <p:nvPr/>
        </p:nvSpPr>
        <p:spPr>
          <a:xfrm>
            <a:off x="4857171" y="2853614"/>
            <a:ext cx="173804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탐색 결과를 보고서에 쓸 수 있는 차트로</a:t>
            </a:r>
            <a:endParaRPr lang="en-US" sz="810" dirty="0"/>
          </a:p>
        </p:txBody>
      </p:sp>
      <p:sp>
        <p:nvSpPr>
          <p:cNvPr id="60" name="Text 58"/>
          <p:cNvSpPr txBox="1"/>
          <p:nvPr/>
        </p:nvSpPr>
        <p:spPr>
          <a:xfrm>
            <a:off x="7069050" y="2853614"/>
            <a:ext cx="170686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온보딩 문서를 Document Parser로 지</a:t>
            </a:r>
            <a:endParaRPr lang="en-US" sz="810" dirty="0"/>
          </a:p>
        </p:txBody>
      </p:sp>
      <p:sp>
        <p:nvSpPr>
          <p:cNvPr id="61" name="Text 59"/>
          <p:cNvSpPr txBox="1"/>
          <p:nvPr/>
        </p:nvSpPr>
        <p:spPr>
          <a:xfrm>
            <a:off x="434330" y="3007919"/>
            <a:ext cx="52028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줄로 확인</a:t>
            </a:r>
            <a:endParaRPr lang="en-US" sz="810" dirty="0"/>
          </a:p>
        </p:txBody>
      </p:sp>
      <p:sp>
        <p:nvSpPr>
          <p:cNvPr id="62" name="Text 60"/>
          <p:cNvSpPr txBox="1"/>
          <p:nvPr/>
        </p:nvSpPr>
        <p:spPr>
          <a:xfrm>
            <a:off x="2646208" y="3007919"/>
            <a:ext cx="63366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로 즉시 제공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4857172" y="3007919"/>
            <a:ext cx="107622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변환 (GenChart)</a:t>
            </a:r>
            <a:endParaRPr lang="en-US" sz="810" dirty="0"/>
          </a:p>
        </p:txBody>
      </p:sp>
      <p:sp>
        <p:nvSpPr>
          <p:cNvPr id="64" name="Text 62"/>
          <p:cNvSpPr txBox="1"/>
          <p:nvPr/>
        </p:nvSpPr>
        <p:spPr>
          <a:xfrm>
            <a:off x="7069050" y="3007919"/>
            <a:ext cx="9034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식화해 답변에 활용</a:t>
            </a:r>
            <a:endParaRPr lang="en-US" sz="810" dirty="0"/>
          </a:p>
        </p:txBody>
      </p:sp>
      <p:sp>
        <p:nvSpPr>
          <p:cNvPr id="65" name="Text 63"/>
          <p:cNvSpPr txBox="1"/>
          <p:nvPr/>
        </p:nvSpPr>
        <p:spPr>
          <a:xfrm>
            <a:off x="434330" y="3224975"/>
            <a:ext cx="174508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지역-법인, 사업부-제품군 등 단계별 드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2646208" y="3224975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필요한 기초 데이터를 그대로 내려받아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4857172" y="3224975"/>
            <a:ext cx="179537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프롬프트만으로 분석 내용을 PPT 문서로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7069050" y="3224975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정해진 문답 매칭이 아니라 질문 의도를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434330" y="3379280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릴다운 분석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2646208" y="3379280"/>
            <a:ext cx="81379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후속 작업에 활용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4857171" y="3379280"/>
            <a:ext cx="52028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생성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7069051" y="3379280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해석해 응답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434329" y="3596336"/>
            <a:ext cx="131030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연관 질의를 눌러 이어서 분석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2646208" y="3596336"/>
            <a:ext cx="118046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 · 차원을 조합해 탐색</a:t>
            </a:r>
            <a:endParaRPr lang="en-US" sz="810" dirty="0"/>
          </a:p>
        </p:txBody>
      </p:sp>
      <p:sp>
        <p:nvSpPr>
          <p:cNvPr id="75" name="Text 73"/>
          <p:cNvSpPr txBox="1"/>
          <p:nvPr/>
        </p:nvSpPr>
        <p:spPr>
          <a:xfrm>
            <a:off x="4857171" y="3596336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생성한 문서를 메일로 발송해 필요한 사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7069050" y="3596336"/>
            <a:ext cx="171994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한글 · 영문 질의에 각각 대응해 해외 법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4857171" y="3750641"/>
            <a:ext cx="81379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람에게 바로 공유</a:t>
            </a:r>
            <a:endParaRPr lang="en-US" sz="810" dirty="0"/>
          </a:p>
        </p:txBody>
      </p:sp>
      <p:sp>
        <p:nvSpPr>
          <p:cNvPr id="78" name="Text 76"/>
          <p:cNvSpPr txBox="1"/>
          <p:nvPr/>
        </p:nvSpPr>
        <p:spPr>
          <a:xfrm>
            <a:off x="7069050" y="3750641"/>
            <a:ext cx="81379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 확산까지 고려</a:t>
            </a:r>
            <a:endParaRPr lang="en-US" sz="810" dirty="0"/>
          </a:p>
        </p:txBody>
      </p:sp>
      <p:sp>
        <p:nvSpPr>
          <p:cNvPr id="79" name="Text 77"/>
          <p:cNvSpPr txBox="1"/>
          <p:nvPr/>
        </p:nvSpPr>
        <p:spPr>
          <a:xfrm>
            <a:off x="679382" y="4609605"/>
            <a:ext cx="4249568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현황과 오류 질의를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Ops로 수집해 재학습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운영 체계를 함께 구축했습니다.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4450274" y="4923873"/>
            <a:ext cx="3803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- 26 -</a:t>
            </a:r>
            <a:endParaRPr lang="en-US" sz="705" dirty="0"/>
          </a:p>
        </p:txBody>
      </p:sp>
      <p:sp>
        <p:nvSpPr>
          <p:cNvPr id="81" name="Text 79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1626889"/>
            <a:ext cx="8549426" cy="377018"/>
          </a:xfrm>
          <a:prstGeom prst="roundRect">
            <a:avLst>
              <a:gd name="adj" fmla="val 2425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937237" y="1695298"/>
            <a:ext cx="2960753" cy="239687"/>
          </a:xfrm>
          <a:prstGeom prst="roundRect">
            <a:avLst>
              <a:gd name="adj" fmla="val 26227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114698" y="1695298"/>
            <a:ext cx="2960753" cy="239687"/>
          </a:xfrm>
          <a:prstGeom prst="roundRect">
            <a:avLst>
              <a:gd name="adj" fmla="val 26227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9717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34329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509051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646208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720015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57171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93189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7069050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473647" y="4683607"/>
            <a:ext cx="98753" cy="60115"/>
          </a:xfrm>
          <a:prstGeom prst="roundRect">
            <a:avLst>
              <a:gd name="adj" fmla="val 18217"/>
            </a:avLst>
          </a:pr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95592" y="4634422"/>
            <a:ext cx="54863" cy="49185"/>
          </a:xfrm>
          <a:custGeom>
            <a:avLst/>
            <a:gdLst/>
            <a:ahLst/>
            <a:cxnLst/>
            <a:rect l="l" t="t" r="r" b="b"/>
            <a:pathLst>
              <a:path w="73150" h="65580">
                <a:moveTo>
                  <a:pt x="0" y="65580"/>
                </a:moveTo>
                <a:lnTo>
                  <a:pt x="0" y="36433"/>
                </a:lnTo>
                <a:cubicBezTo>
                  <a:pt x="0" y="16312"/>
                  <a:pt x="16375" y="0"/>
                  <a:pt x="36575" y="0"/>
                </a:cubicBezTo>
                <a:cubicBezTo>
                  <a:pt x="56775" y="0"/>
                  <a:pt x="73150" y="16312"/>
                  <a:pt x="73150" y="36433"/>
                </a:cubicBezTo>
                <a:lnTo>
                  <a:pt x="73150" y="6558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445302" y="167678"/>
            <a:ext cx="462574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C - 실적 대시보드와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의사결정 지원 플랫폼</a:t>
            </a:r>
            <a:endParaRPr lang="en-US" sz="1710" dirty="0"/>
          </a:p>
        </p:txBody>
      </p:sp>
      <p:sp>
        <p:nvSpPr>
          <p:cNvPr id="25" name="Text 23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6" name="Text 24"/>
          <p:cNvSpPr txBox="1"/>
          <p:nvPr/>
        </p:nvSpPr>
        <p:spPr>
          <a:xfrm>
            <a:off x="297173" y="641909"/>
            <a:ext cx="6624297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실적을 하나의 포털에서 보고,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정량 지표와 문서 근거를 함께 확인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구조입니다. 12월 오픈 예정입니다.</a:t>
            </a:r>
            <a:endParaRPr lang="en-US" sz="990" dirty="0"/>
          </a:p>
        </p:txBody>
      </p:sp>
      <p:sp>
        <p:nvSpPr>
          <p:cNvPr id="27" name="Text 25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28" name="Text 26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29" name="Text 27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30" name="Text 28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705" dirty="0"/>
          </a:p>
        </p:txBody>
      </p:sp>
      <p:sp>
        <p:nvSpPr>
          <p:cNvPr id="31" name="Text 29"/>
          <p:cNvSpPr txBox="1"/>
          <p:nvPr/>
        </p:nvSpPr>
        <p:spPr>
          <a:xfrm>
            <a:off x="428844" y="1262730"/>
            <a:ext cx="200458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 · 냉난방 제품 개발 연구소</a:t>
            </a:r>
            <a:endParaRPr lang="en-US" sz="915" dirty="0"/>
          </a:p>
        </p:txBody>
      </p:sp>
      <p:sp>
        <p:nvSpPr>
          <p:cNvPr id="32" name="Text 30"/>
          <p:cNvSpPr txBox="1"/>
          <p:nvPr/>
        </p:nvSpPr>
        <p:spPr>
          <a:xfrm>
            <a:off x="2806224" y="1262730"/>
            <a:ext cx="70864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제조 · R&amp;D</a:t>
            </a:r>
            <a:endParaRPr lang="en-US" sz="915" dirty="0"/>
          </a:p>
        </p:txBody>
      </p:sp>
      <p:sp>
        <p:nvSpPr>
          <p:cNvPr id="33" name="Text 31"/>
          <p:cNvSpPr txBox="1"/>
          <p:nvPr/>
        </p:nvSpPr>
        <p:spPr>
          <a:xfrm>
            <a:off x="4324090" y="1262730"/>
            <a:ext cx="124721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중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· 12월 오픈 예정</a:t>
            </a:r>
            <a:endParaRPr lang="en-US" sz="915" dirty="0"/>
          </a:p>
        </p:txBody>
      </p:sp>
      <p:sp>
        <p:nvSpPr>
          <p:cNvPr id="34" name="Text 32"/>
          <p:cNvSpPr txBox="1"/>
          <p:nvPr/>
        </p:nvSpPr>
        <p:spPr>
          <a:xfrm>
            <a:off x="6410698" y="1262730"/>
            <a:ext cx="185673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경영 · 품질 · 개발 실적 · 경쟁사 정보</a:t>
            </a:r>
            <a:endParaRPr lang="en-US" sz="915" dirty="0"/>
          </a:p>
        </p:txBody>
      </p:sp>
      <p:sp>
        <p:nvSpPr>
          <p:cNvPr id="35" name="Text 33"/>
          <p:cNvSpPr txBox="1"/>
          <p:nvPr/>
        </p:nvSpPr>
        <p:spPr>
          <a:xfrm>
            <a:off x="1599245" y="1739018"/>
            <a:ext cx="179940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1차 경영실적 · 품질실적 · 콘텐츠 영역</a:t>
            </a:r>
            <a:endParaRPr lang="en-US" sz="855" dirty="0"/>
          </a:p>
        </p:txBody>
      </p:sp>
      <p:sp>
        <p:nvSpPr>
          <p:cNvPr id="36" name="Text 34"/>
          <p:cNvSpPr txBox="1"/>
          <p:nvPr/>
        </p:nvSpPr>
        <p:spPr>
          <a:xfrm>
            <a:off x="5098567" y="1739018"/>
            <a:ext cx="112925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2차 개발실적 영역 확대</a:t>
            </a:r>
            <a:endParaRPr lang="en-US" sz="855" dirty="0"/>
          </a:p>
        </p:txBody>
      </p:sp>
      <p:sp>
        <p:nvSpPr>
          <p:cNvPr id="37" name="Text 35"/>
          <p:cNvSpPr txBox="1"/>
          <p:nvPr/>
        </p:nvSpPr>
        <p:spPr>
          <a:xfrm>
            <a:off x="428843" y="1743132"/>
            <a:ext cx="52028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과업 단계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3988513" y="1742104"/>
            <a:ext cx="17190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855" dirty="0"/>
          </a:p>
        </p:txBody>
      </p:sp>
      <p:sp>
        <p:nvSpPr>
          <p:cNvPr id="39" name="Text 37"/>
          <p:cNvSpPr txBox="1"/>
          <p:nvPr/>
        </p:nvSpPr>
        <p:spPr>
          <a:xfrm>
            <a:off x="7200720" y="1746218"/>
            <a:ext cx="1666635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1차에 이어 2차 과업으로 적용 영역 확대</a:t>
            </a:r>
            <a:endParaRPr lang="en-US" sz="773" dirty="0"/>
          </a:p>
        </p:txBody>
      </p:sp>
      <p:sp>
        <p:nvSpPr>
          <p:cNvPr id="40" name="Text 38"/>
          <p:cNvSpPr txBox="1"/>
          <p:nvPr/>
        </p:nvSpPr>
        <p:spPr>
          <a:xfrm>
            <a:off x="434330" y="226005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41" name="Text 39"/>
          <p:cNvSpPr txBox="1"/>
          <p:nvPr/>
        </p:nvSpPr>
        <p:spPr>
          <a:xfrm>
            <a:off x="1665081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기반</a:t>
            </a:r>
            <a:endParaRPr lang="en-US" sz="683" dirty="0"/>
          </a:p>
        </p:txBody>
      </p:sp>
      <p:sp>
        <p:nvSpPr>
          <p:cNvPr id="42" name="Text 40"/>
          <p:cNvSpPr txBox="1"/>
          <p:nvPr/>
        </p:nvSpPr>
        <p:spPr>
          <a:xfrm>
            <a:off x="2646208" y="226005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43" name="Text 41"/>
          <p:cNvSpPr txBox="1"/>
          <p:nvPr/>
        </p:nvSpPr>
        <p:spPr>
          <a:xfrm>
            <a:off x="3953767" y="2260054"/>
            <a:ext cx="46907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정량 분석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4857171" y="226005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45" name="Text 43"/>
          <p:cNvSpPr txBox="1"/>
          <p:nvPr/>
        </p:nvSpPr>
        <p:spPr>
          <a:xfrm>
            <a:off x="6087923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정성 데이터</a:t>
            </a:r>
            <a:endParaRPr lang="en-US" sz="683" dirty="0"/>
          </a:p>
        </p:txBody>
      </p:sp>
      <p:sp>
        <p:nvSpPr>
          <p:cNvPr id="46" name="Text 44"/>
          <p:cNvSpPr txBox="1"/>
          <p:nvPr/>
        </p:nvSpPr>
        <p:spPr>
          <a:xfrm>
            <a:off x="7069050" y="226005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47" name="Text 45"/>
          <p:cNvSpPr txBox="1"/>
          <p:nvPr/>
        </p:nvSpPr>
        <p:spPr>
          <a:xfrm>
            <a:off x="8309860" y="2260054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운영 · 통제</a:t>
            </a:r>
            <a:endParaRPr lang="en-US" sz="683" dirty="0"/>
          </a:p>
        </p:txBody>
      </p:sp>
      <p:sp>
        <p:nvSpPr>
          <p:cNvPr id="48" name="Text 46"/>
          <p:cNvSpPr txBox="1"/>
          <p:nvPr/>
        </p:nvSpPr>
        <p:spPr>
          <a:xfrm>
            <a:off x="434330" y="2408701"/>
            <a:ext cx="122161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전용 데이터 마트</a:t>
            </a:r>
            <a:endParaRPr lang="en-US" sz="1095" dirty="0"/>
          </a:p>
        </p:txBody>
      </p:sp>
      <p:sp>
        <p:nvSpPr>
          <p:cNvPr id="49" name="Text 47"/>
          <p:cNvSpPr txBox="1"/>
          <p:nvPr/>
        </p:nvSpPr>
        <p:spPr>
          <a:xfrm>
            <a:off x="2646208" y="2408701"/>
            <a:ext cx="1070739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인사이트 분석</a:t>
            </a:r>
            <a:endParaRPr lang="en-US" sz="1095" dirty="0"/>
          </a:p>
        </p:txBody>
      </p:sp>
      <p:sp>
        <p:nvSpPr>
          <p:cNvPr id="50" name="Text 48"/>
          <p:cNvSpPr txBox="1"/>
          <p:nvPr/>
        </p:nvSpPr>
        <p:spPr>
          <a:xfrm>
            <a:off x="4857171" y="2408701"/>
            <a:ext cx="1101828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AI 분석</a:t>
            </a:r>
            <a:endParaRPr lang="en-US" sz="1095" dirty="0"/>
          </a:p>
        </p:txBody>
      </p:sp>
      <p:sp>
        <p:nvSpPr>
          <p:cNvPr id="51" name="Text 49"/>
          <p:cNvSpPr txBox="1"/>
          <p:nvPr/>
        </p:nvSpPr>
        <p:spPr>
          <a:xfrm>
            <a:off x="7069051" y="2408701"/>
            <a:ext cx="1349624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Ops · 문서 자동화</a:t>
            </a:r>
            <a:endParaRPr lang="en-US" sz="1095" dirty="0"/>
          </a:p>
        </p:txBody>
      </p:sp>
      <p:sp>
        <p:nvSpPr>
          <p:cNvPr id="52" name="Text 50"/>
          <p:cNvSpPr txBox="1"/>
          <p:nvPr/>
        </p:nvSpPr>
        <p:spPr>
          <a:xfrm>
            <a:off x="434330" y="2729141"/>
            <a:ext cx="180040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영역별 특성을 반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2646208" y="2729141"/>
            <a:ext cx="179236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현황 · 비교 · 증감 · 원인분석 · 트렌드 ·</a:t>
            </a:r>
            <a:endParaRPr lang="en-US" sz="810" dirty="0"/>
          </a:p>
        </p:txBody>
      </p:sp>
      <p:sp>
        <p:nvSpPr>
          <p:cNvPr id="54" name="Text 52"/>
          <p:cNvSpPr txBox="1"/>
          <p:nvPr/>
        </p:nvSpPr>
        <p:spPr>
          <a:xfrm>
            <a:off x="4857171" y="2729141"/>
            <a:ext cx="180040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텍스트 · 표 · 이미지를 함께 처리</a:t>
            </a:r>
            <a:endParaRPr lang="en-US" sz="810" dirty="0"/>
          </a:p>
        </p:txBody>
      </p:sp>
      <p:sp>
        <p:nvSpPr>
          <p:cNvPr id="55" name="Text 53"/>
          <p:cNvSpPr txBox="1"/>
          <p:nvPr/>
        </p:nvSpPr>
        <p:spPr>
          <a:xfrm>
            <a:off x="7069050" y="2729141"/>
            <a:ext cx="134322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사용량 · 로그 · 통계 모니터링</a:t>
            </a:r>
            <a:endParaRPr lang="en-US" sz="810" dirty="0"/>
          </a:p>
        </p:txBody>
      </p:sp>
      <p:sp>
        <p:nvSpPr>
          <p:cNvPr id="56" name="Text 54"/>
          <p:cNvSpPr txBox="1"/>
          <p:nvPr/>
        </p:nvSpPr>
        <p:spPr>
          <a:xfrm>
            <a:off x="434329" y="2883446"/>
            <a:ext cx="92718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영한 전용 마트 설계</a:t>
            </a:r>
            <a:endParaRPr lang="en-US" sz="810" dirty="0"/>
          </a:p>
        </p:txBody>
      </p:sp>
      <p:sp>
        <p:nvSpPr>
          <p:cNvPr id="57" name="Text 55"/>
          <p:cNvSpPr txBox="1"/>
          <p:nvPr/>
        </p:nvSpPr>
        <p:spPr>
          <a:xfrm>
            <a:off x="2646208" y="2883446"/>
            <a:ext cx="11466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순위 · 누적 7개 질의유형</a:t>
            </a:r>
            <a:endParaRPr lang="en-US" sz="810" dirty="0"/>
          </a:p>
        </p:txBody>
      </p:sp>
      <p:sp>
        <p:nvSpPr>
          <p:cNvPr id="58" name="Text 56"/>
          <p:cNvSpPr txBox="1"/>
          <p:nvPr/>
        </p:nvSpPr>
        <p:spPr>
          <a:xfrm>
            <a:off x="4857171" y="2883446"/>
            <a:ext cx="9034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멀티모달 방식</a:t>
            </a:r>
            <a:endParaRPr lang="en-US" sz="810" dirty="0"/>
          </a:p>
        </p:txBody>
      </p:sp>
      <p:sp>
        <p:nvSpPr>
          <p:cNvPr id="59" name="Text 57"/>
          <p:cNvSpPr txBox="1"/>
          <p:nvPr/>
        </p:nvSpPr>
        <p:spPr>
          <a:xfrm>
            <a:off x="7069051" y="2946197"/>
            <a:ext cx="17843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질문에서 답변까지 도출 과정을 단계별로</a:t>
            </a:r>
            <a:endParaRPr lang="en-US" sz="810" dirty="0"/>
          </a:p>
        </p:txBody>
      </p:sp>
      <p:sp>
        <p:nvSpPr>
          <p:cNvPr id="60" name="Text 58"/>
          <p:cNvSpPr txBox="1"/>
          <p:nvPr/>
        </p:nvSpPr>
        <p:spPr>
          <a:xfrm>
            <a:off x="434330" y="3100502"/>
            <a:ext cx="172799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AI 분석이 같은 데이터를</a:t>
            </a:r>
            <a:endParaRPr lang="en-US" sz="810" dirty="0"/>
          </a:p>
        </p:txBody>
      </p:sp>
      <p:sp>
        <p:nvSpPr>
          <p:cNvPr id="61" name="Text 59"/>
          <p:cNvSpPr txBox="1"/>
          <p:nvPr/>
        </p:nvSpPr>
        <p:spPr>
          <a:xfrm>
            <a:off x="2646208" y="3100502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데이터를 탐색하고 세부</a:t>
            </a:r>
            <a:endParaRPr lang="en-US" sz="810" dirty="0"/>
          </a:p>
        </p:txBody>
      </p:sp>
      <p:sp>
        <p:nvSpPr>
          <p:cNvPr id="62" name="Text 60"/>
          <p:cNvSpPr txBox="1"/>
          <p:nvPr/>
        </p:nvSpPr>
        <p:spPr>
          <a:xfrm>
            <a:off x="4857171" y="3100502"/>
            <a:ext cx="161232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답변에 근거 문서와 출처를 함께 제시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7069050" y="3100502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추적</a:t>
            </a:r>
            <a:endParaRPr lang="en-US" sz="810" dirty="0"/>
          </a:p>
        </p:txBody>
      </p:sp>
      <p:sp>
        <p:nvSpPr>
          <p:cNvPr id="64" name="Text 62"/>
          <p:cNvSpPr txBox="1"/>
          <p:nvPr/>
        </p:nvSpPr>
        <p:spPr>
          <a:xfrm>
            <a:off x="434330" y="3254807"/>
            <a:ext cx="70041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바라보는 구조</a:t>
            </a:r>
            <a:endParaRPr lang="en-US" sz="810" dirty="0"/>
          </a:p>
        </p:txBody>
      </p:sp>
      <p:sp>
        <p:nvSpPr>
          <p:cNvPr id="65" name="Text 63"/>
          <p:cNvSpPr txBox="1"/>
          <p:nvPr/>
        </p:nvSpPr>
        <p:spPr>
          <a:xfrm>
            <a:off x="2646208" y="3254807"/>
            <a:ext cx="97655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내역 조회 · 다운로드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4857171" y="331755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대시보드와 연계해 정량 지표와 정성 근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7069050" y="3317558"/>
            <a:ext cx="173804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인사이트 기반 문서 자동 생성과 정기 구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434330" y="3471863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영역이 늘어나도 같은 방식으로 마트를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2646208" y="3471863"/>
            <a:ext cx="17843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인사이트를 연계해 화면에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857171" y="3471863"/>
            <a:ext cx="101679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거를 한 흐름에서 확인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7069050" y="3471863"/>
            <a:ext cx="43067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독 발송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434330" y="3626168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추가해 확장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2646208" y="3626168"/>
            <a:ext cx="63366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 바로 분석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679382" y="4609605"/>
            <a:ext cx="468408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포털 사용자 · 메뉴 권한 관리를 포함해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고객사 환경에 맞춰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구성했습니다. 12월 오픈 예정입니다.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4450274" y="4923873"/>
            <a:ext cx="3803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- 27 -</a:t>
            </a:r>
            <a:endParaRPr lang="en-US" sz="705" dirty="0"/>
          </a:p>
        </p:txBody>
      </p:sp>
      <p:sp>
        <p:nvSpPr>
          <p:cNvPr id="76" name="Text 74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32" y="217057"/>
            <a:ext cx="3141800" cy="239687"/>
          </a:xfrm>
          <a:prstGeom prst="roundRect">
            <a:avLst>
              <a:gd name="adj" fmla="val 50000"/>
            </a:avLst>
          </a:prstGeom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320032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821439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101895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435" y="1618145"/>
            <a:ext cx="1600160" cy="19072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47851" y="260776"/>
            <a:ext cx="13130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kern="0" spc="26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Intelligence with Data</a:t>
            </a:r>
            <a:endParaRPr lang="en-US" sz="855" dirty="0"/>
          </a:p>
        </p:txBody>
      </p:sp>
      <p:sp>
        <p:nvSpPr>
          <p:cNvPr id="8" name="Text 5"/>
          <p:cNvSpPr txBox="1"/>
          <p:nvPr/>
        </p:nvSpPr>
        <p:spPr>
          <a:xfrm>
            <a:off x="508394" y="271577"/>
            <a:ext cx="30405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4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 · CORPORATE INTRODUCTION</a:t>
            </a:r>
            <a:endParaRPr lang="en-US" sz="735" dirty="0"/>
          </a:p>
        </p:txBody>
      </p:sp>
      <p:sp>
        <p:nvSpPr>
          <p:cNvPr id="9" name="Text 6"/>
          <p:cNvSpPr txBox="1"/>
          <p:nvPr/>
        </p:nvSpPr>
        <p:spPr>
          <a:xfrm>
            <a:off x="320032" y="1403147"/>
            <a:ext cx="3897533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비즈니스 바다로의 항해,</a:t>
            </a:r>
            <a:endParaRPr lang="en-US" sz="3060" dirty="0"/>
          </a:p>
        </p:txBody>
      </p:sp>
      <p:sp>
        <p:nvSpPr>
          <p:cNvPr id="10" name="Text 7"/>
          <p:cNvSpPr txBox="1"/>
          <p:nvPr/>
        </p:nvSpPr>
        <p:spPr>
          <a:xfrm>
            <a:off x="320032" y="1854232"/>
            <a:ext cx="2720729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함께 하겠습니다.</a:t>
            </a:r>
            <a:endParaRPr lang="en-US" sz="3060" dirty="0"/>
          </a:p>
        </p:txBody>
      </p:sp>
      <p:sp>
        <p:nvSpPr>
          <p:cNvPr id="11" name="Text 8"/>
          <p:cNvSpPr txBox="1"/>
          <p:nvPr/>
        </p:nvSpPr>
        <p:spPr>
          <a:xfrm>
            <a:off x="320032" y="2471966"/>
            <a:ext cx="5097470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기반 구축부터 AI 에이전트 운영까지, 전 과정을 직접 수행하는 팀이 함께합니다.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320032" y="2697766"/>
            <a:ext cx="3577684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필요하신 자료나 사전 검토가 있으시면 편하게 요청해 주세요.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445302" y="3114904"/>
            <a:ext cx="75802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HOMEPAGE</a:t>
            </a:r>
            <a:endParaRPr lang="en-US" sz="705" dirty="0"/>
          </a:p>
        </p:txBody>
      </p:sp>
      <p:sp>
        <p:nvSpPr>
          <p:cNvPr id="14" name="Text 11"/>
          <p:cNvSpPr txBox="1"/>
          <p:nvPr/>
        </p:nvSpPr>
        <p:spPr>
          <a:xfrm>
            <a:off x="1946709" y="3114904"/>
            <a:ext cx="54131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OFFICE</a:t>
            </a:r>
            <a:endParaRPr lang="en-US" sz="705" dirty="0"/>
          </a:p>
        </p:txBody>
      </p:sp>
      <p:sp>
        <p:nvSpPr>
          <p:cNvPr id="15" name="Text 12"/>
          <p:cNvSpPr txBox="1"/>
          <p:nvPr/>
        </p:nvSpPr>
        <p:spPr>
          <a:xfrm>
            <a:off x="4227166" y="3114904"/>
            <a:ext cx="70864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SOLUTION</a:t>
            </a:r>
            <a:endParaRPr lang="en-US" sz="705" dirty="0"/>
          </a:p>
        </p:txBody>
      </p:sp>
      <p:sp>
        <p:nvSpPr>
          <p:cNvPr id="16" name="Text 13"/>
          <p:cNvSpPr txBox="1"/>
          <p:nvPr/>
        </p:nvSpPr>
        <p:spPr>
          <a:xfrm>
            <a:off x="445303" y="3256350"/>
            <a:ext cx="126184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www.sailingstone.io</a:t>
            </a:r>
            <a:endParaRPr lang="en-US" sz="945" dirty="0"/>
          </a:p>
        </p:txBody>
      </p:sp>
      <p:sp>
        <p:nvSpPr>
          <p:cNvPr id="17" name="Text 14"/>
          <p:cNvSpPr txBox="1"/>
          <p:nvPr/>
        </p:nvSpPr>
        <p:spPr>
          <a:xfrm>
            <a:off x="1946709" y="3256350"/>
            <a:ext cx="209310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서울특별시 강서구 마곡중앙5로 22, 9층</a:t>
            </a:r>
            <a:endParaRPr lang="en-US" sz="945" dirty="0"/>
          </a:p>
        </p:txBody>
      </p:sp>
      <p:sp>
        <p:nvSpPr>
          <p:cNvPr id="18" name="Text 15"/>
          <p:cNvSpPr txBox="1"/>
          <p:nvPr/>
        </p:nvSpPr>
        <p:spPr>
          <a:xfrm>
            <a:off x="4227166" y="3256350"/>
            <a:ext cx="2131322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· Apps</a:t>
            </a:r>
            <a:r>
              <a:rPr lang="en-US" sz="82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Insight Mate · Tableau</a:t>
            </a:r>
            <a:endParaRPr lang="en-US" sz="945" dirty="0"/>
          </a:p>
        </p:txBody>
      </p:sp>
      <p:sp>
        <p:nvSpPr>
          <p:cNvPr id="19" name="Text 16"/>
          <p:cNvSpPr txBox="1"/>
          <p:nvPr/>
        </p:nvSpPr>
        <p:spPr>
          <a:xfrm>
            <a:off x="320032" y="3577819"/>
            <a:ext cx="3929719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kern="0" spc="18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MAKE DATA SMARTER, MAKE DECISIONS FASTER.</a:t>
            </a:r>
            <a:endParaRPr lang="en-US" sz="825" dirty="0"/>
          </a:p>
        </p:txBody>
      </p:sp>
      <p:sp>
        <p:nvSpPr>
          <p:cNvPr id="20" name="Text 17"/>
          <p:cNvSpPr txBox="1"/>
          <p:nvPr/>
        </p:nvSpPr>
        <p:spPr>
          <a:xfrm>
            <a:off x="320032" y="4849292"/>
            <a:ext cx="1336823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· BI · ANALYTICS</a:t>
            </a:r>
            <a:endParaRPr lang="en-US" sz="735" dirty="0"/>
          </a:p>
        </p:txBody>
      </p:sp>
      <p:sp>
        <p:nvSpPr>
          <p:cNvPr id="21" name="Text 18"/>
          <p:cNvSpPr txBox="1"/>
          <p:nvPr/>
        </p:nvSpPr>
        <p:spPr>
          <a:xfrm>
            <a:off x="1623020" y="4849292"/>
            <a:ext cx="180136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|</a:t>
            </a:r>
            <a:endParaRPr lang="en-US" sz="735" dirty="0"/>
          </a:p>
        </p:txBody>
      </p:sp>
      <p:sp>
        <p:nvSpPr>
          <p:cNvPr id="22" name="Text 19"/>
          <p:cNvSpPr txBox="1"/>
          <p:nvPr/>
        </p:nvSpPr>
        <p:spPr>
          <a:xfrm>
            <a:off x="1768406" y="4849292"/>
            <a:ext cx="14611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© 2026 SAILINGSTONE</a:t>
            </a:r>
            <a:endParaRPr lang="en-US" sz="73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6006</Words>
  <Application>Microsoft Office PowerPoint</Application>
  <PresentationFormat>화면 슬라이드 쇼(16:9)</PresentationFormat>
  <Paragraphs>1060</Paragraphs>
  <Slides>34</Slides>
  <Notes>27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3" baseType="lpstr">
      <vt:lpstr>Noto Sans KR</vt:lpstr>
      <vt:lpstr>SUIT</vt:lpstr>
      <vt:lpstr>SUIT ExtraBold</vt:lpstr>
      <vt:lpstr>SUIT Light</vt:lpstr>
      <vt:lpstr>SUIT Medium</vt:lpstr>
      <vt:lpstr>Urbanist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7년, 팀워크는 약 15년</vt:lpstr>
      <vt:lpstr>진화하는 파트너십, 다양한 프로젝트 레퍼런스</vt:lpstr>
      <vt:lpstr>PowerPoint 프레젠테이션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- Plug In)</vt:lpstr>
      <vt:lpstr>Tableau 데이터 문화 교육프로그램</vt:lpstr>
      <vt:lpstr>Tableau Extension 지원 아키텍처</vt:lpstr>
      <vt:lpstr>PowerPoint 프레젠테이션</vt:lpstr>
      <vt:lpstr>PowerPoint 프레젠테이션</vt:lpstr>
      <vt:lpstr>PowerPoint 프레젠테이션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세일링스톤 회사소개서</dc:title>
  <dc:subject>PptxGenJS Presentation</dc:subject>
  <dc:creator>SailingStone</dc:creator>
  <cp:lastModifiedBy>준홍 민</cp:lastModifiedBy>
  <cp:revision>94</cp:revision>
  <dcterms:created xsi:type="dcterms:W3CDTF">2026-05-21T10:23:19Z</dcterms:created>
  <dcterms:modified xsi:type="dcterms:W3CDTF">2026-09-16T06:28:25Z</dcterms:modified>
</cp:coreProperties>
</file>