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5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256" r:id="rId18"/>
    <p:sldId id="257" r:id="rId19"/>
    <p:sldId id="258" r:id="rId20"/>
    <p:sldId id="623" r:id="rId21"/>
    <p:sldId id="625" r:id="rId22"/>
    <p:sldId id="597" r:id="rId23"/>
    <p:sldId id="624" r:id="rId24"/>
    <p:sldId id="259" r:id="rId25"/>
    <p:sldId id="260" r:id="rId26"/>
    <p:sldId id="261" r:id="rId27"/>
    <p:sldId id="617" r:id="rId28"/>
    <p:sldId id="626" r:id="rId29"/>
    <p:sldId id="627" r:id="rId30"/>
    <p:sldId id="628" r:id="rId31"/>
    <p:sldId id="629" r:id="rId32"/>
    <p:sldId id="630" r:id="rId33"/>
    <p:sldId id="262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256"/>
            <p14:sldId id="257"/>
            <p14:sldId id="258"/>
            <p14:sldId id="623"/>
            <p14:sldId id="625"/>
            <p14:sldId id="597"/>
            <p14:sldId id="624"/>
            <p14:sldId id="259"/>
            <p14:sldId id="260"/>
            <p14:sldId id="261"/>
            <p14:sldId id="617"/>
            <p14:sldId id="626"/>
            <p14:sldId id="627"/>
            <p14:sldId id="628"/>
            <p14:sldId id="629"/>
            <p14:sldId id="630"/>
            <p14:sldId id="262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svg"/><Relationship Id="rId5" Type="http://schemas.openxmlformats.org/officeDocument/2006/relationships/image" Target="../media/image99.svg"/><Relationship Id="rId4" Type="http://schemas.openxmlformats.org/officeDocument/2006/relationships/image" Target="../media/image9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svg"/><Relationship Id="rId13" Type="http://schemas.openxmlformats.org/officeDocument/2006/relationships/image" Target="../media/image113.svg"/><Relationship Id="rId3" Type="http://schemas.openxmlformats.org/officeDocument/2006/relationships/image" Target="../media/image103.png"/><Relationship Id="rId7" Type="http://schemas.openxmlformats.org/officeDocument/2006/relationships/image" Target="../media/image107.svg"/><Relationship Id="rId12" Type="http://schemas.openxmlformats.org/officeDocument/2006/relationships/image" Target="../media/image112.svg"/><Relationship Id="rId17" Type="http://schemas.openxmlformats.org/officeDocument/2006/relationships/image" Target="../media/image117.png"/><Relationship Id="rId2" Type="http://schemas.openxmlformats.org/officeDocument/2006/relationships/image" Target="../media/image102.png"/><Relationship Id="rId16" Type="http://schemas.openxmlformats.org/officeDocument/2006/relationships/image" Target="../media/image116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6.svg"/><Relationship Id="rId11" Type="http://schemas.openxmlformats.org/officeDocument/2006/relationships/image" Target="../media/image111.svg"/><Relationship Id="rId5" Type="http://schemas.openxmlformats.org/officeDocument/2006/relationships/image" Target="../media/image105.png"/><Relationship Id="rId15" Type="http://schemas.openxmlformats.org/officeDocument/2006/relationships/image" Target="../media/image115.svg"/><Relationship Id="rId10" Type="http://schemas.openxmlformats.org/officeDocument/2006/relationships/image" Target="../media/image110.svg"/><Relationship Id="rId4" Type="http://schemas.openxmlformats.org/officeDocument/2006/relationships/image" Target="../media/image104.png"/><Relationship Id="rId9" Type="http://schemas.openxmlformats.org/officeDocument/2006/relationships/image" Target="../media/image109.svg"/><Relationship Id="rId14" Type="http://schemas.openxmlformats.org/officeDocument/2006/relationships/image" Target="../media/image114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svg"/><Relationship Id="rId3" Type="http://schemas.openxmlformats.org/officeDocument/2006/relationships/image" Target="../media/image118.svg"/><Relationship Id="rId7" Type="http://schemas.openxmlformats.org/officeDocument/2006/relationships/image" Target="../media/image122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1.svg"/><Relationship Id="rId5" Type="http://schemas.openxmlformats.org/officeDocument/2006/relationships/image" Target="../media/image120.svg"/><Relationship Id="rId4" Type="http://schemas.openxmlformats.org/officeDocument/2006/relationships/image" Target="../media/image119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svg"/><Relationship Id="rId13" Type="http://schemas.openxmlformats.org/officeDocument/2006/relationships/image" Target="../media/image133.svg"/><Relationship Id="rId3" Type="http://schemas.openxmlformats.org/officeDocument/2006/relationships/image" Target="../media/image124.svg"/><Relationship Id="rId7" Type="http://schemas.openxmlformats.org/officeDocument/2006/relationships/image" Target="../media/image128.svg"/><Relationship Id="rId12" Type="http://schemas.openxmlformats.org/officeDocument/2006/relationships/image" Target="../media/image118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7.svg"/><Relationship Id="rId11" Type="http://schemas.openxmlformats.org/officeDocument/2006/relationships/image" Target="../media/image132.svg"/><Relationship Id="rId5" Type="http://schemas.openxmlformats.org/officeDocument/2006/relationships/image" Target="../media/image126.svg"/><Relationship Id="rId10" Type="http://schemas.openxmlformats.org/officeDocument/2006/relationships/image" Target="../media/image131.svg"/><Relationship Id="rId4" Type="http://schemas.openxmlformats.org/officeDocument/2006/relationships/image" Target="../media/image125.svg"/><Relationship Id="rId9" Type="http://schemas.openxmlformats.org/officeDocument/2006/relationships/image" Target="../media/image130.svg"/><Relationship Id="rId14" Type="http://schemas.openxmlformats.org/officeDocument/2006/relationships/image" Target="../media/image119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svg"/><Relationship Id="rId3" Type="http://schemas.openxmlformats.org/officeDocument/2006/relationships/image" Target="../media/image134.svg"/><Relationship Id="rId7" Type="http://schemas.openxmlformats.org/officeDocument/2006/relationships/image" Target="../media/image138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7.svg"/><Relationship Id="rId5" Type="http://schemas.openxmlformats.org/officeDocument/2006/relationships/image" Target="../media/image136.svg"/><Relationship Id="rId4" Type="http://schemas.openxmlformats.org/officeDocument/2006/relationships/image" Target="../media/image135.svg"/><Relationship Id="rId9" Type="http://schemas.openxmlformats.org/officeDocument/2006/relationships/image" Target="../media/image140.sv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80명 (2026. 08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270445"/>
            <a:ext cx="506564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816" y="4195554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1726344" y="4195554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9" name="Shape 7"/>
          <p:cNvSpPr/>
          <p:nvPr/>
        </p:nvSpPr>
        <p:spPr>
          <a:xfrm>
            <a:off x="2926921" y="4195554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Shape 8"/>
          <p:cNvSpPr/>
          <p:nvPr/>
        </p:nvSpPr>
        <p:spPr>
          <a:xfrm>
            <a:off x="5659994" y="1270445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91665" y="1378973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9994" y="2354180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91665" y="2462708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59994" y="3437401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665" y="3545929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Shape 14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3330" y="1856995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30117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536" y="2082879"/>
            <a:ext cx="361307" cy="112942"/>
          </a:xfrm>
          <a:custGeom>
            <a:avLst/>
            <a:gdLst/>
            <a:ahLst/>
            <a:cxnLst/>
            <a:rect l="l" t="t" r="r" b="b"/>
            <a:pathLst>
              <a:path w="481742" h="150589">
                <a:moveTo>
                  <a:pt x="481742" y="0"/>
                </a:moveTo>
                <a:lnTo>
                  <a:pt x="0" y="150589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5672" y="1772288"/>
            <a:ext cx="111171" cy="310590"/>
          </a:xfrm>
          <a:custGeom>
            <a:avLst/>
            <a:gdLst/>
            <a:ahLst/>
            <a:cxnLst/>
            <a:rect l="l" t="t" r="r" b="b"/>
            <a:pathLst>
              <a:path w="148228" h="414120">
                <a:moveTo>
                  <a:pt x="148228" y="414120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6816" y="203205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45536" y="1828759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17743" y="216758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3" name="Shape 21"/>
          <p:cNvSpPr/>
          <p:nvPr/>
        </p:nvSpPr>
        <p:spPr>
          <a:xfrm>
            <a:off x="967879" y="1744053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4" name="Shape 22"/>
          <p:cNvSpPr/>
          <p:nvPr/>
        </p:nvSpPr>
        <p:spPr>
          <a:xfrm>
            <a:off x="4664323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0" y="263531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64323" y="2026408"/>
            <a:ext cx="305721" cy="197648"/>
          </a:xfrm>
          <a:custGeom>
            <a:avLst/>
            <a:gdLst/>
            <a:ahLst/>
            <a:cxnLst/>
            <a:rect l="l" t="t" r="r" b="b"/>
            <a:pathLst>
              <a:path w="407628" h="263531">
                <a:moveTo>
                  <a:pt x="0" y="0"/>
                </a:moveTo>
                <a:lnTo>
                  <a:pt x="407628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30809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444685" y="263531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4296" y="197558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8" name="Shape 26"/>
          <p:cNvSpPr/>
          <p:nvPr/>
        </p:nvSpPr>
        <p:spPr>
          <a:xfrm>
            <a:off x="4970044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9" name="Shape 27"/>
          <p:cNvSpPr/>
          <p:nvPr/>
        </p:nvSpPr>
        <p:spPr>
          <a:xfrm>
            <a:off x="4942251" y="2195820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0" name="Shape 28"/>
          <p:cNvSpPr/>
          <p:nvPr/>
        </p:nvSpPr>
        <p:spPr>
          <a:xfrm>
            <a:off x="4303016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1" name="Shape 29"/>
          <p:cNvSpPr/>
          <p:nvPr/>
        </p:nvSpPr>
        <p:spPr>
          <a:xfrm>
            <a:off x="4831080" y="3494650"/>
            <a:ext cx="250136" cy="225884"/>
          </a:xfrm>
          <a:custGeom>
            <a:avLst/>
            <a:gdLst/>
            <a:ahLst/>
            <a:cxnLst/>
            <a:rect l="l" t="t" r="r" b="b"/>
            <a:pathLst>
              <a:path w="333514" h="301178">
                <a:moveTo>
                  <a:pt x="0" y="30117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31081" y="3720533"/>
            <a:ext cx="277928" cy="197648"/>
          </a:xfrm>
          <a:custGeom>
            <a:avLst/>
            <a:gdLst/>
            <a:ahLst/>
            <a:cxnLst/>
            <a:rect l="l" t="t" r="r" b="b"/>
            <a:pathLst>
              <a:path w="370571" h="263531">
                <a:moveTo>
                  <a:pt x="0" y="0"/>
                </a:moveTo>
                <a:lnTo>
                  <a:pt x="370571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97567" y="3720532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0"/>
                </a:moveTo>
                <a:lnTo>
                  <a:pt x="0" y="301178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81053" y="3669709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5" name="Shape 33"/>
          <p:cNvSpPr/>
          <p:nvPr/>
        </p:nvSpPr>
        <p:spPr>
          <a:xfrm>
            <a:off x="5053422" y="346641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6" name="Shape 34"/>
          <p:cNvSpPr/>
          <p:nvPr/>
        </p:nvSpPr>
        <p:spPr>
          <a:xfrm>
            <a:off x="5081215" y="388994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7" name="Shape 35"/>
          <p:cNvSpPr/>
          <p:nvPr/>
        </p:nvSpPr>
        <p:spPr>
          <a:xfrm>
            <a:off x="4469773" y="3918181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4193" y="2277228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501673" y="2249434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40" name="Text 38"/>
          <p:cNvSpPr txBox="1"/>
          <p:nvPr/>
        </p:nvSpPr>
        <p:spPr>
          <a:xfrm>
            <a:off x="4668430" y="3500192"/>
            <a:ext cx="236861" cy="857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1" name="Shape 39"/>
          <p:cNvSpPr/>
          <p:nvPr/>
        </p:nvSpPr>
        <p:spPr>
          <a:xfrm>
            <a:off x="1440357" y="2421704"/>
            <a:ext cx="667028" cy="480002"/>
          </a:xfrm>
          <a:custGeom>
            <a:avLst/>
            <a:gdLst/>
            <a:ahLst/>
            <a:cxnLst/>
            <a:rect l="l" t="t" r="r" b="b"/>
            <a:pathLst>
              <a:path w="889370" h="640003">
                <a:moveTo>
                  <a:pt x="0" y="640003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4941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40357" y="3042883"/>
            <a:ext cx="667028" cy="451767"/>
          </a:xfrm>
          <a:custGeom>
            <a:avLst/>
            <a:gdLst/>
            <a:ahLst/>
            <a:cxnLst/>
            <a:rect l="l" t="t" r="r" b="b"/>
            <a:pathLst>
              <a:path w="889370" h="602356">
                <a:moveTo>
                  <a:pt x="0" y="0"/>
                </a:moveTo>
                <a:lnTo>
                  <a:pt x="889370" y="602356"/>
                </a:lnTo>
              </a:path>
            </a:pathLst>
          </a:custGeom>
          <a:solidFill>
            <a:srgbClr val="000000"/>
          </a:solidFill>
          <a:ln w="14941">
            <a:solidFill>
              <a:srgbClr val="7C6FD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7520" y="2139349"/>
            <a:ext cx="694820" cy="214589"/>
          </a:xfrm>
          <a:custGeom>
            <a:avLst/>
            <a:gdLst/>
            <a:ahLst/>
            <a:cxnLst/>
            <a:rect l="l" t="t" r="r" b="b"/>
            <a:pathLst>
              <a:path w="926427" h="286119">
                <a:moveTo>
                  <a:pt x="0" y="286119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7520" y="2478174"/>
            <a:ext cx="694820" cy="254119"/>
          </a:xfrm>
          <a:custGeom>
            <a:avLst/>
            <a:gdLst/>
            <a:ahLst/>
            <a:cxnLst/>
            <a:rect l="l" t="t" r="r" b="b"/>
            <a:pathLst>
              <a:path w="926427" h="338825">
                <a:moveTo>
                  <a:pt x="0" y="0"/>
                </a:moveTo>
                <a:lnTo>
                  <a:pt x="926427" y="338825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57520" y="3381709"/>
            <a:ext cx="694820" cy="169412"/>
          </a:xfrm>
          <a:custGeom>
            <a:avLst/>
            <a:gdLst/>
            <a:ahLst/>
            <a:cxnLst/>
            <a:rect l="l" t="t" r="r" b="b"/>
            <a:pathLst>
              <a:path w="926427" h="225883">
                <a:moveTo>
                  <a:pt x="0" y="225883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7C6FD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74682" y="2139349"/>
            <a:ext cx="722613" cy="395296"/>
          </a:xfrm>
          <a:custGeom>
            <a:avLst/>
            <a:gdLst/>
            <a:ahLst/>
            <a:cxnLst/>
            <a:rect l="l" t="t" r="r" b="b"/>
            <a:pathLst>
              <a:path w="963484" h="527061">
                <a:moveTo>
                  <a:pt x="0" y="0"/>
                </a:moveTo>
                <a:lnTo>
                  <a:pt x="963484" y="527061"/>
                </a:lnTo>
              </a:path>
            </a:pathLst>
          </a:custGeom>
          <a:solidFill>
            <a:srgbClr val="000000"/>
          </a:solidFill>
          <a:ln w="10459">
            <a:solidFill>
              <a:srgbClr val="2563EB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346944" y="3398649"/>
            <a:ext cx="661469" cy="163766"/>
          </a:xfrm>
          <a:custGeom>
            <a:avLst/>
            <a:gdLst/>
            <a:ahLst/>
            <a:cxnLst/>
            <a:rect l="l" t="t" r="r" b="b"/>
            <a:pathLst>
              <a:path w="881959" h="218354">
                <a:moveTo>
                  <a:pt x="0" y="0"/>
                </a:moveTo>
                <a:lnTo>
                  <a:pt x="881959" y="218354"/>
                </a:lnTo>
              </a:path>
            </a:pathLst>
          </a:custGeom>
          <a:solidFill>
            <a:srgbClr val="000000"/>
          </a:solidFill>
          <a:ln w="10459">
            <a:solidFill>
              <a:srgbClr val="F59E0B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2507601" y="2173232"/>
            <a:ext cx="422451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0D948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565607" y="2216549"/>
            <a:ext cx="31014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50" name="Shape 48"/>
          <p:cNvSpPr/>
          <p:nvPr/>
        </p:nvSpPr>
        <p:spPr>
          <a:xfrm>
            <a:off x="2440898" y="3336531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7C6FD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497226" y="3361688"/>
            <a:ext cx="42469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2" name="Shape 50"/>
          <p:cNvSpPr/>
          <p:nvPr/>
        </p:nvSpPr>
        <p:spPr>
          <a:xfrm>
            <a:off x="3419205" y="2263585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2563E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471702" y="2299777"/>
            <a:ext cx="428628" cy="68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4" name="Shape 52"/>
          <p:cNvSpPr/>
          <p:nvPr/>
        </p:nvSpPr>
        <p:spPr>
          <a:xfrm>
            <a:off x="3369178" y="3398649"/>
            <a:ext cx="600325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414005" y="3422836"/>
            <a:ext cx="510671" cy="57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6" name="Shape 54"/>
          <p:cNvSpPr/>
          <p:nvPr/>
        </p:nvSpPr>
        <p:spPr>
          <a:xfrm>
            <a:off x="539870" y="2704057"/>
            <a:ext cx="944956" cy="508238"/>
          </a:xfrm>
          <a:prstGeom prst="roundRect">
            <a:avLst>
              <a:gd name="adj" fmla="val 13229"/>
            </a:avLst>
          </a:prstGeom>
          <a:solidFill>
            <a:srgbClr val="0F172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12440" y="2816444"/>
            <a:ext cx="40198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8" name="Text 56"/>
          <p:cNvSpPr txBox="1"/>
          <p:nvPr/>
        </p:nvSpPr>
        <p:spPr>
          <a:xfrm>
            <a:off x="577714" y="2927466"/>
            <a:ext cx="872222" cy="9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9" name="Text 57"/>
          <p:cNvSpPr txBox="1"/>
          <p:nvPr/>
        </p:nvSpPr>
        <p:spPr>
          <a:xfrm>
            <a:off x="551349" y="3033086"/>
            <a:ext cx="921997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60" name="Shape 58"/>
          <p:cNvSpPr/>
          <p:nvPr/>
        </p:nvSpPr>
        <p:spPr>
          <a:xfrm>
            <a:off x="2040682" y="2218408"/>
            <a:ext cx="377982" cy="38400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018141" y="2321544"/>
            <a:ext cx="423135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2" name="Text 60"/>
          <p:cNvSpPr txBox="1"/>
          <p:nvPr/>
        </p:nvSpPr>
        <p:spPr>
          <a:xfrm>
            <a:off x="2155699" y="2427476"/>
            <a:ext cx="147948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3" name="Shape 61"/>
          <p:cNvSpPr/>
          <p:nvPr/>
        </p:nvSpPr>
        <p:spPr>
          <a:xfrm>
            <a:off x="2040682" y="3359119"/>
            <a:ext cx="377982" cy="384002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100669" y="3444446"/>
            <a:ext cx="263116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5" name="Text 63"/>
          <p:cNvSpPr txBox="1"/>
          <p:nvPr/>
        </p:nvSpPr>
        <p:spPr>
          <a:xfrm>
            <a:off x="2155699" y="3550379"/>
            <a:ext cx="151694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6" name="Shape 64"/>
          <p:cNvSpPr/>
          <p:nvPr/>
        </p:nvSpPr>
        <p:spPr>
          <a:xfrm>
            <a:off x="3018989" y="1936054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060830" y="2021518"/>
            <a:ext cx="227597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8" name="Text 66"/>
          <p:cNvSpPr txBox="1"/>
          <p:nvPr/>
        </p:nvSpPr>
        <p:spPr>
          <a:xfrm>
            <a:off x="3103021" y="2116333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9" name="Shape 67"/>
          <p:cNvSpPr/>
          <p:nvPr/>
        </p:nvSpPr>
        <p:spPr>
          <a:xfrm>
            <a:off x="3018989" y="2613705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060559" y="2688589"/>
            <a:ext cx="23030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1" name="Text 69"/>
          <p:cNvSpPr txBox="1"/>
          <p:nvPr/>
        </p:nvSpPr>
        <p:spPr>
          <a:xfrm>
            <a:off x="3100252" y="2783404"/>
            <a:ext cx="149660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2" name="Shape 70"/>
          <p:cNvSpPr/>
          <p:nvPr/>
        </p:nvSpPr>
        <p:spPr>
          <a:xfrm>
            <a:off x="3002313" y="3206648"/>
            <a:ext cx="344631" cy="350120"/>
          </a:xfrm>
          <a:prstGeom prst="ellipse">
            <a:avLst/>
          </a:prstGeom>
          <a:solidFill>
            <a:srgbClr val="FFFFFF"/>
          </a:solidFill>
          <a:ln w="14941">
            <a:solidFill>
              <a:srgbClr val="7C6FDB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2991122" y="3288953"/>
            <a:ext cx="36701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4" name="Text 72"/>
          <p:cNvSpPr txBox="1"/>
          <p:nvPr/>
        </p:nvSpPr>
        <p:spPr>
          <a:xfrm>
            <a:off x="2983470" y="338376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5" name="Shape 73"/>
          <p:cNvSpPr/>
          <p:nvPr/>
        </p:nvSpPr>
        <p:spPr>
          <a:xfrm>
            <a:off x="3997296" y="2421704"/>
            <a:ext cx="311279" cy="316237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4051636" y="2499585"/>
            <a:ext cx="20259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7" name="Text 75"/>
          <p:cNvSpPr txBox="1"/>
          <p:nvPr/>
        </p:nvSpPr>
        <p:spPr>
          <a:xfrm>
            <a:off x="4081327" y="2594401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8" name="Shape 76"/>
          <p:cNvSpPr/>
          <p:nvPr/>
        </p:nvSpPr>
        <p:spPr>
          <a:xfrm>
            <a:off x="3997296" y="3415590"/>
            <a:ext cx="355748" cy="361414"/>
          </a:xfrm>
          <a:prstGeom prst="ellipse">
            <a:avLst/>
          </a:prstGeom>
          <a:solidFill>
            <a:srgbClr val="FFFFFF"/>
          </a:solidFill>
          <a:ln w="14941">
            <a:solidFill>
              <a:srgbClr val="F59E0B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3991284" y="3505907"/>
            <a:ext cx="369025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80" name="Text 78"/>
          <p:cNvSpPr txBox="1"/>
          <p:nvPr/>
        </p:nvSpPr>
        <p:spPr>
          <a:xfrm>
            <a:off x="3984011" y="359500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1" name="Shape 79"/>
          <p:cNvSpPr/>
          <p:nvPr/>
        </p:nvSpPr>
        <p:spPr>
          <a:xfrm>
            <a:off x="3246890" y="193040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2" name="Shape 80"/>
          <p:cNvSpPr/>
          <p:nvPr/>
        </p:nvSpPr>
        <p:spPr>
          <a:xfrm>
            <a:off x="3246890" y="260805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3" name="Shape 81"/>
          <p:cNvSpPr/>
          <p:nvPr/>
        </p:nvSpPr>
        <p:spPr>
          <a:xfrm>
            <a:off x="3246890" y="3217942"/>
            <a:ext cx="100054" cy="101648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84" name="Shape 82"/>
          <p:cNvSpPr/>
          <p:nvPr/>
        </p:nvSpPr>
        <p:spPr>
          <a:xfrm>
            <a:off x="4225197" y="2416056"/>
            <a:ext cx="100054" cy="10164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5" name="Shape 83"/>
          <p:cNvSpPr/>
          <p:nvPr/>
        </p:nvSpPr>
        <p:spPr>
          <a:xfrm>
            <a:off x="3277462" y="196429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77462" y="264194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77462" y="3251825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255769" y="2449939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72550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49358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10954" y="470983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4495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0" y="0"/>
                </a:moveTo>
                <a:lnTo>
                  <a:pt x="27066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31253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27066" y="0"/>
                </a:moveTo>
                <a:lnTo>
                  <a:pt x="0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690" y="4656282"/>
            <a:ext cx="52668" cy="2744"/>
          </a:xfrm>
          <a:custGeom>
            <a:avLst/>
            <a:gdLst/>
            <a:ahLst/>
            <a:cxnLst/>
            <a:rect l="l" t="t" r="r" b="b"/>
            <a:pathLst>
              <a:path w="70224" h="3658">
                <a:moveTo>
                  <a:pt x="0" y="0"/>
                </a:moveTo>
                <a:lnTo>
                  <a:pt x="70224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96" name="Text 9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7" name="Text 9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그래프로 먼저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</a:t>
            </a:r>
            <a:endParaRPr lang="en-US" sz="990" dirty="0"/>
          </a:p>
        </p:txBody>
      </p:sp>
      <p:sp>
        <p:nvSpPr>
          <p:cNvPr id="98" name="Text 96"/>
          <p:cNvSpPr txBox="1"/>
          <p:nvPr/>
        </p:nvSpPr>
        <p:spPr>
          <a:xfrm>
            <a:off x="297173" y="843020"/>
            <a:ext cx="1436490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분석에 집중시킵니다.</a:t>
            </a:r>
            <a:endParaRPr lang="en-US" sz="990" dirty="0"/>
          </a:p>
        </p:txBody>
      </p:sp>
      <p:sp>
        <p:nvSpPr>
          <p:cNvPr id="99" name="Text 97"/>
          <p:cNvSpPr txBox="1"/>
          <p:nvPr/>
        </p:nvSpPr>
        <p:spPr>
          <a:xfrm>
            <a:off x="6145529" y="1369200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439816" y="1382573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101" name="Text 99"/>
          <p:cNvSpPr txBox="1"/>
          <p:nvPr/>
        </p:nvSpPr>
        <p:spPr>
          <a:xfrm>
            <a:off x="5884018" y="1414977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102" name="Text 100"/>
          <p:cNvSpPr txBox="1"/>
          <p:nvPr/>
        </p:nvSpPr>
        <p:spPr>
          <a:xfrm>
            <a:off x="439816" y="1525048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6145528" y="1563110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1731303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2452935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106" name="Text 104"/>
          <p:cNvSpPr txBox="1"/>
          <p:nvPr/>
        </p:nvSpPr>
        <p:spPr>
          <a:xfrm>
            <a:off x="5875787" y="2498199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7" name="Text 105"/>
          <p:cNvSpPr txBox="1"/>
          <p:nvPr/>
        </p:nvSpPr>
        <p:spPr>
          <a:xfrm>
            <a:off x="6145529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2815038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3536156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10" name="Text 108"/>
          <p:cNvSpPr txBox="1"/>
          <p:nvPr/>
        </p:nvSpPr>
        <p:spPr>
          <a:xfrm>
            <a:off x="5874873" y="3581934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11" name="Text 109"/>
          <p:cNvSpPr txBox="1"/>
          <p:nvPr/>
        </p:nvSpPr>
        <p:spPr>
          <a:xfrm>
            <a:off x="6145529" y="3730581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6145529" y="3898773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71486" y="4170350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4" name="Text 112"/>
          <p:cNvSpPr txBox="1"/>
          <p:nvPr/>
        </p:nvSpPr>
        <p:spPr>
          <a:xfrm>
            <a:off x="1857100" y="4170350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5" name="Text 113"/>
          <p:cNvSpPr txBox="1"/>
          <p:nvPr/>
        </p:nvSpPr>
        <p:spPr>
          <a:xfrm>
            <a:off x="3058591" y="4170350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6" name="Text 114"/>
          <p:cNvSpPr txBox="1"/>
          <p:nvPr/>
        </p:nvSpPr>
        <p:spPr>
          <a:xfrm>
            <a:off x="679382" y="4609605"/>
            <a:ext cx="646739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인식합니다.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검증은 지식 그래프가, 분석은 AI가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각자 잘하는 일에 집중합니다.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4460332" y="4923873"/>
            <a:ext cx="36118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- 17 -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2" y="1270445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97164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97156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98062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2232279"/>
            <a:ext cx="8549426" cy="2613927"/>
          </a:xfrm>
          <a:prstGeom prst="roundRect">
            <a:avLst>
              <a:gd name="adj" fmla="val 4373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9816" y="2129409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12" name="Shape 10"/>
          <p:cNvSpPr/>
          <p:nvPr/>
        </p:nvSpPr>
        <p:spPr>
          <a:xfrm>
            <a:off x="451703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</p:sp>
      <p:sp>
        <p:nvSpPr>
          <p:cNvPr id="13" name="Shape 11"/>
          <p:cNvSpPr/>
          <p:nvPr/>
        </p:nvSpPr>
        <p:spPr>
          <a:xfrm>
            <a:off x="451703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3590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1703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1702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0198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2550198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3531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0198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0198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1703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</p:sp>
      <p:sp>
        <p:nvSpPr>
          <p:cNvPr id="23" name="Shape 21"/>
          <p:cNvSpPr/>
          <p:nvPr/>
        </p:nvSpPr>
        <p:spPr>
          <a:xfrm>
            <a:off x="451703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3590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1702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0198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2550198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31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0198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32484" y="2409730"/>
            <a:ext cx="3859586" cy="2305831"/>
          </a:xfrm>
          <a:prstGeom prst="roundRect">
            <a:avLst>
              <a:gd name="adj" fmla="val 4213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1147" y="1395111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25976" y="1395111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25976" y="1424299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55008" y="1424299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30808" y="1390246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79193" y="1390246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25959" y="1390246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25959" y="1438895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025959" y="1404841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63821" y="3304956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2355" y="3341131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38219" y="3160252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6" name="Text 4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7" name="Text 4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레이아웃, 복잡한 표(Table)</a:t>
            </a:r>
            <a:endParaRPr lang="en-US" sz="990" dirty="0"/>
          </a:p>
        </p:txBody>
      </p:sp>
      <p:sp>
        <p:nvSpPr>
          <p:cNvPr id="48" name="Text 46"/>
          <p:cNvSpPr txBox="1"/>
          <p:nvPr/>
        </p:nvSpPr>
        <p:spPr>
          <a:xfrm>
            <a:off x="297172" y="843020"/>
            <a:ext cx="1549961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구조의 맥락까지 파싱합니다.</a:t>
            </a:r>
            <a:endParaRPr lang="en-US" sz="990" dirty="0"/>
          </a:p>
        </p:txBody>
      </p:sp>
      <p:sp>
        <p:nvSpPr>
          <p:cNvPr id="49" name="Text 47"/>
          <p:cNvSpPr txBox="1"/>
          <p:nvPr/>
        </p:nvSpPr>
        <p:spPr>
          <a:xfrm>
            <a:off x="585202" y="1357370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2785193" y="1357370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985184" y="1357370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2" name="Text 50"/>
          <p:cNvSpPr txBox="1"/>
          <p:nvPr/>
        </p:nvSpPr>
        <p:spPr>
          <a:xfrm>
            <a:off x="7185175" y="1357370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3" name="Text 51"/>
          <p:cNvSpPr txBox="1"/>
          <p:nvPr/>
        </p:nvSpPr>
        <p:spPr>
          <a:xfrm>
            <a:off x="411470" y="1553852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2611461" y="1553852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4811453" y="1553852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6" name="Text 54"/>
          <p:cNvSpPr txBox="1"/>
          <p:nvPr/>
        </p:nvSpPr>
        <p:spPr>
          <a:xfrm>
            <a:off x="7011444" y="1553852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7" name="Text 55"/>
          <p:cNvSpPr txBox="1"/>
          <p:nvPr/>
        </p:nvSpPr>
        <p:spPr>
          <a:xfrm>
            <a:off x="2353607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553599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53590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411470" y="1700956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2611462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811453" y="1700956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7011445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11470" y="1848574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2611461" y="1848574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4811452" y="1848574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7011445" y="1848574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8" name="Text 66"/>
          <p:cNvSpPr txBox="1"/>
          <p:nvPr/>
        </p:nvSpPr>
        <p:spPr>
          <a:xfrm>
            <a:off x="565086" y="2160785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493055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493055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676678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676678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76972" y="2822239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4" name="Text 72"/>
          <p:cNvSpPr txBox="1"/>
          <p:nvPr/>
        </p:nvSpPr>
        <p:spPr>
          <a:xfrm>
            <a:off x="2676382" y="2822239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5" name="Text 73"/>
          <p:cNvSpPr txBox="1"/>
          <p:nvPr/>
        </p:nvSpPr>
        <p:spPr>
          <a:xfrm>
            <a:off x="5271384" y="3040838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6" name="Text 74"/>
          <p:cNvSpPr txBox="1"/>
          <p:nvPr/>
        </p:nvSpPr>
        <p:spPr>
          <a:xfrm>
            <a:off x="5271385" y="3245549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7" name="Text 75"/>
          <p:cNvSpPr txBox="1"/>
          <p:nvPr/>
        </p:nvSpPr>
        <p:spPr>
          <a:xfrm>
            <a:off x="4987013" y="3523297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8" name="Text 76"/>
          <p:cNvSpPr txBox="1"/>
          <p:nvPr/>
        </p:nvSpPr>
        <p:spPr>
          <a:xfrm>
            <a:off x="576972" y="3630282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9" name="Text 77"/>
          <p:cNvSpPr txBox="1"/>
          <p:nvPr/>
        </p:nvSpPr>
        <p:spPr>
          <a:xfrm>
            <a:off x="2676382" y="3630282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80" name="Text 78"/>
          <p:cNvSpPr txBox="1"/>
          <p:nvPr/>
        </p:nvSpPr>
        <p:spPr>
          <a:xfrm>
            <a:off x="4987013" y="3707949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81" name="Text 79"/>
          <p:cNvSpPr txBox="1"/>
          <p:nvPr/>
        </p:nvSpPr>
        <p:spPr>
          <a:xfrm>
            <a:off x="576972" y="3813391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2" name="Text 80"/>
          <p:cNvSpPr txBox="1"/>
          <p:nvPr/>
        </p:nvSpPr>
        <p:spPr>
          <a:xfrm>
            <a:off x="2676382" y="3813391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4987013" y="3892600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3959466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3959466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576972" y="4105028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7" name="Text 85"/>
          <p:cNvSpPr txBox="1"/>
          <p:nvPr/>
        </p:nvSpPr>
        <p:spPr>
          <a:xfrm>
            <a:off x="2676382" y="4105028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8" name="Text 86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89" name="Text 87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2" y="1270445"/>
            <a:ext cx="500072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816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41805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43793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816" y="2551690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2804395" y="2620099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71557" y="2620099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4656" y="2620099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9816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439816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50367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9816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816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1253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1253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65" y="3905459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786364" y="3905459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41805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041805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52355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41805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41804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33241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33242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Shape 28"/>
          <p:cNvSpPr/>
          <p:nvPr/>
        </p:nvSpPr>
        <p:spPr>
          <a:xfrm>
            <a:off x="2388354" y="3905459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31" name="Shape 29"/>
          <p:cNvSpPr/>
          <p:nvPr/>
        </p:nvSpPr>
        <p:spPr>
          <a:xfrm>
            <a:off x="2388353" y="3905459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43793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3643793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55258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43793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43793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35231" y="3533585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35231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9" name="Shape 37"/>
          <p:cNvSpPr/>
          <p:nvPr/>
        </p:nvSpPr>
        <p:spPr>
          <a:xfrm>
            <a:off x="3990342" y="3905459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40" name="Shape 38"/>
          <p:cNvSpPr/>
          <p:nvPr/>
        </p:nvSpPr>
        <p:spPr>
          <a:xfrm>
            <a:off x="3990343" y="3905459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41" name="Shape 39"/>
          <p:cNvSpPr/>
          <p:nvPr/>
        </p:nvSpPr>
        <p:spPr>
          <a:xfrm>
            <a:off x="5595074" y="1270445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25830" y="1378973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95074" y="2354180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25830" y="2462708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5074" y="3437401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725830" y="3545929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48" name="Shape 46"/>
          <p:cNvSpPr/>
          <p:nvPr/>
        </p:nvSpPr>
        <p:spPr>
          <a:xfrm>
            <a:off x="551027" y="1996063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51027" y="2024610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79601" y="2024610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53016" y="1990891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54301" y="2014905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195877" y="2038883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60681" y="199130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08305" y="1991306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784493" y="2053156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661" y="2702910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5434" y="2702910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56310" y="2647372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709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2709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83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14697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214697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36871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816686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816686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838860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46527" y="1521447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869387" y="1521447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802922" y="1468309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812238" y="2553876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846527" y="2656489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869387" y="2633687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817954" y="3683218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840812" y="3631911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8161" y="4634422"/>
            <a:ext cx="109725" cy="54650"/>
          </a:xfrm>
          <a:custGeom>
            <a:avLst/>
            <a:gdLst/>
            <a:ahLst/>
            <a:cxnLst/>
            <a:rect l="l" t="t" r="r" b="b"/>
            <a:pathLst>
              <a:path w="146300" h="72866">
                <a:moveTo>
                  <a:pt x="73150" y="0"/>
                </a:moveTo>
                <a:lnTo>
                  <a:pt x="0" y="36433"/>
                </a:lnTo>
                <a:lnTo>
                  <a:pt x="73150" y="72866"/>
                </a:lnTo>
                <a:lnTo>
                  <a:pt x="146300" y="36433"/>
                </a:lnTo>
                <a:lnTo>
                  <a:pt x="73150" y="0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68161" y="4716397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8161" y="4689072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81" name="Text 7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세일링스톤 자체 배포 플랫폼입</a:t>
            </a:r>
            <a:endParaRPr lang="en-US" sz="990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843020"/>
            <a:ext cx="390443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990" dirty="0"/>
          </a:p>
        </p:txBody>
      </p:sp>
      <p:sp>
        <p:nvSpPr>
          <p:cNvPr id="84" name="Text 82"/>
          <p:cNvSpPr txBox="1"/>
          <p:nvPr/>
        </p:nvSpPr>
        <p:spPr>
          <a:xfrm>
            <a:off x="6126328" y="1369200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439816" y="1382573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6126327" y="1563110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439816" y="1627404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8" name="Text 86"/>
          <p:cNvSpPr txBox="1"/>
          <p:nvPr/>
        </p:nvSpPr>
        <p:spPr>
          <a:xfrm>
            <a:off x="6126328" y="1731303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9" name="Text 87"/>
          <p:cNvSpPr txBox="1"/>
          <p:nvPr/>
        </p:nvSpPr>
        <p:spPr>
          <a:xfrm>
            <a:off x="6126328" y="1900009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191955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91" name="Text 89"/>
          <p:cNvSpPr txBox="1"/>
          <p:nvPr/>
        </p:nvSpPr>
        <p:spPr>
          <a:xfrm>
            <a:off x="2316117" y="191955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191955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3" name="Text 91"/>
          <p:cNvSpPr txBox="1"/>
          <p:nvPr/>
        </p:nvSpPr>
        <p:spPr>
          <a:xfrm>
            <a:off x="714128" y="204814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4" name="Text 92"/>
          <p:cNvSpPr txBox="1"/>
          <p:nvPr/>
        </p:nvSpPr>
        <p:spPr>
          <a:xfrm>
            <a:off x="2316118" y="204814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5" name="Text 93"/>
          <p:cNvSpPr txBox="1"/>
          <p:nvPr/>
        </p:nvSpPr>
        <p:spPr>
          <a:xfrm>
            <a:off x="3918106" y="204814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6" name="Text 94"/>
          <p:cNvSpPr txBox="1"/>
          <p:nvPr/>
        </p:nvSpPr>
        <p:spPr>
          <a:xfrm>
            <a:off x="11832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27541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8" name="Text 96"/>
          <p:cNvSpPr txBox="1"/>
          <p:nvPr/>
        </p:nvSpPr>
        <p:spPr>
          <a:xfrm>
            <a:off x="4325918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9" name="Text 97"/>
          <p:cNvSpPr txBox="1"/>
          <p:nvPr/>
        </p:nvSpPr>
        <p:spPr>
          <a:xfrm>
            <a:off x="6126327" y="2452935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754362" y="2616499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1" name="Text 99"/>
          <p:cNvSpPr txBox="1"/>
          <p:nvPr/>
        </p:nvSpPr>
        <p:spPr>
          <a:xfrm>
            <a:off x="2883946" y="2643759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3651108" y="2643759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4344206" y="2643759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6126327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26327" y="2815038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11832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27541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8" name="Text 106"/>
          <p:cNvSpPr txBox="1"/>
          <p:nvPr/>
        </p:nvSpPr>
        <p:spPr>
          <a:xfrm>
            <a:off x="4325918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8" y="2983230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439816" y="3234747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536156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552102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552102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552102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3727495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3727495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3727495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6126327" y="3730581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9" name="Text 117"/>
          <p:cNvSpPr txBox="1"/>
          <p:nvPr/>
        </p:nvSpPr>
        <p:spPr>
          <a:xfrm>
            <a:off x="531253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1687940" y="3869455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2133242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293587" y="3869455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3735231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4907462" y="3869455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5" name="Text 123"/>
          <p:cNvSpPr txBox="1"/>
          <p:nvPr/>
        </p:nvSpPr>
        <p:spPr>
          <a:xfrm>
            <a:off x="6126327" y="3898773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26" name="Text 124"/>
          <p:cNvSpPr txBox="1"/>
          <p:nvPr/>
        </p:nvSpPr>
        <p:spPr>
          <a:xfrm>
            <a:off x="6126327" y="4066966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27" name="Text 125"/>
          <p:cNvSpPr txBox="1"/>
          <p:nvPr/>
        </p:nvSpPr>
        <p:spPr>
          <a:xfrm>
            <a:off x="839399" y="41652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679382" y="4609605"/>
            <a:ext cx="5741192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사람은 늘어나도, 관리는 한곳에서 이루어집니다.</a:t>
            </a:r>
            <a:endParaRPr lang="en-US" sz="900" dirty="0"/>
          </a:p>
        </p:txBody>
      </p:sp>
      <p:sp>
        <p:nvSpPr>
          <p:cNvPr id="129" name="Text 127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28" name="Text 26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2" name="Text 30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36" name="Text 34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37" name="Text 35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38" name="Text 36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39" name="Text 37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40" name="Text 38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34330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45" name="Text 43"/>
          <p:cNvSpPr txBox="1"/>
          <p:nvPr/>
        </p:nvSpPr>
        <p:spPr>
          <a:xfrm>
            <a:off x="2646208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46" name="Text 44"/>
          <p:cNvSpPr txBox="1"/>
          <p:nvPr/>
        </p:nvSpPr>
        <p:spPr>
          <a:xfrm>
            <a:off x="4857172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0" name="Text 48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2" name="Text 50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6" name="Text 64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7" name="Text 65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82" name="Text 80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83" name="Text 81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84" name="Text 82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85" name="Text 83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86" name="Text 84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87" name="Text 85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88" name="Text 86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89" name="Text 87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- 24 -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237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48112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22" name="Shape 20"/>
          <p:cNvSpPr/>
          <p:nvPr/>
        </p:nvSpPr>
        <p:spPr>
          <a:xfrm>
            <a:off x="473647" y="4639888"/>
            <a:ext cx="98753" cy="98369"/>
          </a:xfrm>
          <a:custGeom>
            <a:avLst/>
            <a:gdLst/>
            <a:ahLst/>
            <a:cxnLst/>
            <a:rect l="l" t="t" r="r" b="b"/>
            <a:pathLst>
              <a:path w="131670" h="131159">
                <a:moveTo>
                  <a:pt x="131670" y="65580"/>
                </a:moveTo>
                <a:cubicBezTo>
                  <a:pt x="131670" y="101798"/>
                  <a:pt x="102195" y="131159"/>
                  <a:pt x="65835" y="131159"/>
                </a:cubicBezTo>
                <a:cubicBezTo>
                  <a:pt x="29475" y="131159"/>
                  <a:pt x="0" y="101798"/>
                  <a:pt x="0" y="65580"/>
                </a:cubicBezTo>
                <a:cubicBezTo>
                  <a:pt x="0" y="29361"/>
                  <a:pt x="29475" y="0"/>
                  <a:pt x="65835" y="0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82" y="4639887"/>
            <a:ext cx="32918" cy="32790"/>
          </a:xfrm>
          <a:custGeom>
            <a:avLst/>
            <a:gdLst/>
            <a:ahLst/>
            <a:cxnLst/>
            <a:rect l="l" t="t" r="r" b="b"/>
            <a:pathLst>
              <a:path w="43890" h="43720">
                <a:moveTo>
                  <a:pt x="43890" y="0"/>
                </a:moveTo>
                <a:lnTo>
                  <a:pt x="43890" y="43720"/>
                </a:lnTo>
                <a:lnTo>
                  <a:pt x="0" y="4372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235046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영역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3" y="1262730"/>
            <a:ext cx="1794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D2C 해외영업 조직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3" y="1262730"/>
            <a:ext cx="850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이커머스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5751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해외 법인 전체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70888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매출 GMV · 손익 · 트래픽 · 상품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2242053" y="1739018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 · 4개월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810867" y="1739018"/>
            <a:ext cx="10049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구축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경과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4422842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8033717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40" name="Text 38"/>
          <p:cNvSpPr txBox="1"/>
          <p:nvPr/>
        </p:nvSpPr>
        <p:spPr>
          <a:xfrm>
            <a:off x="8192819" y="1746218"/>
            <a:ext cx="659270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고도화</a:t>
            </a:r>
            <a:endParaRPr lang="en-US" sz="773" dirty="0"/>
          </a:p>
        </p:txBody>
      </p:sp>
      <p:sp>
        <p:nvSpPr>
          <p:cNvPr id="41" name="Text 39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1587359" y="2260054"/>
            <a:ext cx="62452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분석 인사이트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3876045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조회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생성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8329976" y="2260054"/>
            <a:ext cx="516626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문서 RAG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434330" y="2408701"/>
            <a:ext cx="6492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2408701"/>
            <a:ext cx="1451120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4857171" y="2408701"/>
            <a:ext cx="129293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7069051" y="2408701"/>
            <a:ext cx="153587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1095" dirty="0"/>
          </a:p>
        </p:txBody>
      </p:sp>
      <p:sp>
        <p:nvSpPr>
          <p:cNvPr id="53" name="Text 51"/>
          <p:cNvSpPr txBox="1"/>
          <p:nvPr/>
        </p:nvSpPr>
        <p:spPr>
          <a:xfrm>
            <a:off x="434330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4" name="Text 52"/>
          <p:cNvSpPr txBox="1"/>
          <p:nvPr/>
        </p:nvSpPr>
        <p:spPr>
          <a:xfrm>
            <a:off x="2646208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5" name="Text 53"/>
          <p:cNvSpPr txBox="1"/>
          <p:nvPr/>
        </p:nvSpPr>
        <p:spPr>
          <a:xfrm>
            <a:off x="4857172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6" name="Text 54"/>
          <p:cNvSpPr txBox="1"/>
          <p:nvPr/>
        </p:nvSpPr>
        <p:spPr>
          <a:xfrm>
            <a:off x="7069051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7" name="Text 55"/>
          <p:cNvSpPr txBox="1"/>
          <p:nvPr/>
        </p:nvSpPr>
        <p:spPr>
          <a:xfrm>
            <a:off x="434330" y="2853614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2646208" y="2853614"/>
            <a:ext cx="178532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 형태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4857171" y="2853614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보고서에 쓸 수 있는 차트로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7069050" y="2853614"/>
            <a:ext cx="170686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434330" y="3007919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줄로 확인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2646208" y="3007919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로 즉시 제공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4857172" y="3007919"/>
            <a:ext cx="10762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 (GenChart)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7069050" y="3007919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식화해 답변에 활용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434330" y="3224975"/>
            <a:ext cx="174508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지역-법인, 사업부-제품군 등 단계별 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2646208" y="3224975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필요한 기초 데이터를 그대로 내려받아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4857172" y="3224975"/>
            <a:ext cx="179537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프롬프트만으로 분석 내용을 PPT 문서로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7069050" y="3224975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정해진 문답 매칭이 아니라 질문 의도를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434330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릴다운 분석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2646208" y="3379280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후속 작업에 활용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4857171" y="3379280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생성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7069051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해석해 응답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34329" y="3596336"/>
            <a:ext cx="131030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연관 질의를 눌러 이어서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646208" y="3596336"/>
            <a:ext cx="118046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 · 차원을 조합해 탐색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4857171" y="3596336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생성한 문서를 메일로 발송해 필요한 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7069050" y="3596336"/>
            <a:ext cx="171994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한글 · 영문 질의에 각각 대응해 해외 법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4857171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람에게 바로 공유</a:t>
            </a:r>
            <a:endParaRPr lang="en-US" sz="810" dirty="0"/>
          </a:p>
        </p:txBody>
      </p:sp>
      <p:sp>
        <p:nvSpPr>
          <p:cNvPr id="78" name="Text 76"/>
          <p:cNvSpPr txBox="1"/>
          <p:nvPr/>
        </p:nvSpPr>
        <p:spPr>
          <a:xfrm>
            <a:off x="7069050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 확산까지 고려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679382" y="4609605"/>
            <a:ext cx="4249568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수집해 재학습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구축했습니다.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- 25 -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237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698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22" name="Shape 20"/>
          <p:cNvSpPr/>
          <p:nvPr/>
        </p:nvSpPr>
        <p:spPr>
          <a:xfrm>
            <a:off x="473647" y="4683607"/>
            <a:ext cx="98753" cy="60115"/>
          </a:xfrm>
          <a:prstGeom prst="roundRect">
            <a:avLst>
              <a:gd name="adj" fmla="val 18217"/>
            </a:avLst>
          </a:prstGeom>
          <a:ln w="11681">
            <a:solidFill>
              <a:srgbClr val="2DD4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5592" y="4634422"/>
            <a:ext cx="54863" cy="49185"/>
          </a:xfrm>
          <a:custGeom>
            <a:avLst/>
            <a:gdLst/>
            <a:ahLst/>
            <a:cxnLst/>
            <a:rect l="l" t="t" r="r" b="b"/>
            <a:pathLst>
              <a:path w="73150" h="65580">
                <a:moveTo>
                  <a:pt x="0" y="65580"/>
                </a:moveTo>
                <a:lnTo>
                  <a:pt x="0" y="36433"/>
                </a:lnTo>
                <a:cubicBezTo>
                  <a:pt x="0" y="16312"/>
                  <a:pt x="16375" y="0"/>
                  <a:pt x="36575" y="0"/>
                </a:cubicBezTo>
                <a:cubicBezTo>
                  <a:pt x="56775" y="0"/>
                  <a:pt x="73150" y="16312"/>
                  <a:pt x="73150" y="36433"/>
                </a:cubicBezTo>
                <a:lnTo>
                  <a:pt x="73150" y="6558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62429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정량 지표와 문서 근거를 함께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구조입니다. 12월 오픈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4" y="1262730"/>
            <a:ext cx="200458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냉난방 제품 개발 연구소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4" y="1262730"/>
            <a:ext cx="70864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24721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12월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85673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경영 · 품질 · 개발 실적 · 경쟁사 정보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1599245" y="1739018"/>
            <a:ext cx="179940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 경영실적 · 품질실적 · 콘텐츠 영역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098567" y="1739018"/>
            <a:ext cx="112925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 개발실적 영역 확대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3988513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7200720" y="1746218"/>
            <a:ext cx="1666635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1차에 이어 2차 과업으로 적용 영역 확대</a:t>
            </a:r>
            <a:endParaRPr lang="en-US" sz="773" dirty="0"/>
          </a:p>
        </p:txBody>
      </p:sp>
      <p:sp>
        <p:nvSpPr>
          <p:cNvPr id="40" name="Text 38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1665081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3953767" y="226005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8309860" y="226005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408701"/>
            <a:ext cx="12216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09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408701"/>
            <a:ext cx="107073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4857171" y="2408701"/>
            <a:ext cx="1101828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408701"/>
            <a:ext cx="1349624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434330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특성을 반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729141"/>
            <a:ext cx="179236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트렌드 ·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 처리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729141"/>
            <a:ext cx="134322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29" y="2883446"/>
            <a:ext cx="92718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영한 전용 마트 설계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883446"/>
            <a:ext cx="11466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순위 · 누적 7개 질의유형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883446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멀티모달 방식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1" y="2946197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단계별로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3100502"/>
            <a:ext cx="172799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데이터를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3100502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3100502"/>
            <a:ext cx="1612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제시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0" y="3100502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추적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3254807"/>
            <a:ext cx="70041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바라보는 구조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3254807"/>
            <a:ext cx="97655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내역 조회 · 다운로드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331755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 근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3317558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정기 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347186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3471863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화면에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3471863"/>
            <a:ext cx="101679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거를 한 흐름에서 확인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3471863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독 발송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362616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추가해 확장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626168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바로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679382" y="4609605"/>
            <a:ext cx="468408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고객사 환경에 맞춰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구성했습니다. 12월 오픈 예정입니다.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- 26 -</a:t>
            </a:r>
            <a:endParaRPr lang="en-US" sz="705" dirty="0"/>
          </a:p>
        </p:txBody>
      </p:sp>
      <p:sp>
        <p:nvSpPr>
          <p:cNvPr id="76" name="Text 7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13132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5709</Words>
  <Application>Microsoft Office PowerPoint</Application>
  <PresentationFormat>화면 슬라이드 쇼(16:9)</PresentationFormat>
  <Paragraphs>1004</Paragraphs>
  <Slides>33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2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92</cp:revision>
  <dcterms:created xsi:type="dcterms:W3CDTF">2026-05-21T10:23:19Z</dcterms:created>
  <dcterms:modified xsi:type="dcterms:W3CDTF">2026-09-02T08:18:03Z</dcterms:modified>
</cp:coreProperties>
</file>