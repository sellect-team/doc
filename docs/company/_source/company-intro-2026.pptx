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8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37" r:id="rId9"/>
    <p:sldId id="622" r:id="rId10"/>
    <p:sldId id="621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638" r:id="rId19"/>
    <p:sldId id="639" r:id="rId20"/>
    <p:sldId id="640" r:id="rId21"/>
    <p:sldId id="623" r:id="rId22"/>
    <p:sldId id="257" r:id="rId23"/>
    <p:sldId id="258" r:id="rId24"/>
    <p:sldId id="625" r:id="rId25"/>
    <p:sldId id="597" r:id="rId26"/>
    <p:sldId id="624" r:id="rId27"/>
    <p:sldId id="645" r:id="rId28"/>
    <p:sldId id="644" r:id="rId29"/>
    <p:sldId id="261" r:id="rId30"/>
    <p:sldId id="617" r:id="rId31"/>
    <p:sldId id="626" r:id="rId32"/>
    <p:sldId id="627" r:id="rId33"/>
    <p:sldId id="628" r:id="rId34"/>
    <p:sldId id="629" r:id="rId35"/>
    <p:sldId id="630" r:id="rId36"/>
    <p:sldId id="264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37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8"/>
            <p14:sldId id="639"/>
            <p14:sldId id="640"/>
            <p14:sldId id="623"/>
            <p14:sldId id="257"/>
            <p14:sldId id="258"/>
            <p14:sldId id="625"/>
            <p14:sldId id="597"/>
            <p14:sldId id="624"/>
            <p14:sldId id="645"/>
            <p14:sldId id="644"/>
            <p14:sldId id="261"/>
            <p14:sldId id="617"/>
            <p14:sldId id="626"/>
            <p14:sldId id="627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svg"/><Relationship Id="rId13" Type="http://schemas.openxmlformats.org/officeDocument/2006/relationships/image" Target="../media/image118.svg"/><Relationship Id="rId3" Type="http://schemas.openxmlformats.org/officeDocument/2006/relationships/image" Target="../media/image108.png"/><Relationship Id="rId7" Type="http://schemas.openxmlformats.org/officeDocument/2006/relationships/image" Target="../media/image112.svg"/><Relationship Id="rId12" Type="http://schemas.openxmlformats.org/officeDocument/2006/relationships/image" Target="../media/image117.svg"/><Relationship Id="rId17" Type="http://schemas.openxmlformats.org/officeDocument/2006/relationships/image" Target="../media/image122.png"/><Relationship Id="rId2" Type="http://schemas.openxmlformats.org/officeDocument/2006/relationships/image" Target="../media/image107.png"/><Relationship Id="rId16" Type="http://schemas.openxmlformats.org/officeDocument/2006/relationships/image" Target="../media/image121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1.svg"/><Relationship Id="rId11" Type="http://schemas.openxmlformats.org/officeDocument/2006/relationships/image" Target="../media/image116.svg"/><Relationship Id="rId5" Type="http://schemas.openxmlformats.org/officeDocument/2006/relationships/image" Target="../media/image110.png"/><Relationship Id="rId15" Type="http://schemas.openxmlformats.org/officeDocument/2006/relationships/image" Target="../media/image120.svg"/><Relationship Id="rId10" Type="http://schemas.openxmlformats.org/officeDocument/2006/relationships/image" Target="../media/image115.svg"/><Relationship Id="rId4" Type="http://schemas.openxmlformats.org/officeDocument/2006/relationships/image" Target="../media/image109.png"/><Relationship Id="rId9" Type="http://schemas.openxmlformats.org/officeDocument/2006/relationships/image" Target="../media/image114.svg"/><Relationship Id="rId14" Type="http://schemas.openxmlformats.org/officeDocument/2006/relationships/image" Target="../media/image119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svg"/><Relationship Id="rId3" Type="http://schemas.openxmlformats.org/officeDocument/2006/relationships/image" Target="../media/image123.svg"/><Relationship Id="rId7" Type="http://schemas.openxmlformats.org/officeDocument/2006/relationships/image" Target="../media/image127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6.svg"/><Relationship Id="rId5" Type="http://schemas.openxmlformats.org/officeDocument/2006/relationships/image" Target="../media/image125.svg"/><Relationship Id="rId4" Type="http://schemas.openxmlformats.org/officeDocument/2006/relationships/image" Target="../media/image124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svg"/><Relationship Id="rId13" Type="http://schemas.openxmlformats.org/officeDocument/2006/relationships/image" Target="../media/image138.svg"/><Relationship Id="rId3" Type="http://schemas.openxmlformats.org/officeDocument/2006/relationships/image" Target="../media/image129.svg"/><Relationship Id="rId7" Type="http://schemas.openxmlformats.org/officeDocument/2006/relationships/image" Target="../media/image133.svg"/><Relationship Id="rId12" Type="http://schemas.openxmlformats.org/officeDocument/2006/relationships/image" Target="../media/image12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2.svg"/><Relationship Id="rId11" Type="http://schemas.openxmlformats.org/officeDocument/2006/relationships/image" Target="../media/image137.svg"/><Relationship Id="rId5" Type="http://schemas.openxmlformats.org/officeDocument/2006/relationships/image" Target="../media/image131.svg"/><Relationship Id="rId10" Type="http://schemas.openxmlformats.org/officeDocument/2006/relationships/image" Target="../media/image136.svg"/><Relationship Id="rId4" Type="http://schemas.openxmlformats.org/officeDocument/2006/relationships/image" Target="../media/image130.svg"/><Relationship Id="rId9" Type="http://schemas.openxmlformats.org/officeDocument/2006/relationships/image" Target="../media/image135.svg"/><Relationship Id="rId14" Type="http://schemas.openxmlformats.org/officeDocument/2006/relationships/image" Target="../media/image124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svg"/><Relationship Id="rId3" Type="http://schemas.openxmlformats.org/officeDocument/2006/relationships/image" Target="../media/image139.svg"/><Relationship Id="rId7" Type="http://schemas.openxmlformats.org/officeDocument/2006/relationships/image" Target="../media/image14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2.svg"/><Relationship Id="rId5" Type="http://schemas.openxmlformats.org/officeDocument/2006/relationships/image" Target="../media/image141.svg"/><Relationship Id="rId4" Type="http://schemas.openxmlformats.org/officeDocument/2006/relationships/image" Target="../media/image140.svg"/><Relationship Id="rId9" Type="http://schemas.openxmlformats.org/officeDocument/2006/relationships/image" Target="../media/image145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레퍼런스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bibidi 연말정산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631519"/>
            <a:ext cx="686" cy="47577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7172" y="2187017"/>
            <a:ext cx="686" cy="47577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2" y="2742515"/>
            <a:ext cx="686" cy="475774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3" y="4162634"/>
            <a:ext cx="2743132" cy="683571"/>
          </a:xfrm>
          <a:prstGeom prst="roundRect">
            <a:avLst>
              <a:gd name="adj" fmla="val 13376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477" y="679971"/>
            <a:ext cx="5509122" cy="4166750"/>
          </a:xfrm>
          <a:prstGeom prst="roundRect">
            <a:avLst>
              <a:gd name="adj" fmla="val 2469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42963" y="685628"/>
            <a:ext cx="5498150" cy="4053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Shape 8"/>
          <p:cNvSpPr/>
          <p:nvPr/>
        </p:nvSpPr>
        <p:spPr>
          <a:xfrm>
            <a:off x="3342963" y="1090936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97982" y="1256043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Shape 10"/>
          <p:cNvSpPr/>
          <p:nvPr/>
        </p:nvSpPr>
        <p:spPr>
          <a:xfrm>
            <a:off x="7126656" y="1256043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8155330" y="1256043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3342963" y="1507046"/>
            <a:ext cx="5498150" cy="41610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Shape 13"/>
          <p:cNvSpPr/>
          <p:nvPr/>
        </p:nvSpPr>
        <p:spPr>
          <a:xfrm>
            <a:off x="3342963" y="1507045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7982" y="1672152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7126656" y="1672152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8155330" y="1672152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42963" y="1923154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97982" y="2088261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Shape 19"/>
          <p:cNvSpPr/>
          <p:nvPr/>
        </p:nvSpPr>
        <p:spPr>
          <a:xfrm>
            <a:off x="7126656" y="2088261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2" name="Shape 20"/>
          <p:cNvSpPr/>
          <p:nvPr/>
        </p:nvSpPr>
        <p:spPr>
          <a:xfrm>
            <a:off x="8155330" y="2088261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Shape 21"/>
          <p:cNvSpPr/>
          <p:nvPr/>
        </p:nvSpPr>
        <p:spPr>
          <a:xfrm>
            <a:off x="3342963" y="2339264"/>
            <a:ext cx="5498150" cy="41610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3342963" y="2339263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97982" y="2504370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7126656" y="2504370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5330" y="2504370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3342963" y="2755373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97982" y="2920479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Shape 28"/>
          <p:cNvSpPr/>
          <p:nvPr/>
        </p:nvSpPr>
        <p:spPr>
          <a:xfrm>
            <a:off x="7146772" y="2940539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8175447" y="2940539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32" name="Shape 30"/>
          <p:cNvSpPr/>
          <p:nvPr/>
        </p:nvSpPr>
        <p:spPr>
          <a:xfrm>
            <a:off x="3342963" y="3170968"/>
            <a:ext cx="5498150" cy="41610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3" name="Shape 31"/>
          <p:cNvSpPr/>
          <p:nvPr/>
        </p:nvSpPr>
        <p:spPr>
          <a:xfrm>
            <a:off x="3342963" y="3170968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18098" y="3356648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35" name="Shape 33"/>
          <p:cNvSpPr/>
          <p:nvPr/>
        </p:nvSpPr>
        <p:spPr>
          <a:xfrm>
            <a:off x="7126656" y="3336589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Shape 34"/>
          <p:cNvSpPr/>
          <p:nvPr/>
        </p:nvSpPr>
        <p:spPr>
          <a:xfrm>
            <a:off x="8155330" y="3336589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3342963" y="3587077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18098" y="3772243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39" name="Shape 37"/>
          <p:cNvSpPr/>
          <p:nvPr/>
        </p:nvSpPr>
        <p:spPr>
          <a:xfrm>
            <a:off x="7146772" y="3772243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40" name="Shape 38"/>
          <p:cNvSpPr/>
          <p:nvPr/>
        </p:nvSpPr>
        <p:spPr>
          <a:xfrm>
            <a:off x="8155330" y="3752183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1" name="Shape 39"/>
          <p:cNvSpPr/>
          <p:nvPr/>
        </p:nvSpPr>
        <p:spPr>
          <a:xfrm>
            <a:off x="3342963" y="4003186"/>
            <a:ext cx="5498150" cy="41610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2" name="Shape 40"/>
          <p:cNvSpPr/>
          <p:nvPr/>
        </p:nvSpPr>
        <p:spPr>
          <a:xfrm>
            <a:off x="3342963" y="4003186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18098" y="4188352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44" name="Shape 42"/>
          <p:cNvSpPr/>
          <p:nvPr/>
        </p:nvSpPr>
        <p:spPr>
          <a:xfrm>
            <a:off x="7126656" y="4168292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5" name="Shape 43"/>
          <p:cNvSpPr/>
          <p:nvPr/>
        </p:nvSpPr>
        <p:spPr>
          <a:xfrm>
            <a:off x="8175447" y="4188352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46" name="Shape 44"/>
          <p:cNvSpPr/>
          <p:nvPr/>
        </p:nvSpPr>
        <p:spPr>
          <a:xfrm>
            <a:off x="3342963" y="4419296"/>
            <a:ext cx="5498150" cy="4217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3342963" y="4419295"/>
            <a:ext cx="5498150" cy="686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36158" y="4300995"/>
            <a:ext cx="64007" cy="77153"/>
          </a:xfrm>
          <a:custGeom>
            <a:avLst/>
            <a:gdLst/>
            <a:ahLst/>
            <a:cxnLst/>
            <a:rect l="l" t="t" r="r" b="b"/>
            <a:pathLst>
              <a:path w="85342" h="102870">
                <a:moveTo>
                  <a:pt x="42671" y="0"/>
                </a:moveTo>
                <a:lnTo>
                  <a:pt x="85342" y="17145"/>
                </a:lnTo>
                <a:lnTo>
                  <a:pt x="85342" y="48578"/>
                </a:lnTo>
                <a:cubicBezTo>
                  <a:pt x="85342" y="74295"/>
                  <a:pt x="67136" y="94298"/>
                  <a:pt x="42671" y="102870"/>
                </a:cubicBezTo>
                <a:cubicBezTo>
                  <a:pt x="18206" y="94298"/>
                  <a:pt x="0" y="74295"/>
                  <a:pt x="0" y="48578"/>
                </a:cubicBezTo>
                <a:lnTo>
                  <a:pt x="0" y="17145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92330" y="1269030"/>
            <a:ext cx="30670" cy="30604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186" y="1308378"/>
            <a:ext cx="56958" cy="28418"/>
          </a:xfrm>
          <a:custGeom>
            <a:avLst/>
            <a:gdLst/>
            <a:ahLst/>
            <a:cxnLst/>
            <a:rect l="l" t="t" r="r" b="b"/>
            <a:pathLst>
              <a:path w="75944" h="37890">
                <a:moveTo>
                  <a:pt x="0" y="37890"/>
                </a:moveTo>
                <a:cubicBezTo>
                  <a:pt x="0" y="16964"/>
                  <a:pt x="17001" y="0"/>
                  <a:pt x="37972" y="0"/>
                </a:cubicBezTo>
                <a:cubicBezTo>
                  <a:pt x="58943" y="0"/>
                  <a:pt x="75944" y="16964"/>
                  <a:pt x="75944" y="37890"/>
                </a:cubicBez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31763" y="1277775"/>
            <a:ext cx="21907" cy="21860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38335" y="1316512"/>
            <a:ext cx="24098" cy="20284"/>
          </a:xfrm>
          <a:custGeom>
            <a:avLst/>
            <a:gdLst/>
            <a:ahLst/>
            <a:cxnLst/>
            <a:rect l="l" t="t" r="r" b="b"/>
            <a:pathLst>
              <a:path w="32130" h="27045">
                <a:moveTo>
                  <a:pt x="0" y="813"/>
                </a:moveTo>
                <a:cubicBezTo>
                  <a:pt x="7755" y="0"/>
                  <a:pt x="15513" y="2315"/>
                  <a:pt x="21548" y="7242"/>
                </a:cubicBezTo>
                <a:cubicBezTo>
                  <a:pt x="27583" y="12169"/>
                  <a:pt x="31393" y="19299"/>
                  <a:pt x="32130" y="27045"/>
                </a:cubicBez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85758" y="1696069"/>
            <a:ext cx="56958" cy="2744"/>
          </a:xfrm>
          <a:custGeom>
            <a:avLst/>
            <a:gdLst/>
            <a:ahLst/>
            <a:cxnLst/>
            <a:rect l="l" t="t" r="r" b="b"/>
            <a:pathLst>
              <a:path w="75944" h="3658">
                <a:moveTo>
                  <a:pt x="0" y="0"/>
                </a:moveTo>
                <a:lnTo>
                  <a:pt x="75944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29572" y="1682954"/>
            <a:ext cx="13145" cy="26232"/>
          </a:xfrm>
          <a:custGeom>
            <a:avLst/>
            <a:gdLst/>
            <a:ahLst/>
            <a:cxnLst/>
            <a:rect l="l" t="t" r="r" b="b"/>
            <a:pathLst>
              <a:path w="17526" h="34976">
                <a:moveTo>
                  <a:pt x="0" y="0"/>
                </a:moveTo>
                <a:lnTo>
                  <a:pt x="17526" y="17488"/>
                </a:lnTo>
                <a:lnTo>
                  <a:pt x="0" y="34976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498902" y="1739789"/>
            <a:ext cx="56958" cy="2744"/>
          </a:xfrm>
          <a:custGeom>
            <a:avLst/>
            <a:gdLst/>
            <a:ahLst/>
            <a:cxnLst/>
            <a:rect l="l" t="t" r="r" b="b"/>
            <a:pathLst>
              <a:path w="75944" h="3658">
                <a:moveTo>
                  <a:pt x="75944" y="0"/>
                </a:moveTo>
                <a:lnTo>
                  <a:pt x="0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98902" y="1726673"/>
            <a:ext cx="13145" cy="26232"/>
          </a:xfrm>
          <a:custGeom>
            <a:avLst/>
            <a:gdLst/>
            <a:ahLst/>
            <a:cxnLst/>
            <a:rect l="l" t="t" r="r" b="b"/>
            <a:pathLst>
              <a:path w="17526" h="34976">
                <a:moveTo>
                  <a:pt x="17526" y="0"/>
                </a:moveTo>
                <a:lnTo>
                  <a:pt x="0" y="17488"/>
                </a:lnTo>
                <a:lnTo>
                  <a:pt x="17526" y="34976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81377" y="2103434"/>
            <a:ext cx="78865" cy="61208"/>
          </a:xfrm>
          <a:custGeom>
            <a:avLst/>
            <a:gdLst/>
            <a:ahLst/>
            <a:cxnLst/>
            <a:rect l="l" t="t" r="r" b="b"/>
            <a:pathLst>
              <a:path w="105153" h="81610">
                <a:moveTo>
                  <a:pt x="0" y="0"/>
                </a:moveTo>
                <a:lnTo>
                  <a:pt x="105153" y="0"/>
                </a:lnTo>
                <a:lnTo>
                  <a:pt x="64260" y="46634"/>
                </a:lnTo>
                <a:lnTo>
                  <a:pt x="64260" y="81610"/>
                </a:lnTo>
                <a:lnTo>
                  <a:pt x="40893" y="69952"/>
                </a:lnTo>
                <a:lnTo>
                  <a:pt x="40893" y="46634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487949" y="2510286"/>
            <a:ext cx="65721" cy="78695"/>
          </a:xfrm>
          <a:custGeom>
            <a:avLst/>
            <a:gdLst/>
            <a:ahLst/>
            <a:cxnLst/>
            <a:rect l="l" t="t" r="r" b="b"/>
            <a:pathLst>
              <a:path w="87628" h="104927">
                <a:moveTo>
                  <a:pt x="43814" y="0"/>
                </a:moveTo>
                <a:lnTo>
                  <a:pt x="87628" y="17488"/>
                </a:lnTo>
                <a:lnTo>
                  <a:pt x="87628" y="49549"/>
                </a:lnTo>
                <a:cubicBezTo>
                  <a:pt x="87628" y="75781"/>
                  <a:pt x="68934" y="96183"/>
                  <a:pt x="43814" y="104927"/>
                </a:cubicBezTo>
                <a:cubicBezTo>
                  <a:pt x="18694" y="96183"/>
                  <a:pt x="0" y="75781"/>
                  <a:pt x="0" y="49549"/>
                </a:cubicBezTo>
                <a:lnTo>
                  <a:pt x="0" y="17488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83567" y="2928580"/>
            <a:ext cx="74484" cy="74324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01093" y="2946068"/>
            <a:ext cx="39433" cy="39348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516428" y="2961371"/>
            <a:ext cx="8763" cy="8744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485758" y="3351248"/>
            <a:ext cx="39433" cy="65580"/>
          </a:xfrm>
          <a:custGeom>
            <a:avLst/>
            <a:gdLst/>
            <a:ahLst/>
            <a:cxnLst/>
            <a:rect l="l" t="t" r="r" b="b"/>
            <a:pathLst>
              <a:path w="52577" h="87440">
                <a:moveTo>
                  <a:pt x="0" y="0"/>
                </a:moveTo>
                <a:lnTo>
                  <a:pt x="35051" y="0"/>
                </a:lnTo>
                <a:cubicBezTo>
                  <a:pt x="44730" y="0"/>
                  <a:pt x="52577" y="7830"/>
                  <a:pt x="52577" y="17488"/>
                </a:cubicBezTo>
                <a:lnTo>
                  <a:pt x="52577" y="87440"/>
                </a:lnTo>
                <a:cubicBezTo>
                  <a:pt x="52577" y="81001"/>
                  <a:pt x="47346" y="75781"/>
                  <a:pt x="40893" y="75781"/>
                </a:cubicBezTo>
                <a:lnTo>
                  <a:pt x="0" y="75781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516428" y="3351248"/>
            <a:ext cx="39433" cy="65580"/>
          </a:xfrm>
          <a:custGeom>
            <a:avLst/>
            <a:gdLst/>
            <a:ahLst/>
            <a:cxnLst/>
            <a:rect l="l" t="t" r="r" b="b"/>
            <a:pathLst>
              <a:path w="52577" h="87440">
                <a:moveTo>
                  <a:pt x="52577" y="0"/>
                </a:moveTo>
                <a:lnTo>
                  <a:pt x="17526" y="0"/>
                </a:lnTo>
                <a:cubicBezTo>
                  <a:pt x="7846" y="0"/>
                  <a:pt x="0" y="7830"/>
                  <a:pt x="0" y="17488"/>
                </a:cubicBezTo>
                <a:lnTo>
                  <a:pt x="0" y="87440"/>
                </a:lnTo>
                <a:cubicBezTo>
                  <a:pt x="0" y="81001"/>
                  <a:pt x="5231" y="75781"/>
                  <a:pt x="11684" y="75781"/>
                </a:cubicBezTo>
                <a:lnTo>
                  <a:pt x="52577" y="75781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503284" y="3780472"/>
            <a:ext cx="35051" cy="34976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520809" y="3754241"/>
            <a:ext cx="2744" cy="8744"/>
          </a:xfrm>
          <a:custGeom>
            <a:avLst/>
            <a:gdLst/>
            <a:ahLst/>
            <a:cxnLst/>
            <a:rect l="l" t="t" r="r" b="b"/>
            <a:pathLst>
              <a:path w="3658" h="11659">
                <a:moveTo>
                  <a:pt x="0" y="0"/>
                </a:moveTo>
                <a:lnTo>
                  <a:pt x="0" y="11659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520809" y="3832937"/>
            <a:ext cx="2744" cy="8744"/>
          </a:xfrm>
          <a:custGeom>
            <a:avLst/>
            <a:gdLst/>
            <a:ahLst/>
            <a:cxnLst/>
            <a:rect l="l" t="t" r="r" b="b"/>
            <a:pathLst>
              <a:path w="3658" h="11659">
                <a:moveTo>
                  <a:pt x="0" y="0"/>
                </a:moveTo>
                <a:lnTo>
                  <a:pt x="0" y="11659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489702" y="3766920"/>
            <a:ext cx="6134" cy="6121"/>
          </a:xfrm>
          <a:custGeom>
            <a:avLst/>
            <a:gdLst/>
            <a:ahLst/>
            <a:cxnLst/>
            <a:rect l="l" t="t" r="r" b="b"/>
            <a:pathLst>
              <a:path w="8179" h="8161">
                <a:moveTo>
                  <a:pt x="0" y="0"/>
                </a:moveTo>
                <a:lnTo>
                  <a:pt x="8179" y="8161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545784" y="3822881"/>
            <a:ext cx="6134" cy="6121"/>
          </a:xfrm>
          <a:custGeom>
            <a:avLst/>
            <a:gdLst/>
            <a:ahLst/>
            <a:cxnLst/>
            <a:rect l="l" t="t" r="r" b="b"/>
            <a:pathLst>
              <a:path w="8179" h="8161">
                <a:moveTo>
                  <a:pt x="0" y="0"/>
                </a:moveTo>
                <a:lnTo>
                  <a:pt x="8179" y="8161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476996" y="3797960"/>
            <a:ext cx="8763" cy="2744"/>
          </a:xfrm>
          <a:custGeom>
            <a:avLst/>
            <a:gdLst/>
            <a:ahLst/>
            <a:cxnLst/>
            <a:rect l="l" t="t" r="r" b="b"/>
            <a:pathLst>
              <a:path w="11684" h="3658">
                <a:moveTo>
                  <a:pt x="0" y="0"/>
                </a:moveTo>
                <a:lnTo>
                  <a:pt x="11684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555860" y="3797960"/>
            <a:ext cx="8763" cy="2744"/>
          </a:xfrm>
          <a:custGeom>
            <a:avLst/>
            <a:gdLst/>
            <a:ahLst/>
            <a:cxnLst/>
            <a:rect l="l" t="t" r="r" b="b"/>
            <a:pathLst>
              <a:path w="11684" h="3658">
                <a:moveTo>
                  <a:pt x="0" y="0"/>
                </a:moveTo>
                <a:lnTo>
                  <a:pt x="11684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489702" y="3822881"/>
            <a:ext cx="6134" cy="6121"/>
          </a:xfrm>
          <a:custGeom>
            <a:avLst/>
            <a:gdLst/>
            <a:ahLst/>
            <a:cxnLst/>
            <a:rect l="l" t="t" r="r" b="b"/>
            <a:pathLst>
              <a:path w="8179" h="8161">
                <a:moveTo>
                  <a:pt x="0" y="8161"/>
                </a:moveTo>
                <a:lnTo>
                  <a:pt x="8179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545784" y="3766920"/>
            <a:ext cx="6134" cy="6121"/>
          </a:xfrm>
          <a:custGeom>
            <a:avLst/>
            <a:gdLst/>
            <a:ahLst/>
            <a:cxnLst/>
            <a:rect l="l" t="t" r="r" b="b"/>
            <a:pathLst>
              <a:path w="8179" h="8161">
                <a:moveTo>
                  <a:pt x="0" y="8161"/>
                </a:moveTo>
                <a:lnTo>
                  <a:pt x="8179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481377" y="4183466"/>
            <a:ext cx="78865" cy="69952"/>
          </a:xfrm>
          <a:prstGeom prst="roundRect">
            <a:avLst>
              <a:gd name="adj" fmla="val 12513"/>
            </a:avLst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81377" y="4205326"/>
            <a:ext cx="78865" cy="2744"/>
          </a:xfrm>
          <a:custGeom>
            <a:avLst/>
            <a:gdLst/>
            <a:ahLst/>
            <a:cxnLst/>
            <a:rect l="l" t="t" r="r" b="b"/>
            <a:pathLst>
              <a:path w="105153" h="3658">
                <a:moveTo>
                  <a:pt x="0" y="0"/>
                </a:moveTo>
                <a:lnTo>
                  <a:pt x="105153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503284" y="4174722"/>
            <a:ext cx="2744" cy="17488"/>
          </a:xfrm>
          <a:custGeom>
            <a:avLst/>
            <a:gdLst/>
            <a:ahLst/>
            <a:cxnLst/>
            <a:rect l="l" t="t" r="r" b="b"/>
            <a:pathLst>
              <a:path w="3658" h="23317">
                <a:moveTo>
                  <a:pt x="0" y="0"/>
                </a:moveTo>
                <a:lnTo>
                  <a:pt x="0" y="23317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538335" y="4174722"/>
            <a:ext cx="2744" cy="17488"/>
          </a:xfrm>
          <a:custGeom>
            <a:avLst/>
            <a:gdLst/>
            <a:ahLst/>
            <a:cxnLst/>
            <a:rect l="l" t="t" r="r" b="b"/>
            <a:pathLst>
              <a:path w="3658" h="23317">
                <a:moveTo>
                  <a:pt x="0" y="0"/>
                </a:moveTo>
                <a:lnTo>
                  <a:pt x="0" y="23317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81377" y="4605233"/>
            <a:ext cx="78865" cy="69952"/>
          </a:xfrm>
          <a:prstGeom prst="roundRect">
            <a:avLst>
              <a:gd name="adj" fmla="val 12513"/>
            </a:avLst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81377" y="4627093"/>
            <a:ext cx="78865" cy="2744"/>
          </a:xfrm>
          <a:custGeom>
            <a:avLst/>
            <a:gdLst/>
            <a:ahLst/>
            <a:cxnLst/>
            <a:rect l="l" t="t" r="r" b="b"/>
            <a:pathLst>
              <a:path w="105153" h="3658">
                <a:moveTo>
                  <a:pt x="0" y="0"/>
                </a:moveTo>
                <a:lnTo>
                  <a:pt x="105153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503284" y="4596489"/>
            <a:ext cx="2744" cy="17488"/>
          </a:xfrm>
          <a:custGeom>
            <a:avLst/>
            <a:gdLst/>
            <a:ahLst/>
            <a:cxnLst/>
            <a:rect l="l" t="t" r="r" b="b"/>
            <a:pathLst>
              <a:path w="3658" h="23317">
                <a:moveTo>
                  <a:pt x="0" y="0"/>
                </a:moveTo>
                <a:lnTo>
                  <a:pt x="0" y="23317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538335" y="4596489"/>
            <a:ext cx="2744" cy="17488"/>
          </a:xfrm>
          <a:custGeom>
            <a:avLst/>
            <a:gdLst/>
            <a:ahLst/>
            <a:cxnLst/>
            <a:rect l="l" t="t" r="r" b="b"/>
            <a:pathLst>
              <a:path w="3658" h="23317">
                <a:moveTo>
                  <a:pt x="0" y="0"/>
                </a:moveTo>
                <a:lnTo>
                  <a:pt x="0" y="23317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5303" y="167678"/>
            <a:ext cx="478667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데이터를 대시보드로,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HR 데이터 분석 레퍼런스</a:t>
            </a:r>
            <a:endParaRPr lang="en-US" sz="1710" dirty="0"/>
          </a:p>
        </p:txBody>
      </p:sp>
      <p:sp>
        <p:nvSpPr>
          <p:cNvPr id="82" name="Text 80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83" name="Text 81"/>
          <p:cNvSpPr txBox="1"/>
          <p:nvPr/>
        </p:nvSpPr>
        <p:spPr>
          <a:xfrm>
            <a:off x="297173" y="677913"/>
            <a:ext cx="2916863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 · 삼성전자 DX · 삼성전자 DS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세 곳의 인사 데</a:t>
            </a:r>
            <a:endParaRPr lang="en-US" sz="975" dirty="0"/>
          </a:p>
        </p:txBody>
      </p:sp>
      <p:sp>
        <p:nvSpPr>
          <p:cNvPr id="84" name="Text 82"/>
          <p:cNvSpPr txBox="1"/>
          <p:nvPr/>
        </p:nvSpPr>
        <p:spPr>
          <a:xfrm>
            <a:off x="5982770" y="759181"/>
            <a:ext cx="458107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810" dirty="0"/>
          </a:p>
        </p:txBody>
      </p:sp>
      <p:sp>
        <p:nvSpPr>
          <p:cNvPr id="85" name="Text 83"/>
          <p:cNvSpPr txBox="1"/>
          <p:nvPr/>
        </p:nvSpPr>
        <p:spPr>
          <a:xfrm>
            <a:off x="6904462" y="759181"/>
            <a:ext cx="671156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810" dirty="0"/>
          </a:p>
        </p:txBody>
      </p:sp>
      <p:sp>
        <p:nvSpPr>
          <p:cNvPr id="86" name="Text 84"/>
          <p:cNvSpPr txBox="1"/>
          <p:nvPr/>
        </p:nvSpPr>
        <p:spPr>
          <a:xfrm>
            <a:off x="7940451" y="759181"/>
            <a:ext cx="65927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810" dirty="0"/>
          </a:p>
        </p:txBody>
      </p:sp>
      <p:sp>
        <p:nvSpPr>
          <p:cNvPr id="87" name="Text 85"/>
          <p:cNvSpPr txBox="1"/>
          <p:nvPr/>
        </p:nvSpPr>
        <p:spPr>
          <a:xfrm>
            <a:off x="3468232" y="826047"/>
            <a:ext cx="5138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분석 영역</a:t>
            </a:r>
            <a:endParaRPr lang="en-US" sz="705" dirty="0"/>
          </a:p>
        </p:txBody>
      </p:sp>
      <p:sp>
        <p:nvSpPr>
          <p:cNvPr id="88" name="Text 86"/>
          <p:cNvSpPr txBox="1"/>
          <p:nvPr/>
        </p:nvSpPr>
        <p:spPr>
          <a:xfrm>
            <a:off x="297173" y="881596"/>
            <a:ext cx="2913846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이터를 Tableau 대시보드와 포털로 구축했습니다. 같은</a:t>
            </a:r>
            <a:endParaRPr lang="en-US" sz="975" dirty="0"/>
          </a:p>
        </p:txBody>
      </p:sp>
      <p:sp>
        <p:nvSpPr>
          <p:cNvPr id="89" name="Text 87"/>
          <p:cNvSpPr txBox="1"/>
          <p:nvPr/>
        </p:nvSpPr>
        <p:spPr>
          <a:xfrm>
            <a:off x="5826411" y="902170"/>
            <a:ext cx="77082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Index 대시보드</a:t>
            </a:r>
            <a:endParaRPr lang="en-US" sz="645" dirty="0"/>
          </a:p>
        </p:txBody>
      </p:sp>
      <p:sp>
        <p:nvSpPr>
          <p:cNvPr id="90" name="Text 88"/>
          <p:cNvSpPr txBox="1"/>
          <p:nvPr/>
        </p:nvSpPr>
        <p:spPr>
          <a:xfrm>
            <a:off x="6950181" y="902170"/>
            <a:ext cx="58063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DataLab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7945024" y="902170"/>
            <a:ext cx="6492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분석 플랫폼</a:t>
            </a:r>
            <a:endParaRPr lang="en-US" sz="645" dirty="0"/>
          </a:p>
        </p:txBody>
      </p:sp>
      <p:sp>
        <p:nvSpPr>
          <p:cNvPr id="92" name="Text 90"/>
          <p:cNvSpPr txBox="1"/>
          <p:nvPr/>
        </p:nvSpPr>
        <p:spPr>
          <a:xfrm>
            <a:off x="297173" y="1085279"/>
            <a:ext cx="3015433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모듈 구성을 세 곳에서 반복 수행했고, 구축 이후 유지보수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3641964" y="1228268"/>
            <a:ext cx="528514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</a:t>
            </a:r>
            <a:endParaRPr lang="en-US" sz="825" dirty="0"/>
          </a:p>
        </p:txBody>
      </p:sp>
      <p:sp>
        <p:nvSpPr>
          <p:cNvPr id="94" name="Text 92"/>
          <p:cNvSpPr txBox="1"/>
          <p:nvPr/>
        </p:nvSpPr>
        <p:spPr>
          <a:xfrm>
            <a:off x="4124755" y="1241127"/>
            <a:ext cx="756194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성별 · 연령 · 학력</a:t>
            </a:r>
            <a:endParaRPr lang="en-US" sz="683" dirty="0"/>
          </a:p>
        </p:txBody>
      </p:sp>
      <p:sp>
        <p:nvSpPr>
          <p:cNvPr id="95" name="Text 93"/>
          <p:cNvSpPr txBox="1"/>
          <p:nvPr/>
        </p:nvSpPr>
        <p:spPr>
          <a:xfrm>
            <a:off x="297173" y="1288962"/>
            <a:ext cx="1940217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단계 확장으로 이어지고 있습니다.</a:t>
            </a:r>
            <a:endParaRPr lang="en-US" sz="975" dirty="0"/>
          </a:p>
        </p:txBody>
      </p:sp>
      <p:sp>
        <p:nvSpPr>
          <p:cNvPr id="96" name="Text 94"/>
          <p:cNvSpPr txBox="1"/>
          <p:nvPr/>
        </p:nvSpPr>
        <p:spPr>
          <a:xfrm>
            <a:off x="428843" y="1625347"/>
            <a:ext cx="418788" cy="325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070" kern="0" spc="-4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r>
              <a:rPr lang="en-US" sz="900" kern="0" spc="-41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곳</a:t>
            </a:r>
            <a:endParaRPr lang="en-US" sz="2070" dirty="0"/>
          </a:p>
        </p:txBody>
      </p:sp>
      <p:sp>
        <p:nvSpPr>
          <p:cNvPr id="97" name="Text 95"/>
          <p:cNvSpPr txBox="1"/>
          <p:nvPr/>
        </p:nvSpPr>
        <p:spPr>
          <a:xfrm>
            <a:off x="3641964" y="1644378"/>
            <a:ext cx="603492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발령 · 이동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199735" y="1657236"/>
            <a:ext cx="990274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입사 · 퇴사 · 발령 · 해외</a:t>
            </a:r>
            <a:endParaRPr lang="en-US" sz="683" dirty="0"/>
          </a:p>
        </p:txBody>
      </p:sp>
      <p:sp>
        <p:nvSpPr>
          <p:cNvPr id="99" name="Text 97"/>
          <p:cNvSpPr txBox="1"/>
          <p:nvPr/>
        </p:nvSpPr>
        <p:spPr>
          <a:xfrm>
            <a:off x="428844" y="1946300"/>
            <a:ext cx="153789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대기업 HR 조직 · 대시보드 + 포털</a:t>
            </a:r>
            <a:endParaRPr lang="en-US" sz="810" dirty="0"/>
          </a:p>
        </p:txBody>
      </p:sp>
      <p:sp>
        <p:nvSpPr>
          <p:cNvPr id="100" name="Text 98"/>
          <p:cNvSpPr txBox="1"/>
          <p:nvPr/>
        </p:nvSpPr>
        <p:spPr>
          <a:xfrm>
            <a:off x="3641964" y="2060487"/>
            <a:ext cx="995760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조건 추출 · 다운로드</a:t>
            </a:r>
            <a:endParaRPr lang="en-US" sz="825" dirty="0"/>
          </a:p>
        </p:txBody>
      </p:sp>
      <p:sp>
        <p:nvSpPr>
          <p:cNvPr id="101" name="Text 99"/>
          <p:cNvSpPr txBox="1"/>
          <p:nvPr/>
        </p:nvSpPr>
        <p:spPr>
          <a:xfrm>
            <a:off x="4592002" y="2073345"/>
            <a:ext cx="78453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조건에 맞는 인원만</a:t>
            </a:r>
            <a:endParaRPr lang="en-US" sz="683" dirty="0"/>
          </a:p>
        </p:txBody>
      </p:sp>
      <p:sp>
        <p:nvSpPr>
          <p:cNvPr id="102" name="Text 100"/>
          <p:cNvSpPr txBox="1"/>
          <p:nvPr/>
        </p:nvSpPr>
        <p:spPr>
          <a:xfrm>
            <a:off x="428844" y="2181359"/>
            <a:ext cx="629095" cy="325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070" kern="0" spc="-4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8</a:t>
            </a:r>
            <a:r>
              <a:rPr lang="en-US" sz="900" kern="0" spc="-41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개 영역</a:t>
            </a:r>
            <a:endParaRPr lang="en-US" sz="2070" dirty="0"/>
          </a:p>
        </p:txBody>
      </p:sp>
      <p:sp>
        <p:nvSpPr>
          <p:cNvPr id="103" name="Text 101"/>
          <p:cNvSpPr txBox="1"/>
          <p:nvPr/>
        </p:nvSpPr>
        <p:spPr>
          <a:xfrm>
            <a:off x="3641964" y="2476596"/>
            <a:ext cx="82842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권한별 열람 제한</a:t>
            </a:r>
            <a:endParaRPr lang="en-US" sz="825" dirty="0"/>
          </a:p>
        </p:txBody>
      </p:sp>
      <p:sp>
        <p:nvSpPr>
          <p:cNvPr id="104" name="Text 102"/>
          <p:cNvSpPr txBox="1"/>
          <p:nvPr/>
        </p:nvSpPr>
        <p:spPr>
          <a:xfrm>
            <a:off x="4424671" y="2488940"/>
            <a:ext cx="29626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RLS</a:t>
            </a:r>
            <a:endParaRPr lang="en-US" sz="683" dirty="0"/>
          </a:p>
        </p:txBody>
      </p:sp>
      <p:sp>
        <p:nvSpPr>
          <p:cNvPr id="105" name="Text 103"/>
          <p:cNvSpPr txBox="1"/>
          <p:nvPr/>
        </p:nvSpPr>
        <p:spPr>
          <a:xfrm>
            <a:off x="428843" y="2502313"/>
            <a:ext cx="128653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현황부터 정년 예측까지</a:t>
            </a:r>
            <a:endParaRPr lang="en-US" sz="810" dirty="0"/>
          </a:p>
        </p:txBody>
      </p:sp>
      <p:sp>
        <p:nvSpPr>
          <p:cNvPr id="106" name="Text 104"/>
          <p:cNvSpPr txBox="1"/>
          <p:nvPr/>
        </p:nvSpPr>
        <p:spPr>
          <a:xfrm>
            <a:off x="428844" y="2736857"/>
            <a:ext cx="1109143" cy="325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070" kern="0" spc="-4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</a:t>
            </a:r>
            <a:r>
              <a:rPr lang="en-US" sz="900" kern="0" spc="-41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→ 현재</a:t>
            </a:r>
            <a:endParaRPr lang="en-US" sz="2070" dirty="0"/>
          </a:p>
        </p:txBody>
      </p:sp>
      <p:sp>
        <p:nvSpPr>
          <p:cNvPr id="107" name="Text 105"/>
          <p:cNvSpPr txBox="1"/>
          <p:nvPr/>
        </p:nvSpPr>
        <p:spPr>
          <a:xfrm>
            <a:off x="3641964" y="2892190"/>
            <a:ext cx="1087198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 추적</a:t>
            </a:r>
            <a:endParaRPr lang="en-US" sz="825" dirty="0"/>
          </a:p>
        </p:txBody>
      </p:sp>
      <p:sp>
        <p:nvSpPr>
          <p:cNvPr id="108" name="Text 106"/>
          <p:cNvSpPr txBox="1"/>
          <p:nvPr/>
        </p:nvSpPr>
        <p:spPr>
          <a:xfrm>
            <a:off x="4683440" y="2905049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발령 인원 관리</a:t>
            </a:r>
            <a:endParaRPr lang="en-US" sz="683" dirty="0"/>
          </a:p>
        </p:txBody>
      </p:sp>
      <p:sp>
        <p:nvSpPr>
          <p:cNvPr id="109" name="Text 107"/>
          <p:cNvSpPr txBox="1"/>
          <p:nvPr/>
        </p:nvSpPr>
        <p:spPr>
          <a:xfrm>
            <a:off x="428843" y="3057811"/>
            <a:ext cx="166462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구축 후 유지보수 · 4차까지 단계 확장</a:t>
            </a:r>
            <a:endParaRPr lang="en-US" sz="810" dirty="0"/>
          </a:p>
        </p:txBody>
      </p:sp>
      <p:sp>
        <p:nvSpPr>
          <p:cNvPr id="110" name="Text 108"/>
          <p:cNvSpPr txBox="1"/>
          <p:nvPr/>
        </p:nvSpPr>
        <p:spPr>
          <a:xfrm>
            <a:off x="3641964" y="3308300"/>
            <a:ext cx="620866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교육 활용도</a:t>
            </a:r>
            <a:endParaRPr lang="en-US" sz="825" dirty="0"/>
          </a:p>
        </p:txBody>
      </p:sp>
      <p:sp>
        <p:nvSpPr>
          <p:cNvPr id="111" name="Text 109"/>
          <p:cNvSpPr txBox="1"/>
          <p:nvPr/>
        </p:nvSpPr>
        <p:spPr>
          <a:xfrm>
            <a:off x="4217108" y="3321159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 이용 측정</a:t>
            </a:r>
            <a:endParaRPr lang="en-US" sz="683" dirty="0"/>
          </a:p>
        </p:txBody>
      </p:sp>
      <p:sp>
        <p:nvSpPr>
          <p:cNvPr id="112" name="Text 110"/>
          <p:cNvSpPr txBox="1"/>
          <p:nvPr/>
        </p:nvSpPr>
        <p:spPr>
          <a:xfrm>
            <a:off x="3641964" y="3724409"/>
            <a:ext cx="903408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휴가 · 복지 활용도</a:t>
            </a:r>
            <a:endParaRPr lang="en-US" sz="825" dirty="0"/>
          </a:p>
        </p:txBody>
      </p:sp>
      <p:sp>
        <p:nvSpPr>
          <p:cNvPr id="113" name="Text 111"/>
          <p:cNvSpPr txBox="1"/>
          <p:nvPr/>
        </p:nvSpPr>
        <p:spPr>
          <a:xfrm>
            <a:off x="4499650" y="3737268"/>
            <a:ext cx="63275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제도 이용 측정</a:t>
            </a:r>
            <a:endParaRPr lang="en-US" sz="683" dirty="0"/>
          </a:p>
        </p:txBody>
      </p:sp>
      <p:sp>
        <p:nvSpPr>
          <p:cNvPr id="114" name="Text 112"/>
          <p:cNvSpPr txBox="1"/>
          <p:nvPr/>
        </p:nvSpPr>
        <p:spPr>
          <a:xfrm>
            <a:off x="3641964" y="4140518"/>
            <a:ext cx="1203324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피크임금 · 정년 도래 예측</a:t>
            </a:r>
            <a:endParaRPr lang="en-US" sz="825" dirty="0"/>
          </a:p>
        </p:txBody>
      </p:sp>
      <p:sp>
        <p:nvSpPr>
          <p:cNvPr id="115" name="Text 113"/>
          <p:cNvSpPr txBox="1"/>
          <p:nvPr/>
        </p:nvSpPr>
        <p:spPr>
          <a:xfrm>
            <a:off x="4799566" y="4153377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임박 인원 목록 추출</a:t>
            </a:r>
            <a:endParaRPr lang="en-US" sz="683" dirty="0"/>
          </a:p>
        </p:txBody>
      </p:sp>
      <p:sp>
        <p:nvSpPr>
          <p:cNvPr id="116" name="Text 114"/>
          <p:cNvSpPr txBox="1"/>
          <p:nvPr/>
        </p:nvSpPr>
        <p:spPr>
          <a:xfrm>
            <a:off x="587945" y="4262932"/>
            <a:ext cx="251152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세 곳 모두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민감한 인사 정보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다루는 사업입니다. 부서와</a:t>
            </a:r>
            <a:endParaRPr lang="en-US" sz="810" dirty="0"/>
          </a:p>
        </p:txBody>
      </p:sp>
      <p:sp>
        <p:nvSpPr>
          <p:cNvPr id="117" name="Text 115"/>
          <p:cNvSpPr txBox="1"/>
          <p:nvPr/>
        </p:nvSpPr>
        <p:spPr>
          <a:xfrm>
            <a:off x="587945" y="4422381"/>
            <a:ext cx="249945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권한에 따라 조회 가능한 인원을 제한하는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RLS 설계와 반</a:t>
            </a:r>
            <a:endParaRPr lang="en-US" sz="810" dirty="0"/>
          </a:p>
        </p:txBody>
      </p:sp>
      <p:sp>
        <p:nvSpPr>
          <p:cNvPr id="118" name="Text 116"/>
          <p:cNvSpPr txBox="1"/>
          <p:nvPr/>
        </p:nvSpPr>
        <p:spPr>
          <a:xfrm>
            <a:off x="6034890" y="4515479"/>
            <a:ext cx="353867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</a:t>
            </a:r>
            <a:endParaRPr lang="en-US" sz="705" dirty="0"/>
          </a:p>
        </p:txBody>
      </p:sp>
      <p:sp>
        <p:nvSpPr>
          <p:cNvPr id="119" name="Text 117"/>
          <p:cNvSpPr txBox="1"/>
          <p:nvPr/>
        </p:nvSpPr>
        <p:spPr>
          <a:xfrm>
            <a:off x="6920007" y="4515479"/>
            <a:ext cx="640067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2023~2024</a:t>
            </a:r>
            <a:endParaRPr lang="en-US" sz="705" dirty="0"/>
          </a:p>
        </p:txBody>
      </p:sp>
      <p:sp>
        <p:nvSpPr>
          <p:cNvPr id="120" name="Text 118"/>
          <p:cNvSpPr txBox="1"/>
          <p:nvPr/>
        </p:nvSpPr>
        <p:spPr>
          <a:xfrm>
            <a:off x="7979769" y="4515479"/>
            <a:ext cx="579719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2024~현재</a:t>
            </a:r>
            <a:endParaRPr lang="en-US" sz="705" dirty="0"/>
          </a:p>
        </p:txBody>
      </p:sp>
      <p:sp>
        <p:nvSpPr>
          <p:cNvPr id="121" name="Text 119"/>
          <p:cNvSpPr txBox="1"/>
          <p:nvPr/>
        </p:nvSpPr>
        <p:spPr>
          <a:xfrm>
            <a:off x="3641964" y="4562285"/>
            <a:ext cx="528514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수행 기간</a:t>
            </a:r>
            <a:endParaRPr lang="en-US" sz="825" dirty="0"/>
          </a:p>
        </p:txBody>
      </p:sp>
      <p:sp>
        <p:nvSpPr>
          <p:cNvPr id="122" name="Text 120"/>
          <p:cNvSpPr txBox="1"/>
          <p:nvPr/>
        </p:nvSpPr>
        <p:spPr>
          <a:xfrm>
            <a:off x="587945" y="4581829"/>
            <a:ext cx="129019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포함해 수행했습니다.</a:t>
            </a:r>
            <a:endParaRPr lang="en-US" sz="810" dirty="0"/>
          </a:p>
        </p:txBody>
      </p:sp>
      <p:sp>
        <p:nvSpPr>
          <p:cNvPr id="123" name="Text 121"/>
          <p:cNvSpPr txBox="1"/>
          <p:nvPr/>
        </p:nvSpPr>
        <p:spPr>
          <a:xfrm>
            <a:off x="5779779" y="4635837"/>
            <a:ext cx="865004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구축 · 이후 유지보수</a:t>
            </a:r>
            <a:endParaRPr lang="en-US" sz="705" dirty="0"/>
          </a:p>
        </p:txBody>
      </p:sp>
      <p:sp>
        <p:nvSpPr>
          <p:cNvPr id="124" name="Text 122"/>
          <p:cNvSpPr txBox="1"/>
          <p:nvPr/>
        </p:nvSpPr>
        <p:spPr>
          <a:xfrm>
            <a:off x="6808453" y="4635837"/>
            <a:ext cx="865004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구축 · 이후 유지보수</a:t>
            </a:r>
            <a:endParaRPr lang="en-US" sz="705" dirty="0"/>
          </a:p>
        </p:txBody>
      </p:sp>
      <p:sp>
        <p:nvSpPr>
          <p:cNvPr id="125" name="Text 123"/>
          <p:cNvSpPr txBox="1"/>
          <p:nvPr/>
        </p:nvSpPr>
        <p:spPr>
          <a:xfrm>
            <a:off x="7997143" y="4635837"/>
            <a:ext cx="544058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4차 진행 중</a:t>
            </a:r>
            <a:endParaRPr lang="en-US" sz="705" dirty="0"/>
          </a:p>
        </p:txBody>
      </p:sp>
      <p:sp>
        <p:nvSpPr>
          <p:cNvPr id="126" name="Text 124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- 8 -</a:t>
            </a:r>
            <a:endParaRPr lang="en-US" sz="705" dirty="0"/>
          </a:p>
        </p:txBody>
      </p:sp>
      <p:sp>
        <p:nvSpPr>
          <p:cNvPr id="127" name="Text 12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224153"/>
            <a:ext cx="506564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4646638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726344" y="4646638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7" name="Shape 5"/>
          <p:cNvSpPr/>
          <p:nvPr/>
        </p:nvSpPr>
        <p:spPr>
          <a:xfrm>
            <a:off x="2926921" y="4646638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59994" y="1224154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91665" y="1332682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659994" y="216130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91665" y="2269827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9994" y="309793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1665" y="3206458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59994" y="4035076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0F172A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665" y="4143604"/>
            <a:ext cx="239567" cy="23968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773330" y="1844890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36286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5536" y="2117041"/>
            <a:ext cx="361307" cy="136076"/>
          </a:xfrm>
          <a:custGeom>
            <a:avLst/>
            <a:gdLst/>
            <a:ahLst/>
            <a:cxnLst/>
            <a:rect l="l" t="t" r="r" b="b"/>
            <a:pathLst>
              <a:path w="481742" h="181434">
                <a:moveTo>
                  <a:pt x="481742" y="0"/>
                </a:moveTo>
                <a:lnTo>
                  <a:pt x="0" y="181434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5672" y="1742833"/>
            <a:ext cx="111171" cy="374207"/>
          </a:xfrm>
          <a:custGeom>
            <a:avLst/>
            <a:gdLst/>
            <a:ahLst/>
            <a:cxnLst/>
            <a:rect l="l" t="t" r="r" b="b"/>
            <a:pathLst>
              <a:path w="148228" h="498943">
                <a:moveTo>
                  <a:pt x="148228" y="498943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6816" y="2055808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45536" y="1810871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7743" y="221909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2" name="Shape 20"/>
          <p:cNvSpPr/>
          <p:nvPr/>
        </p:nvSpPr>
        <p:spPr>
          <a:xfrm>
            <a:off x="967879" y="1708815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664323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0" y="317509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4323" y="2049003"/>
            <a:ext cx="305721" cy="238132"/>
          </a:xfrm>
          <a:custGeom>
            <a:avLst/>
            <a:gdLst/>
            <a:ahLst/>
            <a:cxnLst/>
            <a:rect l="l" t="t" r="r" b="b"/>
            <a:pathLst>
              <a:path w="407628" h="317509">
                <a:moveTo>
                  <a:pt x="0" y="0"/>
                </a:moveTo>
                <a:lnTo>
                  <a:pt x="407628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30809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444685" y="317509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4296" y="1987770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7" name="Shape 25"/>
          <p:cNvSpPr/>
          <p:nvPr/>
        </p:nvSpPr>
        <p:spPr>
          <a:xfrm>
            <a:off x="4970044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42251" y="225311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9" name="Shape 27"/>
          <p:cNvSpPr/>
          <p:nvPr/>
        </p:nvSpPr>
        <p:spPr>
          <a:xfrm>
            <a:off x="4303016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0" name="Shape 28"/>
          <p:cNvSpPr/>
          <p:nvPr/>
        </p:nvSpPr>
        <p:spPr>
          <a:xfrm>
            <a:off x="4831080" y="3817985"/>
            <a:ext cx="250136" cy="272151"/>
          </a:xfrm>
          <a:custGeom>
            <a:avLst/>
            <a:gdLst/>
            <a:ahLst/>
            <a:cxnLst/>
            <a:rect l="l" t="t" r="r" b="b"/>
            <a:pathLst>
              <a:path w="333514" h="362868">
                <a:moveTo>
                  <a:pt x="0" y="36286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31081" y="4090135"/>
            <a:ext cx="277928" cy="238132"/>
          </a:xfrm>
          <a:custGeom>
            <a:avLst/>
            <a:gdLst/>
            <a:ahLst/>
            <a:cxnLst/>
            <a:rect l="l" t="t" r="r" b="b"/>
            <a:pathLst>
              <a:path w="370571" h="317509">
                <a:moveTo>
                  <a:pt x="0" y="0"/>
                </a:moveTo>
                <a:lnTo>
                  <a:pt x="370571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97567" y="4090135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0"/>
                </a:moveTo>
                <a:lnTo>
                  <a:pt x="0" y="362868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81053" y="4028902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3422" y="3783966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5" name="Shape 33"/>
          <p:cNvSpPr/>
          <p:nvPr/>
        </p:nvSpPr>
        <p:spPr>
          <a:xfrm>
            <a:off x="5081215" y="429424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6" name="Shape 34"/>
          <p:cNvSpPr/>
          <p:nvPr/>
        </p:nvSpPr>
        <p:spPr>
          <a:xfrm>
            <a:off x="4469773" y="432826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44193" y="2479158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8" name="Text 36"/>
          <p:cNvSpPr txBox="1"/>
          <p:nvPr/>
        </p:nvSpPr>
        <p:spPr>
          <a:xfrm>
            <a:off x="4501673" y="2451366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668430" y="3702029"/>
            <a:ext cx="236861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0" name="Shape 38"/>
          <p:cNvSpPr/>
          <p:nvPr/>
        </p:nvSpPr>
        <p:spPr>
          <a:xfrm>
            <a:off x="1440357" y="2525267"/>
            <a:ext cx="667028" cy="578321"/>
          </a:xfrm>
          <a:custGeom>
            <a:avLst/>
            <a:gdLst/>
            <a:ahLst/>
            <a:cxnLst/>
            <a:rect l="l" t="t" r="r" b="b"/>
            <a:pathLst>
              <a:path w="889370" h="771094">
                <a:moveTo>
                  <a:pt x="0" y="771094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40357" y="3273683"/>
            <a:ext cx="667028" cy="544302"/>
          </a:xfrm>
          <a:custGeom>
            <a:avLst/>
            <a:gdLst/>
            <a:ahLst/>
            <a:cxnLst/>
            <a:rect l="l" t="t" r="r" b="b"/>
            <a:pathLst>
              <a:path w="889370" h="725736">
                <a:moveTo>
                  <a:pt x="0" y="0"/>
                </a:moveTo>
                <a:lnTo>
                  <a:pt x="889370" y="725736"/>
                </a:lnTo>
              </a:path>
            </a:pathLst>
          </a:custGeom>
          <a:solidFill>
            <a:srgbClr val="000000"/>
          </a:solidFill>
          <a:ln w="16483">
            <a:solidFill>
              <a:srgbClr val="7C6F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57520" y="2185079"/>
            <a:ext cx="694820" cy="258544"/>
          </a:xfrm>
          <a:custGeom>
            <a:avLst/>
            <a:gdLst/>
            <a:ahLst/>
            <a:cxnLst/>
            <a:rect l="l" t="t" r="r" b="b"/>
            <a:pathLst>
              <a:path w="926427" h="344725">
                <a:moveTo>
                  <a:pt x="0" y="344725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7520" y="2593305"/>
            <a:ext cx="694820" cy="306170"/>
          </a:xfrm>
          <a:custGeom>
            <a:avLst/>
            <a:gdLst/>
            <a:ahLst/>
            <a:cxnLst/>
            <a:rect l="l" t="t" r="r" b="b"/>
            <a:pathLst>
              <a:path w="926427" h="408226">
                <a:moveTo>
                  <a:pt x="0" y="0"/>
                </a:moveTo>
                <a:lnTo>
                  <a:pt x="926427" y="408226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7520" y="3681910"/>
            <a:ext cx="694820" cy="204113"/>
          </a:xfrm>
          <a:custGeom>
            <a:avLst/>
            <a:gdLst/>
            <a:ahLst/>
            <a:cxnLst/>
            <a:rect l="l" t="t" r="r" b="b"/>
            <a:pathLst>
              <a:path w="926427" h="272151">
                <a:moveTo>
                  <a:pt x="0" y="272151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7C6FD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74682" y="2185079"/>
            <a:ext cx="722613" cy="476264"/>
          </a:xfrm>
          <a:custGeom>
            <a:avLst/>
            <a:gdLst/>
            <a:ahLst/>
            <a:cxnLst/>
            <a:rect l="l" t="t" r="r" b="b"/>
            <a:pathLst>
              <a:path w="963484" h="635019">
                <a:moveTo>
                  <a:pt x="0" y="0"/>
                </a:moveTo>
                <a:lnTo>
                  <a:pt x="963484" y="635019"/>
                </a:lnTo>
              </a:path>
            </a:pathLst>
          </a:custGeom>
          <a:solidFill>
            <a:srgbClr val="000000"/>
          </a:solidFill>
          <a:ln w="11538">
            <a:solidFill>
              <a:srgbClr val="2563EB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346944" y="3702321"/>
            <a:ext cx="661469" cy="197309"/>
          </a:xfrm>
          <a:custGeom>
            <a:avLst/>
            <a:gdLst/>
            <a:ahLst/>
            <a:cxnLst/>
            <a:rect l="l" t="t" r="r" b="b"/>
            <a:pathLst>
              <a:path w="881959" h="263079">
                <a:moveTo>
                  <a:pt x="0" y="0"/>
                </a:moveTo>
                <a:lnTo>
                  <a:pt x="881959" y="263079"/>
                </a:lnTo>
              </a:path>
            </a:pathLst>
          </a:custGeom>
          <a:solidFill>
            <a:srgbClr val="000000"/>
          </a:solidFill>
          <a:ln w="11538">
            <a:solidFill>
              <a:srgbClr val="F59E0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2507601" y="2225901"/>
            <a:ext cx="422451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565607" y="2418484"/>
            <a:ext cx="31014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49" name="Shape 47"/>
          <p:cNvSpPr/>
          <p:nvPr/>
        </p:nvSpPr>
        <p:spPr>
          <a:xfrm>
            <a:off x="2440898" y="3627479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7C6F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97226" y="3563535"/>
            <a:ext cx="42469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1" name="Shape 49"/>
          <p:cNvSpPr/>
          <p:nvPr/>
        </p:nvSpPr>
        <p:spPr>
          <a:xfrm>
            <a:off x="3419205" y="2334762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2563E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471702" y="2501705"/>
            <a:ext cx="428628" cy="68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3" name="Shape 51"/>
          <p:cNvSpPr/>
          <p:nvPr/>
        </p:nvSpPr>
        <p:spPr>
          <a:xfrm>
            <a:off x="3369178" y="3702321"/>
            <a:ext cx="600325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14005" y="3624680"/>
            <a:ext cx="510671" cy="57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5" name="Shape 53"/>
          <p:cNvSpPr/>
          <p:nvPr/>
        </p:nvSpPr>
        <p:spPr>
          <a:xfrm>
            <a:off x="539870" y="2865456"/>
            <a:ext cx="944956" cy="612340"/>
          </a:xfrm>
          <a:prstGeom prst="roundRect">
            <a:avLst>
              <a:gd name="adj" fmla="val 12113"/>
            </a:avLst>
          </a:prstGeom>
          <a:solidFill>
            <a:srgbClr val="0F172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12440" y="3018332"/>
            <a:ext cx="40198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7" name="Text 55"/>
          <p:cNvSpPr txBox="1"/>
          <p:nvPr/>
        </p:nvSpPr>
        <p:spPr>
          <a:xfrm>
            <a:off x="577714" y="3129346"/>
            <a:ext cx="87222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8" name="Text 56"/>
          <p:cNvSpPr txBox="1"/>
          <p:nvPr/>
        </p:nvSpPr>
        <p:spPr>
          <a:xfrm>
            <a:off x="551349" y="3234957"/>
            <a:ext cx="92199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59" name="Shape 57"/>
          <p:cNvSpPr/>
          <p:nvPr/>
        </p:nvSpPr>
        <p:spPr>
          <a:xfrm>
            <a:off x="2040682" y="2280332"/>
            <a:ext cx="377982" cy="46265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018141" y="2523470"/>
            <a:ext cx="42313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1" name="Text 59"/>
          <p:cNvSpPr txBox="1"/>
          <p:nvPr/>
        </p:nvSpPr>
        <p:spPr>
          <a:xfrm>
            <a:off x="2155699" y="2629394"/>
            <a:ext cx="147948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2" name="Shape 60"/>
          <p:cNvSpPr/>
          <p:nvPr/>
        </p:nvSpPr>
        <p:spPr>
          <a:xfrm>
            <a:off x="2040682" y="3654694"/>
            <a:ext cx="377982" cy="46265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100669" y="3646288"/>
            <a:ext cx="263116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4" name="Text 62"/>
          <p:cNvSpPr txBox="1"/>
          <p:nvPr/>
        </p:nvSpPr>
        <p:spPr>
          <a:xfrm>
            <a:off x="2155699" y="3752212"/>
            <a:ext cx="151694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5" name="Shape 63"/>
          <p:cNvSpPr/>
          <p:nvPr/>
        </p:nvSpPr>
        <p:spPr>
          <a:xfrm>
            <a:off x="3018989" y="1940143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60830" y="2223467"/>
            <a:ext cx="22759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7" name="Text 65"/>
          <p:cNvSpPr txBox="1"/>
          <p:nvPr/>
        </p:nvSpPr>
        <p:spPr>
          <a:xfrm>
            <a:off x="3103021" y="2318275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8" name="Shape 66"/>
          <p:cNvSpPr/>
          <p:nvPr/>
        </p:nvSpPr>
        <p:spPr>
          <a:xfrm>
            <a:off x="3018989" y="2756596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060559" y="2890487"/>
            <a:ext cx="23030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0" name="Text 68"/>
          <p:cNvSpPr txBox="1"/>
          <p:nvPr/>
        </p:nvSpPr>
        <p:spPr>
          <a:xfrm>
            <a:off x="3100252" y="2985295"/>
            <a:ext cx="149660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1" name="Shape 69"/>
          <p:cNvSpPr/>
          <p:nvPr/>
        </p:nvSpPr>
        <p:spPr>
          <a:xfrm>
            <a:off x="3002313" y="3470992"/>
            <a:ext cx="344631" cy="421834"/>
          </a:xfrm>
          <a:prstGeom prst="ellipse">
            <a:avLst/>
          </a:prstGeom>
          <a:solidFill>
            <a:srgbClr val="FFFFFF"/>
          </a:solidFill>
          <a:ln w="16483">
            <a:solidFill>
              <a:srgbClr val="7C6FD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991122" y="3490806"/>
            <a:ext cx="36701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3" name="Text 71"/>
          <p:cNvSpPr txBox="1"/>
          <p:nvPr/>
        </p:nvSpPr>
        <p:spPr>
          <a:xfrm>
            <a:off x="2983470" y="3585614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4" name="Shape 72"/>
          <p:cNvSpPr/>
          <p:nvPr/>
        </p:nvSpPr>
        <p:spPr>
          <a:xfrm>
            <a:off x="3997296" y="2525268"/>
            <a:ext cx="311279" cy="381011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051636" y="2701498"/>
            <a:ext cx="20259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6" name="Text 74"/>
          <p:cNvSpPr txBox="1"/>
          <p:nvPr/>
        </p:nvSpPr>
        <p:spPr>
          <a:xfrm>
            <a:off x="4081327" y="2796306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7" name="Shape 75"/>
          <p:cNvSpPr/>
          <p:nvPr/>
        </p:nvSpPr>
        <p:spPr>
          <a:xfrm>
            <a:off x="3997296" y="3722732"/>
            <a:ext cx="355748" cy="435442"/>
          </a:xfrm>
          <a:prstGeom prst="ellipse">
            <a:avLst/>
          </a:prstGeom>
          <a:solidFill>
            <a:srgbClr val="FFFFFF"/>
          </a:solidFill>
          <a:ln w="16483">
            <a:solidFill>
              <a:srgbClr val="F59E0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91284" y="3707744"/>
            <a:ext cx="369025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79" name="Text 77"/>
          <p:cNvSpPr txBox="1"/>
          <p:nvPr/>
        </p:nvSpPr>
        <p:spPr>
          <a:xfrm>
            <a:off x="3984011" y="3796836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0" name="Shape 78"/>
          <p:cNvSpPr/>
          <p:nvPr/>
        </p:nvSpPr>
        <p:spPr>
          <a:xfrm>
            <a:off x="3246890" y="1933339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1" name="Shape 79"/>
          <p:cNvSpPr/>
          <p:nvPr/>
        </p:nvSpPr>
        <p:spPr>
          <a:xfrm>
            <a:off x="3246890" y="2749792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2" name="Shape 80"/>
          <p:cNvSpPr/>
          <p:nvPr/>
        </p:nvSpPr>
        <p:spPr>
          <a:xfrm>
            <a:off x="3246890" y="3484600"/>
            <a:ext cx="100054" cy="122468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83" name="Shape 81"/>
          <p:cNvSpPr/>
          <p:nvPr/>
        </p:nvSpPr>
        <p:spPr>
          <a:xfrm>
            <a:off x="4225197" y="2518464"/>
            <a:ext cx="100054" cy="1224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4" name="Shape 82"/>
          <p:cNvSpPr/>
          <p:nvPr/>
        </p:nvSpPr>
        <p:spPr>
          <a:xfrm>
            <a:off x="3277462" y="1974161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277462" y="2790614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77462" y="3525422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255769" y="2559286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89" name="Text 87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677913"/>
            <a:ext cx="768040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</a:t>
            </a:r>
            <a:endParaRPr lang="en-US" sz="975" dirty="0"/>
          </a:p>
        </p:txBody>
      </p:sp>
      <p:sp>
        <p:nvSpPr>
          <p:cNvPr id="91" name="Text 89"/>
          <p:cNvSpPr txBox="1"/>
          <p:nvPr/>
        </p:nvSpPr>
        <p:spPr>
          <a:xfrm>
            <a:off x="297173" y="881596"/>
            <a:ext cx="288367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프로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잘하는 분석에 집중시킵니다.</a:t>
            </a:r>
            <a:endParaRPr lang="en-US" sz="975" dirty="0"/>
          </a:p>
        </p:txBody>
      </p:sp>
      <p:sp>
        <p:nvSpPr>
          <p:cNvPr id="92" name="Text 90"/>
          <p:cNvSpPr txBox="1"/>
          <p:nvPr/>
        </p:nvSpPr>
        <p:spPr>
          <a:xfrm>
            <a:off x="6145529" y="1322908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93" name="Text 91"/>
          <p:cNvSpPr txBox="1"/>
          <p:nvPr/>
        </p:nvSpPr>
        <p:spPr>
          <a:xfrm>
            <a:off x="439816" y="1335768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94" name="Text 92"/>
          <p:cNvSpPr txBox="1"/>
          <p:nvPr/>
        </p:nvSpPr>
        <p:spPr>
          <a:xfrm>
            <a:off x="5884018" y="1368686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95" name="Text 93"/>
          <p:cNvSpPr txBox="1"/>
          <p:nvPr/>
        </p:nvSpPr>
        <p:spPr>
          <a:xfrm>
            <a:off x="439816" y="1478757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96" name="Text 94"/>
          <p:cNvSpPr txBox="1"/>
          <p:nvPr/>
        </p:nvSpPr>
        <p:spPr>
          <a:xfrm>
            <a:off x="6145528" y="1516818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97" name="Text 95"/>
          <p:cNvSpPr txBox="1"/>
          <p:nvPr/>
        </p:nvSpPr>
        <p:spPr>
          <a:xfrm>
            <a:off x="6145529" y="1685011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45529" y="2260054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99" name="Text 97"/>
          <p:cNvSpPr txBox="1"/>
          <p:nvPr/>
        </p:nvSpPr>
        <p:spPr>
          <a:xfrm>
            <a:off x="5875787" y="2305317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0" name="Text 98"/>
          <p:cNvSpPr txBox="1"/>
          <p:nvPr/>
        </p:nvSpPr>
        <p:spPr>
          <a:xfrm>
            <a:off x="6145529" y="245396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6145529" y="2622156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6145529" y="3197200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03" name="Text 101"/>
          <p:cNvSpPr txBox="1"/>
          <p:nvPr/>
        </p:nvSpPr>
        <p:spPr>
          <a:xfrm>
            <a:off x="5874873" y="3242463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3391110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3559302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6145529" y="4133831"/>
            <a:ext cx="192613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검증은 지식 그래프가, 분석은 AI가</a:t>
            </a:r>
            <a:endParaRPr lang="en-US" sz="1005" dirty="0"/>
          </a:p>
        </p:txBody>
      </p:sp>
      <p:sp>
        <p:nvSpPr>
          <p:cNvPr id="107" name="Text 105"/>
          <p:cNvSpPr txBox="1"/>
          <p:nvPr/>
        </p:nvSpPr>
        <p:spPr>
          <a:xfrm>
            <a:off x="5856586" y="4179609"/>
            <a:ext cx="24597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✓</a:t>
            </a:r>
            <a:endParaRPr lang="en-US" sz="94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4327741"/>
            <a:ext cx="275392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4495934"/>
            <a:ext cx="163344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r>
              <a:rPr lang="en-US" sz="85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각자 잘하는 일에 집중</a:t>
            </a:r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571486" y="4621435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1" name="Text 109"/>
          <p:cNvSpPr txBox="1"/>
          <p:nvPr/>
        </p:nvSpPr>
        <p:spPr>
          <a:xfrm>
            <a:off x="1857100" y="4621435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2" name="Text 110"/>
          <p:cNvSpPr txBox="1"/>
          <p:nvPr/>
        </p:nvSpPr>
        <p:spPr>
          <a:xfrm>
            <a:off x="3058591" y="4621435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3" name="Text 111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224154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97164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97156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98062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2185987"/>
            <a:ext cx="8549426" cy="2660219"/>
          </a:xfrm>
          <a:prstGeom prst="roundRect">
            <a:avLst>
              <a:gd name="adj" fmla="val 4296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9816" y="2083118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451703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</p:sp>
      <p:sp>
        <p:nvSpPr>
          <p:cNvPr id="11" name="Shape 9"/>
          <p:cNvSpPr/>
          <p:nvPr/>
        </p:nvSpPr>
        <p:spPr>
          <a:xfrm>
            <a:off x="451703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590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1703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702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0198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2550198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531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0198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0198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703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</p:sp>
      <p:sp>
        <p:nvSpPr>
          <p:cNvPr id="21" name="Shape 19"/>
          <p:cNvSpPr/>
          <p:nvPr/>
        </p:nvSpPr>
        <p:spPr>
          <a:xfrm>
            <a:off x="451703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3590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1702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0198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50198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3531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0198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32484" y="2362924"/>
            <a:ext cx="3859586" cy="2352122"/>
          </a:xfrm>
          <a:prstGeom prst="roundRect">
            <a:avLst>
              <a:gd name="adj" fmla="val 413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1147" y="1348819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5976" y="1348819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5976" y="1378008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55008" y="1378008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30808" y="1343954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9193" y="1343954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025959" y="1343954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5959" y="1392603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25959" y="1358549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63821" y="3281810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72355" y="3317986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38219" y="3137107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4" name="Text 42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5" name="Text 43"/>
          <p:cNvSpPr txBox="1"/>
          <p:nvPr/>
        </p:nvSpPr>
        <p:spPr>
          <a:xfrm>
            <a:off x="297172" y="677913"/>
            <a:ext cx="778903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881596"/>
            <a:ext cx="290579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이아웃, 복잡한 표(Table) 구조의 맥락까지 파싱합니다.</a:t>
            </a:r>
            <a:endParaRPr lang="en-US" sz="975" dirty="0"/>
          </a:p>
        </p:txBody>
      </p:sp>
      <p:sp>
        <p:nvSpPr>
          <p:cNvPr id="47" name="Text 45"/>
          <p:cNvSpPr txBox="1"/>
          <p:nvPr/>
        </p:nvSpPr>
        <p:spPr>
          <a:xfrm>
            <a:off x="585202" y="1311079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2785193" y="1311079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49" name="Text 47"/>
          <p:cNvSpPr txBox="1"/>
          <p:nvPr/>
        </p:nvSpPr>
        <p:spPr>
          <a:xfrm>
            <a:off x="4985184" y="1311079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7185175" y="1311079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11470" y="1507560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2" name="Text 50"/>
          <p:cNvSpPr txBox="1"/>
          <p:nvPr/>
        </p:nvSpPr>
        <p:spPr>
          <a:xfrm>
            <a:off x="2611461" y="1507560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3" name="Text 51"/>
          <p:cNvSpPr txBox="1"/>
          <p:nvPr/>
        </p:nvSpPr>
        <p:spPr>
          <a:xfrm>
            <a:off x="4811453" y="1507560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7011444" y="1507560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2353607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53599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753590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11470" y="1654665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59" name="Text 57"/>
          <p:cNvSpPr txBox="1"/>
          <p:nvPr/>
        </p:nvSpPr>
        <p:spPr>
          <a:xfrm>
            <a:off x="2611462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0" name="Text 58"/>
          <p:cNvSpPr txBox="1"/>
          <p:nvPr/>
        </p:nvSpPr>
        <p:spPr>
          <a:xfrm>
            <a:off x="4811453" y="1654665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7011445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11470" y="1802283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2611461" y="1802283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811452" y="1802283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7011445" y="1802283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565086" y="2114494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7" name="Text 65"/>
          <p:cNvSpPr txBox="1"/>
          <p:nvPr/>
        </p:nvSpPr>
        <p:spPr>
          <a:xfrm>
            <a:off x="576972" y="2446763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68" name="Text 66"/>
          <p:cNvSpPr txBox="1"/>
          <p:nvPr/>
        </p:nvSpPr>
        <p:spPr>
          <a:xfrm>
            <a:off x="2676382" y="2446763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630386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630386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775948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775948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271384" y="3017692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4" name="Text 72"/>
          <p:cNvSpPr txBox="1"/>
          <p:nvPr/>
        </p:nvSpPr>
        <p:spPr>
          <a:xfrm>
            <a:off x="5271385" y="3222403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5" name="Text 73"/>
          <p:cNvSpPr txBox="1"/>
          <p:nvPr/>
        </p:nvSpPr>
        <p:spPr>
          <a:xfrm>
            <a:off x="4987013" y="3500152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576972" y="3607136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7" name="Text 75"/>
          <p:cNvSpPr txBox="1"/>
          <p:nvPr/>
        </p:nvSpPr>
        <p:spPr>
          <a:xfrm>
            <a:off x="2676382" y="3607136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78" name="Text 76"/>
          <p:cNvSpPr txBox="1"/>
          <p:nvPr/>
        </p:nvSpPr>
        <p:spPr>
          <a:xfrm>
            <a:off x="4987013" y="3684803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576972" y="3790245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0" name="Text 78"/>
          <p:cNvSpPr txBox="1"/>
          <p:nvPr/>
        </p:nvSpPr>
        <p:spPr>
          <a:xfrm>
            <a:off x="2676382" y="3790245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1" name="Text 79"/>
          <p:cNvSpPr txBox="1"/>
          <p:nvPr/>
        </p:nvSpPr>
        <p:spPr>
          <a:xfrm>
            <a:off x="4987013" y="3869455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576972" y="3936321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2676382" y="3936321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4081882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4081882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224153"/>
            <a:ext cx="500072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41805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43793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9816" y="2754344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</p:sp>
      <p:sp>
        <p:nvSpPr>
          <p:cNvPr id="9" name="Shape 7"/>
          <p:cNvSpPr/>
          <p:nvPr/>
        </p:nvSpPr>
        <p:spPr>
          <a:xfrm>
            <a:off x="2804395" y="2822753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71557" y="2822753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64656" y="2822753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9816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39816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50367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816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9816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1253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1253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65" y="4294823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64" y="4294823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41805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041805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52355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41805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41804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33241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33242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2388354" y="4294823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8353" y="4294823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43793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3643793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55258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3793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43793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35231" y="3922948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5231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90342" y="4294823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3990343" y="4294823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9" name="Shape 37"/>
          <p:cNvSpPr/>
          <p:nvPr/>
        </p:nvSpPr>
        <p:spPr>
          <a:xfrm>
            <a:off x="5595074" y="1224153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5830" y="133268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95074" y="2260568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25830" y="2369097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95074" y="3296984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25830" y="340551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5074" y="4333399"/>
            <a:ext cx="3251525" cy="512807"/>
          </a:xfrm>
          <a:prstGeom prst="roundRect">
            <a:avLst>
              <a:gd name="adj" fmla="val 189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1027" y="2074245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1027" y="2102791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9601" y="210279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153016" y="2069072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54301" y="2093086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95877" y="2117065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60681" y="206948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08305" y="2069487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84493" y="2131338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1661" y="2905564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5434" y="2905564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6310" y="2850026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2709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2709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4883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214697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4697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36871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816686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816686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838860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46527" y="1475156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69387" y="1475156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02922" y="1422017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812238" y="2460265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846527" y="2562877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869387" y="2540075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817954" y="3542285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840812" y="3490980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736193" y="4466101"/>
            <a:ext cx="59739" cy="60008"/>
          </a:xfrm>
          <a:custGeom>
            <a:avLst/>
            <a:gdLst/>
            <a:ahLst/>
            <a:cxnLst/>
            <a:rect l="l" t="t" r="r" b="b"/>
            <a:pathLst>
              <a:path w="79652" h="80010">
                <a:moveTo>
                  <a:pt x="39826" y="0"/>
                </a:moveTo>
                <a:lnTo>
                  <a:pt x="50636" y="29146"/>
                </a:lnTo>
                <a:lnTo>
                  <a:pt x="79652" y="40005"/>
                </a:lnTo>
                <a:lnTo>
                  <a:pt x="50636" y="50864"/>
                </a:lnTo>
                <a:lnTo>
                  <a:pt x="39826" y="80010"/>
                </a:lnTo>
                <a:lnTo>
                  <a:pt x="29016" y="50864"/>
                </a:lnTo>
                <a:lnTo>
                  <a:pt x="0" y="40005"/>
                </a:lnTo>
                <a:lnTo>
                  <a:pt x="29016" y="29146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783131" y="4521822"/>
            <a:ext cx="25603" cy="25718"/>
          </a:xfrm>
          <a:custGeom>
            <a:avLst/>
            <a:gdLst/>
            <a:ahLst/>
            <a:cxnLst/>
            <a:rect l="l" t="t" r="r" b="b"/>
            <a:pathLst>
              <a:path w="34137" h="34290">
                <a:moveTo>
                  <a:pt x="17068" y="0"/>
                </a:moveTo>
                <a:lnTo>
                  <a:pt x="21620" y="12573"/>
                </a:lnTo>
                <a:lnTo>
                  <a:pt x="34137" y="17145"/>
                </a:lnTo>
                <a:lnTo>
                  <a:pt x="21620" y="21717"/>
                </a:lnTo>
                <a:lnTo>
                  <a:pt x="17068" y="34290"/>
                </a:lnTo>
                <a:lnTo>
                  <a:pt x="12517" y="21717"/>
                </a:lnTo>
                <a:lnTo>
                  <a:pt x="0" y="17145"/>
                </a:lnTo>
                <a:lnTo>
                  <a:pt x="12517" y="12573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78" name="Text 76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297173" y="677913"/>
            <a:ext cx="767738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</a:t>
            </a:r>
            <a:endParaRPr lang="en-US" sz="975" dirty="0"/>
          </a:p>
        </p:txBody>
      </p:sp>
      <p:sp>
        <p:nvSpPr>
          <p:cNvPr id="80" name="Text 78"/>
          <p:cNvSpPr txBox="1"/>
          <p:nvPr/>
        </p:nvSpPr>
        <p:spPr>
          <a:xfrm>
            <a:off x="297172" y="881596"/>
            <a:ext cx="179035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일링스톤 자체 배포 플랫폼입니다.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6126328" y="1322908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2" name="Text 80"/>
          <p:cNvSpPr txBox="1"/>
          <p:nvPr/>
        </p:nvSpPr>
        <p:spPr>
          <a:xfrm>
            <a:off x="439816" y="1335768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6126327" y="1516818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4" name="Text 82"/>
          <p:cNvSpPr txBox="1"/>
          <p:nvPr/>
        </p:nvSpPr>
        <p:spPr>
          <a:xfrm>
            <a:off x="439816" y="1643349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6126328" y="1685011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6" name="Text 84"/>
          <p:cNvSpPr txBox="1"/>
          <p:nvPr/>
        </p:nvSpPr>
        <p:spPr>
          <a:xfrm>
            <a:off x="6126328" y="1853203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714128" y="199773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2316117" y="199773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3918106" y="199773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212632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2316118" y="212632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212632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3" name="Text 91"/>
          <p:cNvSpPr txBox="1"/>
          <p:nvPr/>
        </p:nvSpPr>
        <p:spPr>
          <a:xfrm>
            <a:off x="6126327" y="2359324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94" name="Text 92"/>
          <p:cNvSpPr txBox="1"/>
          <p:nvPr/>
        </p:nvSpPr>
        <p:spPr>
          <a:xfrm>
            <a:off x="11832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5" name="Text 93"/>
          <p:cNvSpPr txBox="1"/>
          <p:nvPr/>
        </p:nvSpPr>
        <p:spPr>
          <a:xfrm>
            <a:off x="27541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6" name="Text 94"/>
          <p:cNvSpPr txBox="1"/>
          <p:nvPr/>
        </p:nvSpPr>
        <p:spPr>
          <a:xfrm>
            <a:off x="4325918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6126327" y="255323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26327" y="2721426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754362" y="2819153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0" name="Text 98"/>
          <p:cNvSpPr txBox="1"/>
          <p:nvPr/>
        </p:nvSpPr>
        <p:spPr>
          <a:xfrm>
            <a:off x="2883946" y="2846413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3651108" y="2846413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4344206" y="2846413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6126328" y="2890133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11832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5" name="Text 103"/>
          <p:cNvSpPr txBox="1"/>
          <p:nvPr/>
        </p:nvSpPr>
        <p:spPr>
          <a:xfrm>
            <a:off x="27541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6" name="Text 104"/>
          <p:cNvSpPr txBox="1"/>
          <p:nvPr/>
        </p:nvSpPr>
        <p:spPr>
          <a:xfrm>
            <a:off x="4325918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6126327" y="3395739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08" name="Text 106"/>
          <p:cNvSpPr txBox="1"/>
          <p:nvPr/>
        </p:nvSpPr>
        <p:spPr>
          <a:xfrm>
            <a:off x="439816" y="3561874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7" y="3589649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6126327" y="375835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926548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941464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941464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941464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4116858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4116858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4116858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531253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19" name="Text 117"/>
          <p:cNvSpPr txBox="1"/>
          <p:nvPr/>
        </p:nvSpPr>
        <p:spPr>
          <a:xfrm>
            <a:off x="1687940" y="4258818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2133242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3293587" y="4258818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735231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4907462" y="4258818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5885846" y="4428039"/>
            <a:ext cx="3124061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</a:t>
            </a:r>
            <a:endParaRPr lang="en-US" sz="810" dirty="0"/>
          </a:p>
        </p:txBody>
      </p:sp>
      <p:sp>
        <p:nvSpPr>
          <p:cNvPr id="125" name="Text 123"/>
          <p:cNvSpPr txBox="1"/>
          <p:nvPr/>
        </p:nvSpPr>
        <p:spPr>
          <a:xfrm>
            <a:off x="5885846" y="4587487"/>
            <a:ext cx="204281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람은 늘어나도, 관리는 한곳에서 이루어집니다.</a:t>
            </a:r>
            <a:endParaRPr lang="en-US" sz="810" dirty="0"/>
          </a:p>
        </p:txBody>
      </p:sp>
      <p:sp>
        <p:nvSpPr>
          <p:cNvPr id="126" name="Text 124"/>
          <p:cNvSpPr txBox="1"/>
          <p:nvPr/>
        </p:nvSpPr>
        <p:spPr>
          <a:xfrm>
            <a:off x="839399" y="46168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448445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2518772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7173" y="307066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3486264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3" y="390185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4600861"/>
            <a:ext cx="3660252" cy="24534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4597" y="679971"/>
            <a:ext cx="4592002" cy="2359838"/>
          </a:xfrm>
          <a:prstGeom prst="roundRect">
            <a:avLst>
              <a:gd name="adj" fmla="val 4359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0083" y="685628"/>
            <a:ext cx="4580115" cy="2057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51522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5484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725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4" name="Shape 12"/>
          <p:cNvSpPr/>
          <p:nvPr/>
        </p:nvSpPr>
        <p:spPr>
          <a:xfrm>
            <a:off x="4254597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1951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534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50261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4597" y="3633883"/>
            <a:ext cx="4592002" cy="251517"/>
          </a:xfrm>
          <a:prstGeom prst="roundRect">
            <a:avLst>
              <a:gd name="adj" fmla="val 27266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90338" y="3702291"/>
            <a:ext cx="686" cy="1141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7339" y="4686693"/>
            <a:ext cx="57072" cy="57308"/>
          </a:xfrm>
          <a:custGeom>
            <a:avLst/>
            <a:gdLst/>
            <a:ahLst/>
            <a:cxnLst/>
            <a:rect l="l" t="t" r="r" b="b"/>
            <a:pathLst>
              <a:path w="76096" h="76410">
                <a:moveTo>
                  <a:pt x="38048" y="0"/>
                </a:moveTo>
                <a:lnTo>
                  <a:pt x="48376" y="27835"/>
                </a:lnTo>
                <a:lnTo>
                  <a:pt x="76096" y="38205"/>
                </a:lnTo>
                <a:lnTo>
                  <a:pt x="48376" y="48575"/>
                </a:lnTo>
                <a:lnTo>
                  <a:pt x="38048" y="76410"/>
                </a:lnTo>
                <a:lnTo>
                  <a:pt x="27721" y="48575"/>
                </a:lnTo>
                <a:lnTo>
                  <a:pt x="0" y="38205"/>
                </a:lnTo>
                <a:lnTo>
                  <a:pt x="27721" y="27835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2182" y="4739908"/>
            <a:ext cx="24460" cy="24560"/>
          </a:xfrm>
          <a:custGeom>
            <a:avLst/>
            <a:gdLst/>
            <a:ahLst/>
            <a:cxnLst/>
            <a:rect l="l" t="t" r="r" b="b"/>
            <a:pathLst>
              <a:path w="32613" h="32747">
                <a:moveTo>
                  <a:pt x="16306" y="0"/>
                </a:moveTo>
                <a:lnTo>
                  <a:pt x="20655" y="12007"/>
                </a:lnTo>
                <a:lnTo>
                  <a:pt x="32613" y="16373"/>
                </a:lnTo>
                <a:lnTo>
                  <a:pt x="20655" y="20740"/>
                </a:lnTo>
                <a:lnTo>
                  <a:pt x="16306" y="32747"/>
                </a:lnTo>
                <a:lnTo>
                  <a:pt x="11958" y="20740"/>
                </a:lnTo>
                <a:lnTo>
                  <a:pt x="0" y="16373"/>
                </a:lnTo>
                <a:lnTo>
                  <a:pt x="11958" y="12007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083" y="890855"/>
            <a:ext cx="4580115" cy="2142782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380552" y="3725051"/>
            <a:ext cx="57149" cy="68666"/>
          </a:xfrm>
          <a:custGeom>
            <a:avLst/>
            <a:gdLst/>
            <a:ahLst/>
            <a:cxnLst/>
            <a:rect l="l" t="t" r="r" b="b"/>
            <a:pathLst>
              <a:path w="76198" h="91554">
                <a:moveTo>
                  <a:pt x="38099" y="0"/>
                </a:moveTo>
                <a:lnTo>
                  <a:pt x="76198" y="15259"/>
                </a:lnTo>
                <a:lnTo>
                  <a:pt x="76198" y="43234"/>
                </a:lnTo>
                <a:cubicBezTo>
                  <a:pt x="76198" y="66123"/>
                  <a:pt x="59943" y="83925"/>
                  <a:pt x="38099" y="91554"/>
                </a:cubicBezTo>
                <a:cubicBezTo>
                  <a:pt x="16256" y="83925"/>
                  <a:pt x="0" y="66123"/>
                  <a:pt x="0" y="43234"/>
                </a:cubicBezTo>
                <a:lnTo>
                  <a:pt x="0" y="15259"/>
                </a:lnTo>
                <a:close/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219874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6735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614628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45302" y="167678"/>
            <a:ext cx="327091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프로그램,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28" name="Text 25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9" name="Text 26"/>
          <p:cNvSpPr txBox="1"/>
          <p:nvPr/>
        </p:nvSpPr>
        <p:spPr>
          <a:xfrm>
            <a:off x="297172" y="672770"/>
            <a:ext cx="273883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더홍시 × 세일링스톤 합작법인 · bibidi(비비디바비디부)</a:t>
            </a:r>
            <a:endParaRPr lang="en-US" sz="720" dirty="0"/>
          </a:p>
        </p:txBody>
      </p:sp>
      <p:sp>
        <p:nvSpPr>
          <p:cNvPr id="30" name="Text 27"/>
          <p:cNvSpPr txBox="1"/>
          <p:nvPr/>
        </p:nvSpPr>
        <p:spPr>
          <a:xfrm>
            <a:off x="4717272" y="730892"/>
            <a:ext cx="18527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26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bibidi 연말정산 · 국세청 자료 입력 (예시 데이터)</a:t>
            </a:r>
            <a:endParaRPr lang="en-US" sz="645" dirty="0"/>
          </a:p>
        </p:txBody>
      </p:sp>
      <p:sp>
        <p:nvSpPr>
          <p:cNvPr id="31" name="Text 28"/>
          <p:cNvSpPr txBox="1"/>
          <p:nvPr/>
        </p:nvSpPr>
        <p:spPr>
          <a:xfrm>
            <a:off x="297173" y="885711"/>
            <a:ext cx="1431918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</a:t>
            </a:r>
            <a:endParaRPr lang="en-US" sz="2790" dirty="0"/>
          </a:p>
        </p:txBody>
      </p:sp>
      <p:sp>
        <p:nvSpPr>
          <p:cNvPr id="32" name="Text 29"/>
          <p:cNvSpPr txBox="1"/>
          <p:nvPr/>
        </p:nvSpPr>
        <p:spPr>
          <a:xfrm>
            <a:off x="297173" y="1282275"/>
            <a:ext cx="1822537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마법처럼 끝.</a:t>
            </a:r>
            <a:endParaRPr lang="en-US" sz="2790" dirty="0"/>
          </a:p>
        </p:txBody>
      </p:sp>
      <p:sp>
        <p:nvSpPr>
          <p:cNvPr id="33" name="Text 30"/>
          <p:cNvSpPr txBox="1"/>
          <p:nvPr/>
        </p:nvSpPr>
        <p:spPr>
          <a:xfrm>
            <a:off x="297172" y="1816170"/>
            <a:ext cx="400817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 더홍시의 세무 실무 노하우에, 세일링스톤이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97173" y="2004936"/>
            <a:ext cx="3999120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설계한 자동 계산과 AI 기능을 더했습니다. 담당자의 가산세 리스크는 줄이고, 정산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297172" y="2193189"/>
            <a:ext cx="91895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은 쉽게 만듭니다.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571486" y="2577408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85" dirty="0"/>
          </a:p>
        </p:txBody>
      </p:sp>
      <p:sp>
        <p:nvSpPr>
          <p:cNvPr id="37" name="Text 34"/>
          <p:cNvSpPr txBox="1"/>
          <p:nvPr/>
        </p:nvSpPr>
        <p:spPr>
          <a:xfrm>
            <a:off x="297173" y="2597468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38" name="Text 35"/>
          <p:cNvSpPr txBox="1"/>
          <p:nvPr/>
        </p:nvSpPr>
        <p:spPr>
          <a:xfrm>
            <a:off x="571486" y="2730685"/>
            <a:ext cx="36903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가이드에 맞춘 설문으로 사전에 걸러</a:t>
            </a:r>
            <a:endParaRPr lang="en-US" sz="735" dirty="0"/>
          </a:p>
        </p:txBody>
      </p:sp>
      <p:sp>
        <p:nvSpPr>
          <p:cNvPr id="39" name="Text 36"/>
          <p:cNvSpPr txBox="1"/>
          <p:nvPr/>
        </p:nvSpPr>
        <p:spPr>
          <a:xfrm>
            <a:off x="571486" y="2866987"/>
            <a:ext cx="38312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냅니다</a:t>
            </a:r>
            <a:endParaRPr lang="en-US" sz="735" dirty="0"/>
          </a:p>
        </p:txBody>
      </p:sp>
      <p:sp>
        <p:nvSpPr>
          <p:cNvPr id="40" name="Text 37"/>
          <p:cNvSpPr txBox="1"/>
          <p:nvPr/>
        </p:nvSpPr>
        <p:spPr>
          <a:xfrm>
            <a:off x="571486" y="3129306"/>
            <a:ext cx="14419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85" dirty="0"/>
          </a:p>
        </p:txBody>
      </p:sp>
      <p:sp>
        <p:nvSpPr>
          <p:cNvPr id="41" name="Text 38"/>
          <p:cNvSpPr txBox="1"/>
          <p:nvPr/>
        </p:nvSpPr>
        <p:spPr>
          <a:xfrm>
            <a:off x="297173" y="3149365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42" name="Text 39"/>
          <p:cNvSpPr txBox="1"/>
          <p:nvPr/>
        </p:nvSpPr>
        <p:spPr>
          <a:xfrm>
            <a:off x="4340549" y="3193085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43" name="Text 40"/>
          <p:cNvSpPr txBox="1"/>
          <p:nvPr/>
        </p:nvSpPr>
        <p:spPr>
          <a:xfrm>
            <a:off x="5505465" y="3193085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44" name="Text 41"/>
          <p:cNvSpPr txBox="1"/>
          <p:nvPr/>
        </p:nvSpPr>
        <p:spPr>
          <a:xfrm>
            <a:off x="6670382" y="3193085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45" name="Text 42"/>
          <p:cNvSpPr txBox="1"/>
          <p:nvPr/>
        </p:nvSpPr>
        <p:spPr>
          <a:xfrm>
            <a:off x="7835298" y="3193085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46" name="Text 43"/>
          <p:cNvSpPr txBox="1"/>
          <p:nvPr/>
        </p:nvSpPr>
        <p:spPr>
          <a:xfrm>
            <a:off x="571486" y="3282583"/>
            <a:ext cx="323268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한 번 더 확인하는 수고를 덜어줍니다</a:t>
            </a:r>
            <a:endParaRPr lang="en-US" sz="735" dirty="0"/>
          </a:p>
        </p:txBody>
      </p:sp>
      <p:sp>
        <p:nvSpPr>
          <p:cNvPr id="47" name="Text 44"/>
          <p:cNvSpPr txBox="1"/>
          <p:nvPr/>
        </p:nvSpPr>
        <p:spPr>
          <a:xfrm>
            <a:off x="4340549" y="3360763"/>
            <a:ext cx="702245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30" dirty="0"/>
          </a:p>
        </p:txBody>
      </p:sp>
      <p:sp>
        <p:nvSpPr>
          <p:cNvPr id="48" name="Text 45"/>
          <p:cNvSpPr txBox="1"/>
          <p:nvPr/>
        </p:nvSpPr>
        <p:spPr>
          <a:xfrm>
            <a:off x="5505466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49" name="Text 46"/>
          <p:cNvSpPr txBox="1"/>
          <p:nvPr/>
        </p:nvSpPr>
        <p:spPr>
          <a:xfrm>
            <a:off x="6670382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0" name="Text 47"/>
          <p:cNvSpPr txBox="1"/>
          <p:nvPr/>
        </p:nvSpPr>
        <p:spPr>
          <a:xfrm>
            <a:off x="7835298" y="3360763"/>
            <a:ext cx="87231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30" dirty="0"/>
          </a:p>
        </p:txBody>
      </p:sp>
      <p:sp>
        <p:nvSpPr>
          <p:cNvPr id="51" name="Text 48"/>
          <p:cNvSpPr txBox="1"/>
          <p:nvPr/>
        </p:nvSpPr>
        <p:spPr>
          <a:xfrm>
            <a:off x="571486" y="3544901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85" dirty="0"/>
          </a:p>
        </p:txBody>
      </p:sp>
      <p:sp>
        <p:nvSpPr>
          <p:cNvPr id="52" name="Text 49"/>
          <p:cNvSpPr txBox="1"/>
          <p:nvPr/>
        </p:nvSpPr>
        <p:spPr>
          <a:xfrm>
            <a:off x="297173" y="3564960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53" name="Text 50"/>
          <p:cNvSpPr txBox="1"/>
          <p:nvPr/>
        </p:nvSpPr>
        <p:spPr>
          <a:xfrm>
            <a:off x="4494164" y="3695090"/>
            <a:ext cx="65835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이중 잠금 보안</a:t>
            </a:r>
            <a:endParaRPr lang="en-US" sz="720" dirty="0"/>
          </a:p>
        </p:txBody>
      </p:sp>
      <p:sp>
        <p:nvSpPr>
          <p:cNvPr id="54" name="Text 51"/>
          <p:cNvSpPr txBox="1"/>
          <p:nvPr/>
        </p:nvSpPr>
        <p:spPr>
          <a:xfrm>
            <a:off x="5335391" y="3695090"/>
            <a:ext cx="107896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</a:t>
            </a:r>
            <a:endParaRPr lang="en-US" sz="720" dirty="0"/>
          </a:p>
        </p:txBody>
      </p:sp>
      <p:sp>
        <p:nvSpPr>
          <p:cNvPr id="55" name="Text 52"/>
          <p:cNvSpPr txBox="1"/>
          <p:nvPr/>
        </p:nvSpPr>
        <p:spPr>
          <a:xfrm>
            <a:off x="6522252" y="3695090"/>
            <a:ext cx="11000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 전용 키 이중 암호화</a:t>
            </a:r>
            <a:endParaRPr lang="en-US" sz="720" dirty="0"/>
          </a:p>
        </p:txBody>
      </p:sp>
      <p:sp>
        <p:nvSpPr>
          <p:cNvPr id="56" name="Text 53"/>
          <p:cNvSpPr txBox="1"/>
          <p:nvPr/>
        </p:nvSpPr>
        <p:spPr>
          <a:xfrm>
            <a:off x="7731059" y="3695090"/>
            <a:ext cx="114480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표준 시험 12항목 통과</a:t>
            </a:r>
            <a:endParaRPr lang="en-US" sz="720" dirty="0"/>
          </a:p>
        </p:txBody>
      </p:sp>
      <p:sp>
        <p:nvSpPr>
          <p:cNvPr id="57" name="Text 54"/>
          <p:cNvSpPr txBox="1"/>
          <p:nvPr/>
        </p:nvSpPr>
        <p:spPr>
          <a:xfrm>
            <a:off x="571486" y="3698177"/>
            <a:ext cx="29671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 끝까지 갑니다</a:t>
            </a:r>
            <a:endParaRPr lang="en-US" sz="735" dirty="0"/>
          </a:p>
        </p:txBody>
      </p:sp>
      <p:sp>
        <p:nvSpPr>
          <p:cNvPr id="58" name="Text 55"/>
          <p:cNvSpPr txBox="1"/>
          <p:nvPr/>
        </p:nvSpPr>
        <p:spPr>
          <a:xfrm>
            <a:off x="571486" y="3960495"/>
            <a:ext cx="136334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85" dirty="0"/>
          </a:p>
        </p:txBody>
      </p:sp>
      <p:sp>
        <p:nvSpPr>
          <p:cNvPr id="59" name="Text 56"/>
          <p:cNvSpPr txBox="1"/>
          <p:nvPr/>
        </p:nvSpPr>
        <p:spPr>
          <a:xfrm>
            <a:off x="297172" y="3980555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60" name="Text 57"/>
          <p:cNvSpPr txBox="1"/>
          <p:nvPr/>
        </p:nvSpPr>
        <p:spPr>
          <a:xfrm>
            <a:off x="571486" y="4113772"/>
            <a:ext cx="2914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후까지 대응합니다</a:t>
            </a:r>
            <a:endParaRPr lang="en-US" sz="735" dirty="0"/>
          </a:p>
        </p:txBody>
      </p:sp>
      <p:sp>
        <p:nvSpPr>
          <p:cNvPr id="61" name="Text 58"/>
          <p:cNvSpPr txBox="1"/>
          <p:nvPr/>
        </p:nvSpPr>
        <p:spPr>
          <a:xfrm>
            <a:off x="583373" y="4654867"/>
            <a:ext cx="346100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 전면 도입</a:t>
            </a:r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근거와 출처를 붙여 답합니다</a:t>
            </a:r>
            <a:endParaRPr lang="en-US" sz="773" dirty="0"/>
          </a:p>
        </p:txBody>
      </p:sp>
      <p:sp>
        <p:nvSpPr>
          <p:cNvPr id="62" name="Text 59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- 22 -</a:t>
            </a:r>
            <a:endParaRPr lang="en-US" sz="705" dirty="0"/>
          </a:p>
        </p:txBody>
      </p:sp>
      <p:sp>
        <p:nvSpPr>
          <p:cNvPr id="63" name="Text 6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536740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919658"/>
            <a:ext cx="2727587" cy="1313135"/>
          </a:xfrm>
          <a:prstGeom prst="roundRect">
            <a:avLst>
              <a:gd name="adj" fmla="val 69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7635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Shape 6"/>
          <p:cNvSpPr/>
          <p:nvPr/>
        </p:nvSpPr>
        <p:spPr>
          <a:xfrm>
            <a:off x="3448116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7636" y="919658"/>
            <a:ext cx="2727587" cy="1282274"/>
          </a:xfrm>
          <a:prstGeom prst="roundRect">
            <a:avLst>
              <a:gd name="adj" fmla="val 713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19011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6358579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19012" y="919657"/>
            <a:ext cx="2727587" cy="1316222"/>
          </a:xfrm>
          <a:prstGeom prst="roundRect">
            <a:avLst>
              <a:gd name="adj" fmla="val 694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2" y="2696223"/>
            <a:ext cx="5577701" cy="1733874"/>
          </a:xfrm>
          <a:prstGeom prst="roundRect">
            <a:avLst>
              <a:gd name="adj" fmla="val 593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5983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550" y="2821725"/>
            <a:ext cx="411470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5984" y="3033123"/>
            <a:ext cx="5360993" cy="964921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57749" y="2696223"/>
            <a:ext cx="2788850" cy="1733874"/>
          </a:xfrm>
          <a:prstGeom prst="roundRect">
            <a:avLst>
              <a:gd name="adj" fmla="val 5933"/>
            </a:avLst>
          </a:prstGeom>
          <a:solidFill>
            <a:srgbClr val="F7F6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66559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6126" y="2821725"/>
            <a:ext cx="522110" cy="125501"/>
          </a:xfrm>
          <a:prstGeom prst="roundRect">
            <a:avLst>
              <a:gd name="adj" fmla="val 27321"/>
            </a:avLst>
          </a:prstGeom>
          <a:solidFill>
            <a:srgbClr val="F3F1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66559" y="3033123"/>
            <a:ext cx="2572143" cy="944861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9" y="925316"/>
            <a:ext cx="2716615" cy="130182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122" y="925316"/>
            <a:ext cx="2716615" cy="1270959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4498" y="925316"/>
            <a:ext cx="2716615" cy="1304392"/>
          </a:xfrm>
          <a:prstGeom prst="rect">
            <a:avLst/>
          </a:prstGeom>
        </p:spPr>
      </p:pic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69" y="3038780"/>
            <a:ext cx="5349107" cy="953605"/>
          </a:xfrm>
          <a:prstGeom prst="rect">
            <a:avLst/>
          </a:prstGeom>
        </p:spPr>
      </p:pic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046" y="3038780"/>
            <a:ext cx="2560256" cy="9335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5302" y="167678"/>
            <a:ext cx="465290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 혼자 짊어지지 않는 연말정산,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실제 화면으로</a:t>
            </a:r>
            <a:endParaRPr lang="en-US" sz="1710" dirty="0"/>
          </a:p>
        </p:txBody>
      </p:sp>
      <p:sp>
        <p:nvSpPr>
          <p:cNvPr id="27" name="Text 20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8" name="Text 21"/>
          <p:cNvSpPr txBox="1"/>
          <p:nvPr/>
        </p:nvSpPr>
        <p:spPr>
          <a:xfrm>
            <a:off x="367580" y="707231"/>
            <a:ext cx="17830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20" dirty="0"/>
          </a:p>
        </p:txBody>
      </p:sp>
      <p:sp>
        <p:nvSpPr>
          <p:cNvPr id="29" name="Text 22"/>
          <p:cNvSpPr txBox="1"/>
          <p:nvPr/>
        </p:nvSpPr>
        <p:spPr>
          <a:xfrm>
            <a:off x="3272557" y="707231"/>
            <a:ext cx="19110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20" dirty="0"/>
          </a:p>
        </p:txBody>
      </p:sp>
      <p:sp>
        <p:nvSpPr>
          <p:cNvPr id="30" name="Text 23"/>
          <p:cNvSpPr txBox="1"/>
          <p:nvPr/>
        </p:nvSpPr>
        <p:spPr>
          <a:xfrm>
            <a:off x="6182104" y="707231"/>
            <a:ext cx="192023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20" dirty="0"/>
          </a:p>
        </p:txBody>
      </p:sp>
      <p:sp>
        <p:nvSpPr>
          <p:cNvPr id="31" name="Text 24"/>
          <p:cNvSpPr txBox="1"/>
          <p:nvPr/>
        </p:nvSpPr>
        <p:spPr>
          <a:xfrm>
            <a:off x="587944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2" name="Text 25"/>
          <p:cNvSpPr txBox="1"/>
          <p:nvPr/>
        </p:nvSpPr>
        <p:spPr>
          <a:xfrm>
            <a:off x="3499321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3" name="Text 26"/>
          <p:cNvSpPr txBox="1"/>
          <p:nvPr/>
        </p:nvSpPr>
        <p:spPr>
          <a:xfrm>
            <a:off x="6409783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4" name="Text 27"/>
          <p:cNvSpPr txBox="1"/>
          <p:nvPr/>
        </p:nvSpPr>
        <p:spPr>
          <a:xfrm>
            <a:off x="3089681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6000143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3207635" y="2251824"/>
            <a:ext cx="226811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간소화 PDF - 올리면 항목별로 자동 인식</a:t>
            </a:r>
            <a:endParaRPr lang="en-US" sz="855" dirty="0"/>
          </a:p>
        </p:txBody>
      </p:sp>
      <p:sp>
        <p:nvSpPr>
          <p:cNvPr id="37" name="Text 30"/>
          <p:cNvSpPr txBox="1"/>
          <p:nvPr/>
        </p:nvSpPr>
        <p:spPr>
          <a:xfrm>
            <a:off x="297173" y="2282685"/>
            <a:ext cx="22148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설문 - 가산세 지점을 미리 걸러냅니다</a:t>
            </a:r>
            <a:endParaRPr lang="en-US" sz="855" dirty="0"/>
          </a:p>
        </p:txBody>
      </p:sp>
      <p:sp>
        <p:nvSpPr>
          <p:cNvPr id="38" name="Text 31"/>
          <p:cNvSpPr txBox="1"/>
          <p:nvPr/>
        </p:nvSpPr>
        <p:spPr>
          <a:xfrm>
            <a:off x="6119011" y="2285257"/>
            <a:ext cx="179739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결과 - 확정 전에 미리 봅니다</a:t>
            </a:r>
            <a:endParaRPr lang="en-US" sz="855" dirty="0"/>
          </a:p>
        </p:txBody>
      </p:sp>
      <p:sp>
        <p:nvSpPr>
          <p:cNvPr id="39" name="Text 32"/>
          <p:cNvSpPr txBox="1"/>
          <p:nvPr/>
        </p:nvSpPr>
        <p:spPr>
          <a:xfrm>
            <a:off x="3207636" y="2403044"/>
            <a:ext cx="21283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원본 금액과 반영 금액을 나란히 보여줘 바로 검증합니다</a:t>
            </a:r>
            <a:endParaRPr lang="en-US" sz="705" dirty="0"/>
          </a:p>
        </p:txBody>
      </p:sp>
      <p:sp>
        <p:nvSpPr>
          <p:cNvPr id="40" name="Text 33"/>
          <p:cNvSpPr txBox="1"/>
          <p:nvPr/>
        </p:nvSpPr>
        <p:spPr>
          <a:xfrm>
            <a:off x="297172" y="2433905"/>
            <a:ext cx="211221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짧은 질문이 나이 · 소득 요건을 그 자리에서 판단합니다</a:t>
            </a:r>
            <a:endParaRPr lang="en-US" sz="705" dirty="0"/>
          </a:p>
        </p:txBody>
      </p:sp>
      <p:sp>
        <p:nvSpPr>
          <p:cNvPr id="41" name="Text 34"/>
          <p:cNvSpPr txBox="1"/>
          <p:nvPr/>
        </p:nvSpPr>
        <p:spPr>
          <a:xfrm>
            <a:off x="6119012" y="2436476"/>
            <a:ext cx="206695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차감징수세액을 제출 즉시 계산합니다</a:t>
            </a:r>
            <a:endParaRPr lang="en-US" sz="705" dirty="0"/>
          </a:p>
        </p:txBody>
      </p:sp>
      <p:sp>
        <p:nvSpPr>
          <p:cNvPr id="42" name="Text 35"/>
          <p:cNvSpPr txBox="1"/>
          <p:nvPr/>
        </p:nvSpPr>
        <p:spPr>
          <a:xfrm>
            <a:off x="459017" y="2820695"/>
            <a:ext cx="21213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</a:t>
            </a:r>
            <a:endParaRPr lang="en-US" sz="720" dirty="0"/>
          </a:p>
        </p:txBody>
      </p:sp>
      <p:sp>
        <p:nvSpPr>
          <p:cNvPr id="43" name="Text 36"/>
          <p:cNvSpPr txBox="1"/>
          <p:nvPr/>
        </p:nvSpPr>
        <p:spPr>
          <a:xfrm>
            <a:off x="6207707" y="2820695"/>
            <a:ext cx="23682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</a:t>
            </a:r>
            <a:endParaRPr lang="en-US" sz="720" dirty="0"/>
          </a:p>
        </p:txBody>
      </p:sp>
      <p:sp>
        <p:nvSpPr>
          <p:cNvPr id="44" name="Text 37"/>
          <p:cNvSpPr txBox="1"/>
          <p:nvPr/>
        </p:nvSpPr>
        <p:spPr>
          <a:xfrm>
            <a:off x="696756" y="2831497"/>
            <a:ext cx="446219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endParaRPr lang="en-US" sz="593" dirty="0"/>
          </a:p>
        </p:txBody>
      </p:sp>
      <p:sp>
        <p:nvSpPr>
          <p:cNvPr id="45" name="Text 38"/>
          <p:cNvSpPr txBox="1"/>
          <p:nvPr/>
        </p:nvSpPr>
        <p:spPr>
          <a:xfrm>
            <a:off x="6457331" y="2831497"/>
            <a:ext cx="555945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7C6FD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PREVIEW</a:t>
            </a:r>
            <a:endParaRPr lang="en-US" sz="593" dirty="0"/>
          </a:p>
        </p:txBody>
      </p:sp>
      <p:sp>
        <p:nvSpPr>
          <p:cNvPr id="46" name="Text 39"/>
          <p:cNvSpPr txBox="1"/>
          <p:nvPr/>
        </p:nvSpPr>
        <p:spPr>
          <a:xfrm>
            <a:off x="6166560" y="4027361"/>
            <a:ext cx="148586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상담 - 출처를 붙여 답합니다</a:t>
            </a:r>
            <a:endParaRPr lang="en-US" sz="855" dirty="0"/>
          </a:p>
        </p:txBody>
      </p:sp>
      <p:sp>
        <p:nvSpPr>
          <p:cNvPr id="47" name="Text 40"/>
          <p:cNvSpPr txBox="1"/>
          <p:nvPr/>
        </p:nvSpPr>
        <p:spPr>
          <a:xfrm>
            <a:off x="405983" y="4047420"/>
            <a:ext cx="263825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현황 - 수백 명 중 누구를 챙겨야 할지 바로 보입니다</a:t>
            </a:r>
            <a:endParaRPr lang="en-US" sz="855" dirty="0"/>
          </a:p>
        </p:txBody>
      </p:sp>
      <p:sp>
        <p:nvSpPr>
          <p:cNvPr id="48" name="Text 41"/>
          <p:cNvSpPr txBox="1"/>
          <p:nvPr/>
        </p:nvSpPr>
        <p:spPr>
          <a:xfrm>
            <a:off x="6166559" y="4178579"/>
            <a:ext cx="244413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자료 DB에 근거해서만 답합니다 (2027년 귀속분부터)</a:t>
            </a:r>
            <a:endParaRPr lang="en-US" sz="705" dirty="0"/>
          </a:p>
        </p:txBody>
      </p:sp>
      <p:sp>
        <p:nvSpPr>
          <p:cNvPr id="49" name="Text 42"/>
          <p:cNvSpPr txBox="1"/>
          <p:nvPr/>
        </p:nvSpPr>
        <p:spPr>
          <a:xfrm>
            <a:off x="405983" y="4199153"/>
            <a:ext cx="4336068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 4단계로 보고, 상태별 인원을 클릭해 그 대상자에게만 리마인드를 보냅니다</a:t>
            </a:r>
            <a:endParaRPr lang="en-US" sz="705" dirty="0"/>
          </a:p>
        </p:txBody>
      </p:sp>
      <p:sp>
        <p:nvSpPr>
          <p:cNvPr id="50" name="Text 43"/>
          <p:cNvSpPr txBox="1"/>
          <p:nvPr/>
        </p:nvSpPr>
        <p:spPr>
          <a:xfrm>
            <a:off x="3269813" y="4617834"/>
            <a:ext cx="5873959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kern="0" spc="-27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설문으로 걸러내고, 자동으로 계산하고, 확정 전에 미리 봅니다.</a:t>
            </a:r>
            <a:r>
              <a:rPr lang="en-US" sz="1350" kern="0" spc="-27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연말정산, 마법처럼 끝.</a:t>
            </a:r>
            <a:endParaRPr lang="en-US" sz="1350" dirty="0"/>
          </a:p>
        </p:txBody>
      </p:sp>
      <p:sp>
        <p:nvSpPr>
          <p:cNvPr id="51" name="Text 44"/>
          <p:cNvSpPr txBox="1"/>
          <p:nvPr/>
        </p:nvSpPr>
        <p:spPr>
          <a:xfrm>
            <a:off x="297173" y="4700645"/>
            <a:ext cx="1163091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화면의 데이터는 예시입니다</a:t>
            </a:r>
            <a:endParaRPr lang="en-US" sz="735" dirty="0"/>
          </a:p>
        </p:txBody>
      </p:sp>
      <p:sp>
        <p:nvSpPr>
          <p:cNvPr id="52" name="Text 45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- 23 -</a:t>
            </a:r>
            <a:endParaRPr lang="en-US" sz="705" dirty="0"/>
          </a:p>
        </p:txBody>
      </p:sp>
      <p:sp>
        <p:nvSpPr>
          <p:cNvPr id="53" name="Text 4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020470"/>
            <a:ext cx="1756519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11297" y="1020470"/>
            <a:ext cx="994842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62831" y="1020470"/>
            <a:ext cx="1753775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73298" y="1020470"/>
            <a:ext cx="1403569" cy="20471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9599" y="1464869"/>
            <a:ext cx="1755604" cy="1131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297173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956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16956" y="4649210"/>
            <a:ext cx="63092" cy="62751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2360" y="1361999"/>
            <a:ext cx="216707" cy="217056"/>
          </a:xfrm>
          <a:prstGeom prst="ellipse">
            <a:avLst/>
          </a:prstGeom>
          <a:solidFill>
            <a:srgbClr val="0D9488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14786" y="1464869"/>
            <a:ext cx="3975712" cy="1131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2452360" y="1647463"/>
            <a:ext cx="4239053" cy="3198743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72143" y="2007508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72143" y="2637073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72143" y="3267151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72143" y="3896716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72143" y="4538110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572144" y="4649210"/>
            <a:ext cx="63092" cy="62751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6828569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28569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8352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48352" y="4649210"/>
            <a:ext cx="63092" cy="62751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26" name="Shape 24"/>
          <p:cNvSpPr/>
          <p:nvPr/>
        </p:nvSpPr>
        <p:spPr>
          <a:xfrm>
            <a:off x="433111" y="241448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3111" y="2603769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86430" y="2290786"/>
            <a:ext cx="85723" cy="85640"/>
          </a:xfrm>
          <a:custGeom>
            <a:avLst/>
            <a:gdLst/>
            <a:ahLst/>
            <a:cxnLst/>
            <a:rect l="l" t="t" r="r" b="b"/>
            <a:pathLst>
              <a:path w="114297" h="114186">
                <a:moveTo>
                  <a:pt x="0" y="0"/>
                </a:moveTo>
                <a:lnTo>
                  <a:pt x="0" y="114186"/>
                </a:lnTo>
                <a:lnTo>
                  <a:pt x="114297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05480" y="2309817"/>
            <a:ext cx="57149" cy="33305"/>
          </a:xfrm>
          <a:custGeom>
            <a:avLst/>
            <a:gdLst/>
            <a:ahLst/>
            <a:cxnLst/>
            <a:rect l="l" t="t" r="r" b="b"/>
            <a:pathLst>
              <a:path w="76198" h="44406">
                <a:moveTo>
                  <a:pt x="0" y="44406"/>
                </a:moveTo>
                <a:lnTo>
                  <a:pt x="25399" y="19031"/>
                </a:lnTo>
                <a:lnTo>
                  <a:pt x="44449" y="38062"/>
                </a:lnTo>
                <a:lnTo>
                  <a:pt x="761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91193" y="2920865"/>
            <a:ext cx="76198" cy="28547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91193" y="2935139"/>
            <a:ext cx="76198" cy="71366"/>
          </a:xfrm>
          <a:custGeom>
            <a:avLst/>
            <a:gdLst/>
            <a:ahLst/>
            <a:cxnLst/>
            <a:rect l="l" t="t" r="r" b="b"/>
            <a:pathLst>
              <a:path w="101597" h="95155">
                <a:moveTo>
                  <a:pt x="0" y="0"/>
                </a:moveTo>
                <a:lnTo>
                  <a:pt x="0" y="76124"/>
                </a:lnTo>
                <a:cubicBezTo>
                  <a:pt x="0" y="86908"/>
                  <a:pt x="22859" y="95155"/>
                  <a:pt x="50799" y="95155"/>
                </a:cubicBezTo>
                <a:cubicBezTo>
                  <a:pt x="78738" y="95155"/>
                  <a:pt x="101597" y="86908"/>
                  <a:pt x="101597" y="76124"/>
                </a:cubicBezTo>
                <a:lnTo>
                  <a:pt x="1015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91193" y="2963686"/>
            <a:ext cx="76198" cy="14273"/>
          </a:xfrm>
          <a:custGeom>
            <a:avLst/>
            <a:gdLst/>
            <a:ahLst/>
            <a:cxnLst/>
            <a:rect l="l" t="t" r="r" b="b"/>
            <a:pathLst>
              <a:path w="101597" h="19031">
                <a:moveTo>
                  <a:pt x="0" y="0"/>
                </a:moveTo>
                <a:cubicBezTo>
                  <a:pt x="0" y="10784"/>
                  <a:pt x="22859" y="19031"/>
                  <a:pt x="50799" y="19031"/>
                </a:cubicBezTo>
                <a:cubicBezTo>
                  <a:pt x="78738" y="19031"/>
                  <a:pt x="101597" y="10784"/>
                  <a:pt x="101597" y="0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91193" y="3545672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38817" y="3545671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15005" y="3607522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91193" y="4181191"/>
            <a:ext cx="81130" cy="84443"/>
          </a:xfrm>
          <a:custGeom>
            <a:avLst/>
            <a:gdLst/>
            <a:ahLst/>
            <a:cxnLst/>
            <a:rect l="l" t="t" r="r" b="b"/>
            <a:pathLst>
              <a:path w="108173" h="112591">
                <a:moveTo>
                  <a:pt x="107947" y="55498"/>
                </a:moveTo>
                <a:cubicBezTo>
                  <a:pt x="107850" y="73065"/>
                  <a:pt x="98666" y="89332"/>
                  <a:pt x="83669" y="98503"/>
                </a:cubicBezTo>
                <a:cubicBezTo>
                  <a:pt x="68671" y="107673"/>
                  <a:pt x="49992" y="108443"/>
                  <a:pt x="34289" y="100538"/>
                </a:cubicBezTo>
                <a:lnTo>
                  <a:pt x="0" y="112591"/>
                </a:lnTo>
                <a:lnTo>
                  <a:pt x="12065" y="78335"/>
                </a:lnTo>
                <a:cubicBezTo>
                  <a:pt x="2324" y="59587"/>
                  <a:pt x="5226" y="36771"/>
                  <a:pt x="19351" y="21052"/>
                </a:cubicBezTo>
                <a:cubicBezTo>
                  <a:pt x="33476" y="5334"/>
                  <a:pt x="55870" y="0"/>
                  <a:pt x="75575" y="7661"/>
                </a:cubicBezTo>
                <a:cubicBezTo>
                  <a:pt x="95279" y="15322"/>
                  <a:pt x="108173" y="34376"/>
                  <a:pt x="107947" y="55498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17386" y="4199025"/>
            <a:ext cx="23812" cy="28547"/>
          </a:xfrm>
          <a:custGeom>
            <a:avLst/>
            <a:gdLst/>
            <a:ahLst/>
            <a:cxnLst/>
            <a:rect l="l" t="t" r="r" b="b"/>
            <a:pathLst>
              <a:path w="31749" h="38062">
                <a:moveTo>
                  <a:pt x="0" y="15859"/>
                </a:moveTo>
                <a:cubicBezTo>
                  <a:pt x="0" y="7100"/>
                  <a:pt x="7107" y="0"/>
                  <a:pt x="15875" y="0"/>
                </a:cubicBezTo>
                <a:cubicBezTo>
                  <a:pt x="24642" y="0"/>
                  <a:pt x="31749" y="7100"/>
                  <a:pt x="31749" y="15859"/>
                </a:cubicBezTo>
                <a:cubicBezTo>
                  <a:pt x="31749" y="25375"/>
                  <a:pt x="15875" y="28546"/>
                  <a:pt x="15875" y="38062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26910" y="4241845"/>
            <a:ext cx="4763" cy="4758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60467" y="2565385"/>
            <a:ext cx="72693" cy="72909"/>
          </a:xfrm>
          <a:custGeom>
            <a:avLst/>
            <a:gdLst/>
            <a:ahLst/>
            <a:cxnLst/>
            <a:rect l="l" t="t" r="r" b="b"/>
            <a:pathLst>
              <a:path w="96924" h="97212">
                <a:moveTo>
                  <a:pt x="96924" y="48606"/>
                </a:moveTo>
                <a:cubicBezTo>
                  <a:pt x="96924" y="75450"/>
                  <a:pt x="75227" y="97212"/>
                  <a:pt x="48462" y="97212"/>
                </a:cubicBezTo>
                <a:cubicBezTo>
                  <a:pt x="21697" y="97212"/>
                  <a:pt x="0" y="75450"/>
                  <a:pt x="0" y="48606"/>
                </a:cubicBezTo>
                <a:cubicBezTo>
                  <a:pt x="0" y="21762"/>
                  <a:pt x="21697" y="0"/>
                  <a:pt x="48462" y="0"/>
                </a:cubicBez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08929" y="2565385"/>
            <a:ext cx="24231" cy="24303"/>
          </a:xfrm>
          <a:custGeom>
            <a:avLst/>
            <a:gdLst/>
            <a:ahLst/>
            <a:cxnLst/>
            <a:rect l="l" t="t" r="r" b="b"/>
            <a:pathLst>
              <a:path w="32308" h="32404">
                <a:moveTo>
                  <a:pt x="32308" y="0"/>
                </a:moveTo>
                <a:lnTo>
                  <a:pt x="32308" y="32404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64507" y="276630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3" y="677913"/>
            <a:ext cx="612138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595259" y="1055446"/>
            <a:ext cx="14931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D2C 해외영업 조직</a:t>
            </a:r>
            <a:endParaRPr lang="en-US" sz="758" dirty="0"/>
          </a:p>
        </p:txBody>
      </p:sp>
      <p:sp>
        <p:nvSpPr>
          <p:cNvPr id="46" name="Text 44"/>
          <p:cNvSpPr txBox="1"/>
          <p:nvPr/>
        </p:nvSpPr>
        <p:spPr>
          <a:xfrm>
            <a:off x="2409384" y="1055446"/>
            <a:ext cx="7305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이커머스</a:t>
            </a:r>
            <a:endParaRPr lang="en-US" sz="758" dirty="0"/>
          </a:p>
        </p:txBody>
      </p:sp>
      <p:sp>
        <p:nvSpPr>
          <p:cNvPr id="47" name="Text 45"/>
          <p:cNvSpPr txBox="1"/>
          <p:nvPr/>
        </p:nvSpPr>
        <p:spPr>
          <a:xfrm>
            <a:off x="3532239" y="1055446"/>
            <a:ext cx="1418202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 · 상품</a:t>
            </a:r>
            <a:endParaRPr lang="en-US" sz="758" dirty="0"/>
          </a:p>
        </p:txBody>
      </p:sp>
      <p:sp>
        <p:nvSpPr>
          <p:cNvPr id="48" name="Text 46"/>
          <p:cNvSpPr txBox="1"/>
          <p:nvPr/>
        </p:nvSpPr>
        <p:spPr>
          <a:xfrm>
            <a:off x="5075708" y="1055446"/>
            <a:ext cx="133499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 해외 법인 전체 오픈 예정</a:t>
            </a:r>
            <a:endParaRPr lang="en-US" sz="758" dirty="0"/>
          </a:p>
        </p:txBody>
      </p:sp>
      <p:sp>
        <p:nvSpPr>
          <p:cNvPr id="49" name="Text 47"/>
          <p:cNvSpPr txBox="1"/>
          <p:nvPr/>
        </p:nvSpPr>
        <p:spPr>
          <a:xfrm>
            <a:off x="399583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</a:t>
            </a:r>
            <a:endParaRPr lang="en-US" sz="645" dirty="0"/>
          </a:p>
        </p:txBody>
      </p:sp>
      <p:sp>
        <p:nvSpPr>
          <p:cNvPr id="50" name="Text 48"/>
          <p:cNvSpPr txBox="1"/>
          <p:nvPr/>
        </p:nvSpPr>
        <p:spPr>
          <a:xfrm>
            <a:off x="2213707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45" dirty="0"/>
          </a:p>
        </p:txBody>
      </p:sp>
      <p:sp>
        <p:nvSpPr>
          <p:cNvPr id="51" name="Text 49"/>
          <p:cNvSpPr txBox="1"/>
          <p:nvPr/>
        </p:nvSpPr>
        <p:spPr>
          <a:xfrm>
            <a:off x="3265241" y="1065220"/>
            <a:ext cx="3529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</a:t>
            </a:r>
            <a:endParaRPr lang="en-US" sz="645" dirty="0"/>
          </a:p>
        </p:txBody>
      </p:sp>
      <p:sp>
        <p:nvSpPr>
          <p:cNvPr id="52" name="Text 50"/>
          <p:cNvSpPr txBox="1"/>
          <p:nvPr/>
        </p:nvSpPr>
        <p:spPr>
          <a:xfrm>
            <a:off x="382210" y="1398518"/>
            <a:ext cx="18287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530996" y="1398518"/>
            <a:ext cx="19750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6906290" y="1398518"/>
            <a:ext cx="199338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416956" y="1745704"/>
            <a:ext cx="91438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4개월</a:t>
            </a:r>
            <a:endParaRPr lang="en-US" sz="1080" dirty="0"/>
          </a:p>
        </p:txBody>
      </p:sp>
      <p:sp>
        <p:nvSpPr>
          <p:cNvPr id="56" name="Text 54"/>
          <p:cNvSpPr txBox="1"/>
          <p:nvPr/>
        </p:nvSpPr>
        <p:spPr>
          <a:xfrm>
            <a:off x="2572143" y="1745704"/>
            <a:ext cx="167468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본 구축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진행 중</a:t>
            </a:r>
            <a:endParaRPr lang="en-US" sz="1080" dirty="0"/>
          </a:p>
        </p:txBody>
      </p:sp>
      <p:sp>
        <p:nvSpPr>
          <p:cNvPr id="57" name="Text 55"/>
          <p:cNvSpPr txBox="1"/>
          <p:nvPr/>
        </p:nvSpPr>
        <p:spPr>
          <a:xfrm>
            <a:off x="6948352" y="1745704"/>
            <a:ext cx="1152119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고도화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오픈 후</a:t>
            </a:r>
            <a:endParaRPr lang="en-US" sz="1080" dirty="0"/>
          </a:p>
        </p:txBody>
      </p:sp>
      <p:sp>
        <p:nvSpPr>
          <p:cNvPr id="58" name="Text 56"/>
          <p:cNvSpPr txBox="1"/>
          <p:nvPr/>
        </p:nvSpPr>
        <p:spPr>
          <a:xfrm>
            <a:off x="416956" y="1983334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실제 데이터로 가능성을 검증하고 본 구축</a:t>
            </a:r>
            <a:endParaRPr lang="en-US" sz="855" dirty="0"/>
          </a:p>
        </p:txBody>
      </p:sp>
      <p:sp>
        <p:nvSpPr>
          <p:cNvPr id="59" name="Text 57"/>
          <p:cNvSpPr txBox="1"/>
          <p:nvPr/>
        </p:nvSpPr>
        <p:spPr>
          <a:xfrm>
            <a:off x="6948352" y="1983334"/>
            <a:ext cx="188590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</a:t>
            </a:r>
            <a:endParaRPr lang="en-US" sz="855" dirty="0"/>
          </a:p>
        </p:txBody>
      </p:sp>
      <p:sp>
        <p:nvSpPr>
          <p:cNvPr id="60" name="Text 58"/>
          <p:cNvSpPr txBox="1"/>
          <p:nvPr/>
        </p:nvSpPr>
        <p:spPr>
          <a:xfrm>
            <a:off x="416956" y="2145869"/>
            <a:ext cx="10442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범위를 확정했습니다.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6948352" y="2145869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해 재학습</a:t>
            </a:r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4149443" y="2179301"/>
            <a:ext cx="25658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 줄로 확인, 지역-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2732160" y="225388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948352" y="2308918"/>
            <a:ext cx="35569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4149443" y="2333606"/>
            <a:ext cx="250548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 · 사업부-제품군 드릴다운, 연관 질의로 이어서 분석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565085" y="2364467"/>
            <a:ext cx="1612322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현업이 직접 질의하며 답변 품질 확인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96481" y="2527001"/>
            <a:ext cx="1310306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질의 로그 기반 재학습 사이클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565085" y="2553233"/>
            <a:ext cx="1521798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본 구축 대상 지표 · 문서 범위 확정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096482" y="2716282"/>
            <a:ext cx="1513751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법인 확산에 맞춘 다국어 대응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149444" y="2809380"/>
            <a:ext cx="25859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표로 즉시 제공, 기초 데이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2732160" y="2883446"/>
            <a:ext cx="123075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4149444" y="2963685"/>
            <a:ext cx="13999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내려받아 후속 작업에 활용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149444" y="3438944"/>
            <a:ext cx="2650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보고서용 차트로 자동 변환(GenChart), 프롬프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2159" y="3513525"/>
            <a:ext cx="109908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149444" y="3593249"/>
            <a:ext cx="14328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트만으로 PPT 생성 후 메일 발송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149443" y="4069023"/>
            <a:ext cx="2607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지식화, 질문 의도를 해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2732160" y="4143089"/>
            <a:ext cx="129841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149444" y="4223328"/>
            <a:ext cx="143557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석해 응답, 한글 · 영문 질의 대응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531253" y="4616806"/>
            <a:ext cx="59892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완료 · 4개월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2686441" y="4616806"/>
            <a:ext cx="134505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 · 9월 해외 법인 전체 오픈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7062649" y="4616806"/>
            <a:ext cx="7589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오픈 후 운영 단계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4452102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- 27 -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679971"/>
            <a:ext cx="2971726" cy="4166750"/>
          </a:xfrm>
          <a:prstGeom prst="roundRect">
            <a:avLst>
              <a:gd name="adj" fmla="val 3846"/>
            </a:avLst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468161" y="2057914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161" y="2857729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8161" y="4486675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77541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Shape 7"/>
          <p:cNvSpPr/>
          <p:nvPr/>
        </p:nvSpPr>
        <p:spPr>
          <a:xfrm>
            <a:off x="5630735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7284843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Shape 9"/>
          <p:cNvSpPr/>
          <p:nvPr/>
        </p:nvSpPr>
        <p:spPr>
          <a:xfrm>
            <a:off x="3566071" y="1665979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77541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30735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7284843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66071" y="2726055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541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630735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7284843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3566071" y="3786130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77541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Shape 19"/>
          <p:cNvSpPr/>
          <p:nvPr/>
        </p:nvSpPr>
        <p:spPr>
          <a:xfrm>
            <a:off x="5630735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2" name="Shape 20"/>
          <p:cNvSpPr/>
          <p:nvPr/>
        </p:nvSpPr>
        <p:spPr>
          <a:xfrm>
            <a:off x="7284843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Shape 21"/>
          <p:cNvSpPr/>
          <p:nvPr/>
        </p:nvSpPr>
        <p:spPr>
          <a:xfrm>
            <a:off x="479590" y="4637165"/>
            <a:ext cx="68579" cy="41963"/>
          </a:xfrm>
          <a:prstGeom prst="roundRect">
            <a:avLst>
              <a:gd name="adj" fmla="val 18170"/>
            </a:avLst>
          </a:prstGeom>
          <a:ln w="8133">
            <a:solidFill>
              <a:srgbClr val="2DD4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831" y="4602833"/>
            <a:ext cx="38099" cy="34333"/>
          </a:xfrm>
          <a:custGeom>
            <a:avLst/>
            <a:gdLst/>
            <a:ahLst/>
            <a:cxnLst/>
            <a:rect l="l" t="t" r="r" b="b"/>
            <a:pathLst>
              <a:path w="50799" h="45777">
                <a:moveTo>
                  <a:pt x="0" y="45777"/>
                </a:moveTo>
                <a:lnTo>
                  <a:pt x="0" y="25432"/>
                </a:lnTo>
                <a:cubicBezTo>
                  <a:pt x="0" y="11386"/>
                  <a:pt x="11372" y="0"/>
                  <a:pt x="25399" y="0"/>
                </a:cubicBezTo>
                <a:cubicBezTo>
                  <a:pt x="39427" y="0"/>
                  <a:pt x="50799" y="11386"/>
                  <a:pt x="50799" y="25432"/>
                </a:cubicBezTo>
                <a:lnTo>
                  <a:pt x="50799" y="45777"/>
                </a:lnTo>
              </a:path>
            </a:pathLst>
          </a:custGeom>
          <a:ln w="8133">
            <a:solidFill>
              <a:srgbClr val="2DD4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3566071" y="673799"/>
            <a:ext cx="343809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1530" dirty="0"/>
          </a:p>
        </p:txBody>
      </p:sp>
      <p:sp>
        <p:nvSpPr>
          <p:cNvPr id="28" name="Text 26"/>
          <p:cNvSpPr txBox="1"/>
          <p:nvPr/>
        </p:nvSpPr>
        <p:spPr>
          <a:xfrm>
            <a:off x="3977540" y="691286"/>
            <a:ext cx="1249043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5157087" y="753009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30" name="Text 28"/>
          <p:cNvSpPr txBox="1"/>
          <p:nvPr/>
        </p:nvSpPr>
        <p:spPr>
          <a:xfrm>
            <a:off x="468161" y="846106"/>
            <a:ext cx="19482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12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CASE C · MANUFACTURING R&amp;D</a:t>
            </a:r>
            <a:endParaRPr lang="en-US" sz="668" dirty="0"/>
          </a:p>
        </p:txBody>
      </p:sp>
      <p:sp>
        <p:nvSpPr>
          <p:cNvPr id="31" name="Text 29"/>
          <p:cNvSpPr txBox="1"/>
          <p:nvPr/>
        </p:nvSpPr>
        <p:spPr>
          <a:xfrm>
            <a:off x="4062578" y="915029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716686" y="915029"/>
            <a:ext cx="156404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7369880" y="91502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468161" y="1059046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지표와 문서 근거를</a:t>
            </a:r>
            <a:endParaRPr lang="en-US" sz="1395" dirty="0"/>
          </a:p>
        </p:txBody>
      </p:sp>
      <p:sp>
        <p:nvSpPr>
          <p:cNvPr id="35" name="Text 33"/>
          <p:cNvSpPr txBox="1"/>
          <p:nvPr/>
        </p:nvSpPr>
        <p:spPr>
          <a:xfrm>
            <a:off x="4062577" y="1067277"/>
            <a:ext cx="115211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반영한 전용 마트 설계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5716686" y="1067277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바라보는 구조</a:t>
            </a:r>
            <a:endParaRPr lang="en-US" sz="825" dirty="0"/>
          </a:p>
        </p:txBody>
      </p:sp>
      <p:sp>
        <p:nvSpPr>
          <p:cNvPr id="37" name="Text 35"/>
          <p:cNvSpPr txBox="1"/>
          <p:nvPr/>
        </p:nvSpPr>
        <p:spPr>
          <a:xfrm>
            <a:off x="7369880" y="1067277"/>
            <a:ext cx="73699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추가해 확장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68161" y="1288961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 포털에서 함께 봅니다</a:t>
            </a:r>
            <a:endParaRPr lang="en-US" sz="1395" dirty="0"/>
          </a:p>
        </p:txBody>
      </p:sp>
      <p:sp>
        <p:nvSpPr>
          <p:cNvPr id="39" name="Text 37"/>
          <p:cNvSpPr txBox="1"/>
          <p:nvPr/>
        </p:nvSpPr>
        <p:spPr>
          <a:xfrm>
            <a:off x="468161" y="1620717"/>
            <a:ext cx="27991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 정량 지표와 문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3566071" y="1734389"/>
            <a:ext cx="371240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1530" dirty="0"/>
          </a:p>
        </p:txBody>
      </p:sp>
      <p:sp>
        <p:nvSpPr>
          <p:cNvPr id="41" name="Text 39"/>
          <p:cNvSpPr txBox="1"/>
          <p:nvPr/>
        </p:nvSpPr>
        <p:spPr>
          <a:xfrm>
            <a:off x="3977541" y="1751362"/>
            <a:ext cx="10935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468161" y="1785309"/>
            <a:ext cx="161634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근거를 함께 확인하는 구조입니다.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5002557" y="1813599"/>
            <a:ext cx="4608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062578" y="1975104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5716686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7369880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4062577" y="2127867"/>
            <a:ext cx="145203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렌드 · 순위 · 누적 7개 질의유형</a:t>
            </a:r>
            <a:endParaRPr lang="en-US" sz="825" dirty="0"/>
          </a:p>
        </p:txBody>
      </p:sp>
      <p:sp>
        <p:nvSpPr>
          <p:cNvPr id="48" name="Text 46"/>
          <p:cNvSpPr txBox="1"/>
          <p:nvPr/>
        </p:nvSpPr>
        <p:spPr>
          <a:xfrm>
            <a:off x="5716687" y="2127867"/>
            <a:ext cx="111188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 내역 조회 · 다운로드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7369880" y="2127867"/>
            <a:ext cx="82842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면에서 바로 분석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468161" y="2150498"/>
            <a:ext cx="49193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630" dirty="0"/>
          </a:p>
        </p:txBody>
      </p:sp>
      <p:sp>
        <p:nvSpPr>
          <p:cNvPr id="51" name="Text 49"/>
          <p:cNvSpPr txBox="1"/>
          <p:nvPr/>
        </p:nvSpPr>
        <p:spPr>
          <a:xfrm>
            <a:off x="1131085" y="2147926"/>
            <a:ext cx="167267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냉난방 제품 개발 연구소</a:t>
            </a:r>
            <a:endParaRPr lang="en-US" sz="758" dirty="0"/>
          </a:p>
        </p:txBody>
      </p:sp>
      <p:sp>
        <p:nvSpPr>
          <p:cNvPr id="52" name="Text 50"/>
          <p:cNvSpPr txBox="1"/>
          <p:nvPr/>
        </p:nvSpPr>
        <p:spPr>
          <a:xfrm>
            <a:off x="468162" y="2310461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30" dirty="0"/>
          </a:p>
        </p:txBody>
      </p:sp>
      <p:sp>
        <p:nvSpPr>
          <p:cNvPr id="53" name="Text 51"/>
          <p:cNvSpPr txBox="1"/>
          <p:nvPr/>
        </p:nvSpPr>
        <p:spPr>
          <a:xfrm>
            <a:off x="1131085" y="2307889"/>
            <a:ext cx="596177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R&amp;D</a:t>
            </a:r>
            <a:endParaRPr lang="en-US" sz="758" dirty="0"/>
          </a:p>
        </p:txBody>
      </p:sp>
      <p:sp>
        <p:nvSpPr>
          <p:cNvPr id="54" name="Text 52"/>
          <p:cNvSpPr txBox="1"/>
          <p:nvPr/>
        </p:nvSpPr>
        <p:spPr>
          <a:xfrm>
            <a:off x="468161" y="2470423"/>
            <a:ext cx="50474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630" dirty="0"/>
          </a:p>
        </p:txBody>
      </p:sp>
      <p:sp>
        <p:nvSpPr>
          <p:cNvPr id="55" name="Text 53"/>
          <p:cNvSpPr txBox="1"/>
          <p:nvPr/>
        </p:nvSpPr>
        <p:spPr>
          <a:xfrm>
            <a:off x="1131085" y="2467337"/>
            <a:ext cx="1546943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· 경쟁사 정보</a:t>
            </a:r>
            <a:endParaRPr lang="en-US" sz="758" dirty="0"/>
          </a:p>
        </p:txBody>
      </p:sp>
      <p:sp>
        <p:nvSpPr>
          <p:cNvPr id="56" name="Text 54"/>
          <p:cNvSpPr txBox="1"/>
          <p:nvPr/>
        </p:nvSpPr>
        <p:spPr>
          <a:xfrm>
            <a:off x="468162" y="2630386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630" dirty="0"/>
          </a:p>
        </p:txBody>
      </p:sp>
      <p:sp>
        <p:nvSpPr>
          <p:cNvPr id="57" name="Text 55"/>
          <p:cNvSpPr txBox="1"/>
          <p:nvPr/>
        </p:nvSpPr>
        <p:spPr>
          <a:xfrm>
            <a:off x="1131085" y="2627299"/>
            <a:ext cx="105428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12월 오픈 예정</a:t>
            </a:r>
            <a:endParaRPr lang="en-US" sz="758" dirty="0"/>
          </a:p>
        </p:txBody>
      </p:sp>
      <p:sp>
        <p:nvSpPr>
          <p:cNvPr id="58" name="Text 56"/>
          <p:cNvSpPr txBox="1"/>
          <p:nvPr/>
        </p:nvSpPr>
        <p:spPr>
          <a:xfrm>
            <a:off x="3566071" y="2794463"/>
            <a:ext cx="373984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1530" dirty="0"/>
          </a:p>
        </p:txBody>
      </p:sp>
      <p:sp>
        <p:nvSpPr>
          <p:cNvPr id="59" name="Text 57"/>
          <p:cNvSpPr txBox="1"/>
          <p:nvPr/>
        </p:nvSpPr>
        <p:spPr>
          <a:xfrm>
            <a:off x="3977540" y="2811437"/>
            <a:ext cx="1125602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5033646" y="287367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61" name="Text 59"/>
          <p:cNvSpPr txBox="1"/>
          <p:nvPr/>
        </p:nvSpPr>
        <p:spPr>
          <a:xfrm>
            <a:off x="468162" y="2948255"/>
            <a:ext cx="4928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645" dirty="0"/>
          </a:p>
        </p:txBody>
      </p:sp>
      <p:sp>
        <p:nvSpPr>
          <p:cNvPr id="62" name="Text 60"/>
          <p:cNvSpPr txBox="1"/>
          <p:nvPr/>
        </p:nvSpPr>
        <p:spPr>
          <a:xfrm>
            <a:off x="4062578" y="3035180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5716686" y="3035180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7369880" y="3035180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468161" y="3099988"/>
            <a:ext cx="26700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788193" y="3099988"/>
            <a:ext cx="146117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경영실적 · 품질실적 · 콘텐츠 영역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4062578" y="3187941"/>
            <a:ext cx="110457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처리하는 멀티모달 방식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5716686" y="3187941"/>
            <a:ext cx="228598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7369880" y="3187941"/>
            <a:ext cx="112834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근거를 한 흐름에서 확인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468161" y="3271266"/>
            <a:ext cx="28071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788194" y="3271266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개발실적 영역 확대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3566071" y="3854539"/>
            <a:ext cx="377642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1530" dirty="0"/>
          </a:p>
        </p:txBody>
      </p:sp>
      <p:sp>
        <p:nvSpPr>
          <p:cNvPr id="73" name="Text 71"/>
          <p:cNvSpPr txBox="1"/>
          <p:nvPr/>
        </p:nvSpPr>
        <p:spPr>
          <a:xfrm>
            <a:off x="3977541" y="3872027"/>
            <a:ext cx="13797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125" dirty="0"/>
          </a:p>
        </p:txBody>
      </p:sp>
      <p:sp>
        <p:nvSpPr>
          <p:cNvPr id="74" name="Text 72"/>
          <p:cNvSpPr txBox="1"/>
          <p:nvPr/>
        </p:nvSpPr>
        <p:spPr>
          <a:xfrm>
            <a:off x="5287843" y="3933749"/>
            <a:ext cx="5230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75" name="Text 73"/>
          <p:cNvSpPr txBox="1"/>
          <p:nvPr/>
        </p:nvSpPr>
        <p:spPr>
          <a:xfrm>
            <a:off x="4062578" y="4095769"/>
            <a:ext cx="137065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5716686" y="409576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7369880" y="4095769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5716686" y="4248017"/>
            <a:ext cx="52851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별로 추적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7369880" y="4248017"/>
            <a:ext cx="64463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 구독 발송</a:t>
            </a:r>
            <a:endParaRPr lang="en-US" sz="825" dirty="0"/>
          </a:p>
        </p:txBody>
      </p:sp>
      <p:sp>
        <p:nvSpPr>
          <p:cNvPr id="80" name="Text 78"/>
          <p:cNvSpPr txBox="1"/>
          <p:nvPr/>
        </p:nvSpPr>
        <p:spPr>
          <a:xfrm>
            <a:off x="617205" y="4576686"/>
            <a:ext cx="247631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 고객사 환경에 맞춰 구성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4450274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82" name="Text 8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97173" y="1626889"/>
            <a:ext cx="8549426" cy="377018"/>
          </a:xfrm>
          <a:prstGeom prst="roundRect">
            <a:avLst>
              <a:gd name="adj" fmla="val 2425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37237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114698" y="1695298"/>
            <a:ext cx="2960753" cy="239687"/>
          </a:xfrm>
          <a:prstGeom prst="roundRect">
            <a:avLst>
              <a:gd name="adj" fmla="val 26227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717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34329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509051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646208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720015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57171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931893" y="2140725"/>
            <a:ext cx="1914706" cy="2254396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7069050" y="266073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473647" y="4683607"/>
            <a:ext cx="98753" cy="60115"/>
          </a:xfrm>
          <a:prstGeom prst="roundRect">
            <a:avLst>
              <a:gd name="adj" fmla="val 18217"/>
            </a:avLst>
          </a:pr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495592" y="4634422"/>
            <a:ext cx="54863" cy="49185"/>
          </a:xfrm>
          <a:custGeom>
            <a:avLst/>
            <a:gdLst/>
            <a:ahLst/>
            <a:cxnLst/>
            <a:rect l="l" t="t" r="r" b="b"/>
            <a:pathLst>
              <a:path w="73150" h="65580">
                <a:moveTo>
                  <a:pt x="0" y="65580"/>
                </a:moveTo>
                <a:lnTo>
                  <a:pt x="0" y="36433"/>
                </a:lnTo>
                <a:cubicBezTo>
                  <a:pt x="0" y="16312"/>
                  <a:pt x="16375" y="0"/>
                  <a:pt x="36575" y="0"/>
                </a:cubicBezTo>
                <a:cubicBezTo>
                  <a:pt x="56775" y="0"/>
                  <a:pt x="73150" y="16312"/>
                  <a:pt x="73150" y="36433"/>
                </a:cubicBezTo>
                <a:lnTo>
                  <a:pt x="73150" y="65580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5" name="Text 23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6" name="Text 24"/>
          <p:cNvSpPr txBox="1"/>
          <p:nvPr/>
        </p:nvSpPr>
        <p:spPr>
          <a:xfrm>
            <a:off x="297173" y="641909"/>
            <a:ext cx="662429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정량 지표와 문서 근거를 함께 확인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구조입니다. 12월 오픈 예정입니다.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28" name="Text 26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29" name="Text 27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30" name="Text 28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31" name="Text 29"/>
          <p:cNvSpPr txBox="1"/>
          <p:nvPr/>
        </p:nvSpPr>
        <p:spPr>
          <a:xfrm>
            <a:off x="428844" y="1262730"/>
            <a:ext cx="200458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· 냉난방 제품 개발 연구소</a:t>
            </a:r>
            <a:endParaRPr lang="en-US" sz="915" dirty="0"/>
          </a:p>
        </p:txBody>
      </p:sp>
      <p:sp>
        <p:nvSpPr>
          <p:cNvPr id="32" name="Text 30"/>
          <p:cNvSpPr txBox="1"/>
          <p:nvPr/>
        </p:nvSpPr>
        <p:spPr>
          <a:xfrm>
            <a:off x="2806224" y="1262730"/>
            <a:ext cx="70864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</a:t>
            </a:r>
            <a:endParaRPr lang="en-US" sz="915" dirty="0"/>
          </a:p>
        </p:txBody>
      </p:sp>
      <p:sp>
        <p:nvSpPr>
          <p:cNvPr id="33" name="Text 31"/>
          <p:cNvSpPr txBox="1"/>
          <p:nvPr/>
        </p:nvSpPr>
        <p:spPr>
          <a:xfrm>
            <a:off x="4324090" y="1262730"/>
            <a:ext cx="124721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12월 오픈 예정</a:t>
            </a:r>
            <a:endParaRPr lang="en-US" sz="915" dirty="0"/>
          </a:p>
        </p:txBody>
      </p:sp>
      <p:sp>
        <p:nvSpPr>
          <p:cNvPr id="34" name="Text 32"/>
          <p:cNvSpPr txBox="1"/>
          <p:nvPr/>
        </p:nvSpPr>
        <p:spPr>
          <a:xfrm>
            <a:off x="6410698" y="1262730"/>
            <a:ext cx="185673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경영 · 품질 · 개발 실적 · 경쟁사 정보</a:t>
            </a:r>
            <a:endParaRPr lang="en-US" sz="915" dirty="0"/>
          </a:p>
        </p:txBody>
      </p:sp>
      <p:sp>
        <p:nvSpPr>
          <p:cNvPr id="35" name="Text 33"/>
          <p:cNvSpPr txBox="1"/>
          <p:nvPr/>
        </p:nvSpPr>
        <p:spPr>
          <a:xfrm>
            <a:off x="1599245" y="1739018"/>
            <a:ext cx="179940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 경영실적 · 품질실적 · 콘텐츠 영역</a:t>
            </a:r>
            <a:endParaRPr lang="en-US" sz="855" dirty="0"/>
          </a:p>
        </p:txBody>
      </p:sp>
      <p:sp>
        <p:nvSpPr>
          <p:cNvPr id="36" name="Text 34"/>
          <p:cNvSpPr txBox="1"/>
          <p:nvPr/>
        </p:nvSpPr>
        <p:spPr>
          <a:xfrm>
            <a:off x="5098567" y="1739018"/>
            <a:ext cx="112925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 개발실적 영역 확대</a:t>
            </a:r>
            <a:endParaRPr lang="en-US" sz="855" dirty="0"/>
          </a:p>
        </p:txBody>
      </p:sp>
      <p:sp>
        <p:nvSpPr>
          <p:cNvPr id="37" name="Text 35"/>
          <p:cNvSpPr txBox="1"/>
          <p:nvPr/>
        </p:nvSpPr>
        <p:spPr>
          <a:xfrm>
            <a:off x="428843" y="1743132"/>
            <a:ext cx="52028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3988513" y="1742104"/>
            <a:ext cx="17190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855" dirty="0"/>
          </a:p>
        </p:txBody>
      </p:sp>
      <p:sp>
        <p:nvSpPr>
          <p:cNvPr id="39" name="Text 37"/>
          <p:cNvSpPr txBox="1"/>
          <p:nvPr/>
        </p:nvSpPr>
        <p:spPr>
          <a:xfrm>
            <a:off x="7200720" y="1746218"/>
            <a:ext cx="1666635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1차에 이어 2차 과업으로 적용 영역 확대</a:t>
            </a:r>
            <a:endParaRPr lang="en-US" sz="773" dirty="0"/>
          </a:p>
        </p:txBody>
      </p:sp>
      <p:sp>
        <p:nvSpPr>
          <p:cNvPr id="40" name="Text 38"/>
          <p:cNvSpPr txBox="1"/>
          <p:nvPr/>
        </p:nvSpPr>
        <p:spPr>
          <a:xfrm>
            <a:off x="434330" y="226005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1" name="Text 39"/>
          <p:cNvSpPr txBox="1"/>
          <p:nvPr/>
        </p:nvSpPr>
        <p:spPr>
          <a:xfrm>
            <a:off x="1665081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42" name="Text 40"/>
          <p:cNvSpPr txBox="1"/>
          <p:nvPr/>
        </p:nvSpPr>
        <p:spPr>
          <a:xfrm>
            <a:off x="2646208" y="226005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43" name="Text 41"/>
          <p:cNvSpPr txBox="1"/>
          <p:nvPr/>
        </p:nvSpPr>
        <p:spPr>
          <a:xfrm>
            <a:off x="3953767" y="226005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857171" y="226005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45" name="Text 43"/>
          <p:cNvSpPr txBox="1"/>
          <p:nvPr/>
        </p:nvSpPr>
        <p:spPr>
          <a:xfrm>
            <a:off x="6087923" y="226005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46" name="Text 44"/>
          <p:cNvSpPr txBox="1"/>
          <p:nvPr/>
        </p:nvSpPr>
        <p:spPr>
          <a:xfrm>
            <a:off x="7069050" y="226005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47" name="Text 45"/>
          <p:cNvSpPr txBox="1"/>
          <p:nvPr/>
        </p:nvSpPr>
        <p:spPr>
          <a:xfrm>
            <a:off x="8309860" y="226005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2408701"/>
            <a:ext cx="122161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095" dirty="0"/>
          </a:p>
        </p:txBody>
      </p:sp>
      <p:sp>
        <p:nvSpPr>
          <p:cNvPr id="49" name="Text 47"/>
          <p:cNvSpPr txBox="1"/>
          <p:nvPr/>
        </p:nvSpPr>
        <p:spPr>
          <a:xfrm>
            <a:off x="2646208" y="2408701"/>
            <a:ext cx="1070739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095" dirty="0"/>
          </a:p>
        </p:txBody>
      </p:sp>
      <p:sp>
        <p:nvSpPr>
          <p:cNvPr id="50" name="Text 48"/>
          <p:cNvSpPr txBox="1"/>
          <p:nvPr/>
        </p:nvSpPr>
        <p:spPr>
          <a:xfrm>
            <a:off x="4857171" y="2408701"/>
            <a:ext cx="1101828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095" dirty="0"/>
          </a:p>
        </p:txBody>
      </p:sp>
      <p:sp>
        <p:nvSpPr>
          <p:cNvPr id="51" name="Text 49"/>
          <p:cNvSpPr txBox="1"/>
          <p:nvPr/>
        </p:nvSpPr>
        <p:spPr>
          <a:xfrm>
            <a:off x="7069051" y="2408701"/>
            <a:ext cx="1349624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095" dirty="0"/>
          </a:p>
        </p:txBody>
      </p:sp>
      <p:sp>
        <p:nvSpPr>
          <p:cNvPr id="52" name="Text 50"/>
          <p:cNvSpPr txBox="1"/>
          <p:nvPr/>
        </p:nvSpPr>
        <p:spPr>
          <a:xfrm>
            <a:off x="434330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특성을 반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646208" y="2729141"/>
            <a:ext cx="179236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트렌드 ·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4857171" y="2729141"/>
            <a:ext cx="180040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 처리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7069050" y="2729141"/>
            <a:ext cx="134322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10" dirty="0"/>
          </a:p>
        </p:txBody>
      </p:sp>
      <p:sp>
        <p:nvSpPr>
          <p:cNvPr id="56" name="Text 54"/>
          <p:cNvSpPr txBox="1"/>
          <p:nvPr/>
        </p:nvSpPr>
        <p:spPr>
          <a:xfrm>
            <a:off x="434329" y="2883446"/>
            <a:ext cx="92718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영한 전용 마트 설계</a:t>
            </a:r>
            <a:endParaRPr lang="en-US" sz="810" dirty="0"/>
          </a:p>
        </p:txBody>
      </p:sp>
      <p:sp>
        <p:nvSpPr>
          <p:cNvPr id="57" name="Text 55"/>
          <p:cNvSpPr txBox="1"/>
          <p:nvPr/>
        </p:nvSpPr>
        <p:spPr>
          <a:xfrm>
            <a:off x="2646208" y="2883446"/>
            <a:ext cx="11466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순위 · 누적 7개 질의유형</a:t>
            </a:r>
            <a:endParaRPr lang="en-US" sz="810" dirty="0"/>
          </a:p>
        </p:txBody>
      </p:sp>
      <p:sp>
        <p:nvSpPr>
          <p:cNvPr id="58" name="Text 56"/>
          <p:cNvSpPr txBox="1"/>
          <p:nvPr/>
        </p:nvSpPr>
        <p:spPr>
          <a:xfrm>
            <a:off x="4857171" y="2883446"/>
            <a:ext cx="9034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멀티모달 방식</a:t>
            </a:r>
            <a:endParaRPr lang="en-US" sz="810" dirty="0"/>
          </a:p>
        </p:txBody>
      </p:sp>
      <p:sp>
        <p:nvSpPr>
          <p:cNvPr id="59" name="Text 57"/>
          <p:cNvSpPr txBox="1"/>
          <p:nvPr/>
        </p:nvSpPr>
        <p:spPr>
          <a:xfrm>
            <a:off x="7069051" y="2946197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단계별로</a:t>
            </a:r>
            <a:endParaRPr lang="en-US" sz="810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3100502"/>
            <a:ext cx="172799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데이터를</a:t>
            </a:r>
            <a:endParaRPr lang="en-US" sz="810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3100502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세부</a:t>
            </a:r>
            <a:endParaRPr lang="en-US" sz="810" dirty="0"/>
          </a:p>
        </p:txBody>
      </p:sp>
      <p:sp>
        <p:nvSpPr>
          <p:cNvPr id="62" name="Text 60"/>
          <p:cNvSpPr txBox="1"/>
          <p:nvPr/>
        </p:nvSpPr>
        <p:spPr>
          <a:xfrm>
            <a:off x="4857171" y="3100502"/>
            <a:ext cx="1612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제시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7069050" y="3100502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추적</a:t>
            </a:r>
            <a:endParaRPr lang="en-US" sz="810" dirty="0"/>
          </a:p>
        </p:txBody>
      </p:sp>
      <p:sp>
        <p:nvSpPr>
          <p:cNvPr id="64" name="Text 62"/>
          <p:cNvSpPr txBox="1"/>
          <p:nvPr/>
        </p:nvSpPr>
        <p:spPr>
          <a:xfrm>
            <a:off x="434330" y="3254807"/>
            <a:ext cx="70041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바라보는 구조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3254807"/>
            <a:ext cx="97655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내역 조회 · 다운로드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331755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 근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3317558"/>
            <a:ext cx="173804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정기 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347186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마트를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3471863"/>
            <a:ext cx="17843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화면에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3471863"/>
            <a:ext cx="101679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거를 한 흐름에서 확인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3471863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독 발송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362616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추가해 확장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3626168"/>
            <a:ext cx="63366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바로 분석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679382" y="4609605"/>
            <a:ext cx="468408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고객사 환경에 맞춰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구성했습니다. 12월 오픈 예정입니다.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- 29 -</a:t>
            </a:r>
            <a:endParaRPr lang="en-US" sz="705" dirty="0"/>
          </a:p>
        </p:txBody>
      </p:sp>
      <p:sp>
        <p:nvSpPr>
          <p:cNvPr id="76" name="Text 7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6217</Words>
  <Application>Microsoft Office PowerPoint</Application>
  <PresentationFormat>화면 슬라이드 쇼(16:9)</PresentationFormat>
  <Paragraphs>1102</Paragraphs>
  <Slides>36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5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PowerPoint 프레젠테이션</vt:lpstr>
      <vt:lpstr>PowerPoint 프레젠테이션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99</cp:revision>
  <dcterms:created xsi:type="dcterms:W3CDTF">2026-05-21T10:23:19Z</dcterms:created>
  <dcterms:modified xsi:type="dcterms:W3CDTF">2026-09-17T00:40:27Z</dcterms:modified>
</cp:coreProperties>
</file>