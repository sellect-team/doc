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7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34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56" r:id="rId19"/>
    <p:sldId id="257" r:id="rId20"/>
    <p:sldId id="258" r:id="rId21"/>
    <p:sldId id="623" r:id="rId22"/>
    <p:sldId id="635" r:id="rId23"/>
    <p:sldId id="625" r:id="rId24"/>
    <p:sldId id="597" r:id="rId25"/>
    <p:sldId id="624" r:id="rId26"/>
    <p:sldId id="259" r:id="rId27"/>
    <p:sldId id="260" r:id="rId28"/>
    <p:sldId id="261" r:id="rId29"/>
    <p:sldId id="617" r:id="rId30"/>
    <p:sldId id="626" r:id="rId31"/>
    <p:sldId id="627" r:id="rId32"/>
    <p:sldId id="628" r:id="rId33"/>
    <p:sldId id="629" r:id="rId34"/>
    <p:sldId id="630" r:id="rId35"/>
    <p:sldId id="264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34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35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svg"/><Relationship Id="rId13" Type="http://schemas.openxmlformats.org/officeDocument/2006/relationships/image" Target="../media/image113.svg"/><Relationship Id="rId3" Type="http://schemas.openxmlformats.org/officeDocument/2006/relationships/image" Target="../media/image103.png"/><Relationship Id="rId7" Type="http://schemas.openxmlformats.org/officeDocument/2006/relationships/image" Target="../media/image107.svg"/><Relationship Id="rId12" Type="http://schemas.openxmlformats.org/officeDocument/2006/relationships/image" Target="../media/image112.svg"/><Relationship Id="rId17" Type="http://schemas.openxmlformats.org/officeDocument/2006/relationships/image" Target="../media/image117.png"/><Relationship Id="rId2" Type="http://schemas.openxmlformats.org/officeDocument/2006/relationships/image" Target="../media/image102.png"/><Relationship Id="rId16" Type="http://schemas.openxmlformats.org/officeDocument/2006/relationships/image" Target="../media/image1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6.svg"/><Relationship Id="rId11" Type="http://schemas.openxmlformats.org/officeDocument/2006/relationships/image" Target="../media/image111.svg"/><Relationship Id="rId5" Type="http://schemas.openxmlformats.org/officeDocument/2006/relationships/image" Target="../media/image105.png"/><Relationship Id="rId15" Type="http://schemas.openxmlformats.org/officeDocument/2006/relationships/image" Target="../media/image115.svg"/><Relationship Id="rId10" Type="http://schemas.openxmlformats.org/officeDocument/2006/relationships/image" Target="../media/image110.svg"/><Relationship Id="rId4" Type="http://schemas.openxmlformats.org/officeDocument/2006/relationships/image" Target="../media/image104.png"/><Relationship Id="rId9" Type="http://schemas.openxmlformats.org/officeDocument/2006/relationships/image" Target="../media/image109.svg"/><Relationship Id="rId14" Type="http://schemas.openxmlformats.org/officeDocument/2006/relationships/image" Target="../media/image114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svg"/><Relationship Id="rId3" Type="http://schemas.openxmlformats.org/officeDocument/2006/relationships/image" Target="../media/image118.svg"/><Relationship Id="rId7" Type="http://schemas.openxmlformats.org/officeDocument/2006/relationships/image" Target="../media/image122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1.svg"/><Relationship Id="rId5" Type="http://schemas.openxmlformats.org/officeDocument/2006/relationships/image" Target="../media/image120.svg"/><Relationship Id="rId4" Type="http://schemas.openxmlformats.org/officeDocument/2006/relationships/image" Target="../media/image119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13" Type="http://schemas.openxmlformats.org/officeDocument/2006/relationships/image" Target="../media/image133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12" Type="http://schemas.openxmlformats.org/officeDocument/2006/relationships/image" Target="../media/image11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11" Type="http://schemas.openxmlformats.org/officeDocument/2006/relationships/image" Target="../media/image132.svg"/><Relationship Id="rId5" Type="http://schemas.openxmlformats.org/officeDocument/2006/relationships/image" Target="../media/image126.svg"/><Relationship Id="rId10" Type="http://schemas.openxmlformats.org/officeDocument/2006/relationships/image" Target="../media/image131.svg"/><Relationship Id="rId4" Type="http://schemas.openxmlformats.org/officeDocument/2006/relationships/image" Target="../media/image125.svg"/><Relationship Id="rId9" Type="http://schemas.openxmlformats.org/officeDocument/2006/relationships/image" Target="../media/image130.svg"/><Relationship Id="rId14" Type="http://schemas.openxmlformats.org/officeDocument/2006/relationships/image" Target="../media/image119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svg"/><Relationship Id="rId3" Type="http://schemas.openxmlformats.org/officeDocument/2006/relationships/image" Target="../media/image134.svg"/><Relationship Id="rId7" Type="http://schemas.openxmlformats.org/officeDocument/2006/relationships/image" Target="../media/image138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7.svg"/><Relationship Id="rId5" Type="http://schemas.openxmlformats.org/officeDocument/2006/relationships/image" Target="../media/image136.svg"/><Relationship Id="rId4" Type="http://schemas.openxmlformats.org/officeDocument/2006/relationships/image" Target="../media/image135.svg"/><Relationship Id="rId9" Type="http://schemas.openxmlformats.org/officeDocument/2006/relationships/image" Target="../media/image140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0726" y="1324966"/>
            <a:ext cx="73067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83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1739146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4795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3181119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9929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3091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31902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65064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3875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507037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1584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5133" y="2623700"/>
            <a:ext cx="780146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173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30" y="2940540"/>
            <a:ext cx="422442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30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30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30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30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039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195" y="2940540"/>
            <a:ext cx="611718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196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196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196" y="4002673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3383196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194905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2062" y="2940540"/>
            <a:ext cx="600746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2062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32062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6332062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32062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20" y="1692115"/>
            <a:ext cx="38404" cy="3825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162" y="1741300"/>
            <a:ext cx="71321" cy="35522"/>
          </a:xfrm>
          <a:custGeom>
            <a:avLst/>
            <a:gdLst/>
            <a:ahLst/>
            <a:cxnLst/>
            <a:rect l="l" t="t" r="r" b="b"/>
            <a:pathLst>
              <a:path w="95095" h="47363">
                <a:moveTo>
                  <a:pt x="0" y="47363"/>
                </a:moveTo>
                <a:cubicBezTo>
                  <a:pt x="0" y="21205"/>
                  <a:pt x="21288" y="0"/>
                  <a:pt x="47548" y="0"/>
                </a:cubicBezTo>
                <a:cubicBezTo>
                  <a:pt x="73807" y="0"/>
                  <a:pt x="95095" y="21205"/>
                  <a:pt x="95095" y="47363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3997" y="1703046"/>
            <a:ext cx="27431" cy="2732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2226" y="1751467"/>
            <a:ext cx="30175" cy="25355"/>
          </a:xfrm>
          <a:custGeom>
            <a:avLst/>
            <a:gdLst/>
            <a:ahLst/>
            <a:cxnLst/>
            <a:rect l="l" t="t" r="r" b="b"/>
            <a:pathLst>
              <a:path w="40233" h="33806">
                <a:moveTo>
                  <a:pt x="0" y="1016"/>
                </a:moveTo>
                <a:cubicBezTo>
                  <a:pt x="9710" y="0"/>
                  <a:pt x="19425" y="2893"/>
                  <a:pt x="26982" y="9052"/>
                </a:cubicBezTo>
                <a:cubicBezTo>
                  <a:pt x="34539" y="15211"/>
                  <a:pt x="39310" y="24124"/>
                  <a:pt x="40233" y="33806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18364" y="170577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0" y="0"/>
                </a:moveTo>
                <a:lnTo>
                  <a:pt x="95095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73226" y="1689383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0" y="0"/>
                </a:moveTo>
                <a:lnTo>
                  <a:pt x="21945" y="2186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34823" y="176042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95095" y="0"/>
                </a:moveTo>
                <a:lnTo>
                  <a:pt x="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34823" y="1744032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21945" y="0"/>
                </a:moveTo>
                <a:lnTo>
                  <a:pt x="0" y="21860"/>
                </a:lnTo>
                <a:lnTo>
                  <a:pt x="21945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4850" y="1694848"/>
            <a:ext cx="98753" cy="76510"/>
          </a:xfrm>
          <a:custGeom>
            <a:avLst/>
            <a:gdLst/>
            <a:ahLst/>
            <a:cxnLst/>
            <a:rect l="l" t="t" r="r" b="b"/>
            <a:pathLst>
              <a:path w="131670" h="102013">
                <a:moveTo>
                  <a:pt x="0" y="0"/>
                </a:moveTo>
                <a:lnTo>
                  <a:pt x="131670" y="0"/>
                </a:lnTo>
                <a:lnTo>
                  <a:pt x="80465" y="58293"/>
                </a:lnTo>
                <a:lnTo>
                  <a:pt x="80465" y="102013"/>
                </a:lnTo>
                <a:lnTo>
                  <a:pt x="51205" y="87439"/>
                </a:lnTo>
                <a:lnTo>
                  <a:pt x="51205" y="58293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99566" y="1686651"/>
            <a:ext cx="93266" cy="9290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1511" y="1708510"/>
            <a:ext cx="49376" cy="4918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0712" y="1727637"/>
            <a:ext cx="10973" cy="10930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44282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0" y="0"/>
                </a:moveTo>
                <a:lnTo>
                  <a:pt x="43890" y="0"/>
                </a:lnTo>
                <a:cubicBezTo>
                  <a:pt x="56010" y="0"/>
                  <a:pt x="65835" y="9787"/>
                  <a:pt x="65835" y="21860"/>
                </a:cubicBezTo>
                <a:lnTo>
                  <a:pt x="65835" y="109299"/>
                </a:lnTo>
                <a:cubicBezTo>
                  <a:pt x="65835" y="101251"/>
                  <a:pt x="59285" y="94726"/>
                  <a:pt x="51205" y="94726"/>
                </a:cubicBezTo>
                <a:lnTo>
                  <a:pt x="0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82686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65835" y="0"/>
                </a:moveTo>
                <a:lnTo>
                  <a:pt x="21945" y="0"/>
                </a:lnTo>
                <a:cubicBezTo>
                  <a:pt x="9825" y="0"/>
                  <a:pt x="0" y="9787"/>
                  <a:pt x="0" y="21860"/>
                </a:cubicBezTo>
                <a:lnTo>
                  <a:pt x="0" y="109299"/>
                </a:lnTo>
                <a:cubicBezTo>
                  <a:pt x="0" y="101251"/>
                  <a:pt x="6550" y="94726"/>
                  <a:pt x="14630" y="94726"/>
                </a:cubicBezTo>
                <a:lnTo>
                  <a:pt x="65835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688997" y="168391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13685" y="1722172"/>
            <a:ext cx="32918" cy="21860"/>
          </a:xfrm>
          <a:custGeom>
            <a:avLst/>
            <a:gdLst/>
            <a:ahLst/>
            <a:cxnLst/>
            <a:rect l="l" t="t" r="r" b="b"/>
            <a:pathLst>
              <a:path w="43890" h="29146">
                <a:moveTo>
                  <a:pt x="0" y="14573"/>
                </a:moveTo>
                <a:lnTo>
                  <a:pt x="14630" y="29146"/>
                </a:lnTo>
                <a:lnTo>
                  <a:pt x="4389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1877" y="463988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57" name="Text 55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58" name="Text 56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데이터를 Tableau 대시보드와 포털로 구축했습니다. 인력 현황부터 발령 추적, 권한별 열람 제한까지 같은 모듈 구성을 세</a:t>
            </a:r>
            <a:endParaRPr lang="en-US" sz="990" dirty="0"/>
          </a:p>
        </p:txBody>
      </p:sp>
      <p:sp>
        <p:nvSpPr>
          <p:cNvPr id="59" name="Text 57"/>
          <p:cNvSpPr txBox="1"/>
          <p:nvPr/>
        </p:nvSpPr>
        <p:spPr>
          <a:xfrm>
            <a:off x="297173" y="843020"/>
            <a:ext cx="4226434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곳에서 반복 수행했고, 구축 이후 유지보수와 단계 확장으로 이어지고 있습니다.</a:t>
            </a:r>
            <a:endParaRPr lang="en-US" sz="990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1263758"/>
            <a:ext cx="130024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모듈 - 세 곳 모두 적용</a:t>
            </a:r>
            <a:endParaRPr lang="en-US" sz="720" dirty="0"/>
          </a:p>
        </p:txBody>
      </p:sp>
      <p:sp>
        <p:nvSpPr>
          <p:cNvPr id="61" name="Text 59"/>
          <p:cNvSpPr txBox="1"/>
          <p:nvPr/>
        </p:nvSpPr>
        <p:spPr>
          <a:xfrm>
            <a:off x="405983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인력 현황</a:t>
            </a:r>
            <a:endParaRPr lang="en-US" sz="885" dirty="0"/>
          </a:p>
        </p:txBody>
      </p:sp>
      <p:sp>
        <p:nvSpPr>
          <p:cNvPr id="62" name="Text 60"/>
          <p:cNvSpPr txBox="1"/>
          <p:nvPr/>
        </p:nvSpPr>
        <p:spPr>
          <a:xfrm>
            <a:off x="1847957" y="1900524"/>
            <a:ext cx="62909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발령 · 이동</a:t>
            </a:r>
            <a:endParaRPr lang="en-US" sz="885" dirty="0"/>
          </a:p>
        </p:txBody>
      </p:sp>
      <p:sp>
        <p:nvSpPr>
          <p:cNvPr id="63" name="Text 61"/>
          <p:cNvSpPr txBox="1"/>
          <p:nvPr/>
        </p:nvSpPr>
        <p:spPr>
          <a:xfrm>
            <a:off x="3289929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조건 추출</a:t>
            </a:r>
            <a:endParaRPr lang="en-US" sz="885" dirty="0"/>
          </a:p>
        </p:txBody>
      </p:sp>
      <p:sp>
        <p:nvSpPr>
          <p:cNvPr id="64" name="Text 62"/>
          <p:cNvSpPr txBox="1"/>
          <p:nvPr/>
        </p:nvSpPr>
        <p:spPr>
          <a:xfrm>
            <a:off x="4731902" y="1900524"/>
            <a:ext cx="76716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핵심 인력 추적</a:t>
            </a:r>
            <a:endParaRPr lang="en-US" sz="885" dirty="0"/>
          </a:p>
        </p:txBody>
      </p:sp>
      <p:sp>
        <p:nvSpPr>
          <p:cNvPr id="65" name="Text 63"/>
          <p:cNvSpPr txBox="1"/>
          <p:nvPr/>
        </p:nvSpPr>
        <p:spPr>
          <a:xfrm>
            <a:off x="6173875" y="1900524"/>
            <a:ext cx="94364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교육 · 복지 활용도</a:t>
            </a:r>
            <a:endParaRPr lang="en-US" sz="885" dirty="0"/>
          </a:p>
        </p:txBody>
      </p:sp>
      <p:sp>
        <p:nvSpPr>
          <p:cNvPr id="66" name="Text 64"/>
          <p:cNvSpPr txBox="1"/>
          <p:nvPr/>
        </p:nvSpPr>
        <p:spPr>
          <a:xfrm>
            <a:off x="7615848" y="1900524"/>
            <a:ext cx="8631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권한별 열람 제한</a:t>
            </a:r>
            <a:endParaRPr lang="en-US" sz="885" dirty="0"/>
          </a:p>
        </p:txBody>
      </p:sp>
      <p:sp>
        <p:nvSpPr>
          <p:cNvPr id="67" name="Text 65"/>
          <p:cNvSpPr txBox="1"/>
          <p:nvPr/>
        </p:nvSpPr>
        <p:spPr>
          <a:xfrm>
            <a:off x="405983" y="2072316"/>
            <a:ext cx="125087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 등 재직 인원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1847957" y="2072316"/>
            <a:ext cx="121521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 발령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3289929" y="2072316"/>
            <a:ext cx="12591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원하는 조건의 인원만 골라 목록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4731902" y="2072316"/>
            <a:ext cx="122344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관리직의 이동과 해</a:t>
            </a:r>
            <a:endParaRPr lang="en-US" sz="720" dirty="0"/>
          </a:p>
        </p:txBody>
      </p:sp>
      <p:sp>
        <p:nvSpPr>
          <p:cNvPr id="71" name="Text 69"/>
          <p:cNvSpPr txBox="1"/>
          <p:nvPr/>
        </p:nvSpPr>
        <p:spPr>
          <a:xfrm>
            <a:off x="6173875" y="2072316"/>
            <a:ext cx="1210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교육, 휴가 · 복지 제도 이</a:t>
            </a:r>
            <a:endParaRPr lang="en-US" sz="720" dirty="0"/>
          </a:p>
        </p:txBody>
      </p:sp>
      <p:sp>
        <p:nvSpPr>
          <p:cNvPr id="72" name="Text 70"/>
          <p:cNvSpPr txBox="1"/>
          <p:nvPr/>
        </p:nvSpPr>
        <p:spPr>
          <a:xfrm>
            <a:off x="7615848" y="2072316"/>
            <a:ext cx="124538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 · 역할에 따라 조회 인원을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405984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구성</a:t>
            </a:r>
            <a:endParaRPr lang="en-US" sz="720" dirty="0"/>
          </a:p>
        </p:txBody>
      </p:sp>
      <p:sp>
        <p:nvSpPr>
          <p:cNvPr id="74" name="Text 72"/>
          <p:cNvSpPr txBox="1"/>
          <p:nvPr/>
        </p:nvSpPr>
        <p:spPr>
          <a:xfrm>
            <a:off x="1847957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이력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3289929" y="2205019"/>
            <a:ext cx="45627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다운로드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4731902" y="2205019"/>
            <a:ext cx="5788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외 발령 관리</a:t>
            </a:r>
            <a:endParaRPr lang="en-US" sz="720" dirty="0"/>
          </a:p>
        </p:txBody>
      </p:sp>
      <p:sp>
        <p:nvSpPr>
          <p:cNvPr id="77" name="Text 75"/>
          <p:cNvSpPr txBox="1"/>
          <p:nvPr/>
        </p:nvSpPr>
        <p:spPr>
          <a:xfrm>
            <a:off x="6173875" y="2205019"/>
            <a:ext cx="39775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용 측정</a:t>
            </a:r>
            <a:endParaRPr lang="en-US" sz="720" dirty="0"/>
          </a:p>
        </p:txBody>
      </p:sp>
      <p:sp>
        <p:nvSpPr>
          <p:cNvPr id="78" name="Text 76"/>
          <p:cNvSpPr txBox="1"/>
          <p:nvPr/>
        </p:nvSpPr>
        <p:spPr>
          <a:xfrm>
            <a:off x="7615848" y="2205019"/>
            <a:ext cx="644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제한하는 RLS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297172" y="2562492"/>
            <a:ext cx="80465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고객별 프로젝트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502908" y="2960084"/>
            <a:ext cx="4224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451774" y="2960084"/>
            <a:ext cx="6126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6400641" y="2960084"/>
            <a:ext cx="60074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720" dirty="0"/>
          </a:p>
        </p:txBody>
      </p:sp>
      <p:sp>
        <p:nvSpPr>
          <p:cNvPr id="83" name="Text 81"/>
          <p:cNvSpPr txBox="1"/>
          <p:nvPr/>
        </p:nvSpPr>
        <p:spPr>
          <a:xfrm>
            <a:off x="1847042" y="2961627"/>
            <a:ext cx="11018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4508794" y="2961627"/>
            <a:ext cx="13889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7345192" y="2961627"/>
            <a:ext cx="15014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4차 진행 중 · 단계별 확장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434330" y="3152966"/>
            <a:ext cx="1850699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Index 대시보드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7" name="Text 85"/>
          <p:cNvSpPr txBox="1"/>
          <p:nvPr/>
        </p:nvSpPr>
        <p:spPr>
          <a:xfrm>
            <a:off x="3383196" y="3152966"/>
            <a:ext cx="1518781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DataLab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8" name="Text 86"/>
          <p:cNvSpPr txBox="1"/>
          <p:nvPr/>
        </p:nvSpPr>
        <p:spPr>
          <a:xfrm>
            <a:off x="6332062" y="3152966"/>
            <a:ext cx="160226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분석 플랫폼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9" name="Text 87"/>
          <p:cNvSpPr txBox="1"/>
          <p:nvPr/>
        </p:nvSpPr>
        <p:spPr>
          <a:xfrm>
            <a:off x="434330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0" name="Text 88"/>
          <p:cNvSpPr txBox="1"/>
          <p:nvPr/>
        </p:nvSpPr>
        <p:spPr>
          <a:xfrm>
            <a:off x="3383196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1" name="Text 89"/>
          <p:cNvSpPr txBox="1"/>
          <p:nvPr/>
        </p:nvSpPr>
        <p:spPr>
          <a:xfrm>
            <a:off x="6332062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2" name="Text 90"/>
          <p:cNvSpPr txBox="1"/>
          <p:nvPr/>
        </p:nvSpPr>
        <p:spPr>
          <a:xfrm>
            <a:off x="531253" y="3597364"/>
            <a:ext cx="134871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현황과 관리 대시보드</a:t>
            </a:r>
            <a:endParaRPr lang="en-US" sz="795" dirty="0"/>
          </a:p>
        </p:txBody>
      </p:sp>
      <p:sp>
        <p:nvSpPr>
          <p:cNvPr id="93" name="Text 91"/>
          <p:cNvSpPr txBox="1"/>
          <p:nvPr/>
        </p:nvSpPr>
        <p:spPr>
          <a:xfrm>
            <a:off x="3480119" y="3597364"/>
            <a:ext cx="250548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출생 연 · 월 기준으로 피크임금 도달 시기와 정년퇴직 시기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6428986" y="3597364"/>
            <a:ext cx="211120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 이동을 추적해 특정 인원의 전체 경력을 확인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3480120" y="3748069"/>
            <a:ext cx="4242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산출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531253" y="3788188"/>
            <a:ext cx="243407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· 팀장 등 관리직의 인사 이동과 해외 발령 인원 추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6428986" y="3788188"/>
            <a:ext cx="245217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평가 등 평가 요소로 활용할 항목을 한 화면에서 확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531253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3480119" y="3938893"/>
            <a:ext cx="186679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도래가 임박한 인원 목록을 추출해 다운로드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6428986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531253" y="4129717"/>
            <a:ext cx="131670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프로젝트로 포털까지 확장</a:t>
            </a:r>
            <a:endParaRPr lang="en-US" sz="795" dirty="0"/>
          </a:p>
        </p:txBody>
      </p:sp>
      <p:sp>
        <p:nvSpPr>
          <p:cNvPr id="102" name="Text 100"/>
          <p:cNvSpPr txBox="1"/>
          <p:nvPr/>
        </p:nvSpPr>
        <p:spPr>
          <a:xfrm>
            <a:off x="3480120" y="4129717"/>
            <a:ext cx="126824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활용도 파악 · 측정</a:t>
            </a:r>
            <a:endParaRPr lang="en-US" sz="795" dirty="0"/>
          </a:p>
        </p:txBody>
      </p:sp>
      <p:sp>
        <p:nvSpPr>
          <p:cNvPr id="103" name="Text 101"/>
          <p:cNvSpPr txBox="1"/>
          <p:nvPr/>
        </p:nvSpPr>
        <p:spPr>
          <a:xfrm>
            <a:off x="6428986" y="4129717"/>
            <a:ext cx="176017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사용 · 복지 제도 활용도 파악 · 측정</a:t>
            </a:r>
            <a:endParaRPr lang="en-US" sz="795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4609605"/>
            <a:ext cx="700550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 권한에 따라 조회 가능한 인원을 제한하는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반영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포함해 수행했습니다.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06" name="Text 10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4151" y="1324966"/>
            <a:ext cx="1418199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464868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83" y="1550251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297173" y="2217363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9583" y="2302745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297173" y="2969857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9583" y="3055754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297173" y="3722865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9583" y="3808247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155844" y="1324966"/>
            <a:ext cx="2041805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3071393" y="1464869"/>
            <a:ext cx="3126256" cy="2930766"/>
          </a:xfrm>
          <a:prstGeom prst="roundRect">
            <a:avLst>
              <a:gd name="adj" fmla="val 351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91177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24508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6923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0254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91177" y="2694165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7128" y="2750744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91177" y="3013577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77128" y="3070670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5" name="Shape 23"/>
          <p:cNvSpPr/>
          <p:nvPr/>
        </p:nvSpPr>
        <p:spPr>
          <a:xfrm>
            <a:off x="3191177" y="3333503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77128" y="3390081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7" name="Shape 25"/>
          <p:cNvSpPr/>
          <p:nvPr/>
        </p:nvSpPr>
        <p:spPr>
          <a:xfrm>
            <a:off x="3191177" y="3652914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77128" y="3710006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9" name="Shape 27"/>
          <p:cNvSpPr/>
          <p:nvPr/>
        </p:nvSpPr>
        <p:spPr>
          <a:xfrm>
            <a:off x="3191177" y="4023760"/>
            <a:ext cx="2885774" cy="268491"/>
          </a:xfrm>
          <a:prstGeom prst="roundRect">
            <a:avLst>
              <a:gd name="adj" fmla="val 25542"/>
            </a:avLst>
          </a:prstGeom>
          <a:solidFill>
            <a:srgbClr val="0F172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11777" y="1324966"/>
            <a:ext cx="1934822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45777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2248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45777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2248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45777" y="2395842"/>
            <a:ext cx="2500822" cy="1999793"/>
          </a:xfrm>
          <a:prstGeom prst="roundRect">
            <a:avLst>
              <a:gd name="adj" fmla="val 457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7" name="Shape 35"/>
          <p:cNvSpPr/>
          <p:nvPr/>
        </p:nvSpPr>
        <p:spPr>
          <a:xfrm>
            <a:off x="6467904" y="2507714"/>
            <a:ext cx="65721" cy="78695"/>
          </a:xfrm>
          <a:custGeom>
            <a:avLst/>
            <a:gdLst/>
            <a:ahLst/>
            <a:cxnLst/>
            <a:rect l="l" t="t" r="r" b="b"/>
            <a:pathLst>
              <a:path w="87628" h="104927">
                <a:moveTo>
                  <a:pt x="43814" y="0"/>
                </a:moveTo>
                <a:lnTo>
                  <a:pt x="87628" y="17488"/>
                </a:lnTo>
                <a:lnTo>
                  <a:pt x="87628" y="49549"/>
                </a:lnTo>
                <a:cubicBezTo>
                  <a:pt x="87628" y="75781"/>
                  <a:pt x="68934" y="96183"/>
                  <a:pt x="43814" y="104927"/>
                </a:cubicBezTo>
                <a:cubicBezTo>
                  <a:pt x="18694" y="96183"/>
                  <a:pt x="0" y="75781"/>
                  <a:pt x="0" y="49549"/>
                </a:cubicBezTo>
                <a:lnTo>
                  <a:pt x="0" y="17488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342" y="269738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64342" y="300599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64342" y="3314086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342" y="348639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20" y="4639887"/>
            <a:ext cx="76808" cy="76510"/>
          </a:xfrm>
          <a:custGeom>
            <a:avLst/>
            <a:gdLst/>
            <a:ahLst/>
            <a:cxnLst/>
            <a:rect l="l" t="t" r="r" b="b"/>
            <a:pathLst>
              <a:path w="102410" h="102013">
                <a:moveTo>
                  <a:pt x="51205" y="0"/>
                </a:moveTo>
                <a:lnTo>
                  <a:pt x="65104" y="37162"/>
                </a:lnTo>
                <a:lnTo>
                  <a:pt x="102410" y="51006"/>
                </a:lnTo>
                <a:lnTo>
                  <a:pt x="65104" y="64851"/>
                </a:lnTo>
                <a:lnTo>
                  <a:pt x="51205" y="102013"/>
                </a:lnTo>
                <a:lnTo>
                  <a:pt x="37307" y="64851"/>
                </a:lnTo>
                <a:lnTo>
                  <a:pt x="0" y="51006"/>
                </a:lnTo>
                <a:lnTo>
                  <a:pt x="37307" y="37162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4969" y="4710932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21945" y="0"/>
                </a:moveTo>
                <a:lnTo>
                  <a:pt x="27797" y="16031"/>
                </a:lnTo>
                <a:lnTo>
                  <a:pt x="43890" y="21860"/>
                </a:lnTo>
                <a:lnTo>
                  <a:pt x="27797" y="27689"/>
                </a:lnTo>
                <a:lnTo>
                  <a:pt x="21945" y="43720"/>
                </a:lnTo>
                <a:lnTo>
                  <a:pt x="16093" y="27689"/>
                </a:lnTo>
                <a:lnTo>
                  <a:pt x="0" y="21860"/>
                </a:lnTo>
                <a:lnTo>
                  <a:pt x="16093" y="16031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5303" y="167678"/>
            <a:ext cx="370542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 마법처럼 끝 -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45" name="Text 43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더홍시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세일링스톤이 함께 세운 합작법인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bibidi(비비디바비디부)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의 연말정산 프로그램입니다. 세무 실무 노하우에 세일링스톤이 설계</a:t>
            </a:r>
            <a:endParaRPr lang="en-US" sz="990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843020"/>
            <a:ext cx="471526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계산과 AI 기능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더해, 담당자의 가산세 리스크는 줄이고 정산은 쉽게 만듭니다.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3" y="1263758"/>
            <a:ext cx="126458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안심하고 맡길 수 있는 이유</a:t>
            </a:r>
            <a:endParaRPr lang="en-US" sz="720" dirty="0"/>
          </a:p>
        </p:txBody>
      </p:sp>
      <p:sp>
        <p:nvSpPr>
          <p:cNvPr id="49" name="Text 47"/>
          <p:cNvSpPr txBox="1"/>
          <p:nvPr/>
        </p:nvSpPr>
        <p:spPr>
          <a:xfrm>
            <a:off x="3071393" y="1263758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화면으로 보는 진행 흐름</a:t>
            </a:r>
            <a:endParaRPr lang="en-US" sz="720" dirty="0"/>
          </a:p>
        </p:txBody>
      </p:sp>
      <p:sp>
        <p:nvSpPr>
          <p:cNvPr id="50" name="Text 48"/>
          <p:cNvSpPr txBox="1"/>
          <p:nvPr/>
        </p:nvSpPr>
        <p:spPr>
          <a:xfrm>
            <a:off x="6345777" y="1263758"/>
            <a:ext cx="62360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연동과 보안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431729" y="1520933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52" name="Text 50"/>
          <p:cNvSpPr txBox="1"/>
          <p:nvPr/>
        </p:nvSpPr>
        <p:spPr>
          <a:xfrm>
            <a:off x="7707285" y="1520933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679382" y="1542021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63" dirty="0"/>
          </a:p>
        </p:txBody>
      </p:sp>
      <p:sp>
        <p:nvSpPr>
          <p:cNvPr id="54" name="Text 52"/>
          <p:cNvSpPr txBox="1"/>
          <p:nvPr/>
        </p:nvSpPr>
        <p:spPr>
          <a:xfrm>
            <a:off x="3191177" y="1561053"/>
            <a:ext cx="1492267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관리자 - 전사 대상자 관리</a:t>
            </a:r>
            <a:endParaRPr lang="en-US" sz="645" dirty="0"/>
          </a:p>
        </p:txBody>
      </p:sp>
      <p:sp>
        <p:nvSpPr>
          <p:cNvPr id="55" name="Text 53"/>
          <p:cNvSpPr txBox="1"/>
          <p:nvPr/>
        </p:nvSpPr>
        <p:spPr>
          <a:xfrm>
            <a:off x="446217" y="1583169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56" name="Text 54"/>
          <p:cNvSpPr txBox="1"/>
          <p:nvPr/>
        </p:nvSpPr>
        <p:spPr>
          <a:xfrm>
            <a:off x="6431729" y="1687069"/>
            <a:ext cx="7177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45" dirty="0"/>
          </a:p>
        </p:txBody>
      </p:sp>
      <p:sp>
        <p:nvSpPr>
          <p:cNvPr id="57" name="Text 55"/>
          <p:cNvSpPr txBox="1"/>
          <p:nvPr/>
        </p:nvSpPr>
        <p:spPr>
          <a:xfrm>
            <a:off x="7707285" y="1687069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58" name="Text 56"/>
          <p:cNvSpPr txBox="1"/>
          <p:nvPr/>
        </p:nvSpPr>
        <p:spPr>
          <a:xfrm>
            <a:off x="679382" y="1706613"/>
            <a:ext cx="227716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436230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</a:t>
            </a:r>
            <a:endParaRPr lang="en-US" sz="593" dirty="0"/>
          </a:p>
        </p:txBody>
      </p:sp>
      <p:sp>
        <p:nvSpPr>
          <p:cNvPr id="60" name="Text 58"/>
          <p:cNvSpPr txBox="1"/>
          <p:nvPr/>
        </p:nvSpPr>
        <p:spPr>
          <a:xfrm>
            <a:off x="4168646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입력중</a:t>
            </a:r>
            <a:endParaRPr lang="en-US" sz="593" dirty="0"/>
          </a:p>
        </p:txBody>
      </p:sp>
      <p:sp>
        <p:nvSpPr>
          <p:cNvPr id="61" name="Text 59"/>
          <p:cNvSpPr txBox="1"/>
          <p:nvPr/>
        </p:nvSpPr>
        <p:spPr>
          <a:xfrm>
            <a:off x="4869059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입력완료</a:t>
            </a:r>
            <a:endParaRPr lang="en-US" sz="593" dirty="0"/>
          </a:p>
        </p:txBody>
      </p:sp>
      <p:sp>
        <p:nvSpPr>
          <p:cNvPr id="62" name="Text 60"/>
          <p:cNvSpPr txBox="1"/>
          <p:nvPr/>
        </p:nvSpPr>
        <p:spPr>
          <a:xfrm>
            <a:off x="5601474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검토완료</a:t>
            </a:r>
            <a:endParaRPr lang="en-US" sz="593" dirty="0"/>
          </a:p>
        </p:txBody>
      </p:sp>
      <p:sp>
        <p:nvSpPr>
          <p:cNvPr id="63" name="Text 61"/>
          <p:cNvSpPr txBox="1"/>
          <p:nvPr/>
        </p:nvSpPr>
        <p:spPr>
          <a:xfrm>
            <a:off x="679383" y="1839316"/>
            <a:ext cx="15861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이드에 맞춘 설문으로 사전에 걸러냅니다</a:t>
            </a:r>
            <a:endParaRPr lang="en-US" sz="720" dirty="0"/>
          </a:p>
        </p:txBody>
      </p:sp>
      <p:sp>
        <p:nvSpPr>
          <p:cNvPr id="64" name="Text 62"/>
          <p:cNvSpPr txBox="1"/>
          <p:nvPr/>
        </p:nvSpPr>
        <p:spPr>
          <a:xfrm>
            <a:off x="3368566" y="1911840"/>
            <a:ext cx="46907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2,860</a:t>
            </a:r>
            <a:endParaRPr lang="en-US" sz="945" dirty="0"/>
          </a:p>
        </p:txBody>
      </p:sp>
      <p:sp>
        <p:nvSpPr>
          <p:cNvPr id="65" name="Text 63"/>
          <p:cNvSpPr txBox="1"/>
          <p:nvPr/>
        </p:nvSpPr>
        <p:spPr>
          <a:xfrm>
            <a:off x="4233566" y="1911840"/>
            <a:ext cx="20573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7</a:t>
            </a:r>
            <a:endParaRPr lang="en-US" sz="945" dirty="0"/>
          </a:p>
        </p:txBody>
      </p:sp>
      <p:sp>
        <p:nvSpPr>
          <p:cNvPr id="66" name="Text 64"/>
          <p:cNvSpPr txBox="1"/>
          <p:nvPr/>
        </p:nvSpPr>
        <p:spPr>
          <a:xfrm>
            <a:off x="4944952" y="1911840"/>
            <a:ext cx="2496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11</a:t>
            </a:r>
            <a:endParaRPr lang="en-US" sz="945" dirty="0"/>
          </a:p>
        </p:txBody>
      </p:sp>
      <p:sp>
        <p:nvSpPr>
          <p:cNvPr id="67" name="Text 65"/>
          <p:cNvSpPr txBox="1"/>
          <p:nvPr/>
        </p:nvSpPr>
        <p:spPr>
          <a:xfrm>
            <a:off x="5698398" y="1911840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68" name="Text 66"/>
          <p:cNvSpPr txBox="1"/>
          <p:nvPr/>
        </p:nvSpPr>
        <p:spPr>
          <a:xfrm>
            <a:off x="6431729" y="1972532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707285" y="1972532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6431729" y="2138154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71" name="Text 69"/>
          <p:cNvSpPr txBox="1"/>
          <p:nvPr/>
        </p:nvSpPr>
        <p:spPr>
          <a:xfrm>
            <a:off x="7707285" y="2138154"/>
            <a:ext cx="89335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45" dirty="0"/>
          </a:p>
        </p:txBody>
      </p:sp>
      <p:sp>
        <p:nvSpPr>
          <p:cNvPr id="72" name="Text 70"/>
          <p:cNvSpPr txBox="1"/>
          <p:nvPr/>
        </p:nvSpPr>
        <p:spPr>
          <a:xfrm>
            <a:off x="3191176" y="2229193"/>
            <a:ext cx="29490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상태별 인원을 클릭하면 해당 대상자만 걸러 리마인드를 보낼 수 있습니다</a:t>
            </a:r>
            <a:endParaRPr lang="en-US" sz="683" dirty="0"/>
          </a:p>
        </p:txBody>
      </p:sp>
      <p:sp>
        <p:nvSpPr>
          <p:cNvPr id="73" name="Text 71"/>
          <p:cNvSpPr txBox="1"/>
          <p:nvPr/>
        </p:nvSpPr>
        <p:spPr>
          <a:xfrm>
            <a:off x="679383" y="2294515"/>
            <a:ext cx="1393514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63" dirty="0"/>
          </a:p>
        </p:txBody>
      </p:sp>
      <p:sp>
        <p:nvSpPr>
          <p:cNvPr id="74" name="Text 72"/>
          <p:cNvSpPr txBox="1"/>
          <p:nvPr/>
        </p:nvSpPr>
        <p:spPr>
          <a:xfrm>
            <a:off x="439816" y="2336178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679383" y="2459622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담당자가 한 번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6605461" y="2473510"/>
            <a:ext cx="1520792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고객사 데이터를 지키는 이중 잠금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3191177" y="2476596"/>
            <a:ext cx="147032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사용자 - 입력부터 결과까지</a:t>
            </a:r>
            <a:endParaRPr lang="en-US" sz="645" dirty="0"/>
          </a:p>
        </p:txBody>
      </p:sp>
      <p:sp>
        <p:nvSpPr>
          <p:cNvPr id="78" name="Text 76"/>
          <p:cNvSpPr txBox="1"/>
          <p:nvPr/>
        </p:nvSpPr>
        <p:spPr>
          <a:xfrm>
            <a:off x="679382" y="2591810"/>
            <a:ext cx="12380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더 확인하는 수고를 덜어줍니다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602717" y="2647360"/>
            <a:ext cx="231840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 - 다른 고객사는 구조적으로 접</a:t>
            </a:r>
            <a:endParaRPr lang="en-US" sz="735" dirty="0"/>
          </a:p>
        </p:txBody>
      </p:sp>
      <p:sp>
        <p:nvSpPr>
          <p:cNvPr id="80" name="Text 78"/>
          <p:cNvSpPr txBox="1"/>
          <p:nvPr/>
        </p:nvSpPr>
        <p:spPr>
          <a:xfrm>
            <a:off x="3493835" y="2756401"/>
            <a:ext cx="111097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· 부양가족 설문</a:t>
            </a:r>
            <a:endParaRPr lang="en-US" sz="773" dirty="0"/>
          </a:p>
        </p:txBody>
      </p:sp>
      <p:sp>
        <p:nvSpPr>
          <p:cNvPr id="81" name="Text 79"/>
          <p:cNvSpPr txBox="1"/>
          <p:nvPr/>
        </p:nvSpPr>
        <p:spPr>
          <a:xfrm>
            <a:off x="5324419" y="2764117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공제 요건 즉시 판단</a:t>
            </a:r>
            <a:endParaRPr lang="en-US" sz="683" dirty="0"/>
          </a:p>
        </p:txBody>
      </p:sp>
      <p:sp>
        <p:nvSpPr>
          <p:cNvPr id="82" name="Text 80"/>
          <p:cNvSpPr txBox="1"/>
          <p:nvPr/>
        </p:nvSpPr>
        <p:spPr>
          <a:xfrm>
            <a:off x="3333819" y="2770804"/>
            <a:ext cx="17190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615" dirty="0"/>
          </a:p>
        </p:txBody>
      </p:sp>
      <p:sp>
        <p:nvSpPr>
          <p:cNvPr id="83" name="Text 81"/>
          <p:cNvSpPr txBox="1"/>
          <p:nvPr/>
        </p:nvSpPr>
        <p:spPr>
          <a:xfrm>
            <a:off x="6602718" y="2783663"/>
            <a:ext cx="40415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 불가</a:t>
            </a:r>
            <a:endParaRPr lang="en-US" sz="735" dirty="0"/>
          </a:p>
        </p:txBody>
      </p:sp>
      <p:sp>
        <p:nvSpPr>
          <p:cNvPr id="84" name="Text 82"/>
          <p:cNvSpPr txBox="1"/>
          <p:nvPr/>
        </p:nvSpPr>
        <p:spPr>
          <a:xfrm>
            <a:off x="6602718" y="2955970"/>
            <a:ext cx="22892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고객사마다 다른 전용 암호화 키를 자동 발급하고, 그 키를</a:t>
            </a:r>
            <a:endParaRPr lang="en-US" sz="735" dirty="0"/>
          </a:p>
        </p:txBody>
      </p:sp>
      <p:sp>
        <p:nvSpPr>
          <p:cNvPr id="85" name="Text 83"/>
          <p:cNvSpPr txBox="1"/>
          <p:nvPr/>
        </p:nvSpPr>
        <p:spPr>
          <a:xfrm>
            <a:off x="679382" y="3047524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3493835" y="3075813"/>
            <a:ext cx="1161263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국세청 간소화 PDF 업로드</a:t>
            </a:r>
            <a:endParaRPr lang="en-US" sz="773" dirty="0"/>
          </a:p>
        </p:txBody>
      </p:sp>
      <p:sp>
        <p:nvSpPr>
          <p:cNvPr id="87" name="Text 85"/>
          <p:cNvSpPr txBox="1"/>
          <p:nvPr/>
        </p:nvSpPr>
        <p:spPr>
          <a:xfrm>
            <a:off x="5015359" y="3084043"/>
            <a:ext cx="111371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자동 인식 · 안분 계산</a:t>
            </a:r>
            <a:endParaRPr lang="en-US" sz="683" dirty="0"/>
          </a:p>
        </p:txBody>
      </p:sp>
      <p:sp>
        <p:nvSpPr>
          <p:cNvPr id="88" name="Text 86"/>
          <p:cNvSpPr txBox="1"/>
          <p:nvPr/>
        </p:nvSpPr>
        <p:spPr>
          <a:xfrm>
            <a:off x="439816" y="3088672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3328333" y="3090214"/>
            <a:ext cx="18287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615" dirty="0"/>
          </a:p>
        </p:txBody>
      </p:sp>
      <p:sp>
        <p:nvSpPr>
          <p:cNvPr id="90" name="Text 88"/>
          <p:cNvSpPr txBox="1"/>
          <p:nvPr/>
        </p:nvSpPr>
        <p:spPr>
          <a:xfrm>
            <a:off x="6602717" y="3091759"/>
            <a:ext cx="114571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번 더 잠그는 이중 암호화</a:t>
            </a:r>
            <a:endParaRPr lang="en-US" sz="735" dirty="0"/>
          </a:p>
        </p:txBody>
      </p:sp>
      <p:sp>
        <p:nvSpPr>
          <p:cNvPr id="91" name="Text 89"/>
          <p:cNvSpPr txBox="1"/>
          <p:nvPr/>
        </p:nvSpPr>
        <p:spPr>
          <a:xfrm>
            <a:off x="679382" y="3212116"/>
            <a:ext cx="232142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602717" y="3264066"/>
            <a:ext cx="189395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서버가 통째로 유출되어도 읽히는 개인정보 0건</a:t>
            </a:r>
            <a:endParaRPr lang="en-US" sz="735" dirty="0"/>
          </a:p>
        </p:txBody>
      </p:sp>
      <p:sp>
        <p:nvSpPr>
          <p:cNvPr id="93" name="Text 91"/>
          <p:cNvSpPr txBox="1"/>
          <p:nvPr/>
        </p:nvSpPr>
        <p:spPr>
          <a:xfrm>
            <a:off x="679382" y="3344818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끝까지 갑니다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493836" y="3395739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제출서류 자동 안내</a:t>
            </a:r>
            <a:endParaRPr lang="en-US" sz="773" dirty="0"/>
          </a:p>
        </p:txBody>
      </p:sp>
      <p:sp>
        <p:nvSpPr>
          <p:cNvPr id="95" name="Text 93"/>
          <p:cNvSpPr txBox="1"/>
          <p:nvPr/>
        </p:nvSpPr>
        <p:spPr>
          <a:xfrm>
            <a:off x="5268642" y="3403968"/>
            <a:ext cx="860432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미제출 항목만 재요청</a:t>
            </a:r>
            <a:endParaRPr lang="en-US" sz="683" dirty="0"/>
          </a:p>
        </p:txBody>
      </p:sp>
      <p:sp>
        <p:nvSpPr>
          <p:cNvPr id="96" name="Text 94"/>
          <p:cNvSpPr txBox="1"/>
          <p:nvPr/>
        </p:nvSpPr>
        <p:spPr>
          <a:xfrm>
            <a:off x="3327418" y="3410140"/>
            <a:ext cx="183794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615" dirty="0"/>
          </a:p>
        </p:txBody>
      </p:sp>
      <p:sp>
        <p:nvSpPr>
          <p:cNvPr id="97" name="Text 95"/>
          <p:cNvSpPr txBox="1"/>
          <p:nvPr/>
        </p:nvSpPr>
        <p:spPr>
          <a:xfrm>
            <a:off x="6602718" y="3436888"/>
            <a:ext cx="227615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공개 표준 시험 12개 항목 통과 · 계약 종료 시 키 삭</a:t>
            </a:r>
            <a:endParaRPr lang="en-US" sz="735" dirty="0"/>
          </a:p>
        </p:txBody>
      </p:sp>
      <p:sp>
        <p:nvSpPr>
          <p:cNvPr id="98" name="Text 96"/>
          <p:cNvSpPr txBox="1"/>
          <p:nvPr/>
        </p:nvSpPr>
        <p:spPr>
          <a:xfrm>
            <a:off x="6602717" y="3572676"/>
            <a:ext cx="83483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제만으로 영구 파기</a:t>
            </a:r>
            <a:endParaRPr lang="en-US" sz="735" dirty="0"/>
          </a:p>
        </p:txBody>
      </p:sp>
      <p:sp>
        <p:nvSpPr>
          <p:cNvPr id="99" name="Text 97"/>
          <p:cNvSpPr txBox="1"/>
          <p:nvPr/>
        </p:nvSpPr>
        <p:spPr>
          <a:xfrm>
            <a:off x="3493836" y="3715664"/>
            <a:ext cx="11493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결과 실시간 확인</a:t>
            </a:r>
            <a:endParaRPr lang="en-US" sz="773" dirty="0"/>
          </a:p>
        </p:txBody>
      </p:sp>
      <p:sp>
        <p:nvSpPr>
          <p:cNvPr id="100" name="Text 98"/>
          <p:cNvSpPr txBox="1"/>
          <p:nvPr/>
        </p:nvSpPr>
        <p:spPr>
          <a:xfrm>
            <a:off x="5400311" y="3723380"/>
            <a:ext cx="72784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 전 미리 확인</a:t>
            </a:r>
            <a:endParaRPr lang="en-US" sz="683" dirty="0"/>
          </a:p>
        </p:txBody>
      </p:sp>
      <p:sp>
        <p:nvSpPr>
          <p:cNvPr id="101" name="Text 99"/>
          <p:cNvSpPr txBox="1"/>
          <p:nvPr/>
        </p:nvSpPr>
        <p:spPr>
          <a:xfrm>
            <a:off x="3327419" y="3730066"/>
            <a:ext cx="185622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615" dirty="0"/>
          </a:p>
        </p:txBody>
      </p:sp>
      <p:sp>
        <p:nvSpPr>
          <p:cNvPr id="102" name="Text 100"/>
          <p:cNvSpPr txBox="1"/>
          <p:nvPr/>
        </p:nvSpPr>
        <p:spPr>
          <a:xfrm>
            <a:off x="679382" y="3800017"/>
            <a:ext cx="1322193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63" dirty="0"/>
          </a:p>
        </p:txBody>
      </p:sp>
      <p:sp>
        <p:nvSpPr>
          <p:cNvPr id="103" name="Text 101"/>
          <p:cNvSpPr txBox="1"/>
          <p:nvPr/>
        </p:nvSpPr>
        <p:spPr>
          <a:xfrm>
            <a:off x="438901" y="3841166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3964610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</a:t>
            </a:r>
            <a:endParaRPr lang="en-US" sz="720" dirty="0"/>
          </a:p>
        </p:txBody>
      </p:sp>
      <p:sp>
        <p:nvSpPr>
          <p:cNvPr id="105" name="Text 103"/>
          <p:cNvSpPr txBox="1"/>
          <p:nvPr/>
        </p:nvSpPr>
        <p:spPr>
          <a:xfrm>
            <a:off x="5334476" y="4078281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제출 즉시 계산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3282614" y="4094226"/>
            <a:ext cx="120332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679382" y="4097312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대응합니다</a:t>
            </a:r>
            <a:endParaRPr lang="en-US" sz="720" dirty="0"/>
          </a:p>
        </p:txBody>
      </p:sp>
      <p:sp>
        <p:nvSpPr>
          <p:cNvPr id="108" name="Text 106"/>
          <p:cNvSpPr txBox="1"/>
          <p:nvPr/>
        </p:nvSpPr>
        <p:spPr>
          <a:xfrm>
            <a:off x="679383" y="4609605"/>
            <a:ext cx="702762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인식이 전면 도입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 국내 연말정산 자료 DB에 근거해서만 답하고, 계산 근거와 출처를 함께 보여줍니다.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110" name="Text 10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- 27 -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6323</Words>
  <Application>Microsoft Office PowerPoint</Application>
  <PresentationFormat>화면 슬라이드 쇼(16:9)</PresentationFormat>
  <Paragraphs>1128</Paragraphs>
  <Slides>35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4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95</cp:revision>
  <dcterms:created xsi:type="dcterms:W3CDTF">2026-05-21T10:23:19Z</dcterms:created>
  <dcterms:modified xsi:type="dcterms:W3CDTF">2026-09-16T08:35:11Z</dcterms:modified>
</cp:coreProperties>
</file>