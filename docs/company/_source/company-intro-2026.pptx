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00.svg" ContentType="image/svg+xml"/>
  <Override PartName="/ppt/media/image11.svg" ContentType="image/svg+xml"/>
  <Override PartName="/ppt/media/image111.svg" ContentType="image/svg+xml"/>
  <Override PartName="/ppt/media/image112.svg" ContentType="image/svg+xml"/>
  <Override PartName="/ppt/media/image113.svg" ContentType="image/svg+xml"/>
  <Override PartName="/ppt/media/image114.svg" ContentType="image/svg+xml"/>
  <Override PartName="/ppt/media/image115.svg" ContentType="image/svg+xml"/>
  <Override PartName="/ppt/media/image116.svg" ContentType="image/svg+xml"/>
  <Override PartName="/ppt/media/image117.svg" ContentType="image/svg+xml"/>
  <Override PartName="/ppt/media/image118.svg" ContentType="image/svg+xml"/>
  <Override PartName="/ppt/media/image119.svg" ContentType="image/svg+xml"/>
  <Override PartName="/ppt/media/image12.svg" ContentType="image/svg+xml"/>
  <Override PartName="/ppt/media/image120.svg" ContentType="image/svg+xml"/>
  <Override PartName="/ppt/media/image121.svg" ContentType="image/svg+xml"/>
  <Override PartName="/ppt/media/image123.svg" ContentType="image/svg+xml"/>
  <Override PartName="/ppt/media/image124.svg" ContentType="image/svg+xml"/>
  <Override PartName="/ppt/media/image125.svg" ContentType="image/svg+xml"/>
  <Override PartName="/ppt/media/image126.svg" ContentType="image/svg+xml"/>
  <Override PartName="/ppt/media/image127.svg" ContentType="image/svg+xml"/>
  <Override PartName="/ppt/media/image128.svg" ContentType="image/svg+xml"/>
  <Override PartName="/ppt/media/image129.svg" ContentType="image/svg+xml"/>
  <Override PartName="/ppt/media/image13.svg" ContentType="image/svg+xml"/>
  <Override PartName="/ppt/media/image130.svg" ContentType="image/svg+xml"/>
  <Override PartName="/ppt/media/image131.svg" ContentType="image/svg+xml"/>
  <Override PartName="/ppt/media/image132.svg" ContentType="image/svg+xml"/>
  <Override PartName="/ppt/media/image133.svg" ContentType="image/svg+xml"/>
  <Override PartName="/ppt/media/image134.svg" ContentType="image/svg+xml"/>
  <Override PartName="/ppt/media/image135.svg" ContentType="image/svg+xml"/>
  <Override PartName="/ppt/media/image136.svg" ContentType="image/svg+xml"/>
  <Override PartName="/ppt/media/image137.svg" ContentType="image/svg+xml"/>
  <Override PartName="/ppt/media/image138.svg" ContentType="image/svg+xml"/>
  <Override PartName="/ppt/media/image139.svg" ContentType="image/svg+xml"/>
  <Override PartName="/ppt/media/image14.svg" ContentType="image/svg+xml"/>
  <Override PartName="/ppt/media/image140.svg" ContentType="image/svg+xml"/>
  <Override PartName="/ppt/media/image141.svg" ContentType="image/svg+xml"/>
  <Override PartName="/ppt/media/image142.svg" ContentType="image/svg+xml"/>
  <Override PartName="/ppt/media/image143.svg" ContentType="image/svg+xml"/>
  <Override PartName="/ppt/media/image144.svg" ContentType="image/svg+xml"/>
  <Override PartName="/ppt/media/image145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0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7.svg" ContentType="image/svg+xml"/>
  <Override PartName="/ppt/media/image78.svg" ContentType="image/svg+xml"/>
  <Override PartName="/ppt/media/image79.svg" ContentType="image/svg+xml"/>
  <Override PartName="/ppt/media/image87.svg" ContentType="image/svg+xml"/>
  <Override PartName="/ppt/media/image88.svg" ContentType="image/svg+xml"/>
  <Override PartName="/ppt/media/image89.svg" ContentType="image/svg+xml"/>
  <Override PartName="/ppt/media/image9.svg" ContentType="image/svg+xml"/>
  <Override PartName="/ppt/media/image90.svg" ContentType="image/svg+xml"/>
  <Override PartName="/ppt/media/image91.svg" ContentType="image/svg+xml"/>
  <Override PartName="/ppt/media/image92.svg" ContentType="image/svg+xml"/>
  <Override PartName="/ppt/media/image95.svg" ContentType="image/svg+xml"/>
  <Override PartName="/ppt/media/image96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5" r:id="rId1"/>
  </p:sldMasterIdLst>
  <p:notesMasterIdLst>
    <p:notesMasterId r:id="rId39"/>
  </p:notesMasterIdLst>
  <p:sldIdLst>
    <p:sldId id="631" r:id="rId2"/>
    <p:sldId id="615" r:id="rId3"/>
    <p:sldId id="263" r:id="rId4"/>
    <p:sldId id="614" r:id="rId5"/>
    <p:sldId id="622" r:id="rId10"/>
    <p:sldId id="632" r:id="rId6"/>
    <p:sldId id="619" r:id="rId7"/>
    <p:sldId id="621" r:id="rId11"/>
    <p:sldId id="620" r:id="rId8"/>
    <p:sldId id="652" r:id="rId9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638" r:id="rId19"/>
    <p:sldId id="639" r:id="rId20"/>
    <p:sldId id="640" r:id="rId21"/>
    <p:sldId id="623" r:id="rId22"/>
    <p:sldId id="597" r:id="rId27"/>
    <p:sldId id="625" r:id="rId26"/>
    <p:sldId id="646" r:id="rId23"/>
    <p:sldId id="258" r:id="rId24"/>
    <p:sldId id="259" r:id="rId25"/>
    <p:sldId id="624" r:id="rId28"/>
    <p:sldId id="649" r:id="rId29"/>
    <p:sldId id="650" r:id="rId30"/>
    <p:sldId id="651" r:id="rId31"/>
    <p:sldId id="617" r:id="rId32"/>
    <p:sldId id="626" r:id="rId33"/>
    <p:sldId id="627" r:id="rId34"/>
    <p:sldId id="628" r:id="rId35"/>
    <p:sldId id="629" r:id="rId36"/>
    <p:sldId id="630" r:id="rId37"/>
    <p:sldId id="264" r:id="rId38"/>
  </p:sldIdLst>
  <p:sldSz cx="9144000" cy="5143500" type="screen16x9"/>
  <p:notesSz cx="5143500" cy="9144000"/>
  <p:embeddedFontLst>
    <p:embeddedFont>
      <p:font typeface="Noto Sans KR" panose="020B0200000000000000" pitchFamily="50" charset="-127"/>
      <p:regular r:id="rId40"/>
      <p:bold r:id="rId41"/>
    </p:embeddedFont>
    <p:embeddedFont>
      <p:font typeface="SUIT" pitchFamily="2" charset="-127"/>
      <p:regular r:id="rId42"/>
      <p:bold r:id="rId43"/>
    </p:embeddedFont>
    <p:embeddedFont>
      <p:font typeface="SUIT ExtraBold" pitchFamily="50" charset="-127"/>
      <p:bold r:id="rId44"/>
    </p:embeddedFont>
    <p:embeddedFont>
      <p:font typeface="SUIT Light" pitchFamily="50" charset="-127"/>
      <p:regular r:id="rId45"/>
    </p:embeddedFont>
    <p:embeddedFont>
      <p:font typeface="SUIT Medium" pitchFamily="50" charset="-127"/>
      <p:regular r:id="rId4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52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8"/>
            <p14:sldId id="639"/>
            <p14:sldId id="640"/>
            <p14:sldId id="623"/>
            <p14:sldId id="646"/>
            <p14:sldId id="258"/>
            <p14:sldId id="259"/>
            <p14:sldId id="625"/>
            <p14:sldId id="597"/>
            <p14:sldId id="624"/>
            <p14:sldId id="649"/>
            <p14:sldId id="650"/>
            <p14:sldId id="651"/>
            <p14:sldId id="617"/>
            <p14:sldId id="626"/>
            <p14:sldId id="627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5.xml"/><Relationship Id="rId11" Type="http://schemas.openxmlformats.org/officeDocument/2006/relationships/slide" Target="slides/slide8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3.xml"/><Relationship Id="rId27" Type="http://schemas.openxmlformats.org/officeDocument/2006/relationships/slide" Target="slides/slide22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font" Target="fonts/font4.fntdata"/><Relationship Id="rId44" Type="http://schemas.openxmlformats.org/officeDocument/2006/relationships/font" Target="fonts/font5.fntdata"/><Relationship Id="rId45" Type="http://schemas.openxmlformats.org/officeDocument/2006/relationships/font" Target="fonts/font6.fntdata"/><Relationship Id="rId46" Type="http://schemas.openxmlformats.org/officeDocument/2006/relationships/font" Target="fonts/font7.fntdata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7.emf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svg"/><Relationship Id="rId4" Type="http://schemas.openxmlformats.org/officeDocument/2006/relationships/image" Target="../media/image12.svg"/><Relationship Id="rId5" Type="http://schemas.openxmlformats.org/officeDocument/2006/relationships/image" Target="../media/image13.svg"/><Relationship Id="rId6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svg"/><Relationship Id="rId4" Type="http://schemas.openxmlformats.org/officeDocument/2006/relationships/image" Target="../media/image10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svg"/><Relationship Id="rId4" Type="http://schemas.openxmlformats.org/officeDocument/2006/relationships/image" Target="../media/image17.svg"/><Relationship Id="rId5" Type="http://schemas.openxmlformats.org/officeDocument/2006/relationships/image" Target="../media/image18.svg"/><Relationship Id="rId6" Type="http://schemas.openxmlformats.org/officeDocument/2006/relationships/image" Target="../media/image19.svg"/><Relationship Id="rId7" Type="http://schemas.openxmlformats.org/officeDocument/2006/relationships/image" Target="../media/image2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svg"/><Relationship Id="rId5" Type="http://schemas.openxmlformats.org/officeDocument/2006/relationships/image" Target="../media/image23.svg"/><Relationship Id="rId6" Type="http://schemas.openxmlformats.org/officeDocument/2006/relationships/image" Target="../media/image24.svg"/><Relationship Id="rId7" Type="http://schemas.openxmlformats.org/officeDocument/2006/relationships/image" Target="../media/image25.svg"/><Relationship Id="rId8" Type="http://schemas.openxmlformats.org/officeDocument/2006/relationships/image" Target="../media/image26.svg"/><Relationship Id="rId9" Type="http://schemas.openxmlformats.org/officeDocument/2006/relationships/image" Target="../media/image27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svg"/><Relationship Id="rId7" Type="http://schemas.openxmlformats.org/officeDocument/2006/relationships/image" Target="../media/image31.svg"/><Relationship Id="rId8" Type="http://schemas.openxmlformats.org/officeDocument/2006/relationships/image" Target="../media/image32.svg"/><Relationship Id="rId9" Type="http://schemas.openxmlformats.org/officeDocument/2006/relationships/image" Target="../media/image33.svg"/><Relationship Id="rId10" Type="http://schemas.openxmlformats.org/officeDocument/2006/relationships/image" Target="../media/image25.svg"/><Relationship Id="rId11" Type="http://schemas.openxmlformats.org/officeDocument/2006/relationships/image" Target="../media/image26.svg"/><Relationship Id="rId12" Type="http://schemas.openxmlformats.org/officeDocument/2006/relationships/image" Target="../media/image34.svg"/><Relationship Id="rId13" Type="http://schemas.openxmlformats.org/officeDocument/2006/relationships/image" Target="../media/image35.svg"/><Relationship Id="rId14" Type="http://schemas.openxmlformats.org/officeDocument/2006/relationships/image" Target="../media/image36.svg"/><Relationship Id="rId15" Type="http://schemas.openxmlformats.org/officeDocument/2006/relationships/image" Target="../media/image37.svg"/><Relationship Id="rId16" Type="http://schemas.openxmlformats.org/officeDocument/2006/relationships/image" Target="../media/image38.svg"/><Relationship Id="rId17" Type="http://schemas.openxmlformats.org/officeDocument/2006/relationships/image" Target="../media/image39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0.svg"/><Relationship Id="rId4" Type="http://schemas.openxmlformats.org/officeDocument/2006/relationships/image" Target="../media/image41.svg"/><Relationship Id="rId5" Type="http://schemas.openxmlformats.org/officeDocument/2006/relationships/image" Target="../media/image42.svg"/><Relationship Id="rId6" Type="http://schemas.openxmlformats.org/officeDocument/2006/relationships/image" Target="../media/image43.svg"/><Relationship Id="rId7" Type="http://schemas.openxmlformats.org/officeDocument/2006/relationships/image" Target="../media/image44.svg"/><Relationship Id="rId8" Type="http://schemas.openxmlformats.org/officeDocument/2006/relationships/image" Target="../media/image45.svg"/><Relationship Id="rId9" Type="http://schemas.openxmlformats.org/officeDocument/2006/relationships/image" Target="../media/image46.svg"/><Relationship Id="rId10" Type="http://schemas.openxmlformats.org/officeDocument/2006/relationships/image" Target="../media/image47.svg"/><Relationship Id="rId11" Type="http://schemas.openxmlformats.org/officeDocument/2006/relationships/image" Target="../media/image48.svg"/><Relationship Id="rId12" Type="http://schemas.openxmlformats.org/officeDocument/2006/relationships/image" Target="../media/image49.svg"/><Relationship Id="rId13" Type="http://schemas.openxmlformats.org/officeDocument/2006/relationships/image" Target="../media/image50.svg"/><Relationship Id="rId14" Type="http://schemas.openxmlformats.org/officeDocument/2006/relationships/image" Target="../media/image51.svg"/><Relationship Id="rId15" Type="http://schemas.openxmlformats.org/officeDocument/2006/relationships/image" Target="../media/image52.svg"/><Relationship Id="rId16" Type="http://schemas.openxmlformats.org/officeDocument/2006/relationships/image" Target="../media/image53.svg"/><Relationship Id="rId17" Type="http://schemas.openxmlformats.org/officeDocument/2006/relationships/image" Target="../media/image54.svg"/><Relationship Id="rId18" Type="http://schemas.openxmlformats.org/officeDocument/2006/relationships/image" Target="../media/image55.svg"/><Relationship Id="rId19" Type="http://schemas.openxmlformats.org/officeDocument/2006/relationships/image" Target="../media/image56.svg"/><Relationship Id="rId20" Type="http://schemas.openxmlformats.org/officeDocument/2006/relationships/image" Target="../media/image57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svg"/><Relationship Id="rId4" Type="http://schemas.openxmlformats.org/officeDocument/2006/relationships/image" Target="../media/image58.svg"/><Relationship Id="rId5" Type="http://schemas.openxmlformats.org/officeDocument/2006/relationships/image" Target="../media/image39.svg"/><Relationship Id="rId6" Type="http://schemas.openxmlformats.org/officeDocument/2006/relationships/image" Target="../media/image59.svg"/><Relationship Id="rId7" Type="http://schemas.openxmlformats.org/officeDocument/2006/relationships/image" Target="../media/image60.svg"/><Relationship Id="rId8" Type="http://schemas.openxmlformats.org/officeDocument/2006/relationships/image" Target="../media/image61.svg"/><Relationship Id="rId9" Type="http://schemas.openxmlformats.org/officeDocument/2006/relationships/image" Target="../media/image62.svg"/><Relationship Id="rId10" Type="http://schemas.openxmlformats.org/officeDocument/2006/relationships/image" Target="../media/image63.svg"/><Relationship Id="rId11" Type="http://schemas.openxmlformats.org/officeDocument/2006/relationships/image" Target="../media/image64.svg"/><Relationship Id="rId12" Type="http://schemas.openxmlformats.org/officeDocument/2006/relationships/image" Target="../media/image65.svg"/><Relationship Id="rId13" Type="http://schemas.openxmlformats.org/officeDocument/2006/relationships/image" Target="../media/image66.svg"/><Relationship Id="rId14" Type="http://schemas.openxmlformats.org/officeDocument/2006/relationships/image" Target="../media/image67.svg"/><Relationship Id="rId15" Type="http://schemas.openxmlformats.org/officeDocument/2006/relationships/image" Target="../media/image55.svg"/><Relationship Id="rId16" Type="http://schemas.openxmlformats.org/officeDocument/2006/relationships/image" Target="../media/image68.svg"/><Relationship Id="rId17" Type="http://schemas.openxmlformats.org/officeDocument/2006/relationships/image" Target="../media/image69.svg"/><Relationship Id="rId18" Type="http://schemas.openxmlformats.org/officeDocument/2006/relationships/image" Target="../media/image70.svg"/><Relationship Id="rId19" Type="http://schemas.openxmlformats.org/officeDocument/2006/relationships/image" Target="../media/image71.svg"/><Relationship Id="rId20" Type="http://schemas.openxmlformats.org/officeDocument/2006/relationships/image" Target="../media/image72.svg"/><Relationship Id="rId21" Type="http://schemas.openxmlformats.org/officeDocument/2006/relationships/image" Target="../media/image73.svg"/><Relationship Id="rId22" Type="http://schemas.openxmlformats.org/officeDocument/2006/relationships/image" Target="../media/image74.svg"/><Relationship Id="rId23" Type="http://schemas.openxmlformats.org/officeDocument/2006/relationships/image" Target="../media/image75.svg"/><Relationship Id="rId24" Type="http://schemas.openxmlformats.org/officeDocument/2006/relationships/image" Target="../media/image76.svg"/><Relationship Id="rId25" Type="http://schemas.openxmlformats.org/officeDocument/2006/relationships/image" Target="../media/image77.svg"/><Relationship Id="rId26" Type="http://schemas.openxmlformats.org/officeDocument/2006/relationships/image" Target="../media/image78.svg"/><Relationship Id="rId27" Type="http://schemas.openxmlformats.org/officeDocument/2006/relationships/image" Target="../media/image79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Relationship Id="rId8" Type="http://schemas.openxmlformats.org/officeDocument/2006/relationships/image" Target="../media/image86.png"/><Relationship Id="rId9" Type="http://schemas.openxmlformats.org/officeDocument/2006/relationships/image" Target="../media/image87.svg"/><Relationship Id="rId10" Type="http://schemas.openxmlformats.org/officeDocument/2006/relationships/image" Target="../media/image88.svg"/><Relationship Id="rId11" Type="http://schemas.openxmlformats.org/officeDocument/2006/relationships/image" Target="../media/image89.svg"/><Relationship Id="rId12" Type="http://schemas.openxmlformats.org/officeDocument/2006/relationships/image" Target="../media/image90.svg"/><Relationship Id="rId13" Type="http://schemas.openxmlformats.org/officeDocument/2006/relationships/image" Target="../media/image91.svg"/><Relationship Id="rId14" Type="http://schemas.openxmlformats.org/officeDocument/2006/relationships/image" Target="../media/image92.svg"/><Relationship Id="rId15" Type="http://schemas.openxmlformats.org/officeDocument/2006/relationships/image" Target="../media/image4.png"/><Relationship Id="rId16" Type="http://schemas.openxmlformats.org/officeDocument/2006/relationships/image" Target="../media/image93.png"/><Relationship Id="rId17" Type="http://schemas.openxmlformats.org/officeDocument/2006/relationships/image" Target="../media/image94.png"/><Relationship Id="rId18" Type="http://schemas.openxmlformats.org/officeDocument/2006/relationships/image" Target="../media/image95.svg"/><Relationship Id="rId19" Type="http://schemas.openxmlformats.org/officeDocument/2006/relationships/image" Target="../media/image96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7.png"/><Relationship Id="rId4" Type="http://schemas.openxmlformats.org/officeDocument/2006/relationships/image" Target="../media/image98.jpeg"/><Relationship Id="rId5" Type="http://schemas.openxmlformats.org/officeDocument/2006/relationships/image" Target="../media/image99.svg"/><Relationship Id="rId6" Type="http://schemas.openxmlformats.org/officeDocument/2006/relationships/image" Target="../media/image100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7.png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Relationship Id="rId6" Type="http://schemas.openxmlformats.org/officeDocument/2006/relationships/image" Target="../media/image111.svg"/><Relationship Id="rId7" Type="http://schemas.openxmlformats.org/officeDocument/2006/relationships/image" Target="../media/image112.svg"/><Relationship Id="rId8" Type="http://schemas.openxmlformats.org/officeDocument/2006/relationships/image" Target="../media/image113.svg"/><Relationship Id="rId9" Type="http://schemas.openxmlformats.org/officeDocument/2006/relationships/image" Target="../media/image114.svg"/><Relationship Id="rId10" Type="http://schemas.openxmlformats.org/officeDocument/2006/relationships/image" Target="../media/image115.svg"/><Relationship Id="rId11" Type="http://schemas.openxmlformats.org/officeDocument/2006/relationships/image" Target="../media/image116.svg"/><Relationship Id="rId12" Type="http://schemas.openxmlformats.org/officeDocument/2006/relationships/image" Target="../media/image117.svg"/><Relationship Id="rId13" Type="http://schemas.openxmlformats.org/officeDocument/2006/relationships/image" Target="../media/image118.svg"/><Relationship Id="rId14" Type="http://schemas.openxmlformats.org/officeDocument/2006/relationships/image" Target="../media/image119.svg"/><Relationship Id="rId15" Type="http://schemas.openxmlformats.org/officeDocument/2006/relationships/image" Target="../media/image120.svg"/><Relationship Id="rId16" Type="http://schemas.openxmlformats.org/officeDocument/2006/relationships/image" Target="../media/image121.svg"/><Relationship Id="rId17" Type="http://schemas.openxmlformats.org/officeDocument/2006/relationships/image" Target="../media/image1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2.png"/><Relationship Id="rId4" Type="http://schemas.openxmlformats.org/officeDocument/2006/relationships/image" Target="../media/image101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Relationship Id="rId7" Type="http://schemas.openxmlformats.org/officeDocument/2006/relationships/image" Target="../media/image10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3.svg"/><Relationship Id="rId4" Type="http://schemas.openxmlformats.org/officeDocument/2006/relationships/image" Target="../media/image124.svg"/><Relationship Id="rId5" Type="http://schemas.openxmlformats.org/officeDocument/2006/relationships/image" Target="../media/image125.svg"/><Relationship Id="rId6" Type="http://schemas.openxmlformats.org/officeDocument/2006/relationships/image" Target="../media/image126.svg"/><Relationship Id="rId7" Type="http://schemas.openxmlformats.org/officeDocument/2006/relationships/image" Target="../media/image127.svg"/><Relationship Id="rId8" Type="http://schemas.openxmlformats.org/officeDocument/2006/relationships/image" Target="../media/image128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9.svg"/><Relationship Id="rId4" Type="http://schemas.openxmlformats.org/officeDocument/2006/relationships/image" Target="../media/image130.svg"/><Relationship Id="rId5" Type="http://schemas.openxmlformats.org/officeDocument/2006/relationships/image" Target="../media/image131.svg"/><Relationship Id="rId6" Type="http://schemas.openxmlformats.org/officeDocument/2006/relationships/image" Target="../media/image132.svg"/><Relationship Id="rId7" Type="http://schemas.openxmlformats.org/officeDocument/2006/relationships/image" Target="../media/image133.svg"/><Relationship Id="rId8" Type="http://schemas.openxmlformats.org/officeDocument/2006/relationships/image" Target="../media/image134.svg"/><Relationship Id="rId9" Type="http://schemas.openxmlformats.org/officeDocument/2006/relationships/image" Target="../media/image135.svg"/><Relationship Id="rId10" Type="http://schemas.openxmlformats.org/officeDocument/2006/relationships/image" Target="../media/image136.svg"/><Relationship Id="rId11" Type="http://schemas.openxmlformats.org/officeDocument/2006/relationships/image" Target="../media/image137.svg"/><Relationship Id="rId12" Type="http://schemas.openxmlformats.org/officeDocument/2006/relationships/image" Target="../media/image123.svg"/><Relationship Id="rId13" Type="http://schemas.openxmlformats.org/officeDocument/2006/relationships/image" Target="../media/image138.svg"/><Relationship Id="rId14" Type="http://schemas.openxmlformats.org/officeDocument/2006/relationships/image" Target="../media/image124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9.svg"/><Relationship Id="rId4" Type="http://schemas.openxmlformats.org/officeDocument/2006/relationships/image" Target="../media/image140.svg"/><Relationship Id="rId5" Type="http://schemas.openxmlformats.org/officeDocument/2006/relationships/image" Target="../media/image141.svg"/><Relationship Id="rId6" Type="http://schemas.openxmlformats.org/officeDocument/2006/relationships/image" Target="../media/image142.svg"/><Relationship Id="rId7" Type="http://schemas.openxmlformats.org/officeDocument/2006/relationships/image" Target="../media/image143.svg"/><Relationship Id="rId8" Type="http://schemas.openxmlformats.org/officeDocument/2006/relationships/image" Target="../media/image144.svg"/><Relationship Id="rId9" Type="http://schemas.openxmlformats.org/officeDocument/2006/relationships/image" Target="../media/image145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6.png"/><Relationship Id="rId4" Type="http://schemas.openxmlformats.org/officeDocument/2006/relationships/image" Target="../media/image14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핵심 역량 · 성장 지표 · 조직 · 레퍼런스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Tableau · bibidi 연말정산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 구축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9717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6956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6956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6956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6956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16956" y="2083633"/>
            <a:ext cx="107530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532496" y="2083633"/>
            <a:ext cx="105519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6956" y="2280114"/>
            <a:ext cx="147854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503236" y="2306860"/>
            <a:ext cx="330090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6956" y="2487911"/>
            <a:ext cx="252642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18843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309131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309131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309131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309131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309131" y="2104207"/>
            <a:ext cx="119692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309130" y="2300688"/>
            <a:ext cx="129658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645950" y="2300688"/>
            <a:ext cx="95461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309130" y="2497170"/>
            <a:ext cx="91803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080608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200392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00392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00392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200392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200392" y="2497170"/>
            <a:ext cx="14867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423828" y="2523916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9717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16956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16956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16956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16956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16956" y="3954838"/>
            <a:ext cx="1733659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416956" y="4150805"/>
            <a:ext cx="153249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687026" y="4178065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16956" y="4347287"/>
            <a:ext cx="146300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1616619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18843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309131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3309131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309131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3309131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3309131" y="4347287"/>
            <a:ext cx="93906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4287515" y="4347287"/>
            <a:ext cx="96924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6080608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6200392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200392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6200392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6200392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6200392" y="3758356"/>
            <a:ext cx="93540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7176032" y="3758356"/>
            <a:ext cx="86317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6200392" y="3954838"/>
            <a:ext cx="113565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7376281" y="3954838"/>
            <a:ext cx="9143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0392" y="4150805"/>
            <a:ext cx="68578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926407" y="4150805"/>
            <a:ext cx="566914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533554" y="4150805"/>
            <a:ext cx="101861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6200392" y="4347287"/>
            <a:ext cx="128012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7218093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772649" y="4786541"/>
            <a:ext cx="3617276" cy="565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496869" y="1192649"/>
            <a:ext cx="36537" cy="36605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81210" y="1239712"/>
            <a:ext cx="67855" cy="33990"/>
          </a:xfrm>
          <a:custGeom>
            <a:avLst/>
            <a:gdLst/>
            <a:ahLst/>
            <a:cxnLst/>
            <a:rect l="l" t="t" r="r" b="b"/>
            <a:pathLst>
              <a:path w="90473" h="45320">
                <a:moveTo>
                  <a:pt x="0" y="45320"/>
                </a:moveTo>
                <a:cubicBezTo>
                  <a:pt x="0" y="20290"/>
                  <a:pt x="20253" y="0"/>
                  <a:pt x="45236" y="0"/>
                </a:cubicBezTo>
                <a:cubicBezTo>
                  <a:pt x="70220" y="0"/>
                  <a:pt x="90473" y="20290"/>
                  <a:pt x="90473" y="45320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543845" y="1203107"/>
            <a:ext cx="26098" cy="26147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551675" y="1249442"/>
            <a:ext cx="28708" cy="24261"/>
          </a:xfrm>
          <a:custGeom>
            <a:avLst/>
            <a:gdLst/>
            <a:ahLst/>
            <a:cxnLst/>
            <a:rect l="l" t="t" r="r" b="b"/>
            <a:pathLst>
              <a:path w="38277" h="32348">
                <a:moveTo>
                  <a:pt x="0" y="972"/>
                </a:moveTo>
                <a:cubicBezTo>
                  <a:pt x="9238" y="0"/>
                  <a:pt x="18481" y="2769"/>
                  <a:pt x="25670" y="8662"/>
                </a:cubicBezTo>
                <a:cubicBezTo>
                  <a:pt x="32860" y="14555"/>
                  <a:pt x="37399" y="23083"/>
                  <a:pt x="38277" y="32348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432729" y="2567379"/>
            <a:ext cx="52577" cy="63265"/>
          </a:xfrm>
          <a:custGeom>
            <a:avLst/>
            <a:gdLst/>
            <a:ahLst/>
            <a:cxnLst/>
            <a:rect l="l" t="t" r="r" b="b"/>
            <a:pathLst>
              <a:path w="70102" h="84353">
                <a:moveTo>
                  <a:pt x="35051" y="0"/>
                </a:moveTo>
                <a:lnTo>
                  <a:pt x="70102" y="14059"/>
                </a:lnTo>
                <a:lnTo>
                  <a:pt x="70102" y="39834"/>
                </a:lnTo>
                <a:cubicBezTo>
                  <a:pt x="70102" y="60922"/>
                  <a:pt x="55147" y="77324"/>
                  <a:pt x="35051" y="84353"/>
                </a:cubicBezTo>
                <a:cubicBezTo>
                  <a:pt x="14955" y="77324"/>
                  <a:pt x="0" y="60922"/>
                  <a:pt x="0" y="39834"/>
                </a:cubicBezTo>
                <a:lnTo>
                  <a:pt x="0" y="14059"/>
                </a:lnTo>
                <a:close/>
              </a:path>
            </a:pathLst>
          </a:custGeom>
          <a:ln w="7488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3375994" y="1184805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0"/>
                </a:moveTo>
                <a:lnTo>
                  <a:pt x="0" y="125501"/>
                </a:lnTo>
                <a:lnTo>
                  <a:pt x="125270" y="125501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3396873" y="1205722"/>
            <a:ext cx="62635" cy="36605"/>
          </a:xfrm>
          <a:custGeom>
            <a:avLst/>
            <a:gdLst/>
            <a:ahLst/>
            <a:cxnLst/>
            <a:rect l="l" t="t" r="r" b="b"/>
            <a:pathLst>
              <a:path w="83513" h="48806">
                <a:moveTo>
                  <a:pt x="0" y="48806"/>
                </a:moveTo>
                <a:lnTo>
                  <a:pt x="27838" y="20917"/>
                </a:lnTo>
                <a:lnTo>
                  <a:pt x="48716" y="41834"/>
                </a:lnTo>
                <a:lnTo>
                  <a:pt x="83513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6267255" y="1200493"/>
            <a:ext cx="73074" cy="62751"/>
          </a:xfrm>
          <a:custGeom>
            <a:avLst/>
            <a:gdLst/>
            <a:ahLst/>
            <a:cxnLst/>
            <a:rect l="l" t="t" r="r" b="b"/>
            <a:pathLst>
              <a:path w="97432" h="83668">
                <a:moveTo>
                  <a:pt x="0" y="34862"/>
                </a:moveTo>
                <a:lnTo>
                  <a:pt x="97432" y="0"/>
                </a:lnTo>
                <a:lnTo>
                  <a:pt x="97432" y="83668"/>
                </a:lnTo>
                <a:lnTo>
                  <a:pt x="0" y="48806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88133" y="1237097"/>
            <a:ext cx="20879" cy="36605"/>
          </a:xfrm>
          <a:custGeom>
            <a:avLst/>
            <a:gdLst/>
            <a:ahLst/>
            <a:cxnLst/>
            <a:rect l="l" t="t" r="r" b="b"/>
            <a:pathLst>
              <a:path w="27838" h="48806">
                <a:moveTo>
                  <a:pt x="0" y="0"/>
                </a:moveTo>
                <a:lnTo>
                  <a:pt x="0" y="34862"/>
                </a:lnTo>
                <a:cubicBezTo>
                  <a:pt x="0" y="42563"/>
                  <a:pt x="6232" y="48806"/>
                  <a:pt x="13919" y="48806"/>
                </a:cubicBezTo>
                <a:cubicBezTo>
                  <a:pt x="21606" y="48806"/>
                  <a:pt x="27838" y="42563"/>
                  <a:pt x="27838" y="34862"/>
                </a:cubicBezTo>
                <a:lnTo>
                  <a:pt x="27838" y="13945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340329" y="1216180"/>
            <a:ext cx="15659" cy="31376"/>
          </a:xfrm>
          <a:custGeom>
            <a:avLst/>
            <a:gdLst/>
            <a:ahLst/>
            <a:cxnLst/>
            <a:rect l="l" t="t" r="r" b="b"/>
            <a:pathLst>
              <a:path w="20878" h="41834">
                <a:moveTo>
                  <a:pt x="0" y="0"/>
                </a:moveTo>
                <a:cubicBezTo>
                  <a:pt x="11531" y="0"/>
                  <a:pt x="20878" y="9365"/>
                  <a:pt x="20878" y="20917"/>
                </a:cubicBezTo>
                <a:cubicBezTo>
                  <a:pt x="20878" y="32469"/>
                  <a:pt x="11531" y="41834"/>
                  <a:pt x="0" y="41834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483820" y="3034923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125501"/>
                </a:moveTo>
                <a:lnTo>
                  <a:pt x="0" y="41834"/>
                </a:lnTo>
                <a:lnTo>
                  <a:pt x="41757" y="69723"/>
                </a:lnTo>
                <a:lnTo>
                  <a:pt x="41757" y="41834"/>
                </a:lnTo>
                <a:lnTo>
                  <a:pt x="83513" y="69723"/>
                </a:lnTo>
                <a:lnTo>
                  <a:pt x="83513" y="13945"/>
                </a:lnTo>
                <a:lnTo>
                  <a:pt x="125270" y="0"/>
                </a:lnTo>
                <a:lnTo>
                  <a:pt x="125270" y="125501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3370776" y="3040151"/>
            <a:ext cx="104392" cy="67980"/>
          </a:xfrm>
          <a:prstGeom prst="roundRect">
            <a:avLst>
              <a:gd name="adj" fmla="val 15370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3402093" y="3129048"/>
            <a:ext cx="41756" cy="2744"/>
          </a:xfrm>
          <a:custGeom>
            <a:avLst/>
            <a:gdLst/>
            <a:ahLst/>
            <a:cxnLst/>
            <a:rect l="l" t="t" r="r" b="b"/>
            <a:pathLst>
              <a:path w="55675" h="3658">
                <a:moveTo>
                  <a:pt x="0" y="0"/>
                </a:moveTo>
                <a:lnTo>
                  <a:pt x="55675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3422971" y="3108132"/>
            <a:ext cx="2744" cy="20917"/>
          </a:xfrm>
          <a:custGeom>
            <a:avLst/>
            <a:gdLst/>
            <a:ahLst/>
            <a:cxnLst/>
            <a:rect l="l" t="t" r="r" b="b"/>
            <a:pathLst>
              <a:path w="3658" h="27889">
                <a:moveTo>
                  <a:pt x="0" y="0"/>
                </a:moveTo>
                <a:lnTo>
                  <a:pt x="0" y="27889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3391654" y="3055839"/>
            <a:ext cx="52196" cy="26147"/>
          </a:xfrm>
          <a:custGeom>
            <a:avLst/>
            <a:gdLst/>
            <a:ahLst/>
            <a:cxnLst/>
            <a:rect l="l" t="t" r="r" b="b"/>
            <a:pathLst>
              <a:path w="69594" h="34862">
                <a:moveTo>
                  <a:pt x="0" y="34862"/>
                </a:moveTo>
                <a:lnTo>
                  <a:pt x="20878" y="13945"/>
                </a:lnTo>
                <a:lnTo>
                  <a:pt x="41757" y="27889"/>
                </a:lnTo>
                <a:lnTo>
                  <a:pt x="69594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6267256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6319452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6267256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6319452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 txBox="1"/>
          <p:nvPr/>
        </p:nvSpPr>
        <p:spPr>
          <a:xfrm>
            <a:off x="445302" y="167678"/>
            <a:ext cx="394078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인사부터 제조까지,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도메인별 분석 레퍼런스</a:t>
            </a:r>
            <a:endParaRPr lang="en-US" sz="1710" dirty="0"/>
          </a:p>
        </p:txBody>
      </p:sp>
      <p:sp>
        <p:nvSpPr>
          <p:cNvPr id="82" name="Text 80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677913"/>
            <a:ext cx="694515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도메인마다 봐야 할 지표와 권한 구조가 다릅니다. 여섯 영역에서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어떤 데이터를 어떤 화면으로 만들었는지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고객사별로 정리했습니다.</a:t>
            </a:r>
            <a:endParaRPr lang="en-US" sz="975" dirty="0"/>
          </a:p>
        </p:txBody>
      </p:sp>
      <p:sp>
        <p:nvSpPr>
          <p:cNvPr id="84" name="Text 82"/>
          <p:cNvSpPr txBox="1"/>
          <p:nvPr/>
        </p:nvSpPr>
        <p:spPr>
          <a:xfrm>
            <a:off x="714129" y="1142371"/>
            <a:ext cx="66201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· HR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3605389" y="1142371"/>
            <a:ext cx="69950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· 매출</a:t>
            </a:r>
            <a:endParaRPr lang="en-US" sz="1005" dirty="0"/>
          </a:p>
        </p:txBody>
      </p:sp>
      <p:sp>
        <p:nvSpPr>
          <p:cNvPr id="86" name="Text 84"/>
          <p:cNvSpPr txBox="1"/>
          <p:nvPr/>
        </p:nvSpPr>
        <p:spPr>
          <a:xfrm>
            <a:off x="6497565" y="1142371"/>
            <a:ext cx="469079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마케팅</a:t>
            </a:r>
            <a:endParaRPr lang="en-US" sz="1005" dirty="0"/>
          </a:p>
        </p:txBody>
      </p:sp>
      <p:sp>
        <p:nvSpPr>
          <p:cNvPr id="87" name="Text 85"/>
          <p:cNvSpPr txBox="1"/>
          <p:nvPr/>
        </p:nvSpPr>
        <p:spPr>
          <a:xfrm>
            <a:off x="2395669" y="1172718"/>
            <a:ext cx="6848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3곳 · 2023→</a:t>
            </a:r>
            <a:endParaRPr lang="en-US" sz="668" dirty="0"/>
          </a:p>
        </p:txBody>
      </p:sp>
      <p:sp>
        <p:nvSpPr>
          <p:cNvPr id="88" name="Text 86"/>
          <p:cNvSpPr txBox="1"/>
          <p:nvPr/>
        </p:nvSpPr>
        <p:spPr>
          <a:xfrm>
            <a:off x="5093995" y="1172718"/>
            <a:ext cx="8787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GMV · 손익</a:t>
            </a:r>
            <a:endParaRPr lang="en-US" sz="668" dirty="0"/>
          </a:p>
        </p:txBody>
      </p:sp>
      <p:sp>
        <p:nvSpPr>
          <p:cNvPr id="89" name="Text 87"/>
          <p:cNvSpPr txBox="1"/>
          <p:nvPr/>
        </p:nvSpPr>
        <p:spPr>
          <a:xfrm>
            <a:off x="8465303" y="1172718"/>
            <a:ext cx="3986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</a:t>
            </a:r>
            <a:endParaRPr lang="en-US" sz="668" dirty="0"/>
          </a:p>
        </p:txBody>
      </p:sp>
      <p:sp>
        <p:nvSpPr>
          <p:cNvPr id="90" name="Text 88"/>
          <p:cNvSpPr txBox="1"/>
          <p:nvPr/>
        </p:nvSpPr>
        <p:spPr>
          <a:xfrm>
            <a:off x="494679" y="1393889"/>
            <a:ext cx="246324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인력 현황(성별 · 연령 · 학력) · 발령 · 입퇴사 · 해외 발령 추적</a:t>
            </a:r>
            <a:endParaRPr lang="en-US" sz="720" dirty="0"/>
          </a:p>
        </p:txBody>
      </p:sp>
      <p:sp>
        <p:nvSpPr>
          <p:cNvPr id="91" name="Text 89"/>
          <p:cNvSpPr txBox="1"/>
          <p:nvPr/>
        </p:nvSpPr>
        <p:spPr>
          <a:xfrm>
            <a:off x="3385939" y="1393889"/>
            <a:ext cx="206292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상품군 · 지역 · 법인별 실적 현황과 목표 대비 달성률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6278114" y="1393889"/>
            <a:ext cx="13249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캠페인 · 채널별 유입과 전환 성과</a:t>
            </a:r>
            <a:endParaRPr lang="en-US" sz="720" dirty="0"/>
          </a:p>
        </p:txBody>
      </p:sp>
      <p:sp>
        <p:nvSpPr>
          <p:cNvPr id="93" name="Text 91"/>
          <p:cNvSpPr txBox="1"/>
          <p:nvPr/>
        </p:nvSpPr>
        <p:spPr>
          <a:xfrm>
            <a:off x="494679" y="1549223"/>
            <a:ext cx="196335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 이동, 교육 · 휴가 · 복지 활용도</a:t>
            </a:r>
            <a:endParaRPr lang="en-US" sz="720" dirty="0"/>
          </a:p>
        </p:txBody>
      </p:sp>
      <p:sp>
        <p:nvSpPr>
          <p:cNvPr id="94" name="Text 92"/>
          <p:cNvSpPr txBox="1"/>
          <p:nvPr/>
        </p:nvSpPr>
        <p:spPr>
          <a:xfrm>
            <a:off x="3385939" y="1549223"/>
            <a:ext cx="201967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트래픽을 한 흐름에서 드릴다운</a:t>
            </a:r>
            <a:endParaRPr lang="en-US" sz="720" dirty="0"/>
          </a:p>
        </p:txBody>
      </p:sp>
      <p:sp>
        <p:nvSpPr>
          <p:cNvPr id="95" name="Text 93"/>
          <p:cNvSpPr txBox="1"/>
          <p:nvPr/>
        </p:nvSpPr>
        <p:spPr>
          <a:xfrm>
            <a:off x="6278114" y="1549223"/>
            <a:ext cx="14712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예산 집행 대비 성과, 기간 · 지역 비교</a:t>
            </a:r>
            <a:endParaRPr lang="en-US" sz="720" dirty="0"/>
          </a:p>
        </p:txBody>
      </p:sp>
      <p:sp>
        <p:nvSpPr>
          <p:cNvPr id="96" name="Text 94"/>
          <p:cNvSpPr txBox="1"/>
          <p:nvPr/>
        </p:nvSpPr>
        <p:spPr>
          <a:xfrm>
            <a:off x="494679" y="1704556"/>
            <a:ext cx="2106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피크임금 · 정년 도래 예측, 조건별 인원 추출 다운로드</a:t>
            </a:r>
            <a:endParaRPr lang="en-US" sz="720" dirty="0"/>
          </a:p>
        </p:txBody>
      </p:sp>
      <p:sp>
        <p:nvSpPr>
          <p:cNvPr id="97" name="Text 95"/>
          <p:cNvSpPr txBox="1"/>
          <p:nvPr/>
        </p:nvSpPr>
        <p:spPr>
          <a:xfrm>
            <a:off x="3385939" y="1704556"/>
            <a:ext cx="160930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질문에 대화형으로 답하는 셀프 조회</a:t>
            </a:r>
            <a:endParaRPr lang="en-US" sz="720" dirty="0"/>
          </a:p>
        </p:txBody>
      </p:sp>
      <p:sp>
        <p:nvSpPr>
          <p:cNvPr id="98" name="Text 96"/>
          <p:cNvSpPr txBox="1"/>
          <p:nvPr/>
        </p:nvSpPr>
        <p:spPr>
          <a:xfrm>
            <a:off x="6278114" y="1704556"/>
            <a:ext cx="163243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조직이 같은 기준으로 보는 표준 지표 포탈</a:t>
            </a:r>
            <a:endParaRPr lang="en-US" sz="720" dirty="0"/>
          </a:p>
        </p:txBody>
      </p:sp>
      <p:sp>
        <p:nvSpPr>
          <p:cNvPr id="99" name="Text 97"/>
          <p:cNvSpPr txBox="1"/>
          <p:nvPr/>
        </p:nvSpPr>
        <p:spPr>
          <a:xfrm>
            <a:off x="480048" y="2102662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00" name="Text 98"/>
          <p:cNvSpPr txBox="1"/>
          <p:nvPr/>
        </p:nvSpPr>
        <p:spPr>
          <a:xfrm>
            <a:off x="778135" y="2102662"/>
            <a:ext cx="78819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Index 대시보드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1594674" y="2102662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2068321" y="2102662"/>
            <a:ext cx="5925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DataLab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3371309" y="2123236"/>
            <a:ext cx="5257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통신 유통사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3794666" y="2123236"/>
            <a:ext cx="78545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셀프 조회 · AI</a:t>
            </a:r>
            <a:endParaRPr lang="en-US" sz="668" dirty="0"/>
          </a:p>
        </p:txBody>
      </p:sp>
      <p:sp>
        <p:nvSpPr>
          <p:cNvPr id="105" name="Text 103"/>
          <p:cNvSpPr txBox="1"/>
          <p:nvPr/>
        </p:nvSpPr>
        <p:spPr>
          <a:xfrm>
            <a:off x="480049" y="2299144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06" name="Text 104"/>
          <p:cNvSpPr txBox="1"/>
          <p:nvPr/>
        </p:nvSpPr>
        <p:spPr>
          <a:xfrm>
            <a:off x="942723" y="2299144"/>
            <a:ext cx="66292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분석 플랫폼</a:t>
            </a:r>
            <a:endParaRPr lang="en-US" sz="668" dirty="0"/>
          </a:p>
        </p:txBody>
      </p:sp>
      <p:sp>
        <p:nvSpPr>
          <p:cNvPr id="107" name="Text 105"/>
          <p:cNvSpPr txBox="1"/>
          <p:nvPr/>
        </p:nvSpPr>
        <p:spPr>
          <a:xfrm>
            <a:off x="1537068" y="2305831"/>
            <a:ext cx="39867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4차 진행</a:t>
            </a:r>
            <a:endParaRPr lang="en-US" sz="593" dirty="0"/>
          </a:p>
        </p:txBody>
      </p:sp>
      <p:sp>
        <p:nvSpPr>
          <p:cNvPr id="108" name="Text 106"/>
          <p:cNvSpPr txBox="1"/>
          <p:nvPr/>
        </p:nvSpPr>
        <p:spPr>
          <a:xfrm>
            <a:off x="3371309" y="2319718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</a:t>
            </a:r>
            <a:endParaRPr lang="en-US" sz="668" dirty="0"/>
          </a:p>
        </p:txBody>
      </p:sp>
      <p:sp>
        <p:nvSpPr>
          <p:cNvPr id="109" name="Text 107"/>
          <p:cNvSpPr txBox="1"/>
          <p:nvPr/>
        </p:nvSpPr>
        <p:spPr>
          <a:xfrm>
            <a:off x="3868730" y="2319718"/>
            <a:ext cx="8119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D2C 매출 BI Agent</a:t>
            </a:r>
            <a:endParaRPr lang="en-US" sz="668" dirty="0"/>
          </a:p>
        </p:txBody>
      </p:sp>
      <p:sp>
        <p:nvSpPr>
          <p:cNvPr id="110" name="Text 108"/>
          <p:cNvSpPr txBox="1"/>
          <p:nvPr/>
        </p:nvSpPr>
        <p:spPr>
          <a:xfrm>
            <a:off x="4708128" y="231971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1" name="Text 109"/>
          <p:cNvSpPr txBox="1"/>
          <p:nvPr/>
        </p:nvSpPr>
        <p:spPr>
          <a:xfrm>
            <a:off x="5038219" y="2319718"/>
            <a:ext cx="63641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GBC 대시보드</a:t>
            </a:r>
            <a:endParaRPr lang="en-US" sz="668" dirty="0"/>
          </a:p>
        </p:txBody>
      </p:sp>
      <p:sp>
        <p:nvSpPr>
          <p:cNvPr id="112" name="Text 110"/>
          <p:cNvSpPr txBox="1"/>
          <p:nvPr/>
        </p:nvSpPr>
        <p:spPr>
          <a:xfrm>
            <a:off x="3371309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삼성증권</a:t>
            </a:r>
            <a:endParaRPr lang="en-US" sz="668" dirty="0"/>
          </a:p>
        </p:txBody>
      </p:sp>
      <p:sp>
        <p:nvSpPr>
          <p:cNvPr id="113" name="Text 111"/>
          <p:cNvSpPr txBox="1"/>
          <p:nvPr/>
        </p:nvSpPr>
        <p:spPr>
          <a:xfrm>
            <a:off x="3701399" y="2516200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개선</a:t>
            </a:r>
            <a:endParaRPr lang="en-US" sz="668" dirty="0"/>
          </a:p>
        </p:txBody>
      </p:sp>
      <p:sp>
        <p:nvSpPr>
          <p:cNvPr id="114" name="Text 112"/>
          <p:cNvSpPr txBox="1"/>
          <p:nvPr/>
        </p:nvSpPr>
        <p:spPr>
          <a:xfrm>
            <a:off x="6263483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5" name="Text 113"/>
          <p:cNvSpPr txBox="1"/>
          <p:nvPr/>
        </p:nvSpPr>
        <p:spPr>
          <a:xfrm>
            <a:off x="6592659" y="2516200"/>
            <a:ext cx="93358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마케팅 BI 대시보드 포탈</a:t>
            </a:r>
            <a:endParaRPr lang="en-US" sz="668" dirty="0"/>
          </a:p>
        </p:txBody>
      </p:sp>
      <p:sp>
        <p:nvSpPr>
          <p:cNvPr id="116" name="Text 114"/>
          <p:cNvSpPr txBox="1"/>
          <p:nvPr/>
        </p:nvSpPr>
        <p:spPr>
          <a:xfrm>
            <a:off x="7458575" y="2522373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17" name="Text 115"/>
          <p:cNvSpPr txBox="1"/>
          <p:nvPr/>
        </p:nvSpPr>
        <p:spPr>
          <a:xfrm>
            <a:off x="541312" y="2540374"/>
            <a:ext cx="207298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민감 정보 - 부서 · 권한별 열람 제한(RLS) 설계까지 포함</a:t>
            </a:r>
            <a:endParaRPr lang="en-US" sz="668" dirty="0"/>
          </a:p>
        </p:txBody>
      </p:sp>
      <p:sp>
        <p:nvSpPr>
          <p:cNvPr id="118" name="Text 116"/>
          <p:cNvSpPr txBox="1"/>
          <p:nvPr/>
        </p:nvSpPr>
        <p:spPr>
          <a:xfrm>
            <a:off x="714129" y="2992488"/>
            <a:ext cx="110548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 · 품질</a:t>
            </a:r>
            <a:endParaRPr lang="en-US" sz="1005" dirty="0"/>
          </a:p>
        </p:txBody>
      </p:sp>
      <p:sp>
        <p:nvSpPr>
          <p:cNvPr id="119" name="Text 117"/>
          <p:cNvSpPr txBox="1"/>
          <p:nvPr/>
        </p:nvSpPr>
        <p:spPr>
          <a:xfrm>
            <a:off x="3605389" y="2992488"/>
            <a:ext cx="92078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모니터링</a:t>
            </a:r>
            <a:endParaRPr lang="en-US" sz="1005" dirty="0"/>
          </a:p>
        </p:txBody>
      </p:sp>
      <p:sp>
        <p:nvSpPr>
          <p:cNvPr id="120" name="Text 118"/>
          <p:cNvSpPr txBox="1"/>
          <p:nvPr/>
        </p:nvSpPr>
        <p:spPr>
          <a:xfrm>
            <a:off x="6497564" y="2992488"/>
            <a:ext cx="11192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 플랫폼 · AI 도입</a:t>
            </a:r>
            <a:endParaRPr lang="en-US" sz="1005" dirty="0"/>
          </a:p>
        </p:txBody>
      </p:sp>
      <p:sp>
        <p:nvSpPr>
          <p:cNvPr id="121" name="Text 119"/>
          <p:cNvSpPr txBox="1"/>
          <p:nvPr/>
        </p:nvSpPr>
        <p:spPr>
          <a:xfrm>
            <a:off x="2014373" y="3022835"/>
            <a:ext cx="106616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수율 · 데이터 품질</a:t>
            </a:r>
            <a:endParaRPr lang="en-US" sz="668" dirty="0"/>
          </a:p>
        </p:txBody>
      </p:sp>
      <p:sp>
        <p:nvSpPr>
          <p:cNvPr id="122" name="Text 120"/>
          <p:cNvSpPr txBox="1"/>
          <p:nvPr/>
        </p:nvSpPr>
        <p:spPr>
          <a:xfrm>
            <a:off x="5422257" y="3022835"/>
            <a:ext cx="54954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현장 · 관제</a:t>
            </a:r>
            <a:endParaRPr lang="en-US" sz="668" dirty="0"/>
          </a:p>
        </p:txBody>
      </p:sp>
      <p:sp>
        <p:nvSpPr>
          <p:cNvPr id="123" name="Text 121"/>
          <p:cNvSpPr txBox="1"/>
          <p:nvPr/>
        </p:nvSpPr>
        <p:spPr>
          <a:xfrm>
            <a:off x="7933137" y="3022835"/>
            <a:ext cx="93083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포털 · TA · 에이전트</a:t>
            </a:r>
            <a:endParaRPr lang="en-US" sz="668" dirty="0"/>
          </a:p>
        </p:txBody>
      </p:sp>
      <p:sp>
        <p:nvSpPr>
          <p:cNvPr id="124" name="Text 122"/>
          <p:cNvSpPr txBox="1"/>
          <p:nvPr/>
        </p:nvSpPr>
        <p:spPr>
          <a:xfrm>
            <a:off x="494678" y="3244006"/>
            <a:ext cx="188690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한 포털에서 통합 조회</a:t>
            </a:r>
            <a:endParaRPr lang="en-US" sz="720" dirty="0"/>
          </a:p>
        </p:txBody>
      </p:sp>
      <p:sp>
        <p:nvSpPr>
          <p:cNvPr id="125" name="Text 123"/>
          <p:cNvSpPr txBox="1"/>
          <p:nvPr/>
        </p:nvSpPr>
        <p:spPr>
          <a:xfrm>
            <a:off x="3385939" y="3244006"/>
            <a:ext cx="150506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실시간 품질 · 장애 지표와 임계치 알람</a:t>
            </a:r>
            <a:endParaRPr lang="en-US" sz="720" dirty="0"/>
          </a:p>
        </p:txBody>
      </p:sp>
      <p:sp>
        <p:nvSpPr>
          <p:cNvPr id="126" name="Text 124"/>
          <p:cNvSpPr txBox="1"/>
          <p:nvPr/>
        </p:nvSpPr>
        <p:spPr>
          <a:xfrm>
            <a:off x="6278114" y="3244006"/>
            <a:ext cx="216149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전사 표준 템플릿 · 권한 거버넌스를 갖춘 Tableau 포털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94678" y="3399339"/>
            <a:ext cx="185874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수율 추이와 불량 원인 분석, 공정 단위 드릴다운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3385939" y="3399339"/>
            <a:ext cx="200660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관제 센터 대형 화면과 담당자 화면을 같은 데이터로</a:t>
            </a:r>
            <a:endParaRPr lang="en-US" sz="720" dirty="0"/>
          </a:p>
        </p:txBody>
      </p:sp>
      <p:sp>
        <p:nvSpPr>
          <p:cNvPr id="129" name="Text 127"/>
          <p:cNvSpPr txBox="1"/>
          <p:nvPr/>
        </p:nvSpPr>
        <p:spPr>
          <a:xfrm>
            <a:off x="6278113" y="3399339"/>
            <a:ext cx="1927142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공식 자격 전문가의 기술 지원(TA)으로 활용 정착</a:t>
            </a:r>
            <a:endParaRPr lang="en-US" sz="720" dirty="0"/>
          </a:p>
        </p:txBody>
      </p:sp>
      <p:sp>
        <p:nvSpPr>
          <p:cNvPr id="130" name="Text 128"/>
          <p:cNvSpPr txBox="1"/>
          <p:nvPr/>
        </p:nvSpPr>
        <p:spPr>
          <a:xfrm>
            <a:off x="494679" y="3554673"/>
            <a:ext cx="16726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품질(D.Q) 지표 표준화와 모니터링</a:t>
            </a:r>
            <a:endParaRPr lang="en-US" sz="720" dirty="0"/>
          </a:p>
        </p:txBody>
      </p:sp>
      <p:sp>
        <p:nvSpPr>
          <p:cNvPr id="131" name="Text 129"/>
          <p:cNvSpPr txBox="1"/>
          <p:nvPr/>
        </p:nvSpPr>
        <p:spPr>
          <a:xfrm>
            <a:off x="3385939" y="3554673"/>
            <a:ext cx="161835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현장 KPI 보드와 일 · 주 단위 운영 리포트</a:t>
            </a:r>
            <a:endParaRPr lang="en-US" sz="720" dirty="0"/>
          </a:p>
        </p:txBody>
      </p:sp>
      <p:sp>
        <p:nvSpPr>
          <p:cNvPr id="132" name="Text 130"/>
          <p:cNvSpPr txBox="1"/>
          <p:nvPr/>
        </p:nvSpPr>
        <p:spPr>
          <a:xfrm>
            <a:off x="6278114" y="3554673"/>
            <a:ext cx="175816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위에 자연어 질의 AI 에이전트 단계 도입</a:t>
            </a:r>
            <a:endParaRPr lang="en-US" sz="720" dirty="0"/>
          </a:p>
        </p:txBody>
      </p:sp>
      <p:sp>
        <p:nvSpPr>
          <p:cNvPr id="133" name="Text 131"/>
          <p:cNvSpPr txBox="1"/>
          <p:nvPr/>
        </p:nvSpPr>
        <p:spPr>
          <a:xfrm>
            <a:off x="6263483" y="3777386"/>
            <a:ext cx="45444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 CNS</a:t>
            </a:r>
            <a:endParaRPr lang="en-US" sz="668" dirty="0"/>
          </a:p>
        </p:txBody>
      </p:sp>
      <p:sp>
        <p:nvSpPr>
          <p:cNvPr id="134" name="Text 132"/>
          <p:cNvSpPr txBox="1"/>
          <p:nvPr/>
        </p:nvSpPr>
        <p:spPr>
          <a:xfrm>
            <a:off x="6614605" y="3777386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35" name="Text 133"/>
          <p:cNvSpPr txBox="1"/>
          <p:nvPr/>
        </p:nvSpPr>
        <p:spPr>
          <a:xfrm>
            <a:off x="7239124" y="3777386"/>
            <a:ext cx="4553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삼성SDS</a:t>
            </a:r>
            <a:endParaRPr lang="en-US" sz="668" dirty="0"/>
          </a:p>
        </p:txBody>
      </p:sp>
      <p:sp>
        <p:nvSpPr>
          <p:cNvPr id="136" name="Text 134"/>
          <p:cNvSpPr txBox="1"/>
          <p:nvPr/>
        </p:nvSpPr>
        <p:spPr>
          <a:xfrm>
            <a:off x="7591159" y="3777386"/>
            <a:ext cx="52119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BI</a:t>
            </a:r>
            <a:endParaRPr lang="en-US" sz="668" dirty="0"/>
          </a:p>
        </p:txBody>
      </p:sp>
      <p:sp>
        <p:nvSpPr>
          <p:cNvPr id="137" name="Text 135"/>
          <p:cNvSpPr txBox="1"/>
          <p:nvPr/>
        </p:nvSpPr>
        <p:spPr>
          <a:xfrm>
            <a:off x="480048" y="3973868"/>
            <a:ext cx="84123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연구소</a:t>
            </a:r>
            <a:endParaRPr lang="en-US" sz="668" dirty="0"/>
          </a:p>
        </p:txBody>
      </p:sp>
      <p:sp>
        <p:nvSpPr>
          <p:cNvPr id="138" name="Text 136"/>
          <p:cNvSpPr txBox="1"/>
          <p:nvPr/>
        </p:nvSpPr>
        <p:spPr>
          <a:xfrm>
            <a:off x="1217950" y="3973868"/>
            <a:ext cx="100673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· AI 의사결정 플랫폼</a:t>
            </a:r>
            <a:endParaRPr lang="en-US" sz="668" dirty="0"/>
          </a:p>
        </p:txBody>
      </p:sp>
      <p:sp>
        <p:nvSpPr>
          <p:cNvPr id="139" name="Text 137"/>
          <p:cNvSpPr txBox="1"/>
          <p:nvPr/>
        </p:nvSpPr>
        <p:spPr>
          <a:xfrm>
            <a:off x="6263484" y="3973868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40" name="Text 138"/>
          <p:cNvSpPr txBox="1"/>
          <p:nvPr/>
        </p:nvSpPr>
        <p:spPr>
          <a:xfrm>
            <a:off x="6737131" y="3973868"/>
            <a:ext cx="67390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태블로 분석포털</a:t>
            </a:r>
            <a:endParaRPr lang="en-US" sz="668" dirty="0"/>
          </a:p>
        </p:txBody>
      </p:sp>
      <p:sp>
        <p:nvSpPr>
          <p:cNvPr id="141" name="Text 139"/>
          <p:cNvSpPr txBox="1"/>
          <p:nvPr/>
        </p:nvSpPr>
        <p:spPr>
          <a:xfrm>
            <a:off x="7438458" y="397386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신라호텔</a:t>
            </a:r>
            <a:endParaRPr lang="en-US" sz="668" dirty="0"/>
          </a:p>
        </p:txBody>
      </p:sp>
      <p:sp>
        <p:nvSpPr>
          <p:cNvPr id="142" name="Text 140"/>
          <p:cNvSpPr txBox="1"/>
          <p:nvPr/>
        </p:nvSpPr>
        <p:spPr>
          <a:xfrm>
            <a:off x="7768549" y="3973868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43" name="Text 141"/>
          <p:cNvSpPr txBox="1"/>
          <p:nvPr/>
        </p:nvSpPr>
        <p:spPr>
          <a:xfrm>
            <a:off x="480049" y="4169836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44" name="Text 142"/>
          <p:cNvSpPr txBox="1"/>
          <p:nvPr/>
        </p:nvSpPr>
        <p:spPr>
          <a:xfrm>
            <a:off x="942723" y="4169836"/>
            <a:ext cx="84671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Foundry 수율 플랫폼</a:t>
            </a:r>
            <a:endParaRPr lang="en-US" sz="668" dirty="0"/>
          </a:p>
        </p:txBody>
      </p:sp>
      <p:sp>
        <p:nvSpPr>
          <p:cNvPr id="145" name="Text 143"/>
          <p:cNvSpPr txBox="1"/>
          <p:nvPr/>
        </p:nvSpPr>
        <p:spPr>
          <a:xfrm>
            <a:off x="6263484" y="4169836"/>
            <a:ext cx="55228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SK하이닉스</a:t>
            </a:r>
            <a:endParaRPr lang="en-US" sz="668" dirty="0"/>
          </a:p>
        </p:txBody>
      </p:sp>
      <p:sp>
        <p:nvSpPr>
          <p:cNvPr id="146" name="Text 144"/>
          <p:cNvSpPr txBox="1"/>
          <p:nvPr/>
        </p:nvSpPr>
        <p:spPr>
          <a:xfrm>
            <a:off x="6712443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7" name="Text 145"/>
          <p:cNvSpPr txBox="1"/>
          <p:nvPr/>
        </p:nvSpPr>
        <p:spPr>
          <a:xfrm>
            <a:off x="6989499" y="4169836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한화생명</a:t>
            </a:r>
            <a:endParaRPr lang="en-US" sz="668" dirty="0"/>
          </a:p>
        </p:txBody>
      </p:sp>
      <p:sp>
        <p:nvSpPr>
          <p:cNvPr id="148" name="Text 146"/>
          <p:cNvSpPr txBox="1"/>
          <p:nvPr/>
        </p:nvSpPr>
        <p:spPr>
          <a:xfrm>
            <a:off x="7318675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9" name="Text 147"/>
          <p:cNvSpPr txBox="1"/>
          <p:nvPr/>
        </p:nvSpPr>
        <p:spPr>
          <a:xfrm>
            <a:off x="7595731" y="4169836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50" name="Text 148"/>
          <p:cNvSpPr txBox="1"/>
          <p:nvPr/>
        </p:nvSpPr>
        <p:spPr>
          <a:xfrm>
            <a:off x="7894733" y="4169836"/>
            <a:ext cx="73241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Insight Agent</a:t>
            </a:r>
            <a:endParaRPr lang="en-US" sz="668" dirty="0"/>
          </a:p>
        </p:txBody>
      </p:sp>
      <p:sp>
        <p:nvSpPr>
          <p:cNvPr id="151" name="Text 149"/>
          <p:cNvSpPr txBox="1"/>
          <p:nvPr/>
        </p:nvSpPr>
        <p:spPr>
          <a:xfrm>
            <a:off x="1720858" y="4176522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52" name="Text 150"/>
          <p:cNvSpPr txBox="1"/>
          <p:nvPr/>
        </p:nvSpPr>
        <p:spPr>
          <a:xfrm>
            <a:off x="480049" y="4366317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53" name="Text 151"/>
          <p:cNvSpPr txBox="1"/>
          <p:nvPr/>
        </p:nvSpPr>
        <p:spPr>
          <a:xfrm>
            <a:off x="942724" y="4366317"/>
            <a:ext cx="77722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D.Q 표준화 시스템</a:t>
            </a:r>
            <a:endParaRPr lang="en-US" sz="668" dirty="0"/>
          </a:p>
        </p:txBody>
      </p:sp>
      <p:sp>
        <p:nvSpPr>
          <p:cNvPr id="154" name="Text 152"/>
          <p:cNvSpPr txBox="1"/>
          <p:nvPr/>
        </p:nvSpPr>
        <p:spPr>
          <a:xfrm>
            <a:off x="3371308" y="4366317"/>
            <a:ext cx="31089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SKT</a:t>
            </a:r>
            <a:endParaRPr lang="en-US" sz="668" dirty="0"/>
          </a:p>
        </p:txBody>
      </p:sp>
      <p:sp>
        <p:nvSpPr>
          <p:cNvPr id="155" name="Text 153"/>
          <p:cNvSpPr txBox="1"/>
          <p:nvPr/>
        </p:nvSpPr>
        <p:spPr>
          <a:xfrm>
            <a:off x="3579787" y="4366317"/>
            <a:ext cx="74247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5G 모니터링 센터</a:t>
            </a:r>
            <a:endParaRPr lang="en-US" sz="668" dirty="0"/>
          </a:p>
        </p:txBody>
      </p:sp>
      <p:sp>
        <p:nvSpPr>
          <p:cNvPr id="156" name="Text 154"/>
          <p:cNvSpPr txBox="1"/>
          <p:nvPr/>
        </p:nvSpPr>
        <p:spPr>
          <a:xfrm>
            <a:off x="4350607" y="4366317"/>
            <a:ext cx="48370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GS칼텍스</a:t>
            </a:r>
            <a:endParaRPr lang="en-US" sz="668" dirty="0"/>
          </a:p>
        </p:txBody>
      </p:sp>
      <p:sp>
        <p:nvSpPr>
          <p:cNvPr id="157" name="Text 155"/>
          <p:cNvSpPr txBox="1"/>
          <p:nvPr/>
        </p:nvSpPr>
        <p:spPr>
          <a:xfrm>
            <a:off x="4730987" y="4366317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개발</a:t>
            </a:r>
            <a:endParaRPr lang="en-US" sz="668" dirty="0"/>
          </a:p>
        </p:txBody>
      </p:sp>
      <p:sp>
        <p:nvSpPr>
          <p:cNvPr id="158" name="Text 156"/>
          <p:cNvSpPr txBox="1"/>
          <p:nvPr/>
        </p:nvSpPr>
        <p:spPr>
          <a:xfrm>
            <a:off x="6263484" y="4366317"/>
            <a:ext cx="5285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 PSNM</a:t>
            </a:r>
            <a:endParaRPr lang="en-US" sz="668" dirty="0"/>
          </a:p>
        </p:txBody>
      </p:sp>
      <p:sp>
        <p:nvSpPr>
          <p:cNvPr id="159" name="Text 157"/>
          <p:cNvSpPr txBox="1"/>
          <p:nvPr/>
        </p:nvSpPr>
        <p:spPr>
          <a:xfrm>
            <a:off x="6688669" y="4366317"/>
            <a:ext cx="63183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솔루션 도입</a:t>
            </a:r>
            <a:endParaRPr lang="en-US" sz="668" dirty="0"/>
          </a:p>
        </p:txBody>
      </p:sp>
      <p:sp>
        <p:nvSpPr>
          <p:cNvPr id="160" name="Text 158"/>
          <p:cNvSpPr txBox="1"/>
          <p:nvPr/>
        </p:nvSpPr>
        <p:spPr>
          <a:xfrm>
            <a:off x="165136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61" name="Text 159"/>
          <p:cNvSpPr txBox="1"/>
          <p:nvPr/>
        </p:nvSpPr>
        <p:spPr>
          <a:xfrm>
            <a:off x="725192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62" name="Text 160"/>
          <p:cNvSpPr txBox="1"/>
          <p:nvPr/>
        </p:nvSpPr>
        <p:spPr>
          <a:xfrm>
            <a:off x="297173" y="4725334"/>
            <a:ext cx="5321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공통 방식</a:t>
            </a:r>
            <a:endParaRPr lang="en-US" sz="720" dirty="0"/>
          </a:p>
        </p:txBody>
      </p:sp>
      <p:sp>
        <p:nvSpPr>
          <p:cNvPr id="163" name="Text 161"/>
          <p:cNvSpPr txBox="1"/>
          <p:nvPr/>
        </p:nvSpPr>
        <p:spPr>
          <a:xfrm>
            <a:off x="4527082" y="4723791"/>
            <a:ext cx="4616690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마트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대시보드 · 포털 구축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권한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운영 · 단계 확장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도메인이 달라도 같은 순서로 수행합니다</a:t>
            </a:r>
            <a:endParaRPr lang="en-US" sz="735" dirty="0"/>
          </a:p>
        </p:txBody>
      </p:sp>
      <p:sp>
        <p:nvSpPr>
          <p:cNvPr id="164" name="Text 162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- 10 -</a:t>
            </a:r>
            <a:endParaRPr lang="en-US" sz="705" dirty="0"/>
          </a:p>
        </p:txBody>
      </p:sp>
      <p:sp>
        <p:nvSpPr>
          <p:cNvPr id="165" name="Text 163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왜 세일링스톤인가, AI 혁신 파트너의 조건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aisight 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 - 차세대 AI 기반 BI 아키텍처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/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/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/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/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/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 Work Space - 인텔리전스 자산화 및 전사 협업 포털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/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/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/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/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 Ops - 전사 AI 통합 관제 사령탑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/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/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/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/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Product &amp; Service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97173" y="1224153"/>
            <a:ext cx="506564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39816" y="4646638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726344" y="4646638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926921" y="4646638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659994" y="1224154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791665" y="1332682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659994" y="216130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791665" y="2269827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659994" y="309793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791665" y="3206458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59994" y="4035076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0F172A"/>
          </a:solidFill>
          <a:ln w="762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791665" y="4143604"/>
            <a:ext cx="239567" cy="23968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73330" y="1844890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36286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5536" y="2117041"/>
            <a:ext cx="361307" cy="136076"/>
          </a:xfrm>
          <a:custGeom>
            <a:avLst/>
            <a:gdLst/>
            <a:ahLst/>
            <a:cxnLst/>
            <a:rect l="l" t="t" r="r" b="b"/>
            <a:pathLst>
              <a:path w="481742" h="181434">
                <a:moveTo>
                  <a:pt x="481742" y="0"/>
                </a:moveTo>
                <a:lnTo>
                  <a:pt x="0" y="181434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95672" y="1742833"/>
            <a:ext cx="111171" cy="374207"/>
          </a:xfrm>
          <a:custGeom>
            <a:avLst/>
            <a:gdLst/>
            <a:ahLst/>
            <a:cxnLst/>
            <a:rect l="l" t="t" r="r" b="b"/>
            <a:pathLst>
              <a:path w="148228" h="498943">
                <a:moveTo>
                  <a:pt x="148228" y="498943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56816" y="2055808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45536" y="1810871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17743" y="221909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7879" y="1708815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664323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0" y="317509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664323" y="2049003"/>
            <a:ext cx="305721" cy="238132"/>
          </a:xfrm>
          <a:custGeom>
            <a:avLst/>
            <a:gdLst/>
            <a:ahLst/>
            <a:cxnLst/>
            <a:rect l="l" t="t" r="r" b="b"/>
            <a:pathLst>
              <a:path w="407628" h="317509">
                <a:moveTo>
                  <a:pt x="0" y="0"/>
                </a:moveTo>
                <a:lnTo>
                  <a:pt x="407628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330809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444685" y="317509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614296" y="1987770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970044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942251" y="225311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303016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831080" y="3817985"/>
            <a:ext cx="250136" cy="272151"/>
          </a:xfrm>
          <a:custGeom>
            <a:avLst/>
            <a:gdLst/>
            <a:ahLst/>
            <a:cxnLst/>
            <a:rect l="l" t="t" r="r" b="b"/>
            <a:pathLst>
              <a:path w="333514" h="362868">
                <a:moveTo>
                  <a:pt x="0" y="36286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831081" y="4090135"/>
            <a:ext cx="277928" cy="238132"/>
          </a:xfrm>
          <a:custGeom>
            <a:avLst/>
            <a:gdLst/>
            <a:ahLst/>
            <a:cxnLst/>
            <a:rect l="l" t="t" r="r" b="b"/>
            <a:pathLst>
              <a:path w="370571" h="317509">
                <a:moveTo>
                  <a:pt x="0" y="0"/>
                </a:moveTo>
                <a:lnTo>
                  <a:pt x="370571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497567" y="4090135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0"/>
                </a:moveTo>
                <a:lnTo>
                  <a:pt x="0" y="362868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781053" y="4028902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053422" y="3783966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081215" y="429424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4469773" y="432826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944193" y="2479158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8" name="Text 36"/>
          <p:cNvSpPr txBox="1"/>
          <p:nvPr/>
        </p:nvSpPr>
        <p:spPr>
          <a:xfrm>
            <a:off x="4501673" y="2451366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668430" y="3702029"/>
            <a:ext cx="236861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0" name="Shape 38"/>
          <p:cNvSpPr/>
          <p:nvPr/>
        </p:nvSpPr>
        <p:spPr>
          <a:xfrm>
            <a:off x="1440357" y="2525267"/>
            <a:ext cx="667028" cy="578321"/>
          </a:xfrm>
          <a:custGeom>
            <a:avLst/>
            <a:gdLst/>
            <a:ahLst/>
            <a:cxnLst/>
            <a:rect l="l" t="t" r="r" b="b"/>
            <a:pathLst>
              <a:path w="889370" h="771094">
                <a:moveTo>
                  <a:pt x="0" y="771094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6483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1440357" y="3273683"/>
            <a:ext cx="667028" cy="544302"/>
          </a:xfrm>
          <a:custGeom>
            <a:avLst/>
            <a:gdLst/>
            <a:ahLst/>
            <a:cxnLst/>
            <a:rect l="l" t="t" r="r" b="b"/>
            <a:pathLst>
              <a:path w="889370" h="725736">
                <a:moveTo>
                  <a:pt x="0" y="0"/>
                </a:moveTo>
                <a:lnTo>
                  <a:pt x="889370" y="725736"/>
                </a:lnTo>
              </a:path>
            </a:pathLst>
          </a:custGeom>
          <a:solidFill>
            <a:srgbClr val="000000"/>
          </a:solidFill>
          <a:ln w="16483">
            <a:solidFill>
              <a:srgbClr val="7C6FDB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2357520" y="2185079"/>
            <a:ext cx="694820" cy="258544"/>
          </a:xfrm>
          <a:custGeom>
            <a:avLst/>
            <a:gdLst/>
            <a:ahLst/>
            <a:cxnLst/>
            <a:rect l="l" t="t" r="r" b="b"/>
            <a:pathLst>
              <a:path w="926427" h="344725">
                <a:moveTo>
                  <a:pt x="0" y="344725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2357520" y="2593305"/>
            <a:ext cx="694820" cy="306170"/>
          </a:xfrm>
          <a:custGeom>
            <a:avLst/>
            <a:gdLst/>
            <a:ahLst/>
            <a:cxnLst/>
            <a:rect l="l" t="t" r="r" b="b"/>
            <a:pathLst>
              <a:path w="926427" h="408226">
                <a:moveTo>
                  <a:pt x="0" y="0"/>
                </a:moveTo>
                <a:lnTo>
                  <a:pt x="926427" y="408226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2357520" y="3681910"/>
            <a:ext cx="694820" cy="204113"/>
          </a:xfrm>
          <a:custGeom>
            <a:avLst/>
            <a:gdLst/>
            <a:ahLst/>
            <a:cxnLst/>
            <a:rect l="l" t="t" r="r" b="b"/>
            <a:pathLst>
              <a:path w="926427" h="272151">
                <a:moveTo>
                  <a:pt x="0" y="272151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7C6FDB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3274682" y="2185079"/>
            <a:ext cx="722613" cy="476264"/>
          </a:xfrm>
          <a:custGeom>
            <a:avLst/>
            <a:gdLst/>
            <a:ahLst/>
            <a:cxnLst/>
            <a:rect l="l" t="t" r="r" b="b"/>
            <a:pathLst>
              <a:path w="963484" h="635019">
                <a:moveTo>
                  <a:pt x="0" y="0"/>
                </a:moveTo>
                <a:lnTo>
                  <a:pt x="963484" y="635019"/>
                </a:lnTo>
              </a:path>
            </a:pathLst>
          </a:custGeom>
          <a:solidFill>
            <a:srgbClr val="000000"/>
          </a:solidFill>
          <a:ln w="11538">
            <a:solidFill>
              <a:srgbClr val="2563EB"/>
            </a:solidFill>
            <a:prstDash val="dash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3346944" y="3702321"/>
            <a:ext cx="661469" cy="197309"/>
          </a:xfrm>
          <a:custGeom>
            <a:avLst/>
            <a:gdLst/>
            <a:ahLst/>
            <a:cxnLst/>
            <a:rect l="l" t="t" r="r" b="b"/>
            <a:pathLst>
              <a:path w="881959" h="263079">
                <a:moveTo>
                  <a:pt x="0" y="0"/>
                </a:moveTo>
                <a:lnTo>
                  <a:pt x="881959" y="263079"/>
                </a:lnTo>
              </a:path>
            </a:pathLst>
          </a:custGeom>
          <a:solidFill>
            <a:srgbClr val="000000"/>
          </a:solidFill>
          <a:ln w="11538">
            <a:solidFill>
              <a:srgbClr val="F59E0B"/>
            </a:solidFill>
            <a:prstDash val="dash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2507601" y="2225901"/>
            <a:ext cx="422451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 txBox="1"/>
          <p:nvPr/>
        </p:nvSpPr>
        <p:spPr>
          <a:xfrm>
            <a:off x="2565607" y="2418484"/>
            <a:ext cx="31014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49" name="Shape 47"/>
          <p:cNvSpPr/>
          <p:nvPr/>
        </p:nvSpPr>
        <p:spPr>
          <a:xfrm>
            <a:off x="2440898" y="3627479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7C6FDB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 txBox="1"/>
          <p:nvPr/>
        </p:nvSpPr>
        <p:spPr>
          <a:xfrm>
            <a:off x="2497226" y="3563535"/>
            <a:ext cx="42469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1" name="Shape 49"/>
          <p:cNvSpPr/>
          <p:nvPr/>
        </p:nvSpPr>
        <p:spPr>
          <a:xfrm>
            <a:off x="3419205" y="2334762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3471702" y="2501705"/>
            <a:ext cx="428628" cy="68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3" name="Shape 51"/>
          <p:cNvSpPr/>
          <p:nvPr/>
        </p:nvSpPr>
        <p:spPr>
          <a:xfrm>
            <a:off x="3369178" y="3702321"/>
            <a:ext cx="600325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 txBox="1"/>
          <p:nvPr/>
        </p:nvSpPr>
        <p:spPr>
          <a:xfrm>
            <a:off x="3414005" y="3624680"/>
            <a:ext cx="510671" cy="57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5" name="Shape 53"/>
          <p:cNvSpPr/>
          <p:nvPr/>
        </p:nvSpPr>
        <p:spPr>
          <a:xfrm>
            <a:off x="539870" y="2865456"/>
            <a:ext cx="944956" cy="612340"/>
          </a:xfrm>
          <a:prstGeom prst="roundRect">
            <a:avLst>
              <a:gd name="adj" fmla="val 12113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812440" y="3018332"/>
            <a:ext cx="40198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7" name="Text 55"/>
          <p:cNvSpPr txBox="1"/>
          <p:nvPr/>
        </p:nvSpPr>
        <p:spPr>
          <a:xfrm>
            <a:off x="577714" y="3129346"/>
            <a:ext cx="87222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8" name="Text 56"/>
          <p:cNvSpPr txBox="1"/>
          <p:nvPr/>
        </p:nvSpPr>
        <p:spPr>
          <a:xfrm>
            <a:off x="551349" y="3234957"/>
            <a:ext cx="92199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59" name="Shape 57"/>
          <p:cNvSpPr/>
          <p:nvPr/>
        </p:nvSpPr>
        <p:spPr>
          <a:xfrm>
            <a:off x="2040682" y="2280332"/>
            <a:ext cx="377982" cy="462657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2018141" y="2523470"/>
            <a:ext cx="42313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1" name="Text 59"/>
          <p:cNvSpPr txBox="1"/>
          <p:nvPr/>
        </p:nvSpPr>
        <p:spPr>
          <a:xfrm>
            <a:off x="2155699" y="2629394"/>
            <a:ext cx="147948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2" name="Shape 60"/>
          <p:cNvSpPr/>
          <p:nvPr/>
        </p:nvSpPr>
        <p:spPr>
          <a:xfrm>
            <a:off x="2040682" y="3654694"/>
            <a:ext cx="377982" cy="462657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p/>
        </p:txBody>
      </p:sp>
      <p:sp>
        <p:nvSpPr>
          <p:cNvPr id="63" name="Text 61"/>
          <p:cNvSpPr txBox="1"/>
          <p:nvPr/>
        </p:nvSpPr>
        <p:spPr>
          <a:xfrm>
            <a:off x="2100669" y="3646288"/>
            <a:ext cx="263116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4" name="Text 62"/>
          <p:cNvSpPr txBox="1"/>
          <p:nvPr/>
        </p:nvSpPr>
        <p:spPr>
          <a:xfrm>
            <a:off x="2155699" y="3752212"/>
            <a:ext cx="151694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5" name="Shape 63"/>
          <p:cNvSpPr/>
          <p:nvPr/>
        </p:nvSpPr>
        <p:spPr>
          <a:xfrm>
            <a:off x="3018989" y="1940143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 txBox="1"/>
          <p:nvPr/>
        </p:nvSpPr>
        <p:spPr>
          <a:xfrm>
            <a:off x="3060830" y="2223467"/>
            <a:ext cx="22759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7" name="Text 65"/>
          <p:cNvSpPr txBox="1"/>
          <p:nvPr/>
        </p:nvSpPr>
        <p:spPr>
          <a:xfrm>
            <a:off x="3103021" y="2318275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8" name="Shape 66"/>
          <p:cNvSpPr/>
          <p:nvPr/>
        </p:nvSpPr>
        <p:spPr>
          <a:xfrm>
            <a:off x="3018989" y="2756596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 txBox="1"/>
          <p:nvPr/>
        </p:nvSpPr>
        <p:spPr>
          <a:xfrm>
            <a:off x="3060559" y="2890487"/>
            <a:ext cx="23030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0" name="Text 68"/>
          <p:cNvSpPr txBox="1"/>
          <p:nvPr/>
        </p:nvSpPr>
        <p:spPr>
          <a:xfrm>
            <a:off x="3100252" y="2985295"/>
            <a:ext cx="149660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1" name="Shape 69"/>
          <p:cNvSpPr/>
          <p:nvPr/>
        </p:nvSpPr>
        <p:spPr>
          <a:xfrm>
            <a:off x="3002313" y="3470992"/>
            <a:ext cx="344631" cy="421834"/>
          </a:xfrm>
          <a:prstGeom prst="ellipse">
            <a:avLst/>
          </a:prstGeom>
          <a:solidFill>
            <a:srgbClr val="FFFFFF"/>
          </a:solidFill>
          <a:ln w="16483">
            <a:solidFill>
              <a:srgbClr val="7C6FDB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 txBox="1"/>
          <p:nvPr/>
        </p:nvSpPr>
        <p:spPr>
          <a:xfrm>
            <a:off x="2991122" y="3490806"/>
            <a:ext cx="36701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3" name="Text 71"/>
          <p:cNvSpPr txBox="1"/>
          <p:nvPr/>
        </p:nvSpPr>
        <p:spPr>
          <a:xfrm>
            <a:off x="2983470" y="3585614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4" name="Shape 72"/>
          <p:cNvSpPr/>
          <p:nvPr/>
        </p:nvSpPr>
        <p:spPr>
          <a:xfrm>
            <a:off x="3997296" y="2525268"/>
            <a:ext cx="311279" cy="381011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5" name="Text 73"/>
          <p:cNvSpPr txBox="1"/>
          <p:nvPr/>
        </p:nvSpPr>
        <p:spPr>
          <a:xfrm>
            <a:off x="4051636" y="2701498"/>
            <a:ext cx="20259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6" name="Text 74"/>
          <p:cNvSpPr txBox="1"/>
          <p:nvPr/>
        </p:nvSpPr>
        <p:spPr>
          <a:xfrm>
            <a:off x="4081327" y="2796306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7" name="Shape 75"/>
          <p:cNvSpPr/>
          <p:nvPr/>
        </p:nvSpPr>
        <p:spPr>
          <a:xfrm>
            <a:off x="3997296" y="3722732"/>
            <a:ext cx="355748" cy="435442"/>
          </a:xfrm>
          <a:prstGeom prst="ellipse">
            <a:avLst/>
          </a:prstGeom>
          <a:solidFill>
            <a:srgbClr val="FFFFFF"/>
          </a:solidFill>
          <a:ln w="16483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 txBox="1"/>
          <p:nvPr/>
        </p:nvSpPr>
        <p:spPr>
          <a:xfrm>
            <a:off x="3991284" y="3707744"/>
            <a:ext cx="369025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79" name="Text 77"/>
          <p:cNvSpPr txBox="1"/>
          <p:nvPr/>
        </p:nvSpPr>
        <p:spPr>
          <a:xfrm>
            <a:off x="3984011" y="3796836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0" name="Shape 78"/>
          <p:cNvSpPr/>
          <p:nvPr/>
        </p:nvSpPr>
        <p:spPr>
          <a:xfrm>
            <a:off x="3246890" y="1933339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3246890" y="2749792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3246890" y="3484600"/>
            <a:ext cx="100054" cy="122468"/>
          </a:xfrm>
          <a:prstGeom prst="ellipse">
            <a:avLst/>
          </a:prstGeom>
          <a:solidFill>
            <a:srgbClr val="7C6FDB"/>
          </a:solidFill>
          <a:ln/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4225197" y="2518464"/>
            <a:ext cx="100054" cy="12246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3277462" y="1974161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3277462" y="2790614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3277462" y="3525422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7" name="Shape 85"/>
          <p:cNvSpPr/>
          <p:nvPr/>
        </p:nvSpPr>
        <p:spPr>
          <a:xfrm>
            <a:off x="4255769" y="2559286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8" name="Text 86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89" name="Text 87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677913"/>
            <a:ext cx="768040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</a:t>
            </a:r>
            <a:endParaRPr lang="en-US" sz="975" dirty="0"/>
          </a:p>
        </p:txBody>
      </p:sp>
      <p:sp>
        <p:nvSpPr>
          <p:cNvPr id="91" name="Text 89"/>
          <p:cNvSpPr txBox="1"/>
          <p:nvPr/>
        </p:nvSpPr>
        <p:spPr>
          <a:xfrm>
            <a:off x="297173" y="881596"/>
            <a:ext cx="288367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프로 먼저 확인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잘하는 분석에 집중시킵니다.</a:t>
            </a:r>
            <a:endParaRPr lang="en-US" sz="975" dirty="0"/>
          </a:p>
        </p:txBody>
      </p:sp>
      <p:sp>
        <p:nvSpPr>
          <p:cNvPr id="92" name="Text 90"/>
          <p:cNvSpPr txBox="1"/>
          <p:nvPr/>
        </p:nvSpPr>
        <p:spPr>
          <a:xfrm>
            <a:off x="6145529" y="1322908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93" name="Text 91"/>
          <p:cNvSpPr txBox="1"/>
          <p:nvPr/>
        </p:nvSpPr>
        <p:spPr>
          <a:xfrm>
            <a:off x="439816" y="1335768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94" name="Text 92"/>
          <p:cNvSpPr txBox="1"/>
          <p:nvPr/>
        </p:nvSpPr>
        <p:spPr>
          <a:xfrm>
            <a:off x="5884018" y="1368686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95" name="Text 93"/>
          <p:cNvSpPr txBox="1"/>
          <p:nvPr/>
        </p:nvSpPr>
        <p:spPr>
          <a:xfrm>
            <a:off x="439816" y="1478757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96" name="Text 94"/>
          <p:cNvSpPr txBox="1"/>
          <p:nvPr/>
        </p:nvSpPr>
        <p:spPr>
          <a:xfrm>
            <a:off x="6145528" y="1516818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97" name="Text 95"/>
          <p:cNvSpPr txBox="1"/>
          <p:nvPr/>
        </p:nvSpPr>
        <p:spPr>
          <a:xfrm>
            <a:off x="6145529" y="1685011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45529" y="2260054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99" name="Text 97"/>
          <p:cNvSpPr txBox="1"/>
          <p:nvPr/>
        </p:nvSpPr>
        <p:spPr>
          <a:xfrm>
            <a:off x="5875787" y="2305317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0" name="Text 98"/>
          <p:cNvSpPr txBox="1"/>
          <p:nvPr/>
        </p:nvSpPr>
        <p:spPr>
          <a:xfrm>
            <a:off x="6145529" y="245396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6145529" y="2622156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6145529" y="3197200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03" name="Text 101"/>
          <p:cNvSpPr txBox="1"/>
          <p:nvPr/>
        </p:nvSpPr>
        <p:spPr>
          <a:xfrm>
            <a:off x="5874873" y="3242463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3391110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3559302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6145529" y="4133831"/>
            <a:ext cx="192613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검증은 지식 그래프가, 분석은 AI가</a:t>
            </a:r>
            <a:endParaRPr lang="en-US" sz="1005" dirty="0"/>
          </a:p>
        </p:txBody>
      </p:sp>
      <p:sp>
        <p:nvSpPr>
          <p:cNvPr id="107" name="Text 105"/>
          <p:cNvSpPr txBox="1"/>
          <p:nvPr/>
        </p:nvSpPr>
        <p:spPr>
          <a:xfrm>
            <a:off x="5856586" y="4179609"/>
            <a:ext cx="24597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✓</a:t>
            </a:r>
            <a:endParaRPr lang="en-US" sz="94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4327741"/>
            <a:ext cx="275392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4495934"/>
            <a:ext cx="163344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r>
              <a:rPr lang="en-US" sz="855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각자 잘하는 일에 집중</a:t>
            </a:r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571486" y="4621435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1" name="Text 109"/>
          <p:cNvSpPr txBox="1"/>
          <p:nvPr/>
        </p:nvSpPr>
        <p:spPr>
          <a:xfrm>
            <a:off x="1857100" y="4621435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2" name="Text 110"/>
          <p:cNvSpPr txBox="1"/>
          <p:nvPr/>
        </p:nvSpPr>
        <p:spPr>
          <a:xfrm>
            <a:off x="3058591" y="4621435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3" name="Text 111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97172" y="1224154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497164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697156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898062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73" y="2185987"/>
            <a:ext cx="8549426" cy="2660219"/>
          </a:xfrm>
          <a:prstGeom prst="roundRect">
            <a:avLst>
              <a:gd name="adj" fmla="val 4296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39816" y="2083118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1703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1703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43590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1703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1702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550198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50198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3531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550198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550198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1703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1703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43590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51702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550198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550198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53531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550198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832484" y="2362924"/>
            <a:ext cx="3859586" cy="2352122"/>
          </a:xfrm>
          <a:prstGeom prst="roundRect">
            <a:avLst>
              <a:gd name="adj" fmla="val 413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21147" y="1348819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625976" y="1348819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625976" y="1378008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655008" y="1378008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830808" y="1343954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4879193" y="1343954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7025959" y="1343954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7025959" y="1392603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7025959" y="1358549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063821" y="3281810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072355" y="3317986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038219" y="3137107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4" name="Text 42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5" name="Text 43"/>
          <p:cNvSpPr txBox="1"/>
          <p:nvPr/>
        </p:nvSpPr>
        <p:spPr>
          <a:xfrm>
            <a:off x="297172" y="677913"/>
            <a:ext cx="778903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881596"/>
            <a:ext cx="290579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이아웃, 복잡한 표(Table) 구조의 맥락까지 파싱합니다.</a:t>
            </a:r>
            <a:endParaRPr lang="en-US" sz="975" dirty="0"/>
          </a:p>
        </p:txBody>
      </p:sp>
      <p:sp>
        <p:nvSpPr>
          <p:cNvPr id="47" name="Text 45"/>
          <p:cNvSpPr txBox="1"/>
          <p:nvPr/>
        </p:nvSpPr>
        <p:spPr>
          <a:xfrm>
            <a:off x="585202" y="1311079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2785193" y="1311079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49" name="Text 47"/>
          <p:cNvSpPr txBox="1"/>
          <p:nvPr/>
        </p:nvSpPr>
        <p:spPr>
          <a:xfrm>
            <a:off x="4985184" y="1311079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7185175" y="1311079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11470" y="1507560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2" name="Text 50"/>
          <p:cNvSpPr txBox="1"/>
          <p:nvPr/>
        </p:nvSpPr>
        <p:spPr>
          <a:xfrm>
            <a:off x="2611461" y="1507560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3" name="Text 51"/>
          <p:cNvSpPr txBox="1"/>
          <p:nvPr/>
        </p:nvSpPr>
        <p:spPr>
          <a:xfrm>
            <a:off x="4811453" y="1507560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7011444" y="1507560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2353607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53599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753590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11470" y="1654665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59" name="Text 57"/>
          <p:cNvSpPr txBox="1"/>
          <p:nvPr/>
        </p:nvSpPr>
        <p:spPr>
          <a:xfrm>
            <a:off x="2611462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0" name="Text 58"/>
          <p:cNvSpPr txBox="1"/>
          <p:nvPr/>
        </p:nvSpPr>
        <p:spPr>
          <a:xfrm>
            <a:off x="4811453" y="1654665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7011445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11470" y="1802283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2611461" y="1802283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811452" y="1802283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7011445" y="1802283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565086" y="2114494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7" name="Text 65"/>
          <p:cNvSpPr txBox="1"/>
          <p:nvPr/>
        </p:nvSpPr>
        <p:spPr>
          <a:xfrm>
            <a:off x="576972" y="2446763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68" name="Text 66"/>
          <p:cNvSpPr txBox="1"/>
          <p:nvPr/>
        </p:nvSpPr>
        <p:spPr>
          <a:xfrm>
            <a:off x="2676382" y="2446763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630386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630386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775948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775948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271384" y="3017692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4" name="Text 72"/>
          <p:cNvSpPr txBox="1"/>
          <p:nvPr/>
        </p:nvSpPr>
        <p:spPr>
          <a:xfrm>
            <a:off x="5271385" y="3222403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5" name="Text 73"/>
          <p:cNvSpPr txBox="1"/>
          <p:nvPr/>
        </p:nvSpPr>
        <p:spPr>
          <a:xfrm>
            <a:off x="4987013" y="3500152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6" name="Text 74"/>
          <p:cNvSpPr txBox="1"/>
          <p:nvPr/>
        </p:nvSpPr>
        <p:spPr>
          <a:xfrm>
            <a:off x="576972" y="3607136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7" name="Text 75"/>
          <p:cNvSpPr txBox="1"/>
          <p:nvPr/>
        </p:nvSpPr>
        <p:spPr>
          <a:xfrm>
            <a:off x="2676382" y="3607136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78" name="Text 76"/>
          <p:cNvSpPr txBox="1"/>
          <p:nvPr/>
        </p:nvSpPr>
        <p:spPr>
          <a:xfrm>
            <a:off x="4987013" y="3684803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576972" y="3790245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0" name="Text 78"/>
          <p:cNvSpPr txBox="1"/>
          <p:nvPr/>
        </p:nvSpPr>
        <p:spPr>
          <a:xfrm>
            <a:off x="2676382" y="3790245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1" name="Text 79"/>
          <p:cNvSpPr txBox="1"/>
          <p:nvPr/>
        </p:nvSpPr>
        <p:spPr>
          <a:xfrm>
            <a:off x="4987013" y="3869455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576972" y="3936321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2676382" y="3936321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4081882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4081882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7" name="Text 8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97172" y="1224153"/>
            <a:ext cx="500072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39816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041805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43793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9816" y="2754344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804395" y="2822753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571557" y="2822753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64656" y="2822753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39816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39816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950367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39816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39816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1253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31253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86365" y="4294823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86364" y="4294823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041805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041805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552355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041805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041804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133241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2133242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2388354" y="4294823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388353" y="4294823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643793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643793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155258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3643793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3643793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735231" y="3922948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735231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990342" y="4294823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990343" y="4294823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5595074" y="1224153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725830" y="133268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595074" y="2260568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725830" y="2369097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595074" y="3296984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725830" y="340551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595074" y="4333399"/>
            <a:ext cx="3251525" cy="512807"/>
          </a:xfrm>
          <a:prstGeom prst="roundRect">
            <a:avLst>
              <a:gd name="adj" fmla="val 189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51027" y="2074245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551027" y="2102791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579601" y="2102792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2153016" y="2069072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2154301" y="2093086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2195877" y="2117065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3760681" y="206948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3808305" y="2069487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3784493" y="2131338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601661" y="2905564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5434" y="2905564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556310" y="2850026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612709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612709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34883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2214697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2214697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2236871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3816686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3816686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3838860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846527" y="1475156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5869387" y="1475156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802922" y="1422017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5812238" y="2460265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5846527" y="2562877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5869387" y="2540075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5817954" y="3542285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5840812" y="3490980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5736193" y="4466101"/>
            <a:ext cx="59739" cy="60008"/>
          </a:xfrm>
          <a:custGeom>
            <a:avLst/>
            <a:gdLst/>
            <a:ahLst/>
            <a:cxnLst/>
            <a:rect l="l" t="t" r="r" b="b"/>
            <a:pathLst>
              <a:path w="79652" h="80010">
                <a:moveTo>
                  <a:pt x="39826" y="0"/>
                </a:moveTo>
                <a:lnTo>
                  <a:pt x="50636" y="29146"/>
                </a:lnTo>
                <a:lnTo>
                  <a:pt x="79652" y="40005"/>
                </a:lnTo>
                <a:lnTo>
                  <a:pt x="50636" y="50864"/>
                </a:lnTo>
                <a:lnTo>
                  <a:pt x="39826" y="80010"/>
                </a:lnTo>
                <a:lnTo>
                  <a:pt x="29016" y="50864"/>
                </a:lnTo>
                <a:lnTo>
                  <a:pt x="0" y="40005"/>
                </a:lnTo>
                <a:lnTo>
                  <a:pt x="29016" y="29146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5783131" y="4521822"/>
            <a:ext cx="25603" cy="25718"/>
          </a:xfrm>
          <a:custGeom>
            <a:avLst/>
            <a:gdLst/>
            <a:ahLst/>
            <a:cxnLst/>
            <a:rect l="l" t="t" r="r" b="b"/>
            <a:pathLst>
              <a:path w="34137" h="34290">
                <a:moveTo>
                  <a:pt x="17068" y="0"/>
                </a:moveTo>
                <a:lnTo>
                  <a:pt x="21620" y="12573"/>
                </a:lnTo>
                <a:lnTo>
                  <a:pt x="34137" y="17145"/>
                </a:lnTo>
                <a:lnTo>
                  <a:pt x="21620" y="21717"/>
                </a:lnTo>
                <a:lnTo>
                  <a:pt x="17068" y="34290"/>
                </a:lnTo>
                <a:lnTo>
                  <a:pt x="12517" y="21717"/>
                </a:lnTo>
                <a:lnTo>
                  <a:pt x="0" y="17145"/>
                </a:lnTo>
                <a:lnTo>
                  <a:pt x="12517" y="12573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78" name="Text 76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297173" y="677913"/>
            <a:ext cx="7677385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</a:t>
            </a:r>
            <a:endParaRPr lang="en-US" sz="975" dirty="0"/>
          </a:p>
        </p:txBody>
      </p:sp>
      <p:sp>
        <p:nvSpPr>
          <p:cNvPr id="80" name="Text 78"/>
          <p:cNvSpPr txBox="1"/>
          <p:nvPr/>
        </p:nvSpPr>
        <p:spPr>
          <a:xfrm>
            <a:off x="297172" y="881596"/>
            <a:ext cx="179035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일링스톤 자체 배포 플랫폼입니다.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6126328" y="1322908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2" name="Text 80"/>
          <p:cNvSpPr txBox="1"/>
          <p:nvPr/>
        </p:nvSpPr>
        <p:spPr>
          <a:xfrm>
            <a:off x="439816" y="1335768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6126327" y="1516818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4" name="Text 82"/>
          <p:cNvSpPr txBox="1"/>
          <p:nvPr/>
        </p:nvSpPr>
        <p:spPr>
          <a:xfrm>
            <a:off x="439816" y="1643349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6126328" y="1685011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6" name="Text 84"/>
          <p:cNvSpPr txBox="1"/>
          <p:nvPr/>
        </p:nvSpPr>
        <p:spPr>
          <a:xfrm>
            <a:off x="6126328" y="1853203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714128" y="199773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2316117" y="199773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3918106" y="199773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212632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2316118" y="212632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212632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3" name="Text 91"/>
          <p:cNvSpPr txBox="1"/>
          <p:nvPr/>
        </p:nvSpPr>
        <p:spPr>
          <a:xfrm>
            <a:off x="6126327" y="2359324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94" name="Text 92"/>
          <p:cNvSpPr txBox="1"/>
          <p:nvPr/>
        </p:nvSpPr>
        <p:spPr>
          <a:xfrm>
            <a:off x="11832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5" name="Text 93"/>
          <p:cNvSpPr txBox="1"/>
          <p:nvPr/>
        </p:nvSpPr>
        <p:spPr>
          <a:xfrm>
            <a:off x="27541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6" name="Text 94"/>
          <p:cNvSpPr txBox="1"/>
          <p:nvPr/>
        </p:nvSpPr>
        <p:spPr>
          <a:xfrm>
            <a:off x="4325918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6126327" y="255323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26327" y="2721426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754362" y="2819153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0" name="Text 98"/>
          <p:cNvSpPr txBox="1"/>
          <p:nvPr/>
        </p:nvSpPr>
        <p:spPr>
          <a:xfrm>
            <a:off x="2883946" y="2846413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3651108" y="2846413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4344206" y="2846413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6126328" y="2890133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11832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5" name="Text 103"/>
          <p:cNvSpPr txBox="1"/>
          <p:nvPr/>
        </p:nvSpPr>
        <p:spPr>
          <a:xfrm>
            <a:off x="27541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6" name="Text 104"/>
          <p:cNvSpPr txBox="1"/>
          <p:nvPr/>
        </p:nvSpPr>
        <p:spPr>
          <a:xfrm>
            <a:off x="4325918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6126327" y="3395739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08" name="Text 106"/>
          <p:cNvSpPr txBox="1"/>
          <p:nvPr/>
        </p:nvSpPr>
        <p:spPr>
          <a:xfrm>
            <a:off x="439816" y="3561874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7" y="3589649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6126327" y="375835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926548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941464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941464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941464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4116858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4116858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4116858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531253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19" name="Text 117"/>
          <p:cNvSpPr txBox="1"/>
          <p:nvPr/>
        </p:nvSpPr>
        <p:spPr>
          <a:xfrm>
            <a:off x="1687940" y="4258818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2133242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3293587" y="4258818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735231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4907462" y="4258818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5885846" y="4428039"/>
            <a:ext cx="3124061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</a:t>
            </a:r>
            <a:endParaRPr lang="en-US" sz="810" dirty="0"/>
          </a:p>
        </p:txBody>
      </p:sp>
      <p:sp>
        <p:nvSpPr>
          <p:cNvPr id="125" name="Text 123"/>
          <p:cNvSpPr txBox="1"/>
          <p:nvPr/>
        </p:nvSpPr>
        <p:spPr>
          <a:xfrm>
            <a:off x="5885846" y="4587487"/>
            <a:ext cx="204281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람은 늘어나도, 관리는 한곳에서 이루어집니다.</a:t>
            </a:r>
            <a:endParaRPr lang="en-US" sz="810" dirty="0"/>
          </a:p>
        </p:txBody>
      </p:sp>
      <p:sp>
        <p:nvSpPr>
          <p:cNvPr id="126" name="Text 124"/>
          <p:cNvSpPr txBox="1"/>
          <p:nvPr/>
        </p:nvSpPr>
        <p:spPr>
          <a:xfrm>
            <a:off x="839399" y="46168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448445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97173" y="2518772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97173" y="307066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97173" y="3486264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97173" y="390185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73" y="4600861"/>
            <a:ext cx="3660252" cy="24534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254597" y="679971"/>
            <a:ext cx="4592002" cy="2359838"/>
          </a:xfrm>
          <a:prstGeom prst="roundRect">
            <a:avLst>
              <a:gd name="adj" fmla="val 4359"/>
            </a:avLst>
          </a:prstGeom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260083" y="685628"/>
            <a:ext cx="4580115" cy="2057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51522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5484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5725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254597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1951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58534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750261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254597" y="3633883"/>
            <a:ext cx="4592002" cy="251517"/>
          </a:xfrm>
          <a:prstGeom prst="roundRect">
            <a:avLst>
              <a:gd name="adj" fmla="val 27266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090338" y="3702291"/>
            <a:ext cx="686" cy="1141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713553" y="962414"/>
            <a:ext cx="146681" cy="146718"/>
          </a:xfrm>
          <a:custGeom>
            <a:avLst/>
            <a:gdLst/>
            <a:ahLst/>
            <a:cxnLst/>
            <a:rect l="l" t="t" r="r" b="b"/>
            <a:pathLst>
              <a:path w="195575" h="195624">
                <a:moveTo>
                  <a:pt x="97788" y="0"/>
                </a:moveTo>
                <a:lnTo>
                  <a:pt x="124330" y="71263"/>
                </a:lnTo>
                <a:lnTo>
                  <a:pt x="195575" y="97812"/>
                </a:lnTo>
                <a:lnTo>
                  <a:pt x="124330" y="124361"/>
                </a:lnTo>
                <a:lnTo>
                  <a:pt x="97788" y="195624"/>
                </a:lnTo>
                <a:lnTo>
                  <a:pt x="71245" y="124361"/>
                </a:lnTo>
                <a:lnTo>
                  <a:pt x="0" y="97812"/>
                </a:lnTo>
                <a:lnTo>
                  <a:pt x="71245" y="71263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828802" y="1098652"/>
            <a:ext cx="62864" cy="62879"/>
          </a:xfrm>
          <a:custGeom>
            <a:avLst/>
            <a:gdLst/>
            <a:ahLst/>
            <a:cxnLst/>
            <a:rect l="l" t="t" r="r" b="b"/>
            <a:pathLst>
              <a:path w="83818" h="83839">
                <a:moveTo>
                  <a:pt x="41909" y="0"/>
                </a:moveTo>
                <a:lnTo>
                  <a:pt x="53085" y="30741"/>
                </a:lnTo>
                <a:lnTo>
                  <a:pt x="83818" y="41920"/>
                </a:lnTo>
                <a:lnTo>
                  <a:pt x="53085" y="53098"/>
                </a:lnTo>
                <a:lnTo>
                  <a:pt x="41909" y="83839"/>
                </a:lnTo>
                <a:lnTo>
                  <a:pt x="30733" y="53098"/>
                </a:lnTo>
                <a:lnTo>
                  <a:pt x="0" y="41920"/>
                </a:lnTo>
                <a:lnTo>
                  <a:pt x="30733" y="30741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621162" y="1268001"/>
            <a:ext cx="80008" cy="79810"/>
          </a:xfrm>
          <a:custGeom>
            <a:avLst/>
            <a:gdLst/>
            <a:ahLst/>
            <a:cxnLst/>
            <a:rect l="l" t="t" r="r" b="b"/>
            <a:pathLst>
              <a:path w="106677" h="106413">
                <a:moveTo>
                  <a:pt x="53339" y="0"/>
                </a:moveTo>
                <a:lnTo>
                  <a:pt x="67816" y="38765"/>
                </a:lnTo>
                <a:lnTo>
                  <a:pt x="106677" y="53207"/>
                </a:lnTo>
                <a:lnTo>
                  <a:pt x="67816" y="67648"/>
                </a:lnTo>
                <a:lnTo>
                  <a:pt x="53339" y="106413"/>
                </a:lnTo>
                <a:lnTo>
                  <a:pt x="38861" y="67648"/>
                </a:lnTo>
                <a:lnTo>
                  <a:pt x="0" y="53207"/>
                </a:lnTo>
                <a:lnTo>
                  <a:pt x="38861" y="38765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684026" y="1342111"/>
            <a:ext cx="34289" cy="34205"/>
          </a:xfrm>
          <a:custGeom>
            <a:avLst/>
            <a:gdLst/>
            <a:ahLst/>
            <a:cxnLst/>
            <a:rect l="l" t="t" r="r" b="b"/>
            <a:pathLst>
              <a:path w="45719" h="45606">
                <a:moveTo>
                  <a:pt x="22859" y="0"/>
                </a:moveTo>
                <a:lnTo>
                  <a:pt x="28955" y="16722"/>
                </a:lnTo>
                <a:lnTo>
                  <a:pt x="45719" y="22803"/>
                </a:lnTo>
                <a:lnTo>
                  <a:pt x="28955" y="28884"/>
                </a:lnTo>
                <a:lnTo>
                  <a:pt x="22859" y="45606"/>
                </a:lnTo>
                <a:lnTo>
                  <a:pt x="16764" y="28884"/>
                </a:lnTo>
                <a:lnTo>
                  <a:pt x="0" y="22803"/>
                </a:lnTo>
                <a:lnTo>
                  <a:pt x="16764" y="16722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37339" y="4686693"/>
            <a:ext cx="57072" cy="57308"/>
          </a:xfrm>
          <a:custGeom>
            <a:avLst/>
            <a:gdLst/>
            <a:ahLst/>
            <a:cxnLst/>
            <a:rect l="l" t="t" r="r" b="b"/>
            <a:pathLst>
              <a:path w="76096" h="76410">
                <a:moveTo>
                  <a:pt x="38048" y="0"/>
                </a:moveTo>
                <a:lnTo>
                  <a:pt x="48376" y="27835"/>
                </a:lnTo>
                <a:lnTo>
                  <a:pt x="76096" y="38205"/>
                </a:lnTo>
                <a:lnTo>
                  <a:pt x="48376" y="48575"/>
                </a:lnTo>
                <a:lnTo>
                  <a:pt x="38048" y="76410"/>
                </a:lnTo>
                <a:lnTo>
                  <a:pt x="27721" y="48575"/>
                </a:lnTo>
                <a:lnTo>
                  <a:pt x="0" y="38205"/>
                </a:lnTo>
                <a:lnTo>
                  <a:pt x="27721" y="27835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82182" y="4739908"/>
            <a:ext cx="24460" cy="24560"/>
          </a:xfrm>
          <a:custGeom>
            <a:avLst/>
            <a:gdLst/>
            <a:ahLst/>
            <a:cxnLst/>
            <a:rect l="l" t="t" r="r" b="b"/>
            <a:pathLst>
              <a:path w="32613" h="32747">
                <a:moveTo>
                  <a:pt x="16306" y="0"/>
                </a:moveTo>
                <a:lnTo>
                  <a:pt x="20655" y="12007"/>
                </a:lnTo>
                <a:lnTo>
                  <a:pt x="32613" y="16373"/>
                </a:lnTo>
                <a:lnTo>
                  <a:pt x="20655" y="20740"/>
                </a:lnTo>
                <a:lnTo>
                  <a:pt x="16306" y="32747"/>
                </a:lnTo>
                <a:lnTo>
                  <a:pt x="11958" y="20740"/>
                </a:lnTo>
                <a:lnTo>
                  <a:pt x="0" y="16373"/>
                </a:lnTo>
                <a:lnTo>
                  <a:pt x="11958" y="12007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  <p:txBody>
          <a:bodyPr/>
          <a:p/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083" y="890855"/>
            <a:ext cx="4580115" cy="214278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380552" y="3725051"/>
            <a:ext cx="57149" cy="68666"/>
          </a:xfrm>
          <a:custGeom>
            <a:avLst/>
            <a:gdLst/>
            <a:ahLst/>
            <a:cxnLst/>
            <a:rect l="l" t="t" r="r" b="b"/>
            <a:pathLst>
              <a:path w="76198" h="91554">
                <a:moveTo>
                  <a:pt x="38099" y="0"/>
                </a:moveTo>
                <a:lnTo>
                  <a:pt x="76198" y="15259"/>
                </a:lnTo>
                <a:lnTo>
                  <a:pt x="76198" y="43234"/>
                </a:lnTo>
                <a:cubicBezTo>
                  <a:pt x="76198" y="66123"/>
                  <a:pt x="59943" y="83925"/>
                  <a:pt x="38099" y="91554"/>
                </a:cubicBezTo>
                <a:cubicBezTo>
                  <a:pt x="16256" y="83925"/>
                  <a:pt x="0" y="66123"/>
                  <a:pt x="0" y="43234"/>
                </a:cubicBezTo>
                <a:lnTo>
                  <a:pt x="0" y="15259"/>
                </a:lnTo>
                <a:close/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219874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6406735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7614628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 txBox="1"/>
          <p:nvPr/>
        </p:nvSpPr>
        <p:spPr>
          <a:xfrm>
            <a:off x="445302" y="167678"/>
            <a:ext cx="327091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프로그램,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32" name="Text 2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33" name="Text 30"/>
          <p:cNvSpPr txBox="1"/>
          <p:nvPr/>
        </p:nvSpPr>
        <p:spPr>
          <a:xfrm>
            <a:off x="297172" y="672770"/>
            <a:ext cx="273883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10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더홍시 × 세일링스톤 합작법인 · bibidi(비비디바비디부)</a:t>
            </a:r>
            <a:endParaRPr lang="en-US" sz="720" dirty="0"/>
          </a:p>
        </p:txBody>
      </p:sp>
      <p:sp>
        <p:nvSpPr>
          <p:cNvPr id="34" name="Text 31"/>
          <p:cNvSpPr txBox="1"/>
          <p:nvPr/>
        </p:nvSpPr>
        <p:spPr>
          <a:xfrm>
            <a:off x="4717272" y="730892"/>
            <a:ext cx="185271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26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bibidi 연말정산 · 국세청 자료 입력 (예시 데이터)</a:t>
            </a:r>
            <a:endParaRPr lang="en-US" sz="645" dirty="0"/>
          </a:p>
        </p:txBody>
      </p:sp>
      <p:sp>
        <p:nvSpPr>
          <p:cNvPr id="35" name="Text 32"/>
          <p:cNvSpPr txBox="1"/>
          <p:nvPr/>
        </p:nvSpPr>
        <p:spPr>
          <a:xfrm>
            <a:off x="297173" y="885711"/>
            <a:ext cx="1431918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</a:t>
            </a:r>
            <a:endParaRPr lang="en-US" sz="2790" dirty="0"/>
          </a:p>
        </p:txBody>
      </p:sp>
      <p:sp>
        <p:nvSpPr>
          <p:cNvPr id="36" name="Text 33"/>
          <p:cNvSpPr txBox="1"/>
          <p:nvPr/>
        </p:nvSpPr>
        <p:spPr>
          <a:xfrm>
            <a:off x="297173" y="1282275"/>
            <a:ext cx="1822537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마법처럼 끝.</a:t>
            </a:r>
            <a:endParaRPr lang="en-US" sz="2790" dirty="0"/>
          </a:p>
        </p:txBody>
      </p:sp>
      <p:sp>
        <p:nvSpPr>
          <p:cNvPr id="37" name="Text 34"/>
          <p:cNvSpPr txBox="1"/>
          <p:nvPr/>
        </p:nvSpPr>
        <p:spPr>
          <a:xfrm>
            <a:off x="297172" y="1816170"/>
            <a:ext cx="400817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 더홍시의 세무 실무 노하우에, 세일링스톤이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297173" y="2004936"/>
            <a:ext cx="3999120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설계한 자동 계산과 AI 기능을 더했습니다. 담당자의 가산세 리스크는 줄이고, 정산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297172" y="2193189"/>
            <a:ext cx="91895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은 쉽게 만듭니다.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71486" y="2577408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85" dirty="0"/>
          </a:p>
        </p:txBody>
      </p:sp>
      <p:sp>
        <p:nvSpPr>
          <p:cNvPr id="41" name="Text 38"/>
          <p:cNvSpPr txBox="1"/>
          <p:nvPr/>
        </p:nvSpPr>
        <p:spPr>
          <a:xfrm>
            <a:off x="297173" y="2597468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42" name="Text 39"/>
          <p:cNvSpPr txBox="1"/>
          <p:nvPr/>
        </p:nvSpPr>
        <p:spPr>
          <a:xfrm>
            <a:off x="571486" y="2730685"/>
            <a:ext cx="36903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가이드에 맞춘 설문으로 사전에 걸러</a:t>
            </a:r>
            <a:endParaRPr lang="en-US" sz="735" dirty="0"/>
          </a:p>
        </p:txBody>
      </p:sp>
      <p:sp>
        <p:nvSpPr>
          <p:cNvPr id="43" name="Text 40"/>
          <p:cNvSpPr txBox="1"/>
          <p:nvPr/>
        </p:nvSpPr>
        <p:spPr>
          <a:xfrm>
            <a:off x="571486" y="2866987"/>
            <a:ext cx="38312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냅니다</a:t>
            </a:r>
            <a:endParaRPr lang="en-US" sz="735" dirty="0"/>
          </a:p>
        </p:txBody>
      </p:sp>
      <p:sp>
        <p:nvSpPr>
          <p:cNvPr id="44" name="Text 41"/>
          <p:cNvSpPr txBox="1"/>
          <p:nvPr/>
        </p:nvSpPr>
        <p:spPr>
          <a:xfrm>
            <a:off x="571486" y="3129306"/>
            <a:ext cx="14419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85" dirty="0"/>
          </a:p>
        </p:txBody>
      </p:sp>
      <p:sp>
        <p:nvSpPr>
          <p:cNvPr id="45" name="Text 42"/>
          <p:cNvSpPr txBox="1"/>
          <p:nvPr/>
        </p:nvSpPr>
        <p:spPr>
          <a:xfrm>
            <a:off x="297173" y="3149365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46" name="Text 43"/>
          <p:cNvSpPr txBox="1"/>
          <p:nvPr/>
        </p:nvSpPr>
        <p:spPr>
          <a:xfrm>
            <a:off x="4340549" y="3193085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47" name="Text 44"/>
          <p:cNvSpPr txBox="1"/>
          <p:nvPr/>
        </p:nvSpPr>
        <p:spPr>
          <a:xfrm>
            <a:off x="5505465" y="3193085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48" name="Text 45"/>
          <p:cNvSpPr txBox="1"/>
          <p:nvPr/>
        </p:nvSpPr>
        <p:spPr>
          <a:xfrm>
            <a:off x="6670382" y="3193085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49" name="Text 46"/>
          <p:cNvSpPr txBox="1"/>
          <p:nvPr/>
        </p:nvSpPr>
        <p:spPr>
          <a:xfrm>
            <a:off x="7835298" y="3193085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50" name="Text 47"/>
          <p:cNvSpPr txBox="1"/>
          <p:nvPr/>
        </p:nvSpPr>
        <p:spPr>
          <a:xfrm>
            <a:off x="571486" y="3282583"/>
            <a:ext cx="323268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한 번 더 확인하는 수고를 덜어줍니다</a:t>
            </a:r>
            <a:endParaRPr lang="en-US" sz="735" dirty="0"/>
          </a:p>
        </p:txBody>
      </p:sp>
      <p:sp>
        <p:nvSpPr>
          <p:cNvPr id="51" name="Text 48"/>
          <p:cNvSpPr txBox="1"/>
          <p:nvPr/>
        </p:nvSpPr>
        <p:spPr>
          <a:xfrm>
            <a:off x="4340549" y="3360763"/>
            <a:ext cx="702245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30" dirty="0"/>
          </a:p>
        </p:txBody>
      </p:sp>
      <p:sp>
        <p:nvSpPr>
          <p:cNvPr id="52" name="Text 49"/>
          <p:cNvSpPr txBox="1"/>
          <p:nvPr/>
        </p:nvSpPr>
        <p:spPr>
          <a:xfrm>
            <a:off x="5505466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3" name="Text 50"/>
          <p:cNvSpPr txBox="1"/>
          <p:nvPr/>
        </p:nvSpPr>
        <p:spPr>
          <a:xfrm>
            <a:off x="6670382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4" name="Text 51"/>
          <p:cNvSpPr txBox="1"/>
          <p:nvPr/>
        </p:nvSpPr>
        <p:spPr>
          <a:xfrm>
            <a:off x="7835298" y="3360763"/>
            <a:ext cx="87231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30" dirty="0"/>
          </a:p>
        </p:txBody>
      </p:sp>
      <p:sp>
        <p:nvSpPr>
          <p:cNvPr id="55" name="Text 52"/>
          <p:cNvSpPr txBox="1"/>
          <p:nvPr/>
        </p:nvSpPr>
        <p:spPr>
          <a:xfrm>
            <a:off x="571486" y="3544901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85" dirty="0"/>
          </a:p>
        </p:txBody>
      </p:sp>
      <p:sp>
        <p:nvSpPr>
          <p:cNvPr id="56" name="Text 53"/>
          <p:cNvSpPr txBox="1"/>
          <p:nvPr/>
        </p:nvSpPr>
        <p:spPr>
          <a:xfrm>
            <a:off x="297173" y="3564960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57" name="Text 54"/>
          <p:cNvSpPr txBox="1"/>
          <p:nvPr/>
        </p:nvSpPr>
        <p:spPr>
          <a:xfrm>
            <a:off x="4494164" y="3695090"/>
            <a:ext cx="65835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이중 잠금 보안</a:t>
            </a:r>
            <a:endParaRPr lang="en-US" sz="720" dirty="0"/>
          </a:p>
        </p:txBody>
      </p:sp>
      <p:sp>
        <p:nvSpPr>
          <p:cNvPr id="58" name="Text 55"/>
          <p:cNvSpPr txBox="1"/>
          <p:nvPr/>
        </p:nvSpPr>
        <p:spPr>
          <a:xfrm>
            <a:off x="5335391" y="3695090"/>
            <a:ext cx="107896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</a:t>
            </a:r>
            <a:endParaRPr lang="en-US" sz="720" dirty="0"/>
          </a:p>
        </p:txBody>
      </p:sp>
      <p:sp>
        <p:nvSpPr>
          <p:cNvPr id="59" name="Text 56"/>
          <p:cNvSpPr txBox="1"/>
          <p:nvPr/>
        </p:nvSpPr>
        <p:spPr>
          <a:xfrm>
            <a:off x="6522252" y="3695090"/>
            <a:ext cx="11000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 전용 키 이중 암호화</a:t>
            </a:r>
            <a:endParaRPr lang="en-US" sz="720" dirty="0"/>
          </a:p>
        </p:txBody>
      </p:sp>
      <p:sp>
        <p:nvSpPr>
          <p:cNvPr id="60" name="Text 57"/>
          <p:cNvSpPr txBox="1"/>
          <p:nvPr/>
        </p:nvSpPr>
        <p:spPr>
          <a:xfrm>
            <a:off x="7731059" y="3695090"/>
            <a:ext cx="114480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표준 시험 12항목 통과</a:t>
            </a:r>
            <a:endParaRPr lang="en-US" sz="720" dirty="0"/>
          </a:p>
        </p:txBody>
      </p:sp>
      <p:sp>
        <p:nvSpPr>
          <p:cNvPr id="61" name="Text 58"/>
          <p:cNvSpPr txBox="1"/>
          <p:nvPr/>
        </p:nvSpPr>
        <p:spPr>
          <a:xfrm>
            <a:off x="571486" y="3698177"/>
            <a:ext cx="296715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 끝까지 갑니다</a:t>
            </a:r>
            <a:endParaRPr lang="en-US" sz="735" dirty="0"/>
          </a:p>
        </p:txBody>
      </p:sp>
      <p:sp>
        <p:nvSpPr>
          <p:cNvPr id="62" name="Text 59"/>
          <p:cNvSpPr txBox="1"/>
          <p:nvPr/>
        </p:nvSpPr>
        <p:spPr>
          <a:xfrm>
            <a:off x="571486" y="3960495"/>
            <a:ext cx="136334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85" dirty="0"/>
          </a:p>
        </p:txBody>
      </p:sp>
      <p:sp>
        <p:nvSpPr>
          <p:cNvPr id="63" name="Text 60"/>
          <p:cNvSpPr txBox="1"/>
          <p:nvPr/>
        </p:nvSpPr>
        <p:spPr>
          <a:xfrm>
            <a:off x="297172" y="3980555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64" name="Text 61"/>
          <p:cNvSpPr txBox="1"/>
          <p:nvPr/>
        </p:nvSpPr>
        <p:spPr>
          <a:xfrm>
            <a:off x="571486" y="4113772"/>
            <a:ext cx="291485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후까지 대응합니다</a:t>
            </a:r>
            <a:endParaRPr lang="en-US" sz="735" dirty="0"/>
          </a:p>
        </p:txBody>
      </p:sp>
      <p:sp>
        <p:nvSpPr>
          <p:cNvPr id="65" name="Text 62"/>
          <p:cNvSpPr txBox="1"/>
          <p:nvPr/>
        </p:nvSpPr>
        <p:spPr>
          <a:xfrm>
            <a:off x="583373" y="4654867"/>
            <a:ext cx="346100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 전면 도입</a:t>
            </a:r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근거와 출처를 붙여 답합니다</a:t>
            </a:r>
            <a:endParaRPr lang="en-US" sz="773" dirty="0"/>
          </a:p>
        </p:txBody>
      </p:sp>
      <p:sp>
        <p:nvSpPr>
          <p:cNvPr id="66" name="Text 63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- 24 -</a:t>
            </a:r>
            <a:endParaRPr lang="en-US" sz="705" dirty="0"/>
          </a:p>
        </p:txBody>
      </p:sp>
      <p:sp>
        <p:nvSpPr>
          <p:cNvPr id="67" name="Text 6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97172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36740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97173" y="919658"/>
            <a:ext cx="2727587" cy="1313135"/>
          </a:xfrm>
          <a:prstGeom prst="roundRect">
            <a:avLst>
              <a:gd name="adj" fmla="val 69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207635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448116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7636" y="919658"/>
            <a:ext cx="2727587" cy="1282274"/>
          </a:xfrm>
          <a:prstGeom prst="roundRect">
            <a:avLst>
              <a:gd name="adj" fmla="val 713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119011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58579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119012" y="919657"/>
            <a:ext cx="2727587" cy="1316222"/>
          </a:xfrm>
          <a:prstGeom prst="roundRect">
            <a:avLst>
              <a:gd name="adj" fmla="val 694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97172" y="2696223"/>
            <a:ext cx="5577701" cy="1733874"/>
          </a:xfrm>
          <a:prstGeom prst="roundRect">
            <a:avLst>
              <a:gd name="adj" fmla="val 593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05983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5550" y="2821725"/>
            <a:ext cx="411470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05984" y="3033123"/>
            <a:ext cx="5360993" cy="964921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057749" y="2696223"/>
            <a:ext cx="2788850" cy="1733874"/>
          </a:xfrm>
          <a:prstGeom prst="roundRect">
            <a:avLst>
              <a:gd name="adj" fmla="val 5933"/>
            </a:avLst>
          </a:prstGeom>
          <a:solidFill>
            <a:srgbClr val="F7F6FD"/>
          </a:solidFill>
          <a:ln w="7620">
            <a:solidFill>
              <a:srgbClr val="E4E0F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166559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406126" y="2821725"/>
            <a:ext cx="522110" cy="125501"/>
          </a:xfrm>
          <a:prstGeom prst="roundRect">
            <a:avLst>
              <a:gd name="adj" fmla="val 27321"/>
            </a:avLst>
          </a:prstGeom>
          <a:solidFill>
            <a:srgbClr val="F3F1FD"/>
          </a:solidFill>
          <a:ln w="7620">
            <a:solidFill>
              <a:srgbClr val="E4E0FA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166559" y="3033123"/>
            <a:ext cx="2572143" cy="944861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59" y="925316"/>
            <a:ext cx="2716615" cy="1301820"/>
          </a:xfrm>
          <a:prstGeom prst="rect">
            <a:avLst/>
          </a:prstGeom>
        </p:spPr>
      </p:pic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122" y="925316"/>
            <a:ext cx="2716615" cy="1270959"/>
          </a:xfrm>
          <a:prstGeom prst="rect">
            <a:avLst/>
          </a:prstGeom>
        </p:spPr>
      </p:pic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4498" y="925316"/>
            <a:ext cx="2716615" cy="1304392"/>
          </a:xfrm>
          <a:prstGeom prst="rect">
            <a:avLst/>
          </a:prstGeom>
        </p:spPr>
      </p:pic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69" y="3038780"/>
            <a:ext cx="5349107" cy="953605"/>
          </a:xfrm>
          <a:prstGeom prst="rect">
            <a:avLst/>
          </a:prstGeom>
        </p:spPr>
      </p:pic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046" y="3038780"/>
            <a:ext cx="2560256" cy="9335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5302" y="167678"/>
            <a:ext cx="465290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 혼자 짊어지지 않는 연말정산,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실제 화면으로</a:t>
            </a:r>
            <a:endParaRPr lang="en-US" sz="1710" dirty="0"/>
          </a:p>
        </p:txBody>
      </p:sp>
      <p:sp>
        <p:nvSpPr>
          <p:cNvPr id="27" name="Text 20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28" name="Text 21"/>
          <p:cNvSpPr txBox="1"/>
          <p:nvPr/>
        </p:nvSpPr>
        <p:spPr>
          <a:xfrm>
            <a:off x="367580" y="707231"/>
            <a:ext cx="17830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20" dirty="0"/>
          </a:p>
        </p:txBody>
      </p:sp>
      <p:sp>
        <p:nvSpPr>
          <p:cNvPr id="29" name="Text 22"/>
          <p:cNvSpPr txBox="1"/>
          <p:nvPr/>
        </p:nvSpPr>
        <p:spPr>
          <a:xfrm>
            <a:off x="3272557" y="707231"/>
            <a:ext cx="19110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20" dirty="0"/>
          </a:p>
        </p:txBody>
      </p:sp>
      <p:sp>
        <p:nvSpPr>
          <p:cNvPr id="30" name="Text 23"/>
          <p:cNvSpPr txBox="1"/>
          <p:nvPr/>
        </p:nvSpPr>
        <p:spPr>
          <a:xfrm>
            <a:off x="6182104" y="707231"/>
            <a:ext cx="192023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20" dirty="0"/>
          </a:p>
        </p:txBody>
      </p:sp>
      <p:sp>
        <p:nvSpPr>
          <p:cNvPr id="31" name="Text 24"/>
          <p:cNvSpPr txBox="1"/>
          <p:nvPr/>
        </p:nvSpPr>
        <p:spPr>
          <a:xfrm>
            <a:off x="587944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2" name="Text 25"/>
          <p:cNvSpPr txBox="1"/>
          <p:nvPr/>
        </p:nvSpPr>
        <p:spPr>
          <a:xfrm>
            <a:off x="3499321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3" name="Text 26"/>
          <p:cNvSpPr txBox="1"/>
          <p:nvPr/>
        </p:nvSpPr>
        <p:spPr>
          <a:xfrm>
            <a:off x="6409783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4" name="Text 27"/>
          <p:cNvSpPr txBox="1"/>
          <p:nvPr/>
        </p:nvSpPr>
        <p:spPr>
          <a:xfrm>
            <a:off x="3089681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5" name="Text 28"/>
          <p:cNvSpPr txBox="1"/>
          <p:nvPr/>
        </p:nvSpPr>
        <p:spPr>
          <a:xfrm>
            <a:off x="6000143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3207635" y="2251824"/>
            <a:ext cx="226811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간소화 PDF - 올리면 항목별로 자동 인식</a:t>
            </a:r>
            <a:endParaRPr lang="en-US" sz="855" dirty="0"/>
          </a:p>
        </p:txBody>
      </p:sp>
      <p:sp>
        <p:nvSpPr>
          <p:cNvPr id="37" name="Text 30"/>
          <p:cNvSpPr txBox="1"/>
          <p:nvPr/>
        </p:nvSpPr>
        <p:spPr>
          <a:xfrm>
            <a:off x="297173" y="2282685"/>
            <a:ext cx="22148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설문 - 가산세 지점을 미리 걸러냅니다</a:t>
            </a:r>
            <a:endParaRPr lang="en-US" sz="855" dirty="0"/>
          </a:p>
        </p:txBody>
      </p:sp>
      <p:sp>
        <p:nvSpPr>
          <p:cNvPr id="38" name="Text 31"/>
          <p:cNvSpPr txBox="1"/>
          <p:nvPr/>
        </p:nvSpPr>
        <p:spPr>
          <a:xfrm>
            <a:off x="6119011" y="2285257"/>
            <a:ext cx="179739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결과 - 확정 전에 미리 봅니다</a:t>
            </a:r>
            <a:endParaRPr lang="en-US" sz="855" dirty="0"/>
          </a:p>
        </p:txBody>
      </p:sp>
      <p:sp>
        <p:nvSpPr>
          <p:cNvPr id="39" name="Text 32"/>
          <p:cNvSpPr txBox="1"/>
          <p:nvPr/>
        </p:nvSpPr>
        <p:spPr>
          <a:xfrm>
            <a:off x="3207636" y="2403044"/>
            <a:ext cx="21283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원본 금액과 반영 금액을 나란히 보여줘 바로 검증합니다</a:t>
            </a:r>
            <a:endParaRPr lang="en-US" sz="705" dirty="0"/>
          </a:p>
        </p:txBody>
      </p:sp>
      <p:sp>
        <p:nvSpPr>
          <p:cNvPr id="40" name="Text 33"/>
          <p:cNvSpPr txBox="1"/>
          <p:nvPr/>
        </p:nvSpPr>
        <p:spPr>
          <a:xfrm>
            <a:off x="297172" y="2433905"/>
            <a:ext cx="211221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짧은 질문이 나이 · 소득 요건을 그 자리에서 판단합니다</a:t>
            </a:r>
            <a:endParaRPr lang="en-US" sz="705" dirty="0"/>
          </a:p>
        </p:txBody>
      </p:sp>
      <p:sp>
        <p:nvSpPr>
          <p:cNvPr id="41" name="Text 34"/>
          <p:cNvSpPr txBox="1"/>
          <p:nvPr/>
        </p:nvSpPr>
        <p:spPr>
          <a:xfrm>
            <a:off x="6119012" y="2436476"/>
            <a:ext cx="206695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차감징수세액을 제출 즉시 계산합니다</a:t>
            </a:r>
            <a:endParaRPr lang="en-US" sz="705" dirty="0"/>
          </a:p>
        </p:txBody>
      </p:sp>
      <p:sp>
        <p:nvSpPr>
          <p:cNvPr id="42" name="Text 35"/>
          <p:cNvSpPr txBox="1"/>
          <p:nvPr/>
        </p:nvSpPr>
        <p:spPr>
          <a:xfrm>
            <a:off x="459017" y="2820695"/>
            <a:ext cx="21213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</a:t>
            </a:r>
            <a:endParaRPr lang="en-US" sz="720" dirty="0"/>
          </a:p>
        </p:txBody>
      </p:sp>
      <p:sp>
        <p:nvSpPr>
          <p:cNvPr id="43" name="Text 36"/>
          <p:cNvSpPr txBox="1"/>
          <p:nvPr/>
        </p:nvSpPr>
        <p:spPr>
          <a:xfrm>
            <a:off x="6207707" y="2820695"/>
            <a:ext cx="23682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</a:t>
            </a:r>
            <a:endParaRPr lang="en-US" sz="720" dirty="0"/>
          </a:p>
        </p:txBody>
      </p:sp>
      <p:sp>
        <p:nvSpPr>
          <p:cNvPr id="44" name="Text 37"/>
          <p:cNvSpPr txBox="1"/>
          <p:nvPr/>
        </p:nvSpPr>
        <p:spPr>
          <a:xfrm>
            <a:off x="696756" y="2831497"/>
            <a:ext cx="446219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endParaRPr lang="en-US" sz="593" dirty="0"/>
          </a:p>
        </p:txBody>
      </p:sp>
      <p:sp>
        <p:nvSpPr>
          <p:cNvPr id="45" name="Text 38"/>
          <p:cNvSpPr txBox="1"/>
          <p:nvPr/>
        </p:nvSpPr>
        <p:spPr>
          <a:xfrm>
            <a:off x="6457331" y="2831497"/>
            <a:ext cx="555945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7C6FD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PREVIEW</a:t>
            </a:r>
            <a:endParaRPr lang="en-US" sz="593" dirty="0"/>
          </a:p>
        </p:txBody>
      </p:sp>
      <p:sp>
        <p:nvSpPr>
          <p:cNvPr id="46" name="Text 39"/>
          <p:cNvSpPr txBox="1"/>
          <p:nvPr/>
        </p:nvSpPr>
        <p:spPr>
          <a:xfrm>
            <a:off x="6166560" y="4027361"/>
            <a:ext cx="148586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상담 - 출처를 붙여 답합니다</a:t>
            </a:r>
            <a:endParaRPr lang="en-US" sz="855" dirty="0"/>
          </a:p>
        </p:txBody>
      </p:sp>
      <p:sp>
        <p:nvSpPr>
          <p:cNvPr id="47" name="Text 40"/>
          <p:cNvSpPr txBox="1"/>
          <p:nvPr/>
        </p:nvSpPr>
        <p:spPr>
          <a:xfrm>
            <a:off x="405983" y="4047420"/>
            <a:ext cx="263825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현황 - 수백 명 중 누구를 챙겨야 할지 바로 보입니다</a:t>
            </a:r>
            <a:endParaRPr lang="en-US" sz="855" dirty="0"/>
          </a:p>
        </p:txBody>
      </p:sp>
      <p:sp>
        <p:nvSpPr>
          <p:cNvPr id="48" name="Text 41"/>
          <p:cNvSpPr txBox="1"/>
          <p:nvPr/>
        </p:nvSpPr>
        <p:spPr>
          <a:xfrm>
            <a:off x="6166559" y="4178579"/>
            <a:ext cx="244413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자료 DB에 근거해서만 답합니다 (2027년 귀속분부터)</a:t>
            </a:r>
            <a:endParaRPr lang="en-US" sz="705" dirty="0"/>
          </a:p>
        </p:txBody>
      </p:sp>
      <p:sp>
        <p:nvSpPr>
          <p:cNvPr id="49" name="Text 42"/>
          <p:cNvSpPr txBox="1"/>
          <p:nvPr/>
        </p:nvSpPr>
        <p:spPr>
          <a:xfrm>
            <a:off x="405983" y="4199153"/>
            <a:ext cx="4336068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 4단계로 보고, 상태별 인원을 클릭해 그 대상자에게만 리마인드를 보냅니다</a:t>
            </a:r>
            <a:endParaRPr lang="en-US" sz="705" dirty="0"/>
          </a:p>
        </p:txBody>
      </p:sp>
      <p:sp>
        <p:nvSpPr>
          <p:cNvPr id="50" name="Text 43"/>
          <p:cNvSpPr txBox="1"/>
          <p:nvPr/>
        </p:nvSpPr>
        <p:spPr>
          <a:xfrm>
            <a:off x="3269813" y="4617834"/>
            <a:ext cx="5873959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kern="0" spc="-27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설문으로 걸러내고, 자동으로 계산하고, 확정 전에 미리 봅니다.</a:t>
            </a:r>
            <a:r>
              <a:rPr lang="en-US" sz="1350" kern="0" spc="-27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연말정산, 마법처럼 끝.</a:t>
            </a:r>
            <a:endParaRPr lang="en-US" sz="1350" dirty="0"/>
          </a:p>
        </p:txBody>
      </p:sp>
      <p:sp>
        <p:nvSpPr>
          <p:cNvPr id="51" name="Text 44"/>
          <p:cNvSpPr txBox="1"/>
          <p:nvPr/>
        </p:nvSpPr>
        <p:spPr>
          <a:xfrm>
            <a:off x="297173" y="4700645"/>
            <a:ext cx="1163091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화면의 데이터는 예시입니다</a:t>
            </a:r>
            <a:endParaRPr lang="en-US" sz="735" dirty="0"/>
          </a:p>
        </p:txBody>
      </p:sp>
      <p:sp>
        <p:nvSpPr>
          <p:cNvPr id="52" name="Text 45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- 25 -</a:t>
            </a:r>
            <a:endParaRPr lang="en-US" sz="705" dirty="0"/>
          </a:p>
        </p:txBody>
      </p:sp>
      <p:sp>
        <p:nvSpPr>
          <p:cNvPr id="53" name="Text 4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645879" y="679971"/>
            <a:ext cx="3372223" cy="362617"/>
          </a:xfrm>
          <a:prstGeom prst="round2Same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74376" y="679971"/>
            <a:ext cx="3372223" cy="362617"/>
          </a:xfrm>
          <a:prstGeom prst="round2SameRect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97172" y="104207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645879" y="1042074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645879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108626" y="104207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474376" y="1042074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74376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97172" y="1621745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645879" y="1621745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645879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108626" y="1621745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74376" y="1621745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74376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97172" y="2038369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645879" y="2038369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645879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108626" y="2038369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74376" y="2038369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474376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97172" y="2455507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645879" y="2455507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645879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108626" y="2455507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474376" y="2455507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474376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97172" y="2872130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645879" y="2872131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645879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5108626" y="2872130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474376" y="2872131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5474376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97172" y="345180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97172" y="3874084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645879" y="3451803"/>
            <a:ext cx="3372223" cy="42228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1645879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1645879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108626" y="345180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108626" y="3874084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5474376" y="3451803"/>
            <a:ext cx="3372223" cy="422282"/>
          </a:xfrm>
          <a:prstGeom prst="rect">
            <a:avLst/>
          </a:prstGeom>
          <a:solidFill>
            <a:srgbClr val="F0FDFA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474376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474376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381624" y="4065422"/>
            <a:ext cx="4171388" cy="565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29717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405983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2502651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261146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470904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4816939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6914520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702333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5212902" y="1334738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5251002" y="1306192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5595836" y="1307864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5212902" y="1833143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5251002" y="1804597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5595836" y="1805755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212902" y="2249767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5251002" y="222122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595836" y="2222893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5212902" y="2666390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5251002" y="2637844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5595836" y="2639516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5212902" y="3164795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5251002" y="3136249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5595836" y="3137407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5212902" y="3662686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5251002" y="363414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5595836" y="3635812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 txBox="1"/>
          <p:nvPr/>
        </p:nvSpPr>
        <p:spPr>
          <a:xfrm>
            <a:off x="445302" y="167678"/>
            <a:ext cx="407556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담당자의 연말정산 시즌이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이렇게 달라집니다</a:t>
            </a:r>
            <a:endParaRPr lang="en-US" sz="1710" dirty="0"/>
          </a:p>
        </p:txBody>
      </p:sp>
      <p:sp>
        <p:nvSpPr>
          <p:cNvPr id="86" name="Text 8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7" name="Text 85"/>
          <p:cNvSpPr txBox="1"/>
          <p:nvPr/>
        </p:nvSpPr>
        <p:spPr>
          <a:xfrm>
            <a:off x="1748289" y="735521"/>
            <a:ext cx="96832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지금까지의 연말정산</a:t>
            </a:r>
            <a:endParaRPr lang="en-US" sz="720" dirty="0"/>
          </a:p>
        </p:txBody>
      </p:sp>
      <p:sp>
        <p:nvSpPr>
          <p:cNvPr id="88" name="Text 86"/>
          <p:cNvSpPr txBox="1"/>
          <p:nvPr/>
        </p:nvSpPr>
        <p:spPr>
          <a:xfrm>
            <a:off x="5577701" y="735521"/>
            <a:ext cx="8202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bibidi 연말정산</a:t>
            </a:r>
            <a:endParaRPr lang="en-US" sz="720" dirty="0"/>
          </a:p>
        </p:txBody>
      </p:sp>
      <p:sp>
        <p:nvSpPr>
          <p:cNvPr id="89" name="Text 87"/>
          <p:cNvSpPr txBox="1"/>
          <p:nvPr/>
        </p:nvSpPr>
        <p:spPr>
          <a:xfrm>
            <a:off x="1925679" y="1170661"/>
            <a:ext cx="326286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매년 바뀌는 세법을 담당자가 일일이 확인 - 가산세로 이어지기 쉬운 지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1255014"/>
            <a:ext cx="98844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공제 요건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5754175" y="1251928"/>
            <a:ext cx="314920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등록 화면에서 이어지는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설문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 나이 · 소득 요건을 그 자리에서 판단</a:t>
            </a:r>
            <a:endParaRPr lang="en-US" sz="855" dirty="0"/>
          </a:p>
        </p:txBody>
      </p:sp>
      <p:sp>
        <p:nvSpPr>
          <p:cNvPr id="92" name="Text 90"/>
          <p:cNvSpPr txBox="1"/>
          <p:nvPr/>
        </p:nvSpPr>
        <p:spPr>
          <a:xfrm>
            <a:off x="1925678" y="1333196"/>
            <a:ext cx="23225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점</a:t>
            </a:r>
            <a:endParaRPr lang="en-US" sz="855" dirty="0"/>
          </a:p>
        </p:txBody>
      </p:sp>
      <p:sp>
        <p:nvSpPr>
          <p:cNvPr id="93" name="Text 91"/>
          <p:cNvSpPr txBox="1"/>
          <p:nvPr/>
        </p:nvSpPr>
        <p:spPr>
          <a:xfrm>
            <a:off x="297173" y="1752905"/>
            <a:ext cx="78911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입력 오류 검증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1925679" y="1750333"/>
            <a:ext cx="13999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담당자가 한 번 더 눈으로 확인</a:t>
            </a:r>
            <a:endParaRPr lang="en-US" sz="855" dirty="0"/>
          </a:p>
        </p:txBody>
      </p:sp>
      <p:sp>
        <p:nvSpPr>
          <p:cNvPr id="95" name="Text 93"/>
          <p:cNvSpPr txBox="1"/>
          <p:nvPr/>
        </p:nvSpPr>
        <p:spPr>
          <a:xfrm>
            <a:off x="5754176" y="1750333"/>
            <a:ext cx="274386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모든 항목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Validation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화면에 드러나지 않는 곳까지 검증</a:t>
            </a:r>
            <a:endParaRPr lang="en-US" sz="855" dirty="0"/>
          </a:p>
        </p:txBody>
      </p:sp>
      <p:sp>
        <p:nvSpPr>
          <p:cNvPr id="96" name="Text 94"/>
          <p:cNvSpPr txBox="1"/>
          <p:nvPr/>
        </p:nvSpPr>
        <p:spPr>
          <a:xfrm>
            <a:off x="297172" y="2169528"/>
            <a:ext cx="662927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자료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1925678" y="2166957"/>
            <a:ext cx="277906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PDF 금액을 수기로 옮겨 입력, 중도 입 · 퇴사자는 따로 계산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5754176" y="2166957"/>
            <a:ext cx="265233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업로드하면 항목별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인식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근무 기간에 맞춰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안분 계산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297173" y="2586666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증빙 서류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1925678" y="2583580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필요 서류를 담당자가 기억해 안내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5754175" y="2583580"/>
            <a:ext cx="267949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서류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안내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마감 전 미제출 항목만 골라 재요청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5754175" y="3000204"/>
            <a:ext cx="319044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4단계 현황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대상자만 골라 리</a:t>
            </a:r>
            <a:endParaRPr lang="en-US" sz="855" dirty="0"/>
          </a:p>
        </p:txBody>
      </p:sp>
      <p:sp>
        <p:nvSpPr>
          <p:cNvPr id="103" name="Text 101"/>
          <p:cNvSpPr txBox="1"/>
          <p:nvPr/>
        </p:nvSpPr>
        <p:spPr>
          <a:xfrm>
            <a:off x="297173" y="3084557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관리</a:t>
            </a:r>
            <a:endParaRPr lang="en-US" sz="900" dirty="0"/>
          </a:p>
        </p:txBody>
      </p:sp>
      <p:sp>
        <p:nvSpPr>
          <p:cNvPr id="104" name="Text 102"/>
          <p:cNvSpPr txBox="1"/>
          <p:nvPr/>
        </p:nvSpPr>
        <p:spPr>
          <a:xfrm>
            <a:off x="1925678" y="3081986"/>
            <a:ext cx="159824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수백 명의 진행 상황을 개별로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5754175" y="3163253"/>
            <a:ext cx="42153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마인드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297173" y="358296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1925679" y="3579877"/>
            <a:ext cx="14703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급여 지급일 임박해 몰아서 확인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5754176" y="3579877"/>
            <a:ext cx="29762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제출 즉시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예상 결정세액 · 차감징수세액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계산, 확정 전 미리 확인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297173" y="4004215"/>
            <a:ext cx="11411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도입은 지금 환경 그대로</a:t>
            </a:r>
            <a:endParaRPr lang="en-US" sz="720" dirty="0"/>
          </a:p>
        </p:txBody>
      </p:sp>
      <p:sp>
        <p:nvSpPr>
          <p:cNvPr id="110" name="Text 108"/>
          <p:cNvSpPr txBox="1"/>
          <p:nvPr/>
        </p:nvSpPr>
        <p:spPr>
          <a:xfrm>
            <a:off x="5667310" y="4002673"/>
            <a:ext cx="3476462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Excel 업로드 ·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SAP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/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Rimini Street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사용 고객사 연계 특화 · 가볍게 시작하는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SaaS</a:t>
            </a:r>
            <a:endParaRPr lang="en-US" sz="735" dirty="0"/>
          </a:p>
        </p:txBody>
      </p:sp>
      <p:sp>
        <p:nvSpPr>
          <p:cNvPr id="111" name="Text 109"/>
          <p:cNvSpPr txBox="1"/>
          <p:nvPr/>
        </p:nvSpPr>
        <p:spPr>
          <a:xfrm>
            <a:off x="679382" y="4340600"/>
            <a:ext cx="82660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기초데이터 등록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2885775" y="4340600"/>
            <a:ext cx="63641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근로자 입력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091252" y="4340600"/>
            <a:ext cx="62178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검토 · 확정</a:t>
            </a:r>
            <a:endParaRPr lang="en-US" sz="855" dirty="0"/>
          </a:p>
        </p:txBody>
      </p:sp>
      <p:sp>
        <p:nvSpPr>
          <p:cNvPr id="114" name="Text 112"/>
          <p:cNvSpPr txBox="1"/>
          <p:nvPr/>
        </p:nvSpPr>
        <p:spPr>
          <a:xfrm>
            <a:off x="7297644" y="4340600"/>
            <a:ext cx="54131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시즌 이후</a:t>
            </a:r>
            <a:endParaRPr lang="en-US" sz="855" dirty="0"/>
          </a:p>
        </p:txBody>
      </p:sp>
      <p:sp>
        <p:nvSpPr>
          <p:cNvPr id="115" name="Text 113"/>
          <p:cNvSpPr txBox="1"/>
          <p:nvPr/>
        </p:nvSpPr>
        <p:spPr>
          <a:xfrm>
            <a:off x="482792" y="4382777"/>
            <a:ext cx="17739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05" dirty="0"/>
          </a:p>
        </p:txBody>
      </p:sp>
      <p:sp>
        <p:nvSpPr>
          <p:cNvPr id="116" name="Text 114"/>
          <p:cNvSpPr txBox="1"/>
          <p:nvPr/>
        </p:nvSpPr>
        <p:spPr>
          <a:xfrm>
            <a:off x="2681868" y="4382777"/>
            <a:ext cx="18928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05" dirty="0"/>
          </a:p>
        </p:txBody>
      </p:sp>
      <p:sp>
        <p:nvSpPr>
          <p:cNvPr id="117" name="Text 115"/>
          <p:cNvSpPr txBox="1"/>
          <p:nvPr/>
        </p:nvSpPr>
        <p:spPr>
          <a:xfrm>
            <a:off x="4887346" y="4382777"/>
            <a:ext cx="19110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7092824" y="4382777"/>
            <a:ext cx="19293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endParaRPr lang="en-US" sz="705" dirty="0"/>
          </a:p>
        </p:txBody>
      </p:sp>
      <p:sp>
        <p:nvSpPr>
          <p:cNvPr id="119" name="Text 117"/>
          <p:cNvSpPr txBox="1"/>
          <p:nvPr/>
        </p:nvSpPr>
        <p:spPr>
          <a:xfrm>
            <a:off x="234812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4553599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1" name="Text 119"/>
          <p:cNvSpPr txBox="1"/>
          <p:nvPr/>
        </p:nvSpPr>
        <p:spPr>
          <a:xfrm>
            <a:off x="675999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2" name="Text 120"/>
          <p:cNvSpPr txBox="1"/>
          <p:nvPr/>
        </p:nvSpPr>
        <p:spPr>
          <a:xfrm>
            <a:off x="679383" y="4497991"/>
            <a:ext cx="1496839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대상자 · 급여 정보를 Excel로 올리거나</a:t>
            </a:r>
            <a:endParaRPr lang="en-US" sz="705" dirty="0"/>
          </a:p>
        </p:txBody>
      </p:sp>
      <p:sp>
        <p:nvSpPr>
          <p:cNvPr id="123" name="Text 121"/>
          <p:cNvSpPr txBox="1"/>
          <p:nvPr/>
        </p:nvSpPr>
        <p:spPr>
          <a:xfrm>
            <a:off x="2885774" y="4497991"/>
            <a:ext cx="1541915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가족등록 설문 → 간소화 PDF 업로드 →</a:t>
            </a:r>
            <a:endParaRPr lang="en-US" sz="705" dirty="0"/>
          </a:p>
        </p:txBody>
      </p:sp>
      <p:sp>
        <p:nvSpPr>
          <p:cNvPr id="124" name="Text 122"/>
          <p:cNvSpPr txBox="1"/>
          <p:nvPr/>
        </p:nvSpPr>
        <p:spPr>
          <a:xfrm>
            <a:off x="5091252" y="4497991"/>
            <a:ext cx="1570077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4단계 진행 현황으로 챙기고, 예상 세액을</a:t>
            </a:r>
            <a:endParaRPr lang="en-US" sz="705" dirty="0"/>
          </a:p>
        </p:txBody>
      </p:sp>
      <p:sp>
        <p:nvSpPr>
          <p:cNvPr id="125" name="Text 123"/>
          <p:cNvSpPr txBox="1"/>
          <p:nvPr/>
        </p:nvSpPr>
        <p:spPr>
          <a:xfrm>
            <a:off x="7297645" y="4497991"/>
            <a:ext cx="156907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 뒤 생기는 이슈는 수정신고 지원으로</a:t>
            </a:r>
            <a:endParaRPr lang="en-US" sz="705" dirty="0"/>
          </a:p>
        </p:txBody>
      </p:sp>
      <p:sp>
        <p:nvSpPr>
          <p:cNvPr id="126" name="Text 124"/>
          <p:cNvSpPr txBox="1"/>
          <p:nvPr/>
        </p:nvSpPr>
        <p:spPr>
          <a:xfrm>
            <a:off x="679383" y="4627093"/>
            <a:ext cx="114663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SAP · Rimini Street와 연계</a:t>
            </a:r>
            <a:endParaRPr lang="en-US" sz="705" dirty="0"/>
          </a:p>
        </p:txBody>
      </p:sp>
      <p:sp>
        <p:nvSpPr>
          <p:cNvPr id="127" name="Text 125"/>
          <p:cNvSpPr txBox="1"/>
          <p:nvPr/>
        </p:nvSpPr>
        <p:spPr>
          <a:xfrm>
            <a:off x="2885775" y="4627093"/>
            <a:ext cx="117772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서류 제출, 안내를 따라가면 끝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5091252" y="4627093"/>
            <a:ext cx="64555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확인한 뒤 확정</a:t>
            </a:r>
            <a:endParaRPr lang="en-US" sz="705" dirty="0"/>
          </a:p>
        </p:txBody>
      </p:sp>
      <p:sp>
        <p:nvSpPr>
          <p:cNvPr id="129" name="Text 127"/>
          <p:cNvSpPr txBox="1"/>
          <p:nvPr/>
        </p:nvSpPr>
        <p:spPr>
          <a:xfrm>
            <a:off x="7297645" y="4627093"/>
            <a:ext cx="2926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대응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- 26 -</a:t>
            </a:r>
            <a:endParaRPr lang="en-US" sz="705" dirty="0"/>
          </a:p>
        </p:txBody>
      </p:sp>
      <p:sp>
        <p:nvSpPr>
          <p:cNvPr id="131" name="Text 12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1703" y="1935949"/>
            <a:ext cx="104239" cy="104542"/>
          </a:xfrm>
          <a:custGeom>
            <a:avLst/>
            <a:gdLst/>
            <a:ahLst/>
            <a:cxnLst/>
            <a:rect l="l" t="t" r="r" b="b"/>
            <a:pathLst>
              <a:path w="138985" h="139389">
                <a:moveTo>
                  <a:pt x="0" y="0"/>
                </a:moveTo>
                <a:lnTo>
                  <a:pt x="0" y="139389"/>
                </a:lnTo>
                <a:lnTo>
                  <a:pt x="138985" y="139389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74867" y="1959181"/>
            <a:ext cx="69493" cy="40655"/>
          </a:xfrm>
          <a:custGeom>
            <a:avLst/>
            <a:gdLst/>
            <a:ahLst/>
            <a:cxnLst/>
            <a:rect l="l" t="t" r="r" b="b"/>
            <a:pathLst>
              <a:path w="92657" h="54207">
                <a:moveTo>
                  <a:pt x="0" y="54207"/>
                </a:moveTo>
                <a:lnTo>
                  <a:pt x="30886" y="23231"/>
                </a:lnTo>
                <a:lnTo>
                  <a:pt x="54050" y="46463"/>
                </a:lnTo>
                <a:lnTo>
                  <a:pt x="92657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669372" y="1937410"/>
            <a:ext cx="98654" cy="103082"/>
          </a:xfrm>
          <a:custGeom>
            <a:avLst/>
            <a:gdLst/>
            <a:ahLst/>
            <a:cxnLst/>
            <a:rect l="l" t="t" r="r" b="b"/>
            <a:pathLst>
              <a:path w="131539" h="137442">
                <a:moveTo>
                  <a:pt x="131264" y="67747"/>
                </a:moveTo>
                <a:cubicBezTo>
                  <a:pt x="131146" y="89191"/>
                  <a:pt x="119978" y="109049"/>
                  <a:pt x="101741" y="120244"/>
                </a:cubicBezTo>
                <a:cubicBezTo>
                  <a:pt x="83504" y="131439"/>
                  <a:pt x="60790" y="132379"/>
                  <a:pt x="41696" y="122729"/>
                </a:cubicBezTo>
                <a:lnTo>
                  <a:pt x="0" y="137442"/>
                </a:lnTo>
                <a:lnTo>
                  <a:pt x="14671" y="95625"/>
                </a:lnTo>
                <a:cubicBezTo>
                  <a:pt x="2826" y="72739"/>
                  <a:pt x="6355" y="44887"/>
                  <a:pt x="23531" y="25699"/>
                </a:cubicBezTo>
                <a:cubicBezTo>
                  <a:pt x="40707" y="6511"/>
                  <a:pt x="67938" y="0"/>
                  <a:pt x="91899" y="9352"/>
                </a:cubicBezTo>
                <a:cubicBezTo>
                  <a:pt x="115860" y="18704"/>
                  <a:pt x="131539" y="41963"/>
                  <a:pt x="131264" y="67747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946933" y="193304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877440" y="1973701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946933" y="201435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904659" y="1955696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34073"/>
                </a:moveTo>
                <a:lnTo>
                  <a:pt x="58683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904659" y="1995189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0"/>
                </a:moveTo>
                <a:lnTo>
                  <a:pt x="58683" y="34073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121169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155916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103796" y="1959181"/>
            <a:ext cx="69493" cy="58079"/>
          </a:xfrm>
          <a:custGeom>
            <a:avLst/>
            <a:gdLst/>
            <a:ahLst/>
            <a:cxnLst/>
            <a:rect l="l" t="t" r="r" b="b"/>
            <a:pathLst>
              <a:path w="92657" h="77438">
                <a:moveTo>
                  <a:pt x="0" y="0"/>
                </a:moveTo>
                <a:lnTo>
                  <a:pt x="92657" y="0"/>
                </a:lnTo>
                <a:lnTo>
                  <a:pt x="92657" y="30975"/>
                </a:lnTo>
                <a:cubicBezTo>
                  <a:pt x="92657" y="56636"/>
                  <a:pt x="71915" y="77438"/>
                  <a:pt x="46328" y="77438"/>
                </a:cubicBezTo>
                <a:cubicBezTo>
                  <a:pt x="20742" y="77438"/>
                  <a:pt x="0" y="56636"/>
                  <a:pt x="0" y="30975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138542" y="2017260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0"/>
                </a:moveTo>
                <a:lnTo>
                  <a:pt x="0" y="30975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38" name="Text 36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39" name="Text 37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40" name="Text 38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41" name="Text 39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42" name="Text 40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43" name="Text 41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44" name="Text 42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45" name="Text 43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46" name="Text 44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47" name="Text 45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51" name="Text 49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52" name="Text 50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53" name="Text 51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54" name="Text 52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55" name="Text 53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56" name="Text 54"/>
          <p:cNvSpPr txBox="1"/>
          <p:nvPr/>
        </p:nvSpPr>
        <p:spPr>
          <a:xfrm>
            <a:off x="619034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57" name="Text 55"/>
          <p:cNvSpPr txBox="1"/>
          <p:nvPr/>
        </p:nvSpPr>
        <p:spPr>
          <a:xfrm>
            <a:off x="2830912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58" name="Text 56"/>
          <p:cNvSpPr txBox="1"/>
          <p:nvPr/>
        </p:nvSpPr>
        <p:spPr>
          <a:xfrm>
            <a:off x="5042791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59" name="Text 57"/>
          <p:cNvSpPr txBox="1"/>
          <p:nvPr/>
        </p:nvSpPr>
        <p:spPr>
          <a:xfrm>
            <a:off x="7253754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2" name="Text 60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4" name="Text 62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7" name="Text 75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81" name="Text 79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82" name="Text 80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83" name="Text 81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84" name="Text 82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85" name="Text 83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86" name="Text 84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87" name="Text 85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0" name="Text 88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2" name="Text 90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3" name="Text 91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102" name="Text 100"/>
          <p:cNvSpPr txBox="1"/>
          <p:nvPr/>
        </p:nvSpPr>
        <p:spPr>
          <a:xfrm>
            <a:off x="4450274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97173" y="1020470"/>
            <a:ext cx="1756519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111297" y="1020470"/>
            <a:ext cx="994842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162831" y="1020470"/>
            <a:ext cx="1753775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973298" y="1020470"/>
            <a:ext cx="1403569" cy="20471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73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59599" y="1464869"/>
            <a:ext cx="1755604" cy="11316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7173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6956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16956" y="4649210"/>
            <a:ext cx="63092" cy="62751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452360" y="1361999"/>
            <a:ext cx="216707" cy="217056"/>
          </a:xfrm>
          <a:prstGeom prst="ellipse">
            <a:avLst/>
          </a:prstGeom>
          <a:solidFill>
            <a:srgbClr val="0D9488"/>
          </a:solidFill>
          <a:ln w="1524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714786" y="1464869"/>
            <a:ext cx="3975712" cy="11316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452360" y="1647463"/>
            <a:ext cx="4239053" cy="3198743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72143" y="2007508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572143" y="2637073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572143" y="3267151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572143" y="3896716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2572143" y="4538110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572144" y="4649210"/>
            <a:ext cx="63092" cy="62751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828569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828569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948352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948352" y="4649210"/>
            <a:ext cx="63092" cy="62751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33111" y="241448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33111" y="2603769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2586430" y="2290786"/>
            <a:ext cx="85723" cy="85640"/>
          </a:xfrm>
          <a:custGeom>
            <a:avLst/>
            <a:gdLst/>
            <a:ahLst/>
            <a:cxnLst/>
            <a:rect l="l" t="t" r="r" b="b"/>
            <a:pathLst>
              <a:path w="114297" h="114186">
                <a:moveTo>
                  <a:pt x="0" y="0"/>
                </a:moveTo>
                <a:lnTo>
                  <a:pt x="0" y="114186"/>
                </a:lnTo>
                <a:lnTo>
                  <a:pt x="114297" y="114186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605480" y="2309817"/>
            <a:ext cx="57149" cy="33305"/>
          </a:xfrm>
          <a:custGeom>
            <a:avLst/>
            <a:gdLst/>
            <a:ahLst/>
            <a:cxnLst/>
            <a:rect l="l" t="t" r="r" b="b"/>
            <a:pathLst>
              <a:path w="76198" h="44406">
                <a:moveTo>
                  <a:pt x="0" y="44406"/>
                </a:moveTo>
                <a:lnTo>
                  <a:pt x="25399" y="19031"/>
                </a:lnTo>
                <a:lnTo>
                  <a:pt x="44449" y="38062"/>
                </a:lnTo>
                <a:lnTo>
                  <a:pt x="761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591193" y="2920865"/>
            <a:ext cx="76198" cy="28547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591193" y="2935139"/>
            <a:ext cx="76198" cy="71366"/>
          </a:xfrm>
          <a:custGeom>
            <a:avLst/>
            <a:gdLst/>
            <a:ahLst/>
            <a:cxnLst/>
            <a:rect l="l" t="t" r="r" b="b"/>
            <a:pathLst>
              <a:path w="101597" h="95155">
                <a:moveTo>
                  <a:pt x="0" y="0"/>
                </a:moveTo>
                <a:lnTo>
                  <a:pt x="0" y="76124"/>
                </a:lnTo>
                <a:cubicBezTo>
                  <a:pt x="0" y="86908"/>
                  <a:pt x="22859" y="95155"/>
                  <a:pt x="50799" y="95155"/>
                </a:cubicBezTo>
                <a:cubicBezTo>
                  <a:pt x="78738" y="95155"/>
                  <a:pt x="101597" y="86908"/>
                  <a:pt x="101597" y="76124"/>
                </a:cubicBezTo>
                <a:lnTo>
                  <a:pt x="1015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591193" y="2963686"/>
            <a:ext cx="76198" cy="14273"/>
          </a:xfrm>
          <a:custGeom>
            <a:avLst/>
            <a:gdLst/>
            <a:ahLst/>
            <a:cxnLst/>
            <a:rect l="l" t="t" r="r" b="b"/>
            <a:pathLst>
              <a:path w="101597" h="19031">
                <a:moveTo>
                  <a:pt x="0" y="0"/>
                </a:moveTo>
                <a:cubicBezTo>
                  <a:pt x="0" y="10784"/>
                  <a:pt x="22859" y="19031"/>
                  <a:pt x="50799" y="19031"/>
                </a:cubicBezTo>
                <a:cubicBezTo>
                  <a:pt x="78738" y="19031"/>
                  <a:pt x="101597" y="10784"/>
                  <a:pt x="101597" y="0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591193" y="3545672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638817" y="3545671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2615005" y="3607522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591193" y="4181191"/>
            <a:ext cx="81130" cy="84443"/>
          </a:xfrm>
          <a:custGeom>
            <a:avLst/>
            <a:gdLst/>
            <a:ahLst/>
            <a:cxnLst/>
            <a:rect l="l" t="t" r="r" b="b"/>
            <a:pathLst>
              <a:path w="108173" h="112591">
                <a:moveTo>
                  <a:pt x="107947" y="55498"/>
                </a:moveTo>
                <a:cubicBezTo>
                  <a:pt x="107850" y="73065"/>
                  <a:pt x="98666" y="89332"/>
                  <a:pt x="83669" y="98503"/>
                </a:cubicBezTo>
                <a:cubicBezTo>
                  <a:pt x="68671" y="107673"/>
                  <a:pt x="49992" y="108443"/>
                  <a:pt x="34289" y="100538"/>
                </a:cubicBezTo>
                <a:lnTo>
                  <a:pt x="0" y="112591"/>
                </a:lnTo>
                <a:lnTo>
                  <a:pt x="12065" y="78335"/>
                </a:lnTo>
                <a:cubicBezTo>
                  <a:pt x="2324" y="59587"/>
                  <a:pt x="5226" y="36771"/>
                  <a:pt x="19351" y="21052"/>
                </a:cubicBezTo>
                <a:cubicBezTo>
                  <a:pt x="33476" y="5334"/>
                  <a:pt x="55870" y="0"/>
                  <a:pt x="75575" y="7661"/>
                </a:cubicBezTo>
                <a:cubicBezTo>
                  <a:pt x="95279" y="15322"/>
                  <a:pt x="108173" y="34376"/>
                  <a:pt x="107947" y="55498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617386" y="4199025"/>
            <a:ext cx="23812" cy="28547"/>
          </a:xfrm>
          <a:custGeom>
            <a:avLst/>
            <a:gdLst/>
            <a:ahLst/>
            <a:cxnLst/>
            <a:rect l="l" t="t" r="r" b="b"/>
            <a:pathLst>
              <a:path w="31749" h="38062">
                <a:moveTo>
                  <a:pt x="0" y="15859"/>
                </a:moveTo>
                <a:cubicBezTo>
                  <a:pt x="0" y="7100"/>
                  <a:pt x="7107" y="0"/>
                  <a:pt x="15875" y="0"/>
                </a:cubicBezTo>
                <a:cubicBezTo>
                  <a:pt x="24642" y="0"/>
                  <a:pt x="31749" y="7100"/>
                  <a:pt x="31749" y="15859"/>
                </a:cubicBezTo>
                <a:cubicBezTo>
                  <a:pt x="31749" y="25375"/>
                  <a:pt x="15875" y="28546"/>
                  <a:pt x="15875" y="38062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626910" y="4241845"/>
            <a:ext cx="4763" cy="4758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960467" y="2565385"/>
            <a:ext cx="72693" cy="72909"/>
          </a:xfrm>
          <a:custGeom>
            <a:avLst/>
            <a:gdLst/>
            <a:ahLst/>
            <a:cxnLst/>
            <a:rect l="l" t="t" r="r" b="b"/>
            <a:pathLst>
              <a:path w="96924" h="97212">
                <a:moveTo>
                  <a:pt x="96924" y="48606"/>
                </a:moveTo>
                <a:cubicBezTo>
                  <a:pt x="96924" y="75450"/>
                  <a:pt x="75227" y="97212"/>
                  <a:pt x="48462" y="97212"/>
                </a:cubicBezTo>
                <a:cubicBezTo>
                  <a:pt x="21697" y="97212"/>
                  <a:pt x="0" y="75450"/>
                  <a:pt x="0" y="48606"/>
                </a:cubicBezTo>
                <a:cubicBezTo>
                  <a:pt x="0" y="21762"/>
                  <a:pt x="21697" y="0"/>
                  <a:pt x="48462" y="0"/>
                </a:cubicBez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7008929" y="2565385"/>
            <a:ext cx="24231" cy="24303"/>
          </a:xfrm>
          <a:custGeom>
            <a:avLst/>
            <a:gdLst/>
            <a:ahLst/>
            <a:cxnLst/>
            <a:rect l="l" t="t" r="r" b="b"/>
            <a:pathLst>
              <a:path w="32308" h="32404">
                <a:moveTo>
                  <a:pt x="32308" y="0"/>
                </a:moveTo>
                <a:lnTo>
                  <a:pt x="32308" y="32404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6964507" y="276630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43" name="Text 41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44" name="Text 42"/>
          <p:cNvSpPr txBox="1"/>
          <p:nvPr/>
        </p:nvSpPr>
        <p:spPr>
          <a:xfrm>
            <a:off x="297173" y="677913"/>
            <a:ext cx="612138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75" dirty="0"/>
          </a:p>
        </p:txBody>
      </p:sp>
      <p:sp>
        <p:nvSpPr>
          <p:cNvPr id="45" name="Text 43"/>
          <p:cNvSpPr txBox="1"/>
          <p:nvPr/>
        </p:nvSpPr>
        <p:spPr>
          <a:xfrm>
            <a:off x="595259" y="1055446"/>
            <a:ext cx="149318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D2C 해외영업 조직</a:t>
            </a:r>
            <a:endParaRPr lang="en-US" sz="758" dirty="0"/>
          </a:p>
        </p:txBody>
      </p:sp>
      <p:sp>
        <p:nvSpPr>
          <p:cNvPr id="46" name="Text 44"/>
          <p:cNvSpPr txBox="1"/>
          <p:nvPr/>
        </p:nvSpPr>
        <p:spPr>
          <a:xfrm>
            <a:off x="2409384" y="1055446"/>
            <a:ext cx="7305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이커머스</a:t>
            </a:r>
            <a:endParaRPr lang="en-US" sz="758" dirty="0"/>
          </a:p>
        </p:txBody>
      </p:sp>
      <p:sp>
        <p:nvSpPr>
          <p:cNvPr id="47" name="Text 45"/>
          <p:cNvSpPr txBox="1"/>
          <p:nvPr/>
        </p:nvSpPr>
        <p:spPr>
          <a:xfrm>
            <a:off x="3532239" y="1055446"/>
            <a:ext cx="1418202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 · 상품</a:t>
            </a:r>
            <a:endParaRPr lang="en-US" sz="758" dirty="0"/>
          </a:p>
        </p:txBody>
      </p:sp>
      <p:sp>
        <p:nvSpPr>
          <p:cNvPr id="48" name="Text 46"/>
          <p:cNvSpPr txBox="1"/>
          <p:nvPr/>
        </p:nvSpPr>
        <p:spPr>
          <a:xfrm>
            <a:off x="5075708" y="1055446"/>
            <a:ext cx="133499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 해외 법인 전체 오픈 예정</a:t>
            </a:r>
            <a:endParaRPr lang="en-US" sz="758" dirty="0"/>
          </a:p>
        </p:txBody>
      </p:sp>
      <p:sp>
        <p:nvSpPr>
          <p:cNvPr id="49" name="Text 47"/>
          <p:cNvSpPr txBox="1"/>
          <p:nvPr/>
        </p:nvSpPr>
        <p:spPr>
          <a:xfrm>
            <a:off x="399583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</a:t>
            </a:r>
            <a:endParaRPr lang="en-US" sz="645" dirty="0"/>
          </a:p>
        </p:txBody>
      </p:sp>
      <p:sp>
        <p:nvSpPr>
          <p:cNvPr id="50" name="Text 48"/>
          <p:cNvSpPr txBox="1"/>
          <p:nvPr/>
        </p:nvSpPr>
        <p:spPr>
          <a:xfrm>
            <a:off x="2213707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45" dirty="0"/>
          </a:p>
        </p:txBody>
      </p:sp>
      <p:sp>
        <p:nvSpPr>
          <p:cNvPr id="51" name="Text 49"/>
          <p:cNvSpPr txBox="1"/>
          <p:nvPr/>
        </p:nvSpPr>
        <p:spPr>
          <a:xfrm>
            <a:off x="3265241" y="1065220"/>
            <a:ext cx="3529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</a:t>
            </a:r>
            <a:endParaRPr lang="en-US" sz="645" dirty="0"/>
          </a:p>
        </p:txBody>
      </p:sp>
      <p:sp>
        <p:nvSpPr>
          <p:cNvPr id="52" name="Text 50"/>
          <p:cNvSpPr txBox="1"/>
          <p:nvPr/>
        </p:nvSpPr>
        <p:spPr>
          <a:xfrm>
            <a:off x="382210" y="1398518"/>
            <a:ext cx="18287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530996" y="1398518"/>
            <a:ext cx="19750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6906290" y="1398518"/>
            <a:ext cx="199338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416956" y="1745704"/>
            <a:ext cx="91438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4개월</a:t>
            </a:r>
            <a:endParaRPr lang="en-US" sz="1080" dirty="0"/>
          </a:p>
        </p:txBody>
      </p:sp>
      <p:sp>
        <p:nvSpPr>
          <p:cNvPr id="56" name="Text 54"/>
          <p:cNvSpPr txBox="1"/>
          <p:nvPr/>
        </p:nvSpPr>
        <p:spPr>
          <a:xfrm>
            <a:off x="2572143" y="1745704"/>
            <a:ext cx="1674682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본 구축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진행 중</a:t>
            </a:r>
            <a:endParaRPr lang="en-US" sz="1080" dirty="0"/>
          </a:p>
        </p:txBody>
      </p:sp>
      <p:sp>
        <p:nvSpPr>
          <p:cNvPr id="57" name="Text 55"/>
          <p:cNvSpPr txBox="1"/>
          <p:nvPr/>
        </p:nvSpPr>
        <p:spPr>
          <a:xfrm>
            <a:off x="6948352" y="1745704"/>
            <a:ext cx="1152119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고도화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오픈 후</a:t>
            </a:r>
            <a:endParaRPr lang="en-US" sz="1080" dirty="0"/>
          </a:p>
        </p:txBody>
      </p:sp>
      <p:sp>
        <p:nvSpPr>
          <p:cNvPr id="58" name="Text 56"/>
          <p:cNvSpPr txBox="1"/>
          <p:nvPr/>
        </p:nvSpPr>
        <p:spPr>
          <a:xfrm>
            <a:off x="416956" y="1983334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실제 데이터로 가능성을 검증하고 본 구축</a:t>
            </a:r>
            <a:endParaRPr lang="en-US" sz="855" dirty="0"/>
          </a:p>
        </p:txBody>
      </p:sp>
      <p:sp>
        <p:nvSpPr>
          <p:cNvPr id="59" name="Text 57"/>
          <p:cNvSpPr txBox="1"/>
          <p:nvPr/>
        </p:nvSpPr>
        <p:spPr>
          <a:xfrm>
            <a:off x="6948352" y="1983334"/>
            <a:ext cx="188590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</a:t>
            </a:r>
            <a:endParaRPr lang="en-US" sz="855" dirty="0"/>
          </a:p>
        </p:txBody>
      </p:sp>
      <p:sp>
        <p:nvSpPr>
          <p:cNvPr id="60" name="Text 58"/>
          <p:cNvSpPr txBox="1"/>
          <p:nvPr/>
        </p:nvSpPr>
        <p:spPr>
          <a:xfrm>
            <a:off x="416956" y="2145869"/>
            <a:ext cx="10442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범위를 확정했습니다.</a:t>
            </a:r>
            <a:endParaRPr lang="en-US" sz="855" dirty="0"/>
          </a:p>
        </p:txBody>
      </p:sp>
      <p:sp>
        <p:nvSpPr>
          <p:cNvPr id="61" name="Text 59"/>
          <p:cNvSpPr txBox="1"/>
          <p:nvPr/>
        </p:nvSpPr>
        <p:spPr>
          <a:xfrm>
            <a:off x="6948352" y="2145869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해 재학습</a:t>
            </a:r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</a:t>
            </a:r>
            <a:endParaRPr lang="en-US" sz="855" dirty="0"/>
          </a:p>
        </p:txBody>
      </p:sp>
      <p:sp>
        <p:nvSpPr>
          <p:cNvPr id="62" name="Text 60"/>
          <p:cNvSpPr txBox="1"/>
          <p:nvPr/>
        </p:nvSpPr>
        <p:spPr>
          <a:xfrm>
            <a:off x="4149443" y="2179301"/>
            <a:ext cx="256583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 줄로 확인, 지역-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2732160" y="225388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948352" y="2308918"/>
            <a:ext cx="35569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65" name="Text 63"/>
          <p:cNvSpPr txBox="1"/>
          <p:nvPr/>
        </p:nvSpPr>
        <p:spPr>
          <a:xfrm>
            <a:off x="4149443" y="2333606"/>
            <a:ext cx="250548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 · 사업부-제품군 드릴다운, 연관 질의로 이어서 분석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565085" y="2364467"/>
            <a:ext cx="1612322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현업이 직접 질의하며 답변 품질 확인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96481" y="2527001"/>
            <a:ext cx="1310306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질의 로그 기반 재학습 사이클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565085" y="2553233"/>
            <a:ext cx="1521798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본 구축 대상 지표 · 문서 범위 확정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096482" y="2716282"/>
            <a:ext cx="1513751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해외 법인 확산에 맞춘 다국어 대응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149444" y="2809380"/>
            <a:ext cx="25859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표로 즉시 제공, 기초 데이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2732160" y="2883446"/>
            <a:ext cx="123075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4149444" y="2963685"/>
            <a:ext cx="13999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내려받아 후속 작업에 활용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149444" y="3438944"/>
            <a:ext cx="2650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보고서용 차트로 자동 변환(GenChart), 프롬프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732159" y="3513525"/>
            <a:ext cx="109908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149444" y="3593249"/>
            <a:ext cx="14328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트만으로 PPT 생성 후 메일 발송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149443" y="4069023"/>
            <a:ext cx="2607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지식화, 질문 의도를 해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2732160" y="4143089"/>
            <a:ext cx="129841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4149444" y="4223328"/>
            <a:ext cx="143557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석해 응답, 한글 · 영문 질의 대응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531253" y="4616806"/>
            <a:ext cx="59892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완료 · 4개월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2686441" y="4616806"/>
            <a:ext cx="134505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 · 9월 해외 법인 전체 오픈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7062649" y="4616806"/>
            <a:ext cx="7589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오픈 후 운영 단계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- 29 -</a:t>
            </a:r>
            <a:endParaRPr lang="en-US" sz="705" dirty="0"/>
          </a:p>
        </p:txBody>
      </p:sp>
      <p:sp>
        <p:nvSpPr>
          <p:cNvPr id="83" name="Text 8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97173" y="679971"/>
            <a:ext cx="2971726" cy="4166750"/>
          </a:xfrm>
          <a:prstGeom prst="roundRect">
            <a:avLst>
              <a:gd name="adj" fmla="val 3846"/>
            </a:avLst>
          </a:prstGeom>
          <a:solidFill>
            <a:srgbClr val="0F172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68161" y="2057914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68161" y="2857729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68161" y="4486675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977541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630735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284843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66071" y="1665979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977541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630735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284843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566071" y="2726055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977541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630735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84843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66071" y="3786130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977541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630735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84843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9590" y="4637165"/>
            <a:ext cx="68579" cy="41963"/>
          </a:xfrm>
          <a:prstGeom prst="roundRect">
            <a:avLst>
              <a:gd name="adj" fmla="val 18170"/>
            </a:avLst>
          </a:prstGeom>
          <a:ln w="8133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94831" y="4602833"/>
            <a:ext cx="38099" cy="34333"/>
          </a:xfrm>
          <a:custGeom>
            <a:avLst/>
            <a:gdLst/>
            <a:ahLst/>
            <a:cxnLst/>
            <a:rect l="l" t="t" r="r" b="b"/>
            <a:pathLst>
              <a:path w="50799" h="45777">
                <a:moveTo>
                  <a:pt x="0" y="45777"/>
                </a:moveTo>
                <a:lnTo>
                  <a:pt x="0" y="25432"/>
                </a:lnTo>
                <a:cubicBezTo>
                  <a:pt x="0" y="11386"/>
                  <a:pt x="11372" y="0"/>
                  <a:pt x="25399" y="0"/>
                </a:cubicBezTo>
                <a:cubicBezTo>
                  <a:pt x="39427" y="0"/>
                  <a:pt x="50799" y="11386"/>
                  <a:pt x="50799" y="25432"/>
                </a:cubicBezTo>
                <a:lnTo>
                  <a:pt x="50799" y="45777"/>
                </a:lnTo>
              </a:path>
            </a:pathLst>
          </a:custGeom>
          <a:ln w="8133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3566071" y="673799"/>
            <a:ext cx="343809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1530" dirty="0"/>
          </a:p>
        </p:txBody>
      </p:sp>
      <p:sp>
        <p:nvSpPr>
          <p:cNvPr id="28" name="Text 26"/>
          <p:cNvSpPr txBox="1"/>
          <p:nvPr/>
        </p:nvSpPr>
        <p:spPr>
          <a:xfrm>
            <a:off x="3977540" y="691286"/>
            <a:ext cx="1249043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5157087" y="753009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30" name="Text 28"/>
          <p:cNvSpPr txBox="1"/>
          <p:nvPr/>
        </p:nvSpPr>
        <p:spPr>
          <a:xfrm>
            <a:off x="468161" y="846106"/>
            <a:ext cx="19482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12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CASE C · MANUFACTURING R&amp;D</a:t>
            </a:r>
            <a:endParaRPr lang="en-US" sz="668" dirty="0"/>
          </a:p>
        </p:txBody>
      </p:sp>
      <p:sp>
        <p:nvSpPr>
          <p:cNvPr id="31" name="Text 29"/>
          <p:cNvSpPr txBox="1"/>
          <p:nvPr/>
        </p:nvSpPr>
        <p:spPr>
          <a:xfrm>
            <a:off x="4062578" y="915029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5716686" y="915029"/>
            <a:ext cx="156404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7369880" y="91502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468161" y="1059046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지표와 문서 근거를</a:t>
            </a:r>
            <a:endParaRPr lang="en-US" sz="1395" dirty="0"/>
          </a:p>
        </p:txBody>
      </p:sp>
      <p:sp>
        <p:nvSpPr>
          <p:cNvPr id="35" name="Text 33"/>
          <p:cNvSpPr txBox="1"/>
          <p:nvPr/>
        </p:nvSpPr>
        <p:spPr>
          <a:xfrm>
            <a:off x="4062577" y="1067277"/>
            <a:ext cx="115211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반영한 전용 마트 설계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5716686" y="1067277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바라보는 구조</a:t>
            </a:r>
            <a:endParaRPr lang="en-US" sz="825" dirty="0"/>
          </a:p>
        </p:txBody>
      </p:sp>
      <p:sp>
        <p:nvSpPr>
          <p:cNvPr id="37" name="Text 35"/>
          <p:cNvSpPr txBox="1"/>
          <p:nvPr/>
        </p:nvSpPr>
        <p:spPr>
          <a:xfrm>
            <a:off x="7369880" y="1067277"/>
            <a:ext cx="73699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추가해 확장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68161" y="1288961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 포털에서 함께 봅니다</a:t>
            </a:r>
            <a:endParaRPr lang="en-US" sz="1395" dirty="0"/>
          </a:p>
        </p:txBody>
      </p:sp>
      <p:sp>
        <p:nvSpPr>
          <p:cNvPr id="39" name="Text 37"/>
          <p:cNvSpPr txBox="1"/>
          <p:nvPr/>
        </p:nvSpPr>
        <p:spPr>
          <a:xfrm>
            <a:off x="468161" y="1620717"/>
            <a:ext cx="279918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 정량 지표와 문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3566071" y="1734389"/>
            <a:ext cx="371240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1530" dirty="0"/>
          </a:p>
        </p:txBody>
      </p:sp>
      <p:sp>
        <p:nvSpPr>
          <p:cNvPr id="41" name="Text 39"/>
          <p:cNvSpPr txBox="1"/>
          <p:nvPr/>
        </p:nvSpPr>
        <p:spPr>
          <a:xfrm>
            <a:off x="3977541" y="1751362"/>
            <a:ext cx="10935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468161" y="1785309"/>
            <a:ext cx="161634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근거를 함께 확인하는 구조입니다.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5002557" y="1813599"/>
            <a:ext cx="4608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062578" y="1975104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5716686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7369880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4062577" y="2127867"/>
            <a:ext cx="145203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렌드 · 순위 · 누적 7개 질의유형</a:t>
            </a:r>
            <a:endParaRPr lang="en-US" sz="825" dirty="0"/>
          </a:p>
        </p:txBody>
      </p:sp>
      <p:sp>
        <p:nvSpPr>
          <p:cNvPr id="48" name="Text 46"/>
          <p:cNvSpPr txBox="1"/>
          <p:nvPr/>
        </p:nvSpPr>
        <p:spPr>
          <a:xfrm>
            <a:off x="5716687" y="2127867"/>
            <a:ext cx="111188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 내역 조회 · 다운로드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7369880" y="2127867"/>
            <a:ext cx="82842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면에서 바로 분석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468161" y="2150498"/>
            <a:ext cx="49193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630" dirty="0"/>
          </a:p>
        </p:txBody>
      </p:sp>
      <p:sp>
        <p:nvSpPr>
          <p:cNvPr id="51" name="Text 49"/>
          <p:cNvSpPr txBox="1"/>
          <p:nvPr/>
        </p:nvSpPr>
        <p:spPr>
          <a:xfrm>
            <a:off x="1131085" y="2147926"/>
            <a:ext cx="167267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냉난방 제품 개발 연구소</a:t>
            </a:r>
            <a:endParaRPr lang="en-US" sz="758" dirty="0"/>
          </a:p>
        </p:txBody>
      </p:sp>
      <p:sp>
        <p:nvSpPr>
          <p:cNvPr id="52" name="Text 50"/>
          <p:cNvSpPr txBox="1"/>
          <p:nvPr/>
        </p:nvSpPr>
        <p:spPr>
          <a:xfrm>
            <a:off x="468162" y="2310461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30" dirty="0"/>
          </a:p>
        </p:txBody>
      </p:sp>
      <p:sp>
        <p:nvSpPr>
          <p:cNvPr id="53" name="Text 51"/>
          <p:cNvSpPr txBox="1"/>
          <p:nvPr/>
        </p:nvSpPr>
        <p:spPr>
          <a:xfrm>
            <a:off x="1131085" y="2307889"/>
            <a:ext cx="596177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R&amp;D</a:t>
            </a:r>
            <a:endParaRPr lang="en-US" sz="758" dirty="0"/>
          </a:p>
        </p:txBody>
      </p:sp>
      <p:sp>
        <p:nvSpPr>
          <p:cNvPr id="54" name="Text 52"/>
          <p:cNvSpPr txBox="1"/>
          <p:nvPr/>
        </p:nvSpPr>
        <p:spPr>
          <a:xfrm>
            <a:off x="468161" y="2470423"/>
            <a:ext cx="50474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630" dirty="0"/>
          </a:p>
        </p:txBody>
      </p:sp>
      <p:sp>
        <p:nvSpPr>
          <p:cNvPr id="55" name="Text 53"/>
          <p:cNvSpPr txBox="1"/>
          <p:nvPr/>
        </p:nvSpPr>
        <p:spPr>
          <a:xfrm>
            <a:off x="1131085" y="2467337"/>
            <a:ext cx="1546943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· 경쟁사 정보</a:t>
            </a:r>
            <a:endParaRPr lang="en-US" sz="758" dirty="0"/>
          </a:p>
        </p:txBody>
      </p:sp>
      <p:sp>
        <p:nvSpPr>
          <p:cNvPr id="56" name="Text 54"/>
          <p:cNvSpPr txBox="1"/>
          <p:nvPr/>
        </p:nvSpPr>
        <p:spPr>
          <a:xfrm>
            <a:off x="468162" y="2630386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630" dirty="0"/>
          </a:p>
        </p:txBody>
      </p:sp>
      <p:sp>
        <p:nvSpPr>
          <p:cNvPr id="57" name="Text 55"/>
          <p:cNvSpPr txBox="1"/>
          <p:nvPr/>
        </p:nvSpPr>
        <p:spPr>
          <a:xfrm>
            <a:off x="1131085" y="2627299"/>
            <a:ext cx="105428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12월 오픈 예정</a:t>
            </a:r>
            <a:endParaRPr lang="en-US" sz="758" dirty="0"/>
          </a:p>
        </p:txBody>
      </p:sp>
      <p:sp>
        <p:nvSpPr>
          <p:cNvPr id="58" name="Text 56"/>
          <p:cNvSpPr txBox="1"/>
          <p:nvPr/>
        </p:nvSpPr>
        <p:spPr>
          <a:xfrm>
            <a:off x="3566071" y="2794463"/>
            <a:ext cx="373984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1530" dirty="0"/>
          </a:p>
        </p:txBody>
      </p:sp>
      <p:sp>
        <p:nvSpPr>
          <p:cNvPr id="59" name="Text 57"/>
          <p:cNvSpPr txBox="1"/>
          <p:nvPr/>
        </p:nvSpPr>
        <p:spPr>
          <a:xfrm>
            <a:off x="3977540" y="2811437"/>
            <a:ext cx="1125602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125" dirty="0"/>
          </a:p>
        </p:txBody>
      </p:sp>
      <p:sp>
        <p:nvSpPr>
          <p:cNvPr id="60" name="Text 58"/>
          <p:cNvSpPr txBox="1"/>
          <p:nvPr/>
        </p:nvSpPr>
        <p:spPr>
          <a:xfrm>
            <a:off x="5033646" y="287367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61" name="Text 59"/>
          <p:cNvSpPr txBox="1"/>
          <p:nvPr/>
        </p:nvSpPr>
        <p:spPr>
          <a:xfrm>
            <a:off x="468162" y="2948255"/>
            <a:ext cx="4928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645" dirty="0"/>
          </a:p>
        </p:txBody>
      </p:sp>
      <p:sp>
        <p:nvSpPr>
          <p:cNvPr id="62" name="Text 60"/>
          <p:cNvSpPr txBox="1"/>
          <p:nvPr/>
        </p:nvSpPr>
        <p:spPr>
          <a:xfrm>
            <a:off x="4062578" y="3035180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5716686" y="3035180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7369880" y="3035180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468161" y="3099988"/>
            <a:ext cx="26700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788193" y="3099988"/>
            <a:ext cx="146117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경영실적 · 품질실적 · 콘텐츠 영역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4062578" y="3187941"/>
            <a:ext cx="110457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처리하는 멀티모달 방식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5716686" y="3187941"/>
            <a:ext cx="228598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시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7369880" y="3187941"/>
            <a:ext cx="112834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근거를 한 흐름에서 확인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468161" y="3271266"/>
            <a:ext cx="28071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</a:t>
            </a:r>
            <a:endParaRPr lang="en-US" sz="773" dirty="0"/>
          </a:p>
        </p:txBody>
      </p:sp>
      <p:sp>
        <p:nvSpPr>
          <p:cNvPr id="71" name="Text 69"/>
          <p:cNvSpPr txBox="1"/>
          <p:nvPr/>
        </p:nvSpPr>
        <p:spPr>
          <a:xfrm>
            <a:off x="788194" y="3271266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개발실적 영역 확대</a:t>
            </a:r>
            <a:endParaRPr lang="en-US" sz="773" dirty="0"/>
          </a:p>
        </p:txBody>
      </p:sp>
      <p:sp>
        <p:nvSpPr>
          <p:cNvPr id="72" name="Text 70"/>
          <p:cNvSpPr txBox="1"/>
          <p:nvPr/>
        </p:nvSpPr>
        <p:spPr>
          <a:xfrm>
            <a:off x="3566071" y="3854539"/>
            <a:ext cx="377642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1530" dirty="0"/>
          </a:p>
        </p:txBody>
      </p:sp>
      <p:sp>
        <p:nvSpPr>
          <p:cNvPr id="73" name="Text 71"/>
          <p:cNvSpPr txBox="1"/>
          <p:nvPr/>
        </p:nvSpPr>
        <p:spPr>
          <a:xfrm>
            <a:off x="3977541" y="3872027"/>
            <a:ext cx="13797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125" dirty="0"/>
          </a:p>
        </p:txBody>
      </p:sp>
      <p:sp>
        <p:nvSpPr>
          <p:cNvPr id="74" name="Text 72"/>
          <p:cNvSpPr txBox="1"/>
          <p:nvPr/>
        </p:nvSpPr>
        <p:spPr>
          <a:xfrm>
            <a:off x="5287843" y="3933749"/>
            <a:ext cx="5230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75" name="Text 73"/>
          <p:cNvSpPr txBox="1"/>
          <p:nvPr/>
        </p:nvSpPr>
        <p:spPr>
          <a:xfrm>
            <a:off x="4062578" y="4095769"/>
            <a:ext cx="137065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25" dirty="0"/>
          </a:p>
        </p:txBody>
      </p:sp>
      <p:sp>
        <p:nvSpPr>
          <p:cNvPr id="76" name="Text 74"/>
          <p:cNvSpPr txBox="1"/>
          <p:nvPr/>
        </p:nvSpPr>
        <p:spPr>
          <a:xfrm>
            <a:off x="5716686" y="409576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7369880" y="4095769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5716686" y="4248017"/>
            <a:ext cx="52851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별로 추적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7369880" y="4248017"/>
            <a:ext cx="64463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 구독 발송</a:t>
            </a:r>
            <a:endParaRPr lang="en-US" sz="825" dirty="0"/>
          </a:p>
        </p:txBody>
      </p:sp>
      <p:sp>
        <p:nvSpPr>
          <p:cNvPr id="80" name="Text 78"/>
          <p:cNvSpPr txBox="1"/>
          <p:nvPr/>
        </p:nvSpPr>
        <p:spPr>
          <a:xfrm>
            <a:off x="617205" y="4576686"/>
            <a:ext cx="247631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 고객사 환경에 맞춰 구성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4447531" y="4923873"/>
            <a:ext cx="38495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- 30 -</a:t>
            </a:r>
            <a:endParaRPr lang="en-US" sz="705" dirty="0"/>
          </a:p>
        </p:txBody>
      </p:sp>
      <p:sp>
        <p:nvSpPr>
          <p:cNvPr id="82" name="Text 8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6673</Words>
  <Application>Microsoft Office PowerPoint</Application>
  <PresentationFormat>화면 슬라이드 쇼(16:9)</PresentationFormat>
  <Paragraphs>1202</Paragraphs>
  <Slides>37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6" baseType="lpstr">
      <vt:lpstr>Wingdings</vt:lpstr>
      <vt:lpstr>SUIT ExtraBold</vt:lpstr>
      <vt:lpstr>Noto Sans KR</vt:lpstr>
      <vt:lpstr>SUIT Light</vt:lpstr>
      <vt:lpstr>Urbanist</vt:lpstr>
      <vt:lpstr>Arial</vt:lpstr>
      <vt:lpstr>SUIT</vt:lpstr>
      <vt:lpstr>SUIT Medium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PowerPoint 프레젠테이션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PowerPoint 프레젠테이션</vt:lpstr>
      <vt:lpstr>PowerPoint 프레젠테이션</vt:lpstr>
      <vt:lpstr>PowerPoint 프레젠테이션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103</cp:revision>
  <dcterms:created xsi:type="dcterms:W3CDTF">2026-05-21T10:23:19Z</dcterms:created>
  <dcterms:modified xsi:type="dcterms:W3CDTF">2026-09-17T01:22:58Z</dcterms:modified>
</cp:coreProperties>
</file>