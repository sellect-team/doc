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5" r:id="rId1"/>
  </p:sldMasterIdLst>
  <p:notesMasterIdLst>
    <p:notesMasterId r:id="rId40"/>
  </p:notesMasterIdLst>
  <p:sldIdLst>
    <p:sldId id="631" r:id="rId2"/>
    <p:sldId id="615" r:id="rId3"/>
    <p:sldId id="263" r:id="rId4"/>
    <p:sldId id="614" r:id="rId5"/>
    <p:sldId id="622" r:id="rId6"/>
    <p:sldId id="632" r:id="rId7"/>
    <p:sldId id="619" r:id="rId8"/>
    <p:sldId id="621" r:id="rId9"/>
    <p:sldId id="620" r:id="rId10"/>
    <p:sldId id="652" r:id="rId11"/>
    <p:sldId id="611" r:id="rId12"/>
    <p:sldId id="302" r:id="rId13"/>
    <p:sldId id="589" r:id="rId14"/>
    <p:sldId id="590" r:id="rId15"/>
    <p:sldId id="592" r:id="rId16"/>
    <p:sldId id="593" r:id="rId17"/>
    <p:sldId id="548" r:id="rId18"/>
    <p:sldId id="262" r:id="rId19"/>
    <p:sldId id="639" r:id="rId20"/>
    <p:sldId id="640" r:id="rId21"/>
    <p:sldId id="623" r:id="rId22"/>
    <p:sldId id="597" r:id="rId23"/>
    <p:sldId id="260" r:id="rId24"/>
    <p:sldId id="646" r:id="rId25"/>
    <p:sldId id="258" r:id="rId26"/>
    <p:sldId id="259" r:id="rId27"/>
    <p:sldId id="624" r:id="rId28"/>
    <p:sldId id="649" r:id="rId29"/>
    <p:sldId id="266" r:id="rId30"/>
    <p:sldId id="651" r:id="rId31"/>
    <p:sldId id="617" r:id="rId32"/>
    <p:sldId id="626" r:id="rId33"/>
    <p:sldId id="627" r:id="rId34"/>
    <p:sldId id="261" r:id="rId35"/>
    <p:sldId id="628" r:id="rId36"/>
    <p:sldId id="629" r:id="rId37"/>
    <p:sldId id="630" r:id="rId38"/>
    <p:sldId id="264" r:id="rId39"/>
  </p:sldIdLst>
  <p:sldSz cx="9144000" cy="5143500" type="screen16x9"/>
  <p:notesSz cx="5143500" cy="9144000"/>
  <p:embeddedFontLst>
    <p:embeddedFont>
      <p:font typeface="Noto Sans KR" panose="020B0200000000000000" pitchFamily="50" charset="-127"/>
      <p:regular r:id="rId41"/>
      <p:bold r:id="rId42"/>
    </p:embeddedFont>
    <p:embeddedFont>
      <p:font typeface="SUIT" pitchFamily="2" charset="-127"/>
      <p:regular r:id="rId43"/>
      <p:bold r:id="rId44"/>
    </p:embeddedFont>
    <p:embeddedFont>
      <p:font typeface="SUIT ExtraBold" pitchFamily="50" charset="-127"/>
      <p:bold r:id="rId45"/>
    </p:embeddedFont>
    <p:embeddedFont>
      <p:font typeface="SUIT Light" pitchFamily="50" charset="-127"/>
      <p:regular r:id="rId46"/>
    </p:embeddedFont>
    <p:embeddedFont>
      <p:font typeface="SUIT Medium" pitchFamily="50" charset="-127"/>
      <p:regular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BC77A59-FFCA-42F0-964B-D807862F11F4}">
          <p14:sldIdLst>
            <p14:sldId id="631"/>
            <p14:sldId id="615"/>
            <p14:sldId id="263"/>
            <p14:sldId id="614"/>
            <p14:sldId id="622"/>
            <p14:sldId id="632"/>
            <p14:sldId id="619"/>
            <p14:sldId id="621"/>
            <p14:sldId id="620"/>
            <p14:sldId id="652"/>
            <p14:sldId id="611"/>
            <p14:sldId id="302"/>
            <p14:sldId id="589"/>
            <p14:sldId id="590"/>
            <p14:sldId id="592"/>
            <p14:sldId id="593"/>
            <p14:sldId id="548"/>
            <p14:sldId id="262"/>
            <p14:sldId id="639"/>
            <p14:sldId id="640"/>
            <p14:sldId id="623"/>
            <p14:sldId id="597"/>
            <p14:sldId id="260"/>
            <p14:sldId id="646"/>
            <p14:sldId id="258"/>
            <p14:sldId id="259"/>
            <p14:sldId id="624"/>
            <p14:sldId id="649"/>
            <p14:sldId id="266"/>
            <p14:sldId id="651"/>
            <p14:sldId id="617"/>
            <p14:sldId id="626"/>
            <p14:sldId id="627"/>
            <p14:sldId id="261"/>
            <p14:sldId id="628"/>
            <p14:sldId id="629"/>
            <p14:sldId id="630"/>
            <p14:sldId id="264"/>
          </p14:sldIdLst>
        </p14:section>
        <p14:section name="백업" id="{9497C601-61BC-4BB6-8B90-1C1EEF22BD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E59"/>
    <a:srgbClr val="E6FFFA"/>
    <a:srgbClr val="2DD4BF"/>
    <a:srgbClr val="FFFFFF"/>
    <a:srgbClr val="3B82F6"/>
    <a:srgbClr val="A47FF8"/>
    <a:srgbClr val="059669"/>
    <a:srgbClr val="E2E8F0"/>
    <a:srgbClr val="F8FAFC"/>
    <a:srgbClr val="38B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8" autoAdjust="0"/>
    <p:restoredTop sz="92000" autoAdjust="0"/>
  </p:normalViewPr>
  <p:slideViewPr>
    <p:cSldViewPr snapToGrid="0" snapToObjects="1">
      <p:cViewPr varScale="1">
        <p:scale>
          <a:sx n="306" d="100"/>
          <a:sy n="306" d="100"/>
        </p:scale>
        <p:origin x="768" y="22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 snapToObjects="1">
      <p:cViewPr varScale="1">
        <p:scale>
          <a:sx n="105" d="100"/>
          <a:sy n="105" d="100"/>
        </p:scale>
        <p:origin x="323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1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B236-7459-97A9-13BE-32C5CC8A2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E1B2DE-6D2F-64BE-8798-FED6B543D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6A6CEC-55F7-A9B4-ADD6-07A6AD1DA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43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D6C4-7047-401B-F233-318A0596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F1AD25-B4DA-C631-8022-15A7BDF89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1EA9F9-3181-80FC-3C0C-D96E331E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3497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901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7F7F-E20D-6EB0-9B08-2DF87F2F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806287-58FF-AFC9-CE7C-C28ACBF3D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8E1978-5A6C-C40F-C257-2FBEC44F6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505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BD35-96F9-43C2-D54A-7D17DED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261069-95AD-16FC-D527-6A5F976D3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A7F009-CAF3-28B9-E513-92DA4B268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85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7645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A074-8718-E25F-3701-4C5E6742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A3EA6C-FECE-27A2-8DC6-3E88D0A45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721724-80F0-521A-7F8A-F29B7E5C7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2982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12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D683E42-8E67-BCE1-D8BB-66A00EDD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257E917-557E-36F6-AAC6-08D33FE4C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22E46DB-6F8B-540A-7F55-C819A5D05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174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20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C4F3-4A5C-DB5E-9517-3B27CF31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5F99E-6073-9EF4-947F-BE850538F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EDD645-0C60-54AF-4B29-C3E886476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4352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4012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EEC5-057B-BC12-4C1F-A1B47A56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FFDCF4-CD9B-FACF-64C5-FBFB539C8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6E4289-AA72-9736-D551-6FD15CE22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2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DACB-27F4-0D3C-4AB4-C0D2C2C7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AF22E3-0116-086E-0F16-E14E68E27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15255A-2401-CB97-67F3-28C44E280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795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595E-A35A-CE25-691F-8FDE288E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1CC58E-67AA-9261-AE8A-B21530961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A49D5-D68E-737D-D652-9344A511D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617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9958-C0CF-A49C-D66F-A672259C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9CF183-6CC2-EEB1-B06E-96C0A1E1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518AD0-77F4-923C-1E28-64295B341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21247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0757-DC51-9C73-03F3-A1AA8355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CADBE5-49F1-3A45-6019-8A6D3E4EE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0A7635-EEF1-B936-9788-90EF8825F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37884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6280" y="878840"/>
            <a:ext cx="5486400" cy="5486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0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Intelligence with Data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C5F9CE5-D3E3-C132-4F80-52DBB46DB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9455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_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6A0A6276-21C3-2000-9C1A-39AAAD74B03B}"/>
              </a:ext>
            </a:extLst>
          </p:cNvPr>
          <p:cNvSpPr/>
          <p:nvPr userDrawn="1"/>
        </p:nvSpPr>
        <p:spPr>
          <a:xfrm>
            <a:off x="0" y="563349"/>
            <a:ext cx="9144000" cy="4580151"/>
          </a:xfrm>
          <a:prstGeom prst="roundRect">
            <a:avLst>
              <a:gd name="adj" fmla="val 2742"/>
            </a:avLst>
          </a:prstGeom>
          <a:solidFill>
            <a:srgbClr val="F2F6F9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" name="Shape 0"/>
          <p:cNvSpPr/>
          <p:nvPr/>
        </p:nvSpPr>
        <p:spPr>
          <a:xfrm>
            <a:off x="457200" y="331740"/>
            <a:ext cx="73152" cy="73152"/>
          </a:xfrm>
          <a:prstGeom prst="rect">
            <a:avLst/>
          </a:prstGeom>
          <a:solidFill>
            <a:srgbClr val="41C0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77" y="558794"/>
            <a:ext cx="9135446" cy="603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3A75850F-4756-DC69-BE42-B0C98B04C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1692"/>
            <a:ext cx="5364480" cy="312613"/>
          </a:xfrm>
          <a:prstGeom prst="rect">
            <a:avLst/>
          </a:prstGeom>
        </p:spPr>
        <p:txBody>
          <a:bodyPr/>
          <a:lstStyle>
            <a:lvl1pPr algn="l">
              <a:defRPr lang="ko-KR" altLang="en-US" sz="1400" b="1" kern="1200" dirty="0">
                <a:solidFill>
                  <a:srgbClr val="0F2847"/>
                </a:solidFill>
                <a:latin typeface="SUIT" pitchFamily="34" charset="0"/>
                <a:ea typeface="SUIT" pitchFamily="34" charset="-122"/>
                <a:cs typeface="SUIT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FA2D5E77-EEE6-2CDB-35E3-2B285004D8D5}"/>
              </a:ext>
            </a:extLst>
          </p:cNvPr>
          <p:cNvSpPr/>
          <p:nvPr userDrawn="1"/>
        </p:nvSpPr>
        <p:spPr>
          <a:xfrm>
            <a:off x="7988744" y="4883132"/>
            <a:ext cx="95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800" dirty="0"/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03E80073-E54F-071D-2D18-BC7CF1A36F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5142" y="4920881"/>
            <a:ext cx="504058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sp>
        <p:nvSpPr>
          <p:cNvPr id="3" name="텍스트 개체 틀 17">
            <a:extLst>
              <a:ext uri="{FF2B5EF4-FFF2-40B4-BE49-F238E27FC236}">
                <a16:creationId xmlns:a16="http://schemas.microsoft.com/office/drawing/2014/main" id="{81850AFF-C58A-A24E-D270-F5E0BB8A55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9455" y="279127"/>
            <a:ext cx="2606040" cy="213970"/>
          </a:xfrm>
          <a:prstGeom prst="rect">
            <a:avLst/>
          </a:prstGeom>
        </p:spPr>
        <p:txBody>
          <a:bodyPr/>
          <a:lstStyle>
            <a:lvl1pPr algn="r">
              <a:buNone/>
              <a:defRPr lang="ko-KR" altLang="en-US" sz="8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  <a:cs typeface="SUIT" pitchFamily="34" charset="-120"/>
              </a:defRPr>
            </a:lvl1pPr>
          </a:lstStyle>
          <a:p>
            <a:pPr lvl="0"/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01. </a:t>
            </a:r>
            <a:r>
              <a:rPr lang="ko-KR" altLang="en-US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목차 번호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454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-182880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0B0112E5-79DC-7331-C4E8-A389E2EBE9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896421"/>
            <a:ext cx="91440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8029" tIns="48154" rIns="0" bIns="48154" anchor="ctr"/>
          <a:lstStyle>
            <a:lvl1pPr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SUIT" pitchFamily="34" charset="0"/>
                <a:ea typeface="SUIT" pitchFamily="50" charset="-127"/>
              </a:defRPr>
            </a:lvl9pPr>
          </a:lstStyle>
          <a:p>
            <a:pPr marL="0" indent="0" algn="ctr" defTabSz="914400" rtl="0" eaLnBrk="1" fontAlgn="ctr" latinLnBrk="0" hangingPunct="1">
              <a:buNone/>
              <a:defRPr/>
            </a:pPr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- </a:t>
            </a:r>
            <a:fld id="{4CF79DA2-5DDD-44EB-84CD-9A94F91A19E4}" type="slidenum">
              <a:rPr lang="en-US" altLang="ko-KR" sz="900" kern="1200" smtClean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pPr marL="0" indent="0" algn="ctr" defTabSz="914400" rtl="0" eaLnBrk="1" fontAlgn="ctr" latinLnBrk="0" hangingPunct="1">
                <a:buNone/>
                <a:defRPr/>
              </a:pPr>
              <a:t>‹#›</a:t>
            </a:fld>
            <a:r>
              <a:rPr lang="en-US" altLang="ko-KR" sz="900" kern="1200" dirty="0">
                <a:solidFill>
                  <a:srgbClr val="94A3B8"/>
                </a:solidFill>
                <a:latin typeface="SUIT" pitchFamily="34" charset="0"/>
                <a:ea typeface="SUIT" pitchFamily="34" charset="-122"/>
              </a:rPr>
              <a:t> -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F0A8928-BBE5-C2CC-38DB-B76C983E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146" y="337871"/>
            <a:ext cx="783908" cy="2020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-171450"/>
            <a:ext cx="54864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7E085E-AB14-1C2D-C3DF-5708543B97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146" y="337871"/>
            <a:ext cx="783908" cy="20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1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nnermate/cover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2296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SAILINGSTONE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64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 Co., Ltd. All Rights Reserved.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83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68" r:id="rId3"/>
    <p:sldLayoutId id="2147483669" r:id="rId4"/>
    <p:sldLayoutId id="2147483671" r:id="rId5"/>
    <p:sldLayoutId id="2147483672" r:id="rId6"/>
    <p:sldLayoutId id="2147483673" r:id="rId7"/>
    <p:sldLayoutId id="2147483675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SUIT"/>
          <a:ea typeface="SUIT"/>
          <a:cs typeface="SUIT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UIT"/>
          <a:ea typeface="SUIT"/>
          <a:cs typeface="SUIT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UIT"/>
          <a:ea typeface="SUIT"/>
          <a:cs typeface="SUIT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UIT"/>
          <a:ea typeface="SUIT"/>
          <a:cs typeface="SUIT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UIT"/>
          <a:ea typeface="SUIT"/>
          <a:cs typeface="SUIT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UIT"/>
          <a:ea typeface="SUIT"/>
          <a:cs typeface="SUIT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SUIT"/>
          <a:ea typeface="SUIT"/>
          <a:cs typeface="SUI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SUIT"/>
          <a:ea typeface="SUIT"/>
          <a:cs typeface="SUI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blob:https://5dv0huzr40eo7jjobjcoep7xyewjy8049vto81mpbw1iek3dyw-h933114957.scf.usercontent.goog/990ae339-fcb5-4055-a597-2b8a8e2abcc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5.svg"/><Relationship Id="rId3" Type="http://schemas.openxmlformats.org/officeDocument/2006/relationships/image" Target="../media/image21.png"/><Relationship Id="rId7" Type="http://schemas.openxmlformats.org/officeDocument/2006/relationships/image" Target="../media/image31.svg"/><Relationship Id="rId12" Type="http://schemas.openxmlformats.org/officeDocument/2006/relationships/image" Target="../media/image34.svg"/><Relationship Id="rId17" Type="http://schemas.openxmlformats.org/officeDocument/2006/relationships/image" Target="../media/image39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11" Type="http://schemas.openxmlformats.org/officeDocument/2006/relationships/image" Target="../media/image26.svg"/><Relationship Id="rId5" Type="http://schemas.openxmlformats.org/officeDocument/2006/relationships/image" Target="../media/image29.png"/><Relationship Id="rId15" Type="http://schemas.openxmlformats.org/officeDocument/2006/relationships/image" Target="../media/image37.svg"/><Relationship Id="rId10" Type="http://schemas.openxmlformats.org/officeDocument/2006/relationships/image" Target="../media/image25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svg"/><Relationship Id="rId18" Type="http://schemas.openxmlformats.org/officeDocument/2006/relationships/image" Target="../media/image55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17" Type="http://schemas.openxmlformats.org/officeDocument/2006/relationships/image" Target="../media/image54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3.sv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sv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10" Type="http://schemas.openxmlformats.org/officeDocument/2006/relationships/image" Target="../media/image47.svg"/><Relationship Id="rId19" Type="http://schemas.openxmlformats.org/officeDocument/2006/relationships/image" Target="../media/image56.svg"/><Relationship Id="rId4" Type="http://schemas.openxmlformats.org/officeDocument/2006/relationships/image" Target="../media/image41.svg"/><Relationship Id="rId9" Type="http://schemas.openxmlformats.org/officeDocument/2006/relationships/image" Target="../media/image46.svg"/><Relationship Id="rId14" Type="http://schemas.openxmlformats.org/officeDocument/2006/relationships/image" Target="../media/image51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svg"/><Relationship Id="rId18" Type="http://schemas.openxmlformats.org/officeDocument/2006/relationships/image" Target="../media/image70.svg"/><Relationship Id="rId26" Type="http://schemas.openxmlformats.org/officeDocument/2006/relationships/image" Target="../media/image78.svg"/><Relationship Id="rId3" Type="http://schemas.openxmlformats.org/officeDocument/2006/relationships/image" Target="../media/image38.svg"/><Relationship Id="rId21" Type="http://schemas.openxmlformats.org/officeDocument/2006/relationships/image" Target="../media/image73.svg"/><Relationship Id="rId7" Type="http://schemas.openxmlformats.org/officeDocument/2006/relationships/image" Target="../media/image60.svg"/><Relationship Id="rId12" Type="http://schemas.openxmlformats.org/officeDocument/2006/relationships/image" Target="../media/image65.svg"/><Relationship Id="rId17" Type="http://schemas.openxmlformats.org/officeDocument/2006/relationships/image" Target="../media/image69.svg"/><Relationship Id="rId25" Type="http://schemas.openxmlformats.org/officeDocument/2006/relationships/image" Target="../media/image77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8.svg"/><Relationship Id="rId20" Type="http://schemas.openxmlformats.org/officeDocument/2006/relationships/image" Target="../media/image7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svg"/><Relationship Id="rId11" Type="http://schemas.openxmlformats.org/officeDocument/2006/relationships/image" Target="../media/image64.svg"/><Relationship Id="rId24" Type="http://schemas.openxmlformats.org/officeDocument/2006/relationships/image" Target="../media/image76.svg"/><Relationship Id="rId5" Type="http://schemas.openxmlformats.org/officeDocument/2006/relationships/image" Target="../media/image39.svg"/><Relationship Id="rId15" Type="http://schemas.openxmlformats.org/officeDocument/2006/relationships/image" Target="../media/image55.svg"/><Relationship Id="rId23" Type="http://schemas.openxmlformats.org/officeDocument/2006/relationships/image" Target="../media/image75.svg"/><Relationship Id="rId10" Type="http://schemas.openxmlformats.org/officeDocument/2006/relationships/image" Target="../media/image63.svg"/><Relationship Id="rId19" Type="http://schemas.openxmlformats.org/officeDocument/2006/relationships/image" Target="../media/image71.svg"/><Relationship Id="rId4" Type="http://schemas.openxmlformats.org/officeDocument/2006/relationships/image" Target="../media/image58.svg"/><Relationship Id="rId9" Type="http://schemas.openxmlformats.org/officeDocument/2006/relationships/image" Target="../media/image62.svg"/><Relationship Id="rId14" Type="http://schemas.openxmlformats.org/officeDocument/2006/relationships/image" Target="../media/image67.svg"/><Relationship Id="rId22" Type="http://schemas.openxmlformats.org/officeDocument/2006/relationships/image" Target="../media/image74.svg"/><Relationship Id="rId27" Type="http://schemas.openxmlformats.org/officeDocument/2006/relationships/image" Target="../media/image7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svg"/><Relationship Id="rId18" Type="http://schemas.openxmlformats.org/officeDocument/2006/relationships/image" Target="../media/image95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svg"/><Relationship Id="rId17" Type="http://schemas.openxmlformats.org/officeDocument/2006/relationships/image" Target="../media/image94.png"/><Relationship Id="rId2" Type="http://schemas.openxmlformats.org/officeDocument/2006/relationships/image" Target="../media/image80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11" Type="http://schemas.openxmlformats.org/officeDocument/2006/relationships/image" Target="../media/image89.svg"/><Relationship Id="rId5" Type="http://schemas.openxmlformats.org/officeDocument/2006/relationships/image" Target="../media/image83.png"/><Relationship Id="rId15" Type="http://schemas.openxmlformats.org/officeDocument/2006/relationships/image" Target="../media/image4.png"/><Relationship Id="rId10" Type="http://schemas.openxmlformats.org/officeDocument/2006/relationships/image" Target="../media/image88.svg"/><Relationship Id="rId19" Type="http://schemas.openxmlformats.org/officeDocument/2006/relationships/image" Target="../media/image96.svg"/><Relationship Id="rId4" Type="http://schemas.openxmlformats.org/officeDocument/2006/relationships/image" Target="../media/image82.png"/><Relationship Id="rId9" Type="http://schemas.openxmlformats.org/officeDocument/2006/relationships/image" Target="../media/image87.svg"/><Relationship Id="rId14" Type="http://schemas.openxmlformats.org/officeDocument/2006/relationships/image" Target="../media/image9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1.svg"/><Relationship Id="rId5" Type="http://schemas.openxmlformats.org/officeDocument/2006/relationships/image" Target="../media/image100.svg"/><Relationship Id="rId4" Type="http://schemas.openxmlformats.org/officeDocument/2006/relationships/image" Target="../media/image99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3.svg"/><Relationship Id="rId3" Type="http://schemas.openxmlformats.org/officeDocument/2006/relationships/image" Target="../media/image103.png"/><Relationship Id="rId7" Type="http://schemas.openxmlformats.org/officeDocument/2006/relationships/image" Target="../media/image107.svg"/><Relationship Id="rId12" Type="http://schemas.openxmlformats.org/officeDocument/2006/relationships/image" Target="../media/image112.svg"/><Relationship Id="rId17" Type="http://schemas.openxmlformats.org/officeDocument/2006/relationships/image" Target="../media/image117.png"/><Relationship Id="rId2" Type="http://schemas.openxmlformats.org/officeDocument/2006/relationships/image" Target="../media/image102.png"/><Relationship Id="rId16" Type="http://schemas.openxmlformats.org/officeDocument/2006/relationships/image" Target="../media/image116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svg"/><Relationship Id="rId11" Type="http://schemas.openxmlformats.org/officeDocument/2006/relationships/image" Target="../media/image111.svg"/><Relationship Id="rId5" Type="http://schemas.openxmlformats.org/officeDocument/2006/relationships/image" Target="../media/image105.png"/><Relationship Id="rId15" Type="http://schemas.openxmlformats.org/officeDocument/2006/relationships/image" Target="../media/image115.svg"/><Relationship Id="rId10" Type="http://schemas.openxmlformats.org/officeDocument/2006/relationships/image" Target="../media/image110.svg"/><Relationship Id="rId4" Type="http://schemas.openxmlformats.org/officeDocument/2006/relationships/image" Target="../media/image104.png"/><Relationship Id="rId9" Type="http://schemas.openxmlformats.org/officeDocument/2006/relationships/image" Target="../media/image109.svg"/><Relationship Id="rId14" Type="http://schemas.openxmlformats.org/officeDocument/2006/relationships/image" Target="../media/image114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svg"/><Relationship Id="rId3" Type="http://schemas.openxmlformats.org/officeDocument/2006/relationships/image" Target="../media/image123.svg"/><Relationship Id="rId7" Type="http://schemas.openxmlformats.org/officeDocument/2006/relationships/image" Target="../media/image12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6.svg"/><Relationship Id="rId5" Type="http://schemas.openxmlformats.org/officeDocument/2006/relationships/image" Target="../media/image125.svg"/><Relationship Id="rId4" Type="http://schemas.openxmlformats.org/officeDocument/2006/relationships/image" Target="../media/image124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svg"/><Relationship Id="rId13" Type="http://schemas.openxmlformats.org/officeDocument/2006/relationships/image" Target="../media/image138.svg"/><Relationship Id="rId3" Type="http://schemas.openxmlformats.org/officeDocument/2006/relationships/image" Target="../media/image129.svg"/><Relationship Id="rId7" Type="http://schemas.openxmlformats.org/officeDocument/2006/relationships/image" Target="../media/image133.svg"/><Relationship Id="rId12" Type="http://schemas.openxmlformats.org/officeDocument/2006/relationships/image" Target="../media/image12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2.svg"/><Relationship Id="rId11" Type="http://schemas.openxmlformats.org/officeDocument/2006/relationships/image" Target="../media/image137.svg"/><Relationship Id="rId5" Type="http://schemas.openxmlformats.org/officeDocument/2006/relationships/image" Target="../media/image131.svg"/><Relationship Id="rId10" Type="http://schemas.openxmlformats.org/officeDocument/2006/relationships/image" Target="../media/image136.svg"/><Relationship Id="rId4" Type="http://schemas.openxmlformats.org/officeDocument/2006/relationships/image" Target="../media/image130.svg"/><Relationship Id="rId9" Type="http://schemas.openxmlformats.org/officeDocument/2006/relationships/image" Target="../media/image135.svg"/><Relationship Id="rId14" Type="http://schemas.openxmlformats.org/officeDocument/2006/relationships/image" Target="../media/image124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svg"/><Relationship Id="rId3" Type="http://schemas.openxmlformats.org/officeDocument/2006/relationships/image" Target="../media/image139.svg"/><Relationship Id="rId7" Type="http://schemas.openxmlformats.org/officeDocument/2006/relationships/image" Target="../media/image143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2.svg"/><Relationship Id="rId5" Type="http://schemas.openxmlformats.org/officeDocument/2006/relationships/image" Target="../media/image141.svg"/><Relationship Id="rId4" Type="http://schemas.openxmlformats.org/officeDocument/2006/relationships/image" Target="../media/image140.svg"/><Relationship Id="rId9" Type="http://schemas.openxmlformats.org/officeDocument/2006/relationships/image" Target="../media/image145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44500"/>
            <a:ext cx="3053080" cy="27432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 w="6350">
            <a:solidFill>
              <a:srgbClr val="41C0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44500"/>
            <a:ext cx="305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6E5E7"/>
                </a:solidFill>
                <a:latin typeface="Arial" panose="020B0604020202020204" pitchFamily="34" charset="0"/>
                <a:ea typeface="SUIT" pitchFamily="34" charset="-122"/>
                <a:cs typeface="Arial" panose="020B0604020202020204" pitchFamily="34" charset="0"/>
              </a:rPr>
              <a:t>Corporate Introduction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90269"/>
            <a:ext cx="5669280" cy="2036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비즈니스 바다로의 항해</a:t>
            </a:r>
            <a:r>
              <a:rPr lang="en-US" altLang="ko-KR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,</a:t>
            </a:r>
            <a:endParaRPr lang="en-US" altLang="ko-KR" sz="3600" dirty="0"/>
          </a:p>
          <a:p>
            <a:r>
              <a:rPr lang="ko-KR" altLang="en-US" sz="3600" b="1" kern="0" spc="-1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데이터</a:t>
            </a:r>
            <a:r>
              <a:rPr lang="ko-KR" altLang="en-US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로 길을 만듭니다</a:t>
            </a:r>
            <a:r>
              <a:rPr lang="en-US" altLang="ko-KR" sz="36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.</a:t>
            </a:r>
          </a:p>
          <a:p>
            <a:r>
              <a:rPr lang="en-US" altLang="ko-KR" sz="1200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 </a:t>
            </a:r>
          </a:p>
          <a:p>
            <a:r>
              <a:rPr lang="en-US" altLang="ko-KR" b="1" kern="0" spc="-100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Make data smarter, Make decisions </a:t>
            </a:r>
            <a:r>
              <a:rPr lang="en-US" altLang="ko-KR" b="1" kern="0" spc="-1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faster.</a:t>
            </a:r>
            <a:endParaRPr lang="en-US" altLang="ko-KR" sz="3800" dirty="0"/>
          </a:p>
        </p:txBody>
      </p:sp>
      <p:sp>
        <p:nvSpPr>
          <p:cNvPr id="5" name="Text 3"/>
          <p:cNvSpPr/>
          <p:nvPr/>
        </p:nvSpPr>
        <p:spPr>
          <a:xfrm>
            <a:off x="480060" y="3021977"/>
            <a:ext cx="5166360" cy="91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데이터 분석(BI)과 AI</a:t>
            </a:r>
            <a:r>
              <a:rPr lang="ko-KR" altLang="en-US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에 관련된 모든 기술의</a:t>
            </a:r>
          </a:p>
          <a:p>
            <a:pPr marL="0" indent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토탈 솔루션을 제공하는 전문 </a:t>
            </a:r>
            <a:r>
              <a:rPr lang="en-US" altLang="ko-KR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IT </a:t>
            </a:r>
            <a:r>
              <a:rPr lang="ko-KR" altLang="en-US" sz="1400" dirty="0">
                <a:solidFill>
                  <a:schemeClr val="bg1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회사 </a:t>
            </a:r>
            <a:endParaRPr lang="en-US" altLang="ko-KR" sz="1400" dirty="0">
              <a:solidFill>
                <a:schemeClr val="bg1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 marL="0" indent="0">
              <a:buNone/>
            </a:pPr>
            <a:endParaRPr lang="en-US" altLang="ko-KR" sz="1400" dirty="0">
              <a:solidFill>
                <a:schemeClr val="bg1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 marL="0" indent="0">
              <a:buNone/>
            </a:pPr>
            <a:r>
              <a:rPr lang="ko-KR" altLang="en-US" sz="3600" dirty="0" err="1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세일링스톤</a:t>
            </a:r>
            <a:endParaRPr lang="ko-KR" altLang="en-US" sz="3600" dirty="0">
              <a:solidFill>
                <a:srgbClr val="96E5E7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 · BI · ANALYTICS</a:t>
            </a:r>
            <a:r>
              <a:rPr lang="en-US" sz="900" dirty="0">
                <a:solidFill>
                  <a:srgbClr val="4A556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    |     </a:t>
            </a:r>
            <a:r>
              <a:rPr lang="en-US" sz="900" dirty="0">
                <a:solidFill>
                  <a:srgbClr val="6B728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© 2026 SAILINGSTONE</a:t>
            </a:r>
            <a:endParaRPr lang="en-US" sz="9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743CAA-C6F9-4061-7C76-2478ED559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7736" r="59841" b="-1"/>
          <a:stretch>
            <a:fillRect/>
          </a:stretch>
        </p:blipFill>
        <p:spPr>
          <a:xfrm>
            <a:off x="6785432" y="2926727"/>
            <a:ext cx="1230808" cy="1326414"/>
          </a:xfrm>
          <a:prstGeom prst="rect">
            <a:avLst/>
          </a:prstGeom>
          <a:effectLst>
            <a:outerShdw blurRad="127000" dist="38100" dir="2700000" algn="t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384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6980-30A7-7A6B-0BDA-0A059E8D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8DE337A-7EEE-04A7-82C7-1DA0A0274DA8}"/>
              </a:ext>
            </a:extLst>
          </p:cNvPr>
          <p:cNvSpPr/>
          <p:nvPr/>
        </p:nvSpPr>
        <p:spPr>
          <a:xfrm>
            <a:off x="4483608" y="0"/>
            <a:ext cx="466039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1D0E77-876C-10E4-F481-8DA9A6D26150}"/>
              </a:ext>
            </a:extLst>
          </p:cNvPr>
          <p:cNvSpPr/>
          <p:nvPr/>
        </p:nvSpPr>
        <p:spPr>
          <a:xfrm>
            <a:off x="4483608" y="0"/>
            <a:ext cx="13716" cy="5143500"/>
          </a:xfrm>
          <a:prstGeom prst="rect">
            <a:avLst/>
          </a:prstGeom>
          <a:solidFill>
            <a:srgbClr val="41C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FA4C6D-4CA0-53DD-1FFF-3EF6A56537AC}"/>
              </a:ext>
            </a:extLst>
          </p:cNvPr>
          <p:cNvSpPr txBox="1"/>
          <p:nvPr/>
        </p:nvSpPr>
        <p:spPr>
          <a:xfrm>
            <a:off x="558800" y="246888"/>
            <a:ext cx="1407849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sz="1400" dirty="0">
                <a:solidFill>
                  <a:srgbClr val="41C0C2"/>
                </a:solidFill>
                <a:latin typeface="SUIT ExtraBold" pitchFamily="50" charset="-127"/>
                <a:ea typeface="SUIT ExtraBold" pitchFamily="50" charset="-127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85562-17D2-1242-1EC2-093DEF2A102A}"/>
              </a:ext>
            </a:extLst>
          </p:cNvPr>
          <p:cNvSpPr txBox="1"/>
          <p:nvPr/>
        </p:nvSpPr>
        <p:spPr>
          <a:xfrm>
            <a:off x="4783003" y="825671"/>
            <a:ext cx="4235991" cy="1470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SAILING STONE,</a:t>
            </a:r>
            <a:endParaRPr lang="en-US" altLang="ko-KR" dirty="0">
              <a:solidFill>
                <a:schemeClr val="bg1"/>
              </a:solidFill>
              <a:effectLst/>
              <a:latin typeface="SUIT Medium" pitchFamily="2" charset="-127"/>
              <a:ea typeface="SUIT Medium" pitchFamily="2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effectLst/>
                <a:latin typeface="SUIT Medium" pitchFamily="2" charset="-127"/>
                <a:ea typeface="SUIT Medium" pitchFamily="2" charset="-127"/>
              </a:rPr>
              <a:t>데이터 바다로의 항해</a:t>
            </a:r>
            <a:r>
              <a:rPr lang="en-US" altLang="ko-KR" dirty="0">
                <a:solidFill>
                  <a:schemeClr val="bg1"/>
                </a:solidFill>
                <a:effectLst/>
                <a:latin typeface="SUIT Medium" pitchFamily="2" charset="-127"/>
                <a:ea typeface="SUIT Medium" pitchFamily="2" charset="-127"/>
              </a:rPr>
              <a:t>.</a:t>
            </a:r>
            <a:endParaRPr lang="en-US" altLang="ko-KR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  <a:p>
            <a:endParaRPr lang="en-US" altLang="ko-KR" dirty="0">
              <a:solidFill>
                <a:schemeClr val="bg1"/>
              </a:solidFill>
              <a:effectLst/>
              <a:latin typeface="SUIT Medium" pitchFamily="2" charset="-127"/>
              <a:ea typeface="SUIT Medium" pitchFamily="2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SUIT ExtraBold" pitchFamily="2" charset="-127"/>
                <a:ea typeface="SUIT ExtraBold" pitchFamily="2" charset="-127"/>
              </a:rPr>
              <a:t>신뢰</a:t>
            </a:r>
            <a:r>
              <a:rPr lang="ko-KR" altLang="en-US" b="1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와 </a:t>
            </a:r>
            <a:r>
              <a:rPr lang="ko-KR" altLang="en-US" dirty="0">
                <a:solidFill>
                  <a:schemeClr val="bg1"/>
                </a:solidFill>
                <a:latin typeface="SUIT ExtraBold" pitchFamily="2" charset="-127"/>
                <a:ea typeface="SUIT ExtraBold" pitchFamily="2" charset="-127"/>
              </a:rPr>
              <a:t>혁신</a:t>
            </a:r>
            <a:r>
              <a:rPr lang="ko-KR" altLang="en-US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으로 </a:t>
            </a:r>
            <a:r>
              <a:rPr lang="ko-KR" altLang="en-US" b="1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고객의 성공</a:t>
            </a:r>
            <a:r>
              <a:rPr lang="ko-KR" altLang="en-US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을</a:t>
            </a:r>
            <a:endParaRPr lang="en-US" altLang="ko-KR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만들어 드립니다</a:t>
            </a:r>
            <a:r>
              <a:rPr lang="en-US" altLang="ko-KR" dirty="0">
                <a:solidFill>
                  <a:schemeClr val="bg1"/>
                </a:solidFill>
                <a:latin typeface="SUIT Medium" pitchFamily="2" charset="-127"/>
                <a:ea typeface="SUIT Medium" pitchFamily="2" charset="-127"/>
              </a:rPr>
              <a:t>.</a:t>
            </a:r>
            <a:endParaRPr lang="ko-KR" altLang="en-US" dirty="0">
              <a:solidFill>
                <a:schemeClr val="bg1"/>
              </a:solidFill>
              <a:latin typeface="SUIT Medium" pitchFamily="2" charset="-127"/>
              <a:ea typeface="SUIT Medium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7AE5C2-59D9-5EE1-6590-9B42E679E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302" y="578843"/>
            <a:ext cx="256596" cy="199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65C030-1AEC-D4A2-0229-405E7E9ACA5C}"/>
              </a:ext>
            </a:extLst>
          </p:cNvPr>
          <p:cNvSpPr txBox="1"/>
          <p:nvPr/>
        </p:nvSpPr>
        <p:spPr>
          <a:xfrm>
            <a:off x="256032" y="7680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01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88922C7-6DD1-0B94-E77E-1122BAC98372}"/>
              </a:ext>
            </a:extLst>
          </p:cNvPr>
          <p:cNvSpPr/>
          <p:nvPr/>
        </p:nvSpPr>
        <p:spPr>
          <a:xfrm>
            <a:off x="1133856" y="822959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9F333-2E52-5BBE-68CB-6910718B5826}"/>
              </a:ext>
            </a:extLst>
          </p:cNvPr>
          <p:cNvSpPr txBox="1"/>
          <p:nvPr/>
        </p:nvSpPr>
        <p:spPr>
          <a:xfrm>
            <a:off x="1243584" y="804672"/>
            <a:ext cx="3108960" cy="24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500" b="1" dirty="0">
                <a:solidFill>
                  <a:srgbClr val="0F172A"/>
                </a:solidFill>
                <a:latin typeface="SUIT ExtraBold"/>
              </a:rPr>
              <a:t>회사 소개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9CE37-5999-8E3A-73D7-9C0F805A2BE8}"/>
              </a:ext>
            </a:extLst>
          </p:cNvPr>
          <p:cNvSpPr txBox="1"/>
          <p:nvPr/>
        </p:nvSpPr>
        <p:spPr>
          <a:xfrm>
            <a:off x="1243584" y="1115568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Who We Are</a:t>
            </a:r>
            <a:endParaRPr sz="850" b="0" dirty="0">
              <a:solidFill>
                <a:srgbClr val="0D9488"/>
              </a:solidFill>
              <a:latin typeface="SUIT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863F88-302E-2C0F-6F8F-D88FF2A21829}"/>
              </a:ext>
            </a:extLst>
          </p:cNvPr>
          <p:cNvSpPr txBox="1"/>
          <p:nvPr/>
        </p:nvSpPr>
        <p:spPr>
          <a:xfrm>
            <a:off x="1243584" y="1335024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기업 개요 · 핵심 역량 · 성장 지표 · 조직 · 레퍼런스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9EAF66-C9D2-EF49-1C64-9CA031F8F73C}"/>
              </a:ext>
            </a:extLst>
          </p:cNvPr>
          <p:cNvSpPr txBox="1"/>
          <p:nvPr/>
        </p:nvSpPr>
        <p:spPr>
          <a:xfrm>
            <a:off x="256032" y="1900975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02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63A2738-1B12-2009-AB05-E5A897F60C62}"/>
              </a:ext>
            </a:extLst>
          </p:cNvPr>
          <p:cNvSpPr/>
          <p:nvPr/>
        </p:nvSpPr>
        <p:spPr>
          <a:xfrm>
            <a:off x="1133856" y="1955838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50436A-32B6-E1A2-F67F-E0820F2BA2D9}"/>
              </a:ext>
            </a:extLst>
          </p:cNvPr>
          <p:cNvSpPr txBox="1"/>
          <p:nvPr/>
        </p:nvSpPr>
        <p:spPr>
          <a:xfrm>
            <a:off x="1243584" y="1937551"/>
            <a:ext cx="3108960" cy="23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dirty="0"/>
              <a:t>제품 및 서비스</a:t>
            </a:r>
            <a:endParaRPr lang="ko-KR" altLang="en-US" sz="14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40B868-2405-1137-10D5-2E05C8A1CA08}"/>
              </a:ext>
            </a:extLst>
          </p:cNvPr>
          <p:cNvSpPr txBox="1"/>
          <p:nvPr/>
        </p:nvSpPr>
        <p:spPr>
          <a:xfrm>
            <a:off x="1243584" y="2248447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850" dirty="0">
                <a:solidFill>
                  <a:srgbClr val="0D9488"/>
                </a:solidFill>
                <a:latin typeface="SUIT Light"/>
              </a:rPr>
              <a:t>Product &amp; Service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80B3F5-5C77-CD8D-EA49-0CEB578739EC}"/>
              </a:ext>
            </a:extLst>
          </p:cNvPr>
          <p:cNvSpPr txBox="1"/>
          <p:nvPr/>
        </p:nvSpPr>
        <p:spPr>
          <a:xfrm>
            <a:off x="1243584" y="2467903"/>
            <a:ext cx="3108960" cy="140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800" b="0" dirty="0">
                <a:solidFill>
                  <a:srgbClr val="64748B"/>
                </a:solidFill>
                <a:latin typeface="SUIT Light"/>
              </a:rPr>
              <a:t>aisight · Apps · Insight Mate · Tableau · bibidi 연말정산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2A38A1-69DF-4ED8-3A57-41AA40B70192}"/>
              </a:ext>
            </a:extLst>
          </p:cNvPr>
          <p:cNvSpPr txBox="1"/>
          <p:nvPr/>
        </p:nvSpPr>
        <p:spPr>
          <a:xfrm>
            <a:off x="256032" y="3051163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03</a:t>
            </a: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7F801807-8692-9DF8-9FB8-C6DB3BD3C83A}"/>
              </a:ext>
            </a:extLst>
          </p:cNvPr>
          <p:cNvSpPr/>
          <p:nvPr/>
        </p:nvSpPr>
        <p:spPr>
          <a:xfrm>
            <a:off x="1133856" y="3106027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875042-3779-533B-0985-AB17FCD41D65}"/>
              </a:ext>
            </a:extLst>
          </p:cNvPr>
          <p:cNvSpPr txBox="1"/>
          <p:nvPr/>
        </p:nvSpPr>
        <p:spPr>
          <a:xfrm>
            <a:off x="1243584" y="3087739"/>
            <a:ext cx="3108960" cy="263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600" b="1" dirty="0">
                <a:solidFill>
                  <a:srgbClr val="0F172A"/>
                </a:solidFill>
                <a:latin typeface="SUIT ExtraBold"/>
              </a:rPr>
              <a:t>사례 및 예시</a:t>
            </a:r>
            <a:endParaRPr sz="1500" b="1" dirty="0">
              <a:solidFill>
                <a:srgbClr val="0F172A"/>
              </a:solidFill>
              <a:latin typeface="SUIT ExtraBold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0721C4-EDC5-B19D-A7E5-3EE1F77EBB96}"/>
              </a:ext>
            </a:extLst>
          </p:cNvPr>
          <p:cNvSpPr txBox="1"/>
          <p:nvPr/>
        </p:nvSpPr>
        <p:spPr>
          <a:xfrm>
            <a:off x="1243584" y="3398635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Use Cases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B7B100-4A14-E90E-68D1-87424B4E22BA}"/>
              </a:ext>
            </a:extLst>
          </p:cNvPr>
          <p:cNvSpPr txBox="1"/>
          <p:nvPr/>
        </p:nvSpPr>
        <p:spPr>
          <a:xfrm>
            <a:off x="1243584" y="3618091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구축 사례 · 현장 적용 예시 · 도입 절차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0E8243-CB27-7F28-3703-165A1FE530B0}"/>
              </a:ext>
            </a:extLst>
          </p:cNvPr>
          <p:cNvSpPr txBox="1"/>
          <p:nvPr/>
        </p:nvSpPr>
        <p:spPr>
          <a:xfrm>
            <a:off x="256032" y="411806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B5AB"/>
                </a:solidFill>
                <a:latin typeface="SUIT ExtraBold"/>
              </a:rPr>
              <a:t>04</a:t>
            </a:r>
          </a:p>
        </p:txBody>
      </p:sp>
      <p:sp>
        <p:nvSpPr>
          <p:cNvPr id="75" name="Rectangle 19">
            <a:extLst>
              <a:ext uri="{FF2B5EF4-FFF2-40B4-BE49-F238E27FC236}">
                <a16:creationId xmlns:a16="http://schemas.microsoft.com/office/drawing/2014/main" id="{F46BF50A-E8E4-DFF6-D34C-2E9E26D8C901}"/>
              </a:ext>
            </a:extLst>
          </p:cNvPr>
          <p:cNvSpPr/>
          <p:nvPr/>
        </p:nvSpPr>
        <p:spPr>
          <a:xfrm>
            <a:off x="1133856" y="4172932"/>
            <a:ext cx="27432" cy="932688"/>
          </a:xfrm>
          <a:prstGeom prst="rect">
            <a:avLst/>
          </a:prstGeom>
          <a:solidFill>
            <a:srgbClr val="E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E6D4D5-CCCE-52DF-B78C-426B28E6B0B4}"/>
              </a:ext>
            </a:extLst>
          </p:cNvPr>
          <p:cNvSpPr txBox="1"/>
          <p:nvPr/>
        </p:nvSpPr>
        <p:spPr>
          <a:xfrm>
            <a:off x="1243584" y="4154644"/>
            <a:ext cx="3108960" cy="263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600" dirty="0"/>
              <a:t>Appendix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0798DD-2E28-BC70-10FC-7824D46AD73F}"/>
              </a:ext>
            </a:extLst>
          </p:cNvPr>
          <p:cNvSpPr txBox="1"/>
          <p:nvPr/>
        </p:nvSpPr>
        <p:spPr>
          <a:xfrm>
            <a:off x="1243584" y="4465540"/>
            <a:ext cx="3108960" cy="140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b="0" dirty="0">
                <a:solidFill>
                  <a:srgbClr val="0D9488"/>
                </a:solidFill>
                <a:latin typeface="SUIT Light"/>
              </a:rPr>
              <a:t>Appendix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CD4B05-DD02-76FF-EF01-E0D4882CB29C}"/>
              </a:ext>
            </a:extLst>
          </p:cNvPr>
          <p:cNvSpPr txBox="1"/>
          <p:nvPr/>
        </p:nvSpPr>
        <p:spPr>
          <a:xfrm>
            <a:off x="1243584" y="4684996"/>
            <a:ext cx="3108960" cy="141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800" b="0" dirty="0">
                <a:solidFill>
                  <a:srgbClr val="64748B"/>
                </a:solidFill>
                <a:latin typeface="SUIT Light"/>
              </a:rPr>
              <a:t>인증 · 특허 · 신용 및 기술 평가</a:t>
            </a:r>
            <a:endParaRPr sz="800" b="0" dirty="0">
              <a:solidFill>
                <a:srgbClr val="64748B"/>
              </a:solidFill>
              <a:latin typeface="SUIT Light"/>
            </a:endParaRPr>
          </a:p>
        </p:txBody>
      </p:sp>
      <p:pic>
        <p:nvPicPr>
          <p:cNvPr id="83" name="Image 0" descr="/home/claude/innermate/cover_glow.png">
            <a:extLst>
              <a:ext uri="{FF2B5EF4-FFF2-40B4-BE49-F238E27FC236}">
                <a16:creationId xmlns:a16="http://schemas.microsoft.com/office/drawing/2014/main" id="{EC30A47C-2E0A-D370-E619-755A370FBB6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733544" y="908914"/>
            <a:ext cx="4240173" cy="4240173"/>
          </a:xfrm>
          <a:prstGeom prst="rect">
            <a:avLst/>
          </a:prstGeom>
        </p:spPr>
      </p:pic>
      <p:sp>
        <p:nvSpPr>
          <p:cNvPr id="85" name="Text 1">
            <a:extLst>
              <a:ext uri="{FF2B5EF4-FFF2-40B4-BE49-F238E27FC236}">
                <a16:creationId xmlns:a16="http://schemas.microsoft.com/office/drawing/2014/main" id="{BB90FD7C-73D2-6B29-C221-6F71F704BDE2}"/>
              </a:ext>
            </a:extLst>
          </p:cNvPr>
          <p:cNvSpPr/>
          <p:nvPr/>
        </p:nvSpPr>
        <p:spPr>
          <a:xfrm>
            <a:off x="6217920" y="101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Intelligence with Data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3431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01.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회사 소개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Who We 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0C68-9B34-65BD-2FC9-D83D36FD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4">
            <a:extLst>
              <a:ext uri="{FF2B5EF4-FFF2-40B4-BE49-F238E27FC236}">
                <a16:creationId xmlns:a16="http://schemas.microsoft.com/office/drawing/2014/main" id="{EA85C76A-A635-BEA7-FE39-B133A11CDA4A}"/>
              </a:ext>
            </a:extLst>
          </p:cNvPr>
          <p:cNvSpPr/>
          <p:nvPr/>
        </p:nvSpPr>
        <p:spPr>
          <a:xfrm>
            <a:off x="0" y="569241"/>
            <a:ext cx="9144000" cy="1497684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08AE0A8F-B7BE-648F-03D3-ED082965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 err="1">
                <a:latin typeface="SUIT ExtraBold" pitchFamily="2" charset="-127"/>
                <a:ea typeface="SUIT ExtraBold" pitchFamily="2" charset="-127"/>
              </a:rPr>
              <a:t>세일링스톤</a:t>
            </a:r>
            <a:r>
              <a:rPr lang="ko-KR" altLang="ko-KR" b="0" dirty="0">
                <a:latin typeface="SUIT ExtraBold" pitchFamily="2" charset="-127"/>
                <a:ea typeface="SUIT ExtraBold" pitchFamily="2" charset="-127"/>
              </a:rPr>
              <a:t> 기업 개요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CEF4838-6A1A-4598-B601-9FDBAFA61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A9040CC-AD80-1170-0F9B-054BDCBC6577}"/>
              </a:ext>
            </a:extLst>
          </p:cNvPr>
          <p:cNvSpPr txBox="1"/>
          <p:nvPr/>
        </p:nvSpPr>
        <p:spPr>
          <a:xfrm>
            <a:off x="370135" y="744111"/>
            <a:ext cx="7954716" cy="1091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lang="ko-KR" altLang="ko-KR" sz="1100" dirty="0" err="1">
                <a:solidFill>
                  <a:srgbClr val="0D9488"/>
                </a:solidFill>
                <a:latin typeface="+mn-ea"/>
              </a:rPr>
              <a:t>세일링스톤</a:t>
            </a:r>
            <a:r>
              <a:rPr lang="ko-KR" altLang="ko-KR" sz="1100" b="0" i="0" dirty="0" err="1">
                <a:solidFill>
                  <a:srgbClr val="333333"/>
                </a:solidFill>
                <a:effectLst/>
                <a:latin typeface="+mn-ea"/>
              </a:rPr>
              <a:t>은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 데이터 분석(BI)과 </a:t>
            </a:r>
            <a:r>
              <a:rPr lang="ko-KR" altLang="ko-KR" sz="1100" b="0" i="0" dirty="0" err="1">
                <a:solidFill>
                  <a:srgbClr val="333333"/>
                </a:solidFill>
                <a:effectLst/>
                <a:latin typeface="+mn-ea"/>
              </a:rPr>
              <a:t>AI에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 관련된 모든 기술에 대한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1100" b="0" i="0" dirty="0">
                <a:solidFill>
                  <a:srgbClr val="0D9488"/>
                </a:solidFill>
                <a:effectLst/>
                <a:latin typeface="+mn-ea"/>
              </a:rPr>
              <a:t>토탈 솔루션을 제공하는 전문 IT </a:t>
            </a:r>
            <a:r>
              <a:rPr lang="ko-KR" altLang="ko-KR" sz="1100" b="1" dirty="0">
                <a:solidFill>
                  <a:srgbClr val="0D9488"/>
                </a:solidFill>
                <a:latin typeface="+mn-ea"/>
              </a:rPr>
              <a:t>회사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입니다.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비즈니스 요건에 충족하는 IT 지원 및 기술 서비스에 대하여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1100" dirty="0">
                <a:solidFill>
                  <a:srgbClr val="0D9488"/>
                </a:solidFill>
                <a:latin typeface="+mn-ea"/>
              </a:rPr>
              <a:t>가장 적합하고 합리적인 접근 방식</a:t>
            </a:r>
            <a:r>
              <a:rPr lang="ko-KR" altLang="ko-KR" sz="1100" dirty="0">
                <a:solidFill>
                  <a:srgbClr val="333333"/>
                </a:solidFill>
                <a:latin typeface="+mn-ea"/>
              </a:rPr>
              <a:t>으로</a:t>
            </a:r>
            <a:r>
              <a:rPr lang="ko-KR" altLang="ko-KR" sz="1100" dirty="0">
                <a:solidFill>
                  <a:srgbClr val="0D9488"/>
                </a:solidFill>
                <a:latin typeface="+mn-ea"/>
              </a:rPr>
              <a:t> </a:t>
            </a: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제공합니다.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또한 외부 공신력 있는 기관으로부터 </a:t>
            </a:r>
            <a:r>
              <a:rPr lang="ko-KR" altLang="ko-KR" sz="1100" dirty="0">
                <a:solidFill>
                  <a:srgbClr val="0D9488"/>
                </a:solidFill>
                <a:latin typeface="+mn-ea"/>
              </a:rPr>
              <a:t>기업신용등급 및 기술신용평가를 획득하며</a:t>
            </a:r>
            <a:b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</a:br>
            <a:r>
              <a:rPr lang="ko-KR" altLang="ko-KR" sz="1100" b="0" i="0" dirty="0">
                <a:solidFill>
                  <a:srgbClr val="333333"/>
                </a:solidFill>
                <a:effectLst/>
                <a:latin typeface="+mn-ea"/>
              </a:rPr>
              <a:t>재무 안정성과 기술 경쟁력을 객관적으로 검증 받았습니다.</a:t>
            </a:r>
          </a:p>
        </p:txBody>
      </p:sp>
      <p:sp>
        <p:nvSpPr>
          <p:cNvPr id="8" name="모서리가 둥근 직사각형 46">
            <a:extLst>
              <a:ext uri="{FF2B5EF4-FFF2-40B4-BE49-F238E27FC236}">
                <a16:creationId xmlns:a16="http://schemas.microsoft.com/office/drawing/2014/main" id="{CF703F58-39D7-2384-02B3-A06128AFCD83}"/>
              </a:ext>
            </a:extLst>
          </p:cNvPr>
          <p:cNvSpPr/>
          <p:nvPr/>
        </p:nvSpPr>
        <p:spPr>
          <a:xfrm>
            <a:off x="6565900" y="1543987"/>
            <a:ext cx="2230679" cy="378278"/>
          </a:xfrm>
          <a:prstGeom prst="roundRect">
            <a:avLst>
              <a:gd name="adj" fmla="val 13483"/>
            </a:avLst>
          </a:prstGeom>
          <a:solidFill>
            <a:schemeClr val="bg1">
              <a:alpha val="70000"/>
            </a:schemeClr>
          </a:solidFill>
          <a:ln w="3175" cap="flat" cmpd="sng" algn="ctr">
            <a:solidFill>
              <a:srgbClr val="BFBFB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1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UIT Medium"/>
              <a:ea typeface="SUIT Medium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629C2E9-B953-EB5F-733E-9848365F5FFE}"/>
              </a:ext>
            </a:extLst>
          </p:cNvPr>
          <p:cNvGrpSpPr/>
          <p:nvPr/>
        </p:nvGrpSpPr>
        <p:grpSpPr>
          <a:xfrm>
            <a:off x="6639380" y="1609363"/>
            <a:ext cx="2112732" cy="247131"/>
            <a:chOff x="10279113" y="1857827"/>
            <a:chExt cx="2803318" cy="327910"/>
          </a:xfrm>
        </p:grpSpPr>
        <p:pic>
          <p:nvPicPr>
            <p:cNvPr id="12" name="그림 11" descr="그래픽, 폰트, 로고, 원이(가) 표시된 사진&#10;&#10;자동 생성된 설명">
              <a:extLst>
                <a:ext uri="{FF2B5EF4-FFF2-40B4-BE49-F238E27FC236}">
                  <a16:creationId xmlns:a16="http://schemas.microsoft.com/office/drawing/2014/main" id="{72F53395-DAD6-FE9C-E488-78B1752D2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79113" y="1857827"/>
              <a:ext cx="469429" cy="3279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F8B89A-E59D-325C-85E8-3C28CA9654CD}"/>
                </a:ext>
              </a:extLst>
            </p:cNvPr>
            <p:cNvSpPr txBox="1"/>
            <p:nvPr/>
          </p:nvSpPr>
          <p:spPr>
            <a:xfrm>
              <a:off x="10708206" y="1861997"/>
              <a:ext cx="2374225" cy="306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10"/>
              <a:r>
                <a:rPr lang="ko-KR" altLang="ko-KR" sz="900" b="0" i="0" dirty="0" err="1">
                  <a:solidFill>
                    <a:srgbClr val="1A202C"/>
                  </a:solidFill>
                  <a:effectLst/>
                  <a:latin typeface="+mn-ea"/>
                </a:rPr>
                <a:t>Salesforce</a:t>
              </a:r>
              <a:r>
                <a:rPr lang="ko-KR" altLang="ko-KR" sz="900" b="0" i="0" dirty="0">
                  <a:solidFill>
                    <a:srgbClr val="1A202C"/>
                  </a:solidFill>
                  <a:effectLst/>
                  <a:latin typeface="+mn-ea"/>
                </a:rPr>
                <a:t> </a:t>
              </a:r>
              <a:r>
                <a:rPr lang="ko-KR" altLang="ko-KR" sz="900" b="0" i="0" dirty="0" err="1">
                  <a:solidFill>
                    <a:srgbClr val="1A202C"/>
                  </a:solidFill>
                  <a:effectLst/>
                  <a:latin typeface="+mn-ea"/>
                </a:rPr>
                <a:t>Consulting</a:t>
              </a:r>
              <a:r>
                <a:rPr lang="ko-KR" altLang="ko-KR" sz="900" b="0" i="0" dirty="0">
                  <a:solidFill>
                    <a:srgbClr val="1A202C"/>
                  </a:solidFill>
                  <a:effectLst/>
                  <a:latin typeface="+mn-ea"/>
                </a:rPr>
                <a:t> </a:t>
              </a:r>
              <a:r>
                <a:rPr lang="ko-KR" altLang="ko-KR" sz="900" b="0" i="0" dirty="0" err="1">
                  <a:solidFill>
                    <a:srgbClr val="1A202C"/>
                  </a:solidFill>
                  <a:effectLst/>
                  <a:latin typeface="+mn-ea"/>
                </a:rPr>
                <a:t>Partner</a:t>
              </a:r>
              <a:endParaRPr kumimoji="1" lang="ko-Kore-KR" altLang="en-US" sz="900" dirty="0">
                <a:solidFill>
                  <a:srgbClr val="0E1E3C"/>
                </a:solidFill>
                <a:latin typeface="+mn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530561A-E005-6FDE-BC1F-53171475B3A9}"/>
              </a:ext>
            </a:extLst>
          </p:cNvPr>
          <p:cNvGrpSpPr/>
          <p:nvPr/>
        </p:nvGrpSpPr>
        <p:grpSpPr>
          <a:xfrm>
            <a:off x="365716" y="2258060"/>
            <a:ext cx="4120558" cy="2595881"/>
            <a:chOff x="365716" y="2258060"/>
            <a:chExt cx="4206284" cy="2595881"/>
          </a:xfrm>
        </p:grpSpPr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710B86D9-9BBC-0C47-E9D1-B6C7946B521A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99597306-2F7B-4419-BEB3-D7D89CAABA02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21297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53E84CA-C0B5-4F51-70BE-575876323A4C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E57C790-EC08-D868-C3CE-883D512DCAE8}"/>
              </a:ext>
            </a:extLst>
          </p:cNvPr>
          <p:cNvSpPr txBox="1"/>
          <p:nvPr/>
        </p:nvSpPr>
        <p:spPr>
          <a:xfrm>
            <a:off x="434295" y="2284100"/>
            <a:ext cx="32995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1. 일반 현황</a:t>
            </a:r>
            <a:endParaRPr lang="ko-KR" altLang="en-US" sz="10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2282D15-8301-5CA0-33C5-C159A5954B06}"/>
              </a:ext>
            </a:extLst>
          </p:cNvPr>
          <p:cNvGrpSpPr/>
          <p:nvPr/>
        </p:nvGrpSpPr>
        <p:grpSpPr>
          <a:xfrm>
            <a:off x="4711586" y="2267586"/>
            <a:ext cx="4120559" cy="2595881"/>
            <a:chOff x="365716" y="2258060"/>
            <a:chExt cx="4206285" cy="2595881"/>
          </a:xfrm>
        </p:grpSpPr>
        <p:sp>
          <p:nvSpPr>
            <p:cNvPr id="39" name="Shape 4">
              <a:extLst>
                <a:ext uri="{FF2B5EF4-FFF2-40B4-BE49-F238E27FC236}">
                  <a16:creationId xmlns:a16="http://schemas.microsoft.com/office/drawing/2014/main" id="{E7CED650-92E0-5AAF-0DDD-EEC960793E23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C85FB2D2-A971-14E9-9CF5-1463652962B7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21297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CE07E29-4CEE-1DE4-5C4E-BB73133526A1}"/>
                </a:ext>
              </a:extLst>
            </p:cNvPr>
            <p:cNvSpPr/>
            <p:nvPr/>
          </p:nvSpPr>
          <p:spPr>
            <a:xfrm>
              <a:off x="365717" y="2486026"/>
              <a:ext cx="4206284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4E01884-AAF4-141E-1294-C02EB5EC14D1}"/>
              </a:ext>
            </a:extLst>
          </p:cNvPr>
          <p:cNvSpPr txBox="1"/>
          <p:nvPr/>
        </p:nvSpPr>
        <p:spPr>
          <a:xfrm>
            <a:off x="4780165" y="2293626"/>
            <a:ext cx="32995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2. </a:t>
            </a:r>
            <a:r>
              <a:rPr lang="ko-KR" altLang="en-US" sz="1050" dirty="0">
                <a:solidFill>
                  <a:srgbClr val="FFFFFF"/>
                </a:solidFill>
                <a:latin typeface="SUIT ExtraBold" pitchFamily="50" charset="-127"/>
                <a:ea typeface="SUIT ExtraBold" pitchFamily="50" charset="-127"/>
              </a:rPr>
              <a:t>주요 사업 분야</a:t>
            </a:r>
            <a:endParaRPr lang="ko-KR" altLang="en-US" sz="10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E1E718-24C8-98FB-A09B-0F86CA1218E4}"/>
              </a:ext>
            </a:extLst>
          </p:cNvPr>
          <p:cNvSpPr txBox="1"/>
          <p:nvPr/>
        </p:nvSpPr>
        <p:spPr>
          <a:xfrm>
            <a:off x="434295" y="2646732"/>
            <a:ext cx="909683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대표이사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회사명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설립일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자본금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매출액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임직원 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본사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38B2AC"/>
                </a:solidFill>
                <a:effectLst/>
                <a:latin typeface="+mn-ea"/>
              </a:rPr>
              <a:t>홈페이지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4E9705-E445-C4AB-4FA3-22C0E950DB40}"/>
              </a:ext>
            </a:extLst>
          </p:cNvPr>
          <p:cNvSpPr txBox="1"/>
          <p:nvPr/>
        </p:nvSpPr>
        <p:spPr>
          <a:xfrm>
            <a:off x="1343978" y="2646732"/>
            <a:ext cx="3142296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강동석, </a:t>
            </a:r>
            <a:r>
              <a:rPr lang="ko-KR" altLang="ko-KR" sz="1050" b="0" i="0" dirty="0" err="1">
                <a:solidFill>
                  <a:srgbClr val="2D3748"/>
                </a:solidFill>
                <a:effectLst/>
                <a:latin typeface="+mn-ea"/>
              </a:rPr>
              <a:t>김봉군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 err="1">
                <a:solidFill>
                  <a:srgbClr val="2D3748"/>
                </a:solidFill>
                <a:effectLst/>
                <a:latin typeface="+mn-ea"/>
              </a:rPr>
              <a:t>세일링스톤</a:t>
            </a: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 주식회사</a:t>
            </a:r>
            <a:endParaRPr lang="en-US" altLang="ko-KR" sz="1050" b="0" i="0" dirty="0">
              <a:solidFill>
                <a:srgbClr val="2D3748"/>
              </a:solidFill>
              <a:effectLst/>
              <a:latin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2019. 04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5천 만원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93 억 원 (2025. 12 기준)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82명 (2026. 09 기준)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dirty="0">
                <a:solidFill>
                  <a:srgbClr val="2D3748"/>
                </a:solidFill>
                <a:effectLst/>
                <a:latin typeface="+mn-ea"/>
              </a:rPr>
              <a:t>서울특별시 강서구 마곡중앙5로 22 9층 </a:t>
            </a:r>
            <a:r>
              <a:rPr lang="ko-KR" altLang="ko-KR" sz="1050" b="0" i="0" dirty="0" err="1">
                <a:solidFill>
                  <a:srgbClr val="2D3748"/>
                </a:solidFill>
                <a:effectLst/>
                <a:latin typeface="+mn-ea"/>
              </a:rPr>
              <a:t>South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ko-KR" sz="1050" b="0" i="0" u="sng" dirty="0">
                <a:solidFill>
                  <a:srgbClr val="38B2AC"/>
                </a:solidFill>
                <a:effectLst/>
                <a:latin typeface="+mn-ea"/>
                <a:hlinkClick r:id="rId4"/>
              </a:rPr>
              <a:t>www.sailingstone.io</a:t>
            </a:r>
            <a:endParaRPr lang="ko-KR" altLang="ko-KR" sz="1050" b="0" i="0" dirty="0">
              <a:solidFill>
                <a:srgbClr val="2D3748"/>
              </a:solidFill>
              <a:effectLst/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5652EC-65EA-5288-DB8B-C6CCB6E478A7}"/>
              </a:ext>
            </a:extLst>
          </p:cNvPr>
          <p:cNvSpPr txBox="1"/>
          <p:nvPr/>
        </p:nvSpPr>
        <p:spPr>
          <a:xfrm>
            <a:off x="4793965" y="2591721"/>
            <a:ext cx="3751489" cy="220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차세대 AI 통합 BI 아키텍처 (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aisight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설계 및 구축)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지능형 데이터 탐색 및 심층 분석 (Data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Analytics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AI 신뢰성 및 거버넌스 제어 (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aisight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Ops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기반 품질 관리)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모던 데이터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레이크하우스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 (AI 분석 최적화 인프라 구축)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엔터프라이즈 통합 분석 포털 (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aisight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</a:t>
            </a: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Work Space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개발)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 err="1">
                <a:solidFill>
                  <a:srgbClr val="2D3748"/>
                </a:solidFill>
                <a:effectLst/>
                <a:latin typeface="+mn-ea"/>
              </a:rPr>
              <a:t>Tableau</a:t>
            </a: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 기반 데이터 시각화 (대시보드 구축 및 전문 교육)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지능형 데이터 파이프라인 연계 및 RPA 자동화</a:t>
            </a:r>
          </a:p>
          <a:p>
            <a:pPr marL="92075" indent="-92075" algn="l">
              <a:lnSpc>
                <a:spcPct val="172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ko-KR" altLang="ko-KR" sz="1000" b="0" i="0" dirty="0">
                <a:solidFill>
                  <a:srgbClr val="2D3748"/>
                </a:solidFill>
                <a:effectLst/>
                <a:latin typeface="+mn-ea"/>
              </a:rPr>
              <a:t>연말정산 프로그램 bibidi (세무 전문 그룹 더홍시와 합작)</a:t>
            </a:r>
          </a:p>
        </p:txBody>
      </p:sp>
    </p:spTree>
    <p:extLst>
      <p:ext uri="{BB962C8B-B14F-4D97-AF65-F5344CB8AC3E}">
        <p14:creationId xmlns:p14="http://schemas.microsoft.com/office/powerpoint/2010/main" val="185730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9E4E-D848-26A1-8B23-D73F5184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1B617C79-620D-C9E6-544D-11785E8D9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핵심 역량, </a:t>
            </a:r>
            <a:r>
              <a:rPr lang="ko-KR" altLang="ko-KR" b="0" i="0" dirty="0">
                <a:solidFill>
                  <a:schemeClr val="tx1"/>
                </a:solidFill>
                <a:effectLst/>
                <a:latin typeface="SUIT" pitchFamily="2" charset="-127"/>
                <a:ea typeface="SUIT" pitchFamily="2" charset="-127"/>
              </a:rPr>
              <a:t>주요 사업 영역</a:t>
            </a:r>
            <a:endParaRPr lang="en-US" altLang="ko-KR" b="0" dirty="0">
              <a:solidFill>
                <a:schemeClr val="tx1"/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FCE48447-E274-A154-4280-E655E454A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8" name="그래픽 10">
            <a:extLst>
              <a:ext uri="{FF2B5EF4-FFF2-40B4-BE49-F238E27FC236}">
                <a16:creationId xmlns:a16="http://schemas.microsoft.com/office/drawing/2014/main" id="{9D12973A-178D-D8D7-EAE4-2ED4722D15FA}"/>
              </a:ext>
            </a:extLst>
          </p:cNvPr>
          <p:cNvSpPr/>
          <p:nvPr/>
        </p:nvSpPr>
        <p:spPr>
          <a:xfrm>
            <a:off x="5259204" y="1165896"/>
            <a:ext cx="3687241" cy="1749949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635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그래픽 8">
            <a:extLst>
              <a:ext uri="{FF2B5EF4-FFF2-40B4-BE49-F238E27FC236}">
                <a16:creationId xmlns:a16="http://schemas.microsoft.com/office/drawing/2014/main" id="{62247277-83C9-CC03-6B81-E352E3FCC593}"/>
              </a:ext>
            </a:extLst>
          </p:cNvPr>
          <p:cNvSpPr/>
          <p:nvPr/>
        </p:nvSpPr>
        <p:spPr>
          <a:xfrm>
            <a:off x="200015" y="1165896"/>
            <a:ext cx="4907855" cy="3652838"/>
          </a:xfrm>
          <a:prstGeom prst="roundRect">
            <a:avLst>
              <a:gd name="adj" fmla="val 4166"/>
            </a:avLst>
          </a:prstGeom>
          <a:gradFill>
            <a:gsLst>
              <a:gs pos="0">
                <a:srgbClr val="0B1120"/>
              </a:gs>
              <a:gs pos="50000">
                <a:srgbClr val="101B2D"/>
              </a:gs>
              <a:gs pos="100000">
                <a:srgbClr val="16263A"/>
              </a:gs>
            </a:gsLst>
            <a:lin ang="2700000" scaled="1"/>
          </a:gradFill>
          <a:ln w="754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그래픽 6">
            <a:extLst>
              <a:ext uri="{FF2B5EF4-FFF2-40B4-BE49-F238E27FC236}">
                <a16:creationId xmlns:a16="http://schemas.microsoft.com/office/drawing/2014/main" id="{6E3B2078-13DA-0A6C-B82F-9C478D8A6858}"/>
              </a:ext>
            </a:extLst>
          </p:cNvPr>
          <p:cNvSpPr/>
          <p:nvPr/>
        </p:nvSpPr>
        <p:spPr>
          <a:xfrm>
            <a:off x="5259204" y="3037285"/>
            <a:ext cx="3689985" cy="1730649"/>
          </a:xfrm>
          <a:prstGeom prst="roundRect">
            <a:avLst>
              <a:gd name="adj" fmla="val 8771"/>
            </a:avLst>
          </a:prstGeom>
          <a:solidFill>
            <a:srgbClr val="F0FDF4"/>
          </a:solidFill>
          <a:ln w="9525" cap="flat">
            <a:solidFill>
              <a:srgbClr val="A7F3D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26F8B94C-600C-806B-023D-6C3B691E2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9850" y="2320714"/>
            <a:ext cx="2498020" cy="249802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B97D0448-6E05-8300-1F27-7A25A35A3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031"/>
          <a:stretch>
            <a:fillRect/>
          </a:stretch>
        </p:blipFill>
        <p:spPr>
          <a:xfrm>
            <a:off x="7957201" y="1879555"/>
            <a:ext cx="906352" cy="10362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BD30582-38FF-CC3E-C0FC-66F5663C8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9657" y="3509107"/>
            <a:ext cx="1250095" cy="125009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9074DA9-416B-A134-2E03-80E56AD53525}"/>
              </a:ext>
            </a:extLst>
          </p:cNvPr>
          <p:cNvSpPr txBox="1"/>
          <p:nvPr/>
        </p:nvSpPr>
        <p:spPr>
          <a:xfrm>
            <a:off x="352984" y="1603041"/>
            <a:ext cx="2952191" cy="64584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엔터프라이즈 </a:t>
            </a:r>
            <a:r>
              <a:rPr lang="ko-KR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BI &amp;</a:t>
            </a:r>
            <a:br>
              <a:rPr lang="ko-KR" altLang="ko-KR" sz="2000" dirty="0"/>
            </a:br>
            <a:r>
              <a:rPr lang="ko-KR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ko-KR" sz="2000" b="1" i="0" dirty="0" err="1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 솔루션 구축</a:t>
            </a:r>
            <a:endParaRPr lang="ko-KR" sz="20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7510DB-A12D-519E-E780-6BEF638C1251}"/>
              </a:ext>
            </a:extLst>
          </p:cNvPr>
          <p:cNvSpPr txBox="1"/>
          <p:nvPr/>
        </p:nvSpPr>
        <p:spPr>
          <a:xfrm>
            <a:off x="352984" y="1372433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0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CORE BUSINESS 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261041-6E1A-D41F-4F45-8C5870EEC6BE}"/>
              </a:ext>
            </a:extLst>
          </p:cNvPr>
          <p:cNvSpPr txBox="1"/>
          <p:nvPr/>
        </p:nvSpPr>
        <p:spPr>
          <a:xfrm>
            <a:off x="352984" y="2296707"/>
            <a:ext cx="3104591" cy="385518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고객사의 니즈를 완벽히 반영한 맞춤형 지능화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분석 시스템</a:t>
            </a: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과</a:t>
            </a:r>
            <a:br>
              <a:rPr lang="ko-KR" altLang="ko-KR" sz="1000" dirty="0"/>
            </a:b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강력한 AI 에이전트 솔루션을 제공합니다.</a:t>
            </a:r>
            <a:endParaRPr lang="ko-KR" altLang="en-US" sz="10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75A9EE-FE02-0962-EFFC-97D30B307E55}"/>
              </a:ext>
            </a:extLst>
          </p:cNvPr>
          <p:cNvSpPr txBox="1"/>
          <p:nvPr/>
        </p:nvSpPr>
        <p:spPr>
          <a:xfrm>
            <a:off x="294037" y="3011815"/>
            <a:ext cx="3629286" cy="1451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1100" dirty="0">
                <a:solidFill>
                  <a:srgbClr val="E2E8F0"/>
                </a:solidFill>
                <a:latin typeface="SUIT" pitchFamily="2" charset="-127"/>
                <a:ea typeface="SUIT" pitchFamily="2" charset="-127"/>
              </a:rPr>
              <a:t>시스템</a:t>
            </a: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 구축 및 운영 고도화</a:t>
            </a:r>
            <a:endParaRPr lang="en-US" altLang="ko-KR" sz="110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algn="l" latinLnBrk="0">
              <a:lnSpc>
                <a:spcPct val="130000"/>
              </a:lnSpc>
              <a:buClr>
                <a:srgbClr val="115E59"/>
              </a:buClr>
              <a:tabLst>
                <a:tab pos="265113" algn="l"/>
              </a:tabLst>
            </a:pPr>
            <a:r>
              <a:rPr lang="ko-KR" altLang="ko-KR" sz="110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aisight Work Space</a:t>
            </a:r>
            <a:r>
              <a:rPr lang="ko-KR" altLang="ko-KR" sz="110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솔루션 적용</a:t>
            </a:r>
            <a:endParaRPr lang="en-US" altLang="ko-KR" sz="110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tabLst>
                <a:tab pos="265113" algn="l"/>
              </a:tabLst>
            </a:pPr>
            <a:r>
              <a:rPr lang="en-US" altLang="ko-KR" sz="600" dirty="0">
                <a:solidFill>
                  <a:srgbClr val="94A3B8"/>
                </a:solidFill>
                <a:latin typeface="SUIT" pitchFamily="2" charset="-127"/>
                <a:ea typeface="SUIT" pitchFamily="2" charset="-127"/>
              </a:rPr>
              <a:t> </a:t>
            </a:r>
            <a:endParaRPr lang="ko-KR" altLang="ko-KR" sz="60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LLM 기반 AI 에이전트 개발</a:t>
            </a:r>
            <a:endParaRPr lang="en-US" altLang="ko-KR" sz="110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110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aisight Agent + Ops</a:t>
            </a:r>
            <a:r>
              <a:rPr lang="ko-KR" altLang="ko-KR" sz="110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결합 아키텍처</a:t>
            </a:r>
            <a:endParaRPr lang="en-US" altLang="ko-KR" sz="1100" i="0" dirty="0">
              <a:solidFill>
                <a:srgbClr val="94A3B8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>
              <a:lnSpc>
                <a:spcPct val="130000"/>
              </a:lnSpc>
              <a:buClr>
                <a:srgbClr val="115E59"/>
              </a:buClr>
              <a:tabLst>
                <a:tab pos="265113" algn="l"/>
              </a:tabLst>
            </a:pPr>
            <a:r>
              <a:rPr lang="en-US" altLang="ko-KR" sz="600" dirty="0">
                <a:solidFill>
                  <a:srgbClr val="94A3B8"/>
                </a:solidFill>
                <a:latin typeface="SUIT" pitchFamily="2" charset="-127"/>
              </a:rPr>
              <a:t>    </a:t>
            </a:r>
            <a:endParaRPr lang="ko-KR" altLang="ko-KR" sz="600" dirty="0">
              <a:solidFill>
                <a:srgbClr val="E2E8F0"/>
              </a:solidFill>
              <a:latin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ko-KR" sz="1100" i="0" dirty="0">
                <a:solidFill>
                  <a:srgbClr val="E2E8F0"/>
                </a:solidFill>
                <a:effectLst/>
                <a:latin typeface="SUIT" pitchFamily="2" charset="-127"/>
                <a:ea typeface="SUIT" pitchFamily="2" charset="-127"/>
              </a:rPr>
              <a:t>업무 자동화 및 RPA 연동 체계 구축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D7E062-D6B1-A8F4-E7ED-A627FDCDD86D}"/>
              </a:ext>
            </a:extLst>
          </p:cNvPr>
          <p:cNvSpPr txBox="1"/>
          <p:nvPr/>
        </p:nvSpPr>
        <p:spPr>
          <a:xfrm>
            <a:off x="5425169" y="1556614"/>
            <a:ext cx="2952191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6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Tableau</a:t>
            </a:r>
            <a:r>
              <a:rPr lang="ko-KR" altLang="ko-KR" sz="16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/ BI </a:t>
            </a:r>
            <a:r>
              <a:rPr lang="ko-KR" altLang="ko-KR" sz="160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Consulting</a:t>
            </a:r>
            <a:endParaRPr lang="ko-KR" sz="16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33518A-69E2-909B-E49F-0AEA12904B98}"/>
              </a:ext>
            </a:extLst>
          </p:cNvPr>
          <p:cNvSpPr txBox="1"/>
          <p:nvPr/>
        </p:nvSpPr>
        <p:spPr>
          <a:xfrm>
            <a:off x="5425169" y="1326006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0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DATA FOUNDATION 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5C6BA9-A32B-3EAD-6851-3DADEC33CFD3}"/>
              </a:ext>
            </a:extLst>
          </p:cNvPr>
          <p:cNvSpPr txBox="1"/>
          <p:nvPr/>
        </p:nvSpPr>
        <p:spPr>
          <a:xfrm>
            <a:off x="5425169" y="3446394"/>
            <a:ext cx="2952191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6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BI Expertise Service</a:t>
            </a:r>
            <a:endParaRPr lang="ko-KR" sz="16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BACE07-CE94-086C-6633-BA16872E81D9}"/>
              </a:ext>
            </a:extLst>
          </p:cNvPr>
          <p:cNvSpPr txBox="1"/>
          <p:nvPr/>
        </p:nvSpPr>
        <p:spPr>
          <a:xfrm>
            <a:off x="5425169" y="3215786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0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EXPERT SUPPORT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2C53B5-7DD7-2DF0-4962-6DF39E4FAA7F}"/>
              </a:ext>
            </a:extLst>
          </p:cNvPr>
          <p:cNvSpPr txBox="1"/>
          <p:nvPr/>
        </p:nvSpPr>
        <p:spPr>
          <a:xfrm>
            <a:off x="5403192" y="1941682"/>
            <a:ext cx="2952191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Data Visualization (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데이터 시각화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)</a:t>
            </a:r>
            <a:endParaRPr lang="ko-KR" altLang="ko-KR" sz="1000" i="0" dirty="0">
              <a:effectLst/>
              <a:latin typeface="SUIT" pitchFamily="2" charset="-127"/>
              <a:ea typeface="SUIT" pitchFamily="2" charset="-127"/>
            </a:endParaRP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Data Analytics &amp; Integration (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분석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/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연계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)</a:t>
            </a: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Data Lakehouse &amp; Business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설계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7AE63B-8BD9-579C-5CDA-DCB208C97B81}"/>
              </a:ext>
            </a:extLst>
          </p:cNvPr>
          <p:cNvSpPr txBox="1"/>
          <p:nvPr/>
        </p:nvSpPr>
        <p:spPr>
          <a:xfrm>
            <a:off x="5403191" y="3857458"/>
            <a:ext cx="2952191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공식 자격증 전문가의 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1:1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맞춤형 지원</a:t>
            </a: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엔터프라이즈 표준 템플릿 가이드 제공</a:t>
            </a:r>
          </a:p>
          <a:p>
            <a:pPr marL="179388" indent="-179388" algn="l" latinLnBrk="0">
              <a:lnSpc>
                <a:spcPct val="130000"/>
              </a:lnSpc>
              <a:buClr>
                <a:srgbClr val="115E59"/>
              </a:buClr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지속적인 사용자 역량 강화 교육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F30A80-832D-1801-DBBD-925A483CEE29}"/>
              </a:ext>
            </a:extLst>
          </p:cNvPr>
          <p:cNvSpPr txBox="1"/>
          <p:nvPr/>
        </p:nvSpPr>
        <p:spPr>
          <a:xfrm>
            <a:off x="397120" y="743394"/>
            <a:ext cx="8229600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/>
            <a:r>
              <a:rPr lang="ko-KR" altLang="en-US" sz="1400" dirty="0">
                <a:ea typeface="SUIT ExtraBold" pitchFamily="50" charset="-127"/>
              </a:rPr>
              <a:t>비즈니스 바다로의 항해</a:t>
            </a:r>
            <a:r>
              <a:rPr lang="en-US" altLang="ko-KR" sz="1400" dirty="0">
                <a:ea typeface="SUIT ExtraBold" pitchFamily="50" charset="-127"/>
              </a:rPr>
              <a:t>,  </a:t>
            </a:r>
            <a:r>
              <a:rPr lang="ko-KR" altLang="en-US" sz="1400" dirty="0">
                <a:ea typeface="SUIT ExtraBold" pitchFamily="50" charset="-127"/>
              </a:rPr>
              <a:t>신뢰와 혁신으로 고객의 성공을 만들어 드립니다</a:t>
            </a:r>
            <a:r>
              <a:rPr lang="en-US" altLang="ko-KR" sz="1400" dirty="0">
                <a:ea typeface="SUIT ExtraBold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705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ED8C-231A-349C-599D-98763A90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F50C28ED-F92C-E380-ABC5-013FE8FC3F06}"/>
              </a:ext>
            </a:extLst>
          </p:cNvPr>
          <p:cNvSpPr/>
          <p:nvPr/>
        </p:nvSpPr>
        <p:spPr>
          <a:xfrm>
            <a:off x="0" y="569241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A113140E-0D7C-7BD3-70AF-42BB1D8D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  <a:sym typeface="SUIT"/>
              </a:rPr>
              <a:t>세일링스톤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 비즈니스 하이라이트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(Business Highlights)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F145338-3CA8-3050-0259-AECDEC4B7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4F9EAD1-DCA7-4C80-A4E7-CE5483497944}"/>
              </a:ext>
            </a:extLst>
          </p:cNvPr>
          <p:cNvSpPr txBox="1"/>
          <p:nvPr/>
        </p:nvSpPr>
        <p:spPr>
          <a:xfrm>
            <a:off x="256032" y="663495"/>
            <a:ext cx="8595360" cy="382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ko-KR" sz="1000" b="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세일링스톤은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일회성 시스템 구축에 안주하지 않고, 철저한 기술 검증과 데이터 기반의 신뢰 관계를 통해 시장에서 </a:t>
            </a:r>
            <a:r>
              <a:rPr lang="ko-KR" altLang="ko-KR" sz="1000" b="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우상향의 굳건한 지속 성장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을 증명하고 있습니다. </a:t>
            </a:r>
            <a:endParaRPr lang="en-US" altLang="ko-KR" sz="1000" b="0" i="0" dirty="0">
              <a:solidFill>
                <a:srgbClr val="1E293B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주요 </a:t>
            </a:r>
            <a:r>
              <a:rPr lang="ko-KR" altLang="ko-KR" sz="1000" b="0" i="0" dirty="0" err="1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대기업들과의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 밀착형 장기 파트너십을 바탕으로 안정적인 수익 다각화를 이루었으며, 검증된 정예 인프라 체계를 통해 비즈니스의 영속성을 확보해 나갑니다.</a:t>
            </a:r>
            <a:endParaRPr lang="ko-KR" altLang="en-US" sz="1000" dirty="0">
              <a:solidFill>
                <a:srgbClr val="64748B"/>
              </a:solidFill>
              <a:latin typeface="+mn-ea"/>
              <a:ea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1BAC1FF-76DD-3559-6365-29ECFBC86C0D}"/>
              </a:ext>
            </a:extLst>
          </p:cNvPr>
          <p:cNvGrpSpPr/>
          <p:nvPr/>
        </p:nvGrpSpPr>
        <p:grpSpPr>
          <a:xfrm>
            <a:off x="292608" y="1393847"/>
            <a:ext cx="1984248" cy="2951582"/>
            <a:chOff x="365716" y="2258060"/>
            <a:chExt cx="4206284" cy="2595881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E91F0116-BD6F-EDB4-C825-3543B75120F3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4E21052-9721-EF89-752F-77B88451A7F9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84A3E41-D6A3-424C-81D5-72A72435F119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49F4F75-0D13-7076-755D-53888E131FBE}"/>
              </a:ext>
            </a:extLst>
          </p:cNvPr>
          <p:cNvGrpSpPr/>
          <p:nvPr/>
        </p:nvGrpSpPr>
        <p:grpSpPr>
          <a:xfrm>
            <a:off x="2484120" y="1393847"/>
            <a:ext cx="1984248" cy="2951582"/>
            <a:chOff x="365716" y="2258060"/>
            <a:chExt cx="4206284" cy="2595881"/>
          </a:xfrm>
        </p:grpSpPr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89652A58-C93C-EE4E-C193-3474E38B99BD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BA22552-1451-115D-5ED7-64AF6F0FBF64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DD13D6F-CE16-F0E0-A72F-4CF475A291DE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519B27B-31EB-2560-F045-1379371E1C96}"/>
              </a:ext>
            </a:extLst>
          </p:cNvPr>
          <p:cNvGrpSpPr/>
          <p:nvPr/>
        </p:nvGrpSpPr>
        <p:grpSpPr>
          <a:xfrm>
            <a:off x="4675632" y="1393847"/>
            <a:ext cx="1984248" cy="2951582"/>
            <a:chOff x="365716" y="2258060"/>
            <a:chExt cx="4206284" cy="2595881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3D3CA2E5-16B6-9537-F867-257CD76AE006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308B0744-9015-8935-FFE4-031F079C8631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FB9243F-4B7A-8979-C05E-84A10AE8888B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D79235F-00CC-27DE-F624-856E4A28B89D}"/>
              </a:ext>
            </a:extLst>
          </p:cNvPr>
          <p:cNvGrpSpPr/>
          <p:nvPr/>
        </p:nvGrpSpPr>
        <p:grpSpPr>
          <a:xfrm>
            <a:off x="6867144" y="1393847"/>
            <a:ext cx="1984248" cy="2951582"/>
            <a:chOff x="365716" y="2258060"/>
            <a:chExt cx="4206284" cy="2595881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542EC75E-00BE-058D-D6C8-DF3FED0D9F61}"/>
                </a:ext>
              </a:extLst>
            </p:cNvPr>
            <p:cNvSpPr/>
            <p:nvPr/>
          </p:nvSpPr>
          <p:spPr>
            <a:xfrm>
              <a:off x="365716" y="2259331"/>
              <a:ext cx="4206284" cy="2594610"/>
            </a:xfrm>
            <a:prstGeom prst="roundRect">
              <a:avLst>
                <a:gd name="adj" fmla="val 2742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A9470795-9588-A613-62AE-62F72E09EB82}"/>
                </a:ext>
              </a:extLst>
            </p:cNvPr>
            <p:cNvSpPr/>
            <p:nvPr/>
          </p:nvSpPr>
          <p:spPr>
            <a:xfrm>
              <a:off x="365716" y="2258060"/>
              <a:ext cx="4206284" cy="313690"/>
            </a:xfrm>
            <a:prstGeom prst="roundRect">
              <a:avLst>
                <a:gd name="adj" fmla="val 17736"/>
              </a:avLst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F8F953B-51A3-10D5-949F-081BC95E9C58}"/>
                </a:ext>
              </a:extLst>
            </p:cNvPr>
            <p:cNvSpPr/>
            <p:nvPr/>
          </p:nvSpPr>
          <p:spPr>
            <a:xfrm>
              <a:off x="365717" y="2486026"/>
              <a:ext cx="4206283" cy="85724"/>
            </a:xfrm>
            <a:prstGeom prst="rect">
              <a:avLst/>
            </a:prstGeom>
            <a:solidFill>
              <a:srgbClr val="0A1628"/>
            </a:solidFill>
            <a:ln w="6350">
              <a:solidFill>
                <a:srgbClr val="0A16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D23B673-EB70-621B-D99A-B49BE2998E42}"/>
              </a:ext>
            </a:extLst>
          </p:cNvPr>
          <p:cNvSpPr txBox="1"/>
          <p:nvPr/>
        </p:nvSpPr>
        <p:spPr>
          <a:xfrm>
            <a:off x="348571" y="1436375"/>
            <a:ext cx="1842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1.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성장 지표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(Growth)</a:t>
            </a:r>
            <a:endParaRPr lang="ko-KR" alt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A7F70-46AF-18DF-6B68-4AFC4A4D01E8}"/>
              </a:ext>
            </a:extLst>
          </p:cNvPr>
          <p:cNvSpPr txBox="1"/>
          <p:nvPr/>
        </p:nvSpPr>
        <p:spPr>
          <a:xfrm>
            <a:off x="2550130" y="1436375"/>
            <a:ext cx="1842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2.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거래 안정성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(Stability)</a:t>
            </a:r>
            <a:endParaRPr lang="ko-KR" alt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2D0E38-F476-5BD7-05D0-76D149ADD8E3}"/>
              </a:ext>
            </a:extLst>
          </p:cNvPr>
          <p:cNvSpPr txBox="1"/>
          <p:nvPr/>
        </p:nvSpPr>
        <p:spPr>
          <a:xfrm>
            <a:off x="4751689" y="1436375"/>
            <a:ext cx="18421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3.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인적 인프라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(H. Resource)</a:t>
            </a:r>
            <a:endParaRPr lang="ko-KR" alt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C8EEF9-8540-2713-EA75-FBFDDEF20F84}"/>
              </a:ext>
            </a:extLst>
          </p:cNvPr>
          <p:cNvSpPr txBox="1"/>
          <p:nvPr/>
        </p:nvSpPr>
        <p:spPr>
          <a:xfrm>
            <a:off x="6953249" y="1436375"/>
            <a:ext cx="1842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4. </a:t>
            </a:r>
            <a:r>
              <a:rPr lang="ko-KR" altLang="en-US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기술 경쟁력 </a:t>
            </a:r>
            <a:r>
              <a:rPr lang="en-US" altLang="ko-KR" sz="1050" b="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(Technology)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11C7B-BA7E-B1BD-8689-FC432CDB457F}"/>
              </a:ext>
            </a:extLst>
          </p:cNvPr>
          <p:cNvSpPr txBox="1"/>
          <p:nvPr/>
        </p:nvSpPr>
        <p:spPr>
          <a:xfrm>
            <a:off x="348571" y="1906966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3.8배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BED7B-8116-5560-F457-A6B973240F53}"/>
              </a:ext>
            </a:extLst>
          </p:cNvPr>
          <p:cNvSpPr txBox="1"/>
          <p:nvPr/>
        </p:nvSpPr>
        <p:spPr>
          <a:xfrm>
            <a:off x="2550130" y="1900834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70%+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98E42-2993-A4D7-5CC8-FE523722A643}"/>
              </a:ext>
            </a:extLst>
          </p:cNvPr>
          <p:cNvSpPr txBox="1"/>
          <p:nvPr/>
        </p:nvSpPr>
        <p:spPr>
          <a:xfrm>
            <a:off x="4751689" y="1900834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82</a:t>
            </a:r>
            <a:r>
              <a:rPr lang="ko-KR" altLang="en-US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명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B293D-115E-5C08-E244-8FCC0AAD36FC}"/>
              </a:ext>
            </a:extLst>
          </p:cNvPr>
          <p:cNvSpPr txBox="1"/>
          <p:nvPr/>
        </p:nvSpPr>
        <p:spPr>
          <a:xfrm>
            <a:off x="6953249" y="1900833"/>
            <a:ext cx="18421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A-/T4</a:t>
            </a:r>
            <a:endParaRPr lang="ko-KR" altLang="en-US" sz="3200" dirty="0">
              <a:solidFill>
                <a:srgbClr val="0D9488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49216-AE0A-1829-4540-8391E6C6D04E}"/>
              </a:ext>
            </a:extLst>
          </p:cNvPr>
          <p:cNvSpPr txBox="1"/>
          <p:nvPr/>
        </p:nvSpPr>
        <p:spPr>
          <a:xfrm>
            <a:off x="348571" y="2415754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0" i="0" dirty="0">
                <a:solidFill>
                  <a:srgbClr val="64748B"/>
                </a:solidFill>
                <a:effectLst/>
                <a:latin typeface="+mn-ea"/>
              </a:rPr>
              <a:t>3개년 지속적 매출 성장 곡선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87FC20-D320-39D9-6972-5414BD242DF8}"/>
              </a:ext>
            </a:extLst>
          </p:cNvPr>
          <p:cNvSpPr txBox="1"/>
          <p:nvPr/>
        </p:nvSpPr>
        <p:spPr>
          <a:xfrm>
            <a:off x="2550130" y="2434208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+mn-ea"/>
              </a:rPr>
              <a:t>주요 고객 장기 계약 매출 비중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4A862E-3B6D-C454-2410-50D58974F3FA}"/>
              </a:ext>
            </a:extLst>
          </p:cNvPr>
          <p:cNvSpPr txBox="1"/>
          <p:nvPr/>
        </p:nvSpPr>
        <p:spPr>
          <a:xfrm>
            <a:off x="4741641" y="2448639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+mn-ea"/>
              </a:rPr>
              <a:t>전문가 중심 </a:t>
            </a:r>
            <a:r>
              <a:rPr lang="ko-KR" altLang="en-US" sz="1000" dirty="0">
                <a:solidFill>
                  <a:srgbClr val="64748B"/>
                </a:solidFill>
                <a:latin typeface="+mn-ea"/>
              </a:rPr>
              <a:t>직원 구성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C8D11-6A78-3475-E885-1A7F6056A57D}"/>
              </a:ext>
            </a:extLst>
          </p:cNvPr>
          <p:cNvSpPr txBox="1"/>
          <p:nvPr/>
        </p:nvSpPr>
        <p:spPr>
          <a:xfrm>
            <a:off x="6910196" y="2441641"/>
            <a:ext cx="19282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+mn-ea"/>
              </a:rPr>
              <a:t>공식 기술신용평가 우수 등급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4810DF-B407-0839-9541-F363672AE22E}"/>
              </a:ext>
            </a:extLst>
          </p:cNvPr>
          <p:cNvSpPr txBox="1"/>
          <p:nvPr/>
        </p:nvSpPr>
        <p:spPr>
          <a:xfrm>
            <a:off x="311658" y="2816671"/>
            <a:ext cx="1984248" cy="118622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2022년 매출액 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+mn-ea"/>
              </a:rPr>
              <a:t>20억 원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 대비 2025년 기준 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+mn-ea"/>
              </a:rPr>
              <a:t>93억 원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의 강력한 성장 곡선 확보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특히 </a:t>
            </a:r>
            <a:r>
              <a:rPr lang="ko-KR" altLang="ko-KR" sz="1000" b="0" i="0" dirty="0">
                <a:solidFill>
                  <a:srgbClr val="1E293B"/>
                </a:solidFill>
                <a:effectLst/>
                <a:latin typeface="+mn-ea"/>
              </a:rPr>
              <a:t>2024년 2배 이상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 급격한 </a:t>
            </a:r>
            <a:r>
              <a:rPr lang="ko-KR" altLang="ko-KR" sz="1000" b="0" i="0" dirty="0" err="1">
                <a:solidFill>
                  <a:srgbClr val="475569"/>
                </a:solidFill>
                <a:effectLst/>
                <a:latin typeface="+mn-ea"/>
              </a:rPr>
              <a:t>퀀텀</a:t>
            </a:r>
            <a:r>
              <a:rPr lang="ko-KR" altLang="ko-KR" sz="1000" b="0" i="0" dirty="0">
                <a:solidFill>
                  <a:srgbClr val="475569"/>
                </a:solidFill>
                <a:effectLst/>
                <a:latin typeface="+mn-ea"/>
              </a:rPr>
              <a:t> 점프 변곡점 달성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24B41-6367-E9A4-8A7B-E9824446884E}"/>
              </a:ext>
            </a:extLst>
          </p:cNvPr>
          <p:cNvSpPr txBox="1"/>
          <p:nvPr/>
        </p:nvSpPr>
        <p:spPr>
          <a:xfrm>
            <a:off x="2494167" y="2818322"/>
            <a:ext cx="1984248" cy="118622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단발성 단순 구축을 지양하고 주요 </a:t>
            </a:r>
            <a:r>
              <a:rPr lang="ko-KR" altLang="en-US" sz="1000" b="0" i="0" dirty="0" err="1">
                <a:solidFill>
                  <a:srgbClr val="475569"/>
                </a:solidFill>
                <a:effectLst/>
                <a:latin typeface="+mn-ea"/>
              </a:rPr>
              <a:t>엔터프라이즈급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 고객사와 장기 계약 체계 정착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ko-KR" altLang="en-US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단일 대기업 고객사 기준 최대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52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건의 핵심 프로젝트 연속 수행</a:t>
            </a: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0ABCE8-6A3D-0BF7-0B0A-94C9AB17CD6E}"/>
              </a:ext>
            </a:extLst>
          </p:cNvPr>
          <p:cNvSpPr txBox="1"/>
          <p:nvPr/>
        </p:nvSpPr>
        <p:spPr>
          <a:xfrm>
            <a:off x="4675632" y="2810888"/>
            <a:ext cx="1984248" cy="1370888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전체 인력 중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BI·AI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구축 전문 엔지니어 비중이 압도적인 정예 조직 체계 모델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ko-KR" altLang="en-US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설립 기간은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7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년이나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,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리더십 그룹 간 실제 협업 기간은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10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년 이상의 </a:t>
            </a:r>
            <a:r>
              <a:rPr lang="ko-KR" altLang="en-US" sz="1000" b="0" i="0" dirty="0" err="1">
                <a:solidFill>
                  <a:srgbClr val="475569"/>
                </a:solidFill>
                <a:effectLst/>
                <a:latin typeface="+mn-ea"/>
              </a:rPr>
              <a:t>원팀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 시너지</a:t>
            </a: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DE90B1-FDA9-A770-672E-243E9B1DD007}"/>
              </a:ext>
            </a:extLst>
          </p:cNvPr>
          <p:cNvSpPr txBox="1"/>
          <p:nvPr/>
        </p:nvSpPr>
        <p:spPr>
          <a:xfrm>
            <a:off x="6874780" y="2818322"/>
            <a:ext cx="1984248" cy="1186222"/>
          </a:xfrm>
          <a:prstGeom prst="rect">
            <a:avLst/>
          </a:prstGeom>
          <a:noFill/>
        </p:spPr>
        <p:txBody>
          <a:bodyPr wrap="square" lIns="72000" rIns="72000">
            <a:spAutoFit/>
          </a:bodyPr>
          <a:lstStyle/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평가기관 기술등급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A-/T4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및 신용등급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BB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획득으로 객관적 안정성 입증</a:t>
            </a: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ko-KR" sz="1000" b="0" i="0" dirty="0">
              <a:solidFill>
                <a:srgbClr val="475569"/>
              </a:solidFill>
              <a:effectLst/>
              <a:latin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전사 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AI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통합 포털 및 자체 지능형 분석 엔진</a:t>
            </a:r>
            <a:r>
              <a:rPr lang="en-US" altLang="ko-KR" sz="1000" b="0" i="0" dirty="0">
                <a:solidFill>
                  <a:srgbClr val="475569"/>
                </a:solidFill>
                <a:effectLst/>
                <a:latin typeface="+mn-ea"/>
              </a:rPr>
              <a:t>(Agent) </a:t>
            </a:r>
            <a:r>
              <a:rPr lang="ko-KR" altLang="en-US" sz="1000" b="0" i="0" dirty="0">
                <a:solidFill>
                  <a:srgbClr val="475569"/>
                </a:solidFill>
                <a:effectLst/>
                <a:latin typeface="+mn-ea"/>
              </a:rPr>
              <a:t>솔루션 보유</a:t>
            </a:r>
            <a:endParaRPr lang="ko-KR" altLang="ko-KR" sz="1000" b="0" i="0" dirty="0">
              <a:solidFill>
                <a:srgbClr val="475569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7381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1B51-A4AB-7F36-D382-DC731D79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타원 195">
            <a:extLst>
              <a:ext uri="{FF2B5EF4-FFF2-40B4-BE49-F238E27FC236}">
                <a16:creationId xmlns:a16="http://schemas.microsoft.com/office/drawing/2014/main" id="{BAB7E849-EFCD-7DA5-BD3B-F210E9868B61}"/>
              </a:ext>
            </a:extLst>
          </p:cNvPr>
          <p:cNvSpPr/>
          <p:nvPr/>
        </p:nvSpPr>
        <p:spPr>
          <a:xfrm>
            <a:off x="6018349" y="2788046"/>
            <a:ext cx="1720594" cy="1720594"/>
          </a:xfrm>
          <a:prstGeom prst="ellipse">
            <a:avLst/>
          </a:prstGeom>
          <a:noFill/>
          <a:ln w="28575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48367EB4-7AC0-575B-0CB1-4D089265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설립은 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7년</a:t>
            </a:r>
            <a:r>
              <a:rPr lang="ko-KR" altLang="ko-KR" b="1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, 팀워크는 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 ExtraBold" pitchFamily="50" charset="-127"/>
                <a:ea typeface="SUIT ExtraBold" pitchFamily="50" charset="-127"/>
              </a:rPr>
              <a:t>약 10년</a:t>
            </a:r>
            <a:endParaRPr lang="ko-KR" altLang="en-US" b="0" dirty="0"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305F05F-3F33-D34A-DEEF-319A9225E5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8019E-512B-349F-7BC1-D6EFAC9AF827}"/>
              </a:ext>
            </a:extLst>
          </p:cNvPr>
          <p:cNvSpPr txBox="1"/>
          <p:nvPr/>
        </p:nvSpPr>
        <p:spPr>
          <a:xfrm>
            <a:off x="426720" y="1284581"/>
            <a:ext cx="1950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6600" i="0" dirty="0">
                <a:solidFill>
                  <a:srgbClr val="0D9488"/>
                </a:solidFill>
                <a:effectLst/>
                <a:latin typeface="SUIT ExtraBold" pitchFamily="50" charset="-127"/>
                <a:ea typeface="SUIT ExtraBold" pitchFamily="50" charset="-127"/>
              </a:rPr>
              <a:t>10</a:t>
            </a:r>
            <a:r>
              <a:rPr lang="ko-KR" altLang="ko-KR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년+</a:t>
            </a:r>
            <a:endParaRPr lang="ko-KR" altLang="en-US" sz="1400" dirty="0">
              <a:solidFill>
                <a:srgbClr val="0D948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5D4BD-C47F-3EFC-E63B-6FF7E259CBED}"/>
              </a:ext>
            </a:extLst>
          </p:cNvPr>
          <p:cNvSpPr txBox="1"/>
          <p:nvPr/>
        </p:nvSpPr>
        <p:spPr>
          <a:xfrm>
            <a:off x="525780" y="2248726"/>
            <a:ext cx="259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리더십 그룹의 검증된 호흡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B5D3A-5619-C479-1448-8B13B849ACDA}"/>
              </a:ext>
            </a:extLst>
          </p:cNvPr>
          <p:cNvSpPr txBox="1"/>
          <p:nvPr/>
        </p:nvSpPr>
        <p:spPr>
          <a:xfrm>
            <a:off x="525780" y="2504554"/>
            <a:ext cx="3695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세일링스톤의</a:t>
            </a:r>
            <a:r>
              <a:rPr lang="ko-KR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  <a:r>
              <a:rPr lang="ko-KR" altLang="ko-KR" sz="10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리더급</a:t>
            </a:r>
            <a:r>
              <a:rPr lang="ko-KR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구성원들은 이전 회사에서부터 10년 가까이 함께 호흡을 맞춰온 최정예 전문가 그룹입니다</a:t>
            </a:r>
            <a:endParaRPr lang="ko-KR" altLang="en-US" sz="10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F7177-4855-EFFA-C45D-E54A427AB4AC}"/>
              </a:ext>
            </a:extLst>
          </p:cNvPr>
          <p:cNvSpPr txBox="1"/>
          <p:nvPr/>
        </p:nvSpPr>
        <p:spPr>
          <a:xfrm>
            <a:off x="441588" y="3114598"/>
            <a:ext cx="195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b="1" i="0" dirty="0">
                <a:solidFill>
                  <a:schemeClr val="bg1">
                    <a:lumMod val="65000"/>
                  </a:schemeClr>
                </a:solidFill>
                <a:effectLst/>
                <a:latin typeface="SUIT ExtraBold" pitchFamily="50" charset="-127"/>
                <a:ea typeface="SUIT ExtraBold" pitchFamily="50" charset="-127"/>
              </a:rPr>
              <a:t>7</a:t>
            </a:r>
            <a:r>
              <a:rPr lang="ko-KR" altLang="ko-KR" sz="1200" b="1" i="0" dirty="0">
                <a:solidFill>
                  <a:schemeClr val="bg1">
                    <a:lumMod val="6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년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AC730-077F-4963-1A3E-A894AC21656E}"/>
              </a:ext>
            </a:extLst>
          </p:cNvPr>
          <p:cNvSpPr txBox="1"/>
          <p:nvPr/>
        </p:nvSpPr>
        <p:spPr>
          <a:xfrm>
            <a:off x="525780" y="3820461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법인 설립 연혁 (2019~)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6CE271-7EEE-F453-DB3A-66DE50064AEB}"/>
              </a:ext>
            </a:extLst>
          </p:cNvPr>
          <p:cNvSpPr txBox="1"/>
          <p:nvPr/>
        </p:nvSpPr>
        <p:spPr>
          <a:xfrm>
            <a:off x="525780" y="4095524"/>
            <a:ext cx="3695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표면적인 연차는 숫자에 불과합니다</a:t>
            </a:r>
            <a:r>
              <a:rPr lang="en-US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. </a:t>
            </a:r>
          </a:p>
          <a:p>
            <a:r>
              <a:rPr lang="ko-KR" altLang="en-US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우리의 조직력은 이미 완성되어 있습니다</a:t>
            </a:r>
            <a:r>
              <a:rPr lang="en-US" altLang="ko-KR" sz="10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.</a:t>
            </a:r>
            <a:endParaRPr lang="ko-KR" altLang="en-US" sz="1000" dirty="0"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20" name="Connector 32">
            <a:extLst>
              <a:ext uri="{FF2B5EF4-FFF2-40B4-BE49-F238E27FC236}">
                <a16:creationId xmlns:a16="http://schemas.microsoft.com/office/drawing/2014/main" id="{A2771777-92AD-3861-AF58-E5227CE11CE5}"/>
              </a:ext>
            </a:extLst>
          </p:cNvPr>
          <p:cNvCxnSpPr>
            <a:cxnSpLocks/>
          </p:cNvCxnSpPr>
          <p:nvPr/>
        </p:nvCxnSpPr>
        <p:spPr>
          <a:xfrm>
            <a:off x="4572000" y="919594"/>
            <a:ext cx="0" cy="382354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hape 4">
            <a:extLst>
              <a:ext uri="{FF2B5EF4-FFF2-40B4-BE49-F238E27FC236}">
                <a16:creationId xmlns:a16="http://schemas.microsoft.com/office/drawing/2014/main" id="{71E040B0-4812-CF22-8F2A-5946841DE2A8}"/>
              </a:ext>
            </a:extLst>
          </p:cNvPr>
          <p:cNvSpPr/>
          <p:nvPr/>
        </p:nvSpPr>
        <p:spPr>
          <a:xfrm rot="10800000">
            <a:off x="4998717" y="1368271"/>
            <a:ext cx="3779517" cy="1069288"/>
          </a:xfrm>
          <a:prstGeom prst="roundRect">
            <a:avLst>
              <a:gd name="adj" fmla="val 4680"/>
            </a:avLst>
          </a:prstGeom>
          <a:gradFill rotWithShape="1">
            <a:gsLst>
              <a:gs pos="0">
                <a:srgbClr val="0D9488"/>
              </a:gs>
              <a:gs pos="1008">
                <a:srgbClr val="0D9488"/>
              </a:gs>
              <a:gs pos="100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0597E-F154-0642-5C94-CEC9D9DAFBEC}"/>
              </a:ext>
            </a:extLst>
          </p:cNvPr>
          <p:cNvSpPr txBox="1"/>
          <p:nvPr/>
        </p:nvSpPr>
        <p:spPr>
          <a:xfrm>
            <a:off x="5184667" y="1476350"/>
            <a:ext cx="3223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노이즈-제로(</a:t>
            </a:r>
            <a:r>
              <a:rPr lang="ko-KR" altLang="ko-KR" sz="1200" i="0" dirty="0" err="1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Noise-Free</a:t>
            </a:r>
            <a:r>
              <a:rPr lang="ko-KR" altLang="ko-KR" sz="1200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ko-KR" sz="1200" i="0" dirty="0" err="1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원팀</a:t>
            </a:r>
            <a:r>
              <a:rPr lang="ko-KR" altLang="ko-KR" sz="1200" i="0" dirty="0">
                <a:solidFill>
                  <a:srgbClr val="0D9488"/>
                </a:solidFill>
                <a:effectLst/>
                <a:latin typeface="SUIT" pitchFamily="2" charset="-127"/>
                <a:ea typeface="SUIT" pitchFamily="2" charset="-127"/>
              </a:rPr>
              <a:t> 시스템</a:t>
            </a:r>
            <a:endParaRPr lang="ko-KR" altLang="en-US" sz="1200" dirty="0">
              <a:solidFill>
                <a:srgbClr val="0D9488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6DBBE6-4C30-DD85-F991-2313B0D5478D}"/>
              </a:ext>
            </a:extLst>
          </p:cNvPr>
          <p:cNvSpPr txBox="1"/>
          <p:nvPr/>
        </p:nvSpPr>
        <p:spPr>
          <a:xfrm>
            <a:off x="5184667" y="1732248"/>
            <a:ext cx="3532613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1000" i="0" dirty="0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10년 </a:t>
            </a:r>
            <a:r>
              <a:rPr lang="ko-KR" altLang="ko-KR" sz="1000" i="0" dirty="0" err="1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이상된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000" i="0" dirty="0" err="1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원팀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ExtraBold" pitchFamily="50" charset="-127"/>
                <a:ea typeface="SUIT ExtraBold" pitchFamily="50" charset="-127"/>
              </a:rPr>
              <a:t> 리더그룹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Light" pitchFamily="50" charset="-127"/>
                <a:ea typeface="SUIT Light" pitchFamily="50" charset="-127"/>
              </a:rPr>
              <a:t>이 기획, 솔루션 제작, 데이터 분석, 모델링, </a:t>
            </a:r>
            <a:r>
              <a:rPr lang="en-US" altLang="ko-KR" sz="1000" i="0" dirty="0">
                <a:solidFill>
                  <a:srgbClr val="475569"/>
                </a:solidFill>
                <a:effectLst/>
                <a:latin typeface="SUIT Light" pitchFamily="50" charset="-127"/>
                <a:ea typeface="SUIT Light" pitchFamily="50" charset="-127"/>
              </a:rPr>
              <a:t>UX/UI, </a:t>
            </a:r>
            <a:r>
              <a:rPr lang="ko-KR" altLang="ko-KR" sz="1000" i="0" dirty="0">
                <a:solidFill>
                  <a:srgbClr val="475569"/>
                </a:solidFill>
                <a:effectLst/>
                <a:latin typeface="SUIT Light" pitchFamily="50" charset="-127"/>
                <a:ea typeface="SUIT Light" pitchFamily="50" charset="-127"/>
              </a:rPr>
              <a:t>영업 파트를 한 몸처럼 움직여 불필요한 커뮤니케이션 노이즈를 완벽하게 차단합니다</a:t>
            </a:r>
            <a:endParaRPr lang="ko-KR" altLang="en-US" sz="10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608D559-D1BB-C266-9426-3703CBBBB2AC}"/>
              </a:ext>
            </a:extLst>
          </p:cNvPr>
          <p:cNvSpPr/>
          <p:nvPr/>
        </p:nvSpPr>
        <p:spPr>
          <a:xfrm>
            <a:off x="7518355" y="3111760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D29CFE-D6EE-66F2-E2EA-D5B070823D81}"/>
              </a:ext>
            </a:extLst>
          </p:cNvPr>
          <p:cNvSpPr txBox="1"/>
          <p:nvPr/>
        </p:nvSpPr>
        <p:spPr>
          <a:xfrm>
            <a:off x="7518355" y="3266182"/>
            <a:ext cx="57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기획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CEB3A5C5-F9BD-315D-0829-AD348D506062}"/>
              </a:ext>
            </a:extLst>
          </p:cNvPr>
          <p:cNvSpPr/>
          <p:nvPr/>
        </p:nvSpPr>
        <p:spPr>
          <a:xfrm>
            <a:off x="7028633" y="4191245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466B37-36B3-B1FA-14F0-B6BDC78F900A}"/>
              </a:ext>
            </a:extLst>
          </p:cNvPr>
          <p:cNvSpPr txBox="1"/>
          <p:nvPr/>
        </p:nvSpPr>
        <p:spPr>
          <a:xfrm>
            <a:off x="7028633" y="4345667"/>
            <a:ext cx="57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솔루션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EA5AAC3-A016-B493-5F03-29F7EEB1E4C1}"/>
              </a:ext>
            </a:extLst>
          </p:cNvPr>
          <p:cNvSpPr/>
          <p:nvPr/>
        </p:nvSpPr>
        <p:spPr>
          <a:xfrm>
            <a:off x="6106617" y="4181368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F96AF7-F703-AE0E-8394-6A17E42C6007}"/>
              </a:ext>
            </a:extLst>
          </p:cNvPr>
          <p:cNvSpPr txBox="1"/>
          <p:nvPr/>
        </p:nvSpPr>
        <p:spPr>
          <a:xfrm>
            <a:off x="6106617" y="4268884"/>
            <a:ext cx="571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데이터</a:t>
            </a:r>
            <a:endParaRPr lang="en-US" altLang="ko-KR" sz="1000" dirty="0">
              <a:solidFill>
                <a:srgbClr val="42536A"/>
              </a:solidFill>
              <a:latin typeface="SUIT Light" pitchFamily="50" charset="-127"/>
              <a:ea typeface="SUIT Light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분석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A3B151-E813-375E-6BC8-0807F85DA7E4}"/>
              </a:ext>
            </a:extLst>
          </p:cNvPr>
          <p:cNvSpPr/>
          <p:nvPr/>
        </p:nvSpPr>
        <p:spPr>
          <a:xfrm>
            <a:off x="5673091" y="3142994"/>
            <a:ext cx="571497" cy="571497"/>
          </a:xfrm>
          <a:prstGeom prst="ellipse">
            <a:avLst/>
          </a:prstGeom>
          <a:solidFill>
            <a:schemeClr val="bg1"/>
          </a:solidFill>
          <a:ln w="2857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92C88A-C8EE-B0D2-40BD-481DB6D643BE}"/>
              </a:ext>
            </a:extLst>
          </p:cNvPr>
          <p:cNvSpPr txBox="1"/>
          <p:nvPr/>
        </p:nvSpPr>
        <p:spPr>
          <a:xfrm>
            <a:off x="5673091" y="3297416"/>
            <a:ext cx="571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rgbClr val="42536A"/>
                </a:solidFill>
                <a:latin typeface="SUIT Light" pitchFamily="50" charset="-127"/>
                <a:ea typeface="SUIT Light" pitchFamily="50" charset="-127"/>
              </a:rPr>
              <a:t>UI/UX</a:t>
            </a:r>
            <a:endParaRPr lang="ko-KR" altLang="en-US" sz="1000" dirty="0">
              <a:solidFill>
                <a:srgbClr val="42536A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DE54D8F-FF9C-2A75-4458-3EA1AA0E1C35}"/>
              </a:ext>
            </a:extLst>
          </p:cNvPr>
          <p:cNvSpPr/>
          <p:nvPr/>
        </p:nvSpPr>
        <p:spPr>
          <a:xfrm>
            <a:off x="6580161" y="2525395"/>
            <a:ext cx="571497" cy="571497"/>
          </a:xfrm>
          <a:prstGeom prst="ellipse">
            <a:avLst/>
          </a:prstGeom>
          <a:solidFill>
            <a:srgbClr val="0D9488"/>
          </a:solidFill>
          <a:ln w="28575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C04231B-0CCC-8A1C-AE79-B6CEF9198E5E}"/>
              </a:ext>
            </a:extLst>
          </p:cNvPr>
          <p:cNvSpPr txBox="1"/>
          <p:nvPr/>
        </p:nvSpPr>
        <p:spPr>
          <a:xfrm>
            <a:off x="6580161" y="2612911"/>
            <a:ext cx="571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BOD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&amp;</a:t>
            </a:r>
            <a:r>
              <a:rPr lang="ko-KR" altLang="en-US" sz="1000" dirty="0">
                <a:solidFill>
                  <a:schemeClr val="bg1"/>
                </a:solidFill>
                <a:latin typeface="SUIT Light" pitchFamily="50" charset="-127"/>
                <a:ea typeface="SUIT Light" pitchFamily="50" charset="-127"/>
              </a:rPr>
              <a:t>영업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F6246B1-268A-6744-9016-4596617D12DE}"/>
              </a:ext>
            </a:extLst>
          </p:cNvPr>
          <p:cNvSpPr txBox="1"/>
          <p:nvPr/>
        </p:nvSpPr>
        <p:spPr>
          <a:xfrm>
            <a:off x="441588" y="708787"/>
            <a:ext cx="2457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1" i="0" dirty="0">
                <a:solidFill>
                  <a:srgbClr val="41C0C2"/>
                </a:solidFill>
                <a:effectLst/>
                <a:latin typeface="SUIT" pitchFamily="2" charset="-127"/>
                <a:ea typeface="SUIT" pitchFamily="2" charset="-127"/>
              </a:rPr>
              <a:t>■</a:t>
            </a:r>
            <a:r>
              <a:rPr lang="ko-KR" altLang="en-US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  </a:t>
            </a:r>
            <a:r>
              <a:rPr lang="ko-KR" altLang="ko-KR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조직 기반 (</a:t>
            </a:r>
            <a:r>
              <a:rPr lang="ko-KR" altLang="ko-KR" sz="1200" b="1" i="0" dirty="0" err="1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Foundation</a:t>
            </a:r>
            <a:r>
              <a:rPr lang="ko-KR" altLang="ko-KR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)</a:t>
            </a:r>
            <a:endParaRPr lang="ko-KR" altLang="en-US" sz="12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C962E8A-F881-6ABE-68EB-F99C87865BFB}"/>
              </a:ext>
            </a:extLst>
          </p:cNvPr>
          <p:cNvSpPr txBox="1"/>
          <p:nvPr/>
        </p:nvSpPr>
        <p:spPr>
          <a:xfrm>
            <a:off x="594360" y="918102"/>
            <a:ext cx="22097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시간이 증명하는 단단한 신뢰 자산</a:t>
            </a:r>
            <a:endParaRPr lang="ko-KR" altLang="en-US" sz="1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A613E4D-B182-426A-A0CF-95AD926937EB}"/>
              </a:ext>
            </a:extLst>
          </p:cNvPr>
          <p:cNvSpPr txBox="1"/>
          <p:nvPr/>
        </p:nvSpPr>
        <p:spPr>
          <a:xfrm>
            <a:off x="4909508" y="747989"/>
            <a:ext cx="2457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b="1" i="0" dirty="0">
                <a:solidFill>
                  <a:srgbClr val="41C0C2"/>
                </a:solidFill>
                <a:effectLst/>
                <a:latin typeface="SUIT" pitchFamily="2" charset="-127"/>
                <a:ea typeface="SUIT" pitchFamily="2" charset="-127"/>
              </a:rPr>
              <a:t>■</a:t>
            </a:r>
            <a:r>
              <a:rPr lang="ko-KR" altLang="en-US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  실무 프로세스 </a:t>
            </a:r>
            <a:r>
              <a:rPr lang="en-US" altLang="ko-KR" sz="1200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(Execution)</a:t>
            </a:r>
            <a:endParaRPr lang="ko-KR" altLang="en-US" sz="12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0647A46-AE96-5A0A-009B-4FD547F8961D}"/>
              </a:ext>
            </a:extLst>
          </p:cNvPr>
          <p:cNvSpPr txBox="1"/>
          <p:nvPr/>
        </p:nvSpPr>
        <p:spPr>
          <a:xfrm>
            <a:off x="5062280" y="957304"/>
            <a:ext cx="22097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오차 없는 </a:t>
            </a:r>
            <a:r>
              <a:rPr lang="ko-KR" altLang="en-US" sz="1000" dirty="0">
                <a:solidFill>
                  <a:srgbClr val="94A3B8"/>
                </a:solidFill>
                <a:latin typeface="SUIT" pitchFamily="2" charset="-127"/>
                <a:ea typeface="SUIT" pitchFamily="2" charset="-127"/>
              </a:rPr>
              <a:t>내부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 파이프라인 구축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2142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5177-0A1B-09C8-4EBA-6E4542E8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래픽 4">
            <a:extLst>
              <a:ext uri="{FF2B5EF4-FFF2-40B4-BE49-F238E27FC236}">
                <a16:creationId xmlns:a16="http://schemas.microsoft.com/office/drawing/2014/main" id="{E8D2DCCC-ABCA-B15E-4D97-FE26CC330577}"/>
              </a:ext>
            </a:extLst>
          </p:cNvPr>
          <p:cNvGrpSpPr/>
          <p:nvPr/>
        </p:nvGrpSpPr>
        <p:grpSpPr>
          <a:xfrm>
            <a:off x="850392" y="845416"/>
            <a:ext cx="4497943" cy="2002440"/>
            <a:chOff x="9624188" y="1696627"/>
            <a:chExt cx="6227379" cy="2222937"/>
          </a:xfrm>
          <a:solidFill>
            <a:srgbClr val="CBD5E1"/>
          </a:solidFill>
        </p:grpSpPr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CE454C6C-3082-9885-14AE-C3D961529B67}"/>
                </a:ext>
              </a:extLst>
            </p:cNvPr>
            <p:cNvSpPr/>
            <p:nvPr/>
          </p:nvSpPr>
          <p:spPr>
            <a:xfrm>
              <a:off x="12737878" y="1696627"/>
              <a:ext cx="7882" cy="1907627"/>
            </a:xfrm>
            <a:custGeom>
              <a:avLst/>
              <a:gdLst>
                <a:gd name="csX0" fmla="*/ 0 w 7882"/>
                <a:gd name="csY0" fmla="*/ 0 h 1907627"/>
                <a:gd name="csX1" fmla="*/ 0 w 7882"/>
                <a:gd name="csY1" fmla="*/ 1907627 h 1907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1907627">
                  <a:moveTo>
                    <a:pt x="0" y="0"/>
                  </a:moveTo>
                  <a:lnTo>
                    <a:pt x="0" y="1907627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2A7BE287-AE2B-00A8-FF42-4A576E98AC26}"/>
                </a:ext>
              </a:extLst>
            </p:cNvPr>
            <p:cNvSpPr/>
            <p:nvPr/>
          </p:nvSpPr>
          <p:spPr>
            <a:xfrm>
              <a:off x="11161326" y="2185358"/>
              <a:ext cx="3153103" cy="7882"/>
            </a:xfrm>
            <a:custGeom>
              <a:avLst/>
              <a:gdLst>
                <a:gd name="csX0" fmla="*/ 0 w 3153103"/>
                <a:gd name="csY0" fmla="*/ 0 h 7882"/>
                <a:gd name="csX1" fmla="*/ 3153104 w 3153103"/>
                <a:gd name="csY1" fmla="*/ 0 h 78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53103" h="7882">
                  <a:moveTo>
                    <a:pt x="0" y="0"/>
                  </a:moveTo>
                  <a:lnTo>
                    <a:pt x="3153104" y="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6EE39F4C-E1E4-E15C-4A03-FA51C3C6E625}"/>
                </a:ext>
              </a:extLst>
            </p:cNvPr>
            <p:cNvSpPr/>
            <p:nvPr/>
          </p:nvSpPr>
          <p:spPr>
            <a:xfrm>
              <a:off x="11161326" y="2185358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13570DE8-56D3-AE96-60BA-0467392C03AE}"/>
                </a:ext>
              </a:extLst>
            </p:cNvPr>
            <p:cNvSpPr/>
            <p:nvPr/>
          </p:nvSpPr>
          <p:spPr>
            <a:xfrm>
              <a:off x="14314429" y="2185358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2094865-C4FD-3BA2-9A74-5F2D9D2D8C2C}"/>
                </a:ext>
              </a:extLst>
            </p:cNvPr>
            <p:cNvSpPr/>
            <p:nvPr/>
          </p:nvSpPr>
          <p:spPr>
            <a:xfrm>
              <a:off x="9624188" y="3604255"/>
              <a:ext cx="6227379" cy="7882"/>
            </a:xfrm>
            <a:custGeom>
              <a:avLst/>
              <a:gdLst>
                <a:gd name="csX0" fmla="*/ 0 w 6227379"/>
                <a:gd name="csY0" fmla="*/ 0 h 7882"/>
                <a:gd name="csX1" fmla="*/ 6227380 w 6227379"/>
                <a:gd name="csY1" fmla="*/ 0 h 78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227379" h="7882">
                  <a:moveTo>
                    <a:pt x="0" y="0"/>
                  </a:moveTo>
                  <a:lnTo>
                    <a:pt x="6227380" y="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4449E017-9D2C-0D97-BE66-7814DCFABA55}"/>
                </a:ext>
              </a:extLst>
            </p:cNvPr>
            <p:cNvSpPr/>
            <p:nvPr/>
          </p:nvSpPr>
          <p:spPr>
            <a:xfrm>
              <a:off x="9624188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72E25B8D-3344-8B32-DAC7-3764EB700B9E}"/>
                </a:ext>
              </a:extLst>
            </p:cNvPr>
            <p:cNvSpPr/>
            <p:nvPr/>
          </p:nvSpPr>
          <p:spPr>
            <a:xfrm>
              <a:off x="11697353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C4EDE3AE-4135-647B-2322-E66E4F0C5711}"/>
                </a:ext>
              </a:extLst>
            </p:cNvPr>
            <p:cNvSpPr/>
            <p:nvPr/>
          </p:nvSpPr>
          <p:spPr>
            <a:xfrm>
              <a:off x="13770519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CE524468-9994-CCEE-58E4-0C6BD014040C}"/>
                </a:ext>
              </a:extLst>
            </p:cNvPr>
            <p:cNvSpPr/>
            <p:nvPr/>
          </p:nvSpPr>
          <p:spPr>
            <a:xfrm>
              <a:off x="15851567" y="3604255"/>
              <a:ext cx="7882" cy="315310"/>
            </a:xfrm>
            <a:custGeom>
              <a:avLst/>
              <a:gdLst>
                <a:gd name="csX0" fmla="*/ 0 w 7882"/>
                <a:gd name="csY0" fmla="*/ 0 h 315310"/>
                <a:gd name="csX1" fmla="*/ 0 w 7882"/>
                <a:gd name="csY1" fmla="*/ 315310 h 3153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82" h="315310">
                  <a:moveTo>
                    <a:pt x="0" y="0"/>
                  </a:moveTo>
                  <a:lnTo>
                    <a:pt x="0" y="315310"/>
                  </a:lnTo>
                </a:path>
              </a:pathLst>
            </a:custGeom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43012D3-78F6-7718-417D-27A424C5ABA0}"/>
                </a:ext>
              </a:extLst>
            </p:cNvPr>
            <p:cNvSpPr/>
            <p:nvPr/>
          </p:nvSpPr>
          <p:spPr>
            <a:xfrm>
              <a:off x="12706346" y="2153827"/>
              <a:ext cx="63062" cy="63062"/>
            </a:xfrm>
            <a:prstGeom prst="ellipse">
              <a:avLst/>
            </a:prstGeom>
            <a:solidFill>
              <a:srgbClr val="CBD5E1"/>
            </a:solidFill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0B83876-7044-B2EE-BB5D-28166E9DA7CD}"/>
                </a:ext>
              </a:extLst>
            </p:cNvPr>
            <p:cNvSpPr/>
            <p:nvPr/>
          </p:nvSpPr>
          <p:spPr>
            <a:xfrm>
              <a:off x="12706346" y="3572724"/>
              <a:ext cx="63062" cy="63062"/>
            </a:xfrm>
            <a:prstGeom prst="ellipse">
              <a:avLst/>
            </a:prstGeom>
            <a:solidFill>
              <a:srgbClr val="CBD5E1"/>
            </a:solidFill>
            <a:ln w="15766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제목 21">
            <a:extLst>
              <a:ext uri="{FF2B5EF4-FFF2-40B4-BE49-F238E27FC236}">
                <a16:creationId xmlns:a16="http://schemas.microsoft.com/office/drawing/2014/main" id="{3F7698B4-D9E1-6DC9-8D8F-FB5B465E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i="0" dirty="0">
                <a:solidFill>
                  <a:srgbClr val="1A202C"/>
                </a:solidFill>
                <a:effectLst/>
                <a:latin typeface="SUIT ExtraBold" pitchFamily="50" charset="-127"/>
                <a:ea typeface="SUIT ExtraBold" pitchFamily="50" charset="-127"/>
              </a:rPr>
              <a:t>유기적 협업 인프라, 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조직 및 인력구성</a:t>
            </a:r>
            <a:endParaRPr lang="en-US" altLang="ko-KR" b="0" dirty="0">
              <a:solidFill>
                <a:schemeClr val="tx1"/>
              </a:solidFill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F383FD9-AC40-C4BD-D13E-040604C0A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83CDA7E8-F915-C7EF-5CB3-909B506DA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2898" y="757583"/>
            <a:ext cx="986120" cy="225707"/>
          </a:xfrm>
          <a:prstGeom prst="rect">
            <a:avLst/>
          </a:prstGeom>
        </p:spPr>
      </p:pic>
      <p:sp>
        <p:nvSpPr>
          <p:cNvPr id="13" name="Shape 4">
            <a:extLst>
              <a:ext uri="{FF2B5EF4-FFF2-40B4-BE49-F238E27FC236}">
                <a16:creationId xmlns:a16="http://schemas.microsoft.com/office/drawing/2014/main" id="{C06EE573-90E1-421E-E133-3CB7BD7AF68D}"/>
              </a:ext>
            </a:extLst>
          </p:cNvPr>
          <p:cNvSpPr/>
          <p:nvPr/>
        </p:nvSpPr>
        <p:spPr>
          <a:xfrm rot="16200000">
            <a:off x="63222" y="3013685"/>
            <a:ext cx="1687569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AF149BEA-9A4C-590B-6AB6-62923F139D6B}"/>
              </a:ext>
            </a:extLst>
          </p:cNvPr>
          <p:cNvSpPr/>
          <p:nvPr/>
        </p:nvSpPr>
        <p:spPr>
          <a:xfrm rot="16200000">
            <a:off x="1002688" y="807133"/>
            <a:ext cx="1208271" cy="189709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7B2AC"/>
              </a:gs>
              <a:gs pos="4000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그래픽 8">
            <a:extLst>
              <a:ext uri="{FF2B5EF4-FFF2-40B4-BE49-F238E27FC236}">
                <a16:creationId xmlns:a16="http://schemas.microsoft.com/office/drawing/2014/main" id="{684496F1-02DA-1459-BD12-FC31D5988FD4}"/>
              </a:ext>
            </a:extLst>
          </p:cNvPr>
          <p:cNvSpPr/>
          <p:nvPr/>
        </p:nvSpPr>
        <p:spPr>
          <a:xfrm>
            <a:off x="6128294" y="678005"/>
            <a:ext cx="2765541" cy="4123306"/>
          </a:xfrm>
          <a:prstGeom prst="roundRect">
            <a:avLst>
              <a:gd name="adj" fmla="val 4166"/>
            </a:avLst>
          </a:prstGeom>
          <a:gradFill>
            <a:gsLst>
              <a:gs pos="0">
                <a:srgbClr val="0B1120"/>
              </a:gs>
              <a:gs pos="50000">
                <a:srgbClr val="101B2D"/>
              </a:gs>
              <a:gs pos="100000">
                <a:srgbClr val="16263A"/>
              </a:gs>
            </a:gsLst>
            <a:lin ang="2700000" scaled="1"/>
          </a:gradFill>
          <a:ln w="754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41A1D-A247-291A-4871-9F738262E06F}"/>
              </a:ext>
            </a:extLst>
          </p:cNvPr>
          <p:cNvSpPr txBox="1"/>
          <p:nvPr/>
        </p:nvSpPr>
        <p:spPr>
          <a:xfrm>
            <a:off x="6281263" y="1115151"/>
            <a:ext cx="2488087" cy="64584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데이터와 </a:t>
            </a:r>
            <a:r>
              <a:rPr lang="en-US" altLang="ko-KR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를 연결하는</a:t>
            </a:r>
          </a:p>
          <a:p>
            <a:r>
              <a:rPr lang="ko-KR" altLang="en-US" sz="2000" b="1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최적의 애자일 조직</a:t>
            </a:r>
            <a:endParaRPr lang="ko-KR" sz="20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8503B3-5EBA-00AD-37FD-25768659320D}"/>
              </a:ext>
            </a:extLst>
          </p:cNvPr>
          <p:cNvSpPr txBox="1"/>
          <p:nvPr/>
        </p:nvSpPr>
        <p:spPr>
          <a:xfrm>
            <a:off x="6281263" y="884543"/>
            <a:ext cx="1865630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10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ORGANIZATION POWER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50C8C2-7C89-955B-E579-6781FAC899F8}"/>
              </a:ext>
            </a:extLst>
          </p:cNvPr>
          <p:cNvSpPr txBox="1"/>
          <p:nvPr/>
        </p:nvSpPr>
        <p:spPr>
          <a:xfrm>
            <a:off x="6281264" y="1808817"/>
            <a:ext cx="2383312" cy="939516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단순한 부서 분할이 아닙니다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연구소의 코어 기술이 현장의 솔루션으로 즉각 </a:t>
            </a:r>
            <a:r>
              <a:rPr lang="ko-KR" altLang="en-US" sz="10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딜리버리되고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, AI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와 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Data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전문가가 하나의 목적을 위해 유기적으로 결합하는 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'</a:t>
            </a:r>
            <a:r>
              <a:rPr lang="ko-KR" altLang="en-US" sz="1000" b="0" i="0" dirty="0" err="1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원팀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(One-Team)' </a:t>
            </a:r>
            <a:r>
              <a:rPr lang="ko-KR" altLang="en-US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아키텍처입니다</a:t>
            </a:r>
            <a:r>
              <a:rPr lang="en-US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10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168FA0-B2A7-6A7D-C443-CF68BD1B2D60}"/>
              </a:ext>
            </a:extLst>
          </p:cNvPr>
          <p:cNvSpPr txBox="1"/>
          <p:nvPr/>
        </p:nvSpPr>
        <p:spPr>
          <a:xfrm>
            <a:off x="6230942" y="2834462"/>
            <a:ext cx="2643184" cy="1833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280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82</a:t>
            </a:r>
            <a:r>
              <a:rPr lang="ko-KR" altLang="ko-KR" sz="1200" b="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명+</a:t>
            </a:r>
            <a:endParaRPr lang="en-US" altLang="ko-KR" sz="1200" b="0" i="0" dirty="0">
              <a:solidFill>
                <a:srgbClr val="2DD4BF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BI/AI </a:t>
            </a:r>
            <a:r>
              <a:rPr lang="ko-KR" altLang="ko-KR" sz="1050" b="1" i="0" dirty="0" err="1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특급·고급</a:t>
            </a: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 전문 인력 포진</a:t>
            </a:r>
            <a:endParaRPr lang="en-US" altLang="ko-KR" sz="1050" b="1" i="0" dirty="0">
              <a:solidFill>
                <a:srgbClr val="CBD5E1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 latinLnBrk="0">
              <a:lnSpc>
                <a:spcPct val="130000"/>
              </a:lnSpc>
              <a:buClr>
                <a:srgbClr val="115E59"/>
              </a:buClr>
            </a:pPr>
            <a:endParaRPr lang="en-US" altLang="ko-KR" sz="1050" b="1" dirty="0">
              <a:solidFill>
                <a:srgbClr val="CBD5E1"/>
              </a:solidFill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  <a:buClr>
                <a:srgbClr val="115E59"/>
              </a:buClr>
            </a:pPr>
            <a:r>
              <a:rPr lang="en-US" altLang="ko-KR" sz="2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4</a:t>
            </a:r>
            <a:r>
              <a:rPr lang="ko-KR" altLang="en-US" sz="12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대 </a:t>
            </a:r>
            <a:r>
              <a:rPr lang="en-US" altLang="ko-KR" sz="12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Delivery </a:t>
            </a:r>
            <a:r>
              <a:rPr lang="ko-KR" altLang="en-US" sz="1200" dirty="0">
                <a:solidFill>
                  <a:srgbClr val="2DD4BF"/>
                </a:solidFill>
                <a:latin typeface="SUIT" pitchFamily="2" charset="-127"/>
                <a:ea typeface="SUIT" pitchFamily="2" charset="-127"/>
              </a:rPr>
              <a:t>축</a:t>
            </a:r>
            <a:endParaRPr lang="en-US" altLang="ko-KR" sz="1200" dirty="0">
              <a:solidFill>
                <a:srgbClr val="2DD4BF"/>
              </a:solidFill>
              <a:latin typeface="SUIT" pitchFamily="2" charset="-127"/>
              <a:ea typeface="SUIT" pitchFamily="2" charset="-127"/>
            </a:endParaRPr>
          </a:p>
          <a:p>
            <a:pPr algn="l" latinLnBrk="0">
              <a:lnSpc>
                <a:spcPct val="130000"/>
              </a:lnSpc>
              <a:buClr>
                <a:srgbClr val="115E59"/>
              </a:buClr>
            </a:pPr>
            <a:r>
              <a:rPr lang="ko-KR" altLang="ko-KR" sz="1050" b="1" i="0" dirty="0" err="1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Solution</a:t>
            </a: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, AI, DE, </a:t>
            </a:r>
            <a:r>
              <a:rPr lang="ko-KR" altLang="ko-KR" sz="1050" b="1" i="0" dirty="0" err="1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DATA의</a:t>
            </a:r>
            <a:r>
              <a:rPr lang="ko-KR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 견고한</a:t>
            </a:r>
            <a:r>
              <a:rPr lang="en-US" altLang="ko-KR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en-US" sz="1050" b="1" i="0" dirty="0">
                <a:solidFill>
                  <a:srgbClr val="CBD5E1"/>
                </a:solidFill>
                <a:effectLst/>
                <a:latin typeface="SUIT" pitchFamily="2" charset="-127"/>
                <a:ea typeface="SUIT" pitchFamily="2" charset="-127"/>
              </a:rPr>
              <a:t>결합</a:t>
            </a:r>
            <a:endParaRPr lang="ko-KR" altLang="ko-KR" sz="1050" i="0" dirty="0">
              <a:solidFill>
                <a:srgbClr val="E2E8F0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E6D451-9A29-B2FD-4324-564D1D2B6C9C}"/>
              </a:ext>
            </a:extLst>
          </p:cNvPr>
          <p:cNvSpPr txBox="1"/>
          <p:nvPr/>
        </p:nvSpPr>
        <p:spPr>
          <a:xfrm>
            <a:off x="2649238" y="731936"/>
            <a:ext cx="85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0" dirty="0">
                <a:solidFill>
                  <a:srgbClr val="FFFFFF"/>
                </a:solidFill>
                <a:effectLst/>
                <a:latin typeface="SUIT" pitchFamily="2" charset="-127"/>
                <a:ea typeface="SUIT" pitchFamily="2" charset="-127"/>
              </a:rPr>
              <a:t>CEO</a:t>
            </a:r>
            <a:endParaRPr lang="ko-KR" altLang="ko-KR" sz="12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62EA1A49-1A64-110E-C5CA-1AC4E1E81F99}"/>
              </a:ext>
            </a:extLst>
          </p:cNvPr>
          <p:cNvSpPr/>
          <p:nvPr/>
        </p:nvSpPr>
        <p:spPr>
          <a:xfrm>
            <a:off x="728980" y="1446402"/>
            <a:ext cx="1742157" cy="337898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고객 기술 지원 및 </a:t>
            </a:r>
            <a:endParaRPr lang="en-US" altLang="ko-KR" sz="8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r>
              <a:rPr lang="ko-KR" altLang="ko-KR" sz="8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세일링스톤</a:t>
            </a:r>
            <a:r>
              <a:rPr lang="ko-KR" altLang="ko-KR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브랜드 가치 제고</a:t>
            </a:r>
            <a:endParaRPr lang="ko-KR" altLang="en-US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5336E5-51F4-EAC2-CF8D-28E948A7213C}"/>
              </a:ext>
            </a:extLst>
          </p:cNvPr>
          <p:cNvSpPr txBox="1"/>
          <p:nvPr/>
        </p:nvSpPr>
        <p:spPr>
          <a:xfrm>
            <a:off x="728980" y="1224782"/>
            <a:ext cx="182639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rPr>
              <a:t>Marketing &amp; Education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srgbClr val="2A9B9D"/>
              </a:solidFill>
              <a:effectLst/>
              <a:uLnTx/>
              <a:uFillTx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E7E8C4A5-F0E8-5E47-CD31-AF004B09252E}"/>
              </a:ext>
            </a:extLst>
          </p:cNvPr>
          <p:cNvSpPr/>
          <p:nvPr/>
        </p:nvSpPr>
        <p:spPr>
          <a:xfrm rot="16200000">
            <a:off x="3913433" y="807132"/>
            <a:ext cx="1208270" cy="189709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7B2AC"/>
              </a:gs>
              <a:gs pos="4000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753A64E5-D257-C7A7-A1FA-A50E8CB18D29}"/>
              </a:ext>
            </a:extLst>
          </p:cNvPr>
          <p:cNvSpPr/>
          <p:nvPr/>
        </p:nvSpPr>
        <p:spPr>
          <a:xfrm>
            <a:off x="3639724" y="1446402"/>
            <a:ext cx="1742157" cy="337898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내부 코어 엔진 및 자체 솔루션 </a:t>
            </a:r>
            <a:endParaRPr lang="en-US" altLang="ko-KR" sz="8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r>
              <a:rPr lang="ko-KR" altLang="en-US" sz="8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선행 기술 연구</a:t>
            </a:r>
            <a:endParaRPr lang="ko-KR" altLang="en-US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42F4A1-D38E-FA6F-8F0F-A57A8E203DCA}"/>
              </a:ext>
            </a:extLst>
          </p:cNvPr>
          <p:cNvSpPr txBox="1"/>
          <p:nvPr/>
        </p:nvSpPr>
        <p:spPr>
          <a:xfrm>
            <a:off x="3639724" y="1224782"/>
            <a:ext cx="182639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rPr>
              <a:t>연구소 </a:t>
            </a:r>
            <a:r>
              <a:rPr kumimoji="0" lang="en-US" altLang="ko-KR" sz="1000" i="0" u="none" strike="noStrike" kern="1200" cap="none" spc="0" normalizeH="0" baseline="0" noProof="0" dirty="0">
                <a:ln>
                  <a:noFill/>
                </a:ln>
                <a:solidFill>
                  <a:srgbClr val="0F2847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rPr>
              <a:t>(R&amp;D)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srgbClr val="2A9B9D"/>
              </a:solidFill>
              <a:effectLst/>
              <a:uLnTx/>
              <a:uFillTx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C77C91-C14E-E8D9-C212-EFD88FD129CF}"/>
              </a:ext>
            </a:extLst>
          </p:cNvPr>
          <p:cNvSpPr txBox="1"/>
          <p:nvPr/>
        </p:nvSpPr>
        <p:spPr>
          <a:xfrm>
            <a:off x="728980" y="1780047"/>
            <a:ext cx="1742158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프로젝트 품질 지원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Self-BI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교육 운영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Tableau Expertise Service</a:t>
            </a:r>
            <a:endParaRPr lang="ko-KR" altLang="en-US" sz="800" i="0" dirty="0"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4E797F-EE1D-BB18-1C32-817C948F7800}"/>
              </a:ext>
            </a:extLst>
          </p:cNvPr>
          <p:cNvSpPr txBox="1"/>
          <p:nvPr/>
        </p:nvSpPr>
        <p:spPr>
          <a:xfrm>
            <a:off x="3639724" y="1788435"/>
            <a:ext cx="1773478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코어 모듈 개발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품질 관리 </a:t>
            </a: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(QA)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기술 방향성 정의</a:t>
            </a: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042953D9-38EF-D047-2AF1-B19F35DF1F7E}"/>
              </a:ext>
            </a:extLst>
          </p:cNvPr>
          <p:cNvSpPr/>
          <p:nvPr/>
        </p:nvSpPr>
        <p:spPr>
          <a:xfrm rot="16200000">
            <a:off x="1518619" y="3013685"/>
            <a:ext cx="1687569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40CBA48F-F912-B3C4-018F-2E2F88D0DDA5}"/>
              </a:ext>
            </a:extLst>
          </p:cNvPr>
          <p:cNvSpPr/>
          <p:nvPr/>
        </p:nvSpPr>
        <p:spPr>
          <a:xfrm rot="16200000">
            <a:off x="2974017" y="3013685"/>
            <a:ext cx="1687567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A36EBEE8-6DEB-FE75-F3B6-A4BB92D553D8}"/>
              </a:ext>
            </a:extLst>
          </p:cNvPr>
          <p:cNvSpPr/>
          <p:nvPr/>
        </p:nvSpPr>
        <p:spPr>
          <a:xfrm rot="16200000">
            <a:off x="4429414" y="3013685"/>
            <a:ext cx="1687567" cy="1355909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4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395ED42-64E7-C848-13B1-F4E65CF175AA}"/>
              </a:ext>
            </a:extLst>
          </p:cNvPr>
          <p:cNvGrpSpPr/>
          <p:nvPr/>
        </p:nvGrpSpPr>
        <p:grpSpPr>
          <a:xfrm>
            <a:off x="310623" y="2967346"/>
            <a:ext cx="1196683" cy="559518"/>
            <a:chOff x="310623" y="2967346"/>
            <a:chExt cx="1196683" cy="559518"/>
          </a:xfrm>
        </p:grpSpPr>
        <p:sp>
          <p:nvSpPr>
            <p:cNvPr id="66" name="Shape 4">
              <a:extLst>
                <a:ext uri="{FF2B5EF4-FFF2-40B4-BE49-F238E27FC236}">
                  <a16:creationId xmlns:a16="http://schemas.microsoft.com/office/drawing/2014/main" id="{B6347286-8B4F-B3C6-CF4B-E01A2D4406A0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실제 솔루션 현장 </a:t>
              </a:r>
              <a:r>
                <a:rPr lang="ko-KR" altLang="en-US" sz="800" b="0" i="0" dirty="0" err="1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딜리버리</a:t>
              </a:r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 및 커스터마이징</a:t>
              </a:r>
              <a:endParaRPr lang="ko-KR" altLang="en-US" sz="8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3FBAE69-2E33-B6D7-5B3D-E3CE9EF22984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Solution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ADE64C6E-8A1C-F8CA-3899-2B008EDEBF5A}"/>
              </a:ext>
            </a:extLst>
          </p:cNvPr>
          <p:cNvGrpSpPr/>
          <p:nvPr/>
        </p:nvGrpSpPr>
        <p:grpSpPr>
          <a:xfrm>
            <a:off x="1765367" y="2967346"/>
            <a:ext cx="1196683" cy="559518"/>
            <a:chOff x="310623" y="2967346"/>
            <a:chExt cx="1196683" cy="559518"/>
          </a:xfrm>
        </p:grpSpPr>
        <p:sp>
          <p:nvSpPr>
            <p:cNvPr id="74" name="Shape 4">
              <a:extLst>
                <a:ext uri="{FF2B5EF4-FFF2-40B4-BE49-F238E27FC236}">
                  <a16:creationId xmlns:a16="http://schemas.microsoft.com/office/drawing/2014/main" id="{631DE1E7-0C55-543D-2C89-D54F357DBAC1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최신 </a:t>
              </a:r>
              <a:r>
                <a:rPr lang="en-US" altLang="ko-KR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AI </a:t>
              </a:r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기술 기반의 지능형 에이전트 구현</a:t>
              </a:r>
              <a:endParaRPr lang="ko-KR" altLang="en-US" sz="8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4F83649-AB75-F645-EAA6-A0458FC3D10F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AI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4F772B1-8274-BBA9-643C-A9FF0C715BAB}"/>
              </a:ext>
            </a:extLst>
          </p:cNvPr>
          <p:cNvGrpSpPr/>
          <p:nvPr/>
        </p:nvGrpSpPr>
        <p:grpSpPr>
          <a:xfrm>
            <a:off x="3220111" y="2967346"/>
            <a:ext cx="1196683" cy="559518"/>
            <a:chOff x="310623" y="2967346"/>
            <a:chExt cx="1196683" cy="559518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5A63F03F-3BD4-0037-CDB5-A3F97AD03A20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엔터프라이즈 대규모 데이터 파이프라인 설계</a:t>
              </a:r>
              <a:endParaRPr lang="ko-KR" altLang="en-US" sz="8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9A4AB97-7096-60CF-43E2-867BA055120B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DE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9E2BE3B-EB85-6EAB-D814-39871CC49B28}"/>
              </a:ext>
            </a:extLst>
          </p:cNvPr>
          <p:cNvGrpSpPr/>
          <p:nvPr/>
        </p:nvGrpSpPr>
        <p:grpSpPr>
          <a:xfrm>
            <a:off x="4674855" y="2967346"/>
            <a:ext cx="1196683" cy="559518"/>
            <a:chOff x="310623" y="2967346"/>
            <a:chExt cx="1196683" cy="559518"/>
          </a:xfrm>
        </p:grpSpPr>
        <p:sp>
          <p:nvSpPr>
            <p:cNvPr id="80" name="Shape 4">
              <a:extLst>
                <a:ext uri="{FF2B5EF4-FFF2-40B4-BE49-F238E27FC236}">
                  <a16:creationId xmlns:a16="http://schemas.microsoft.com/office/drawing/2014/main" id="{51F5755A-F99F-2D7A-4E83-949992CCC824}"/>
                </a:ext>
              </a:extLst>
            </p:cNvPr>
            <p:cNvSpPr/>
            <p:nvPr/>
          </p:nvSpPr>
          <p:spPr>
            <a:xfrm>
              <a:off x="310623" y="3188966"/>
              <a:ext cx="1196683" cy="337898"/>
            </a:xfrm>
            <a:prstGeom prst="roundRect">
              <a:avLst>
                <a:gd name="adj" fmla="val 24404"/>
              </a:avLst>
            </a:prstGeom>
            <a:solidFill>
              <a:srgbClr val="E2E8F0"/>
            </a:solidFill>
            <a:ln>
              <a:noFill/>
            </a:ln>
          </p:spPr>
          <p:txBody>
            <a:bodyPr lIns="36000" tIns="0" rIns="36000" bIns="0" anchor="ctr" anchorCtr="0"/>
            <a:lstStyle/>
            <a:p>
              <a:r>
                <a:rPr lang="ko-KR" altLang="en-US" sz="800" b="0" i="0" dirty="0">
                  <a:solidFill>
                    <a:srgbClr val="475569"/>
                  </a:solidFill>
                  <a:effectLst/>
                  <a:latin typeface="SUIT" pitchFamily="2" charset="-127"/>
                  <a:ea typeface="SUIT" pitchFamily="2" charset="-127"/>
                </a:rPr>
                <a:t>비즈니스 인사이트 도출을 위한 컨설팅 수행</a:t>
              </a:r>
              <a:endParaRPr lang="ko-KR" altLang="en-US" sz="8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8C9D53D-2668-ECAA-EA0A-A4DE0154479A}"/>
                </a:ext>
              </a:extLst>
            </p:cNvPr>
            <p:cNvSpPr txBox="1"/>
            <p:nvPr/>
          </p:nvSpPr>
          <p:spPr>
            <a:xfrm>
              <a:off x="310624" y="2967346"/>
              <a:ext cx="1196682" cy="184181"/>
            </a:xfrm>
            <a:prstGeom prst="rect">
              <a:avLst/>
            </a:prstGeom>
            <a:noFill/>
          </p:spPr>
          <p:txBody>
            <a:bodyPr wrap="square" lIns="40000" tIns="15000" rIns="40000" bIns="15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0" u="none" strike="noStrike" kern="1200" cap="none" spc="0" normalizeH="0" baseline="0" noProof="0" dirty="0">
                  <a:ln>
                    <a:noFill/>
                  </a:ln>
                  <a:solidFill>
                    <a:srgbClr val="0F2847"/>
                  </a:solidFill>
                  <a:effectLst/>
                  <a:uLnTx/>
                  <a:uFillTx/>
                  <a:latin typeface="SUIT ExtraBold" pitchFamily="50" charset="-127"/>
                  <a:ea typeface="SUIT ExtraBold" pitchFamily="50" charset="-127"/>
                </a:rPr>
                <a:t>DATA</a:t>
              </a:r>
              <a:endPara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srgbClr val="2A9B9D"/>
                </a:solidFill>
                <a:effectLst/>
                <a:uLnTx/>
                <a:uFillTx/>
                <a:latin typeface="SUIT ExtraBold" pitchFamily="50" charset="-127"/>
                <a:ea typeface="SUIT ExtraBold" pitchFamily="50" charset="-127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818CDB23-BAE4-4357-BC13-8946256C02D0}"/>
              </a:ext>
            </a:extLst>
          </p:cNvPr>
          <p:cNvSpPr txBox="1"/>
          <p:nvPr/>
        </p:nvSpPr>
        <p:spPr>
          <a:xfrm>
            <a:off x="239967" y="3564303"/>
            <a:ext cx="135591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적용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포털 커스터마이징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현장 시스템 구축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시스템 유지보수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2F70C3-B63B-352B-C46E-ECC6B650AEA5}"/>
              </a:ext>
            </a:extLst>
          </p:cNvPr>
          <p:cNvSpPr txBox="1"/>
          <p:nvPr/>
        </p:nvSpPr>
        <p:spPr>
          <a:xfrm>
            <a:off x="1694288" y="3564303"/>
            <a:ext cx="1355910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AI Agent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솔루션 개발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GEN SQL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적용 개발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LLM Ops/RAG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개발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5A292E-83B6-54AB-019F-46440FB5ABDF}"/>
              </a:ext>
            </a:extLst>
          </p:cNvPr>
          <p:cNvSpPr txBox="1"/>
          <p:nvPr/>
        </p:nvSpPr>
        <p:spPr>
          <a:xfrm>
            <a:off x="3148609" y="3564303"/>
            <a:ext cx="135591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데이터 모델링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데이터 표준화 체계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CDW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구축</a:t>
            </a:r>
            <a:endParaRPr lang="en-US" altLang="ko-KR" sz="800" i="0" dirty="0">
              <a:effectLst/>
              <a:latin typeface="SUIT" pitchFamily="2" charset="-127"/>
              <a:ea typeface="SUIT" pitchFamily="2" charset="-127"/>
            </a:endParaRP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Health Care</a:t>
            </a:r>
            <a:endParaRPr lang="ko-KR" altLang="en-US" sz="800" i="0" dirty="0">
              <a:effectLst/>
              <a:latin typeface="SUIT" pitchFamily="2" charset="-127"/>
              <a:ea typeface="SUIT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DFAFEF-903C-7292-B03D-DA5A1E4AB31B}"/>
              </a:ext>
            </a:extLst>
          </p:cNvPr>
          <p:cNvSpPr txBox="1"/>
          <p:nvPr/>
        </p:nvSpPr>
        <p:spPr>
          <a:xfrm>
            <a:off x="4602930" y="3564303"/>
            <a:ext cx="1355910" cy="55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대시보드 구축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전문 </a:t>
            </a: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컨설팅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800" i="0" dirty="0"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800" i="0" dirty="0">
                <a:effectLst/>
                <a:latin typeface="SUIT" pitchFamily="2" charset="-127"/>
                <a:ea typeface="SUIT" pitchFamily="2" charset="-127"/>
              </a:rPr>
              <a:t>분석 활용 지원</a:t>
            </a:r>
          </a:p>
        </p:txBody>
      </p:sp>
    </p:spTree>
    <p:extLst>
      <p:ext uri="{BB962C8B-B14F-4D97-AF65-F5344CB8AC3E}">
        <p14:creationId xmlns:p14="http://schemas.microsoft.com/office/powerpoint/2010/main" val="218953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7B14-8F29-78E8-F039-8FC86867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549D1AA8-EEA8-FF66-D08E-EFC12511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i="0" dirty="0">
                <a:solidFill>
                  <a:srgbClr val="1A202C"/>
                </a:solidFill>
                <a:effectLst/>
                <a:latin typeface="SUIT" pitchFamily="2" charset="-127"/>
                <a:ea typeface="SUIT" pitchFamily="2" charset="-127"/>
              </a:rPr>
              <a:t>진화하는 파트너십, </a:t>
            </a:r>
            <a:r>
              <a:rPr lang="ko-KR" altLang="en-US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다양한 </a:t>
            </a:r>
            <a:r>
              <a:rPr lang="ko-KR" altLang="ko-KR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프로젝트 레퍼런스</a:t>
            </a:r>
            <a:endParaRPr lang="en-US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B15B9DA-69D4-BBF4-34AA-7DB7CFF4E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43" name="그래픽 14">
            <a:extLst>
              <a:ext uri="{FF2B5EF4-FFF2-40B4-BE49-F238E27FC236}">
                <a16:creationId xmlns:a16="http://schemas.microsoft.com/office/drawing/2014/main" id="{84ECA1E5-C19C-061E-8C7B-36865BCB6D42}"/>
              </a:ext>
            </a:extLst>
          </p:cNvPr>
          <p:cNvSpPr/>
          <p:nvPr/>
        </p:nvSpPr>
        <p:spPr>
          <a:xfrm>
            <a:off x="3765688" y="1456194"/>
            <a:ext cx="1656000" cy="3338646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7801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그래픽 19">
            <a:extLst>
              <a:ext uri="{FF2B5EF4-FFF2-40B4-BE49-F238E27FC236}">
                <a16:creationId xmlns:a16="http://schemas.microsoft.com/office/drawing/2014/main" id="{E215F0C8-85D5-5B92-58D9-B0A49D8E56A5}"/>
              </a:ext>
            </a:extLst>
          </p:cNvPr>
          <p:cNvSpPr/>
          <p:nvPr/>
        </p:nvSpPr>
        <p:spPr>
          <a:xfrm>
            <a:off x="7289002" y="774291"/>
            <a:ext cx="1656000" cy="4020549"/>
          </a:xfrm>
          <a:prstGeom prst="roundRect">
            <a:avLst>
              <a:gd name="adj" fmla="val 5429"/>
            </a:avLst>
          </a:prstGeom>
          <a:solidFill>
            <a:srgbClr val="0F6E56"/>
          </a:solidFill>
          <a:ln w="7586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그래픽 24">
            <a:extLst>
              <a:ext uri="{FF2B5EF4-FFF2-40B4-BE49-F238E27FC236}">
                <a16:creationId xmlns:a16="http://schemas.microsoft.com/office/drawing/2014/main" id="{7C1AFF3E-EFA1-A0FE-9B23-C7C8B37B2549}"/>
              </a:ext>
            </a:extLst>
          </p:cNvPr>
          <p:cNvSpPr/>
          <p:nvPr/>
        </p:nvSpPr>
        <p:spPr>
          <a:xfrm>
            <a:off x="5527345" y="995166"/>
            <a:ext cx="1656000" cy="3799674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15774" cap="flat">
            <a:solidFill>
              <a:srgbClr val="38B2AC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62230EDB-0A5C-1F0D-E95F-935B7D536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8897" y="2102691"/>
            <a:ext cx="144000" cy="144000"/>
          </a:xfrm>
          <a:prstGeom prst="rect">
            <a:avLst/>
          </a:prstGeom>
        </p:spPr>
      </p:pic>
      <p:sp>
        <p:nvSpPr>
          <p:cNvPr id="52" name="그래픽 14">
            <a:extLst>
              <a:ext uri="{FF2B5EF4-FFF2-40B4-BE49-F238E27FC236}">
                <a16:creationId xmlns:a16="http://schemas.microsoft.com/office/drawing/2014/main" id="{37FD3B08-AC1E-C4EE-E6AD-9B2DDB814C2C}"/>
              </a:ext>
            </a:extLst>
          </p:cNvPr>
          <p:cNvSpPr/>
          <p:nvPr/>
        </p:nvSpPr>
        <p:spPr>
          <a:xfrm>
            <a:off x="2004031" y="1734840"/>
            <a:ext cx="1656000" cy="3060000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7801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그래픽 14">
            <a:extLst>
              <a:ext uri="{FF2B5EF4-FFF2-40B4-BE49-F238E27FC236}">
                <a16:creationId xmlns:a16="http://schemas.microsoft.com/office/drawing/2014/main" id="{8CAB2D7E-232A-F057-1467-2C0B9C412FBC}"/>
              </a:ext>
            </a:extLst>
          </p:cNvPr>
          <p:cNvSpPr/>
          <p:nvPr/>
        </p:nvSpPr>
        <p:spPr>
          <a:xfrm>
            <a:off x="242374" y="2094841"/>
            <a:ext cx="1656000" cy="2700000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7801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그래픽 33">
            <a:extLst>
              <a:ext uri="{FF2B5EF4-FFF2-40B4-BE49-F238E27FC236}">
                <a16:creationId xmlns:a16="http://schemas.microsoft.com/office/drawing/2014/main" id="{B511F237-9EB7-20EA-7581-7D00D2DE3A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139" y="3357991"/>
            <a:ext cx="144000" cy="1440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45970EC-95C0-BA3D-02D0-7517CBDCFC78}"/>
              </a:ext>
            </a:extLst>
          </p:cNvPr>
          <p:cNvSpPr txBox="1"/>
          <p:nvPr/>
        </p:nvSpPr>
        <p:spPr>
          <a:xfrm>
            <a:off x="242374" y="2199790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</a:t>
            </a:r>
            <a:r>
              <a:rPr lang="ko-KR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19~21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BCC19F-13A2-9624-A655-3BB9B7F52BD6}"/>
              </a:ext>
            </a:extLst>
          </p:cNvPr>
          <p:cNvSpPr txBox="1"/>
          <p:nvPr/>
        </p:nvSpPr>
        <p:spPr>
          <a:xfrm>
            <a:off x="2004031" y="1856686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2022~23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FBFBD1-73D5-DAE6-6A11-0B1C8D0C0954}"/>
              </a:ext>
            </a:extLst>
          </p:cNvPr>
          <p:cNvSpPr txBox="1"/>
          <p:nvPr/>
        </p:nvSpPr>
        <p:spPr>
          <a:xfrm>
            <a:off x="3773308" y="1582366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2024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D24073-8C80-5520-3929-D8DE745C0201}"/>
              </a:ext>
            </a:extLst>
          </p:cNvPr>
          <p:cNvSpPr txBox="1"/>
          <p:nvPr/>
        </p:nvSpPr>
        <p:spPr>
          <a:xfrm>
            <a:off x="5519725" y="1118702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2025</a:t>
            </a:r>
            <a:endParaRPr lang="ko-KR" altLang="en-US" sz="200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808998-2F92-2148-8739-211AADC4B6CB}"/>
              </a:ext>
            </a:extLst>
          </p:cNvPr>
          <p:cNvSpPr txBox="1"/>
          <p:nvPr/>
        </p:nvSpPr>
        <p:spPr>
          <a:xfrm>
            <a:off x="7289002" y="878973"/>
            <a:ext cx="165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i="0" dirty="0">
                <a:solidFill>
                  <a:schemeClr val="bg1"/>
                </a:solidFill>
                <a:effectLst/>
                <a:latin typeface="SUIT" pitchFamily="2" charset="-127"/>
                <a:ea typeface="SUIT" pitchFamily="2" charset="-127"/>
              </a:rPr>
              <a:t>2026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353A908-7FDB-B04A-FDE7-F4DFA49FE3D1}"/>
              </a:ext>
            </a:extLst>
          </p:cNvPr>
          <p:cNvSpPr txBox="1"/>
          <p:nvPr/>
        </p:nvSpPr>
        <p:spPr>
          <a:xfrm>
            <a:off x="241231" y="2507566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독립 및 기반 조성기</a:t>
            </a:r>
            <a:endParaRPr lang="ko-KR" altLang="en-US" sz="11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EEC78D4-27B5-B8D6-F6A8-045D56396093}"/>
              </a:ext>
            </a:extLst>
          </p:cNvPr>
          <p:cNvSpPr txBox="1"/>
          <p:nvPr/>
        </p:nvSpPr>
        <p:spPr>
          <a:xfrm>
            <a:off x="2011651" y="2161681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엔터프라이즈 BI 확장</a:t>
            </a:r>
            <a:endParaRPr lang="ko-KR" altLang="en-US" sz="11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A5909C9-6E96-E186-A784-AA4E4A2B0493}"/>
              </a:ext>
            </a:extLst>
          </p:cNvPr>
          <p:cNvSpPr txBox="1"/>
          <p:nvPr/>
        </p:nvSpPr>
        <p:spPr>
          <a:xfrm>
            <a:off x="3765688" y="1900071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1100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솔루션 준비기</a:t>
            </a:r>
            <a:endParaRPr lang="ko-KR" altLang="en-US" sz="11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A7F194C-77B5-4BA2-2E09-1A2000EA7B20}"/>
              </a:ext>
            </a:extLst>
          </p:cNvPr>
          <p:cNvSpPr txBox="1"/>
          <p:nvPr/>
        </p:nvSpPr>
        <p:spPr>
          <a:xfrm>
            <a:off x="5527345" y="1438360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지능형 플랫폼 안착</a:t>
            </a:r>
            <a:endParaRPr lang="ko-KR" altLang="en-US" sz="11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55FB4D4-141B-6EB9-5D7E-AC866D7FB5E2}"/>
              </a:ext>
            </a:extLst>
          </p:cNvPr>
          <p:cNvSpPr txBox="1"/>
          <p:nvPr/>
        </p:nvSpPr>
        <p:spPr>
          <a:xfrm>
            <a:off x="7309495" y="1187952"/>
            <a:ext cx="165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>
                <a:solidFill>
                  <a:srgbClr val="CCFBF1"/>
                </a:solidFill>
                <a:effectLst/>
                <a:latin typeface="SUIT" pitchFamily="2" charset="-127"/>
                <a:ea typeface="SUIT" pitchFamily="2" charset="-127"/>
              </a:rPr>
              <a:t>AI 고도화 및 문화 정착</a:t>
            </a:r>
            <a:endParaRPr lang="ko-KR" altLang="en-US" sz="11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12E6C33-339F-81FD-3BAC-651D3B3FCB2A}"/>
              </a:ext>
            </a:extLst>
          </p:cNvPr>
          <p:cNvSpPr txBox="1"/>
          <p:nvPr/>
        </p:nvSpPr>
        <p:spPr>
          <a:xfrm>
            <a:off x="267139" y="2852846"/>
            <a:ext cx="1630278" cy="41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ko-KR" altLang="ko-KR" sz="9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세일링스톤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법인 설립</a:t>
            </a:r>
            <a:endParaRPr lang="en-US" altLang="ko-KR" sz="9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marL="85725" indent="-85725">
              <a:lnSpc>
                <a:spcPct val="120000"/>
              </a:lnSpc>
            </a:pPr>
            <a:r>
              <a:rPr lang="ko-KR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전문가 팀 빌딩 시작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0F6C0B5-75EE-EA05-1EDA-78A268696502}"/>
              </a:ext>
            </a:extLst>
          </p:cNvPr>
          <p:cNvSpPr txBox="1"/>
          <p:nvPr/>
        </p:nvSpPr>
        <p:spPr>
          <a:xfrm>
            <a:off x="2011651" y="2543645"/>
            <a:ext cx="1648380" cy="41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Insight Platform R&amp;D 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추진</a:t>
            </a:r>
          </a:p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포털 구축 연달아 수주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8263384-CC1D-6AB6-0415-ACD134F73D7C}"/>
              </a:ext>
            </a:extLst>
          </p:cNvPr>
          <p:cNvSpPr txBox="1"/>
          <p:nvPr/>
        </p:nvSpPr>
        <p:spPr>
          <a:xfrm>
            <a:off x="3783555" y="2302765"/>
            <a:ext cx="1638133" cy="41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0F6E56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en-US" altLang="ko-KR" sz="900" b="0" i="0" dirty="0">
                <a:solidFill>
                  <a:srgbClr val="0F6E56"/>
                </a:solidFill>
                <a:effectLst/>
                <a:latin typeface="+mn-ea"/>
              </a:rPr>
              <a:t>AI </a:t>
            </a:r>
            <a:r>
              <a:rPr lang="ko-KR" altLang="en-US" sz="900" b="0" i="0" dirty="0">
                <a:solidFill>
                  <a:srgbClr val="0F6E56"/>
                </a:solidFill>
                <a:effectLst/>
                <a:latin typeface="+mn-ea"/>
              </a:rPr>
              <a:t>본부 신설</a:t>
            </a:r>
          </a:p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• </a:t>
            </a:r>
            <a:r>
              <a:rPr lang="ko-KR" altLang="en-US" sz="900" b="0" i="0" dirty="0" err="1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세일링스톤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  <a:r>
              <a:rPr lang="en-US" altLang="ko-KR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BI</a:t>
            </a:r>
            <a:r>
              <a:rPr lang="ko-KR" altLang="en-US" sz="9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포탈 개발 완료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B3F2C05-E096-2129-4249-98CCD20073A9}"/>
              </a:ext>
            </a:extLst>
          </p:cNvPr>
          <p:cNvSpPr txBox="1"/>
          <p:nvPr/>
        </p:nvSpPr>
        <p:spPr>
          <a:xfrm>
            <a:off x="5528658" y="1790357"/>
            <a:ext cx="1638134" cy="412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• 대형 자연어 기반 분석(LLM) 프로젝트 수행 본격화</a:t>
            </a:r>
            <a:endParaRPr lang="ko-KR" altLang="en-US" sz="900" dirty="0"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0EFD273D-36DE-186C-F81E-9844FFED44F7}"/>
              </a:ext>
            </a:extLst>
          </p:cNvPr>
          <p:cNvSpPr txBox="1"/>
          <p:nvPr/>
        </p:nvSpPr>
        <p:spPr>
          <a:xfrm>
            <a:off x="7289002" y="1567566"/>
            <a:ext cx="1638134" cy="411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• AI </a:t>
            </a:r>
            <a:r>
              <a:rPr lang="ko-KR" altLang="en-US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솔루션 엔터프라이즈 확산</a:t>
            </a:r>
          </a:p>
          <a:p>
            <a:pPr marL="85725" indent="-85725">
              <a:lnSpc>
                <a:spcPct val="120000"/>
              </a:lnSpc>
            </a:pPr>
            <a:r>
              <a:rPr lang="en-US" altLang="ko-KR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• </a:t>
            </a:r>
            <a:r>
              <a:rPr lang="ko-KR" altLang="en-US" sz="900" b="0" i="0" dirty="0">
                <a:solidFill>
                  <a:schemeClr val="bg1">
                    <a:lumMod val="9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지능형 데이터 활용 문화 선도</a:t>
            </a:r>
            <a:endParaRPr lang="ko-KR" altLang="en-US" sz="9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C14DA6F-6DE3-0F6D-4990-0A8C1E32A0BD}"/>
              </a:ext>
            </a:extLst>
          </p:cNvPr>
          <p:cNvSpPr txBox="1"/>
          <p:nvPr/>
        </p:nvSpPr>
        <p:spPr>
          <a:xfrm>
            <a:off x="433636" y="3313147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pic>
        <p:nvPicPr>
          <p:cNvPr id="213" name="그래픽 212">
            <a:extLst>
              <a:ext uri="{FF2B5EF4-FFF2-40B4-BE49-F238E27FC236}">
                <a16:creationId xmlns:a16="http://schemas.microsoft.com/office/drawing/2014/main" id="{6F5F33C0-C8D7-E304-0EA4-CEBDFCD97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8679" y="3089294"/>
            <a:ext cx="144000" cy="144000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CC6740A0-15D0-2EE6-BC7D-39B37B5C5389}"/>
              </a:ext>
            </a:extLst>
          </p:cNvPr>
          <p:cNvSpPr txBox="1"/>
          <p:nvPr/>
        </p:nvSpPr>
        <p:spPr>
          <a:xfrm>
            <a:off x="2183176" y="3044450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pic>
        <p:nvPicPr>
          <p:cNvPr id="215" name="그래픽 214">
            <a:extLst>
              <a:ext uri="{FF2B5EF4-FFF2-40B4-BE49-F238E27FC236}">
                <a16:creationId xmlns:a16="http://schemas.microsoft.com/office/drawing/2014/main" id="{08433820-280C-656E-A06B-557846C0B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9931" y="2818616"/>
            <a:ext cx="144000" cy="144000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7E2FF8AF-77DE-1B7F-FE05-989F73571EA0}"/>
              </a:ext>
            </a:extLst>
          </p:cNvPr>
          <p:cNvSpPr txBox="1"/>
          <p:nvPr/>
        </p:nvSpPr>
        <p:spPr>
          <a:xfrm>
            <a:off x="3954428" y="2773772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pic>
        <p:nvPicPr>
          <p:cNvPr id="218" name="그래픽 217">
            <a:extLst>
              <a:ext uri="{FF2B5EF4-FFF2-40B4-BE49-F238E27FC236}">
                <a16:creationId xmlns:a16="http://schemas.microsoft.com/office/drawing/2014/main" id="{852BE3E8-26BB-F364-BFF6-3462EA03E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9671" y="2332657"/>
            <a:ext cx="144000" cy="144000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B8C28BF3-2CCB-B0CF-AE55-FC70D9FD1773}"/>
              </a:ext>
            </a:extLst>
          </p:cNvPr>
          <p:cNvSpPr txBox="1"/>
          <p:nvPr/>
        </p:nvSpPr>
        <p:spPr>
          <a:xfrm>
            <a:off x="7490497" y="2056928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41C0C2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41C0C2"/>
              </a:solidFill>
              <a:effectLst/>
              <a:latin typeface="+mn-ea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3D21D96-D12B-6D29-248A-182046EB9C03}"/>
              </a:ext>
            </a:extLst>
          </p:cNvPr>
          <p:cNvSpPr txBox="1"/>
          <p:nvPr/>
        </p:nvSpPr>
        <p:spPr>
          <a:xfrm>
            <a:off x="5688543" y="2285848"/>
            <a:ext cx="1235144" cy="24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</a:pP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주요 수행 프로젝트</a:t>
            </a:r>
            <a:endParaRPr lang="ko-KR" altLang="en-US" sz="900" b="0" i="0" dirty="0">
              <a:solidFill>
                <a:srgbClr val="0F6E56"/>
              </a:solidFill>
              <a:effectLst/>
              <a:latin typeface="+mn-ea"/>
            </a:endParaRPr>
          </a:p>
        </p:txBody>
      </p:sp>
      <p:sp>
        <p:nvSpPr>
          <p:cNvPr id="223" name="Shape 4">
            <a:extLst>
              <a:ext uri="{FF2B5EF4-FFF2-40B4-BE49-F238E27FC236}">
                <a16:creationId xmlns:a16="http://schemas.microsoft.com/office/drawing/2014/main" id="{5EC1EABC-B1A2-F343-7691-B8FD96C3C486}"/>
              </a:ext>
            </a:extLst>
          </p:cNvPr>
          <p:cNvSpPr/>
          <p:nvPr/>
        </p:nvSpPr>
        <p:spPr>
          <a:xfrm>
            <a:off x="339139" y="3638515"/>
            <a:ext cx="416511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BI</a:t>
            </a:r>
            <a:r>
              <a:rPr lang="ko-KR" altLang="en-US" sz="700" dirty="0"/>
              <a:t>컨설팅</a:t>
            </a:r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CD56B030-F449-1224-038D-CD33FE81557E}"/>
              </a:ext>
            </a:extLst>
          </p:cNvPr>
          <p:cNvSpPr/>
          <p:nvPr/>
        </p:nvSpPr>
        <p:spPr>
          <a:xfrm>
            <a:off x="339138" y="4075673"/>
            <a:ext cx="340311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데이터</a:t>
            </a:r>
          </a:p>
        </p:txBody>
      </p:sp>
      <p:sp>
        <p:nvSpPr>
          <p:cNvPr id="225" name="Shape 4">
            <a:extLst>
              <a:ext uri="{FF2B5EF4-FFF2-40B4-BE49-F238E27FC236}">
                <a16:creationId xmlns:a16="http://schemas.microsoft.com/office/drawing/2014/main" id="{B1EB23CC-DD18-92A9-BF50-F1B894045849}"/>
              </a:ext>
            </a:extLst>
          </p:cNvPr>
          <p:cNvSpPr/>
          <p:nvPr/>
        </p:nvSpPr>
        <p:spPr>
          <a:xfrm>
            <a:off x="2088679" y="3372514"/>
            <a:ext cx="456446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LG CNS</a:t>
            </a:r>
            <a:endParaRPr lang="ko-KR" altLang="en-US" sz="700" dirty="0"/>
          </a:p>
        </p:txBody>
      </p:sp>
      <p:sp>
        <p:nvSpPr>
          <p:cNvPr id="226" name="Shape 4">
            <a:extLst>
              <a:ext uri="{FF2B5EF4-FFF2-40B4-BE49-F238E27FC236}">
                <a16:creationId xmlns:a16="http://schemas.microsoft.com/office/drawing/2014/main" id="{BAFC7878-FDF6-AC4E-F00E-D26BC065AD9C}"/>
              </a:ext>
            </a:extLst>
          </p:cNvPr>
          <p:cNvSpPr/>
          <p:nvPr/>
        </p:nvSpPr>
        <p:spPr>
          <a:xfrm>
            <a:off x="2088679" y="3592372"/>
            <a:ext cx="27828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SKT</a:t>
            </a:r>
            <a:endParaRPr lang="ko-KR" altLang="en-US" sz="700" dirty="0"/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99521C72-E8D1-E283-1652-008B18F5D462}"/>
              </a:ext>
            </a:extLst>
          </p:cNvPr>
          <p:cNvSpPr/>
          <p:nvPr/>
        </p:nvSpPr>
        <p:spPr>
          <a:xfrm>
            <a:off x="2088679" y="3812230"/>
            <a:ext cx="523896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SK</a:t>
            </a:r>
            <a:r>
              <a:rPr lang="ko-KR" altLang="en-US" sz="700" dirty="0"/>
              <a:t>하이닉스</a:t>
            </a:r>
          </a:p>
        </p:txBody>
      </p:sp>
      <p:sp>
        <p:nvSpPr>
          <p:cNvPr id="228" name="Shape 4">
            <a:extLst>
              <a:ext uri="{FF2B5EF4-FFF2-40B4-BE49-F238E27FC236}">
                <a16:creationId xmlns:a16="http://schemas.microsoft.com/office/drawing/2014/main" id="{49643A41-40DF-3878-BBDB-1AE83E4BC087}"/>
              </a:ext>
            </a:extLst>
          </p:cNvPr>
          <p:cNvSpPr/>
          <p:nvPr/>
        </p:nvSpPr>
        <p:spPr>
          <a:xfrm>
            <a:off x="2088679" y="4032088"/>
            <a:ext cx="407940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/>
              <a:t>신라호텔</a:t>
            </a:r>
            <a:endParaRPr lang="ko-KR" altLang="en-US" sz="700" dirty="0"/>
          </a:p>
        </p:txBody>
      </p:sp>
      <p:sp>
        <p:nvSpPr>
          <p:cNvPr id="229" name="Shape 4">
            <a:extLst>
              <a:ext uri="{FF2B5EF4-FFF2-40B4-BE49-F238E27FC236}">
                <a16:creationId xmlns:a16="http://schemas.microsoft.com/office/drawing/2014/main" id="{74E61A56-B8E3-E5CE-6EDC-67395272D7F1}"/>
              </a:ext>
            </a:extLst>
          </p:cNvPr>
          <p:cNvSpPr/>
          <p:nvPr/>
        </p:nvSpPr>
        <p:spPr>
          <a:xfrm>
            <a:off x="2088679" y="4251946"/>
            <a:ext cx="415126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한화생명</a:t>
            </a:r>
          </a:p>
        </p:txBody>
      </p:sp>
      <p:sp>
        <p:nvSpPr>
          <p:cNvPr id="230" name="Shape 4">
            <a:extLst>
              <a:ext uri="{FF2B5EF4-FFF2-40B4-BE49-F238E27FC236}">
                <a16:creationId xmlns:a16="http://schemas.microsoft.com/office/drawing/2014/main" id="{4CF22BF9-5DD4-07EE-2CFF-3D4B2A38A1BB}"/>
              </a:ext>
            </a:extLst>
          </p:cNvPr>
          <p:cNvSpPr/>
          <p:nvPr/>
        </p:nvSpPr>
        <p:spPr>
          <a:xfrm>
            <a:off x="3859930" y="3130943"/>
            <a:ext cx="435845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</a:t>
            </a:r>
            <a:r>
              <a:rPr lang="en-US" altLang="ko-KR" sz="700" dirty="0"/>
              <a:t>SDS</a:t>
            </a:r>
            <a:endParaRPr lang="ko-KR" altLang="en-US" sz="700" dirty="0"/>
          </a:p>
        </p:txBody>
      </p:sp>
      <p:sp>
        <p:nvSpPr>
          <p:cNvPr id="231" name="Shape 4">
            <a:extLst>
              <a:ext uri="{FF2B5EF4-FFF2-40B4-BE49-F238E27FC236}">
                <a16:creationId xmlns:a16="http://schemas.microsoft.com/office/drawing/2014/main" id="{D80776A9-226C-EB0A-768E-FE4E9281510A}"/>
              </a:ext>
            </a:extLst>
          </p:cNvPr>
          <p:cNvSpPr/>
          <p:nvPr/>
        </p:nvSpPr>
        <p:spPr>
          <a:xfrm>
            <a:off x="3859931" y="3382551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32" name="Shape 4">
            <a:extLst>
              <a:ext uri="{FF2B5EF4-FFF2-40B4-BE49-F238E27FC236}">
                <a16:creationId xmlns:a16="http://schemas.microsoft.com/office/drawing/2014/main" id="{44F9A484-17EE-D46F-BAB9-A797C08E86AC}"/>
              </a:ext>
            </a:extLst>
          </p:cNvPr>
          <p:cNvSpPr/>
          <p:nvPr/>
        </p:nvSpPr>
        <p:spPr>
          <a:xfrm>
            <a:off x="3859931" y="3634159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삼성증권</a:t>
            </a:r>
          </a:p>
        </p:txBody>
      </p:sp>
      <p:sp>
        <p:nvSpPr>
          <p:cNvPr id="233" name="Shape 4">
            <a:extLst>
              <a:ext uri="{FF2B5EF4-FFF2-40B4-BE49-F238E27FC236}">
                <a16:creationId xmlns:a16="http://schemas.microsoft.com/office/drawing/2014/main" id="{3929F9BF-0843-6261-7FB3-DBD94AC08988}"/>
              </a:ext>
            </a:extLst>
          </p:cNvPr>
          <p:cNvSpPr/>
          <p:nvPr/>
        </p:nvSpPr>
        <p:spPr>
          <a:xfrm>
            <a:off x="3859932" y="3885767"/>
            <a:ext cx="359212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솔루션</a:t>
            </a:r>
          </a:p>
        </p:txBody>
      </p:sp>
      <p:sp>
        <p:nvSpPr>
          <p:cNvPr id="234" name="Shape 4">
            <a:extLst>
              <a:ext uri="{FF2B5EF4-FFF2-40B4-BE49-F238E27FC236}">
                <a16:creationId xmlns:a16="http://schemas.microsoft.com/office/drawing/2014/main" id="{8D2C5466-F593-60C6-F886-E5E36CD5CDCC}"/>
              </a:ext>
            </a:extLst>
          </p:cNvPr>
          <p:cNvSpPr/>
          <p:nvPr/>
        </p:nvSpPr>
        <p:spPr>
          <a:xfrm>
            <a:off x="5589672" y="2618177"/>
            <a:ext cx="401554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LG </a:t>
            </a:r>
            <a:r>
              <a:rPr lang="ko-KR" altLang="en-US" sz="700" dirty="0"/>
              <a:t>전자</a:t>
            </a:r>
          </a:p>
        </p:txBody>
      </p:sp>
      <p:sp>
        <p:nvSpPr>
          <p:cNvPr id="235" name="Shape 4">
            <a:extLst>
              <a:ext uri="{FF2B5EF4-FFF2-40B4-BE49-F238E27FC236}">
                <a16:creationId xmlns:a16="http://schemas.microsoft.com/office/drawing/2014/main" id="{0DCB5DFD-CA36-8F53-6B74-5CFB2D18E9BD}"/>
              </a:ext>
            </a:extLst>
          </p:cNvPr>
          <p:cNvSpPr/>
          <p:nvPr/>
        </p:nvSpPr>
        <p:spPr>
          <a:xfrm>
            <a:off x="5589671" y="2876135"/>
            <a:ext cx="403968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36" name="Shape 4">
            <a:extLst>
              <a:ext uri="{FF2B5EF4-FFF2-40B4-BE49-F238E27FC236}">
                <a16:creationId xmlns:a16="http://schemas.microsoft.com/office/drawing/2014/main" id="{91FD6C38-37F9-D379-EBD7-1EA256E7B7BD}"/>
              </a:ext>
            </a:extLst>
          </p:cNvPr>
          <p:cNvSpPr/>
          <p:nvPr/>
        </p:nvSpPr>
        <p:spPr>
          <a:xfrm>
            <a:off x="5589671" y="3134093"/>
            <a:ext cx="403967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38" name="Shape 4">
            <a:extLst>
              <a:ext uri="{FF2B5EF4-FFF2-40B4-BE49-F238E27FC236}">
                <a16:creationId xmlns:a16="http://schemas.microsoft.com/office/drawing/2014/main" id="{CF5D800B-5E18-AB37-18F2-454BAD484B14}"/>
              </a:ext>
            </a:extLst>
          </p:cNvPr>
          <p:cNvSpPr/>
          <p:nvPr/>
        </p:nvSpPr>
        <p:spPr>
          <a:xfrm>
            <a:off x="5589671" y="3390900"/>
            <a:ext cx="506329" cy="140330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41C0C2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/>
              <a:t>GS </a:t>
            </a:r>
            <a:r>
              <a:rPr lang="ko-KR" altLang="en-US" sz="700" dirty="0" err="1"/>
              <a:t>칼텍스</a:t>
            </a:r>
            <a:endParaRPr lang="ko-KR" altLang="en-US" sz="700" dirty="0"/>
          </a:p>
        </p:txBody>
      </p:sp>
      <p:sp>
        <p:nvSpPr>
          <p:cNvPr id="239" name="Shape 4">
            <a:extLst>
              <a:ext uri="{FF2B5EF4-FFF2-40B4-BE49-F238E27FC236}">
                <a16:creationId xmlns:a16="http://schemas.microsoft.com/office/drawing/2014/main" id="{55149E61-D4DF-5A1E-DDC4-7B1F29DABD79}"/>
              </a:ext>
            </a:extLst>
          </p:cNvPr>
          <p:cNvSpPr/>
          <p:nvPr/>
        </p:nvSpPr>
        <p:spPr>
          <a:xfrm>
            <a:off x="7358897" y="2424194"/>
            <a:ext cx="416678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>
                <a:solidFill>
                  <a:schemeClr val="bg1"/>
                </a:solidFill>
              </a:rPr>
              <a:t>LG </a:t>
            </a:r>
            <a:r>
              <a:rPr lang="ko-KR" altLang="en-US" sz="700" dirty="0">
                <a:solidFill>
                  <a:schemeClr val="bg1"/>
                </a:solidFill>
              </a:rPr>
              <a:t>전자</a:t>
            </a:r>
          </a:p>
        </p:txBody>
      </p:sp>
      <p:sp>
        <p:nvSpPr>
          <p:cNvPr id="240" name="Shape 4">
            <a:extLst>
              <a:ext uri="{FF2B5EF4-FFF2-40B4-BE49-F238E27FC236}">
                <a16:creationId xmlns:a16="http://schemas.microsoft.com/office/drawing/2014/main" id="{0534FAE4-EE4E-CFD7-E716-BEDB1BD4B240}"/>
              </a:ext>
            </a:extLst>
          </p:cNvPr>
          <p:cNvSpPr/>
          <p:nvPr/>
        </p:nvSpPr>
        <p:spPr>
          <a:xfrm>
            <a:off x="7358896" y="2812487"/>
            <a:ext cx="511929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700" dirty="0">
                <a:solidFill>
                  <a:schemeClr val="bg1"/>
                </a:solidFill>
              </a:rPr>
              <a:t>SK</a:t>
            </a:r>
            <a:r>
              <a:rPr lang="ko-KR" altLang="en-US" sz="700" dirty="0">
                <a:solidFill>
                  <a:schemeClr val="bg1"/>
                </a:solidFill>
              </a:rPr>
              <a:t> </a:t>
            </a:r>
            <a:r>
              <a:rPr lang="en-US" altLang="ko-KR" sz="700" dirty="0">
                <a:solidFill>
                  <a:schemeClr val="bg1"/>
                </a:solidFill>
              </a:rPr>
              <a:t>PSNM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41" name="Shape 4">
            <a:extLst>
              <a:ext uri="{FF2B5EF4-FFF2-40B4-BE49-F238E27FC236}">
                <a16:creationId xmlns:a16="http://schemas.microsoft.com/office/drawing/2014/main" id="{7ACA8C52-E8AE-C370-A09F-E1464029E081}"/>
              </a:ext>
            </a:extLst>
          </p:cNvPr>
          <p:cNvSpPr/>
          <p:nvPr/>
        </p:nvSpPr>
        <p:spPr>
          <a:xfrm>
            <a:off x="7358897" y="3086480"/>
            <a:ext cx="403241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>
                <a:solidFill>
                  <a:schemeClr val="bg1"/>
                </a:solidFill>
              </a:rPr>
              <a:t>삼성전자</a:t>
            </a:r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29C3CC52-8340-CAD5-472B-B947826B1635}"/>
              </a:ext>
            </a:extLst>
          </p:cNvPr>
          <p:cNvSpPr/>
          <p:nvPr/>
        </p:nvSpPr>
        <p:spPr>
          <a:xfrm>
            <a:off x="7358897" y="3462073"/>
            <a:ext cx="416678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>
                <a:solidFill>
                  <a:schemeClr val="bg1"/>
                </a:solidFill>
              </a:rPr>
              <a:t>삼성전자</a:t>
            </a:r>
          </a:p>
        </p:txBody>
      </p:sp>
      <p:sp>
        <p:nvSpPr>
          <p:cNvPr id="243" name="Shape 4">
            <a:extLst>
              <a:ext uri="{FF2B5EF4-FFF2-40B4-BE49-F238E27FC236}">
                <a16:creationId xmlns:a16="http://schemas.microsoft.com/office/drawing/2014/main" id="{F0D5B7E0-07F5-FDAD-82F8-D8D45E41FA77}"/>
              </a:ext>
            </a:extLst>
          </p:cNvPr>
          <p:cNvSpPr/>
          <p:nvPr/>
        </p:nvSpPr>
        <p:spPr>
          <a:xfrm>
            <a:off x="7358897" y="3869416"/>
            <a:ext cx="416678" cy="140330"/>
          </a:xfrm>
          <a:prstGeom prst="roundRect">
            <a:avLst>
              <a:gd name="adj" fmla="val 24404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700" dirty="0">
                <a:solidFill>
                  <a:schemeClr val="bg1"/>
                </a:solidFill>
              </a:rPr>
              <a:t>삼성전자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6132B60-D0C6-10E2-C46A-4EB6F4EF59B8}"/>
              </a:ext>
            </a:extLst>
          </p:cNvPr>
          <p:cNvSpPr txBox="1"/>
          <p:nvPr/>
        </p:nvSpPr>
        <p:spPr>
          <a:xfrm>
            <a:off x="747402" y="3609676"/>
            <a:ext cx="1132833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엔터프라이즈 </a:t>
            </a:r>
            <a:r>
              <a:rPr lang="en-US" altLang="ko-KR" sz="900" dirty="0">
                <a:ea typeface="SUIT Light" pitchFamily="50" charset="-127"/>
              </a:rPr>
              <a:t>BI </a:t>
            </a:r>
            <a:r>
              <a:rPr lang="ko-KR" altLang="en-US" sz="900" dirty="0">
                <a:ea typeface="SUIT Light" pitchFamily="50" charset="-127"/>
              </a:rPr>
              <a:t>포털 기반 설계 다수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4C595DF-B1A0-9CEA-0AF3-1BBB8AFB9B13}"/>
              </a:ext>
            </a:extLst>
          </p:cNvPr>
          <p:cNvSpPr txBox="1"/>
          <p:nvPr/>
        </p:nvSpPr>
        <p:spPr>
          <a:xfrm>
            <a:off x="683551" y="4059722"/>
            <a:ext cx="1132833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다수 기업 데이터 파이프라인 기획 수행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36B31D6-E580-C480-61B9-0AF85E66EFFF}"/>
              </a:ext>
            </a:extLst>
          </p:cNvPr>
          <p:cNvSpPr txBox="1"/>
          <p:nvPr/>
        </p:nvSpPr>
        <p:spPr>
          <a:xfrm>
            <a:off x="2552745" y="3353464"/>
            <a:ext cx="1078711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</a:t>
            </a:r>
            <a:r>
              <a:rPr lang="ko-KR" altLang="en-US" sz="900" dirty="0">
                <a:ea typeface="SUIT Light" pitchFamily="50" charset="-127"/>
              </a:rPr>
              <a:t>포털 구축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FE158BA-FACE-A1C0-8B66-A58F116F4AC9}"/>
              </a:ext>
            </a:extLst>
          </p:cNvPr>
          <p:cNvSpPr txBox="1"/>
          <p:nvPr/>
        </p:nvSpPr>
        <p:spPr>
          <a:xfrm>
            <a:off x="2429289" y="3567609"/>
            <a:ext cx="1202167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5G </a:t>
            </a:r>
            <a:r>
              <a:rPr lang="ko-KR" altLang="en-US" sz="900" dirty="0">
                <a:ea typeface="SUIT Light" pitchFamily="50" charset="-127"/>
              </a:rPr>
              <a:t>모니터링 센터 개발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73970EE-0A7B-0829-5F4A-3EAFC4A00861}"/>
              </a:ext>
            </a:extLst>
          </p:cNvPr>
          <p:cNvSpPr txBox="1"/>
          <p:nvPr/>
        </p:nvSpPr>
        <p:spPr>
          <a:xfrm>
            <a:off x="2604937" y="3789252"/>
            <a:ext cx="102652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TA</a:t>
            </a:r>
            <a:endParaRPr lang="ko-KR" altLang="en-US" sz="900" dirty="0">
              <a:ea typeface="SUIT Light" pitchFamily="50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22A91C48-0EDA-67AD-82D3-39BB275B8EF0}"/>
              </a:ext>
            </a:extLst>
          </p:cNvPr>
          <p:cNvSpPr txBox="1"/>
          <p:nvPr/>
        </p:nvSpPr>
        <p:spPr>
          <a:xfrm>
            <a:off x="2517112" y="4010895"/>
            <a:ext cx="1059526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</a:t>
            </a:r>
            <a:r>
              <a:rPr lang="ko-KR" altLang="en-US" sz="900" dirty="0">
                <a:ea typeface="SUIT Light" pitchFamily="50" charset="-127"/>
              </a:rPr>
              <a:t>포털 구축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BB733AE-4617-1BB5-09AE-D0D2AA0A550E}"/>
              </a:ext>
            </a:extLst>
          </p:cNvPr>
          <p:cNvSpPr txBox="1"/>
          <p:nvPr/>
        </p:nvSpPr>
        <p:spPr>
          <a:xfrm>
            <a:off x="2511425" y="4244327"/>
            <a:ext cx="1059526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 TA</a:t>
            </a:r>
            <a:endParaRPr lang="ko-KR" altLang="en-US" sz="900" dirty="0">
              <a:ea typeface="SUIT Light" pitchFamily="50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6D38757-9472-C6AD-2438-57356AD7CC23}"/>
              </a:ext>
            </a:extLst>
          </p:cNvPr>
          <p:cNvSpPr txBox="1"/>
          <p:nvPr/>
        </p:nvSpPr>
        <p:spPr>
          <a:xfrm>
            <a:off x="4303395" y="3115220"/>
            <a:ext cx="1125914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Tableau</a:t>
            </a:r>
            <a:r>
              <a:rPr lang="ko-KR" altLang="en-US" sz="900" dirty="0">
                <a:ea typeface="SUIT Light" pitchFamily="50" charset="-127"/>
              </a:rPr>
              <a:t> </a:t>
            </a:r>
            <a:r>
              <a:rPr lang="en-US" altLang="ko-KR" sz="900" dirty="0">
                <a:ea typeface="SUIT Light" pitchFamily="50" charset="-127"/>
              </a:rPr>
              <a:t>BI </a:t>
            </a:r>
            <a:r>
              <a:rPr lang="ko-KR" altLang="en-US" sz="900" dirty="0">
                <a:ea typeface="SUIT Light" pitchFamily="50" charset="-127"/>
              </a:rPr>
              <a:t>구축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E0D1DA59-5C61-2A16-1377-5A71B5B73942}"/>
              </a:ext>
            </a:extLst>
          </p:cNvPr>
          <p:cNvSpPr txBox="1"/>
          <p:nvPr/>
        </p:nvSpPr>
        <p:spPr>
          <a:xfrm>
            <a:off x="4295776" y="3364261"/>
            <a:ext cx="1105502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DX </a:t>
            </a:r>
            <a:r>
              <a:rPr lang="ko-KR" altLang="en-US" sz="900" dirty="0" err="1">
                <a:ea typeface="SUIT Light" pitchFamily="50" charset="-127"/>
              </a:rPr>
              <a:t>태블로</a:t>
            </a:r>
            <a:r>
              <a:rPr lang="ko-KR" altLang="en-US" sz="900" dirty="0">
                <a:ea typeface="SUIT Light" pitchFamily="50" charset="-127"/>
              </a:rPr>
              <a:t> </a:t>
            </a:r>
            <a:r>
              <a:rPr lang="ko-KR" altLang="en-US" sz="900" dirty="0" err="1">
                <a:ea typeface="SUIT Light" pitchFamily="50" charset="-127"/>
              </a:rPr>
              <a:t>분석포털</a:t>
            </a:r>
            <a:r>
              <a:rPr lang="ko-KR" altLang="en-US" sz="900" dirty="0">
                <a:ea typeface="SUIT Light" pitchFamily="50" charset="-127"/>
              </a:rPr>
              <a:t> 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2F24DF39-6DE8-EB26-E776-BD6C6E859553}"/>
              </a:ext>
            </a:extLst>
          </p:cNvPr>
          <p:cNvSpPr txBox="1"/>
          <p:nvPr/>
        </p:nvSpPr>
        <p:spPr>
          <a:xfrm>
            <a:off x="4333829" y="3622484"/>
            <a:ext cx="1091669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err="1">
                <a:ea typeface="SUIT Light" pitchFamily="50" charset="-127"/>
              </a:rPr>
              <a:t>태블로</a:t>
            </a:r>
            <a:r>
              <a:rPr lang="ko-KR" altLang="en-US" sz="900" dirty="0">
                <a:ea typeface="SUIT Light" pitchFamily="50" charset="-127"/>
              </a:rPr>
              <a:t> 대시보드 개선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49DF8BDE-EE2F-5A2A-5DD9-66F96308F453}"/>
              </a:ext>
            </a:extLst>
          </p:cNvPr>
          <p:cNvSpPr txBox="1"/>
          <p:nvPr/>
        </p:nvSpPr>
        <p:spPr>
          <a:xfrm>
            <a:off x="4226765" y="3865467"/>
            <a:ext cx="1147796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 err="1">
                <a:ea typeface="SUIT Light" pitchFamily="50" charset="-127"/>
              </a:rPr>
              <a:t>Insightworks</a:t>
            </a:r>
            <a:r>
              <a:rPr lang="en-US" altLang="ko-KR" sz="900" dirty="0">
                <a:ea typeface="SUIT Light" pitchFamily="50" charset="-127"/>
              </a:rPr>
              <a:t> </a:t>
            </a:r>
            <a:r>
              <a:rPr lang="ko-KR" altLang="en-US" sz="900" dirty="0">
                <a:ea typeface="SUIT Light" pitchFamily="50" charset="-127"/>
              </a:rPr>
              <a:t>고도화 개발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88B33C2-34C9-9AE5-6469-5AE7CBF20E26}"/>
              </a:ext>
            </a:extLst>
          </p:cNvPr>
          <p:cNvSpPr txBox="1"/>
          <p:nvPr/>
        </p:nvSpPr>
        <p:spPr>
          <a:xfrm>
            <a:off x="5993639" y="2608099"/>
            <a:ext cx="1197326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rgbClr val="115E59"/>
                </a:solidFill>
                <a:latin typeface="SUIT ExtraBold" pitchFamily="50" charset="-127"/>
                <a:ea typeface="SUIT ExtraBold" pitchFamily="50" charset="-127"/>
              </a:rPr>
              <a:t>AI Insight Agent</a:t>
            </a:r>
            <a:endParaRPr lang="ko-KR" altLang="en-US" sz="900" dirty="0">
              <a:solidFill>
                <a:srgbClr val="115E59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893E321A-5B67-CED6-5550-0E78E3BC56D5}"/>
              </a:ext>
            </a:extLst>
          </p:cNvPr>
          <p:cNvSpPr txBox="1"/>
          <p:nvPr/>
        </p:nvSpPr>
        <p:spPr>
          <a:xfrm>
            <a:off x="6001259" y="2866042"/>
            <a:ext cx="109167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표준화 대시보드 설계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D9D970B-520A-FB48-D447-3B7ACE4482A2}"/>
              </a:ext>
            </a:extLst>
          </p:cNvPr>
          <p:cNvSpPr txBox="1"/>
          <p:nvPr/>
        </p:nvSpPr>
        <p:spPr>
          <a:xfrm>
            <a:off x="6001259" y="3117098"/>
            <a:ext cx="109167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GBC </a:t>
            </a:r>
            <a:r>
              <a:rPr lang="ko-KR" altLang="en-US" sz="900" dirty="0">
                <a:ea typeface="SUIT Light" pitchFamily="50" charset="-127"/>
              </a:rPr>
              <a:t>대시보드 구축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C8E326C1-9EA9-7B01-2077-3C825DD2C884}"/>
              </a:ext>
            </a:extLst>
          </p:cNvPr>
          <p:cNvSpPr txBox="1"/>
          <p:nvPr/>
        </p:nvSpPr>
        <p:spPr>
          <a:xfrm>
            <a:off x="6103620" y="3365500"/>
            <a:ext cx="1063172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ea typeface="SUIT Light" pitchFamily="50" charset="-127"/>
              </a:rPr>
              <a:t>대시보드 개발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CC964D2-4A7F-8687-3653-09C23B6BCC8A}"/>
              </a:ext>
            </a:extLst>
          </p:cNvPr>
          <p:cNvSpPr txBox="1"/>
          <p:nvPr/>
        </p:nvSpPr>
        <p:spPr>
          <a:xfrm>
            <a:off x="7775575" y="2397398"/>
            <a:ext cx="1151561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AI솔루션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도입 및 문화 정착 </a:t>
            </a:r>
            <a:r>
              <a:rPr lang="ko-KR" altLang="ko-KR" sz="9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[진행]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3CA23B1-3C1B-79D8-205B-C1143BF7784F}"/>
              </a:ext>
            </a:extLst>
          </p:cNvPr>
          <p:cNvSpPr txBox="1"/>
          <p:nvPr/>
        </p:nvSpPr>
        <p:spPr>
          <a:xfrm>
            <a:off x="7870826" y="2794430"/>
            <a:ext cx="1172214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AI솔루션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도입 </a:t>
            </a:r>
            <a:r>
              <a:rPr lang="ko-KR" altLang="ko-KR" sz="9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[진행]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347DEAF-919C-E4DD-BF9C-3C67DC0E2B95}"/>
              </a:ext>
            </a:extLst>
          </p:cNvPr>
          <p:cNvSpPr txBox="1"/>
          <p:nvPr/>
        </p:nvSpPr>
        <p:spPr>
          <a:xfrm>
            <a:off x="7793281" y="3066772"/>
            <a:ext cx="1133855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rgbClr val="F8FAFC"/>
                </a:solidFill>
                <a:latin typeface="SUIT" pitchFamily="2" charset="-127"/>
                <a:ea typeface="SUIT" pitchFamily="2" charset="-127"/>
              </a:rPr>
              <a:t>마케팅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BI 대시보드 포탈 구축 </a:t>
            </a:r>
            <a:r>
              <a:rPr lang="ko-KR" altLang="ko-KR" sz="9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[진행]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21A2DF1-3CFC-E03E-4FBF-CAD71BCC5C4F}"/>
              </a:ext>
            </a:extLst>
          </p:cNvPr>
          <p:cNvSpPr txBox="1"/>
          <p:nvPr/>
        </p:nvSpPr>
        <p:spPr>
          <a:xfrm>
            <a:off x="7793281" y="3460488"/>
            <a:ext cx="1133855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DS부문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D.Q 표준화 시스템 </a:t>
            </a:r>
            <a:r>
              <a:rPr lang="ko-KR" altLang="ko-KR" sz="900" b="1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[예정]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B6F23B8-2B4A-03B9-E3F3-351CDE06A320}"/>
              </a:ext>
            </a:extLst>
          </p:cNvPr>
          <p:cNvSpPr txBox="1"/>
          <p:nvPr/>
        </p:nvSpPr>
        <p:spPr>
          <a:xfrm>
            <a:off x="7811147" y="3860141"/>
            <a:ext cx="1133855" cy="356054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DS </a:t>
            </a: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Foundry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b="0" i="0" dirty="0" err="1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수율</a:t>
            </a:r>
            <a:r>
              <a:rPr lang="ko-KR" altLang="ko-KR" sz="900" b="0" i="0" dirty="0">
                <a:solidFill>
                  <a:srgbClr val="F8FAFC"/>
                </a:solidFill>
                <a:effectLst/>
                <a:latin typeface="SUIT" pitchFamily="2" charset="-127"/>
                <a:ea typeface="SUIT" pitchFamily="2" charset="-127"/>
              </a:rPr>
              <a:t> 플랫폼 </a:t>
            </a:r>
            <a:r>
              <a:rPr lang="ko-KR" altLang="ko-KR" sz="900" b="1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[예정]</a:t>
            </a:r>
            <a:endParaRPr lang="ko-KR" altLang="en-US" sz="900" dirty="0">
              <a:solidFill>
                <a:schemeClr val="bg1"/>
              </a:solidFill>
              <a:ea typeface="SUIT ExtraBold" pitchFamily="50" charset="-127"/>
            </a:endParaRPr>
          </a:p>
        </p:txBody>
      </p:sp>
      <p:sp>
        <p:nvSpPr>
          <p:cNvPr id="266" name="Shape 4">
            <a:extLst>
              <a:ext uri="{FF2B5EF4-FFF2-40B4-BE49-F238E27FC236}">
                <a16:creationId xmlns:a16="http://schemas.microsoft.com/office/drawing/2014/main" id="{C0404587-440E-E4EF-DD0C-09A3748FCA70}"/>
              </a:ext>
            </a:extLst>
          </p:cNvPr>
          <p:cNvSpPr/>
          <p:nvPr/>
        </p:nvSpPr>
        <p:spPr>
          <a:xfrm>
            <a:off x="221858" y="748358"/>
            <a:ext cx="4350142" cy="34077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endParaRPr lang="ko-KR" altLang="en-US" sz="700" dirty="0"/>
          </a:p>
        </p:txBody>
      </p:sp>
      <p:sp>
        <p:nvSpPr>
          <p:cNvPr id="268" name="Shape 4">
            <a:extLst>
              <a:ext uri="{FF2B5EF4-FFF2-40B4-BE49-F238E27FC236}">
                <a16:creationId xmlns:a16="http://schemas.microsoft.com/office/drawing/2014/main" id="{384C5DD5-677B-4F3E-76F8-A66DEBC51838}"/>
              </a:ext>
            </a:extLst>
          </p:cNvPr>
          <p:cNvSpPr/>
          <p:nvPr/>
        </p:nvSpPr>
        <p:spPr>
          <a:xfrm>
            <a:off x="323265" y="801133"/>
            <a:ext cx="981660" cy="232133"/>
          </a:xfrm>
          <a:prstGeom prst="roundRect">
            <a:avLst>
              <a:gd name="adj" fmla="val 39676"/>
            </a:avLst>
          </a:prstGeom>
          <a:solidFill>
            <a:srgbClr val="115E59"/>
          </a:solidFill>
          <a:ln>
            <a:solidFill>
              <a:srgbClr val="115E59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900" dirty="0">
                <a:solidFill>
                  <a:schemeClr val="bg1"/>
                </a:solidFill>
              </a:rPr>
              <a:t>2019 -&gt; 2026+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5FA3030-B7BC-D04D-7DBD-A3D57B1A4AC2}"/>
              </a:ext>
            </a:extLst>
          </p:cNvPr>
          <p:cNvSpPr txBox="1"/>
          <p:nvPr/>
        </p:nvSpPr>
        <p:spPr>
          <a:xfrm>
            <a:off x="1312545" y="794660"/>
            <a:ext cx="3119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BI 컨설팅</a:t>
            </a:r>
            <a:r>
              <a:rPr lang="en-US" altLang="ko-KR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-&gt; </a:t>
            </a:r>
            <a:r>
              <a:rPr lang="ko-KR" altLang="en-US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엔터프라이즈 분석 포털 구축 </a:t>
            </a:r>
            <a:r>
              <a:rPr lang="en-US" altLang="ko-KR" sz="900" b="1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-&gt; </a:t>
            </a:r>
            <a:r>
              <a:rPr lang="ko-KR" altLang="ko-KR" sz="900" b="1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AI 지능화 솔루션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UIT" panose="020F0502020204030204"/>
              <a:ea typeface="SUIT" pitchFamily="2" charset="-127"/>
            </a:endParaRPr>
          </a:p>
        </p:txBody>
      </p:sp>
      <p:sp>
        <p:nvSpPr>
          <p:cNvPr id="273" name="Shape 4">
            <a:extLst>
              <a:ext uri="{FF2B5EF4-FFF2-40B4-BE49-F238E27FC236}">
                <a16:creationId xmlns:a16="http://schemas.microsoft.com/office/drawing/2014/main" id="{74E61A56-B8E3-E5CE-6EDC-67395272D7F1}"/>
              </a:ext>
            </a:extLst>
          </p:cNvPr>
          <p:cNvSpPr/>
          <p:nvPr/>
        </p:nvSpPr>
        <p:spPr>
          <a:xfrm>
            <a:off x="2088679" y="4470400"/>
            <a:ext cx="406400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LG 전자</a:t>
            </a:r>
          </a:p>
        </p:txBody>
      </p:sp>
      <p:sp>
        <p:nvSpPr>
          <p:cNvPr id="274" name="TextBox 249">
            <a:extLst>
              <a:ext uri="{FF2B5EF4-FFF2-40B4-BE49-F238E27FC236}">
                <a16:creationId xmlns:a16="http://schemas.microsoft.com/office/drawing/2014/main" id="{1BB733AE-4617-1BB5-09AE-D0D2AA0A550E}"/>
              </a:ext>
            </a:extLst>
          </p:cNvPr>
          <p:cNvSpPr txBox="1"/>
          <p:nvPr/>
        </p:nvSpPr>
        <p:spPr>
          <a:xfrm>
            <a:off x="2552700" y="4457700"/>
            <a:ext cx="107950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HR Index 대시보드</a:t>
            </a:r>
            <a:endParaRPr lang="ko-KR" altLang="en-US" sz="900" dirty="0">
              <a:ea typeface="SUIT Light" pitchFamily="50" charset="-127"/>
            </a:endParaRPr>
          </a:p>
        </p:txBody>
      </p:sp>
      <p:sp>
        <p:nvSpPr>
          <p:cNvPr id="275" name="Shape 4">
            <a:extLst>
              <a:ext uri="{FF2B5EF4-FFF2-40B4-BE49-F238E27FC236}">
                <a16:creationId xmlns:a16="http://schemas.microsoft.com/office/drawing/2014/main" id="{D80776A9-226C-EB0A-768E-FE4E9281510A}"/>
              </a:ext>
            </a:extLst>
          </p:cNvPr>
          <p:cNvSpPr/>
          <p:nvPr/>
        </p:nvSpPr>
        <p:spPr>
          <a:xfrm>
            <a:off x="3859931" y="4318000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76" name="TextBox 251">
            <a:extLst>
              <a:ext uri="{FF2B5EF4-FFF2-40B4-BE49-F238E27FC236}">
                <a16:creationId xmlns:a16="http://schemas.microsoft.com/office/drawing/2014/main" id="{E0D1DA59-5C61-2A16-1377-5A71B5B73942}"/>
              </a:ext>
            </a:extLst>
          </p:cNvPr>
          <p:cNvSpPr txBox="1"/>
          <p:nvPr/>
        </p:nvSpPr>
        <p:spPr>
          <a:xfrm>
            <a:off x="4292600" y="4305300"/>
            <a:ext cx="113030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DX HR DataLab</a:t>
            </a:r>
          </a:p>
        </p:txBody>
      </p:sp>
      <p:sp>
        <p:nvSpPr>
          <p:cNvPr id="277" name="Shape 4">
            <a:extLst>
              <a:ext uri="{FF2B5EF4-FFF2-40B4-BE49-F238E27FC236}">
                <a16:creationId xmlns:a16="http://schemas.microsoft.com/office/drawing/2014/main" id="{D80776A9-226C-EB0A-768E-FE4E9281510A}"/>
              </a:ext>
            </a:extLst>
          </p:cNvPr>
          <p:cNvSpPr/>
          <p:nvPr/>
        </p:nvSpPr>
        <p:spPr>
          <a:xfrm>
            <a:off x="3859931" y="4546600"/>
            <a:ext cx="435844" cy="140330"/>
          </a:xfrm>
          <a:prstGeom prst="roundRect">
            <a:avLst>
              <a:gd name="adj" fmla="val 24404"/>
            </a:avLst>
          </a:prstGeom>
          <a:solidFill>
            <a:srgbClr val="E2E8F0"/>
          </a:solidFill>
          <a:ln>
            <a:noFill/>
          </a:ln>
        </p:spPr>
        <p:txBody>
          <a:bodyPr lIns="36000" tIns="0" rIns="36000" bIns="0" anchor="ctr" anchorCtr="0"/>
          <a:lstStyle/>
          <a:p>
            <a:r>
              <a:rPr lang="ko-KR" altLang="en-US" sz="700" dirty="0"/>
              <a:t>삼성전자</a:t>
            </a:r>
          </a:p>
        </p:txBody>
      </p:sp>
      <p:sp>
        <p:nvSpPr>
          <p:cNvPr id="278" name="TextBox 251">
            <a:extLst>
              <a:ext uri="{FF2B5EF4-FFF2-40B4-BE49-F238E27FC236}">
                <a16:creationId xmlns:a16="http://schemas.microsoft.com/office/drawing/2014/main" id="{E0D1DA59-5C61-2A16-1377-5A71B5B73942}"/>
              </a:ext>
            </a:extLst>
          </p:cNvPr>
          <p:cNvSpPr txBox="1"/>
          <p:nvPr/>
        </p:nvSpPr>
        <p:spPr>
          <a:xfrm>
            <a:off x="4292600" y="4533900"/>
            <a:ext cx="1130300" cy="189855"/>
          </a:xfrm>
          <a:prstGeom prst="rect">
            <a:avLst/>
          </a:prstGeom>
          <a:noFill/>
        </p:spPr>
        <p:txBody>
          <a:bodyPr wrap="square" lIns="36000" tIns="0" rIns="36000" b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dirty="0">
                <a:ea typeface="SUIT Light" pitchFamily="50" charset="-127"/>
              </a:rPr>
              <a:t>DS HR 분석 플랫폼</a:t>
            </a:r>
          </a:p>
        </p:txBody>
      </p:sp>
    </p:spTree>
    <p:extLst>
      <p:ext uri="{BB962C8B-B14F-4D97-AF65-F5344CB8AC3E}">
        <p14:creationId xmlns:p14="http://schemas.microsoft.com/office/powerpoint/2010/main" val="378228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3" y="1020471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6956" y="1117683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16956" y="1454582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16956" y="160991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16956" y="1765250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16956" y="2083633"/>
            <a:ext cx="1075307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532496" y="2083633"/>
            <a:ext cx="1055192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6956" y="2280114"/>
            <a:ext cx="147854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503236" y="2306860"/>
            <a:ext cx="330090" cy="102870"/>
          </a:xfrm>
          <a:prstGeom prst="roundRect">
            <a:avLst>
              <a:gd name="adj" fmla="val 2777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16956" y="2487911"/>
            <a:ext cx="2526424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188433" y="1020471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309131" y="1117683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309131" y="1454582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309131" y="160991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309131" y="1765250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309131" y="2104207"/>
            <a:ext cx="1196920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309130" y="2300688"/>
            <a:ext cx="1296587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45950" y="2300688"/>
            <a:ext cx="954610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309130" y="2497170"/>
            <a:ext cx="918035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080608" y="1020471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200392" y="1117683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200392" y="1454582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00392" y="160991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200392" y="1765250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00392" y="2497170"/>
            <a:ext cx="148677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423828" y="2523916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297173" y="2870588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16956" y="2967800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16956" y="3304699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16956" y="3460033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16956" y="361536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16956" y="3954838"/>
            <a:ext cx="1733659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16956" y="4150805"/>
            <a:ext cx="1532496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687026" y="4178065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16956" y="4347287"/>
            <a:ext cx="1463003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616619" y="4374032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3188433" y="2870588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3309131" y="2967800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309131" y="3304699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3309131" y="3460033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3309131" y="361536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3309131" y="4347287"/>
            <a:ext cx="939065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4287515" y="4347287"/>
            <a:ext cx="969240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80608" y="2870588"/>
            <a:ext cx="2765991" cy="1724615"/>
          </a:xfrm>
          <a:prstGeom prst="roundRect">
            <a:avLst>
              <a:gd name="adj" fmla="val 59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200392" y="2967800"/>
            <a:ext cx="228594" cy="228371"/>
          </a:xfrm>
          <a:prstGeom prst="roundRect">
            <a:avLst>
              <a:gd name="adj" fmla="val 2752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200392" y="3304699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6200392" y="3460033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6200392" y="3615366"/>
            <a:ext cx="32003" cy="3189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6200392" y="3758356"/>
            <a:ext cx="93540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7176032" y="3758356"/>
            <a:ext cx="863172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6200392" y="3954838"/>
            <a:ext cx="1135657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376281" y="3954838"/>
            <a:ext cx="91437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200392" y="4150805"/>
            <a:ext cx="685783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6926407" y="4150805"/>
            <a:ext cx="566914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7533554" y="4150805"/>
            <a:ext cx="1018616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200392" y="4347287"/>
            <a:ext cx="1280128" cy="156362"/>
          </a:xfrm>
          <a:prstGeom prst="roundRect">
            <a:avLst>
              <a:gd name="adj" fmla="val 292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7218093" y="4374032"/>
            <a:ext cx="200249" cy="102870"/>
          </a:xfrm>
          <a:prstGeom prst="roundRect">
            <a:avLst>
              <a:gd name="adj" fmla="val 27777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772649" y="4786541"/>
            <a:ext cx="3617276" cy="565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496869" y="1192649"/>
            <a:ext cx="36537" cy="36605"/>
          </a:xfrm>
          <a:prstGeom prst="ellipse">
            <a:avLst/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481210" y="1239712"/>
            <a:ext cx="67855" cy="33990"/>
          </a:xfrm>
          <a:custGeom>
            <a:avLst/>
            <a:gdLst/>
            <a:ahLst/>
            <a:cxnLst/>
            <a:rect l="l" t="t" r="r" b="b"/>
            <a:pathLst>
              <a:path w="90473" h="45320">
                <a:moveTo>
                  <a:pt x="0" y="45320"/>
                </a:moveTo>
                <a:cubicBezTo>
                  <a:pt x="0" y="20290"/>
                  <a:pt x="20253" y="0"/>
                  <a:pt x="45236" y="0"/>
                </a:cubicBezTo>
                <a:cubicBezTo>
                  <a:pt x="70220" y="0"/>
                  <a:pt x="90473" y="20290"/>
                  <a:pt x="90473" y="45320"/>
                </a:cubicBez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543845" y="1203107"/>
            <a:ext cx="26098" cy="26147"/>
          </a:xfrm>
          <a:prstGeom prst="ellipse">
            <a:avLst/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551675" y="1249442"/>
            <a:ext cx="28708" cy="24261"/>
          </a:xfrm>
          <a:custGeom>
            <a:avLst/>
            <a:gdLst/>
            <a:ahLst/>
            <a:cxnLst/>
            <a:rect l="l" t="t" r="r" b="b"/>
            <a:pathLst>
              <a:path w="38277" h="32348">
                <a:moveTo>
                  <a:pt x="0" y="972"/>
                </a:moveTo>
                <a:cubicBezTo>
                  <a:pt x="9238" y="0"/>
                  <a:pt x="18481" y="2769"/>
                  <a:pt x="25670" y="8662"/>
                </a:cubicBezTo>
                <a:cubicBezTo>
                  <a:pt x="32860" y="14555"/>
                  <a:pt x="37399" y="23083"/>
                  <a:pt x="38277" y="32348"/>
                </a:cubicBez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432729" y="2567379"/>
            <a:ext cx="52577" cy="63265"/>
          </a:xfrm>
          <a:custGeom>
            <a:avLst/>
            <a:gdLst/>
            <a:ahLst/>
            <a:cxnLst/>
            <a:rect l="l" t="t" r="r" b="b"/>
            <a:pathLst>
              <a:path w="70102" h="84353">
                <a:moveTo>
                  <a:pt x="35051" y="0"/>
                </a:moveTo>
                <a:lnTo>
                  <a:pt x="70102" y="14059"/>
                </a:lnTo>
                <a:lnTo>
                  <a:pt x="70102" y="39834"/>
                </a:lnTo>
                <a:cubicBezTo>
                  <a:pt x="70102" y="60922"/>
                  <a:pt x="55147" y="77324"/>
                  <a:pt x="35051" y="84353"/>
                </a:cubicBezTo>
                <a:cubicBezTo>
                  <a:pt x="14955" y="77324"/>
                  <a:pt x="0" y="60922"/>
                  <a:pt x="0" y="39834"/>
                </a:cubicBezTo>
                <a:lnTo>
                  <a:pt x="0" y="14059"/>
                </a:lnTo>
                <a:close/>
              </a:path>
            </a:pathLst>
          </a:custGeom>
          <a:ln w="7488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3375994" y="1184805"/>
            <a:ext cx="93953" cy="94126"/>
          </a:xfrm>
          <a:custGeom>
            <a:avLst/>
            <a:gdLst/>
            <a:ahLst/>
            <a:cxnLst/>
            <a:rect l="l" t="t" r="r" b="b"/>
            <a:pathLst>
              <a:path w="125270" h="125501">
                <a:moveTo>
                  <a:pt x="0" y="0"/>
                </a:moveTo>
                <a:lnTo>
                  <a:pt x="0" y="125501"/>
                </a:lnTo>
                <a:lnTo>
                  <a:pt x="125270" y="125501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3396873" y="1205722"/>
            <a:ext cx="62635" cy="36605"/>
          </a:xfrm>
          <a:custGeom>
            <a:avLst/>
            <a:gdLst/>
            <a:ahLst/>
            <a:cxnLst/>
            <a:rect l="l" t="t" r="r" b="b"/>
            <a:pathLst>
              <a:path w="83513" h="48806">
                <a:moveTo>
                  <a:pt x="0" y="48806"/>
                </a:moveTo>
                <a:lnTo>
                  <a:pt x="27838" y="20917"/>
                </a:lnTo>
                <a:lnTo>
                  <a:pt x="48716" y="41834"/>
                </a:lnTo>
                <a:lnTo>
                  <a:pt x="83513" y="0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6267255" y="1200493"/>
            <a:ext cx="73074" cy="62751"/>
          </a:xfrm>
          <a:custGeom>
            <a:avLst/>
            <a:gdLst/>
            <a:ahLst/>
            <a:cxnLst/>
            <a:rect l="l" t="t" r="r" b="b"/>
            <a:pathLst>
              <a:path w="97432" h="83668">
                <a:moveTo>
                  <a:pt x="0" y="34862"/>
                </a:moveTo>
                <a:lnTo>
                  <a:pt x="97432" y="0"/>
                </a:lnTo>
                <a:lnTo>
                  <a:pt x="97432" y="83668"/>
                </a:lnTo>
                <a:lnTo>
                  <a:pt x="0" y="48806"/>
                </a:lnTo>
                <a:close/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6288133" y="1237097"/>
            <a:ext cx="20879" cy="36605"/>
          </a:xfrm>
          <a:custGeom>
            <a:avLst/>
            <a:gdLst/>
            <a:ahLst/>
            <a:cxnLst/>
            <a:rect l="l" t="t" r="r" b="b"/>
            <a:pathLst>
              <a:path w="27838" h="48806">
                <a:moveTo>
                  <a:pt x="0" y="0"/>
                </a:moveTo>
                <a:lnTo>
                  <a:pt x="0" y="34862"/>
                </a:lnTo>
                <a:cubicBezTo>
                  <a:pt x="0" y="42563"/>
                  <a:pt x="6232" y="48806"/>
                  <a:pt x="13919" y="48806"/>
                </a:cubicBezTo>
                <a:cubicBezTo>
                  <a:pt x="21606" y="48806"/>
                  <a:pt x="27838" y="42563"/>
                  <a:pt x="27838" y="34862"/>
                </a:cubicBezTo>
                <a:lnTo>
                  <a:pt x="27838" y="13945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6340329" y="1216180"/>
            <a:ext cx="15659" cy="31376"/>
          </a:xfrm>
          <a:custGeom>
            <a:avLst/>
            <a:gdLst/>
            <a:ahLst/>
            <a:cxnLst/>
            <a:rect l="l" t="t" r="r" b="b"/>
            <a:pathLst>
              <a:path w="20878" h="41834">
                <a:moveTo>
                  <a:pt x="0" y="0"/>
                </a:moveTo>
                <a:cubicBezTo>
                  <a:pt x="11531" y="0"/>
                  <a:pt x="20878" y="9365"/>
                  <a:pt x="20878" y="20917"/>
                </a:cubicBezTo>
                <a:cubicBezTo>
                  <a:pt x="20878" y="32469"/>
                  <a:pt x="11531" y="41834"/>
                  <a:pt x="0" y="41834"/>
                </a:cubicBez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483820" y="3034923"/>
            <a:ext cx="93953" cy="94126"/>
          </a:xfrm>
          <a:custGeom>
            <a:avLst/>
            <a:gdLst/>
            <a:ahLst/>
            <a:cxnLst/>
            <a:rect l="l" t="t" r="r" b="b"/>
            <a:pathLst>
              <a:path w="125270" h="125501">
                <a:moveTo>
                  <a:pt x="0" y="125501"/>
                </a:moveTo>
                <a:lnTo>
                  <a:pt x="0" y="41834"/>
                </a:lnTo>
                <a:lnTo>
                  <a:pt x="41757" y="69723"/>
                </a:lnTo>
                <a:lnTo>
                  <a:pt x="41757" y="41834"/>
                </a:lnTo>
                <a:lnTo>
                  <a:pt x="83513" y="69723"/>
                </a:lnTo>
                <a:lnTo>
                  <a:pt x="83513" y="13945"/>
                </a:lnTo>
                <a:lnTo>
                  <a:pt x="125270" y="0"/>
                </a:lnTo>
                <a:lnTo>
                  <a:pt x="125270" y="125501"/>
                </a:lnTo>
                <a:close/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3370776" y="3040151"/>
            <a:ext cx="104392" cy="67980"/>
          </a:xfrm>
          <a:prstGeom prst="roundRect">
            <a:avLst>
              <a:gd name="adj" fmla="val 15370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3402093" y="3129048"/>
            <a:ext cx="41756" cy="2744"/>
          </a:xfrm>
          <a:custGeom>
            <a:avLst/>
            <a:gdLst/>
            <a:ahLst/>
            <a:cxnLst/>
            <a:rect l="l" t="t" r="r" b="b"/>
            <a:pathLst>
              <a:path w="55675" h="3658">
                <a:moveTo>
                  <a:pt x="0" y="0"/>
                </a:moveTo>
                <a:lnTo>
                  <a:pt x="55675" y="0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3422971" y="3108132"/>
            <a:ext cx="2744" cy="20917"/>
          </a:xfrm>
          <a:custGeom>
            <a:avLst/>
            <a:gdLst/>
            <a:ahLst/>
            <a:cxnLst/>
            <a:rect l="l" t="t" r="r" b="b"/>
            <a:pathLst>
              <a:path w="3658" h="27889">
                <a:moveTo>
                  <a:pt x="0" y="0"/>
                </a:moveTo>
                <a:lnTo>
                  <a:pt x="0" y="27889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3391654" y="3055839"/>
            <a:ext cx="52196" cy="26147"/>
          </a:xfrm>
          <a:custGeom>
            <a:avLst/>
            <a:gdLst/>
            <a:ahLst/>
            <a:cxnLst/>
            <a:rect l="l" t="t" r="r" b="b"/>
            <a:pathLst>
              <a:path w="69594" h="34862">
                <a:moveTo>
                  <a:pt x="0" y="34862"/>
                </a:moveTo>
                <a:lnTo>
                  <a:pt x="20878" y="13945"/>
                </a:lnTo>
                <a:lnTo>
                  <a:pt x="41757" y="27889"/>
                </a:lnTo>
                <a:lnTo>
                  <a:pt x="69594" y="0"/>
                </a:lnTo>
              </a:path>
            </a:pathLst>
          </a:cu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6267256" y="3034922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6319452" y="3034922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6267256" y="3087214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6319452" y="3087214"/>
            <a:ext cx="41756" cy="41834"/>
          </a:xfrm>
          <a:prstGeom prst="roundRect">
            <a:avLst>
              <a:gd name="adj" fmla="val 18767"/>
            </a:avLst>
          </a:prstGeom>
          <a:ln w="1114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 txBox="1"/>
          <p:nvPr/>
        </p:nvSpPr>
        <p:spPr>
          <a:xfrm>
            <a:off x="445302" y="167678"/>
            <a:ext cx="394078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인사부터 제조까지,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도메인별 분석 레퍼런스</a:t>
            </a:r>
            <a:endParaRPr lang="en-US" sz="1710" dirty="0"/>
          </a:p>
        </p:txBody>
      </p:sp>
      <p:sp>
        <p:nvSpPr>
          <p:cNvPr id="82" name="Text 80"/>
          <p:cNvSpPr txBox="1"/>
          <p:nvPr/>
        </p:nvSpPr>
        <p:spPr>
          <a:xfrm>
            <a:off x="7923078" y="241745"/>
            <a:ext cx="10606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01 · Who We Are</a:t>
            </a:r>
            <a:endParaRPr lang="en-US" sz="885" dirty="0"/>
          </a:p>
        </p:txBody>
      </p:sp>
      <p:sp>
        <p:nvSpPr>
          <p:cNvPr id="83" name="Text 81"/>
          <p:cNvSpPr txBox="1"/>
          <p:nvPr/>
        </p:nvSpPr>
        <p:spPr>
          <a:xfrm>
            <a:off x="297172" y="677913"/>
            <a:ext cx="6945152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도메인마다 봐야 할 지표와 권한 구조가 다릅니다. 여섯 영역에서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어떤 데이터를 어떤 화면으로 만들었는지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고객사별로 정리했습니다.</a:t>
            </a:r>
            <a:endParaRPr lang="en-US" sz="975" dirty="0"/>
          </a:p>
        </p:txBody>
      </p:sp>
      <p:sp>
        <p:nvSpPr>
          <p:cNvPr id="84" name="Text 82"/>
          <p:cNvSpPr txBox="1"/>
          <p:nvPr/>
        </p:nvSpPr>
        <p:spPr>
          <a:xfrm>
            <a:off x="714129" y="1142371"/>
            <a:ext cx="66201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인사 · HR</a:t>
            </a:r>
            <a:endParaRPr lang="en-US" sz="1005" dirty="0"/>
          </a:p>
        </p:txBody>
      </p:sp>
      <p:sp>
        <p:nvSpPr>
          <p:cNvPr id="85" name="Text 83"/>
          <p:cNvSpPr txBox="1"/>
          <p:nvPr/>
        </p:nvSpPr>
        <p:spPr>
          <a:xfrm>
            <a:off x="3605389" y="1142371"/>
            <a:ext cx="69950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영업 · 매출</a:t>
            </a:r>
            <a:endParaRPr lang="en-US" sz="1005" dirty="0"/>
          </a:p>
        </p:txBody>
      </p:sp>
      <p:sp>
        <p:nvSpPr>
          <p:cNvPr id="86" name="Text 84"/>
          <p:cNvSpPr txBox="1"/>
          <p:nvPr/>
        </p:nvSpPr>
        <p:spPr>
          <a:xfrm>
            <a:off x="6497565" y="1142371"/>
            <a:ext cx="469079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마케팅</a:t>
            </a:r>
            <a:endParaRPr lang="en-US" sz="1005" dirty="0"/>
          </a:p>
        </p:txBody>
      </p:sp>
      <p:sp>
        <p:nvSpPr>
          <p:cNvPr id="87" name="Text 85"/>
          <p:cNvSpPr txBox="1"/>
          <p:nvPr/>
        </p:nvSpPr>
        <p:spPr>
          <a:xfrm>
            <a:off x="2395669" y="1172718"/>
            <a:ext cx="684872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3곳 · 2023→</a:t>
            </a:r>
            <a:endParaRPr lang="en-US" sz="668" dirty="0"/>
          </a:p>
        </p:txBody>
      </p:sp>
      <p:sp>
        <p:nvSpPr>
          <p:cNvPr id="88" name="Text 86"/>
          <p:cNvSpPr txBox="1"/>
          <p:nvPr/>
        </p:nvSpPr>
        <p:spPr>
          <a:xfrm>
            <a:off x="5093995" y="1172718"/>
            <a:ext cx="87872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· GMV · 손익</a:t>
            </a:r>
            <a:endParaRPr lang="en-US" sz="668" dirty="0"/>
          </a:p>
        </p:txBody>
      </p:sp>
      <p:sp>
        <p:nvSpPr>
          <p:cNvPr id="89" name="Text 87"/>
          <p:cNvSpPr txBox="1"/>
          <p:nvPr/>
        </p:nvSpPr>
        <p:spPr>
          <a:xfrm>
            <a:off x="8465303" y="1172718"/>
            <a:ext cx="398672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진행 중</a:t>
            </a:r>
            <a:endParaRPr lang="en-US" sz="668" dirty="0"/>
          </a:p>
        </p:txBody>
      </p:sp>
      <p:sp>
        <p:nvSpPr>
          <p:cNvPr id="90" name="Text 88"/>
          <p:cNvSpPr txBox="1"/>
          <p:nvPr/>
        </p:nvSpPr>
        <p:spPr>
          <a:xfrm>
            <a:off x="494679" y="1393889"/>
            <a:ext cx="2463241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인력 현황(성별 · 연령 · 학력) · 발령 · 입퇴사 · 해외 발령 추적</a:t>
            </a:r>
            <a:endParaRPr lang="en-US" sz="720" dirty="0"/>
          </a:p>
        </p:txBody>
      </p:sp>
      <p:sp>
        <p:nvSpPr>
          <p:cNvPr id="91" name="Text 89"/>
          <p:cNvSpPr txBox="1"/>
          <p:nvPr/>
        </p:nvSpPr>
        <p:spPr>
          <a:xfrm>
            <a:off x="3385939" y="1393889"/>
            <a:ext cx="206292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상품군 · 지역 · 법인별 실적 현황과 목표 대비 달성률</a:t>
            </a:r>
            <a:endParaRPr lang="en-US" sz="720" dirty="0"/>
          </a:p>
        </p:txBody>
      </p:sp>
      <p:sp>
        <p:nvSpPr>
          <p:cNvPr id="92" name="Text 90"/>
          <p:cNvSpPr txBox="1"/>
          <p:nvPr/>
        </p:nvSpPr>
        <p:spPr>
          <a:xfrm>
            <a:off x="6278114" y="1393889"/>
            <a:ext cx="132493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캠페인 · 채널별 유입과 전환 성과</a:t>
            </a:r>
            <a:endParaRPr lang="en-US" sz="720" dirty="0"/>
          </a:p>
        </p:txBody>
      </p:sp>
      <p:sp>
        <p:nvSpPr>
          <p:cNvPr id="93" name="Text 91"/>
          <p:cNvSpPr txBox="1"/>
          <p:nvPr/>
        </p:nvSpPr>
        <p:spPr>
          <a:xfrm>
            <a:off x="494679" y="1549223"/>
            <a:ext cx="1963351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핵심인재 · 관리직 이동, 교육 · 휴가 · 복지 활용도</a:t>
            </a:r>
            <a:endParaRPr lang="en-US" sz="720" dirty="0"/>
          </a:p>
        </p:txBody>
      </p:sp>
      <p:sp>
        <p:nvSpPr>
          <p:cNvPr id="94" name="Text 92"/>
          <p:cNvSpPr txBox="1"/>
          <p:nvPr/>
        </p:nvSpPr>
        <p:spPr>
          <a:xfrm>
            <a:off x="3385939" y="1549223"/>
            <a:ext cx="2019677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매출 GMV · 손익 · 트래픽을 한 흐름에서 드릴다운</a:t>
            </a:r>
            <a:endParaRPr lang="en-US" sz="720" dirty="0"/>
          </a:p>
        </p:txBody>
      </p:sp>
      <p:sp>
        <p:nvSpPr>
          <p:cNvPr id="95" name="Text 93"/>
          <p:cNvSpPr txBox="1"/>
          <p:nvPr/>
        </p:nvSpPr>
        <p:spPr>
          <a:xfrm>
            <a:off x="6278114" y="1549223"/>
            <a:ext cx="147123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예산 집행 대비 성과, 기간 · 지역 비교</a:t>
            </a:r>
            <a:endParaRPr lang="en-US" sz="720" dirty="0"/>
          </a:p>
        </p:txBody>
      </p:sp>
      <p:sp>
        <p:nvSpPr>
          <p:cNvPr id="96" name="Text 94"/>
          <p:cNvSpPr txBox="1"/>
          <p:nvPr/>
        </p:nvSpPr>
        <p:spPr>
          <a:xfrm>
            <a:off x="494679" y="1704556"/>
            <a:ext cx="210617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피크임금 · 정년 도래 예측, 조건별 인원 추출 다운로드</a:t>
            </a:r>
            <a:endParaRPr lang="en-US" sz="720" dirty="0"/>
          </a:p>
        </p:txBody>
      </p:sp>
      <p:sp>
        <p:nvSpPr>
          <p:cNvPr id="97" name="Text 95"/>
          <p:cNvSpPr txBox="1"/>
          <p:nvPr/>
        </p:nvSpPr>
        <p:spPr>
          <a:xfrm>
            <a:off x="3385939" y="1704556"/>
            <a:ext cx="1609304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 질문에 대화형으로 답하는 셀프 조회</a:t>
            </a:r>
            <a:endParaRPr lang="en-US" sz="720" dirty="0"/>
          </a:p>
        </p:txBody>
      </p:sp>
      <p:sp>
        <p:nvSpPr>
          <p:cNvPr id="98" name="Text 96"/>
          <p:cNvSpPr txBox="1"/>
          <p:nvPr/>
        </p:nvSpPr>
        <p:spPr>
          <a:xfrm>
            <a:off x="6278114" y="1704556"/>
            <a:ext cx="1632437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조직이 같은 기준으로 보는 표준 지표 포탈</a:t>
            </a:r>
            <a:endParaRPr lang="en-US" sz="720" dirty="0"/>
          </a:p>
        </p:txBody>
      </p:sp>
      <p:sp>
        <p:nvSpPr>
          <p:cNvPr id="99" name="Text 97"/>
          <p:cNvSpPr txBox="1"/>
          <p:nvPr/>
        </p:nvSpPr>
        <p:spPr>
          <a:xfrm>
            <a:off x="480048" y="2102662"/>
            <a:ext cx="40141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LG전자</a:t>
            </a:r>
            <a:endParaRPr lang="en-US" sz="668" dirty="0"/>
          </a:p>
        </p:txBody>
      </p:sp>
      <p:sp>
        <p:nvSpPr>
          <p:cNvPr id="100" name="Text 98"/>
          <p:cNvSpPr txBox="1"/>
          <p:nvPr/>
        </p:nvSpPr>
        <p:spPr>
          <a:xfrm>
            <a:off x="778135" y="2102662"/>
            <a:ext cx="78819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HR Index 대시보드</a:t>
            </a:r>
            <a:endParaRPr lang="en-US" sz="668" dirty="0"/>
          </a:p>
        </p:txBody>
      </p:sp>
      <p:sp>
        <p:nvSpPr>
          <p:cNvPr id="101" name="Text 99"/>
          <p:cNvSpPr txBox="1"/>
          <p:nvPr/>
        </p:nvSpPr>
        <p:spPr>
          <a:xfrm>
            <a:off x="1594674" y="2102662"/>
            <a:ext cx="576976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DX</a:t>
            </a:r>
            <a:endParaRPr lang="en-US" sz="668" dirty="0"/>
          </a:p>
        </p:txBody>
      </p:sp>
      <p:sp>
        <p:nvSpPr>
          <p:cNvPr id="102" name="Text 100"/>
          <p:cNvSpPr txBox="1"/>
          <p:nvPr/>
        </p:nvSpPr>
        <p:spPr>
          <a:xfrm>
            <a:off x="2068321" y="2102662"/>
            <a:ext cx="59252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HR DataLab</a:t>
            </a:r>
            <a:endParaRPr lang="en-US" sz="668" dirty="0"/>
          </a:p>
        </p:txBody>
      </p:sp>
      <p:sp>
        <p:nvSpPr>
          <p:cNvPr id="103" name="Text 101"/>
          <p:cNvSpPr txBox="1"/>
          <p:nvPr/>
        </p:nvSpPr>
        <p:spPr>
          <a:xfrm>
            <a:off x="3371309" y="2123236"/>
            <a:ext cx="52577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통신 유통사</a:t>
            </a:r>
            <a:endParaRPr lang="en-US" sz="668" dirty="0"/>
          </a:p>
        </p:txBody>
      </p:sp>
      <p:sp>
        <p:nvSpPr>
          <p:cNvPr id="104" name="Text 102"/>
          <p:cNvSpPr txBox="1"/>
          <p:nvPr/>
        </p:nvSpPr>
        <p:spPr>
          <a:xfrm>
            <a:off x="3794666" y="2123236"/>
            <a:ext cx="78545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 셀프 조회 · AI</a:t>
            </a:r>
            <a:endParaRPr lang="en-US" sz="668" dirty="0"/>
          </a:p>
        </p:txBody>
      </p:sp>
      <p:sp>
        <p:nvSpPr>
          <p:cNvPr id="105" name="Text 103"/>
          <p:cNvSpPr txBox="1"/>
          <p:nvPr/>
        </p:nvSpPr>
        <p:spPr>
          <a:xfrm>
            <a:off x="480049" y="2299144"/>
            <a:ext cx="56600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DS</a:t>
            </a:r>
            <a:endParaRPr lang="en-US" sz="668" dirty="0"/>
          </a:p>
        </p:txBody>
      </p:sp>
      <p:sp>
        <p:nvSpPr>
          <p:cNvPr id="106" name="Text 104"/>
          <p:cNvSpPr txBox="1"/>
          <p:nvPr/>
        </p:nvSpPr>
        <p:spPr>
          <a:xfrm>
            <a:off x="942723" y="2299144"/>
            <a:ext cx="66292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HR 분석 플랫폼</a:t>
            </a:r>
            <a:endParaRPr lang="en-US" sz="668" dirty="0"/>
          </a:p>
        </p:txBody>
      </p:sp>
      <p:sp>
        <p:nvSpPr>
          <p:cNvPr id="107" name="Text 105"/>
          <p:cNvSpPr txBox="1"/>
          <p:nvPr/>
        </p:nvSpPr>
        <p:spPr>
          <a:xfrm>
            <a:off x="1537068" y="2305831"/>
            <a:ext cx="398672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4차 진행</a:t>
            </a:r>
            <a:endParaRPr lang="en-US" sz="593" dirty="0"/>
          </a:p>
        </p:txBody>
      </p:sp>
      <p:sp>
        <p:nvSpPr>
          <p:cNvPr id="108" name="Text 106"/>
          <p:cNvSpPr txBox="1"/>
          <p:nvPr/>
        </p:nvSpPr>
        <p:spPr>
          <a:xfrm>
            <a:off x="3371309" y="2319718"/>
            <a:ext cx="59983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글로벌 제조사</a:t>
            </a:r>
            <a:endParaRPr lang="en-US" sz="668" dirty="0"/>
          </a:p>
        </p:txBody>
      </p:sp>
      <p:sp>
        <p:nvSpPr>
          <p:cNvPr id="109" name="Text 107"/>
          <p:cNvSpPr txBox="1"/>
          <p:nvPr/>
        </p:nvSpPr>
        <p:spPr>
          <a:xfrm>
            <a:off x="3868730" y="2319718"/>
            <a:ext cx="81197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D2C 매출 BI Agent</a:t>
            </a:r>
            <a:endParaRPr lang="en-US" sz="668" dirty="0"/>
          </a:p>
        </p:txBody>
      </p:sp>
      <p:sp>
        <p:nvSpPr>
          <p:cNvPr id="110" name="Text 108"/>
          <p:cNvSpPr txBox="1"/>
          <p:nvPr/>
        </p:nvSpPr>
        <p:spPr>
          <a:xfrm>
            <a:off x="4708128" y="2319718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</a:t>
            </a:r>
            <a:endParaRPr lang="en-US" sz="668" dirty="0"/>
          </a:p>
        </p:txBody>
      </p:sp>
      <p:sp>
        <p:nvSpPr>
          <p:cNvPr id="111" name="Text 109"/>
          <p:cNvSpPr txBox="1"/>
          <p:nvPr/>
        </p:nvSpPr>
        <p:spPr>
          <a:xfrm>
            <a:off x="5038219" y="2319718"/>
            <a:ext cx="63641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GBC 대시보드</a:t>
            </a:r>
            <a:endParaRPr lang="en-US" sz="668" dirty="0"/>
          </a:p>
        </p:txBody>
      </p:sp>
      <p:sp>
        <p:nvSpPr>
          <p:cNvPr id="112" name="Text 110"/>
          <p:cNvSpPr txBox="1"/>
          <p:nvPr/>
        </p:nvSpPr>
        <p:spPr>
          <a:xfrm>
            <a:off x="3371309" y="2516200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삼성증권</a:t>
            </a:r>
            <a:endParaRPr lang="en-US" sz="668" dirty="0"/>
          </a:p>
        </p:txBody>
      </p:sp>
      <p:sp>
        <p:nvSpPr>
          <p:cNvPr id="113" name="Text 111"/>
          <p:cNvSpPr txBox="1"/>
          <p:nvPr/>
        </p:nvSpPr>
        <p:spPr>
          <a:xfrm>
            <a:off x="3701399" y="2516200"/>
            <a:ext cx="59983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대시보드 개선</a:t>
            </a:r>
            <a:endParaRPr lang="en-US" sz="668" dirty="0"/>
          </a:p>
        </p:txBody>
      </p:sp>
      <p:sp>
        <p:nvSpPr>
          <p:cNvPr id="114" name="Text 112"/>
          <p:cNvSpPr txBox="1"/>
          <p:nvPr/>
        </p:nvSpPr>
        <p:spPr>
          <a:xfrm>
            <a:off x="6263483" y="2516200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</a:t>
            </a:r>
            <a:endParaRPr lang="en-US" sz="668" dirty="0"/>
          </a:p>
        </p:txBody>
      </p:sp>
      <p:sp>
        <p:nvSpPr>
          <p:cNvPr id="115" name="Text 113"/>
          <p:cNvSpPr txBox="1"/>
          <p:nvPr/>
        </p:nvSpPr>
        <p:spPr>
          <a:xfrm>
            <a:off x="6592659" y="2516200"/>
            <a:ext cx="93358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마케팅 BI 대시보드 포탈</a:t>
            </a:r>
            <a:endParaRPr lang="en-US" sz="668" dirty="0"/>
          </a:p>
        </p:txBody>
      </p:sp>
      <p:sp>
        <p:nvSpPr>
          <p:cNvPr id="116" name="Text 114"/>
          <p:cNvSpPr txBox="1"/>
          <p:nvPr/>
        </p:nvSpPr>
        <p:spPr>
          <a:xfrm>
            <a:off x="7458575" y="2522373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진행</a:t>
            </a:r>
            <a:endParaRPr lang="en-US" sz="593" dirty="0"/>
          </a:p>
        </p:txBody>
      </p:sp>
      <p:sp>
        <p:nvSpPr>
          <p:cNvPr id="117" name="Text 115"/>
          <p:cNvSpPr txBox="1"/>
          <p:nvPr/>
        </p:nvSpPr>
        <p:spPr>
          <a:xfrm>
            <a:off x="541312" y="2540374"/>
            <a:ext cx="207298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민감 정보 - 부서 · 권한별 열람 제한(RLS) 설계까지 포함</a:t>
            </a:r>
            <a:endParaRPr lang="en-US" sz="668" dirty="0"/>
          </a:p>
        </p:txBody>
      </p:sp>
      <p:sp>
        <p:nvSpPr>
          <p:cNvPr id="118" name="Text 116"/>
          <p:cNvSpPr txBox="1"/>
          <p:nvPr/>
        </p:nvSpPr>
        <p:spPr>
          <a:xfrm>
            <a:off x="714129" y="2992488"/>
            <a:ext cx="1105486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제조 · R&amp;D · 품질</a:t>
            </a:r>
            <a:endParaRPr lang="en-US" sz="1005" dirty="0"/>
          </a:p>
        </p:txBody>
      </p:sp>
      <p:sp>
        <p:nvSpPr>
          <p:cNvPr id="119" name="Text 117"/>
          <p:cNvSpPr txBox="1"/>
          <p:nvPr/>
        </p:nvSpPr>
        <p:spPr>
          <a:xfrm>
            <a:off x="3605389" y="2992488"/>
            <a:ext cx="920781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운영 · 모니터링</a:t>
            </a:r>
            <a:endParaRPr lang="en-US" sz="1005" dirty="0"/>
          </a:p>
        </p:txBody>
      </p:sp>
      <p:sp>
        <p:nvSpPr>
          <p:cNvPr id="120" name="Text 118"/>
          <p:cNvSpPr txBox="1"/>
          <p:nvPr/>
        </p:nvSpPr>
        <p:spPr>
          <a:xfrm>
            <a:off x="6497564" y="2992488"/>
            <a:ext cx="1119201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kern="0" spc="-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BI 플랫폼 · AI 도입</a:t>
            </a:r>
            <a:endParaRPr lang="en-US" sz="1005" dirty="0"/>
          </a:p>
        </p:txBody>
      </p:sp>
      <p:sp>
        <p:nvSpPr>
          <p:cNvPr id="121" name="Text 119"/>
          <p:cNvSpPr txBox="1"/>
          <p:nvPr/>
        </p:nvSpPr>
        <p:spPr>
          <a:xfrm>
            <a:off x="2014373" y="3022835"/>
            <a:ext cx="106616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· 수율 · 데이터 품질</a:t>
            </a:r>
            <a:endParaRPr lang="en-US" sz="668" dirty="0"/>
          </a:p>
        </p:txBody>
      </p:sp>
      <p:sp>
        <p:nvSpPr>
          <p:cNvPr id="122" name="Text 120"/>
          <p:cNvSpPr txBox="1"/>
          <p:nvPr/>
        </p:nvSpPr>
        <p:spPr>
          <a:xfrm>
            <a:off x="5422257" y="3022835"/>
            <a:ext cx="54954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현장 · 관제</a:t>
            </a:r>
            <a:endParaRPr lang="en-US" sz="668" dirty="0"/>
          </a:p>
        </p:txBody>
      </p:sp>
      <p:sp>
        <p:nvSpPr>
          <p:cNvPr id="123" name="Text 121"/>
          <p:cNvSpPr txBox="1"/>
          <p:nvPr/>
        </p:nvSpPr>
        <p:spPr>
          <a:xfrm>
            <a:off x="7933137" y="3022835"/>
            <a:ext cx="93083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40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포털 · TA · 에이전트</a:t>
            </a:r>
            <a:endParaRPr lang="en-US" sz="668" dirty="0"/>
          </a:p>
        </p:txBody>
      </p:sp>
      <p:sp>
        <p:nvSpPr>
          <p:cNvPr id="124" name="Text 122"/>
          <p:cNvSpPr txBox="1"/>
          <p:nvPr/>
        </p:nvSpPr>
        <p:spPr>
          <a:xfrm>
            <a:off x="494678" y="3244006"/>
            <a:ext cx="1886909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실적을 한 포털에서 통합 조회</a:t>
            </a:r>
            <a:endParaRPr lang="en-US" sz="720" dirty="0"/>
          </a:p>
        </p:txBody>
      </p:sp>
      <p:sp>
        <p:nvSpPr>
          <p:cNvPr id="125" name="Text 123"/>
          <p:cNvSpPr txBox="1"/>
          <p:nvPr/>
        </p:nvSpPr>
        <p:spPr>
          <a:xfrm>
            <a:off x="3385939" y="3244006"/>
            <a:ext cx="1505069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실시간 품질 · 장애 지표와 임계치 알람</a:t>
            </a:r>
            <a:endParaRPr lang="en-US" sz="720" dirty="0"/>
          </a:p>
        </p:txBody>
      </p:sp>
      <p:sp>
        <p:nvSpPr>
          <p:cNvPr id="126" name="Text 124"/>
          <p:cNvSpPr txBox="1"/>
          <p:nvPr/>
        </p:nvSpPr>
        <p:spPr>
          <a:xfrm>
            <a:off x="6278114" y="3244006"/>
            <a:ext cx="216149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전사 표준 템플릿 · 권한 거버넌스를 갖춘 Tableau 포털</a:t>
            </a:r>
            <a:endParaRPr lang="en-US" sz="720" dirty="0"/>
          </a:p>
        </p:txBody>
      </p:sp>
      <p:sp>
        <p:nvSpPr>
          <p:cNvPr id="127" name="Text 125"/>
          <p:cNvSpPr txBox="1"/>
          <p:nvPr/>
        </p:nvSpPr>
        <p:spPr>
          <a:xfrm>
            <a:off x="494678" y="3399339"/>
            <a:ext cx="185874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수율 추이와 불량 원인 분석, 공정 단위 드릴다운</a:t>
            </a:r>
            <a:endParaRPr lang="en-US" sz="720" dirty="0"/>
          </a:p>
        </p:txBody>
      </p:sp>
      <p:sp>
        <p:nvSpPr>
          <p:cNvPr id="128" name="Text 126"/>
          <p:cNvSpPr txBox="1"/>
          <p:nvPr/>
        </p:nvSpPr>
        <p:spPr>
          <a:xfrm>
            <a:off x="3385939" y="3399339"/>
            <a:ext cx="2006601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관제 센터 대형 화면과 담당자 화면을 같은 데이터로</a:t>
            </a:r>
            <a:endParaRPr lang="en-US" sz="720" dirty="0"/>
          </a:p>
        </p:txBody>
      </p:sp>
      <p:sp>
        <p:nvSpPr>
          <p:cNvPr id="129" name="Text 127"/>
          <p:cNvSpPr txBox="1"/>
          <p:nvPr/>
        </p:nvSpPr>
        <p:spPr>
          <a:xfrm>
            <a:off x="6278113" y="3399339"/>
            <a:ext cx="1927142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공식 자격 전문가의 기술 지원(TA)으로 활용 정착</a:t>
            </a:r>
            <a:endParaRPr lang="en-US" sz="720" dirty="0"/>
          </a:p>
        </p:txBody>
      </p:sp>
      <p:sp>
        <p:nvSpPr>
          <p:cNvPr id="130" name="Text 128"/>
          <p:cNvSpPr txBox="1"/>
          <p:nvPr/>
        </p:nvSpPr>
        <p:spPr>
          <a:xfrm>
            <a:off x="494679" y="3554673"/>
            <a:ext cx="1672670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품질(D.Q) 지표 표준화와 모니터링</a:t>
            </a:r>
            <a:endParaRPr lang="en-US" sz="720" dirty="0"/>
          </a:p>
        </p:txBody>
      </p:sp>
      <p:sp>
        <p:nvSpPr>
          <p:cNvPr id="131" name="Text 129"/>
          <p:cNvSpPr txBox="1"/>
          <p:nvPr/>
        </p:nvSpPr>
        <p:spPr>
          <a:xfrm>
            <a:off x="3385939" y="3554673"/>
            <a:ext cx="1618356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현장 KPI 보드와 일 · 주 단위 운영 리포트</a:t>
            </a:r>
            <a:endParaRPr lang="en-US" sz="720" dirty="0"/>
          </a:p>
        </p:txBody>
      </p:sp>
      <p:sp>
        <p:nvSpPr>
          <p:cNvPr id="132" name="Text 130"/>
          <p:cNvSpPr txBox="1"/>
          <p:nvPr/>
        </p:nvSpPr>
        <p:spPr>
          <a:xfrm>
            <a:off x="6278114" y="3554673"/>
            <a:ext cx="1758164" cy="132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포털 위에 자연어 질의 AI 에이전트 단계 도입</a:t>
            </a:r>
            <a:endParaRPr lang="en-US" sz="720" dirty="0"/>
          </a:p>
        </p:txBody>
      </p:sp>
      <p:sp>
        <p:nvSpPr>
          <p:cNvPr id="133" name="Text 131"/>
          <p:cNvSpPr txBox="1"/>
          <p:nvPr/>
        </p:nvSpPr>
        <p:spPr>
          <a:xfrm>
            <a:off x="6263483" y="3777386"/>
            <a:ext cx="45444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LG CNS</a:t>
            </a:r>
            <a:endParaRPr lang="en-US" sz="668" dirty="0"/>
          </a:p>
        </p:txBody>
      </p:sp>
      <p:sp>
        <p:nvSpPr>
          <p:cNvPr id="134" name="Text 132"/>
          <p:cNvSpPr txBox="1"/>
          <p:nvPr/>
        </p:nvSpPr>
        <p:spPr>
          <a:xfrm>
            <a:off x="6614605" y="3777386"/>
            <a:ext cx="59617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포털</a:t>
            </a:r>
            <a:endParaRPr lang="en-US" sz="668" dirty="0"/>
          </a:p>
        </p:txBody>
      </p:sp>
      <p:sp>
        <p:nvSpPr>
          <p:cNvPr id="135" name="Text 133"/>
          <p:cNvSpPr txBox="1"/>
          <p:nvPr/>
        </p:nvSpPr>
        <p:spPr>
          <a:xfrm>
            <a:off x="7239124" y="3777386"/>
            <a:ext cx="45536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삼성SDS</a:t>
            </a:r>
            <a:endParaRPr lang="en-US" sz="668" dirty="0"/>
          </a:p>
        </p:txBody>
      </p:sp>
      <p:sp>
        <p:nvSpPr>
          <p:cNvPr id="136" name="Text 134"/>
          <p:cNvSpPr txBox="1"/>
          <p:nvPr/>
        </p:nvSpPr>
        <p:spPr>
          <a:xfrm>
            <a:off x="7591159" y="3777386"/>
            <a:ext cx="521198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BI</a:t>
            </a:r>
            <a:endParaRPr lang="en-US" sz="668" dirty="0"/>
          </a:p>
        </p:txBody>
      </p:sp>
      <p:sp>
        <p:nvSpPr>
          <p:cNvPr id="137" name="Text 135"/>
          <p:cNvSpPr txBox="1"/>
          <p:nvPr/>
        </p:nvSpPr>
        <p:spPr>
          <a:xfrm>
            <a:off x="480048" y="3973868"/>
            <a:ext cx="841231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글로벌 제조사 연구소</a:t>
            </a:r>
            <a:endParaRPr lang="en-US" sz="668" dirty="0"/>
          </a:p>
        </p:txBody>
      </p:sp>
      <p:sp>
        <p:nvSpPr>
          <p:cNvPr id="138" name="Text 136"/>
          <p:cNvSpPr txBox="1"/>
          <p:nvPr/>
        </p:nvSpPr>
        <p:spPr>
          <a:xfrm>
            <a:off x="1217950" y="3973868"/>
            <a:ext cx="100673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 · AI 의사결정 플랫폼</a:t>
            </a:r>
            <a:endParaRPr lang="en-US" sz="668" dirty="0"/>
          </a:p>
        </p:txBody>
      </p:sp>
      <p:sp>
        <p:nvSpPr>
          <p:cNvPr id="139" name="Text 137"/>
          <p:cNvSpPr txBox="1"/>
          <p:nvPr/>
        </p:nvSpPr>
        <p:spPr>
          <a:xfrm>
            <a:off x="6263484" y="3973868"/>
            <a:ext cx="576976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DX</a:t>
            </a:r>
            <a:endParaRPr lang="en-US" sz="668" dirty="0"/>
          </a:p>
        </p:txBody>
      </p:sp>
      <p:sp>
        <p:nvSpPr>
          <p:cNvPr id="140" name="Text 138"/>
          <p:cNvSpPr txBox="1"/>
          <p:nvPr/>
        </p:nvSpPr>
        <p:spPr>
          <a:xfrm>
            <a:off x="6737131" y="3973868"/>
            <a:ext cx="67390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태블로 분석포털</a:t>
            </a:r>
            <a:endParaRPr lang="en-US" sz="668" dirty="0"/>
          </a:p>
        </p:txBody>
      </p:sp>
      <p:sp>
        <p:nvSpPr>
          <p:cNvPr id="141" name="Text 139"/>
          <p:cNvSpPr txBox="1"/>
          <p:nvPr/>
        </p:nvSpPr>
        <p:spPr>
          <a:xfrm>
            <a:off x="7438458" y="3973868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신라호텔</a:t>
            </a:r>
            <a:endParaRPr lang="en-US" sz="668" dirty="0"/>
          </a:p>
        </p:txBody>
      </p:sp>
      <p:sp>
        <p:nvSpPr>
          <p:cNvPr id="142" name="Text 140"/>
          <p:cNvSpPr txBox="1"/>
          <p:nvPr/>
        </p:nvSpPr>
        <p:spPr>
          <a:xfrm>
            <a:off x="7768549" y="3973868"/>
            <a:ext cx="59617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포털</a:t>
            </a:r>
            <a:endParaRPr lang="en-US" sz="668" dirty="0"/>
          </a:p>
        </p:txBody>
      </p:sp>
      <p:sp>
        <p:nvSpPr>
          <p:cNvPr id="143" name="Text 141"/>
          <p:cNvSpPr txBox="1"/>
          <p:nvPr/>
        </p:nvSpPr>
        <p:spPr>
          <a:xfrm>
            <a:off x="480049" y="4169836"/>
            <a:ext cx="56600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DS</a:t>
            </a:r>
            <a:endParaRPr lang="en-US" sz="668" dirty="0"/>
          </a:p>
        </p:txBody>
      </p:sp>
      <p:sp>
        <p:nvSpPr>
          <p:cNvPr id="144" name="Text 142"/>
          <p:cNvSpPr txBox="1"/>
          <p:nvPr/>
        </p:nvSpPr>
        <p:spPr>
          <a:xfrm>
            <a:off x="942723" y="4169836"/>
            <a:ext cx="84671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Foundry 수율 플랫폼</a:t>
            </a:r>
            <a:endParaRPr lang="en-US" sz="668" dirty="0"/>
          </a:p>
        </p:txBody>
      </p:sp>
      <p:sp>
        <p:nvSpPr>
          <p:cNvPr id="145" name="Text 143"/>
          <p:cNvSpPr txBox="1"/>
          <p:nvPr/>
        </p:nvSpPr>
        <p:spPr>
          <a:xfrm>
            <a:off x="6263484" y="4169836"/>
            <a:ext cx="55228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SK하이닉스</a:t>
            </a:r>
            <a:endParaRPr lang="en-US" sz="668" dirty="0"/>
          </a:p>
        </p:txBody>
      </p:sp>
      <p:sp>
        <p:nvSpPr>
          <p:cNvPr id="146" name="Text 144"/>
          <p:cNvSpPr txBox="1"/>
          <p:nvPr/>
        </p:nvSpPr>
        <p:spPr>
          <a:xfrm>
            <a:off x="6712443" y="4169836"/>
            <a:ext cx="24871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</a:t>
            </a:r>
            <a:endParaRPr lang="en-US" sz="668" dirty="0"/>
          </a:p>
        </p:txBody>
      </p:sp>
      <p:sp>
        <p:nvSpPr>
          <p:cNvPr id="147" name="Text 145"/>
          <p:cNvSpPr txBox="1"/>
          <p:nvPr/>
        </p:nvSpPr>
        <p:spPr>
          <a:xfrm>
            <a:off x="6989499" y="4169836"/>
            <a:ext cx="43250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한화생명</a:t>
            </a:r>
            <a:endParaRPr lang="en-US" sz="668" dirty="0"/>
          </a:p>
        </p:txBody>
      </p:sp>
      <p:sp>
        <p:nvSpPr>
          <p:cNvPr id="148" name="Text 146"/>
          <p:cNvSpPr txBox="1"/>
          <p:nvPr/>
        </p:nvSpPr>
        <p:spPr>
          <a:xfrm>
            <a:off x="7318675" y="4169836"/>
            <a:ext cx="24871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</a:t>
            </a:r>
            <a:endParaRPr lang="en-US" sz="668" dirty="0"/>
          </a:p>
        </p:txBody>
      </p:sp>
      <p:sp>
        <p:nvSpPr>
          <p:cNvPr id="149" name="Text 147"/>
          <p:cNvSpPr txBox="1"/>
          <p:nvPr/>
        </p:nvSpPr>
        <p:spPr>
          <a:xfrm>
            <a:off x="7595731" y="4169836"/>
            <a:ext cx="40141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LG전자</a:t>
            </a:r>
            <a:endParaRPr lang="en-US" sz="668" dirty="0"/>
          </a:p>
        </p:txBody>
      </p:sp>
      <p:sp>
        <p:nvSpPr>
          <p:cNvPr id="150" name="Text 148"/>
          <p:cNvSpPr txBox="1"/>
          <p:nvPr/>
        </p:nvSpPr>
        <p:spPr>
          <a:xfrm>
            <a:off x="7894733" y="4169836"/>
            <a:ext cx="73241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 Insight Agent</a:t>
            </a:r>
            <a:endParaRPr lang="en-US" sz="668" dirty="0"/>
          </a:p>
        </p:txBody>
      </p:sp>
      <p:sp>
        <p:nvSpPr>
          <p:cNvPr id="151" name="Text 149"/>
          <p:cNvSpPr txBox="1"/>
          <p:nvPr/>
        </p:nvSpPr>
        <p:spPr>
          <a:xfrm>
            <a:off x="1720858" y="4176522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예정</a:t>
            </a:r>
            <a:endParaRPr lang="en-US" sz="593" dirty="0"/>
          </a:p>
        </p:txBody>
      </p:sp>
      <p:sp>
        <p:nvSpPr>
          <p:cNvPr id="152" name="Text 150"/>
          <p:cNvSpPr txBox="1"/>
          <p:nvPr/>
        </p:nvSpPr>
        <p:spPr>
          <a:xfrm>
            <a:off x="480049" y="4366317"/>
            <a:ext cx="56600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삼성전자 DS</a:t>
            </a:r>
            <a:endParaRPr lang="en-US" sz="668" dirty="0"/>
          </a:p>
        </p:txBody>
      </p:sp>
      <p:sp>
        <p:nvSpPr>
          <p:cNvPr id="153" name="Text 151"/>
          <p:cNvSpPr txBox="1"/>
          <p:nvPr/>
        </p:nvSpPr>
        <p:spPr>
          <a:xfrm>
            <a:off x="942724" y="4366317"/>
            <a:ext cx="77722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D.Q 표준화 시스템</a:t>
            </a:r>
            <a:endParaRPr lang="en-US" sz="668" dirty="0"/>
          </a:p>
        </p:txBody>
      </p:sp>
      <p:sp>
        <p:nvSpPr>
          <p:cNvPr id="154" name="Text 152"/>
          <p:cNvSpPr txBox="1"/>
          <p:nvPr/>
        </p:nvSpPr>
        <p:spPr>
          <a:xfrm>
            <a:off x="3371308" y="4366317"/>
            <a:ext cx="310892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SKT</a:t>
            </a:r>
            <a:endParaRPr lang="en-US" sz="668" dirty="0"/>
          </a:p>
        </p:txBody>
      </p:sp>
      <p:sp>
        <p:nvSpPr>
          <p:cNvPr id="155" name="Text 153"/>
          <p:cNvSpPr txBox="1"/>
          <p:nvPr/>
        </p:nvSpPr>
        <p:spPr>
          <a:xfrm>
            <a:off x="3579787" y="4366317"/>
            <a:ext cx="742478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5G 모니터링 센터</a:t>
            </a:r>
            <a:endParaRPr lang="en-US" sz="668" dirty="0"/>
          </a:p>
        </p:txBody>
      </p:sp>
      <p:sp>
        <p:nvSpPr>
          <p:cNvPr id="156" name="Text 154"/>
          <p:cNvSpPr txBox="1"/>
          <p:nvPr/>
        </p:nvSpPr>
        <p:spPr>
          <a:xfrm>
            <a:off x="4350607" y="4366317"/>
            <a:ext cx="483709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GS칼텍스</a:t>
            </a:r>
            <a:endParaRPr lang="en-US" sz="668" dirty="0"/>
          </a:p>
        </p:txBody>
      </p:sp>
      <p:sp>
        <p:nvSpPr>
          <p:cNvPr id="157" name="Text 155"/>
          <p:cNvSpPr txBox="1"/>
          <p:nvPr/>
        </p:nvSpPr>
        <p:spPr>
          <a:xfrm>
            <a:off x="4730987" y="4366317"/>
            <a:ext cx="599835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대시보드 개발</a:t>
            </a:r>
            <a:endParaRPr lang="en-US" sz="668" dirty="0"/>
          </a:p>
        </p:txBody>
      </p:sp>
      <p:sp>
        <p:nvSpPr>
          <p:cNvPr id="158" name="Text 156"/>
          <p:cNvSpPr txBox="1"/>
          <p:nvPr/>
        </p:nvSpPr>
        <p:spPr>
          <a:xfrm>
            <a:off x="6263484" y="4366317"/>
            <a:ext cx="528514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SK PSNM</a:t>
            </a:r>
            <a:endParaRPr lang="en-US" sz="668" dirty="0"/>
          </a:p>
        </p:txBody>
      </p:sp>
      <p:sp>
        <p:nvSpPr>
          <p:cNvPr id="159" name="Text 157"/>
          <p:cNvSpPr txBox="1"/>
          <p:nvPr/>
        </p:nvSpPr>
        <p:spPr>
          <a:xfrm>
            <a:off x="6688669" y="4366317"/>
            <a:ext cx="631838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 솔루션 도입</a:t>
            </a:r>
            <a:endParaRPr lang="en-US" sz="668" dirty="0"/>
          </a:p>
        </p:txBody>
      </p:sp>
      <p:sp>
        <p:nvSpPr>
          <p:cNvPr id="160" name="Text 158"/>
          <p:cNvSpPr txBox="1"/>
          <p:nvPr/>
        </p:nvSpPr>
        <p:spPr>
          <a:xfrm>
            <a:off x="1651365" y="4373004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예정</a:t>
            </a:r>
            <a:endParaRPr lang="en-US" sz="593" dirty="0"/>
          </a:p>
        </p:txBody>
      </p:sp>
      <p:sp>
        <p:nvSpPr>
          <p:cNvPr id="161" name="Text 159"/>
          <p:cNvSpPr txBox="1"/>
          <p:nvPr/>
        </p:nvSpPr>
        <p:spPr>
          <a:xfrm>
            <a:off x="7251925" y="4373004"/>
            <a:ext cx="268830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dirty="0">
                <a:solidFill>
                  <a:srgbClr val="0F766E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진행</a:t>
            </a:r>
            <a:endParaRPr lang="en-US" sz="593" dirty="0"/>
          </a:p>
        </p:txBody>
      </p:sp>
      <p:sp>
        <p:nvSpPr>
          <p:cNvPr id="162" name="Text 160"/>
          <p:cNvSpPr txBox="1"/>
          <p:nvPr/>
        </p:nvSpPr>
        <p:spPr>
          <a:xfrm>
            <a:off x="297173" y="4725334"/>
            <a:ext cx="53217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86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공통 방식</a:t>
            </a:r>
            <a:endParaRPr lang="en-US" sz="720" dirty="0"/>
          </a:p>
        </p:txBody>
      </p:sp>
      <p:sp>
        <p:nvSpPr>
          <p:cNvPr id="163" name="Text 161"/>
          <p:cNvSpPr txBox="1"/>
          <p:nvPr/>
        </p:nvSpPr>
        <p:spPr>
          <a:xfrm>
            <a:off x="4527082" y="4723791"/>
            <a:ext cx="461669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마트 설계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→</a:t>
            </a:r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대시보드 · 포털 구축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→</a:t>
            </a:r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권한 설계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→</a:t>
            </a:r>
            <a:r>
              <a:rPr lang="en-US" sz="735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운영 · 단계 확장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- 도메인이 달라도 같은 순서로 수행합니다</a:t>
            </a:r>
            <a:endParaRPr lang="en-US" sz="735" dirty="0"/>
          </a:p>
        </p:txBody>
      </p:sp>
      <p:sp>
        <p:nvSpPr>
          <p:cNvPr id="164" name="Text 162"/>
          <p:cNvSpPr txBox="1"/>
          <p:nvPr/>
        </p:nvSpPr>
        <p:spPr>
          <a:xfrm>
            <a:off x="4475877" y="4923873"/>
            <a:ext cx="33009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- 10 -</a:t>
            </a:r>
            <a:endParaRPr lang="en-US" sz="705" dirty="0"/>
          </a:p>
        </p:txBody>
      </p:sp>
      <p:sp>
        <p:nvSpPr>
          <p:cNvPr id="165" name="Text 163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CB54-5FD9-FE11-E636-029C961E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46497183-8E15-85B6-6B76-1DDD7A12F6B1}"/>
              </a:ext>
            </a:extLst>
          </p:cNvPr>
          <p:cNvSpPr/>
          <p:nvPr/>
        </p:nvSpPr>
        <p:spPr>
          <a:xfrm rot="16200000">
            <a:off x="3220558" y="1591156"/>
            <a:ext cx="2676944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0A795"/>
              </a:gs>
              <a:gs pos="1423">
                <a:srgbClr val="00A795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636EB6-A818-E9CD-821D-3A2CE3E814B9}"/>
              </a:ext>
            </a:extLst>
          </p:cNvPr>
          <p:cNvSpPr/>
          <p:nvPr/>
        </p:nvSpPr>
        <p:spPr>
          <a:xfrm rot="16200000">
            <a:off x="6128737" y="1591159"/>
            <a:ext cx="2676950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3B82F6"/>
              </a:gs>
              <a:gs pos="1423">
                <a:srgbClr val="3B82F6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196E1DC5-4318-7A2D-B65F-C65EF04B5228}"/>
              </a:ext>
            </a:extLst>
          </p:cNvPr>
          <p:cNvSpPr/>
          <p:nvPr/>
        </p:nvSpPr>
        <p:spPr>
          <a:xfrm rot="16200000">
            <a:off x="312374" y="1591159"/>
            <a:ext cx="2676950" cy="277038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028090"/>
              </a:gs>
              <a:gs pos="1423">
                <a:srgbClr val="028090"/>
              </a:gs>
              <a:gs pos="142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2512E7EC-534C-048F-0C5C-DCC1E8A5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왜 세일링스톤인가, AI 혁신 파트너의 조건</a:t>
            </a:r>
            <a:endParaRPr lang="ko-KR" altLang="en-US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9939BAC-56F8-CE3A-117A-FE2E4981B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01 ·  Who We Are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02FFECC1-9305-AD9F-256D-80A1FD5EA277}"/>
              </a:ext>
            </a:extLst>
          </p:cNvPr>
          <p:cNvSpPr/>
          <p:nvPr/>
        </p:nvSpPr>
        <p:spPr>
          <a:xfrm>
            <a:off x="0" y="563349"/>
            <a:ext cx="9144000" cy="932076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EDF50-8D54-1371-0850-F0DCD9EC97DC}"/>
              </a:ext>
            </a:extLst>
          </p:cNvPr>
          <p:cNvSpPr txBox="1"/>
          <p:nvPr/>
        </p:nvSpPr>
        <p:spPr>
          <a:xfrm>
            <a:off x="256032" y="698067"/>
            <a:ext cx="8595360" cy="661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ko-KR" altLang="ko-KR" sz="16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기술을 넘어 비즈니스의 본질을 이해하는 </a:t>
            </a:r>
            <a:r>
              <a:rPr lang="ko-KR" altLang="ko-KR" sz="1600" i="0" dirty="0">
                <a:solidFill>
                  <a:srgbClr val="00A896"/>
                </a:solidFill>
                <a:effectLst/>
                <a:latin typeface="SUIT ExtraBold" pitchFamily="50" charset="-127"/>
                <a:ea typeface="SUIT ExtraBold" pitchFamily="50" charset="-127"/>
              </a:rPr>
              <a:t>최적의 AI 혁신 파트너</a:t>
            </a:r>
            <a:endParaRPr lang="ko-KR" altLang="ko-KR" sz="1600" i="0" dirty="0">
              <a:solidFill>
                <a:srgbClr val="1E293B"/>
              </a:solidFill>
              <a:effectLst/>
              <a:latin typeface="SUIT ExtraBold" pitchFamily="50" charset="-127"/>
              <a:ea typeface="SUIT ExtraBold" pitchFamily="50" charset="-127"/>
            </a:endParaRPr>
          </a:p>
          <a:p>
            <a:pPr algn="ctr">
              <a:buNone/>
            </a:pP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세일링스톤은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AI, DW, 솔루션 연구소 및 BI 전문가들로 구성된 데이터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인텔리전스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융합 그룹입니다.</a:t>
            </a:r>
            <a:b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</a:b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뛰어난 기술력은 물론, 비즈니스 지표(KPI)에 대한 깊은 이해와 현업 소통을 통해 귀사의 성공적인 AI 대전환을 이끕니다.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458909-94F9-90AF-3A9E-5AFCAE0AC713}"/>
              </a:ext>
            </a:extLst>
          </p:cNvPr>
          <p:cNvSpPr txBox="1"/>
          <p:nvPr/>
        </p:nvSpPr>
        <p:spPr>
          <a:xfrm>
            <a:off x="855276" y="1840054"/>
            <a:ext cx="2082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ko-KR" sz="1200" i="0" dirty="0" err="1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Deep</a:t>
            </a:r>
            <a:r>
              <a:rPr lang="ko-KR" altLang="ko-KR" sz="1200" i="0" dirty="0">
                <a:solidFill>
                  <a:srgbClr val="1E293B"/>
                </a:solidFill>
                <a:effectLst/>
                <a:latin typeface="SUIT ExtraBold" pitchFamily="50" charset="-127"/>
                <a:ea typeface="SUIT ExtraBold" pitchFamily="50" charset="-127"/>
              </a:rPr>
              <a:t> Business &amp; BI DNA</a:t>
            </a:r>
          </a:p>
        </p:txBody>
      </p:sp>
      <p:sp>
        <p:nvSpPr>
          <p:cNvPr id="57" name="Google Shape;142;p13">
            <a:extLst>
              <a:ext uri="{FF2B5EF4-FFF2-40B4-BE49-F238E27FC236}">
                <a16:creationId xmlns:a16="http://schemas.microsoft.com/office/drawing/2014/main" id="{D0A057FB-6352-28D9-A7B2-0038A2E532A0}"/>
              </a:ext>
            </a:extLst>
          </p:cNvPr>
          <p:cNvSpPr txBox="1"/>
          <p:nvPr/>
        </p:nvSpPr>
        <p:spPr>
          <a:xfrm>
            <a:off x="439310" y="2246461"/>
            <a:ext cx="24983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우리는 화려한 대시보드를 그리기 이전에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기업의 데이터가 어떻게 결과에 직결되는지 그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'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뿌리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(Root)'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를 설계해 온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아키텍트입니다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표면적인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도입을 넘어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귀사만의 고유한 비즈니스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DNA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와 핵심 지표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(KPI)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를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의 뇌리에 가장 정확하게 이식합니다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84D438D-4774-125E-D485-9133C3DFECAF}"/>
              </a:ext>
            </a:extLst>
          </p:cNvPr>
          <p:cNvGrpSpPr/>
          <p:nvPr/>
        </p:nvGrpSpPr>
        <p:grpSpPr>
          <a:xfrm>
            <a:off x="466641" y="3359415"/>
            <a:ext cx="2398480" cy="233898"/>
            <a:chOff x="466641" y="3391165"/>
            <a:chExt cx="2398480" cy="233898"/>
          </a:xfrm>
        </p:grpSpPr>
        <p:sp>
          <p:nvSpPr>
            <p:cNvPr id="84" name="Shape 4">
              <a:extLst>
                <a:ext uri="{FF2B5EF4-FFF2-40B4-BE49-F238E27FC236}">
                  <a16:creationId xmlns:a16="http://schemas.microsoft.com/office/drawing/2014/main" id="{294A6117-41BC-16DA-53B7-E1B41A6CDAF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23660A8-86DA-27D3-1A94-5B6380196F73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데이터의 본질적 계보를 꿰뚫는 깊은 통찰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95" name="그래픽 94" descr="배지 체크 표시1 단색으로 채워진">
              <a:extLst>
                <a:ext uri="{FF2B5EF4-FFF2-40B4-BE49-F238E27FC236}">
                  <a16:creationId xmlns:a16="http://schemas.microsoft.com/office/drawing/2014/main" id="{470143F2-6CCE-3F85-8F40-C937A736A7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F6015B-EA95-1E95-AD9F-0554456C4D69}"/>
              </a:ext>
            </a:extLst>
          </p:cNvPr>
          <p:cNvSpPr/>
          <p:nvPr/>
        </p:nvSpPr>
        <p:spPr>
          <a:xfrm>
            <a:off x="256033" y="4441248"/>
            <a:ext cx="8595360" cy="407984"/>
          </a:xfrm>
          <a:prstGeom prst="roundRect">
            <a:avLst>
              <a:gd name="adj" fmla="val 23144"/>
            </a:avLst>
          </a:prstGeom>
          <a:solidFill>
            <a:srgbClr val="1E293B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5EF301D-D59C-1D47-65AD-74B185A760DF}"/>
              </a:ext>
            </a:extLst>
          </p:cNvPr>
          <p:cNvSpPr/>
          <p:nvPr/>
        </p:nvSpPr>
        <p:spPr>
          <a:xfrm rot="16200000">
            <a:off x="463089" y="1755310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1298182-2926-7E12-45B4-45979E621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298" y="1832953"/>
            <a:ext cx="255867" cy="25586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AF99234-854D-42E1-FB44-0E9EABF0D7E8}"/>
              </a:ext>
            </a:extLst>
          </p:cNvPr>
          <p:cNvSpPr txBox="1"/>
          <p:nvPr/>
        </p:nvSpPr>
        <p:spPr>
          <a:xfrm>
            <a:off x="3723472" y="1832953"/>
            <a:ext cx="22207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AI &amp; Data Engineering</a:t>
            </a:r>
            <a:endParaRPr lang="ko-KR" altLang="ko-KR" sz="1200" dirty="0">
              <a:solidFill>
                <a:srgbClr val="1E293B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E443E259-0226-3E93-5D02-B7B16A4F3EAA}"/>
              </a:ext>
            </a:extLst>
          </p:cNvPr>
          <p:cNvSpPr/>
          <p:nvPr/>
        </p:nvSpPr>
        <p:spPr>
          <a:xfrm rot="16200000">
            <a:off x="3345774" y="1748209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A0DC95-7295-EF08-D998-5C75797F4E58}"/>
              </a:ext>
            </a:extLst>
          </p:cNvPr>
          <p:cNvSpPr txBox="1"/>
          <p:nvPr/>
        </p:nvSpPr>
        <p:spPr>
          <a:xfrm>
            <a:off x="6673789" y="1832953"/>
            <a:ext cx="2082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dirty="0" err="1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End-to-End</a:t>
            </a:r>
            <a:r>
              <a:rPr lang="ko-KR" altLang="ko-KR" sz="1200" dirty="0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ko-KR" altLang="ko-KR" sz="1200" dirty="0" err="1">
                <a:solidFill>
                  <a:srgbClr val="1E293B"/>
                </a:solidFill>
                <a:latin typeface="SUIT ExtraBold" pitchFamily="50" charset="-127"/>
                <a:ea typeface="SUIT ExtraBold" pitchFamily="50" charset="-127"/>
              </a:rPr>
              <a:t>Partnership</a:t>
            </a:r>
            <a:endParaRPr lang="ko-KR" altLang="ko-KR" sz="1200" dirty="0">
              <a:solidFill>
                <a:srgbClr val="1E293B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D745D2CB-85A9-9F99-229A-12945BE373DA}"/>
              </a:ext>
            </a:extLst>
          </p:cNvPr>
          <p:cNvSpPr/>
          <p:nvPr/>
        </p:nvSpPr>
        <p:spPr>
          <a:xfrm rot="16200000">
            <a:off x="6281602" y="1748209"/>
            <a:ext cx="366576" cy="414133"/>
          </a:xfrm>
          <a:prstGeom prst="roundRect">
            <a:avLst>
              <a:gd name="adj" fmla="val 15186"/>
            </a:avLst>
          </a:prstGeom>
          <a:solidFill>
            <a:srgbClr val="E0F2FE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A9228692-48EE-C719-3948-5FFB2AEC7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4933" y="1829281"/>
            <a:ext cx="255600" cy="255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B2740F0E-A852-6690-431A-7946B9699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905" y="4516292"/>
            <a:ext cx="242018" cy="242018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0E69FD7C-F653-F261-28F2-4191604D7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7525" y="1816100"/>
            <a:ext cx="255600" cy="255600"/>
          </a:xfrm>
          <a:prstGeom prst="rect">
            <a:avLst/>
          </a:prstGeom>
        </p:spPr>
      </p:pic>
      <p:sp>
        <p:nvSpPr>
          <p:cNvPr id="45" name="Google Shape;142;p13">
            <a:extLst>
              <a:ext uri="{FF2B5EF4-FFF2-40B4-BE49-F238E27FC236}">
                <a16:creationId xmlns:a16="http://schemas.microsoft.com/office/drawing/2014/main" id="{06D0BFC9-EB7B-6F25-2EBB-5F39B362ADCD}"/>
              </a:ext>
            </a:extLst>
          </p:cNvPr>
          <p:cNvSpPr txBox="1"/>
          <p:nvPr/>
        </p:nvSpPr>
        <p:spPr>
          <a:xfrm>
            <a:off x="3335514" y="2179786"/>
            <a:ext cx="24983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완벽한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는 무결점의 데이터 인프라 위에서만 작동합니다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최상위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모델러와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복잡한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레거시를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섭렵한 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DW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엔지니어가 한 팀으로 융합되어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어떠한 파편화된 환경에서도 데이터의 병목을 뚫어내고 압도적인 퍼포먼스를 구현합니다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sp>
        <p:nvSpPr>
          <p:cNvPr id="46" name="Google Shape;142;p13">
            <a:extLst>
              <a:ext uri="{FF2B5EF4-FFF2-40B4-BE49-F238E27FC236}">
                <a16:creationId xmlns:a16="http://schemas.microsoft.com/office/drawing/2014/main" id="{BB2D70B1-B1B1-93DE-AF36-27A84499A52C}"/>
              </a:ext>
            </a:extLst>
          </p:cNvPr>
          <p:cNvSpPr txBox="1"/>
          <p:nvPr/>
        </p:nvSpPr>
        <p:spPr>
          <a:xfrm>
            <a:off x="6242934" y="2181310"/>
            <a:ext cx="2498384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bg1">
                  <a:lumMod val="65000"/>
                </a:schemeClr>
              </a:buClr>
            </a:pP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시스템을 납품하고 떠나는 벤더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(Vendor)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아닙니다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 AI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현업의 책상 위에 온전히 안착할 때까지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치열한 변화 관리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(Change Management)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부터 데이터 </a:t>
            </a:r>
            <a:r>
              <a:rPr lang="ko-KR" altLang="en-US" sz="900" dirty="0" err="1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리터러시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교육까지 귀사의 디지털 전환 여정을 끝까지 완주하는 셰르파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(Sherpa)</a:t>
            </a:r>
            <a:r>
              <a:rPr lang="ko-KR" altLang="en-US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가 되겠습니다</a:t>
            </a:r>
            <a:r>
              <a:rPr lang="en-US" altLang="ko-KR" sz="9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.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  <a:cs typeface="SUIT"/>
              <a:sym typeface="SUIT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1F9C8EF-4B5D-AF07-5376-D3A863DFF79A}"/>
              </a:ext>
            </a:extLst>
          </p:cNvPr>
          <p:cNvGrpSpPr/>
          <p:nvPr/>
        </p:nvGrpSpPr>
        <p:grpSpPr>
          <a:xfrm>
            <a:off x="466641" y="3680713"/>
            <a:ext cx="2398480" cy="233898"/>
            <a:chOff x="466641" y="3391165"/>
            <a:chExt cx="2398480" cy="233898"/>
          </a:xfrm>
        </p:grpSpPr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55430E6B-A4FA-0625-7E41-DC88F995933C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B70BE60-9375-B4BB-1550-39B44EB1F5F0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현업의 언어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'AI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의 언어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'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로 완벽하게 번역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65" name="그래픽 64" descr="배지 체크 표시1 단색으로 채워진">
              <a:extLst>
                <a:ext uri="{FF2B5EF4-FFF2-40B4-BE49-F238E27FC236}">
                  <a16:creationId xmlns:a16="http://schemas.microsoft.com/office/drawing/2014/main" id="{C1991F4B-20AB-1263-2C64-A2AE3D77DD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5BF2830-F20F-613D-A7EB-A20E02DA2727}"/>
              </a:ext>
            </a:extLst>
          </p:cNvPr>
          <p:cNvGrpSpPr/>
          <p:nvPr/>
        </p:nvGrpSpPr>
        <p:grpSpPr>
          <a:xfrm>
            <a:off x="466641" y="4002010"/>
            <a:ext cx="2398480" cy="233898"/>
            <a:chOff x="466641" y="3391165"/>
            <a:chExt cx="2398480" cy="233898"/>
          </a:xfrm>
        </p:grpSpPr>
        <p:sp>
          <p:nvSpPr>
            <p:cNvPr id="68" name="Shape 4">
              <a:extLst>
                <a:ext uri="{FF2B5EF4-FFF2-40B4-BE49-F238E27FC236}">
                  <a16:creationId xmlns:a16="http://schemas.microsoft.com/office/drawing/2014/main" id="{564CA3E1-2AF7-39CD-0EB4-DDA8E2ADE190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F0B85C4-232C-E427-EEEE-D72684F4D1BF}"/>
                </a:ext>
              </a:extLst>
            </p:cNvPr>
            <p:cNvSpPr txBox="1"/>
            <p:nvPr/>
          </p:nvSpPr>
          <p:spPr>
            <a:xfrm>
              <a:off x="644253" y="3396282"/>
              <a:ext cx="222086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단순한 모델링이 아닌 비즈니스 임팩트</a:t>
              </a:r>
              <a:r>
                <a:rPr lang="en-US" altLang="ko-KR" sz="80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중심 설계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70" name="그래픽 69" descr="배지 체크 표시1 단색으로 채워진">
              <a:extLst>
                <a:ext uri="{FF2B5EF4-FFF2-40B4-BE49-F238E27FC236}">
                  <a16:creationId xmlns:a16="http://schemas.microsoft.com/office/drawing/2014/main" id="{9D7C829D-65F0-9B6E-F9B0-076ECE7415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AAA9A795-FC39-7489-3C1A-91428257DD9C}"/>
              </a:ext>
            </a:extLst>
          </p:cNvPr>
          <p:cNvGrpSpPr/>
          <p:nvPr/>
        </p:nvGrpSpPr>
        <p:grpSpPr>
          <a:xfrm>
            <a:off x="3350570" y="3350872"/>
            <a:ext cx="2447135" cy="233898"/>
            <a:chOff x="466641" y="3391165"/>
            <a:chExt cx="2447135" cy="233898"/>
          </a:xfrm>
        </p:grpSpPr>
        <p:sp>
          <p:nvSpPr>
            <p:cNvPr id="72" name="Shape 4">
              <a:extLst>
                <a:ext uri="{FF2B5EF4-FFF2-40B4-BE49-F238E27FC236}">
                  <a16:creationId xmlns:a16="http://schemas.microsoft.com/office/drawing/2014/main" id="{DFDC1150-B485-6CD0-CF53-2E085043FE50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FDAF61-6B1F-2C57-5E97-FF7A3C632643}"/>
                </a:ext>
              </a:extLst>
            </p:cNvPr>
            <p:cNvSpPr txBox="1"/>
            <p:nvPr/>
          </p:nvSpPr>
          <p:spPr>
            <a:xfrm>
              <a:off x="643496" y="3396282"/>
              <a:ext cx="2270280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AI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알고리즘과 레거시 데이터 엔지니어링의 융합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75" name="그래픽 74" descr="배지 체크 표시1 단색으로 채워진">
              <a:extLst>
                <a:ext uri="{FF2B5EF4-FFF2-40B4-BE49-F238E27FC236}">
                  <a16:creationId xmlns:a16="http://schemas.microsoft.com/office/drawing/2014/main" id="{12163FAC-F107-83CE-78CE-6F13B936B3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43A9BF0-E7B3-C0CD-07A0-310A35FB4F01}"/>
              </a:ext>
            </a:extLst>
          </p:cNvPr>
          <p:cNvGrpSpPr/>
          <p:nvPr/>
        </p:nvGrpSpPr>
        <p:grpSpPr>
          <a:xfrm>
            <a:off x="3350570" y="3672170"/>
            <a:ext cx="2398480" cy="233898"/>
            <a:chOff x="466641" y="3391165"/>
            <a:chExt cx="2398480" cy="233898"/>
          </a:xfrm>
        </p:grpSpPr>
        <p:sp>
          <p:nvSpPr>
            <p:cNvPr id="77" name="Shape 4">
              <a:extLst>
                <a:ext uri="{FF2B5EF4-FFF2-40B4-BE49-F238E27FC236}">
                  <a16:creationId xmlns:a16="http://schemas.microsoft.com/office/drawing/2014/main" id="{E9B561B7-057E-3509-3BC8-70CC220E969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3F4F48B-0797-1E09-472C-AAA09C4AA504}"/>
                </a:ext>
              </a:extLst>
            </p:cNvPr>
            <p:cNvSpPr txBox="1"/>
            <p:nvPr/>
          </p:nvSpPr>
          <p:spPr>
            <a:xfrm>
              <a:off x="643496" y="3396282"/>
              <a:ext cx="2221625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이기종 데이터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사일로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(Silo)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를 허무는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브릿지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80" name="그래픽 79" descr="배지 체크 표시1 단색으로 채워진">
              <a:extLst>
                <a:ext uri="{FF2B5EF4-FFF2-40B4-BE49-F238E27FC236}">
                  <a16:creationId xmlns:a16="http://schemas.microsoft.com/office/drawing/2014/main" id="{7C6BEFE4-C769-6F0E-1BC5-D353A80CDA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A8A4E52-F181-510C-E926-2AB1B48A6BB6}"/>
              </a:ext>
            </a:extLst>
          </p:cNvPr>
          <p:cNvGrpSpPr/>
          <p:nvPr/>
        </p:nvGrpSpPr>
        <p:grpSpPr>
          <a:xfrm>
            <a:off x="3350570" y="3993467"/>
            <a:ext cx="2398480" cy="233898"/>
            <a:chOff x="466641" y="3391165"/>
            <a:chExt cx="2398480" cy="233898"/>
          </a:xfrm>
        </p:grpSpPr>
        <p:sp>
          <p:nvSpPr>
            <p:cNvPr id="82" name="Shape 4">
              <a:extLst>
                <a:ext uri="{FF2B5EF4-FFF2-40B4-BE49-F238E27FC236}">
                  <a16:creationId xmlns:a16="http://schemas.microsoft.com/office/drawing/2014/main" id="{3FF5DE5A-1821-97D7-D261-D59DE0E58478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963590-307C-AEFB-F102-2DBDC2D433AF}"/>
                </a:ext>
              </a:extLst>
            </p:cNvPr>
            <p:cNvSpPr txBox="1"/>
            <p:nvPr/>
          </p:nvSpPr>
          <p:spPr>
            <a:xfrm>
              <a:off x="643496" y="3396282"/>
              <a:ext cx="2221625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묵직한 엔터프라이즈 환경을 돌파하고 빠른 실행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88" name="그래픽 87" descr="배지 체크 표시1 단색으로 채워진">
              <a:extLst>
                <a:ext uri="{FF2B5EF4-FFF2-40B4-BE49-F238E27FC236}">
                  <a16:creationId xmlns:a16="http://schemas.microsoft.com/office/drawing/2014/main" id="{E2FECD00-B8B3-2818-CCB1-CF6B9ADE8A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3005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19526E6-4FE1-800F-2270-F3178904FBB1}"/>
              </a:ext>
            </a:extLst>
          </p:cNvPr>
          <p:cNvGrpSpPr/>
          <p:nvPr/>
        </p:nvGrpSpPr>
        <p:grpSpPr>
          <a:xfrm>
            <a:off x="6278879" y="3351373"/>
            <a:ext cx="2463059" cy="233898"/>
            <a:chOff x="466641" y="3391165"/>
            <a:chExt cx="2463059" cy="233898"/>
          </a:xfrm>
        </p:grpSpPr>
        <p:sp>
          <p:nvSpPr>
            <p:cNvPr id="91" name="Shape 4">
              <a:extLst>
                <a:ext uri="{FF2B5EF4-FFF2-40B4-BE49-F238E27FC236}">
                  <a16:creationId xmlns:a16="http://schemas.microsoft.com/office/drawing/2014/main" id="{475B9C38-8707-9ECA-2851-364492BCE53B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70A70E4-F6D6-A6B0-130F-10E783AB2BF5}"/>
                </a:ext>
              </a:extLst>
            </p:cNvPr>
            <p:cNvSpPr txBox="1"/>
            <p:nvPr/>
          </p:nvSpPr>
          <p:spPr>
            <a:xfrm>
              <a:off x="627572" y="3396282"/>
              <a:ext cx="2302128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구축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을 넘어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,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실질적 활용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 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중심의 변화 동행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0" name="그래픽 99" descr="배지 체크 표시1 단색으로 채워진">
              <a:extLst>
                <a:ext uri="{FF2B5EF4-FFF2-40B4-BE49-F238E27FC236}">
                  <a16:creationId xmlns:a16="http://schemas.microsoft.com/office/drawing/2014/main" id="{7606249E-14BD-1E6D-A72D-9CA064FFC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A2E08E79-7592-99EA-C214-9B056F8813E9}"/>
              </a:ext>
            </a:extLst>
          </p:cNvPr>
          <p:cNvGrpSpPr/>
          <p:nvPr/>
        </p:nvGrpSpPr>
        <p:grpSpPr>
          <a:xfrm>
            <a:off x="6278879" y="3672671"/>
            <a:ext cx="2398480" cy="233898"/>
            <a:chOff x="466641" y="3391165"/>
            <a:chExt cx="2398480" cy="233898"/>
          </a:xfrm>
        </p:grpSpPr>
        <p:sp>
          <p:nvSpPr>
            <p:cNvPr id="103" name="Shape 4">
              <a:extLst>
                <a:ext uri="{FF2B5EF4-FFF2-40B4-BE49-F238E27FC236}">
                  <a16:creationId xmlns:a16="http://schemas.microsoft.com/office/drawing/2014/main" id="{C33DC258-6EE0-2078-E427-9BD9CD9F321F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DE268FD-37B1-2F99-AEAA-3BBC2892D1FC}"/>
                </a:ext>
              </a:extLst>
            </p:cNvPr>
            <p:cNvSpPr txBox="1"/>
            <p:nvPr/>
          </p:nvSpPr>
          <p:spPr>
            <a:xfrm>
              <a:off x="627572" y="3396282"/>
              <a:ext cx="2237549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현업의 데이터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리터러시</a:t>
              </a:r>
              <a:r>
                <a:rPr lang="en-US" altLang="ko-KR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!</a:t>
              </a: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 맞춤형 </a:t>
              </a:r>
              <a:r>
                <a:rPr lang="ko-KR" altLang="en-US" sz="800" i="0" cap="all" dirty="0" err="1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온보딩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5" name="그래픽 104" descr="배지 체크 표시1 단색으로 채워진">
              <a:extLst>
                <a:ext uri="{FF2B5EF4-FFF2-40B4-BE49-F238E27FC236}">
                  <a16:creationId xmlns:a16="http://schemas.microsoft.com/office/drawing/2014/main" id="{383D6BBE-2282-4299-148A-D04496A5F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BF299EAB-FE22-261D-D4F2-D29C75626DCE}"/>
              </a:ext>
            </a:extLst>
          </p:cNvPr>
          <p:cNvGrpSpPr/>
          <p:nvPr/>
        </p:nvGrpSpPr>
        <p:grpSpPr>
          <a:xfrm>
            <a:off x="6278879" y="3993968"/>
            <a:ext cx="2398480" cy="233898"/>
            <a:chOff x="466641" y="3391165"/>
            <a:chExt cx="2398480" cy="233898"/>
          </a:xfrm>
        </p:grpSpPr>
        <p:sp>
          <p:nvSpPr>
            <p:cNvPr id="108" name="Shape 4">
              <a:extLst>
                <a:ext uri="{FF2B5EF4-FFF2-40B4-BE49-F238E27FC236}">
                  <a16:creationId xmlns:a16="http://schemas.microsoft.com/office/drawing/2014/main" id="{5253D288-6BB8-EA6F-A305-EF29D2AF1E73}"/>
                </a:ext>
              </a:extLst>
            </p:cNvPr>
            <p:cNvSpPr/>
            <p:nvPr/>
          </p:nvSpPr>
          <p:spPr>
            <a:xfrm rot="16200000">
              <a:off x="1557460" y="2300346"/>
              <a:ext cx="216841" cy="2398479"/>
            </a:xfrm>
            <a:prstGeom prst="roundRect">
              <a:avLst>
                <a:gd name="adj" fmla="val 21774"/>
              </a:avLst>
            </a:prstGeom>
            <a:solidFill>
              <a:srgbClr val="F8FAFC"/>
            </a:solidFill>
            <a:ln>
              <a:solidFill>
                <a:srgbClr val="E6EBF2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9BF039D-C3F1-1856-8793-8D31B5C5709F}"/>
                </a:ext>
              </a:extLst>
            </p:cNvPr>
            <p:cNvSpPr txBox="1"/>
            <p:nvPr/>
          </p:nvSpPr>
          <p:spPr>
            <a:xfrm>
              <a:off x="627572" y="3396282"/>
              <a:ext cx="2237549" cy="228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i="0" cap="all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ea"/>
                  <a:ea typeface="+mj-ea"/>
                </a:rPr>
                <a:t>환경 변화에 대응하는 끊임없는 모델 최적화</a:t>
              </a:r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10" name="그래픽 109" descr="배지 체크 표시1 단색으로 채워진">
              <a:extLst>
                <a:ext uri="{FF2B5EF4-FFF2-40B4-BE49-F238E27FC236}">
                  <a16:creationId xmlns:a16="http://schemas.microsoft.com/office/drawing/2014/main" id="{43777AF5-CE83-3D20-D78A-0F116D1224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8720" y="3421176"/>
              <a:ext cx="163636" cy="163636"/>
            </a:xfrm>
            <a:prstGeom prst="rect">
              <a:avLst/>
            </a:prstGeom>
          </p:spPr>
        </p:pic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2506493D-52E9-C7F2-2828-42CD4196791A}"/>
              </a:ext>
            </a:extLst>
          </p:cNvPr>
          <p:cNvSpPr txBox="1"/>
          <p:nvPr/>
        </p:nvSpPr>
        <p:spPr>
          <a:xfrm>
            <a:off x="853444" y="4493645"/>
            <a:ext cx="7688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1400" i="0" dirty="0" err="1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Sailingstone</a:t>
            </a:r>
            <a:r>
              <a:rPr lang="ko-KR" altLang="ko-KR" sz="14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Data &amp; AI Group</a:t>
            </a:r>
            <a:r>
              <a:rPr lang="en-US" altLang="ko-KR" sz="1400" i="0" dirty="0">
                <a:solidFill>
                  <a:srgbClr val="FFFFFF"/>
                </a:solidFill>
                <a:effectLst/>
                <a:latin typeface="SUIT ExtraBold" pitchFamily="50" charset="-127"/>
                <a:ea typeface="SUIT ExtraBold" pitchFamily="50" charset="-127"/>
              </a:rPr>
              <a:t>  </a:t>
            </a:r>
            <a:r>
              <a:rPr lang="ko-KR" altLang="ko-KR" sz="10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데이터가 멈춘 곳에서, 새로운 비즈니스 통찰의 항해를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292601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02.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제품 및 서비스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Product &amp;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4D41-C952-2EC6-8DA8-931D4521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4">
            <a:extLst>
              <a:ext uri="{FF2B5EF4-FFF2-40B4-BE49-F238E27FC236}">
                <a16:creationId xmlns:a16="http://schemas.microsoft.com/office/drawing/2014/main" id="{44E4443E-8A9B-8AA9-C020-7D66D278546D}"/>
              </a:ext>
            </a:extLst>
          </p:cNvPr>
          <p:cNvSpPr/>
          <p:nvPr/>
        </p:nvSpPr>
        <p:spPr>
          <a:xfrm>
            <a:off x="368298" y="1453917"/>
            <a:ext cx="8590284" cy="3474055"/>
          </a:xfrm>
          <a:prstGeom prst="roundRect">
            <a:avLst>
              <a:gd name="adj" fmla="val 2742"/>
            </a:avLst>
          </a:prstGeom>
          <a:solidFill>
            <a:srgbClr val="FAFBFC"/>
          </a:solidFill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4FE0E8E0-3570-D33F-CFEC-86DEB83725E4}"/>
              </a:ext>
            </a:extLst>
          </p:cNvPr>
          <p:cNvSpPr/>
          <p:nvPr/>
        </p:nvSpPr>
        <p:spPr>
          <a:xfrm>
            <a:off x="2841102" y="3052154"/>
            <a:ext cx="1664230" cy="19699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C5CFD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8C13DC02-A8C8-A842-B4E8-63D6EA5F0D7A}"/>
              </a:ext>
            </a:extLst>
          </p:cNvPr>
          <p:cNvSpPr/>
          <p:nvPr/>
        </p:nvSpPr>
        <p:spPr>
          <a:xfrm>
            <a:off x="4700746" y="3058548"/>
            <a:ext cx="2083144" cy="19699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EDE7E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F2C89CDA-D05D-1DB8-13F9-C24CC6538D87}"/>
              </a:ext>
            </a:extLst>
          </p:cNvPr>
          <p:cNvSpPr/>
          <p:nvPr/>
        </p:nvSpPr>
        <p:spPr>
          <a:xfrm rot="16200000">
            <a:off x="3853515" y="-28697"/>
            <a:ext cx="1526789" cy="8177180"/>
          </a:xfrm>
          <a:prstGeom prst="roundRect">
            <a:avLst>
              <a:gd name="adj" fmla="val 4806"/>
            </a:avLst>
          </a:prstGeom>
          <a:solidFill>
            <a:srgbClr val="0B1A30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61FE74DB-7879-C6A5-548B-3A9749F37A65}"/>
              </a:ext>
            </a:extLst>
          </p:cNvPr>
          <p:cNvSpPr/>
          <p:nvPr/>
        </p:nvSpPr>
        <p:spPr>
          <a:xfrm rot="16200000">
            <a:off x="3927474" y="-1770571"/>
            <a:ext cx="1352458" cy="8160927"/>
          </a:xfrm>
          <a:prstGeom prst="roundRect">
            <a:avLst>
              <a:gd name="adj" fmla="val 4806"/>
            </a:avLst>
          </a:prstGeom>
          <a:gradFill rotWithShape="1">
            <a:gsLst>
              <a:gs pos="0">
                <a:srgbClr val="00D4C5"/>
              </a:gs>
              <a:gs pos="2817">
                <a:srgbClr val="00D4C5"/>
              </a:gs>
              <a:gs pos="2818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4" name="Shape 4">
            <a:extLst>
              <a:ext uri="{FF2B5EF4-FFF2-40B4-BE49-F238E27FC236}">
                <a16:creationId xmlns:a16="http://schemas.microsoft.com/office/drawing/2014/main" id="{E95ABD79-BF8D-CD99-783B-FC9E7662FA1D}"/>
              </a:ext>
            </a:extLst>
          </p:cNvPr>
          <p:cNvSpPr/>
          <p:nvPr/>
        </p:nvSpPr>
        <p:spPr>
          <a:xfrm>
            <a:off x="3065291" y="3865227"/>
            <a:ext cx="5432400" cy="392400"/>
          </a:xfrm>
          <a:prstGeom prst="roundRect">
            <a:avLst>
              <a:gd name="adj" fmla="val 17269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6C1327C4-F4A9-8CB3-67A0-D1AE205E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aisight 솔루션 개요</a:t>
            </a:r>
          </a:p>
        </p:txBody>
      </p:sp>
      <p:sp>
        <p:nvSpPr>
          <p:cNvPr id="6" name="텍스트 개체 틀 22">
            <a:extLst>
              <a:ext uri="{FF2B5EF4-FFF2-40B4-BE49-F238E27FC236}">
                <a16:creationId xmlns:a16="http://schemas.microsoft.com/office/drawing/2014/main" id="{85DD4F35-433C-05D4-43A9-D67A6811C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  <a:cs typeface="+mn-cs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2AE66F-50C8-B42E-29AA-377C5A831505}"/>
              </a:ext>
            </a:extLst>
          </p:cNvPr>
          <p:cNvSpPr txBox="1"/>
          <p:nvPr/>
        </p:nvSpPr>
        <p:spPr>
          <a:xfrm>
            <a:off x="412750" y="633984"/>
            <a:ext cx="8229600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/>
            <a:r>
              <a:rPr lang="ko-KR" altLang="en-US" sz="1400" b="1" dirty="0">
                <a:latin typeface="+mn-ea"/>
                <a:ea typeface="+mn-ea"/>
              </a:rPr>
              <a:t>데이터 지능의 중앙 통제부터 소비까지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en-US" altLang="ko-KR" sz="1400" b="1" dirty="0" err="1">
                <a:solidFill>
                  <a:srgbClr val="0D9488"/>
                </a:solidFill>
                <a:latin typeface="+mn-ea"/>
                <a:ea typeface="+mn-ea"/>
              </a:rPr>
              <a:t>aisight</a:t>
            </a:r>
            <a:r>
              <a:rPr lang="en-US" altLang="ko-KR" sz="1400" b="1" dirty="0">
                <a:solidFill>
                  <a:srgbClr val="0D9488"/>
                </a:solidFill>
                <a:latin typeface="+mn-ea"/>
                <a:ea typeface="+mn-ea"/>
              </a:rPr>
              <a:t> </a:t>
            </a:r>
            <a:r>
              <a:rPr lang="ko-KR" altLang="en-US" sz="1400" b="1" dirty="0">
                <a:solidFill>
                  <a:srgbClr val="0D9488"/>
                </a:solidFill>
                <a:latin typeface="+mn-ea"/>
                <a:ea typeface="+mn-ea"/>
              </a:rPr>
              <a:t>통합 제품군</a:t>
            </a:r>
            <a:r>
              <a:rPr lang="en-US" altLang="ko-KR" sz="1400" b="1" dirty="0">
                <a:solidFill>
                  <a:srgbClr val="0D9488"/>
                </a:solidFill>
                <a:latin typeface="+mn-ea"/>
                <a:ea typeface="+mn-ea"/>
              </a:rPr>
              <a:t>(Product Suite)</a:t>
            </a:r>
            <a:endParaRPr lang="ko-KR" altLang="en-US" sz="2400" b="1" dirty="0">
              <a:solidFill>
                <a:srgbClr val="0D9488"/>
              </a:solidFill>
              <a:latin typeface="+mn-ea"/>
              <a:ea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A5256-82FE-EC63-0C3A-754212DD2E00}"/>
              </a:ext>
            </a:extLst>
          </p:cNvPr>
          <p:cNvSpPr txBox="1"/>
          <p:nvPr/>
        </p:nvSpPr>
        <p:spPr>
          <a:xfrm>
            <a:off x="224119" y="924058"/>
            <a:ext cx="8695761" cy="412449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b="0" dirty="0" err="1">
                <a:latin typeface="+mn-ea"/>
                <a:ea typeface="+mn-ea"/>
              </a:rPr>
              <a:t>aisight</a:t>
            </a:r>
            <a:r>
              <a:rPr lang="ko-KR" altLang="en-US" sz="1000" b="0" dirty="0">
                <a:latin typeface="+mn-ea"/>
                <a:ea typeface="+mn-ea"/>
              </a:rPr>
              <a:t>는 </a:t>
            </a:r>
            <a:r>
              <a:rPr lang="ko-KR" altLang="en-US" sz="1000" b="0" dirty="0">
                <a:solidFill>
                  <a:srgbClr val="0D9488"/>
                </a:solidFill>
                <a:latin typeface="+mn-ea"/>
                <a:ea typeface="+mn-ea"/>
              </a:rPr>
              <a:t>강력한 거버넌스 코어</a:t>
            </a:r>
            <a:r>
              <a:rPr lang="en-US" altLang="ko-KR" sz="1000" b="0" dirty="0">
                <a:solidFill>
                  <a:srgbClr val="0D9488"/>
                </a:solidFill>
                <a:latin typeface="+mn-ea"/>
                <a:ea typeface="+mn-ea"/>
              </a:rPr>
              <a:t>(Ops) </a:t>
            </a:r>
            <a:r>
              <a:rPr lang="ko-KR" altLang="en-US" sz="1000" b="0" dirty="0">
                <a:latin typeface="+mn-ea"/>
                <a:ea typeface="+mn-ea"/>
              </a:rPr>
              <a:t>위에서</a:t>
            </a:r>
            <a:r>
              <a:rPr lang="en-US" altLang="ko-KR" sz="1000" b="0" dirty="0">
                <a:latin typeface="+mn-ea"/>
                <a:ea typeface="+mn-ea"/>
              </a:rPr>
              <a:t>, </a:t>
            </a:r>
            <a:r>
              <a:rPr lang="ko-KR" altLang="en-US" sz="1000" b="0" dirty="0">
                <a:latin typeface="+mn-ea"/>
                <a:ea typeface="+mn-ea"/>
              </a:rPr>
              <a:t>지능형 대화부터 시각화 및 문서 생성까지 모두 품은 통합 </a:t>
            </a:r>
            <a:r>
              <a:rPr lang="ko-KR" altLang="en-US" sz="1000" b="0" dirty="0" err="1">
                <a:solidFill>
                  <a:srgbClr val="0D9488"/>
                </a:solidFill>
                <a:latin typeface="+mn-ea"/>
                <a:ea typeface="+mn-ea"/>
              </a:rPr>
              <a:t>프론트엔드</a:t>
            </a:r>
            <a:r>
              <a:rPr lang="ko-KR" altLang="en-US" sz="1000" b="0" dirty="0">
                <a:solidFill>
                  <a:srgbClr val="0D9488"/>
                </a:solidFill>
                <a:latin typeface="+mn-ea"/>
                <a:ea typeface="+mn-ea"/>
              </a:rPr>
              <a:t> 생태계</a:t>
            </a:r>
            <a:r>
              <a:rPr lang="en-US" altLang="ko-KR" sz="1000" b="0" dirty="0">
                <a:solidFill>
                  <a:srgbClr val="0D9488"/>
                </a:solidFill>
                <a:latin typeface="+mn-ea"/>
                <a:ea typeface="+mn-ea"/>
              </a:rPr>
              <a:t>(Work Space)</a:t>
            </a:r>
            <a:r>
              <a:rPr lang="ko-KR" altLang="en-US" sz="1000" b="0" dirty="0">
                <a:latin typeface="+mn-ea"/>
                <a:ea typeface="+mn-ea"/>
              </a:rPr>
              <a:t>를 제공합니다</a:t>
            </a:r>
            <a:r>
              <a:rPr lang="en-US" altLang="ko-KR" sz="1000" b="0" dirty="0">
                <a:latin typeface="+mn-ea"/>
                <a:ea typeface="+mn-ea"/>
              </a:rPr>
              <a:t>. </a:t>
            </a:r>
          </a:p>
          <a:p>
            <a:pPr algn="ctr">
              <a:lnSpc>
                <a:spcPct val="130000"/>
              </a:lnSpc>
            </a:pPr>
            <a:r>
              <a:rPr lang="ko-KR" altLang="en-US" sz="1000" b="0" dirty="0">
                <a:latin typeface="+mn-ea"/>
                <a:ea typeface="+mn-ea"/>
              </a:rPr>
              <a:t>모든 구성원이 데이터의 혜택을 누리는 끊김 없는 선순환 구조를 경험하세요</a:t>
            </a:r>
            <a:r>
              <a:rPr lang="en-US" altLang="ko-KR" sz="1000" b="0" dirty="0">
                <a:latin typeface="+mn-ea"/>
                <a:ea typeface="+mn-ea"/>
              </a:rPr>
              <a:t>.</a:t>
            </a:r>
          </a:p>
        </p:txBody>
      </p:sp>
      <p:sp>
        <p:nvSpPr>
          <p:cNvPr id="19" name="Google Shape;186;p13">
            <a:extLst>
              <a:ext uri="{FF2B5EF4-FFF2-40B4-BE49-F238E27FC236}">
                <a16:creationId xmlns:a16="http://schemas.microsoft.com/office/drawing/2014/main" id="{897573A5-FA5B-FD81-45F6-A47D8350BB9A}"/>
              </a:ext>
            </a:extLst>
          </p:cNvPr>
          <p:cNvSpPr txBox="1"/>
          <p:nvPr/>
        </p:nvSpPr>
        <p:spPr>
          <a:xfrm>
            <a:off x="3060692" y="3097436"/>
            <a:ext cx="133748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dirty="0">
                <a:solidFill>
                  <a:srgbClr val="64748B"/>
                </a:solidFill>
                <a:latin typeface="+mn-ea"/>
                <a:cs typeface="SUIT"/>
                <a:sym typeface="SUIT"/>
              </a:rPr>
              <a:t> 중앙 통제형 스킬 및 분석 모델 활용</a:t>
            </a:r>
            <a:endParaRPr dirty="0">
              <a:latin typeface="+mn-ea"/>
            </a:endParaRPr>
          </a:p>
        </p:txBody>
      </p:sp>
      <p:sp>
        <p:nvSpPr>
          <p:cNvPr id="36" name="Google Shape;186;p13">
            <a:extLst>
              <a:ext uri="{FF2B5EF4-FFF2-40B4-BE49-F238E27FC236}">
                <a16:creationId xmlns:a16="http://schemas.microsoft.com/office/drawing/2014/main" id="{209CB344-E70B-0174-1249-02E2432A075D}"/>
              </a:ext>
            </a:extLst>
          </p:cNvPr>
          <p:cNvSpPr txBox="1"/>
          <p:nvPr/>
        </p:nvSpPr>
        <p:spPr>
          <a:xfrm>
            <a:off x="4911167" y="3105179"/>
            <a:ext cx="180252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dirty="0">
                <a:solidFill>
                  <a:srgbClr val="64748B"/>
                </a:solidFill>
                <a:latin typeface="+mn-ea"/>
                <a:sym typeface="SUIT"/>
              </a:rPr>
              <a:t>비즈니스 질의 등 사용자 로그 및 활용 </a:t>
            </a:r>
            <a:r>
              <a:rPr lang="en-US" altLang="ko-KR" sz="700" dirty="0">
                <a:solidFill>
                  <a:srgbClr val="64748B"/>
                </a:solidFill>
                <a:latin typeface="+mn-ea"/>
                <a:sym typeface="SUIT"/>
              </a:rPr>
              <a:t>SQL </a:t>
            </a:r>
            <a:r>
              <a:rPr lang="ko-KR" altLang="en-US" sz="700" dirty="0">
                <a:solidFill>
                  <a:srgbClr val="64748B"/>
                </a:solidFill>
                <a:latin typeface="+mn-ea"/>
                <a:sym typeface="SUIT"/>
              </a:rPr>
              <a:t>등 적재 </a:t>
            </a:r>
            <a:endParaRPr sz="700" dirty="0">
              <a:solidFill>
                <a:srgbClr val="64748B"/>
              </a:solidFill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45D6B6-ABA2-14AF-6752-D08F0FACDCE7}"/>
              </a:ext>
            </a:extLst>
          </p:cNvPr>
          <p:cNvSpPr txBox="1"/>
          <p:nvPr/>
        </p:nvSpPr>
        <p:spPr>
          <a:xfrm>
            <a:off x="718481" y="2316314"/>
            <a:ext cx="2384008" cy="52273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 err="1">
                <a:latin typeface="+mj-lt"/>
                <a:ea typeface="SUIT Light" pitchFamily="50" charset="-127"/>
              </a:rPr>
              <a:t>aisight</a:t>
            </a:r>
            <a:r>
              <a:rPr lang="en-US" altLang="ko-KR" sz="800" dirty="0">
                <a:latin typeface="+mj-lt"/>
                <a:ea typeface="SUIT Light" pitchFamily="50" charset="-127"/>
              </a:rPr>
              <a:t> Work Space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안에서 누구나 에이전트와 대화하며 자신만의 대시보드를 기획하고</a:t>
            </a:r>
            <a:r>
              <a:rPr lang="en-US" altLang="ko-KR" sz="800" dirty="0">
                <a:latin typeface="+mj-lt"/>
                <a:ea typeface="SUIT Light" pitchFamily="50" charset="-127"/>
              </a:rPr>
              <a:t>,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리포트를 생성해 전사로 공유할 수 있습니다</a:t>
            </a:r>
            <a:r>
              <a:rPr lang="en-US" altLang="ko-KR" sz="800" dirty="0">
                <a:latin typeface="+mj-lt"/>
                <a:ea typeface="SUIT Light" pitchFamily="50" charset="-127"/>
              </a:rPr>
              <a:t>. </a:t>
            </a:r>
            <a:r>
              <a:rPr lang="ko-KR" altLang="en-US" sz="800" dirty="0">
                <a:latin typeface="+mj-lt"/>
                <a:ea typeface="SUIT Light" pitchFamily="50" charset="-127"/>
              </a:rPr>
              <a:t>개인의 데이터 분석이 조직의 지식 자산으로 전환되는 완벽한 지식 생태계입니다</a:t>
            </a:r>
            <a:r>
              <a:rPr lang="en-US" altLang="ko-KR" sz="800" dirty="0">
                <a:latin typeface="+mj-lt"/>
                <a:ea typeface="SUIT Light" pitchFamily="50" charset="-127"/>
              </a:rPr>
              <a:t>.</a:t>
            </a:r>
            <a:endParaRPr lang="ko-KR" altLang="en-US" sz="800" dirty="0">
              <a:latin typeface="+mj-lt"/>
              <a:ea typeface="SUIT Light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AB4673-34BA-95A1-E774-DFA65F80AF3A}"/>
              </a:ext>
            </a:extLst>
          </p:cNvPr>
          <p:cNvSpPr txBox="1"/>
          <p:nvPr/>
        </p:nvSpPr>
        <p:spPr>
          <a:xfrm>
            <a:off x="718481" y="3622613"/>
            <a:ext cx="1616710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sz="16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aisight </a:t>
            </a:r>
            <a:r>
              <a:rPr lang="en-US" altLang="ko-KR" sz="1600" b="1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Ops</a:t>
            </a:r>
            <a:endParaRPr lang="ko-KR" sz="1600" b="1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890BA7-DC64-6A1F-F8F0-C533BB6BBFCD}"/>
              </a:ext>
            </a:extLst>
          </p:cNvPr>
          <p:cNvSpPr txBox="1"/>
          <p:nvPr/>
        </p:nvSpPr>
        <p:spPr>
          <a:xfrm>
            <a:off x="718481" y="3458898"/>
            <a:ext cx="1865630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b="1" dirty="0">
                <a:solidFill>
                  <a:srgbClr val="00E2FE"/>
                </a:solidFill>
                <a:latin typeface="SUIT ExtraBold" pitchFamily="50" charset="-127"/>
                <a:ea typeface="SUIT ExtraBold" pitchFamily="50" charset="-127"/>
              </a:rPr>
              <a:t>Control &amp; Governance Tower</a:t>
            </a:r>
            <a:endParaRPr lang="ko-KR" sz="8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44E071-0396-0165-8DC5-1654E1399086}"/>
              </a:ext>
            </a:extLst>
          </p:cNvPr>
          <p:cNvSpPr txBox="1"/>
          <p:nvPr/>
        </p:nvSpPr>
        <p:spPr>
          <a:xfrm>
            <a:off x="687009" y="3912062"/>
            <a:ext cx="2318177" cy="757672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사내외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Multi-LLM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모델의 통합 오케스트레이션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을 기반으로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검증된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고정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KPI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수식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·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가드레일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·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접근 권한을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'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분석 스킬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'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형태로 중앙 통제 및 실시간 연결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하며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사내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정성 문서의 자산 </a:t>
            </a:r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Wiki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마이그레이션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과 분석 로그 기반의 </a:t>
            </a:r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적합성 검사 및 상시 모니터링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을 수행합니다</a:t>
            </a:r>
            <a:r>
              <a:rPr lang="en-US" altLang="ko-KR" sz="800" dirty="0">
                <a:solidFill>
                  <a:schemeClr val="bg1">
                    <a:lumMod val="95000"/>
                  </a:schemeClr>
                </a:solidFill>
                <a:latin typeface="SUIT Light" pitchFamily="50" charset="-127"/>
                <a:ea typeface="SUIT Light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74" name="Shape 4">
            <a:extLst>
              <a:ext uri="{FF2B5EF4-FFF2-40B4-BE49-F238E27FC236}">
                <a16:creationId xmlns:a16="http://schemas.microsoft.com/office/drawing/2014/main" id="{B31D288E-638C-3A98-F9F5-89460BEA4E0D}"/>
              </a:ext>
            </a:extLst>
          </p:cNvPr>
          <p:cNvSpPr/>
          <p:nvPr/>
        </p:nvSpPr>
        <p:spPr>
          <a:xfrm>
            <a:off x="3069967" y="3445766"/>
            <a:ext cx="5432745" cy="390556"/>
          </a:xfrm>
          <a:prstGeom prst="roundRect">
            <a:avLst>
              <a:gd name="adj" fmla="val 19388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C11F88A9-4488-D6EC-0B92-CF36B3C17892}"/>
              </a:ext>
            </a:extLst>
          </p:cNvPr>
          <p:cNvSpPr/>
          <p:nvPr/>
        </p:nvSpPr>
        <p:spPr>
          <a:xfrm>
            <a:off x="3069967" y="4299231"/>
            <a:ext cx="5432745" cy="390556"/>
          </a:xfrm>
          <a:prstGeom prst="roundRect">
            <a:avLst>
              <a:gd name="adj" fmla="val 19388"/>
            </a:avLst>
          </a:prstGeom>
          <a:solidFill>
            <a:srgbClr val="17263B"/>
          </a:solidFill>
          <a:ln>
            <a:solidFill>
              <a:srgbClr val="222F4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24257-4811-634B-C33C-496E57734E24}"/>
              </a:ext>
            </a:extLst>
          </p:cNvPr>
          <p:cNvSpPr txBox="1"/>
          <p:nvPr/>
        </p:nvSpPr>
        <p:spPr>
          <a:xfrm>
            <a:off x="3106335" y="3563108"/>
            <a:ext cx="845819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오케스트레이션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5B1ECA-E923-9903-76EA-27F1466CFA10}"/>
              </a:ext>
            </a:extLst>
          </p:cNvPr>
          <p:cNvSpPr txBox="1"/>
          <p:nvPr/>
        </p:nvSpPr>
        <p:spPr>
          <a:xfrm>
            <a:off x="3116439" y="3993298"/>
            <a:ext cx="845819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데이터 스킬 시스템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8EDC7B-319B-8DDC-7F3E-FFEAAD30880C}"/>
              </a:ext>
            </a:extLst>
          </p:cNvPr>
          <p:cNvSpPr txBox="1"/>
          <p:nvPr/>
        </p:nvSpPr>
        <p:spPr>
          <a:xfrm>
            <a:off x="4060147" y="3518724"/>
            <a:ext cx="4379035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사내 보안용 자체 로컬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GPU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인프라부터 외부 상용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API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까지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서로 다른 기종의 다양한 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LLM 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모델들을 </a:t>
            </a:r>
            <a:endParaRPr lang="en-US" altLang="ko-KR" sz="800" dirty="0">
              <a:solidFill>
                <a:srgbClr val="A1C0DA"/>
              </a:solidFill>
              <a:latin typeface="+mn-ea"/>
            </a:endParaRPr>
          </a:p>
          <a:p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하나의 허브에 유연하게 연동하고 최적화하여 지휘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·</a:t>
            </a:r>
            <a:r>
              <a:rPr lang="ko-KR" altLang="en-US" sz="800" dirty="0">
                <a:solidFill>
                  <a:srgbClr val="A1C0DA"/>
                </a:solidFill>
                <a:latin typeface="+mn-ea"/>
              </a:rPr>
              <a:t>통제합니다</a:t>
            </a:r>
            <a:r>
              <a:rPr lang="en-US" altLang="ko-KR" sz="800" dirty="0">
                <a:solidFill>
                  <a:srgbClr val="A1C0DA"/>
                </a:solidFill>
                <a:latin typeface="+mn-ea"/>
              </a:rPr>
              <a:t>.</a:t>
            </a:r>
            <a:endParaRPr lang="ko-KR" altLang="en-US" sz="800" dirty="0">
              <a:solidFill>
                <a:srgbClr val="A1C0DA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4C88B2-32B3-AB05-8F2C-B1039FAD6B73}"/>
              </a:ext>
            </a:extLst>
          </p:cNvPr>
          <p:cNvSpPr txBox="1"/>
          <p:nvPr/>
        </p:nvSpPr>
        <p:spPr>
          <a:xfrm>
            <a:off x="4060147" y="3924049"/>
            <a:ext cx="4379035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dirty="0">
                <a:solidFill>
                  <a:srgbClr val="A1C0DA"/>
                </a:solidFill>
              </a:rPr>
              <a:t>사전 검증한 </a:t>
            </a:r>
            <a:r>
              <a:rPr lang="en-US" altLang="ko-KR" sz="800" b="1" dirty="0">
                <a:solidFill>
                  <a:srgbClr val="A1C0DA"/>
                </a:solidFill>
              </a:rPr>
              <a:t>KPI, SQL </a:t>
            </a:r>
            <a:r>
              <a:rPr lang="ko-KR" altLang="en-US" sz="800" b="1" dirty="0">
                <a:solidFill>
                  <a:srgbClr val="A1C0DA"/>
                </a:solidFill>
              </a:rPr>
              <a:t>연산 수식과 프롬프트 가드레일</a:t>
            </a:r>
            <a:r>
              <a:rPr lang="en-US" altLang="ko-KR" sz="800" b="1" dirty="0">
                <a:solidFill>
                  <a:srgbClr val="A1C0DA"/>
                </a:solidFill>
              </a:rPr>
              <a:t>, </a:t>
            </a:r>
            <a:r>
              <a:rPr lang="ko-KR" altLang="en-US" sz="800" b="1" dirty="0">
                <a:solidFill>
                  <a:srgbClr val="A1C0DA"/>
                </a:solidFill>
              </a:rPr>
              <a:t>부서</a:t>
            </a:r>
            <a:r>
              <a:rPr lang="en-US" altLang="ko-KR" sz="800" b="1" dirty="0">
                <a:solidFill>
                  <a:srgbClr val="A1C0DA"/>
                </a:solidFill>
              </a:rPr>
              <a:t>·</a:t>
            </a:r>
            <a:r>
              <a:rPr lang="ko-KR" altLang="en-US" sz="800" b="1" dirty="0">
                <a:solidFill>
                  <a:srgbClr val="A1C0DA"/>
                </a:solidFill>
              </a:rPr>
              <a:t>직급별 데이터 접근 권한을 단일 </a:t>
            </a:r>
            <a:r>
              <a:rPr lang="en-US" altLang="ko-KR" sz="800" b="1" dirty="0">
                <a:solidFill>
                  <a:srgbClr val="A1C0DA"/>
                </a:solidFill>
              </a:rPr>
              <a:t>'</a:t>
            </a:r>
            <a:r>
              <a:rPr lang="ko-KR" altLang="en-US" sz="800" b="1" dirty="0">
                <a:solidFill>
                  <a:srgbClr val="A1C0DA"/>
                </a:solidFill>
              </a:rPr>
              <a:t>분석 스킬</a:t>
            </a:r>
            <a:r>
              <a:rPr lang="en-US" altLang="ko-KR" sz="800" b="1" dirty="0">
                <a:solidFill>
                  <a:srgbClr val="A1C0DA"/>
                </a:solidFill>
              </a:rPr>
              <a:t>' </a:t>
            </a:r>
            <a:r>
              <a:rPr lang="ko-KR" altLang="en-US" sz="800" b="1" dirty="0">
                <a:solidFill>
                  <a:srgbClr val="A1C0DA"/>
                </a:solidFill>
              </a:rPr>
              <a:t>패키지로 등록</a:t>
            </a:r>
            <a:r>
              <a:rPr lang="ko-KR" altLang="en-US" sz="800" dirty="0">
                <a:solidFill>
                  <a:srgbClr val="A1C0DA"/>
                </a:solidFill>
              </a:rPr>
              <a:t>하여 상단 엔진에 실시간 공급</a:t>
            </a:r>
            <a:r>
              <a:rPr lang="en-US" altLang="ko-KR" sz="800" dirty="0">
                <a:solidFill>
                  <a:srgbClr val="A1C0DA"/>
                </a:solidFill>
              </a:rPr>
              <a:t>(Feeding)</a:t>
            </a:r>
            <a:r>
              <a:rPr lang="ko-KR" altLang="en-US" sz="800" dirty="0">
                <a:solidFill>
                  <a:srgbClr val="A1C0DA"/>
                </a:solidFill>
              </a:rPr>
              <a:t>함으로써 </a:t>
            </a:r>
            <a:r>
              <a:rPr lang="en-US" altLang="ko-KR" sz="800" dirty="0">
                <a:solidFill>
                  <a:srgbClr val="A1C0DA"/>
                </a:solidFill>
              </a:rPr>
              <a:t>LLM</a:t>
            </a:r>
            <a:r>
              <a:rPr lang="ko-KR" altLang="en-US" sz="800" dirty="0">
                <a:solidFill>
                  <a:srgbClr val="A1C0DA"/>
                </a:solidFill>
              </a:rPr>
              <a:t>의 수치 환각을 원천 차단합니다</a:t>
            </a:r>
            <a:r>
              <a:rPr lang="en-US" altLang="ko-KR" sz="800" dirty="0">
                <a:solidFill>
                  <a:srgbClr val="A1C0DA"/>
                </a:solidFill>
              </a:rPr>
              <a:t>.</a:t>
            </a:r>
            <a:endParaRPr lang="ko-KR" altLang="en-US" sz="800" dirty="0">
              <a:solidFill>
                <a:srgbClr val="A1C0DA"/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CE66002-AE3C-1690-C35D-BC22B1E7BAC5}"/>
              </a:ext>
            </a:extLst>
          </p:cNvPr>
          <p:cNvSpPr txBox="1"/>
          <p:nvPr/>
        </p:nvSpPr>
        <p:spPr>
          <a:xfrm>
            <a:off x="3069967" y="4413358"/>
            <a:ext cx="892291" cy="13801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algn="r"/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정성</a:t>
            </a:r>
            <a:r>
              <a:rPr lang="en-US" altLang="ko-KR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·</a:t>
            </a:r>
            <a:r>
              <a:rPr lang="ko-KR" altLang="en-US" sz="7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정량 데이터 통합</a:t>
            </a:r>
            <a:endParaRPr lang="ko-KR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FA35C0-7BC5-8C92-C495-6446282D6D95}"/>
              </a:ext>
            </a:extLst>
          </p:cNvPr>
          <p:cNvSpPr txBox="1"/>
          <p:nvPr/>
        </p:nvSpPr>
        <p:spPr>
          <a:xfrm>
            <a:off x="4070252" y="4368974"/>
            <a:ext cx="4432460" cy="27651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800" b="1" dirty="0">
                <a:solidFill>
                  <a:srgbClr val="A1C0DA"/>
                </a:solidFill>
              </a:rPr>
              <a:t>사내 기존 문서와 업무 매뉴얼</a:t>
            </a:r>
            <a:r>
              <a:rPr lang="ko-KR" altLang="en-US" sz="800" dirty="0">
                <a:solidFill>
                  <a:srgbClr val="A1C0DA"/>
                </a:solidFill>
              </a:rPr>
              <a:t>을 마크다운 규격으로 </a:t>
            </a:r>
            <a:r>
              <a:rPr lang="ko-KR" altLang="en-US" sz="800" b="1" dirty="0">
                <a:solidFill>
                  <a:srgbClr val="A1C0DA"/>
                </a:solidFill>
              </a:rPr>
              <a:t>자동 마이그레이션</a:t>
            </a:r>
            <a:r>
              <a:rPr lang="ko-KR" altLang="en-US" sz="800" dirty="0">
                <a:solidFill>
                  <a:srgbClr val="A1C0DA"/>
                </a:solidFill>
              </a:rPr>
              <a:t>하여 </a:t>
            </a:r>
            <a:r>
              <a:rPr lang="en-US" altLang="ko-KR" sz="800" dirty="0">
                <a:solidFill>
                  <a:srgbClr val="A1C0DA"/>
                </a:solidFill>
              </a:rPr>
              <a:t>Ops</a:t>
            </a:r>
            <a:r>
              <a:rPr lang="ko-KR" altLang="en-US" sz="800" dirty="0">
                <a:solidFill>
                  <a:srgbClr val="A1C0DA"/>
                </a:solidFill>
              </a:rPr>
              <a:t>에서 관리 가능한 상태로 만들고</a:t>
            </a:r>
            <a:r>
              <a:rPr lang="en-US" altLang="ko-KR" sz="800" dirty="0">
                <a:solidFill>
                  <a:srgbClr val="A1C0DA"/>
                </a:solidFill>
              </a:rPr>
              <a:t> AI</a:t>
            </a:r>
            <a:r>
              <a:rPr lang="ko-KR" altLang="en-US" sz="800" dirty="0">
                <a:solidFill>
                  <a:srgbClr val="A1C0DA"/>
                </a:solidFill>
              </a:rPr>
              <a:t>가 즉시 이해하고 맥락을 추론할 수 있는 </a:t>
            </a:r>
            <a:r>
              <a:rPr lang="ko-KR" altLang="en-US" sz="800" b="1" dirty="0">
                <a:solidFill>
                  <a:srgbClr val="A1C0DA"/>
                </a:solidFill>
              </a:rPr>
              <a:t>핵심 지식 자산 </a:t>
            </a:r>
            <a:r>
              <a:rPr lang="en-US" altLang="ko-KR" sz="800" b="1" dirty="0">
                <a:solidFill>
                  <a:srgbClr val="A1C0DA"/>
                </a:solidFill>
              </a:rPr>
              <a:t>Wiki</a:t>
            </a:r>
            <a:r>
              <a:rPr lang="ko-KR" altLang="en-US" sz="800" dirty="0">
                <a:solidFill>
                  <a:srgbClr val="A1C0DA"/>
                </a:solidFill>
              </a:rPr>
              <a:t>로 활용합니다</a:t>
            </a:r>
            <a:r>
              <a:rPr lang="en-US" altLang="ko-KR" sz="800" dirty="0">
                <a:solidFill>
                  <a:srgbClr val="A1C0DA"/>
                </a:solidFill>
              </a:rPr>
              <a:t>.</a:t>
            </a:r>
            <a:endParaRPr lang="ko-KR" altLang="en-US" sz="800" dirty="0">
              <a:solidFill>
                <a:srgbClr val="A1C0DA"/>
              </a:solidFill>
              <a:latin typeface="SUIT Light" pitchFamily="50" charset="-127"/>
              <a:ea typeface="SUIT Light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2EDB8CD-903C-C5B3-51DE-99B8A2D14595}"/>
              </a:ext>
            </a:extLst>
          </p:cNvPr>
          <p:cNvGrpSpPr/>
          <p:nvPr/>
        </p:nvGrpSpPr>
        <p:grpSpPr>
          <a:xfrm>
            <a:off x="3906434" y="1316732"/>
            <a:ext cx="1395657" cy="283636"/>
            <a:chOff x="3301100" y="1473305"/>
            <a:chExt cx="1395657" cy="2836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2279715-4EAB-4C0E-D011-2052328D283E}"/>
                </a:ext>
              </a:extLst>
            </p:cNvPr>
            <p:cNvSpPr/>
            <p:nvPr/>
          </p:nvSpPr>
          <p:spPr>
            <a:xfrm>
              <a:off x="3301100" y="1494617"/>
              <a:ext cx="1395657" cy="223773"/>
            </a:xfrm>
            <a:prstGeom prst="roundRect">
              <a:avLst>
                <a:gd name="adj" fmla="val 405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Google Shape;154;p13">
              <a:extLst>
                <a:ext uri="{FF2B5EF4-FFF2-40B4-BE49-F238E27FC236}">
                  <a16:creationId xmlns:a16="http://schemas.microsoft.com/office/drawing/2014/main" id="{DDBB92ED-04D1-2907-3D9D-89D0E1F201A8}"/>
                </a:ext>
              </a:extLst>
            </p:cNvPr>
            <p:cNvSpPr txBox="1"/>
            <p:nvPr/>
          </p:nvSpPr>
          <p:spPr>
            <a:xfrm>
              <a:off x="3552353" y="1533848"/>
              <a:ext cx="11444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050" b="1" dirty="0" err="1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aisight</a:t>
              </a:r>
              <a:r>
                <a:rPr lang="en-US" sz="1050" b="1" dirty="0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 Products</a:t>
              </a:r>
              <a:endParaRPr sz="2400" dirty="0">
                <a:latin typeface="SUIT ExtraBold" pitchFamily="50" charset="-127"/>
                <a:ea typeface="SUIT ExtraBold" pitchFamily="50" charset="-127"/>
              </a:endParaRPr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25A970CC-0D2C-1538-A4F5-622185ADE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204" y="1473305"/>
              <a:ext cx="260350" cy="283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" name="그래픽 47" descr="위쪽 화살표 단색으로 채워진">
            <a:extLst>
              <a:ext uri="{FF2B5EF4-FFF2-40B4-BE49-F238E27FC236}">
                <a16:creationId xmlns:a16="http://schemas.microsoft.com/office/drawing/2014/main" id="{52BD6CBF-F5DE-9143-404D-2DF8B9CB1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7481" y="3074459"/>
            <a:ext cx="206379" cy="144000"/>
          </a:xfrm>
          <a:prstGeom prst="rect">
            <a:avLst/>
          </a:prstGeom>
        </p:spPr>
      </p:pic>
      <p:pic>
        <p:nvPicPr>
          <p:cNvPr id="65" name="그래픽 64" descr="위쪽 화살표 단색으로 채워진">
            <a:extLst>
              <a:ext uri="{FF2B5EF4-FFF2-40B4-BE49-F238E27FC236}">
                <a16:creationId xmlns:a16="http://schemas.microsoft.com/office/drawing/2014/main" id="{9AC6A1AE-6687-B89D-B947-51345F020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739113" y="3081207"/>
            <a:ext cx="206379" cy="1440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70ABE05-43B6-06D9-C25A-3145D15DA369}"/>
              </a:ext>
            </a:extLst>
          </p:cNvPr>
          <p:cNvSpPr txBox="1"/>
          <p:nvPr/>
        </p:nvSpPr>
        <p:spPr>
          <a:xfrm>
            <a:off x="730801" y="1817974"/>
            <a:ext cx="2399473" cy="245737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ko-KR" sz="1400" b="1" dirty="0" err="1"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ko-KR" altLang="ko-KR" sz="1400" b="1" dirty="0">
                <a:latin typeface="SUIT ExtraBold" pitchFamily="50" charset="-127"/>
                <a:ea typeface="SUIT ExtraBold" pitchFamily="50" charset="-127"/>
              </a:rPr>
              <a:t> </a:t>
            </a:r>
            <a:r>
              <a:rPr lang="en-US" altLang="ko-KR" sz="1400" b="1" dirty="0">
                <a:latin typeface="SUIT ExtraBold" pitchFamily="50" charset="-127"/>
                <a:ea typeface="SUIT ExtraBold" pitchFamily="50" charset="-127"/>
              </a:rPr>
              <a:t>Work Space</a:t>
            </a:r>
            <a:endParaRPr lang="ko-KR" altLang="ko-KR" sz="1400" b="1" dirty="0"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1DB9B8-1741-3217-F7ED-2533E4B6BB44}"/>
              </a:ext>
            </a:extLst>
          </p:cNvPr>
          <p:cNvSpPr txBox="1"/>
          <p:nvPr/>
        </p:nvSpPr>
        <p:spPr>
          <a:xfrm>
            <a:off x="735007" y="2057408"/>
            <a:ext cx="1865630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b="1" dirty="0">
                <a:solidFill>
                  <a:srgbClr val="696C8A"/>
                </a:solidFill>
                <a:latin typeface="SUIT Light" pitchFamily="50" charset="-127"/>
                <a:ea typeface="SUIT Light" pitchFamily="50" charset="-127"/>
              </a:rPr>
              <a:t>Collaboration Experience Portal</a:t>
            </a:r>
            <a:endParaRPr lang="ko-KR" altLang="ko-KR" sz="800" b="1" dirty="0">
              <a:solidFill>
                <a:srgbClr val="696C8A"/>
              </a:solidFill>
              <a:latin typeface="SUIT Light" pitchFamily="50" charset="-127"/>
              <a:ea typeface="SUIT Light" pitchFamily="50" charset="-127"/>
            </a:endParaRPr>
          </a:p>
        </p:txBody>
      </p:sp>
      <p:cxnSp>
        <p:nvCxnSpPr>
          <p:cNvPr id="102" name="Connector 32">
            <a:extLst>
              <a:ext uri="{FF2B5EF4-FFF2-40B4-BE49-F238E27FC236}">
                <a16:creationId xmlns:a16="http://schemas.microsoft.com/office/drawing/2014/main" id="{7B343370-F174-EE2C-18DB-1087FDD61377}"/>
              </a:ext>
            </a:extLst>
          </p:cNvPr>
          <p:cNvCxnSpPr>
            <a:cxnSpLocks/>
          </p:cNvCxnSpPr>
          <p:nvPr/>
        </p:nvCxnSpPr>
        <p:spPr>
          <a:xfrm>
            <a:off x="718481" y="2275360"/>
            <a:ext cx="2342211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4">
            <a:extLst>
              <a:ext uri="{FF2B5EF4-FFF2-40B4-BE49-F238E27FC236}">
                <a16:creationId xmlns:a16="http://schemas.microsoft.com/office/drawing/2014/main" id="{2F52C316-CFAB-F35D-50D5-72DBDBF10ABE}"/>
              </a:ext>
            </a:extLst>
          </p:cNvPr>
          <p:cNvSpPr/>
          <p:nvPr/>
        </p:nvSpPr>
        <p:spPr>
          <a:xfrm rot="10800000">
            <a:off x="3202177" y="1735285"/>
            <a:ext cx="2651992" cy="746567"/>
          </a:xfrm>
          <a:prstGeom prst="roundRect">
            <a:avLst>
              <a:gd name="adj" fmla="val 7775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628542C-FC34-DFDA-359A-92561E4F16D8}"/>
              </a:ext>
            </a:extLst>
          </p:cNvPr>
          <p:cNvSpPr/>
          <p:nvPr/>
        </p:nvSpPr>
        <p:spPr>
          <a:xfrm rot="10800000">
            <a:off x="3193387" y="25443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pic>
        <p:nvPicPr>
          <p:cNvPr id="53" name="그래픽 52" descr="자막 단색으로 채워진">
            <a:extLst>
              <a:ext uri="{FF2B5EF4-FFF2-40B4-BE49-F238E27FC236}">
                <a16:creationId xmlns:a16="http://schemas.microsoft.com/office/drawing/2014/main" id="{7C0E7C50-D740-AB49-9602-D42081707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7669" y="1802513"/>
            <a:ext cx="245151" cy="2146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DA75207-A26A-11F4-49CE-CECB856DB060}"/>
              </a:ext>
            </a:extLst>
          </p:cNvPr>
          <p:cNvSpPr txBox="1"/>
          <p:nvPr/>
        </p:nvSpPr>
        <p:spPr>
          <a:xfrm>
            <a:off x="3528700" y="1800096"/>
            <a:ext cx="1600379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dirty="0">
                <a:latin typeface="+mn-ea"/>
              </a:rPr>
              <a:t>대화형 </a:t>
            </a:r>
            <a:r>
              <a:rPr lang="ko-KR" altLang="en-US" sz="1000" b="1" dirty="0" err="1">
                <a:latin typeface="+mn-ea"/>
              </a:rPr>
              <a:t>챗봇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sz="1000" b="1" dirty="0" err="1">
                <a:latin typeface="+mn-ea"/>
              </a:rPr>
              <a:t>Agent</a:t>
            </a:r>
            <a:endParaRPr lang="ko-KR" sz="1000" b="1" dirty="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6CDCE4-52DA-E70A-AEC8-CB558526FA3F}"/>
              </a:ext>
            </a:extLst>
          </p:cNvPr>
          <p:cNvSpPr txBox="1"/>
          <p:nvPr/>
        </p:nvSpPr>
        <p:spPr>
          <a:xfrm>
            <a:off x="3267668" y="2035661"/>
            <a:ext cx="2554959" cy="399625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질의와 현재 질문에 연관된 대시보드를 인식해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최적 스킬을 자동 선택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연속 시나리오 분석과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BYOD 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데이터 업로드 분석 및 외부 소스 연계 추론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을 지원합니다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anose="020F0302020204030204"/>
                <a:ea typeface="SUIT Light" pitchFamily="50" charset="-127"/>
              </a:rPr>
              <a:t>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302020204030204"/>
              <a:ea typeface="SUIT Light" pitchFamily="50" charset="-127"/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38852DAF-BCBD-E278-5CBD-59474EF3291B}"/>
              </a:ext>
            </a:extLst>
          </p:cNvPr>
          <p:cNvSpPr/>
          <p:nvPr/>
        </p:nvSpPr>
        <p:spPr>
          <a:xfrm rot="10800000">
            <a:off x="5900625" y="1735285"/>
            <a:ext cx="2659954" cy="746567"/>
          </a:xfrm>
          <a:prstGeom prst="roundRect">
            <a:avLst>
              <a:gd name="adj" fmla="val 7775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669915-9604-3BBE-DC61-BA5D2FE46B68}"/>
              </a:ext>
            </a:extLst>
          </p:cNvPr>
          <p:cNvSpPr txBox="1"/>
          <p:nvPr/>
        </p:nvSpPr>
        <p:spPr>
          <a:xfrm>
            <a:off x="6227149" y="1800096"/>
            <a:ext cx="2045123" cy="184181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dirty="0">
                <a:latin typeface="+mn-ea"/>
              </a:rPr>
              <a:t>지능형 자산 생성</a:t>
            </a:r>
          </a:p>
        </p:txBody>
      </p:sp>
      <p:pic>
        <p:nvPicPr>
          <p:cNvPr id="73" name="그래픽 72" descr="마법 지팡이 자동 단색으로 채워진">
            <a:extLst>
              <a:ext uri="{FF2B5EF4-FFF2-40B4-BE49-F238E27FC236}">
                <a16:creationId xmlns:a16="http://schemas.microsoft.com/office/drawing/2014/main" id="{D8BDB0DA-A7B2-AA62-9AC6-6CA14F141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1194" y="1802513"/>
            <a:ext cx="215955" cy="215955"/>
          </a:xfrm>
          <a:prstGeom prst="rect">
            <a:avLst/>
          </a:prstGeom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FF92267A-D9CC-E5CE-ECF5-291CCFBCF14A}"/>
              </a:ext>
            </a:extLst>
          </p:cNvPr>
          <p:cNvSpPr/>
          <p:nvPr/>
        </p:nvSpPr>
        <p:spPr>
          <a:xfrm rot="10800000">
            <a:off x="5983144" y="2111936"/>
            <a:ext cx="1228236" cy="257094"/>
          </a:xfrm>
          <a:prstGeom prst="roundRect">
            <a:avLst>
              <a:gd name="adj" fmla="val 1754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3B8BEA-1BD0-6298-33E0-E5D9F3B46E36}"/>
              </a:ext>
            </a:extLst>
          </p:cNvPr>
          <p:cNvSpPr txBox="1"/>
          <p:nvPr/>
        </p:nvSpPr>
        <p:spPr>
          <a:xfrm>
            <a:off x="6233848" y="2161578"/>
            <a:ext cx="960702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>
                <a:latin typeface="+mn-ea"/>
              </a:rPr>
              <a:t>Dashboard Maker</a:t>
            </a:r>
            <a:endParaRPr lang="ko-KR" sz="800" dirty="0">
              <a:latin typeface="+mn-ea"/>
            </a:endParaRPr>
          </a:p>
        </p:txBody>
      </p:sp>
      <p:pic>
        <p:nvPicPr>
          <p:cNvPr id="44" name="그래픽 43" descr="신호 단색으로 채워진">
            <a:extLst>
              <a:ext uri="{FF2B5EF4-FFF2-40B4-BE49-F238E27FC236}">
                <a16:creationId xmlns:a16="http://schemas.microsoft.com/office/drawing/2014/main" id="{7D59A010-8295-F734-9C6A-8D16166E0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0061" y="2152225"/>
            <a:ext cx="166005" cy="166005"/>
          </a:xfrm>
          <a:prstGeom prst="rect">
            <a:avLst/>
          </a:prstGeom>
        </p:spPr>
      </p:pic>
      <p:sp>
        <p:nvSpPr>
          <p:cNvPr id="88" name="Shape 4">
            <a:extLst>
              <a:ext uri="{FF2B5EF4-FFF2-40B4-BE49-F238E27FC236}">
                <a16:creationId xmlns:a16="http://schemas.microsoft.com/office/drawing/2014/main" id="{994C4A8C-2E66-989C-03A3-BCDD1EC102F3}"/>
              </a:ext>
            </a:extLst>
          </p:cNvPr>
          <p:cNvSpPr/>
          <p:nvPr/>
        </p:nvSpPr>
        <p:spPr>
          <a:xfrm rot="10800000">
            <a:off x="7257836" y="2107865"/>
            <a:ext cx="1228236" cy="257094"/>
          </a:xfrm>
          <a:prstGeom prst="roundRect">
            <a:avLst>
              <a:gd name="adj" fmla="val 1754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1FEC48-F66C-D9F9-38D0-91BAB8DC2A6A}"/>
              </a:ext>
            </a:extLst>
          </p:cNvPr>
          <p:cNvSpPr txBox="1"/>
          <p:nvPr/>
        </p:nvSpPr>
        <p:spPr>
          <a:xfrm>
            <a:off x="7525370" y="2157507"/>
            <a:ext cx="960702" cy="153404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en-US" altLang="ko-KR" sz="800" dirty="0">
                <a:latin typeface="+mn-ea"/>
              </a:rPr>
              <a:t>DOC Automation</a:t>
            </a:r>
            <a:endParaRPr lang="ko-KR" sz="800" dirty="0">
              <a:latin typeface="+mn-ea"/>
            </a:endParaRPr>
          </a:p>
        </p:txBody>
      </p:sp>
      <p:pic>
        <p:nvPicPr>
          <p:cNvPr id="32" name="그래픽 31" descr="신문 단색으로 채워진">
            <a:extLst>
              <a:ext uri="{FF2B5EF4-FFF2-40B4-BE49-F238E27FC236}">
                <a16:creationId xmlns:a16="http://schemas.microsoft.com/office/drawing/2014/main" id="{4B402A9D-585B-3A8C-F90B-66D7205AE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4788" y="2152225"/>
            <a:ext cx="180582" cy="180582"/>
          </a:xfrm>
          <a:prstGeom prst="rect">
            <a:avLst/>
          </a:prstGeom>
        </p:spPr>
      </p:pic>
      <p:sp>
        <p:nvSpPr>
          <p:cNvPr id="105" name="Google Shape;204;p13">
            <a:extLst>
              <a:ext uri="{FF2B5EF4-FFF2-40B4-BE49-F238E27FC236}">
                <a16:creationId xmlns:a16="http://schemas.microsoft.com/office/drawing/2014/main" id="{E613F33F-F290-6A1D-BC59-25A97D5BAAF5}"/>
              </a:ext>
            </a:extLst>
          </p:cNvPr>
          <p:cNvSpPr txBox="1"/>
          <p:nvPr/>
        </p:nvSpPr>
        <p:spPr>
          <a:xfrm>
            <a:off x="3556911" y="26385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WIKI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분석 </a:t>
            </a:r>
            <a:r>
              <a:rPr lang="ko-KR" altLang="en-US" sz="1000" b="1" dirty="0">
                <a:solidFill>
                  <a:prstClr val="black"/>
                </a:solidFill>
                <a:latin typeface="SUIT" pitchFamily="2" charset="-127"/>
                <a:ea typeface="SUIT" pitchFamily="2" charset="-127"/>
                <a:sym typeface="SUIT"/>
              </a:rPr>
              <a:t>조회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124" name="Shape 4">
            <a:extLst>
              <a:ext uri="{FF2B5EF4-FFF2-40B4-BE49-F238E27FC236}">
                <a16:creationId xmlns:a16="http://schemas.microsoft.com/office/drawing/2014/main" id="{3D43F7A6-7933-558E-38FD-619810BDB798}"/>
              </a:ext>
            </a:extLst>
          </p:cNvPr>
          <p:cNvSpPr/>
          <p:nvPr/>
        </p:nvSpPr>
        <p:spPr>
          <a:xfrm rot="10800000">
            <a:off x="4549952" y="2546198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9" name="Google Shape;204;p13">
            <a:extLst>
              <a:ext uri="{FF2B5EF4-FFF2-40B4-BE49-F238E27FC236}">
                <a16:creationId xmlns:a16="http://schemas.microsoft.com/office/drawing/2014/main" id="{EB0386E3-9184-ECDD-4C59-2FE9898DF043}"/>
              </a:ext>
            </a:extLst>
          </p:cNvPr>
          <p:cNvSpPr txBox="1"/>
          <p:nvPr/>
        </p:nvSpPr>
        <p:spPr>
          <a:xfrm>
            <a:off x="4913476" y="2640436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  <a:sym typeface="SUIT"/>
              </a:rPr>
              <a:t> 외부소스 연동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/>
              <a:ea typeface="SUIT"/>
            </a:endParaRPr>
          </a:p>
        </p:txBody>
      </p:sp>
      <p:sp>
        <p:nvSpPr>
          <p:cNvPr id="130" name="Shape 4">
            <a:extLst>
              <a:ext uri="{FF2B5EF4-FFF2-40B4-BE49-F238E27FC236}">
                <a16:creationId xmlns:a16="http://schemas.microsoft.com/office/drawing/2014/main" id="{DA98F56A-F696-9661-ECA3-798A5972B21F}"/>
              </a:ext>
            </a:extLst>
          </p:cNvPr>
          <p:cNvSpPr/>
          <p:nvPr/>
        </p:nvSpPr>
        <p:spPr>
          <a:xfrm rot="10800000">
            <a:off x="5902805" y="25402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89379DD-2CE0-4C8A-E088-0D6E2616DCA2}"/>
              </a:ext>
            </a:extLst>
          </p:cNvPr>
          <p:cNvGrpSpPr/>
          <p:nvPr/>
        </p:nvGrpSpPr>
        <p:grpSpPr>
          <a:xfrm>
            <a:off x="6019749" y="2638259"/>
            <a:ext cx="188547" cy="156065"/>
            <a:chOff x="5185735" y="-401107"/>
            <a:chExt cx="875937" cy="773695"/>
          </a:xfrm>
          <a:solidFill>
            <a:srgbClr val="13CEC4"/>
          </a:solidFill>
        </p:grpSpPr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FA94256A-BEDB-7A33-FD09-FA6DDF8262BE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89239911-C65A-822A-2AA0-387641FEFC1C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6396FCBA-EDFD-6E07-CB2D-2EDBBA8B590E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5" name="Google Shape;204;p13">
            <a:extLst>
              <a:ext uri="{FF2B5EF4-FFF2-40B4-BE49-F238E27FC236}">
                <a16:creationId xmlns:a16="http://schemas.microsoft.com/office/drawing/2014/main" id="{FE44F6B8-3DB9-7F25-A541-071866606932}"/>
              </a:ext>
            </a:extLst>
          </p:cNvPr>
          <p:cNvSpPr txBox="1"/>
          <p:nvPr/>
        </p:nvSpPr>
        <p:spPr>
          <a:xfrm>
            <a:off x="6266329" y="26344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  <a:sym typeface="SUIT"/>
              </a:rPr>
              <a:t>중앙 저장 및 협업</a:t>
            </a:r>
            <a:endParaRPr sz="1000" b="1" dirty="0">
              <a:latin typeface="+mj-ea"/>
              <a:ea typeface="+mj-ea"/>
            </a:endParaRPr>
          </a:p>
        </p:txBody>
      </p:sp>
      <p:sp>
        <p:nvSpPr>
          <p:cNvPr id="136" name="Shape 4">
            <a:extLst>
              <a:ext uri="{FF2B5EF4-FFF2-40B4-BE49-F238E27FC236}">
                <a16:creationId xmlns:a16="http://schemas.microsoft.com/office/drawing/2014/main" id="{88B61969-3990-E881-2EE5-C1A144846254}"/>
              </a:ext>
            </a:extLst>
          </p:cNvPr>
          <p:cNvSpPr/>
          <p:nvPr/>
        </p:nvSpPr>
        <p:spPr>
          <a:xfrm rot="10800000">
            <a:off x="7255658" y="2540243"/>
            <a:ext cx="1311403" cy="341129"/>
          </a:xfrm>
          <a:prstGeom prst="roundRect">
            <a:avLst>
              <a:gd name="adj" fmla="val 17543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41" name="Google Shape;204;p13">
            <a:extLst>
              <a:ext uri="{FF2B5EF4-FFF2-40B4-BE49-F238E27FC236}">
                <a16:creationId xmlns:a16="http://schemas.microsoft.com/office/drawing/2014/main" id="{90FD9CAA-5EBE-4F89-CEFA-8FF0F7658440}"/>
              </a:ext>
            </a:extLst>
          </p:cNvPr>
          <p:cNvSpPr txBox="1"/>
          <p:nvPr/>
        </p:nvSpPr>
        <p:spPr>
          <a:xfrm>
            <a:off x="7558222" y="2634481"/>
            <a:ext cx="90915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000" b="1" dirty="0">
                <a:solidFill>
                  <a:srgbClr val="0F172A"/>
                </a:solidFill>
                <a:ea typeface="SUIT"/>
                <a:sym typeface="SUIT"/>
              </a:rPr>
              <a:t>직접 접근 및 구독</a:t>
            </a:r>
            <a:endParaRPr lang="ko-KR" altLang="en-US" sz="2000" dirty="0"/>
          </a:p>
        </p:txBody>
      </p:sp>
      <p:sp>
        <p:nvSpPr>
          <p:cNvPr id="143" name="그래픽 190" descr="보내다 단색으로 채워진">
            <a:extLst>
              <a:ext uri="{FF2B5EF4-FFF2-40B4-BE49-F238E27FC236}">
                <a16:creationId xmlns:a16="http://schemas.microsoft.com/office/drawing/2014/main" id="{60E9D842-699C-5A9C-0328-221D8908E8BB}"/>
              </a:ext>
            </a:extLst>
          </p:cNvPr>
          <p:cNvSpPr/>
          <p:nvPr/>
        </p:nvSpPr>
        <p:spPr>
          <a:xfrm>
            <a:off x="7343970" y="2653045"/>
            <a:ext cx="174430" cy="115322"/>
          </a:xfrm>
          <a:custGeom>
            <a:avLst/>
            <a:gdLst>
              <a:gd name="csX0" fmla="*/ 632460 w 763098"/>
              <a:gd name="csY0" fmla="*/ 593298 h 705470"/>
              <a:gd name="csX1" fmla="*/ 461010 w 763098"/>
              <a:gd name="csY1" fmla="*/ 534243 h 705470"/>
              <a:gd name="csX2" fmla="*/ 460058 w 763098"/>
              <a:gd name="csY2" fmla="*/ 534243 h 705470"/>
              <a:gd name="csX3" fmla="*/ 391478 w 763098"/>
              <a:gd name="csY3" fmla="*/ 510431 h 705470"/>
              <a:gd name="csX4" fmla="*/ 712470 w 763098"/>
              <a:gd name="csY4" fmla="*/ 86568 h 705470"/>
              <a:gd name="csX5" fmla="*/ 632460 w 763098"/>
              <a:gd name="csY5" fmla="*/ 593298 h 705470"/>
              <a:gd name="csX6" fmla="*/ 418148 w 763098"/>
              <a:gd name="csY6" fmla="*/ 560913 h 705470"/>
              <a:gd name="csX7" fmla="*/ 355283 w 763098"/>
              <a:gd name="csY7" fmla="*/ 623778 h 705470"/>
              <a:gd name="csX8" fmla="*/ 372428 w 763098"/>
              <a:gd name="csY8" fmla="*/ 545673 h 705470"/>
              <a:gd name="csX9" fmla="*/ 418148 w 763098"/>
              <a:gd name="csY9" fmla="*/ 560913 h 705470"/>
              <a:gd name="csX10" fmla="*/ 418148 w 763098"/>
              <a:gd name="csY10" fmla="*/ 560913 h 705470"/>
              <a:gd name="csX11" fmla="*/ 341948 w 763098"/>
              <a:gd name="csY11" fmla="*/ 512336 h 705470"/>
              <a:gd name="csX12" fmla="*/ 338138 w 763098"/>
              <a:gd name="csY12" fmla="*/ 519956 h 705470"/>
              <a:gd name="csX13" fmla="*/ 335280 w 763098"/>
              <a:gd name="csY13" fmla="*/ 532338 h 705470"/>
              <a:gd name="csX14" fmla="*/ 316230 w 763098"/>
              <a:gd name="csY14" fmla="*/ 619016 h 705470"/>
              <a:gd name="csX15" fmla="*/ 270510 w 763098"/>
              <a:gd name="csY15" fmla="*/ 485666 h 705470"/>
              <a:gd name="csX16" fmla="*/ 626745 w 763098"/>
              <a:gd name="csY16" fmla="*/ 142766 h 705470"/>
              <a:gd name="csX17" fmla="*/ 353378 w 763098"/>
              <a:gd name="csY17" fmla="*/ 498048 h 705470"/>
              <a:gd name="csX18" fmla="*/ 341948 w 763098"/>
              <a:gd name="csY18" fmla="*/ 512336 h 705470"/>
              <a:gd name="csX19" fmla="*/ 66675 w 763098"/>
              <a:gd name="csY19" fmla="*/ 399941 h 705470"/>
              <a:gd name="csX20" fmla="*/ 624840 w 763098"/>
              <a:gd name="csY20" fmla="*/ 102761 h 705470"/>
              <a:gd name="csX21" fmla="*/ 242888 w 763098"/>
              <a:gd name="csY21" fmla="*/ 459948 h 705470"/>
              <a:gd name="csX22" fmla="*/ 66675 w 763098"/>
              <a:gd name="csY22" fmla="*/ 399941 h 705470"/>
              <a:gd name="csX23" fmla="*/ 754380 w 763098"/>
              <a:gd name="csY23" fmla="*/ 3701 h 705470"/>
              <a:gd name="csX24" fmla="*/ 733425 w 763098"/>
              <a:gd name="csY24" fmla="*/ 2748 h 705470"/>
              <a:gd name="csX25" fmla="*/ 10478 w 763098"/>
              <a:gd name="csY25" fmla="*/ 386606 h 705470"/>
              <a:gd name="csX26" fmla="*/ 0 w 763098"/>
              <a:gd name="csY26" fmla="*/ 404703 h 705470"/>
              <a:gd name="csX27" fmla="*/ 12383 w 763098"/>
              <a:gd name="csY27" fmla="*/ 420896 h 705470"/>
              <a:gd name="csX28" fmla="*/ 210503 w 763098"/>
              <a:gd name="csY28" fmla="*/ 488523 h 705470"/>
              <a:gd name="csX29" fmla="*/ 235268 w 763098"/>
              <a:gd name="csY29" fmla="*/ 497096 h 705470"/>
              <a:gd name="csX30" fmla="*/ 240983 w 763098"/>
              <a:gd name="csY30" fmla="*/ 513288 h 705470"/>
              <a:gd name="csX31" fmla="*/ 300038 w 763098"/>
              <a:gd name="csY31" fmla="*/ 690453 h 705470"/>
              <a:gd name="csX32" fmla="*/ 300038 w 763098"/>
              <a:gd name="csY32" fmla="*/ 691406 h 705470"/>
              <a:gd name="csX33" fmla="*/ 300038 w 763098"/>
              <a:gd name="csY33" fmla="*/ 692358 h 705470"/>
              <a:gd name="csX34" fmla="*/ 314325 w 763098"/>
              <a:gd name="csY34" fmla="*/ 704741 h 705470"/>
              <a:gd name="csX35" fmla="*/ 332423 w 763098"/>
              <a:gd name="csY35" fmla="*/ 699978 h 705470"/>
              <a:gd name="csX36" fmla="*/ 333375 w 763098"/>
              <a:gd name="csY36" fmla="*/ 699026 h 705470"/>
              <a:gd name="csX37" fmla="*/ 339090 w 763098"/>
              <a:gd name="csY37" fmla="*/ 693311 h 705470"/>
              <a:gd name="csX38" fmla="*/ 459105 w 763098"/>
              <a:gd name="csY38" fmla="*/ 575201 h 705470"/>
              <a:gd name="csX39" fmla="*/ 641985 w 763098"/>
              <a:gd name="csY39" fmla="*/ 638066 h 705470"/>
              <a:gd name="csX40" fmla="*/ 658178 w 763098"/>
              <a:gd name="csY40" fmla="*/ 636161 h 705470"/>
              <a:gd name="csX41" fmla="*/ 667703 w 763098"/>
              <a:gd name="csY41" fmla="*/ 622826 h 705470"/>
              <a:gd name="csX42" fmla="*/ 762953 w 763098"/>
              <a:gd name="csY42" fmla="*/ 22751 h 705470"/>
              <a:gd name="csX43" fmla="*/ 754380 w 763098"/>
              <a:gd name="csY43" fmla="*/ 3701 h 705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763098" h="705470">
                <a:moveTo>
                  <a:pt x="632460" y="593298"/>
                </a:moveTo>
                <a:lnTo>
                  <a:pt x="461010" y="534243"/>
                </a:lnTo>
                <a:lnTo>
                  <a:pt x="460058" y="534243"/>
                </a:lnTo>
                <a:lnTo>
                  <a:pt x="391478" y="510431"/>
                </a:lnTo>
                <a:lnTo>
                  <a:pt x="712470" y="86568"/>
                </a:lnTo>
                <a:lnTo>
                  <a:pt x="632460" y="593298"/>
                </a:lnTo>
                <a:close/>
                <a:moveTo>
                  <a:pt x="418148" y="560913"/>
                </a:moveTo>
                <a:lnTo>
                  <a:pt x="355283" y="623778"/>
                </a:lnTo>
                <a:lnTo>
                  <a:pt x="372428" y="545673"/>
                </a:lnTo>
                <a:lnTo>
                  <a:pt x="418148" y="560913"/>
                </a:lnTo>
                <a:lnTo>
                  <a:pt x="418148" y="560913"/>
                </a:lnTo>
                <a:close/>
                <a:moveTo>
                  <a:pt x="341948" y="512336"/>
                </a:moveTo>
                <a:cubicBezTo>
                  <a:pt x="340043" y="514241"/>
                  <a:pt x="339090" y="517098"/>
                  <a:pt x="338138" y="519956"/>
                </a:cubicBezTo>
                <a:lnTo>
                  <a:pt x="335280" y="532338"/>
                </a:lnTo>
                <a:lnTo>
                  <a:pt x="316230" y="619016"/>
                </a:lnTo>
                <a:lnTo>
                  <a:pt x="270510" y="485666"/>
                </a:lnTo>
                <a:lnTo>
                  <a:pt x="626745" y="142766"/>
                </a:lnTo>
                <a:lnTo>
                  <a:pt x="353378" y="498048"/>
                </a:lnTo>
                <a:lnTo>
                  <a:pt x="341948" y="512336"/>
                </a:lnTo>
                <a:close/>
                <a:moveTo>
                  <a:pt x="66675" y="399941"/>
                </a:moveTo>
                <a:lnTo>
                  <a:pt x="624840" y="102761"/>
                </a:lnTo>
                <a:lnTo>
                  <a:pt x="242888" y="459948"/>
                </a:lnTo>
                <a:lnTo>
                  <a:pt x="66675" y="399941"/>
                </a:lnTo>
                <a:close/>
                <a:moveTo>
                  <a:pt x="754380" y="3701"/>
                </a:moveTo>
                <a:cubicBezTo>
                  <a:pt x="748665" y="-1062"/>
                  <a:pt x="740093" y="-1062"/>
                  <a:pt x="733425" y="2748"/>
                </a:cubicBezTo>
                <a:lnTo>
                  <a:pt x="10478" y="386606"/>
                </a:lnTo>
                <a:cubicBezTo>
                  <a:pt x="3810" y="390416"/>
                  <a:pt x="0" y="397083"/>
                  <a:pt x="0" y="404703"/>
                </a:cubicBezTo>
                <a:cubicBezTo>
                  <a:pt x="0" y="412323"/>
                  <a:pt x="5715" y="418991"/>
                  <a:pt x="12383" y="420896"/>
                </a:cubicBezTo>
                <a:lnTo>
                  <a:pt x="210503" y="488523"/>
                </a:lnTo>
                <a:lnTo>
                  <a:pt x="235268" y="497096"/>
                </a:lnTo>
                <a:lnTo>
                  <a:pt x="240983" y="513288"/>
                </a:lnTo>
                <a:lnTo>
                  <a:pt x="300038" y="690453"/>
                </a:lnTo>
                <a:lnTo>
                  <a:pt x="300038" y="691406"/>
                </a:lnTo>
                <a:lnTo>
                  <a:pt x="300038" y="692358"/>
                </a:lnTo>
                <a:cubicBezTo>
                  <a:pt x="301943" y="698073"/>
                  <a:pt x="307658" y="702836"/>
                  <a:pt x="314325" y="704741"/>
                </a:cubicBezTo>
                <a:cubicBezTo>
                  <a:pt x="320993" y="706646"/>
                  <a:pt x="327660" y="704741"/>
                  <a:pt x="332423" y="699978"/>
                </a:cubicBezTo>
                <a:lnTo>
                  <a:pt x="333375" y="699026"/>
                </a:lnTo>
                <a:lnTo>
                  <a:pt x="339090" y="693311"/>
                </a:lnTo>
                <a:lnTo>
                  <a:pt x="459105" y="575201"/>
                </a:lnTo>
                <a:lnTo>
                  <a:pt x="641985" y="638066"/>
                </a:lnTo>
                <a:cubicBezTo>
                  <a:pt x="647700" y="639971"/>
                  <a:pt x="653415" y="639018"/>
                  <a:pt x="658178" y="636161"/>
                </a:cubicBezTo>
                <a:cubicBezTo>
                  <a:pt x="662940" y="633303"/>
                  <a:pt x="666750" y="628541"/>
                  <a:pt x="667703" y="622826"/>
                </a:cubicBezTo>
                <a:lnTo>
                  <a:pt x="762953" y="22751"/>
                </a:lnTo>
                <a:cubicBezTo>
                  <a:pt x="763905" y="14178"/>
                  <a:pt x="760095" y="7511"/>
                  <a:pt x="754380" y="3701"/>
                </a:cubicBezTo>
                <a:close/>
              </a:path>
            </a:pathLst>
          </a:custGeom>
          <a:solidFill>
            <a:srgbClr val="13CEC4"/>
          </a:solidFill>
          <a:ln w="9525" cap="flat">
            <a:solidFill>
              <a:srgbClr val="13CEC4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7D3AA05-DB2C-94B5-E587-A8679B6AA114}"/>
              </a:ext>
            </a:extLst>
          </p:cNvPr>
          <p:cNvGrpSpPr/>
          <p:nvPr/>
        </p:nvGrpSpPr>
        <p:grpSpPr>
          <a:xfrm>
            <a:off x="4707743" y="2641467"/>
            <a:ext cx="152181" cy="152373"/>
            <a:chOff x="1005585" y="2172863"/>
            <a:chExt cx="235386" cy="235683"/>
          </a:xfrm>
          <a:solidFill>
            <a:srgbClr val="13CEC4"/>
          </a:solidFill>
        </p:grpSpPr>
        <p:sp>
          <p:nvSpPr>
            <p:cNvPr id="145" name="자유형: 도형 144">
              <a:extLst>
                <a:ext uri="{FF2B5EF4-FFF2-40B4-BE49-F238E27FC236}">
                  <a16:creationId xmlns:a16="http://schemas.microsoft.com/office/drawing/2014/main" id="{845E0EF5-DF48-6B8F-4F07-06BD7C04A2E0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grpFill/>
            <a:ln w="2877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81C7DD6-3721-814B-221A-1FA1C11EAD9B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5E22B0C2-DD68-1DC1-A527-2A0EAD21D9F8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5FD040F-7B29-58CA-8285-4E26DF034D70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D89699A1-61E9-BB24-0AE9-CD05A0FB87AB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grpFill/>
            <a:ln w="1091" cap="flat">
              <a:solidFill>
                <a:srgbClr val="13CEC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51" name="그래픽 150" descr="네트워크 단색으로 채워진">
            <a:extLst>
              <a:ext uri="{FF2B5EF4-FFF2-40B4-BE49-F238E27FC236}">
                <a16:creationId xmlns:a16="http://schemas.microsoft.com/office/drawing/2014/main" id="{24CA40CA-5CDC-8F91-DCE5-9625C0B41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3713" r="-6817" b="-1"/>
          <a:stretch>
            <a:fillRect/>
          </a:stretch>
        </p:blipFill>
        <p:spPr>
          <a:xfrm>
            <a:off x="3289783" y="2602514"/>
            <a:ext cx="218397" cy="2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80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BDD2286-CECF-902A-A14A-3D5188BC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4">
            <a:extLst>
              <a:ext uri="{FF2B5EF4-FFF2-40B4-BE49-F238E27FC236}">
                <a16:creationId xmlns:a16="http://schemas.microsoft.com/office/drawing/2014/main" id="{58D8D09A-9DF1-F368-4DF4-7C893FF9CDCF}"/>
              </a:ext>
            </a:extLst>
          </p:cNvPr>
          <p:cNvSpPr/>
          <p:nvPr/>
        </p:nvSpPr>
        <p:spPr>
          <a:xfrm>
            <a:off x="1770169" y="1108808"/>
            <a:ext cx="5881462" cy="3785204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700B525-8AFA-9C6C-97E2-F3671F3C56A2}"/>
              </a:ext>
            </a:extLst>
          </p:cNvPr>
          <p:cNvGrpSpPr/>
          <p:nvPr/>
        </p:nvGrpSpPr>
        <p:grpSpPr>
          <a:xfrm>
            <a:off x="4281243" y="938445"/>
            <a:ext cx="931859" cy="283636"/>
            <a:chOff x="3301100" y="1473305"/>
            <a:chExt cx="931859" cy="283636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7D39D2A5-FC93-E459-9ED5-1A2665AAEFAC}"/>
                </a:ext>
              </a:extLst>
            </p:cNvPr>
            <p:cNvSpPr/>
            <p:nvPr/>
          </p:nvSpPr>
          <p:spPr>
            <a:xfrm>
              <a:off x="3301100" y="1494617"/>
              <a:ext cx="931859" cy="223773"/>
            </a:xfrm>
            <a:prstGeom prst="roundRect">
              <a:avLst>
                <a:gd name="adj" fmla="val 4051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Google Shape;154;p13">
              <a:extLst>
                <a:ext uri="{FF2B5EF4-FFF2-40B4-BE49-F238E27FC236}">
                  <a16:creationId xmlns:a16="http://schemas.microsoft.com/office/drawing/2014/main" id="{42DECB4A-1718-DEFB-D036-DE2129D2FB58}"/>
                </a:ext>
              </a:extLst>
            </p:cNvPr>
            <p:cNvSpPr txBox="1"/>
            <p:nvPr/>
          </p:nvSpPr>
          <p:spPr>
            <a:xfrm>
              <a:off x="3552352" y="1516592"/>
              <a:ext cx="66752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200" b="1" dirty="0" err="1">
                  <a:latin typeface="SUIT ExtraBold" pitchFamily="50" charset="-127"/>
                  <a:ea typeface="SUIT ExtraBold" pitchFamily="50" charset="-127"/>
                  <a:cs typeface="SUIT"/>
                  <a:sym typeface="SUIT"/>
                </a:rPr>
                <a:t>aisight</a:t>
              </a:r>
              <a:endParaRPr sz="3200" dirty="0">
                <a:latin typeface="SUIT ExtraBold" pitchFamily="50" charset="-127"/>
                <a:ea typeface="SUIT ExtraBold" pitchFamily="50" charset="-127"/>
              </a:endParaRPr>
            </a:p>
          </p:txBody>
        </p:sp>
        <p:pic>
          <p:nvPicPr>
            <p:cNvPr id="130" name="Picture 2">
              <a:extLst>
                <a:ext uri="{FF2B5EF4-FFF2-40B4-BE49-F238E27FC236}">
                  <a16:creationId xmlns:a16="http://schemas.microsoft.com/office/drawing/2014/main" id="{124E6520-94D7-9E8F-E193-FD7247D2E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1204" y="1473305"/>
              <a:ext cx="260350" cy="283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Shape 4">
            <a:extLst>
              <a:ext uri="{FF2B5EF4-FFF2-40B4-BE49-F238E27FC236}">
                <a16:creationId xmlns:a16="http://schemas.microsoft.com/office/drawing/2014/main" id="{57232D23-137B-3FD7-6133-C808ADF099FA}"/>
              </a:ext>
            </a:extLst>
          </p:cNvPr>
          <p:cNvSpPr/>
          <p:nvPr/>
        </p:nvSpPr>
        <p:spPr>
          <a:xfrm rot="16200000">
            <a:off x="3917797" y="-746307"/>
            <a:ext cx="1584000" cy="5582751"/>
          </a:xfrm>
          <a:prstGeom prst="roundRect">
            <a:avLst>
              <a:gd name="adj" fmla="val 2742"/>
            </a:avLst>
          </a:prstGeom>
          <a:gradFill rotWithShape="1">
            <a:gsLst>
              <a:gs pos="0">
                <a:srgbClr val="00D4C5"/>
              </a:gs>
              <a:gs pos="2405">
                <a:srgbClr val="00D4C5"/>
              </a:gs>
              <a:gs pos="2406">
                <a:srgbClr val="F8FAFC"/>
              </a:gs>
              <a:gs pos="100000">
                <a:srgbClr val="F8FAFC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6B12126-0985-87A0-6465-033108512A6E}"/>
              </a:ext>
            </a:extLst>
          </p:cNvPr>
          <p:cNvSpPr/>
          <p:nvPr/>
        </p:nvSpPr>
        <p:spPr>
          <a:xfrm>
            <a:off x="1918421" y="3059509"/>
            <a:ext cx="5582751" cy="1750231"/>
          </a:xfrm>
          <a:prstGeom prst="roundRect">
            <a:avLst>
              <a:gd name="adj" fmla="val 2742"/>
            </a:avLst>
          </a:prstGeom>
          <a:solidFill>
            <a:srgbClr val="0F172A"/>
          </a:solidFill>
          <a:ln>
            <a:solidFill>
              <a:srgbClr val="6EE6DE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B89E77E2-7932-8311-CF0B-1025B70317F0}"/>
              </a:ext>
            </a:extLst>
          </p:cNvPr>
          <p:cNvSpPr/>
          <p:nvPr/>
        </p:nvSpPr>
        <p:spPr>
          <a:xfrm>
            <a:off x="7797672" y="2540339"/>
            <a:ext cx="1160687" cy="952627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/>
          </a:p>
        </p:txBody>
      </p:sp>
      <p:sp>
        <p:nvSpPr>
          <p:cNvPr id="154" name="Google Shape;154;p13">
            <a:extLst>
              <a:ext uri="{FF2B5EF4-FFF2-40B4-BE49-F238E27FC236}">
                <a16:creationId xmlns:a16="http://schemas.microsoft.com/office/drawing/2014/main" id="{C3F5D6FE-89E4-6721-0584-B731D7DA0711}"/>
              </a:ext>
            </a:extLst>
          </p:cNvPr>
          <p:cNvSpPr txBox="1"/>
          <p:nvPr/>
        </p:nvSpPr>
        <p:spPr>
          <a:xfrm>
            <a:off x="2232217" y="3165076"/>
            <a:ext cx="482354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OPS  </a:t>
            </a:r>
            <a:r>
              <a:rPr lang="ko-KR" altLang="en-US" sz="800" b="1" dirty="0">
                <a:solidFill>
                  <a:srgbClr val="C5CFD4"/>
                </a:solidFill>
                <a:latin typeface="SUIT"/>
                <a:ea typeface="SUIT"/>
                <a:cs typeface="SUIT"/>
                <a:sym typeface="SUIT"/>
              </a:rPr>
              <a:t>중앙 관리 및 관제</a:t>
            </a:r>
            <a:endParaRPr sz="800" dirty="0">
              <a:solidFill>
                <a:srgbClr val="C5CFD4"/>
              </a:solidFill>
            </a:endParaRPr>
          </a:p>
        </p:txBody>
      </p:sp>
      <p:sp>
        <p:nvSpPr>
          <p:cNvPr id="183" name="Google Shape;183;p13">
            <a:extLst>
              <a:ext uri="{FF2B5EF4-FFF2-40B4-BE49-F238E27FC236}">
                <a16:creationId xmlns:a16="http://schemas.microsoft.com/office/drawing/2014/main" id="{51B9FF57-73C1-A61D-6416-58AABFE9D88B}"/>
              </a:ext>
            </a:extLst>
          </p:cNvPr>
          <p:cNvSpPr txBox="1"/>
          <p:nvPr/>
        </p:nvSpPr>
        <p:spPr>
          <a:xfrm>
            <a:off x="2212145" y="1384502"/>
            <a:ext cx="520719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100" b="1" dirty="0">
                <a:latin typeface="SUIT"/>
                <a:ea typeface="SUIT"/>
                <a:cs typeface="SUIT"/>
                <a:sym typeface="SUIT"/>
              </a:rPr>
              <a:t>WORK SPACE  </a:t>
            </a:r>
            <a:r>
              <a:rPr lang="ko-KR" altLang="en-US" sz="8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  <a:sym typeface="SUIT"/>
              </a:rPr>
              <a:t>인텔리전스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UIT"/>
                <a:ea typeface="SUIT"/>
                <a:cs typeface="SUIT"/>
                <a:sym typeface="SUIT"/>
              </a:rPr>
              <a:t> 자산화 및 전사 협업 포털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85" name="Google Shape;185;p13" descr="image.png">
            <a:extLst>
              <a:ext uri="{FF2B5EF4-FFF2-40B4-BE49-F238E27FC236}">
                <a16:creationId xmlns:a16="http://schemas.microsoft.com/office/drawing/2014/main" id="{5505A6B5-6827-A1BD-8E57-34E42CEF70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5296" y="2862471"/>
            <a:ext cx="7143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>
            <a:extLst>
              <a:ext uri="{FF2B5EF4-FFF2-40B4-BE49-F238E27FC236}">
                <a16:creationId xmlns:a16="http://schemas.microsoft.com/office/drawing/2014/main" id="{139B9D59-A16E-161A-9AA2-BD7F39BDF864}"/>
              </a:ext>
            </a:extLst>
          </p:cNvPr>
          <p:cNvSpPr txBox="1"/>
          <p:nvPr/>
        </p:nvSpPr>
        <p:spPr>
          <a:xfrm>
            <a:off x="3890404" y="2946792"/>
            <a:ext cx="577751" cy="7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" b="1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RESOURCE FETCH</a:t>
            </a:r>
            <a:endParaRPr sz="1400" dirty="0"/>
          </a:p>
        </p:txBody>
      </p:sp>
      <p:pic>
        <p:nvPicPr>
          <p:cNvPr id="187" name="Google Shape;187;p13" descr="image.png">
            <a:extLst>
              <a:ext uri="{FF2B5EF4-FFF2-40B4-BE49-F238E27FC236}">
                <a16:creationId xmlns:a16="http://schemas.microsoft.com/office/drawing/2014/main" id="{2A885B66-57A8-E5B7-7E76-1F32C3998A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30908" y="2851295"/>
            <a:ext cx="7143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70D9B1DE-8B82-8984-3CFF-A04C37887BB6}"/>
              </a:ext>
            </a:extLst>
          </p:cNvPr>
          <p:cNvSpPr txBox="1"/>
          <p:nvPr/>
        </p:nvSpPr>
        <p:spPr>
          <a:xfrm>
            <a:off x="4863221" y="2943773"/>
            <a:ext cx="619309" cy="7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500" b="1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ACTIVITY LOG</a:t>
            </a:r>
            <a:endParaRPr sz="1400" dirty="0"/>
          </a:p>
        </p:txBody>
      </p:sp>
      <p:sp>
        <p:nvSpPr>
          <p:cNvPr id="204" name="Google Shape;204;p13">
            <a:extLst>
              <a:ext uri="{FF2B5EF4-FFF2-40B4-BE49-F238E27FC236}">
                <a16:creationId xmlns:a16="http://schemas.microsoft.com/office/drawing/2014/main" id="{2E8FD4AF-1E6B-AFD7-90E1-4C44C3A0B11D}"/>
              </a:ext>
            </a:extLst>
          </p:cNvPr>
          <p:cNvSpPr txBox="1"/>
          <p:nvPr/>
        </p:nvSpPr>
        <p:spPr>
          <a:xfrm>
            <a:off x="7901146" y="2911570"/>
            <a:ext cx="95804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0F172A"/>
                </a:solidFill>
                <a:ea typeface="SUIT"/>
                <a:sym typeface="SUIT"/>
              </a:rPr>
              <a:t>BUSINESS END-USERS</a:t>
            </a:r>
            <a:endParaRPr lang="en-US" sz="700" b="1" dirty="0">
              <a:solidFill>
                <a:srgbClr val="0F172A"/>
              </a:solidFill>
              <a:latin typeface="SUIT"/>
              <a:ea typeface="SUIT"/>
              <a:cs typeface="SUIT"/>
              <a:sym typeface="SUIT"/>
            </a:endParaRPr>
          </a:p>
          <a:p>
            <a:pPr algn="ctr"/>
            <a:r>
              <a:rPr lang="en-US" sz="7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비즈니스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700" b="1" dirty="0" err="1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사용자</a:t>
            </a:r>
            <a:endParaRPr sz="1400" dirty="0"/>
          </a:p>
        </p:txBody>
      </p:sp>
      <p:sp>
        <p:nvSpPr>
          <p:cNvPr id="205" name="Google Shape;205;p13">
            <a:extLst>
              <a:ext uri="{FF2B5EF4-FFF2-40B4-BE49-F238E27FC236}">
                <a16:creationId xmlns:a16="http://schemas.microsoft.com/office/drawing/2014/main" id="{CD0A3833-15A3-41C3-DAA8-867FAF7FECB9}"/>
              </a:ext>
            </a:extLst>
          </p:cNvPr>
          <p:cNvSpPr txBox="1"/>
          <p:nvPr/>
        </p:nvSpPr>
        <p:spPr>
          <a:xfrm>
            <a:off x="7923957" y="3274256"/>
            <a:ext cx="912425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현업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실무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부서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의사결정권자</a:t>
            </a:r>
            <a:endParaRPr sz="1400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894E254-1702-D296-C6CB-F1A444F7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aisight - 차세대 AI 기반 BI 아키텍처</a:t>
            </a:r>
          </a:p>
        </p:txBody>
      </p:sp>
      <p:sp>
        <p:nvSpPr>
          <p:cNvPr id="7" name="텍스트 개체 틀 22">
            <a:extLst>
              <a:ext uri="{FF2B5EF4-FFF2-40B4-BE49-F238E27FC236}">
                <a16:creationId xmlns:a16="http://schemas.microsoft.com/office/drawing/2014/main" id="{38475A26-8F51-9CB6-A6D2-D1EDAD7044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sz="900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3AB0E6A-49AF-AB68-0AFD-F78A57250826}"/>
              </a:ext>
            </a:extLst>
          </p:cNvPr>
          <p:cNvCxnSpPr>
            <a:cxnSpLocks/>
          </p:cNvCxnSpPr>
          <p:nvPr/>
        </p:nvCxnSpPr>
        <p:spPr>
          <a:xfrm>
            <a:off x="2047990" y="4423468"/>
            <a:ext cx="5302770" cy="0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3B7DCC-C8DA-7BAD-9654-F0B639AD38FA}"/>
              </a:ext>
            </a:extLst>
          </p:cNvPr>
          <p:cNvSpPr txBox="1"/>
          <p:nvPr/>
        </p:nvSpPr>
        <p:spPr>
          <a:xfrm>
            <a:off x="256032" y="666744"/>
            <a:ext cx="8595360" cy="239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400" b="1" dirty="0">
                <a:latin typeface="+mn-ea"/>
                <a:ea typeface="+mn-ea"/>
              </a:rPr>
              <a:t>사용자의 의도를 비즈니스 통찰로 변환하는 </a:t>
            </a:r>
            <a:r>
              <a:rPr lang="en-US" altLang="ko-KR" sz="1400" b="1" dirty="0">
                <a:latin typeface="+mn-ea"/>
                <a:ea typeface="+mn-ea"/>
              </a:rPr>
              <a:t>AI </a:t>
            </a:r>
            <a:r>
              <a:rPr lang="ko-KR" altLang="en-US" sz="1400" b="1" dirty="0">
                <a:latin typeface="+mn-ea"/>
                <a:ea typeface="+mn-ea"/>
              </a:rPr>
              <a:t>데이터 생태계</a:t>
            </a:r>
            <a:endParaRPr sz="1400" b="1" dirty="0">
              <a:latin typeface="+mn-ea"/>
              <a:ea typeface="+mn-ea"/>
            </a:endParaRPr>
          </a:p>
        </p:txBody>
      </p: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E55B2A7B-C18A-A715-A7C2-A75DBF205EBB}"/>
              </a:ext>
            </a:extLst>
          </p:cNvPr>
          <p:cNvGrpSpPr/>
          <p:nvPr/>
        </p:nvGrpSpPr>
        <p:grpSpPr>
          <a:xfrm>
            <a:off x="2054617" y="4492792"/>
            <a:ext cx="1215152" cy="171442"/>
            <a:chOff x="2019057" y="4492792"/>
            <a:chExt cx="1215152" cy="171442"/>
          </a:xfrm>
        </p:grpSpPr>
        <p:sp>
          <p:nvSpPr>
            <p:cNvPr id="240" name="Google Shape;240;p13">
              <a:extLst>
                <a:ext uri="{FF2B5EF4-FFF2-40B4-BE49-F238E27FC236}">
                  <a16:creationId xmlns:a16="http://schemas.microsoft.com/office/drawing/2014/main" id="{FA7A8CFB-8C91-4AEF-65DD-A604EC26F844}"/>
                </a:ext>
              </a:extLst>
            </p:cNvPr>
            <p:cNvSpPr txBox="1"/>
            <p:nvPr/>
          </p:nvSpPr>
          <p:spPr>
            <a:xfrm>
              <a:off x="2019057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PostgreSQL &amp; </a:t>
              </a:r>
              <a:r>
                <a:rPr lang="en-US" sz="600" b="1" dirty="0" err="1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pgvector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1" name="Google Shape;241;p13">
              <a:extLst>
                <a:ext uri="{FF2B5EF4-FFF2-40B4-BE49-F238E27FC236}">
                  <a16:creationId xmlns:a16="http://schemas.microsoft.com/office/drawing/2014/main" id="{983E2D08-9AAA-FA6C-AEBC-3D79853367FD}"/>
                </a:ext>
              </a:extLst>
            </p:cNvPr>
            <p:cNvSpPr txBox="1"/>
            <p:nvPr/>
          </p:nvSpPr>
          <p:spPr>
            <a:xfrm>
              <a:off x="2047990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메타데이터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및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벡터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딕셔너리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EF9EF662-589F-4EAB-522B-84398F535501}"/>
              </a:ext>
            </a:extLst>
          </p:cNvPr>
          <p:cNvGrpSpPr/>
          <p:nvPr/>
        </p:nvGrpSpPr>
        <p:grpSpPr>
          <a:xfrm>
            <a:off x="3411549" y="4492792"/>
            <a:ext cx="1215152" cy="171442"/>
            <a:chOff x="3290645" y="4492792"/>
            <a:chExt cx="1215152" cy="171442"/>
          </a:xfrm>
        </p:grpSpPr>
        <p:sp>
          <p:nvSpPr>
            <p:cNvPr id="242" name="Google Shape;242;p13">
              <a:extLst>
                <a:ext uri="{FF2B5EF4-FFF2-40B4-BE49-F238E27FC236}">
                  <a16:creationId xmlns:a16="http://schemas.microsoft.com/office/drawing/2014/main" id="{468F5A3F-A561-7B5F-F538-7A4DE7A5CA37}"/>
                </a:ext>
              </a:extLst>
            </p:cNvPr>
            <p:cNvSpPr txBox="1"/>
            <p:nvPr/>
          </p:nvSpPr>
          <p:spPr>
            <a:xfrm>
              <a:off x="3290645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Graph DB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3" name="Google Shape;243;p13">
              <a:extLst>
                <a:ext uri="{FF2B5EF4-FFF2-40B4-BE49-F238E27FC236}">
                  <a16:creationId xmlns:a16="http://schemas.microsoft.com/office/drawing/2014/main" id="{407FDAB0-895B-3B31-6D95-348B9A3D4946}"/>
                </a:ext>
              </a:extLst>
            </p:cNvPr>
            <p:cNvSpPr txBox="1"/>
            <p:nvPr/>
          </p:nvSpPr>
          <p:spPr>
            <a:xfrm>
              <a:off x="3319577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데이터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계보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및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지식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문맥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매핑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A72F7FF0-710A-5EA5-E120-DD767051548A}"/>
              </a:ext>
            </a:extLst>
          </p:cNvPr>
          <p:cNvGrpSpPr/>
          <p:nvPr/>
        </p:nvGrpSpPr>
        <p:grpSpPr>
          <a:xfrm>
            <a:off x="4768481" y="4492792"/>
            <a:ext cx="1215152" cy="171442"/>
            <a:chOff x="4562232" y="4492792"/>
            <a:chExt cx="1215152" cy="171442"/>
          </a:xfrm>
        </p:grpSpPr>
        <p:sp>
          <p:nvSpPr>
            <p:cNvPr id="244" name="Google Shape;244;p13">
              <a:extLst>
                <a:ext uri="{FF2B5EF4-FFF2-40B4-BE49-F238E27FC236}">
                  <a16:creationId xmlns:a16="http://schemas.microsoft.com/office/drawing/2014/main" id="{D06F18A9-A616-F4CC-4BC3-CF59885098BB}"/>
                </a:ext>
              </a:extLst>
            </p:cNvPr>
            <p:cNvSpPr txBox="1"/>
            <p:nvPr/>
          </p:nvSpPr>
          <p:spPr>
            <a:xfrm>
              <a:off x="4562232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 err="1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DuckDB</a:t>
              </a:r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 Engine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5" name="Google Shape;245;p13">
              <a:extLst>
                <a:ext uri="{FF2B5EF4-FFF2-40B4-BE49-F238E27FC236}">
                  <a16:creationId xmlns:a16="http://schemas.microsoft.com/office/drawing/2014/main" id="{90D4D925-ED81-0B99-D38F-195AC80A956F}"/>
                </a:ext>
              </a:extLst>
            </p:cNvPr>
            <p:cNvSpPr txBox="1"/>
            <p:nvPr/>
          </p:nvSpPr>
          <p:spPr>
            <a:xfrm>
              <a:off x="4591165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BYOD/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레거시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추출셋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고속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OLAP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A21F9052-579F-2FFB-AE17-3EF270363BDE}"/>
              </a:ext>
            </a:extLst>
          </p:cNvPr>
          <p:cNvGrpSpPr/>
          <p:nvPr/>
        </p:nvGrpSpPr>
        <p:grpSpPr>
          <a:xfrm>
            <a:off x="6125412" y="4492792"/>
            <a:ext cx="1215152" cy="171442"/>
            <a:chOff x="5833820" y="4492792"/>
            <a:chExt cx="1215152" cy="171442"/>
          </a:xfrm>
        </p:grpSpPr>
        <p:sp>
          <p:nvSpPr>
            <p:cNvPr id="246" name="Google Shape;246;p13">
              <a:extLst>
                <a:ext uri="{FF2B5EF4-FFF2-40B4-BE49-F238E27FC236}">
                  <a16:creationId xmlns:a16="http://schemas.microsoft.com/office/drawing/2014/main" id="{0EA42736-A131-C8C4-7922-57523534043A}"/>
                </a:ext>
              </a:extLst>
            </p:cNvPr>
            <p:cNvSpPr txBox="1"/>
            <p:nvPr/>
          </p:nvSpPr>
          <p:spPr>
            <a:xfrm>
              <a:off x="5833820" y="4492792"/>
              <a:ext cx="1215152" cy="92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07D2C5"/>
                  </a:solidFill>
                  <a:latin typeface="SUIT"/>
                  <a:ea typeface="SUIT"/>
                  <a:cs typeface="SUIT"/>
                  <a:sym typeface="SUIT"/>
                </a:rPr>
                <a:t>External Storage</a:t>
              </a:r>
              <a:endParaRPr sz="1400" dirty="0">
                <a:solidFill>
                  <a:srgbClr val="07D2C5"/>
                </a:solidFill>
              </a:endParaRPr>
            </a:p>
          </p:txBody>
        </p:sp>
        <p:sp>
          <p:nvSpPr>
            <p:cNvPr id="247" name="Google Shape;247;p13">
              <a:extLst>
                <a:ext uri="{FF2B5EF4-FFF2-40B4-BE49-F238E27FC236}">
                  <a16:creationId xmlns:a16="http://schemas.microsoft.com/office/drawing/2014/main" id="{595276F3-A97E-7858-047A-394558015965}"/>
                </a:ext>
              </a:extLst>
            </p:cNvPr>
            <p:cNvSpPr txBox="1"/>
            <p:nvPr/>
          </p:nvSpPr>
          <p:spPr>
            <a:xfrm>
              <a:off x="5862752" y="4592804"/>
              <a:ext cx="1157288" cy="71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09964"/>
                </a:lnSpc>
              </a:pP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S3/Azure 등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외부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저장소</a:t>
              </a:r>
              <a:r>
                <a:rPr lang="en-US" sz="422" dirty="0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 </a:t>
              </a:r>
              <a:r>
                <a:rPr lang="en-US" sz="422" dirty="0" err="1">
                  <a:solidFill>
                    <a:schemeClr val="bg1">
                      <a:lumMod val="95000"/>
                    </a:schemeClr>
                  </a:solidFill>
                  <a:latin typeface="SUIT"/>
                  <a:ea typeface="SUIT"/>
                  <a:cs typeface="SUIT"/>
                  <a:sym typeface="SUIT"/>
                </a:rPr>
                <a:t>연결</a:t>
              </a:r>
              <a:endParaRPr sz="135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57" name="Shape 4">
            <a:extLst>
              <a:ext uri="{FF2B5EF4-FFF2-40B4-BE49-F238E27FC236}">
                <a16:creationId xmlns:a16="http://schemas.microsoft.com/office/drawing/2014/main" id="{E1921770-0245-4BF0-F26E-4C415C01FEEC}"/>
              </a:ext>
            </a:extLst>
          </p:cNvPr>
          <p:cNvSpPr/>
          <p:nvPr/>
        </p:nvSpPr>
        <p:spPr>
          <a:xfrm>
            <a:off x="2032377" y="3403498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4" name="Google Shape;214;p13">
            <a:extLst>
              <a:ext uri="{FF2B5EF4-FFF2-40B4-BE49-F238E27FC236}">
                <a16:creationId xmlns:a16="http://schemas.microsoft.com/office/drawing/2014/main" id="{D61A9ED1-6F6A-89E4-C734-B70CBD959F8F}"/>
              </a:ext>
            </a:extLst>
          </p:cNvPr>
          <p:cNvSpPr txBox="1"/>
          <p:nvPr/>
        </p:nvSpPr>
        <p:spPr>
          <a:xfrm>
            <a:off x="2038641" y="3514819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인프라 실시간 연동</a:t>
            </a:r>
          </a:p>
        </p:txBody>
      </p:sp>
      <p:sp>
        <p:nvSpPr>
          <p:cNvPr id="215" name="Google Shape;215;p13">
            <a:extLst>
              <a:ext uri="{FF2B5EF4-FFF2-40B4-BE49-F238E27FC236}">
                <a16:creationId xmlns:a16="http://schemas.microsoft.com/office/drawing/2014/main" id="{07BA2287-46FC-9998-7F9D-4CB1E1D423F9}"/>
              </a:ext>
            </a:extLst>
          </p:cNvPr>
          <p:cNvSpPr txBox="1"/>
          <p:nvPr/>
        </p:nvSpPr>
        <p:spPr>
          <a:xfrm>
            <a:off x="2047989" y="3664078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Unified Connect</a:t>
            </a:r>
          </a:p>
        </p:txBody>
      </p:sp>
      <p:sp>
        <p:nvSpPr>
          <p:cNvPr id="51" name="Google Shape;255;p13">
            <a:extLst>
              <a:ext uri="{FF2B5EF4-FFF2-40B4-BE49-F238E27FC236}">
                <a16:creationId xmlns:a16="http://schemas.microsoft.com/office/drawing/2014/main" id="{7251CEE0-6021-19C4-46D2-29014201F6FC}"/>
              </a:ext>
            </a:extLst>
          </p:cNvPr>
          <p:cNvSpPr txBox="1"/>
          <p:nvPr/>
        </p:nvSpPr>
        <p:spPr>
          <a:xfrm>
            <a:off x="7011539" y="1719865"/>
            <a:ext cx="640092" cy="9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590" b="1" dirty="0">
                <a:solidFill>
                  <a:schemeClr val="bg1">
                    <a:lumMod val="95000"/>
                  </a:schemeClr>
                </a:solidFill>
                <a:latin typeface="SUIT"/>
                <a:ea typeface="SUIT"/>
                <a:cs typeface="SUIT"/>
                <a:sym typeface="SUIT"/>
              </a:rPr>
              <a:t>문서 변환</a:t>
            </a:r>
            <a:endParaRPr sz="13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8" name="그래픽 27" descr="그룹 단색으로 채워진">
            <a:extLst>
              <a:ext uri="{FF2B5EF4-FFF2-40B4-BE49-F238E27FC236}">
                <a16:creationId xmlns:a16="http://schemas.microsoft.com/office/drawing/2014/main" id="{21D67658-72AB-C855-C957-2F9412F11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2614" b="57460"/>
          <a:stretch>
            <a:fillRect/>
          </a:stretch>
        </p:blipFill>
        <p:spPr>
          <a:xfrm>
            <a:off x="8011947" y="2596925"/>
            <a:ext cx="769315" cy="230223"/>
          </a:xfrm>
          <a:prstGeom prst="rect">
            <a:avLst/>
          </a:prstGeom>
        </p:spPr>
      </p:pic>
      <p:sp>
        <p:nvSpPr>
          <p:cNvPr id="43" name="Shape 4">
            <a:extLst>
              <a:ext uri="{FF2B5EF4-FFF2-40B4-BE49-F238E27FC236}">
                <a16:creationId xmlns:a16="http://schemas.microsoft.com/office/drawing/2014/main" id="{27039D43-4562-F760-D274-6F45A11D3AC5}"/>
              </a:ext>
            </a:extLst>
          </p:cNvPr>
          <p:cNvSpPr/>
          <p:nvPr/>
        </p:nvSpPr>
        <p:spPr>
          <a:xfrm>
            <a:off x="7797672" y="3726841"/>
            <a:ext cx="1160687" cy="107781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/>
          </a:p>
        </p:txBody>
      </p:sp>
      <p:sp>
        <p:nvSpPr>
          <p:cNvPr id="45" name="Google Shape;204;p13">
            <a:extLst>
              <a:ext uri="{FF2B5EF4-FFF2-40B4-BE49-F238E27FC236}">
                <a16:creationId xmlns:a16="http://schemas.microsoft.com/office/drawing/2014/main" id="{CAF995A6-7415-2895-D9D9-C3CCC0442E3A}"/>
              </a:ext>
            </a:extLst>
          </p:cNvPr>
          <p:cNvSpPr txBox="1"/>
          <p:nvPr/>
        </p:nvSpPr>
        <p:spPr>
          <a:xfrm>
            <a:off x="7894146" y="4098071"/>
            <a:ext cx="9580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F172A"/>
                </a:solidFill>
                <a:ea typeface="SUIT"/>
                <a:sym typeface="SUIT"/>
              </a:rPr>
              <a:t>Core</a:t>
            </a:r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 </a:t>
            </a:r>
            <a:r>
              <a:rPr lang="en-US" altLang="ko-KR" sz="800" b="1" dirty="0">
                <a:solidFill>
                  <a:srgbClr val="0F172A"/>
                </a:solidFill>
                <a:ea typeface="SUIT"/>
                <a:sym typeface="SUIT"/>
              </a:rPr>
              <a:t>Admin</a:t>
            </a:r>
          </a:p>
          <a:p>
            <a:pPr algn="ctr"/>
            <a:r>
              <a:rPr lang="ko-KR" altLang="en-US" sz="700" b="1" dirty="0">
                <a:solidFill>
                  <a:srgbClr val="0F172A"/>
                </a:solidFill>
                <a:ea typeface="SUIT"/>
                <a:sym typeface="SUIT"/>
              </a:rPr>
              <a:t>거버넌스 관리자 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/</a:t>
            </a:r>
          </a:p>
          <a:p>
            <a:pPr algn="ctr"/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UIT"/>
                <a:ea typeface="SUIT"/>
                <a:cs typeface="SUIT"/>
                <a:sym typeface="SUIT"/>
              </a:rPr>
              <a:t>Ops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UIT"/>
                <a:ea typeface="SUIT"/>
                <a:cs typeface="SUIT"/>
                <a:sym typeface="SUIT"/>
              </a:rPr>
              <a:t>운영자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UIT" panose="020F0502020204030204"/>
              <a:ea typeface="SUIT"/>
            </a:endParaRPr>
          </a:p>
        </p:txBody>
      </p:sp>
      <p:sp>
        <p:nvSpPr>
          <p:cNvPr id="46" name="Google Shape;205;p13">
            <a:extLst>
              <a:ext uri="{FF2B5EF4-FFF2-40B4-BE49-F238E27FC236}">
                <a16:creationId xmlns:a16="http://schemas.microsoft.com/office/drawing/2014/main" id="{5D99B72D-4316-C8FF-6DED-CFA8FA402AB8}"/>
              </a:ext>
            </a:extLst>
          </p:cNvPr>
          <p:cNvSpPr txBox="1"/>
          <p:nvPr/>
        </p:nvSpPr>
        <p:spPr>
          <a:xfrm>
            <a:off x="7797672" y="4430042"/>
            <a:ext cx="11606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ea typeface="SUIT"/>
                <a:sym typeface="SUIT"/>
              </a:rPr>
              <a:t>DB 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소스 연동 및 보안 정책 통제</a:t>
            </a:r>
            <a:endParaRPr lang="en-US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실패 로그 추적 및 스킬 품질 </a:t>
            </a:r>
            <a:r>
              <a:rPr lang="ko-KR" altLang="en-US" sz="600" dirty="0" err="1">
                <a:solidFill>
                  <a:srgbClr val="64748B"/>
                </a:solidFill>
                <a:ea typeface="SUIT"/>
                <a:sym typeface="SUIT"/>
              </a:rPr>
              <a:t>검증인프라</a:t>
            </a:r>
            <a:r>
              <a:rPr lang="ko-KR" altLang="en-US" sz="600" dirty="0">
                <a:solidFill>
                  <a:srgbClr val="64748B"/>
                </a:solidFill>
                <a:ea typeface="SUIT"/>
                <a:sym typeface="SUIT"/>
              </a:rPr>
              <a:t> 헬스 및 리소스 관리</a:t>
            </a:r>
          </a:p>
        </p:txBody>
      </p:sp>
      <p:pic>
        <p:nvPicPr>
          <p:cNvPr id="62" name="그래픽 61" descr="톱니바퀴 단색으로 채워진">
            <a:extLst>
              <a:ext uri="{FF2B5EF4-FFF2-40B4-BE49-F238E27FC236}">
                <a16:creationId xmlns:a16="http://schemas.microsoft.com/office/drawing/2014/main" id="{767AF449-96FD-EAE4-650A-530296550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0706" y="3836931"/>
            <a:ext cx="198818" cy="198818"/>
          </a:xfrm>
          <a:prstGeom prst="rect">
            <a:avLst/>
          </a:prstGeom>
        </p:spPr>
      </p:pic>
      <p:pic>
        <p:nvPicPr>
          <p:cNvPr id="65" name="그래픽 64" descr="단일 톱니바퀴 단색으로 채워진">
            <a:extLst>
              <a:ext uri="{FF2B5EF4-FFF2-40B4-BE49-F238E27FC236}">
                <a16:creationId xmlns:a16="http://schemas.microsoft.com/office/drawing/2014/main" id="{9A0CCD29-89F9-33A8-1697-B37FD0AA2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5867" y="3894583"/>
            <a:ext cx="185669" cy="185669"/>
          </a:xfrm>
          <a:prstGeom prst="rect">
            <a:avLst/>
          </a:prstGeom>
        </p:spPr>
      </p:pic>
      <p:pic>
        <p:nvPicPr>
          <p:cNvPr id="77" name="그래픽 76" descr="사용자 단색으로 채워진">
            <a:extLst>
              <a:ext uri="{FF2B5EF4-FFF2-40B4-BE49-F238E27FC236}">
                <a16:creationId xmlns:a16="http://schemas.microsoft.com/office/drawing/2014/main" id="{B2602B55-4ED9-0B99-F347-A3CB501A0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6236" y="3873021"/>
            <a:ext cx="222528" cy="222528"/>
          </a:xfrm>
          <a:prstGeom prst="rect">
            <a:avLst/>
          </a:prstGeom>
        </p:spPr>
      </p:pic>
      <p:pic>
        <p:nvPicPr>
          <p:cNvPr id="81" name="그래픽 80" descr="사용자 단색으로 채워진">
            <a:extLst>
              <a:ext uri="{FF2B5EF4-FFF2-40B4-BE49-F238E27FC236}">
                <a16:creationId xmlns:a16="http://schemas.microsoft.com/office/drawing/2014/main" id="{5A4ADA03-1DDC-50AA-E268-A2B23B56A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1536" y="3869687"/>
            <a:ext cx="222528" cy="222528"/>
          </a:xfrm>
          <a:prstGeom prst="rect">
            <a:avLst/>
          </a:prstGeom>
        </p:spPr>
      </p:pic>
      <p:pic>
        <p:nvPicPr>
          <p:cNvPr id="82" name="그래픽 81" descr="신호 단색으로 채워진">
            <a:extLst>
              <a:ext uri="{FF2B5EF4-FFF2-40B4-BE49-F238E27FC236}">
                <a16:creationId xmlns:a16="http://schemas.microsoft.com/office/drawing/2014/main" id="{5A8C33DB-9B43-3F83-4209-9AE302688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7232" y="1397254"/>
            <a:ext cx="192705" cy="164882"/>
          </a:xfrm>
          <a:prstGeom prst="rect">
            <a:avLst/>
          </a:prstGeom>
        </p:spPr>
      </p:pic>
      <p:pic>
        <p:nvPicPr>
          <p:cNvPr id="84" name="그래픽 83" descr="신문 단색으로 채워진">
            <a:extLst>
              <a:ext uri="{FF2B5EF4-FFF2-40B4-BE49-F238E27FC236}">
                <a16:creationId xmlns:a16="http://schemas.microsoft.com/office/drawing/2014/main" id="{8EA32335-4928-1626-F555-07B0C2F7A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6044" y="1377341"/>
            <a:ext cx="109574" cy="109574"/>
          </a:xfrm>
          <a:prstGeom prst="rect">
            <a:avLst/>
          </a:prstGeom>
        </p:spPr>
      </p:pic>
      <p:sp>
        <p:nvSpPr>
          <p:cNvPr id="44" name="Shape 4">
            <a:extLst>
              <a:ext uri="{FF2B5EF4-FFF2-40B4-BE49-F238E27FC236}">
                <a16:creationId xmlns:a16="http://schemas.microsoft.com/office/drawing/2014/main" id="{8430FFB0-D701-93EC-97D1-08E4BC1E917B}"/>
              </a:ext>
            </a:extLst>
          </p:cNvPr>
          <p:cNvSpPr/>
          <p:nvPr/>
        </p:nvSpPr>
        <p:spPr>
          <a:xfrm rot="10800000">
            <a:off x="161835" y="1664371"/>
            <a:ext cx="1457151" cy="84784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188056-1D92-A843-D834-5C52C20585F7}"/>
              </a:ext>
            </a:extLst>
          </p:cNvPr>
          <p:cNvSpPr txBox="1"/>
          <p:nvPr/>
        </p:nvSpPr>
        <p:spPr>
          <a:xfrm>
            <a:off x="390690" y="1750841"/>
            <a:ext cx="113177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Data </a:t>
            </a:r>
            <a:r>
              <a:rPr lang="ko-KR" altLang="ko-KR" sz="700" b="1" i="0" cap="all" dirty="0" err="1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Sources</a:t>
            </a:r>
            <a:endParaRPr lang="ko-KR" altLang="en-US" sz="700" dirty="0"/>
          </a:p>
        </p:txBody>
      </p:sp>
      <p:pic>
        <p:nvPicPr>
          <p:cNvPr id="27" name="그래픽 26" descr="데이터베이스 단색으로 채워진">
            <a:extLst>
              <a:ext uri="{FF2B5EF4-FFF2-40B4-BE49-F238E27FC236}">
                <a16:creationId xmlns:a16="http://schemas.microsoft.com/office/drawing/2014/main" id="{F05479AF-C089-AF5B-8072-3ED7DEC62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1518" y="1783539"/>
            <a:ext cx="183184" cy="13484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C720B15-9667-D1AE-D1B9-12C245112B86}"/>
              </a:ext>
            </a:extLst>
          </p:cNvPr>
          <p:cNvSpPr txBox="1"/>
          <p:nvPr/>
        </p:nvSpPr>
        <p:spPr>
          <a:xfrm>
            <a:off x="241173" y="1913571"/>
            <a:ext cx="1398120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Legacy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RDBMS / Oracle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ERP / CRM Systems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정성적 지식 자료 (문서/회의록)</a:t>
            </a:r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9CA24D20-9017-AFBD-977A-0C937BAB2853}"/>
              </a:ext>
            </a:extLst>
          </p:cNvPr>
          <p:cNvSpPr/>
          <p:nvPr/>
        </p:nvSpPr>
        <p:spPr>
          <a:xfrm rot="10800000">
            <a:off x="162608" y="2837803"/>
            <a:ext cx="1457152" cy="84784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373E7ED-49D9-4487-3377-735AFF74F7C4}"/>
              </a:ext>
            </a:extLst>
          </p:cNvPr>
          <p:cNvSpPr txBox="1"/>
          <p:nvPr/>
        </p:nvSpPr>
        <p:spPr>
          <a:xfrm>
            <a:off x="391831" y="2932081"/>
            <a:ext cx="12968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LLM Infrastructure</a:t>
            </a:r>
            <a:endParaRPr lang="ko-KR" altLang="en-US" sz="7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84F6B5-E627-1222-909F-8444A667D504}"/>
              </a:ext>
            </a:extLst>
          </p:cNvPr>
          <p:cNvSpPr txBox="1"/>
          <p:nvPr/>
        </p:nvSpPr>
        <p:spPr>
          <a:xfrm>
            <a:off x="223729" y="3109801"/>
            <a:ext cx="1354893" cy="55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Enterprise Commercial API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사내 보안용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Local </a:t>
            </a:r>
            <a:r>
              <a:rPr lang="en-US" altLang="ko-KR" sz="7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sLLM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Private GPU Cluster</a:t>
            </a:r>
            <a:endParaRPr lang="ko-KR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5AADD82-E906-D9D7-4AFE-36D08F26BE86}"/>
              </a:ext>
            </a:extLst>
          </p:cNvPr>
          <p:cNvGrpSpPr/>
          <p:nvPr/>
        </p:nvGrpSpPr>
        <p:grpSpPr>
          <a:xfrm>
            <a:off x="323263" y="2965654"/>
            <a:ext cx="130193" cy="114214"/>
            <a:chOff x="251594" y="2636470"/>
            <a:chExt cx="130193" cy="114214"/>
          </a:xfrm>
        </p:grpSpPr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6EA83310-3FBB-110D-34C2-079A1BDE7B84}"/>
                </a:ext>
              </a:extLst>
            </p:cNvPr>
            <p:cNvSpPr/>
            <p:nvPr/>
          </p:nvSpPr>
          <p:spPr>
            <a:xfrm>
              <a:off x="320162" y="2636474"/>
              <a:ext cx="61625" cy="114210"/>
            </a:xfrm>
            <a:custGeom>
              <a:avLst/>
              <a:gdLst>
                <a:gd name="csX0" fmla="*/ 61626 w 61625"/>
                <a:gd name="csY0" fmla="*/ 71943 h 114210"/>
                <a:gd name="csX1" fmla="*/ 55213 w 61625"/>
                <a:gd name="csY1" fmla="*/ 58492 h 114210"/>
                <a:gd name="csX2" fmla="*/ 48318 w 61625"/>
                <a:gd name="csY2" fmla="*/ 33885 h 114210"/>
                <a:gd name="csX3" fmla="*/ 46841 w 61625"/>
                <a:gd name="csY3" fmla="*/ 33169 h 114210"/>
                <a:gd name="csX4" fmla="*/ 35628 w 61625"/>
                <a:gd name="csY4" fmla="*/ 14721 h 114210"/>
                <a:gd name="csX5" fmla="*/ 35155 w 61625"/>
                <a:gd name="csY5" fmla="*/ 14603 h 114210"/>
                <a:gd name="csX6" fmla="*/ 16438 w 61625"/>
                <a:gd name="csY6" fmla="*/ 35 h 114210"/>
                <a:gd name="csX7" fmla="*/ 0 w 61625"/>
                <a:gd name="csY7" fmla="*/ 15643 h 114210"/>
                <a:gd name="csX8" fmla="*/ 0 w 61625"/>
                <a:gd name="csY8" fmla="*/ 102447 h 114210"/>
                <a:gd name="csX9" fmla="*/ 13159 w 61625"/>
                <a:gd name="csY9" fmla="*/ 114211 h 114210"/>
                <a:gd name="csX10" fmla="*/ 25809 w 61625"/>
                <a:gd name="csY10" fmla="*/ 105957 h 114210"/>
                <a:gd name="csX11" fmla="*/ 48849 w 61625"/>
                <a:gd name="csY11" fmla="*/ 92872 h 114210"/>
                <a:gd name="csX12" fmla="*/ 49301 w 61625"/>
                <a:gd name="csY12" fmla="*/ 89149 h 114210"/>
                <a:gd name="csX13" fmla="*/ 49301 w 61625"/>
                <a:gd name="csY13" fmla="*/ 88994 h 114210"/>
                <a:gd name="csX14" fmla="*/ 61626 w 61625"/>
                <a:gd name="csY14" fmla="*/ 71943 h 114210"/>
                <a:gd name="csX15" fmla="*/ 27009 w 61625"/>
                <a:gd name="csY15" fmla="*/ 72514 h 114210"/>
                <a:gd name="csX16" fmla="*/ 11427 w 61625"/>
                <a:gd name="csY16" fmla="*/ 53382 h 114210"/>
                <a:gd name="csX17" fmla="*/ 27009 w 61625"/>
                <a:gd name="csY17" fmla="*/ 51752 h 114210"/>
                <a:gd name="csX18" fmla="*/ 42591 w 61625"/>
                <a:gd name="csY18" fmla="*/ 53382 h 114210"/>
                <a:gd name="csX19" fmla="*/ 27009 w 61625"/>
                <a:gd name="csY19" fmla="*/ 72514 h 1142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61625" h="114210">
                  <a:moveTo>
                    <a:pt x="61626" y="71943"/>
                  </a:moveTo>
                  <a:cubicBezTo>
                    <a:pt x="61630" y="66872"/>
                    <a:pt x="59315" y="62018"/>
                    <a:pt x="55213" y="58492"/>
                  </a:cubicBezTo>
                  <a:cubicBezTo>
                    <a:pt x="60958" y="50005"/>
                    <a:pt x="57871" y="38988"/>
                    <a:pt x="48318" y="33885"/>
                  </a:cubicBezTo>
                  <a:cubicBezTo>
                    <a:pt x="47837" y="33628"/>
                    <a:pt x="47344" y="33389"/>
                    <a:pt x="46841" y="33169"/>
                  </a:cubicBezTo>
                  <a:cubicBezTo>
                    <a:pt x="49479" y="25324"/>
                    <a:pt x="44459" y="17065"/>
                    <a:pt x="35628" y="14721"/>
                  </a:cubicBezTo>
                  <a:cubicBezTo>
                    <a:pt x="35471" y="14680"/>
                    <a:pt x="35313" y="14640"/>
                    <a:pt x="35155" y="14603"/>
                  </a:cubicBezTo>
                  <a:cubicBezTo>
                    <a:pt x="34515" y="5988"/>
                    <a:pt x="26135" y="-534"/>
                    <a:pt x="16438" y="35"/>
                  </a:cubicBezTo>
                  <a:cubicBezTo>
                    <a:pt x="7185" y="577"/>
                    <a:pt x="-6" y="7405"/>
                    <a:pt x="0" y="15643"/>
                  </a:cubicBezTo>
                  <a:lnTo>
                    <a:pt x="0" y="102447"/>
                  </a:lnTo>
                  <a:cubicBezTo>
                    <a:pt x="-23" y="108923"/>
                    <a:pt x="5868" y="114190"/>
                    <a:pt x="13159" y="114211"/>
                  </a:cubicBezTo>
                  <a:cubicBezTo>
                    <a:pt x="18959" y="114227"/>
                    <a:pt x="24091" y="110879"/>
                    <a:pt x="25809" y="105957"/>
                  </a:cubicBezTo>
                  <a:cubicBezTo>
                    <a:pt x="36239" y="107996"/>
                    <a:pt x="46554" y="102137"/>
                    <a:pt x="48849" y="92872"/>
                  </a:cubicBezTo>
                  <a:cubicBezTo>
                    <a:pt x="49152" y="91649"/>
                    <a:pt x="49303" y="90401"/>
                    <a:pt x="49301" y="89149"/>
                  </a:cubicBezTo>
                  <a:cubicBezTo>
                    <a:pt x="49301" y="89096"/>
                    <a:pt x="49301" y="89045"/>
                    <a:pt x="49301" y="88994"/>
                  </a:cubicBezTo>
                  <a:cubicBezTo>
                    <a:pt x="56809" y="85941"/>
                    <a:pt x="61625" y="79279"/>
                    <a:pt x="61626" y="71943"/>
                  </a:cubicBezTo>
                  <a:close/>
                  <a:moveTo>
                    <a:pt x="27009" y="72514"/>
                  </a:moveTo>
                  <a:cubicBezTo>
                    <a:pt x="27009" y="72514"/>
                    <a:pt x="11427" y="61929"/>
                    <a:pt x="11427" y="53382"/>
                  </a:cubicBezTo>
                  <a:cubicBezTo>
                    <a:pt x="11427" y="47682"/>
                    <a:pt x="21234" y="41575"/>
                    <a:pt x="27009" y="51752"/>
                  </a:cubicBezTo>
                  <a:cubicBezTo>
                    <a:pt x="32783" y="41569"/>
                    <a:pt x="42591" y="47682"/>
                    <a:pt x="42591" y="53382"/>
                  </a:cubicBezTo>
                  <a:cubicBezTo>
                    <a:pt x="42591" y="61929"/>
                    <a:pt x="27009" y="72514"/>
                    <a:pt x="27009" y="72514"/>
                  </a:cubicBezTo>
                  <a:close/>
                </a:path>
              </a:pathLst>
            </a:custGeom>
            <a:solidFill>
              <a:srgbClr val="000000"/>
            </a:solidFill>
            <a:ln w="168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80E619AC-6290-2947-9736-D3600B9BC1CB}"/>
                </a:ext>
              </a:extLst>
            </p:cNvPr>
            <p:cNvSpPr/>
            <p:nvPr/>
          </p:nvSpPr>
          <p:spPr>
            <a:xfrm>
              <a:off x="251594" y="2636470"/>
              <a:ext cx="61619" cy="114208"/>
            </a:xfrm>
            <a:custGeom>
              <a:avLst/>
              <a:gdLst>
                <a:gd name="csX0" fmla="*/ 44013 w 61619"/>
                <a:gd name="csY0" fmla="*/ 0 h 114208"/>
                <a:gd name="csX1" fmla="*/ 26470 w 61619"/>
                <a:gd name="csY1" fmla="*/ 14601 h 114208"/>
                <a:gd name="csX2" fmla="*/ 14642 w 61619"/>
                <a:gd name="csY2" fmla="*/ 32743 h 114208"/>
                <a:gd name="csX3" fmla="*/ 14779 w 61619"/>
                <a:gd name="csY3" fmla="*/ 33173 h 114208"/>
                <a:gd name="csX4" fmla="*/ 5594 w 61619"/>
                <a:gd name="csY4" fmla="*/ 57178 h 114208"/>
                <a:gd name="csX5" fmla="*/ 6408 w 61619"/>
                <a:gd name="csY5" fmla="*/ 58502 h 114208"/>
                <a:gd name="csX6" fmla="*/ 5951 w 61619"/>
                <a:gd name="csY6" fmla="*/ 84998 h 114208"/>
                <a:gd name="csX7" fmla="*/ 12330 w 61619"/>
                <a:gd name="csY7" fmla="*/ 88997 h 114208"/>
                <a:gd name="csX8" fmla="*/ 12330 w 61619"/>
                <a:gd name="csY8" fmla="*/ 89152 h 114208"/>
                <a:gd name="csX9" fmla="*/ 31636 w 61619"/>
                <a:gd name="csY9" fmla="*/ 106357 h 114208"/>
                <a:gd name="csX10" fmla="*/ 35813 w 61619"/>
                <a:gd name="csY10" fmla="*/ 105957 h 114208"/>
                <a:gd name="csX11" fmla="*/ 52335 w 61619"/>
                <a:gd name="csY11" fmla="*/ 113678 h 114208"/>
                <a:gd name="csX12" fmla="*/ 61620 w 61619"/>
                <a:gd name="csY12" fmla="*/ 102452 h 114208"/>
                <a:gd name="csX13" fmla="*/ 61620 w 61619"/>
                <a:gd name="csY13" fmla="*/ 15641 h 114208"/>
                <a:gd name="csX14" fmla="*/ 44016 w 61619"/>
                <a:gd name="csY14" fmla="*/ 0 h 114208"/>
                <a:gd name="csX15" fmla="*/ 44013 w 61619"/>
                <a:gd name="csY15" fmla="*/ 0 h 114208"/>
                <a:gd name="csX16" fmla="*/ 42569 w 61619"/>
                <a:gd name="csY16" fmla="*/ 74384 h 114208"/>
                <a:gd name="csX17" fmla="*/ 41074 w 61619"/>
                <a:gd name="csY17" fmla="*/ 76853 h 114208"/>
                <a:gd name="csX18" fmla="*/ 37972 w 61619"/>
                <a:gd name="csY18" fmla="*/ 76771 h 114208"/>
                <a:gd name="csX19" fmla="*/ 35887 w 61619"/>
                <a:gd name="csY19" fmla="*/ 78249 h 114208"/>
                <a:gd name="csX20" fmla="*/ 35366 w 61619"/>
                <a:gd name="csY20" fmla="*/ 80966 h 114208"/>
                <a:gd name="csX21" fmla="*/ 32358 w 61619"/>
                <a:gd name="csY21" fmla="*/ 81776 h 114208"/>
                <a:gd name="csX22" fmla="*/ 30232 w 61619"/>
                <a:gd name="csY22" fmla="*/ 79781 h 114208"/>
                <a:gd name="csX23" fmla="*/ 27590 w 61619"/>
                <a:gd name="csY23" fmla="*/ 79547 h 114208"/>
                <a:gd name="csX24" fmla="*/ 25035 w 61619"/>
                <a:gd name="csY24" fmla="*/ 81122 h 114208"/>
                <a:gd name="csX25" fmla="*/ 22270 w 61619"/>
                <a:gd name="csY25" fmla="*/ 79800 h 114208"/>
                <a:gd name="csX26" fmla="*/ 22341 w 61619"/>
                <a:gd name="csY26" fmla="*/ 77038 h 114208"/>
                <a:gd name="csX27" fmla="*/ 20681 w 61619"/>
                <a:gd name="csY27" fmla="*/ 75186 h 114208"/>
                <a:gd name="csX28" fmla="*/ 17617 w 61619"/>
                <a:gd name="csY28" fmla="*/ 74714 h 114208"/>
                <a:gd name="csX29" fmla="*/ 16712 w 61619"/>
                <a:gd name="csY29" fmla="*/ 72037 h 114208"/>
                <a:gd name="csX30" fmla="*/ 18982 w 61619"/>
                <a:gd name="csY30" fmla="*/ 70166 h 114208"/>
                <a:gd name="csX31" fmla="*/ 19223 w 61619"/>
                <a:gd name="csY31" fmla="*/ 67808 h 114208"/>
                <a:gd name="csX32" fmla="*/ 17443 w 61619"/>
                <a:gd name="csY32" fmla="*/ 65560 h 114208"/>
                <a:gd name="csX33" fmla="*/ 18939 w 61619"/>
                <a:gd name="csY33" fmla="*/ 63091 h 114208"/>
                <a:gd name="csX34" fmla="*/ 22053 w 61619"/>
                <a:gd name="csY34" fmla="*/ 63170 h 114208"/>
                <a:gd name="csX35" fmla="*/ 24111 w 61619"/>
                <a:gd name="csY35" fmla="*/ 61682 h 114208"/>
                <a:gd name="csX36" fmla="*/ 24632 w 61619"/>
                <a:gd name="csY36" fmla="*/ 58964 h 114208"/>
                <a:gd name="csX37" fmla="*/ 27646 w 61619"/>
                <a:gd name="csY37" fmla="*/ 58160 h 114208"/>
                <a:gd name="csX38" fmla="*/ 29775 w 61619"/>
                <a:gd name="csY38" fmla="*/ 60175 h 114208"/>
                <a:gd name="csX39" fmla="*/ 32434 w 61619"/>
                <a:gd name="csY39" fmla="*/ 60405 h 114208"/>
                <a:gd name="csX40" fmla="*/ 34972 w 61619"/>
                <a:gd name="csY40" fmla="*/ 58817 h 114208"/>
                <a:gd name="csX41" fmla="*/ 37751 w 61619"/>
                <a:gd name="csY41" fmla="*/ 60147 h 114208"/>
                <a:gd name="csX42" fmla="*/ 37659 w 61619"/>
                <a:gd name="csY42" fmla="*/ 62903 h 114208"/>
                <a:gd name="csX43" fmla="*/ 39340 w 61619"/>
                <a:gd name="csY43" fmla="*/ 64754 h 114208"/>
                <a:gd name="csX44" fmla="*/ 42399 w 61619"/>
                <a:gd name="csY44" fmla="*/ 65217 h 114208"/>
                <a:gd name="csX45" fmla="*/ 43304 w 61619"/>
                <a:gd name="csY45" fmla="*/ 67893 h 114208"/>
                <a:gd name="csX46" fmla="*/ 41046 w 61619"/>
                <a:gd name="csY46" fmla="*/ 69786 h 114208"/>
                <a:gd name="csX47" fmla="*/ 40782 w 61619"/>
                <a:gd name="csY47" fmla="*/ 72133 h 114208"/>
                <a:gd name="csX48" fmla="*/ 49553 w 61619"/>
                <a:gd name="csY48" fmla="*/ 50178 h 114208"/>
                <a:gd name="csX49" fmla="*/ 48058 w 61619"/>
                <a:gd name="csY49" fmla="*/ 52647 h 114208"/>
                <a:gd name="csX50" fmla="*/ 44956 w 61619"/>
                <a:gd name="csY50" fmla="*/ 52564 h 114208"/>
                <a:gd name="csX51" fmla="*/ 42898 w 61619"/>
                <a:gd name="csY51" fmla="*/ 54053 h 114208"/>
                <a:gd name="csX52" fmla="*/ 42364 w 61619"/>
                <a:gd name="csY52" fmla="*/ 56780 h 114208"/>
                <a:gd name="csX53" fmla="*/ 39353 w 61619"/>
                <a:gd name="csY53" fmla="*/ 57584 h 114208"/>
                <a:gd name="csX54" fmla="*/ 37221 w 61619"/>
                <a:gd name="csY54" fmla="*/ 55579 h 114208"/>
                <a:gd name="csX55" fmla="*/ 34579 w 61619"/>
                <a:gd name="csY55" fmla="*/ 55344 h 114208"/>
                <a:gd name="csX56" fmla="*/ 32042 w 61619"/>
                <a:gd name="csY56" fmla="*/ 56932 h 114208"/>
                <a:gd name="csX57" fmla="*/ 29263 w 61619"/>
                <a:gd name="csY57" fmla="*/ 55603 h 114208"/>
                <a:gd name="csX58" fmla="*/ 29379 w 61619"/>
                <a:gd name="csY58" fmla="*/ 52817 h 114208"/>
                <a:gd name="csX59" fmla="*/ 27703 w 61619"/>
                <a:gd name="csY59" fmla="*/ 50988 h 114208"/>
                <a:gd name="csX60" fmla="*/ 24643 w 61619"/>
                <a:gd name="csY60" fmla="*/ 50525 h 114208"/>
                <a:gd name="csX61" fmla="*/ 23739 w 61619"/>
                <a:gd name="csY61" fmla="*/ 47850 h 114208"/>
                <a:gd name="csX62" fmla="*/ 25997 w 61619"/>
                <a:gd name="csY62" fmla="*/ 45957 h 114208"/>
                <a:gd name="csX63" fmla="*/ 26254 w 61619"/>
                <a:gd name="csY63" fmla="*/ 43611 h 114208"/>
                <a:gd name="csX64" fmla="*/ 24439 w 61619"/>
                <a:gd name="csY64" fmla="*/ 41351 h 114208"/>
                <a:gd name="csX65" fmla="*/ 25959 w 61619"/>
                <a:gd name="csY65" fmla="*/ 38868 h 114208"/>
                <a:gd name="csX66" fmla="*/ 29061 w 61619"/>
                <a:gd name="csY66" fmla="*/ 38952 h 114208"/>
                <a:gd name="csX67" fmla="*/ 31137 w 61619"/>
                <a:gd name="csY67" fmla="*/ 37475 h 114208"/>
                <a:gd name="csX68" fmla="*/ 31668 w 61619"/>
                <a:gd name="csY68" fmla="*/ 34755 h 114208"/>
                <a:gd name="csX69" fmla="*/ 34687 w 61619"/>
                <a:gd name="csY69" fmla="*/ 33945 h 114208"/>
                <a:gd name="csX70" fmla="*/ 36813 w 61619"/>
                <a:gd name="csY70" fmla="*/ 35938 h 114208"/>
                <a:gd name="csX71" fmla="*/ 39453 w 61619"/>
                <a:gd name="csY71" fmla="*/ 36174 h 114208"/>
                <a:gd name="csX72" fmla="*/ 41993 w 61619"/>
                <a:gd name="csY72" fmla="*/ 34591 h 114208"/>
                <a:gd name="csX73" fmla="*/ 44772 w 61619"/>
                <a:gd name="csY73" fmla="*/ 35921 h 114208"/>
                <a:gd name="csX74" fmla="*/ 44676 w 61619"/>
                <a:gd name="csY74" fmla="*/ 38689 h 114208"/>
                <a:gd name="csX75" fmla="*/ 46352 w 61619"/>
                <a:gd name="csY75" fmla="*/ 40518 h 114208"/>
                <a:gd name="csX76" fmla="*/ 49413 w 61619"/>
                <a:gd name="csY76" fmla="*/ 40981 h 114208"/>
                <a:gd name="csX77" fmla="*/ 50318 w 61619"/>
                <a:gd name="csY77" fmla="*/ 43656 h 114208"/>
                <a:gd name="csX78" fmla="*/ 48060 w 61619"/>
                <a:gd name="csY78" fmla="*/ 45551 h 114208"/>
                <a:gd name="csX79" fmla="*/ 47771 w 61619"/>
                <a:gd name="csY79" fmla="*/ 47927 h 114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61619" h="114208">
                  <a:moveTo>
                    <a:pt x="44013" y="0"/>
                  </a:moveTo>
                  <a:cubicBezTo>
                    <a:pt x="34750" y="6"/>
                    <a:pt x="27080" y="6391"/>
                    <a:pt x="26470" y="14601"/>
                  </a:cubicBezTo>
                  <a:cubicBezTo>
                    <a:pt x="17564" y="16709"/>
                    <a:pt x="12268" y="24832"/>
                    <a:pt x="14642" y="32743"/>
                  </a:cubicBezTo>
                  <a:cubicBezTo>
                    <a:pt x="14685" y="32887"/>
                    <a:pt x="14731" y="33031"/>
                    <a:pt x="14779" y="33173"/>
                  </a:cubicBezTo>
                  <a:cubicBezTo>
                    <a:pt x="4780" y="37549"/>
                    <a:pt x="668" y="48296"/>
                    <a:pt x="5594" y="57178"/>
                  </a:cubicBezTo>
                  <a:cubicBezTo>
                    <a:pt x="5845" y="57630"/>
                    <a:pt x="6116" y="58071"/>
                    <a:pt x="6408" y="58502"/>
                  </a:cubicBezTo>
                  <a:cubicBezTo>
                    <a:pt x="-1954" y="65707"/>
                    <a:pt x="-2159" y="77569"/>
                    <a:pt x="5951" y="84998"/>
                  </a:cubicBezTo>
                  <a:cubicBezTo>
                    <a:pt x="7779" y="86672"/>
                    <a:pt x="9942" y="88028"/>
                    <a:pt x="12330" y="88997"/>
                  </a:cubicBezTo>
                  <a:cubicBezTo>
                    <a:pt x="12330" y="89050"/>
                    <a:pt x="12330" y="89101"/>
                    <a:pt x="12330" y="89152"/>
                  </a:cubicBezTo>
                  <a:cubicBezTo>
                    <a:pt x="12312" y="98638"/>
                    <a:pt x="20956" y="106342"/>
                    <a:pt x="31636" y="106357"/>
                  </a:cubicBezTo>
                  <a:cubicBezTo>
                    <a:pt x="33040" y="106359"/>
                    <a:pt x="34441" y="106225"/>
                    <a:pt x="35813" y="105957"/>
                  </a:cubicBezTo>
                  <a:cubicBezTo>
                    <a:pt x="37975" y="112142"/>
                    <a:pt x="45372" y="115599"/>
                    <a:pt x="52335" y="113678"/>
                  </a:cubicBezTo>
                  <a:cubicBezTo>
                    <a:pt x="57868" y="112151"/>
                    <a:pt x="61633" y="107598"/>
                    <a:pt x="61620" y="102452"/>
                  </a:cubicBezTo>
                  <a:lnTo>
                    <a:pt x="61620" y="15641"/>
                  </a:lnTo>
                  <a:cubicBezTo>
                    <a:pt x="61621" y="7003"/>
                    <a:pt x="53739" y="1"/>
                    <a:pt x="44016" y="0"/>
                  </a:cubicBezTo>
                  <a:cubicBezTo>
                    <a:pt x="44015" y="0"/>
                    <a:pt x="44014" y="0"/>
                    <a:pt x="44013" y="0"/>
                  </a:cubicBezTo>
                  <a:close/>
                  <a:moveTo>
                    <a:pt x="42569" y="74384"/>
                  </a:moveTo>
                  <a:lnTo>
                    <a:pt x="41074" y="76853"/>
                  </a:lnTo>
                  <a:lnTo>
                    <a:pt x="37972" y="76771"/>
                  </a:lnTo>
                  <a:cubicBezTo>
                    <a:pt x="37347" y="77337"/>
                    <a:pt x="36647" y="77833"/>
                    <a:pt x="35887" y="78249"/>
                  </a:cubicBezTo>
                  <a:lnTo>
                    <a:pt x="35366" y="80966"/>
                  </a:lnTo>
                  <a:lnTo>
                    <a:pt x="32358" y="81776"/>
                  </a:lnTo>
                  <a:lnTo>
                    <a:pt x="30232" y="79781"/>
                  </a:lnTo>
                  <a:cubicBezTo>
                    <a:pt x="29344" y="79799"/>
                    <a:pt x="28457" y="79720"/>
                    <a:pt x="27590" y="79547"/>
                  </a:cubicBezTo>
                  <a:lnTo>
                    <a:pt x="25035" y="81122"/>
                  </a:lnTo>
                  <a:lnTo>
                    <a:pt x="22270" y="79800"/>
                  </a:lnTo>
                  <a:lnTo>
                    <a:pt x="22341" y="77038"/>
                  </a:lnTo>
                  <a:cubicBezTo>
                    <a:pt x="21705" y="76483"/>
                    <a:pt x="21148" y="75861"/>
                    <a:pt x="20681" y="75186"/>
                  </a:cubicBezTo>
                  <a:lnTo>
                    <a:pt x="17617" y="74714"/>
                  </a:lnTo>
                  <a:lnTo>
                    <a:pt x="16712" y="72037"/>
                  </a:lnTo>
                  <a:lnTo>
                    <a:pt x="18982" y="70166"/>
                  </a:lnTo>
                  <a:cubicBezTo>
                    <a:pt x="18955" y="69374"/>
                    <a:pt x="19036" y="68582"/>
                    <a:pt x="19223" y="67808"/>
                  </a:cubicBezTo>
                  <a:lnTo>
                    <a:pt x="17443" y="65560"/>
                  </a:lnTo>
                  <a:lnTo>
                    <a:pt x="18939" y="63091"/>
                  </a:lnTo>
                  <a:lnTo>
                    <a:pt x="22053" y="63170"/>
                  </a:lnTo>
                  <a:cubicBezTo>
                    <a:pt x="22669" y="62602"/>
                    <a:pt x="23360" y="62103"/>
                    <a:pt x="24111" y="61682"/>
                  </a:cubicBezTo>
                  <a:lnTo>
                    <a:pt x="24632" y="58964"/>
                  </a:lnTo>
                  <a:lnTo>
                    <a:pt x="27646" y="58160"/>
                  </a:lnTo>
                  <a:lnTo>
                    <a:pt x="29775" y="60175"/>
                  </a:lnTo>
                  <a:cubicBezTo>
                    <a:pt x="30669" y="60155"/>
                    <a:pt x="31562" y="60232"/>
                    <a:pt x="32434" y="60405"/>
                  </a:cubicBezTo>
                  <a:lnTo>
                    <a:pt x="34972" y="58817"/>
                  </a:lnTo>
                  <a:lnTo>
                    <a:pt x="37751" y="60147"/>
                  </a:lnTo>
                  <a:lnTo>
                    <a:pt x="37659" y="62903"/>
                  </a:lnTo>
                  <a:cubicBezTo>
                    <a:pt x="38302" y="63457"/>
                    <a:pt x="38867" y="64079"/>
                    <a:pt x="39340" y="64754"/>
                  </a:cubicBezTo>
                  <a:lnTo>
                    <a:pt x="42399" y="65217"/>
                  </a:lnTo>
                  <a:lnTo>
                    <a:pt x="43304" y="67893"/>
                  </a:lnTo>
                  <a:lnTo>
                    <a:pt x="41046" y="69786"/>
                  </a:lnTo>
                  <a:cubicBezTo>
                    <a:pt x="41065" y="70575"/>
                    <a:pt x="40977" y="71363"/>
                    <a:pt x="40782" y="72133"/>
                  </a:cubicBezTo>
                  <a:close/>
                  <a:moveTo>
                    <a:pt x="49553" y="50178"/>
                  </a:moveTo>
                  <a:lnTo>
                    <a:pt x="48058" y="52647"/>
                  </a:lnTo>
                  <a:lnTo>
                    <a:pt x="44956" y="52564"/>
                  </a:lnTo>
                  <a:cubicBezTo>
                    <a:pt x="44340" y="53132"/>
                    <a:pt x="43649" y="53632"/>
                    <a:pt x="42898" y="54053"/>
                  </a:cubicBezTo>
                  <a:lnTo>
                    <a:pt x="42364" y="56780"/>
                  </a:lnTo>
                  <a:lnTo>
                    <a:pt x="39353" y="57584"/>
                  </a:lnTo>
                  <a:lnTo>
                    <a:pt x="37221" y="55579"/>
                  </a:lnTo>
                  <a:cubicBezTo>
                    <a:pt x="36333" y="55596"/>
                    <a:pt x="35446" y="55518"/>
                    <a:pt x="34579" y="55344"/>
                  </a:cubicBezTo>
                  <a:lnTo>
                    <a:pt x="32042" y="56932"/>
                  </a:lnTo>
                  <a:lnTo>
                    <a:pt x="29263" y="55603"/>
                  </a:lnTo>
                  <a:lnTo>
                    <a:pt x="29379" y="52817"/>
                  </a:lnTo>
                  <a:cubicBezTo>
                    <a:pt x="28738" y="52270"/>
                    <a:pt x="28175" y="51656"/>
                    <a:pt x="27703" y="50988"/>
                  </a:cubicBezTo>
                  <a:lnTo>
                    <a:pt x="24643" y="50525"/>
                  </a:lnTo>
                  <a:lnTo>
                    <a:pt x="23739" y="47850"/>
                  </a:lnTo>
                  <a:lnTo>
                    <a:pt x="25997" y="45957"/>
                  </a:lnTo>
                  <a:cubicBezTo>
                    <a:pt x="25975" y="45169"/>
                    <a:pt x="26061" y="44381"/>
                    <a:pt x="26254" y="43611"/>
                  </a:cubicBezTo>
                  <a:lnTo>
                    <a:pt x="24439" y="41351"/>
                  </a:lnTo>
                  <a:lnTo>
                    <a:pt x="25959" y="38868"/>
                  </a:lnTo>
                  <a:lnTo>
                    <a:pt x="29061" y="38952"/>
                  </a:lnTo>
                  <a:cubicBezTo>
                    <a:pt x="29683" y="38386"/>
                    <a:pt x="30380" y="37890"/>
                    <a:pt x="31137" y="37475"/>
                  </a:cubicBezTo>
                  <a:lnTo>
                    <a:pt x="31668" y="34755"/>
                  </a:lnTo>
                  <a:lnTo>
                    <a:pt x="34687" y="33945"/>
                  </a:lnTo>
                  <a:lnTo>
                    <a:pt x="36813" y="35938"/>
                  </a:lnTo>
                  <a:cubicBezTo>
                    <a:pt x="37701" y="35922"/>
                    <a:pt x="38587" y="36001"/>
                    <a:pt x="39453" y="36174"/>
                  </a:cubicBezTo>
                  <a:lnTo>
                    <a:pt x="41993" y="34591"/>
                  </a:lnTo>
                  <a:lnTo>
                    <a:pt x="44772" y="35921"/>
                  </a:lnTo>
                  <a:lnTo>
                    <a:pt x="44676" y="38689"/>
                  </a:lnTo>
                  <a:cubicBezTo>
                    <a:pt x="45317" y="39236"/>
                    <a:pt x="45880" y="39850"/>
                    <a:pt x="46352" y="40518"/>
                  </a:cubicBezTo>
                  <a:lnTo>
                    <a:pt x="49413" y="40981"/>
                  </a:lnTo>
                  <a:lnTo>
                    <a:pt x="50318" y="43656"/>
                  </a:lnTo>
                  <a:lnTo>
                    <a:pt x="48060" y="45551"/>
                  </a:lnTo>
                  <a:cubicBezTo>
                    <a:pt x="48073" y="46350"/>
                    <a:pt x="47977" y="47148"/>
                    <a:pt x="47771" y="47927"/>
                  </a:cubicBezTo>
                  <a:close/>
                </a:path>
              </a:pathLst>
            </a:custGeom>
            <a:solidFill>
              <a:srgbClr val="000000"/>
            </a:solidFill>
            <a:ln w="168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892603F-180F-7C0E-9674-CBAC6CE9690D}"/>
                </a:ext>
              </a:extLst>
            </p:cNvPr>
            <p:cNvSpPr/>
            <p:nvPr/>
          </p:nvSpPr>
          <p:spPr>
            <a:xfrm>
              <a:off x="268750" y="26758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A19BC4F-18BF-F236-A2DD-679B8E4AAD31}"/>
                </a:ext>
              </a:extLst>
            </p:cNvPr>
            <p:cNvSpPr/>
            <p:nvPr/>
          </p:nvSpPr>
          <p:spPr>
            <a:xfrm>
              <a:off x="329586" y="2675806"/>
              <a:ext cx="36000" cy="3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3" name="Shape 4">
            <a:extLst>
              <a:ext uri="{FF2B5EF4-FFF2-40B4-BE49-F238E27FC236}">
                <a16:creationId xmlns:a16="http://schemas.microsoft.com/office/drawing/2014/main" id="{5193A8A5-D72E-5B61-D3F9-A65ECC82D4CA}"/>
              </a:ext>
            </a:extLst>
          </p:cNvPr>
          <p:cNvSpPr/>
          <p:nvPr/>
        </p:nvSpPr>
        <p:spPr>
          <a:xfrm rot="10800000">
            <a:off x="161837" y="3854763"/>
            <a:ext cx="1457152" cy="1039248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39EC291-EA5D-1285-8D73-09B1288F4C1E}"/>
              </a:ext>
            </a:extLst>
          </p:cNvPr>
          <p:cNvSpPr txBox="1"/>
          <p:nvPr/>
        </p:nvSpPr>
        <p:spPr>
          <a:xfrm>
            <a:off x="354664" y="3928427"/>
            <a:ext cx="126432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i="0" cap="all" dirty="0">
                <a:solidFill>
                  <a:srgbClr val="0F172A"/>
                </a:solidFill>
                <a:effectLst/>
                <a:latin typeface="SUIT" pitchFamily="2" charset="-127"/>
                <a:ea typeface="SUIT" pitchFamily="2" charset="-127"/>
              </a:rPr>
              <a:t>Integration</a:t>
            </a:r>
            <a:endParaRPr lang="ko-KR" altLang="en-US" sz="7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E63A52C-BFB0-A11D-19FA-C7AFB6F1DBD1}"/>
              </a:ext>
            </a:extLst>
          </p:cNvPr>
          <p:cNvSpPr txBox="1"/>
          <p:nvPr/>
        </p:nvSpPr>
        <p:spPr>
          <a:xfrm>
            <a:off x="202698" y="4068672"/>
            <a:ext cx="1375924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  기존 레거시 </a:t>
            </a: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</a:rPr>
              <a:t>BI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시스템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Agent/Skill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외부 </a:t>
            </a: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API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연동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 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정성</a:t>
            </a: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·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  <a:ea typeface="SUIT" pitchFamily="2" charset="-127"/>
              </a:rPr>
              <a:t>정량 데이터 및 문서</a:t>
            </a:r>
            <a:endParaRPr lang="en-US" altLang="ko-KR" sz="700" dirty="0">
              <a:solidFill>
                <a:srgbClr val="475569"/>
              </a:solidFill>
              <a:latin typeface="SUIT" pitchFamily="2" charset="-127"/>
              <a:ea typeface="SUIT" pitchFamily="2" charset="-127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 </a:t>
            </a:r>
            <a:r>
              <a:rPr lang="ko-KR" altLang="en-US" sz="7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내부 문서관리 시스템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rgbClr val="475569"/>
                </a:solidFill>
                <a:latin typeface="SUIT" pitchFamily="2" charset="-127"/>
              </a:rPr>
              <a:t> Slack / MS Teams </a:t>
            </a:r>
            <a:r>
              <a:rPr lang="ko-KR" altLang="en-US" sz="700" dirty="0">
                <a:solidFill>
                  <a:srgbClr val="475569"/>
                </a:solidFill>
                <a:latin typeface="SUIT" pitchFamily="2" charset="-127"/>
              </a:rPr>
              <a:t>연동</a:t>
            </a:r>
            <a:endParaRPr lang="en-US" altLang="ko-KR" sz="700" b="0" i="0" dirty="0">
              <a:solidFill>
                <a:srgbClr val="475569"/>
              </a:solidFill>
              <a:effectLst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1" name="그래픽 10" descr="순서도 단색으로 채워진">
            <a:extLst>
              <a:ext uri="{FF2B5EF4-FFF2-40B4-BE49-F238E27FC236}">
                <a16:creationId xmlns:a16="http://schemas.microsoft.com/office/drawing/2014/main" id="{D77FACB0-BDCD-76D3-3A82-F55AF1D39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4592" y="3943667"/>
            <a:ext cx="139172" cy="151781"/>
          </a:xfrm>
          <a:prstGeom prst="rect">
            <a:avLst/>
          </a:prstGeom>
        </p:spPr>
      </p:pic>
      <p:sp>
        <p:nvSpPr>
          <p:cNvPr id="114" name="Shape 4">
            <a:extLst>
              <a:ext uri="{FF2B5EF4-FFF2-40B4-BE49-F238E27FC236}">
                <a16:creationId xmlns:a16="http://schemas.microsoft.com/office/drawing/2014/main" id="{1B4D5C9C-FBA2-6986-51C1-5DADE4D48A52}"/>
              </a:ext>
            </a:extLst>
          </p:cNvPr>
          <p:cNvSpPr/>
          <p:nvPr/>
        </p:nvSpPr>
        <p:spPr>
          <a:xfrm rot="10800000">
            <a:off x="4952123" y="1654730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1" name="Shape 4">
            <a:extLst>
              <a:ext uri="{FF2B5EF4-FFF2-40B4-BE49-F238E27FC236}">
                <a16:creationId xmlns:a16="http://schemas.microsoft.com/office/drawing/2014/main" id="{E254B802-7E87-FDF7-FF11-214C610F224B}"/>
              </a:ext>
            </a:extLst>
          </p:cNvPr>
          <p:cNvSpPr/>
          <p:nvPr/>
        </p:nvSpPr>
        <p:spPr>
          <a:xfrm rot="10800000">
            <a:off x="4952124" y="2037014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3" name="Shape 4">
            <a:extLst>
              <a:ext uri="{FF2B5EF4-FFF2-40B4-BE49-F238E27FC236}">
                <a16:creationId xmlns:a16="http://schemas.microsoft.com/office/drawing/2014/main" id="{6FE0DFA2-6031-BC92-3B3E-B517E5BE0C53}"/>
              </a:ext>
            </a:extLst>
          </p:cNvPr>
          <p:cNvSpPr/>
          <p:nvPr/>
        </p:nvSpPr>
        <p:spPr>
          <a:xfrm rot="10800000">
            <a:off x="4952123" y="2419298"/>
            <a:ext cx="2467216" cy="341129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E61A188A-9747-A82F-F1CD-856C20861F42}"/>
              </a:ext>
            </a:extLst>
          </p:cNvPr>
          <p:cNvSpPr/>
          <p:nvPr/>
        </p:nvSpPr>
        <p:spPr>
          <a:xfrm>
            <a:off x="1633290" y="2110585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1" name="화살표: 오른쪽 140">
            <a:extLst>
              <a:ext uri="{FF2B5EF4-FFF2-40B4-BE49-F238E27FC236}">
                <a16:creationId xmlns:a16="http://schemas.microsoft.com/office/drawing/2014/main" id="{021BA4D5-10FE-7850-D849-DE170B5926C2}"/>
              </a:ext>
            </a:extLst>
          </p:cNvPr>
          <p:cNvSpPr/>
          <p:nvPr/>
        </p:nvSpPr>
        <p:spPr>
          <a:xfrm>
            <a:off x="1630936" y="3221844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3" name="화살표: 왼쪽/오른쪽 142">
            <a:extLst>
              <a:ext uri="{FF2B5EF4-FFF2-40B4-BE49-F238E27FC236}">
                <a16:creationId xmlns:a16="http://schemas.microsoft.com/office/drawing/2014/main" id="{F1B2F51B-46E3-81AD-039D-B5652C509D05}"/>
              </a:ext>
            </a:extLst>
          </p:cNvPr>
          <p:cNvSpPr/>
          <p:nvPr/>
        </p:nvSpPr>
        <p:spPr>
          <a:xfrm>
            <a:off x="1618986" y="4372574"/>
            <a:ext cx="151183" cy="101187"/>
          </a:xfrm>
          <a:prstGeom prst="leftRightArrow">
            <a:avLst>
              <a:gd name="adj1" fmla="val 34938"/>
              <a:gd name="adj2" fmla="val 38705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5" name="그래픽 144" descr="마법 지팡이 자동 단색으로 채워진">
            <a:extLst>
              <a:ext uri="{FF2B5EF4-FFF2-40B4-BE49-F238E27FC236}">
                <a16:creationId xmlns:a16="http://schemas.microsoft.com/office/drawing/2014/main" id="{514C2018-39DA-56DC-70ED-2800A828D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22074" y="1734486"/>
            <a:ext cx="177943" cy="177943"/>
          </a:xfrm>
          <a:prstGeom prst="rect">
            <a:avLst/>
          </a:prstGeom>
        </p:spPr>
      </p:pic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E51D1E0D-C202-094F-4DCA-4F1F397FB021}"/>
              </a:ext>
            </a:extLst>
          </p:cNvPr>
          <p:cNvSpPr/>
          <p:nvPr/>
        </p:nvSpPr>
        <p:spPr>
          <a:xfrm rot="10800000">
            <a:off x="7681100" y="2642147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9" name="화살표: 오른쪽 148">
            <a:extLst>
              <a:ext uri="{FF2B5EF4-FFF2-40B4-BE49-F238E27FC236}">
                <a16:creationId xmlns:a16="http://schemas.microsoft.com/office/drawing/2014/main" id="{0BD85E33-353D-38AB-D71B-972F025A5945}"/>
              </a:ext>
            </a:extLst>
          </p:cNvPr>
          <p:cNvSpPr/>
          <p:nvPr/>
        </p:nvSpPr>
        <p:spPr>
          <a:xfrm rot="10800000">
            <a:off x="7681100" y="3959053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3" name="Google Shape;204;p13">
            <a:extLst>
              <a:ext uri="{FF2B5EF4-FFF2-40B4-BE49-F238E27FC236}">
                <a16:creationId xmlns:a16="http://schemas.microsoft.com/office/drawing/2014/main" id="{63F1F8D2-5972-F8AB-E3BD-34DEF471B213}"/>
              </a:ext>
            </a:extLst>
          </p:cNvPr>
          <p:cNvSpPr txBox="1"/>
          <p:nvPr/>
        </p:nvSpPr>
        <p:spPr>
          <a:xfrm>
            <a:off x="5252719" y="1715109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지능형 자산 생성</a:t>
            </a:r>
            <a:endParaRPr sz="1600" dirty="0"/>
          </a:p>
        </p:txBody>
      </p:sp>
      <p:sp>
        <p:nvSpPr>
          <p:cNvPr id="155" name="Google Shape;205;p13">
            <a:extLst>
              <a:ext uri="{FF2B5EF4-FFF2-40B4-BE49-F238E27FC236}">
                <a16:creationId xmlns:a16="http://schemas.microsoft.com/office/drawing/2014/main" id="{A2EBBFF8-3DE0-3B27-AB31-5541C0AF031A}"/>
              </a:ext>
            </a:extLst>
          </p:cNvPr>
          <p:cNvSpPr txBox="1"/>
          <p:nvPr/>
        </p:nvSpPr>
        <p:spPr>
          <a:xfrm>
            <a:off x="5252718" y="1835996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대시보드 및 리포트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(</a:t>
            </a:r>
            <a:r>
              <a:rPr lang="en-US" altLang="ko-KR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PPT,Word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)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자동 생성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/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변환</a:t>
            </a:r>
            <a:endParaRPr sz="1400" dirty="0"/>
          </a:p>
        </p:txBody>
      </p:sp>
      <p:sp>
        <p:nvSpPr>
          <p:cNvPr id="156" name="Google Shape;204;p13">
            <a:extLst>
              <a:ext uri="{FF2B5EF4-FFF2-40B4-BE49-F238E27FC236}">
                <a16:creationId xmlns:a16="http://schemas.microsoft.com/office/drawing/2014/main" id="{290B2762-CC9B-87AA-DFAD-9BE66BDCFCAA}"/>
              </a:ext>
            </a:extLst>
          </p:cNvPr>
          <p:cNvSpPr txBox="1"/>
          <p:nvPr/>
        </p:nvSpPr>
        <p:spPr>
          <a:xfrm>
            <a:off x="5242560" y="2100751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중앙 저장 및 협업</a:t>
            </a:r>
            <a:endParaRPr sz="1600" dirty="0"/>
          </a:p>
        </p:txBody>
      </p:sp>
      <p:sp>
        <p:nvSpPr>
          <p:cNvPr id="157" name="Google Shape;205;p13">
            <a:extLst>
              <a:ext uri="{FF2B5EF4-FFF2-40B4-BE49-F238E27FC236}">
                <a16:creationId xmlns:a16="http://schemas.microsoft.com/office/drawing/2014/main" id="{ACC50DBD-D7B2-FD48-80FE-07ADBA8EF94F}"/>
              </a:ext>
            </a:extLst>
          </p:cNvPr>
          <p:cNvSpPr txBox="1"/>
          <p:nvPr/>
        </p:nvSpPr>
        <p:spPr>
          <a:xfrm>
            <a:off x="5242559" y="2221638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워크스페이스 보존 및 실시간 뷰 공유</a:t>
            </a:r>
          </a:p>
        </p:txBody>
      </p:sp>
      <p:sp>
        <p:nvSpPr>
          <p:cNvPr id="158" name="Google Shape;204;p13">
            <a:extLst>
              <a:ext uri="{FF2B5EF4-FFF2-40B4-BE49-F238E27FC236}">
                <a16:creationId xmlns:a16="http://schemas.microsoft.com/office/drawing/2014/main" id="{07D8EDEB-5FAB-0C65-B95B-B74B23ED4D02}"/>
              </a:ext>
            </a:extLst>
          </p:cNvPr>
          <p:cNvSpPr txBox="1"/>
          <p:nvPr/>
        </p:nvSpPr>
        <p:spPr>
          <a:xfrm>
            <a:off x="5231655" y="2482186"/>
            <a:ext cx="21312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ea typeface="SUIT"/>
                <a:sym typeface="SUIT"/>
              </a:rPr>
              <a:t>배포 및 라이브 접속</a:t>
            </a:r>
            <a:endParaRPr sz="1600" dirty="0"/>
          </a:p>
        </p:txBody>
      </p:sp>
      <p:sp>
        <p:nvSpPr>
          <p:cNvPr id="159" name="Google Shape;205;p13">
            <a:extLst>
              <a:ext uri="{FF2B5EF4-FFF2-40B4-BE49-F238E27FC236}">
                <a16:creationId xmlns:a16="http://schemas.microsoft.com/office/drawing/2014/main" id="{A4CE0E4C-0FE7-A260-DC30-CD8AE521BC5F}"/>
              </a:ext>
            </a:extLst>
          </p:cNvPr>
          <p:cNvSpPr txBox="1"/>
          <p:nvPr/>
        </p:nvSpPr>
        <p:spPr>
          <a:xfrm>
            <a:off x="5231654" y="2603073"/>
            <a:ext cx="2108201" cy="1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PPT/Word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추출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,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메일 구독 및 직접 분석</a:t>
            </a:r>
            <a:endParaRPr sz="1400" dirty="0"/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A9A9EFF1-BCD7-5E15-CE8C-FCC701656E02}"/>
              </a:ext>
            </a:extLst>
          </p:cNvPr>
          <p:cNvGrpSpPr/>
          <p:nvPr/>
        </p:nvGrpSpPr>
        <p:grpSpPr>
          <a:xfrm>
            <a:off x="5036358" y="2140811"/>
            <a:ext cx="160482" cy="121945"/>
            <a:chOff x="5185735" y="-401107"/>
            <a:chExt cx="875937" cy="773695"/>
          </a:xfrm>
          <a:solidFill>
            <a:srgbClr val="0D9488"/>
          </a:solidFill>
        </p:grpSpPr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D5174A72-446B-01EE-38B6-ED1379757874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27A7B247-5A99-3214-D7AC-5659F38136F8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583ECE37-56CF-B537-21C8-8FDCFA6B639C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2" name="그래픽 190" descr="보내다 단색으로 채워진">
            <a:extLst>
              <a:ext uri="{FF2B5EF4-FFF2-40B4-BE49-F238E27FC236}">
                <a16:creationId xmlns:a16="http://schemas.microsoft.com/office/drawing/2014/main" id="{1ECF2294-EFFB-DE05-6985-E1DA0BE1FDF0}"/>
              </a:ext>
            </a:extLst>
          </p:cNvPr>
          <p:cNvSpPr/>
          <p:nvPr/>
        </p:nvSpPr>
        <p:spPr>
          <a:xfrm>
            <a:off x="5021581" y="2531366"/>
            <a:ext cx="142138" cy="131824"/>
          </a:xfrm>
          <a:custGeom>
            <a:avLst/>
            <a:gdLst>
              <a:gd name="csX0" fmla="*/ 632460 w 763098"/>
              <a:gd name="csY0" fmla="*/ 593298 h 705470"/>
              <a:gd name="csX1" fmla="*/ 461010 w 763098"/>
              <a:gd name="csY1" fmla="*/ 534243 h 705470"/>
              <a:gd name="csX2" fmla="*/ 460058 w 763098"/>
              <a:gd name="csY2" fmla="*/ 534243 h 705470"/>
              <a:gd name="csX3" fmla="*/ 391478 w 763098"/>
              <a:gd name="csY3" fmla="*/ 510431 h 705470"/>
              <a:gd name="csX4" fmla="*/ 712470 w 763098"/>
              <a:gd name="csY4" fmla="*/ 86568 h 705470"/>
              <a:gd name="csX5" fmla="*/ 632460 w 763098"/>
              <a:gd name="csY5" fmla="*/ 593298 h 705470"/>
              <a:gd name="csX6" fmla="*/ 418148 w 763098"/>
              <a:gd name="csY6" fmla="*/ 560913 h 705470"/>
              <a:gd name="csX7" fmla="*/ 355283 w 763098"/>
              <a:gd name="csY7" fmla="*/ 623778 h 705470"/>
              <a:gd name="csX8" fmla="*/ 372428 w 763098"/>
              <a:gd name="csY8" fmla="*/ 545673 h 705470"/>
              <a:gd name="csX9" fmla="*/ 418148 w 763098"/>
              <a:gd name="csY9" fmla="*/ 560913 h 705470"/>
              <a:gd name="csX10" fmla="*/ 418148 w 763098"/>
              <a:gd name="csY10" fmla="*/ 560913 h 705470"/>
              <a:gd name="csX11" fmla="*/ 341948 w 763098"/>
              <a:gd name="csY11" fmla="*/ 512336 h 705470"/>
              <a:gd name="csX12" fmla="*/ 338138 w 763098"/>
              <a:gd name="csY12" fmla="*/ 519956 h 705470"/>
              <a:gd name="csX13" fmla="*/ 335280 w 763098"/>
              <a:gd name="csY13" fmla="*/ 532338 h 705470"/>
              <a:gd name="csX14" fmla="*/ 316230 w 763098"/>
              <a:gd name="csY14" fmla="*/ 619016 h 705470"/>
              <a:gd name="csX15" fmla="*/ 270510 w 763098"/>
              <a:gd name="csY15" fmla="*/ 485666 h 705470"/>
              <a:gd name="csX16" fmla="*/ 626745 w 763098"/>
              <a:gd name="csY16" fmla="*/ 142766 h 705470"/>
              <a:gd name="csX17" fmla="*/ 353378 w 763098"/>
              <a:gd name="csY17" fmla="*/ 498048 h 705470"/>
              <a:gd name="csX18" fmla="*/ 341948 w 763098"/>
              <a:gd name="csY18" fmla="*/ 512336 h 705470"/>
              <a:gd name="csX19" fmla="*/ 66675 w 763098"/>
              <a:gd name="csY19" fmla="*/ 399941 h 705470"/>
              <a:gd name="csX20" fmla="*/ 624840 w 763098"/>
              <a:gd name="csY20" fmla="*/ 102761 h 705470"/>
              <a:gd name="csX21" fmla="*/ 242888 w 763098"/>
              <a:gd name="csY21" fmla="*/ 459948 h 705470"/>
              <a:gd name="csX22" fmla="*/ 66675 w 763098"/>
              <a:gd name="csY22" fmla="*/ 399941 h 705470"/>
              <a:gd name="csX23" fmla="*/ 754380 w 763098"/>
              <a:gd name="csY23" fmla="*/ 3701 h 705470"/>
              <a:gd name="csX24" fmla="*/ 733425 w 763098"/>
              <a:gd name="csY24" fmla="*/ 2748 h 705470"/>
              <a:gd name="csX25" fmla="*/ 10478 w 763098"/>
              <a:gd name="csY25" fmla="*/ 386606 h 705470"/>
              <a:gd name="csX26" fmla="*/ 0 w 763098"/>
              <a:gd name="csY26" fmla="*/ 404703 h 705470"/>
              <a:gd name="csX27" fmla="*/ 12383 w 763098"/>
              <a:gd name="csY27" fmla="*/ 420896 h 705470"/>
              <a:gd name="csX28" fmla="*/ 210503 w 763098"/>
              <a:gd name="csY28" fmla="*/ 488523 h 705470"/>
              <a:gd name="csX29" fmla="*/ 235268 w 763098"/>
              <a:gd name="csY29" fmla="*/ 497096 h 705470"/>
              <a:gd name="csX30" fmla="*/ 240983 w 763098"/>
              <a:gd name="csY30" fmla="*/ 513288 h 705470"/>
              <a:gd name="csX31" fmla="*/ 300038 w 763098"/>
              <a:gd name="csY31" fmla="*/ 690453 h 705470"/>
              <a:gd name="csX32" fmla="*/ 300038 w 763098"/>
              <a:gd name="csY32" fmla="*/ 691406 h 705470"/>
              <a:gd name="csX33" fmla="*/ 300038 w 763098"/>
              <a:gd name="csY33" fmla="*/ 692358 h 705470"/>
              <a:gd name="csX34" fmla="*/ 314325 w 763098"/>
              <a:gd name="csY34" fmla="*/ 704741 h 705470"/>
              <a:gd name="csX35" fmla="*/ 332423 w 763098"/>
              <a:gd name="csY35" fmla="*/ 699978 h 705470"/>
              <a:gd name="csX36" fmla="*/ 333375 w 763098"/>
              <a:gd name="csY36" fmla="*/ 699026 h 705470"/>
              <a:gd name="csX37" fmla="*/ 339090 w 763098"/>
              <a:gd name="csY37" fmla="*/ 693311 h 705470"/>
              <a:gd name="csX38" fmla="*/ 459105 w 763098"/>
              <a:gd name="csY38" fmla="*/ 575201 h 705470"/>
              <a:gd name="csX39" fmla="*/ 641985 w 763098"/>
              <a:gd name="csY39" fmla="*/ 638066 h 705470"/>
              <a:gd name="csX40" fmla="*/ 658178 w 763098"/>
              <a:gd name="csY40" fmla="*/ 636161 h 705470"/>
              <a:gd name="csX41" fmla="*/ 667703 w 763098"/>
              <a:gd name="csY41" fmla="*/ 622826 h 705470"/>
              <a:gd name="csX42" fmla="*/ 762953 w 763098"/>
              <a:gd name="csY42" fmla="*/ 22751 h 705470"/>
              <a:gd name="csX43" fmla="*/ 754380 w 763098"/>
              <a:gd name="csY43" fmla="*/ 3701 h 705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763098" h="705470">
                <a:moveTo>
                  <a:pt x="632460" y="593298"/>
                </a:moveTo>
                <a:lnTo>
                  <a:pt x="461010" y="534243"/>
                </a:lnTo>
                <a:lnTo>
                  <a:pt x="460058" y="534243"/>
                </a:lnTo>
                <a:lnTo>
                  <a:pt x="391478" y="510431"/>
                </a:lnTo>
                <a:lnTo>
                  <a:pt x="712470" y="86568"/>
                </a:lnTo>
                <a:lnTo>
                  <a:pt x="632460" y="593298"/>
                </a:lnTo>
                <a:close/>
                <a:moveTo>
                  <a:pt x="418148" y="560913"/>
                </a:moveTo>
                <a:lnTo>
                  <a:pt x="355283" y="623778"/>
                </a:lnTo>
                <a:lnTo>
                  <a:pt x="372428" y="545673"/>
                </a:lnTo>
                <a:lnTo>
                  <a:pt x="418148" y="560913"/>
                </a:lnTo>
                <a:lnTo>
                  <a:pt x="418148" y="560913"/>
                </a:lnTo>
                <a:close/>
                <a:moveTo>
                  <a:pt x="341948" y="512336"/>
                </a:moveTo>
                <a:cubicBezTo>
                  <a:pt x="340043" y="514241"/>
                  <a:pt x="339090" y="517098"/>
                  <a:pt x="338138" y="519956"/>
                </a:cubicBezTo>
                <a:lnTo>
                  <a:pt x="335280" y="532338"/>
                </a:lnTo>
                <a:lnTo>
                  <a:pt x="316230" y="619016"/>
                </a:lnTo>
                <a:lnTo>
                  <a:pt x="270510" y="485666"/>
                </a:lnTo>
                <a:lnTo>
                  <a:pt x="626745" y="142766"/>
                </a:lnTo>
                <a:lnTo>
                  <a:pt x="353378" y="498048"/>
                </a:lnTo>
                <a:lnTo>
                  <a:pt x="341948" y="512336"/>
                </a:lnTo>
                <a:close/>
                <a:moveTo>
                  <a:pt x="66675" y="399941"/>
                </a:moveTo>
                <a:lnTo>
                  <a:pt x="624840" y="102761"/>
                </a:lnTo>
                <a:lnTo>
                  <a:pt x="242888" y="459948"/>
                </a:lnTo>
                <a:lnTo>
                  <a:pt x="66675" y="399941"/>
                </a:lnTo>
                <a:close/>
                <a:moveTo>
                  <a:pt x="754380" y="3701"/>
                </a:moveTo>
                <a:cubicBezTo>
                  <a:pt x="748665" y="-1062"/>
                  <a:pt x="740093" y="-1062"/>
                  <a:pt x="733425" y="2748"/>
                </a:cubicBezTo>
                <a:lnTo>
                  <a:pt x="10478" y="386606"/>
                </a:lnTo>
                <a:cubicBezTo>
                  <a:pt x="3810" y="390416"/>
                  <a:pt x="0" y="397083"/>
                  <a:pt x="0" y="404703"/>
                </a:cubicBezTo>
                <a:cubicBezTo>
                  <a:pt x="0" y="412323"/>
                  <a:pt x="5715" y="418991"/>
                  <a:pt x="12383" y="420896"/>
                </a:cubicBezTo>
                <a:lnTo>
                  <a:pt x="210503" y="488523"/>
                </a:lnTo>
                <a:lnTo>
                  <a:pt x="235268" y="497096"/>
                </a:lnTo>
                <a:lnTo>
                  <a:pt x="240983" y="513288"/>
                </a:lnTo>
                <a:lnTo>
                  <a:pt x="300038" y="690453"/>
                </a:lnTo>
                <a:lnTo>
                  <a:pt x="300038" y="691406"/>
                </a:lnTo>
                <a:lnTo>
                  <a:pt x="300038" y="692358"/>
                </a:lnTo>
                <a:cubicBezTo>
                  <a:pt x="301943" y="698073"/>
                  <a:pt x="307658" y="702836"/>
                  <a:pt x="314325" y="704741"/>
                </a:cubicBezTo>
                <a:cubicBezTo>
                  <a:pt x="320993" y="706646"/>
                  <a:pt x="327660" y="704741"/>
                  <a:pt x="332423" y="699978"/>
                </a:cubicBezTo>
                <a:lnTo>
                  <a:pt x="333375" y="699026"/>
                </a:lnTo>
                <a:lnTo>
                  <a:pt x="339090" y="693311"/>
                </a:lnTo>
                <a:lnTo>
                  <a:pt x="459105" y="575201"/>
                </a:lnTo>
                <a:lnTo>
                  <a:pt x="641985" y="638066"/>
                </a:lnTo>
                <a:cubicBezTo>
                  <a:pt x="647700" y="639971"/>
                  <a:pt x="653415" y="639018"/>
                  <a:pt x="658178" y="636161"/>
                </a:cubicBezTo>
                <a:cubicBezTo>
                  <a:pt x="662940" y="633303"/>
                  <a:pt x="666750" y="628541"/>
                  <a:pt x="667703" y="622826"/>
                </a:cubicBezTo>
                <a:lnTo>
                  <a:pt x="762953" y="22751"/>
                </a:lnTo>
                <a:cubicBezTo>
                  <a:pt x="763905" y="14178"/>
                  <a:pt x="760095" y="7511"/>
                  <a:pt x="754380" y="3701"/>
                </a:cubicBezTo>
                <a:close/>
              </a:path>
            </a:pathLst>
          </a:custGeom>
          <a:solidFill>
            <a:srgbClr val="0D9488"/>
          </a:solidFill>
          <a:ln w="9525" cap="flat">
            <a:solidFill>
              <a:srgbClr val="0D9488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0" name="Shape 4">
            <a:extLst>
              <a:ext uri="{FF2B5EF4-FFF2-40B4-BE49-F238E27FC236}">
                <a16:creationId xmlns:a16="http://schemas.microsoft.com/office/drawing/2014/main" id="{17B43B37-C671-121E-7670-85968C08B692}"/>
              </a:ext>
            </a:extLst>
          </p:cNvPr>
          <p:cNvSpPr/>
          <p:nvPr/>
        </p:nvSpPr>
        <p:spPr>
          <a:xfrm>
            <a:off x="2034281" y="3904754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3" name="Google Shape;214;p13">
            <a:extLst>
              <a:ext uri="{FF2B5EF4-FFF2-40B4-BE49-F238E27FC236}">
                <a16:creationId xmlns:a16="http://schemas.microsoft.com/office/drawing/2014/main" id="{55454C9E-F732-30D3-8626-B845290326F5}"/>
              </a:ext>
            </a:extLst>
          </p:cNvPr>
          <p:cNvSpPr txBox="1"/>
          <p:nvPr/>
        </p:nvSpPr>
        <p:spPr>
          <a:xfrm>
            <a:off x="2038641" y="4004014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계정 및 권한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통제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07" name="Google Shape;215;p13">
            <a:extLst>
              <a:ext uri="{FF2B5EF4-FFF2-40B4-BE49-F238E27FC236}">
                <a16:creationId xmlns:a16="http://schemas.microsoft.com/office/drawing/2014/main" id="{6548E349-9264-9C5A-184E-703CB1D134A2}"/>
              </a:ext>
            </a:extLst>
          </p:cNvPr>
          <p:cNvSpPr txBox="1"/>
          <p:nvPr/>
        </p:nvSpPr>
        <p:spPr>
          <a:xfrm>
            <a:off x="2047988" y="4153273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Auth &amp; SSO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2" name="Shape 4">
            <a:extLst>
              <a:ext uri="{FF2B5EF4-FFF2-40B4-BE49-F238E27FC236}">
                <a16:creationId xmlns:a16="http://schemas.microsoft.com/office/drawing/2014/main" id="{9805C07B-2365-820E-57F7-4C6EA2D30E0C}"/>
              </a:ext>
            </a:extLst>
          </p:cNvPr>
          <p:cNvSpPr/>
          <p:nvPr/>
        </p:nvSpPr>
        <p:spPr>
          <a:xfrm>
            <a:off x="3392315" y="3402437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3" name="Google Shape;214;p13">
            <a:extLst>
              <a:ext uri="{FF2B5EF4-FFF2-40B4-BE49-F238E27FC236}">
                <a16:creationId xmlns:a16="http://schemas.microsoft.com/office/drawing/2014/main" id="{16195E15-6646-FCB1-005C-9188E9C5C748}"/>
              </a:ext>
            </a:extLst>
          </p:cNvPr>
          <p:cNvSpPr txBox="1"/>
          <p:nvPr/>
        </p:nvSpPr>
        <p:spPr>
          <a:xfrm>
            <a:off x="3398579" y="3513758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스킬 기반 모델 관리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84" name="Google Shape;215;p13">
            <a:extLst>
              <a:ext uri="{FF2B5EF4-FFF2-40B4-BE49-F238E27FC236}">
                <a16:creationId xmlns:a16="http://schemas.microsoft.com/office/drawing/2014/main" id="{A4427A95-1A55-30C3-7A74-E740F481FC5E}"/>
              </a:ext>
            </a:extLst>
          </p:cNvPr>
          <p:cNvSpPr txBox="1"/>
          <p:nvPr/>
        </p:nvSpPr>
        <p:spPr>
          <a:xfrm>
            <a:off x="3407927" y="3663017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altLang="ko-KR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Skill Registry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5" name="Shape 4">
            <a:extLst>
              <a:ext uri="{FF2B5EF4-FFF2-40B4-BE49-F238E27FC236}">
                <a16:creationId xmlns:a16="http://schemas.microsoft.com/office/drawing/2014/main" id="{BE0973AD-5213-0ACA-5EE7-BF09F93929D4}"/>
              </a:ext>
            </a:extLst>
          </p:cNvPr>
          <p:cNvSpPr/>
          <p:nvPr/>
        </p:nvSpPr>
        <p:spPr>
          <a:xfrm>
            <a:off x="3394219" y="3903693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6" name="Google Shape;214;p13">
            <a:extLst>
              <a:ext uri="{FF2B5EF4-FFF2-40B4-BE49-F238E27FC236}">
                <a16:creationId xmlns:a16="http://schemas.microsoft.com/office/drawing/2014/main" id="{345E18EE-0F82-FC47-EE1C-F1FDB601BADD}"/>
              </a:ext>
            </a:extLst>
          </p:cNvPr>
          <p:cNvSpPr txBox="1"/>
          <p:nvPr/>
        </p:nvSpPr>
        <p:spPr>
          <a:xfrm>
            <a:off x="3398579" y="4002953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자동 최적화 텍스트 생성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87" name="Google Shape;215;p13">
            <a:extLst>
              <a:ext uri="{FF2B5EF4-FFF2-40B4-BE49-F238E27FC236}">
                <a16:creationId xmlns:a16="http://schemas.microsoft.com/office/drawing/2014/main" id="{6A942077-BE89-D1C9-69A4-A2B7F62D94E2}"/>
              </a:ext>
            </a:extLst>
          </p:cNvPr>
          <p:cNvSpPr txBox="1"/>
          <p:nvPr/>
        </p:nvSpPr>
        <p:spPr>
          <a:xfrm>
            <a:off x="3407926" y="4152212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Prompt Builder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8" name="Shape 4">
            <a:extLst>
              <a:ext uri="{FF2B5EF4-FFF2-40B4-BE49-F238E27FC236}">
                <a16:creationId xmlns:a16="http://schemas.microsoft.com/office/drawing/2014/main" id="{C320A240-C689-BA13-1BA2-B8B1EEF37C47}"/>
              </a:ext>
            </a:extLst>
          </p:cNvPr>
          <p:cNvSpPr/>
          <p:nvPr/>
        </p:nvSpPr>
        <p:spPr>
          <a:xfrm>
            <a:off x="4745535" y="3402437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9" name="Google Shape;214;p13">
            <a:extLst>
              <a:ext uri="{FF2B5EF4-FFF2-40B4-BE49-F238E27FC236}">
                <a16:creationId xmlns:a16="http://schemas.microsoft.com/office/drawing/2014/main" id="{A1DD2FF8-E769-7693-2CF0-097F51E938E1}"/>
              </a:ext>
            </a:extLst>
          </p:cNvPr>
          <p:cNvSpPr txBox="1"/>
          <p:nvPr/>
        </p:nvSpPr>
        <p:spPr>
          <a:xfrm>
            <a:off x="4751799" y="3513758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정성 지식 독립화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0" name="Google Shape;215;p13">
            <a:extLst>
              <a:ext uri="{FF2B5EF4-FFF2-40B4-BE49-F238E27FC236}">
                <a16:creationId xmlns:a16="http://schemas.microsoft.com/office/drawing/2014/main" id="{9D164F96-518A-0FA3-85FE-C05086B1B860}"/>
              </a:ext>
            </a:extLst>
          </p:cNvPr>
          <p:cNvSpPr txBox="1"/>
          <p:nvPr/>
        </p:nvSpPr>
        <p:spPr>
          <a:xfrm>
            <a:off x="4761147" y="3663017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altLang="ko-KR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Knowledge Wiki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1" name="Shape 4">
            <a:extLst>
              <a:ext uri="{FF2B5EF4-FFF2-40B4-BE49-F238E27FC236}">
                <a16:creationId xmlns:a16="http://schemas.microsoft.com/office/drawing/2014/main" id="{9453F244-7A20-E10E-F31E-A88F90F6B50A}"/>
              </a:ext>
            </a:extLst>
          </p:cNvPr>
          <p:cNvSpPr/>
          <p:nvPr/>
        </p:nvSpPr>
        <p:spPr>
          <a:xfrm>
            <a:off x="4747439" y="3903693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2" name="Google Shape;214;p13">
            <a:extLst>
              <a:ext uri="{FF2B5EF4-FFF2-40B4-BE49-F238E27FC236}">
                <a16:creationId xmlns:a16="http://schemas.microsoft.com/office/drawing/2014/main" id="{81F61CEE-1CAB-8552-9AD4-7A9EB09EA9A5}"/>
              </a:ext>
            </a:extLst>
          </p:cNvPr>
          <p:cNvSpPr txBox="1"/>
          <p:nvPr/>
        </p:nvSpPr>
        <p:spPr>
          <a:xfrm>
            <a:off x="4751799" y="4002953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SQL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및 질의 성능 관제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293" name="Google Shape;215;p13">
            <a:extLst>
              <a:ext uri="{FF2B5EF4-FFF2-40B4-BE49-F238E27FC236}">
                <a16:creationId xmlns:a16="http://schemas.microsoft.com/office/drawing/2014/main" id="{323BB587-A530-D133-97BC-C9AE8333F3E3}"/>
              </a:ext>
            </a:extLst>
          </p:cNvPr>
          <p:cNvSpPr txBox="1"/>
          <p:nvPr/>
        </p:nvSpPr>
        <p:spPr>
          <a:xfrm>
            <a:off x="4761146" y="4152212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Perf. Monitor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1" name="Shape 4">
            <a:extLst>
              <a:ext uri="{FF2B5EF4-FFF2-40B4-BE49-F238E27FC236}">
                <a16:creationId xmlns:a16="http://schemas.microsoft.com/office/drawing/2014/main" id="{F905B99B-6B02-3FED-DE5A-FD1FEFD08017}"/>
              </a:ext>
            </a:extLst>
          </p:cNvPr>
          <p:cNvSpPr/>
          <p:nvPr/>
        </p:nvSpPr>
        <p:spPr>
          <a:xfrm>
            <a:off x="6086356" y="3404216"/>
            <a:ext cx="1274265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2" name="Google Shape;214;p13">
            <a:extLst>
              <a:ext uri="{FF2B5EF4-FFF2-40B4-BE49-F238E27FC236}">
                <a16:creationId xmlns:a16="http://schemas.microsoft.com/office/drawing/2014/main" id="{1F863B6F-F324-0EC1-BF1A-8AEBF8A0CB6E}"/>
              </a:ext>
            </a:extLst>
          </p:cNvPr>
          <p:cNvSpPr txBox="1"/>
          <p:nvPr/>
        </p:nvSpPr>
        <p:spPr>
          <a:xfrm>
            <a:off x="6092620" y="3515537"/>
            <a:ext cx="125200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멀티 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LLM 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라우팅 최적화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03" name="Google Shape;215;p13">
            <a:extLst>
              <a:ext uri="{FF2B5EF4-FFF2-40B4-BE49-F238E27FC236}">
                <a16:creationId xmlns:a16="http://schemas.microsoft.com/office/drawing/2014/main" id="{9D6F76B9-669B-FB1D-5326-A6007070590F}"/>
              </a:ext>
            </a:extLst>
          </p:cNvPr>
          <p:cNvSpPr txBox="1"/>
          <p:nvPr/>
        </p:nvSpPr>
        <p:spPr>
          <a:xfrm>
            <a:off x="6101968" y="3664796"/>
            <a:ext cx="1252004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Model Hub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4" name="Shape 4">
            <a:extLst>
              <a:ext uri="{FF2B5EF4-FFF2-40B4-BE49-F238E27FC236}">
                <a16:creationId xmlns:a16="http://schemas.microsoft.com/office/drawing/2014/main" id="{E0A3A3F3-6588-26E9-12AF-31F8179D943D}"/>
              </a:ext>
            </a:extLst>
          </p:cNvPr>
          <p:cNvSpPr/>
          <p:nvPr/>
        </p:nvSpPr>
        <p:spPr>
          <a:xfrm>
            <a:off x="6088260" y="3905472"/>
            <a:ext cx="1271783" cy="443593"/>
          </a:xfrm>
          <a:prstGeom prst="roundRect">
            <a:avLst>
              <a:gd name="adj" fmla="val 9142"/>
            </a:avLst>
          </a:prstGeom>
          <a:solidFill>
            <a:srgbClr val="1D2537"/>
          </a:solidFill>
          <a:ln w="3175">
            <a:solidFill>
              <a:srgbClr val="07D2C5"/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5" name="Google Shape;214;p13">
            <a:extLst>
              <a:ext uri="{FF2B5EF4-FFF2-40B4-BE49-F238E27FC236}">
                <a16:creationId xmlns:a16="http://schemas.microsoft.com/office/drawing/2014/main" id="{77500AF1-891A-3006-372C-453ED8961276}"/>
              </a:ext>
            </a:extLst>
          </p:cNvPr>
          <p:cNvSpPr txBox="1"/>
          <p:nvPr/>
        </p:nvSpPr>
        <p:spPr>
          <a:xfrm>
            <a:off x="6092620" y="4004732"/>
            <a:ext cx="12621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전수 보안</a:t>
            </a:r>
            <a:r>
              <a:rPr lang="en-US" altLang="ko-KR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SUIT"/>
                <a:ea typeface="SUIT"/>
                <a:cs typeface="SUIT"/>
                <a:sym typeface="SUIT"/>
              </a:rPr>
              <a:t>실패 로그 감사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306" name="Google Shape;215;p13">
            <a:extLst>
              <a:ext uri="{FF2B5EF4-FFF2-40B4-BE49-F238E27FC236}">
                <a16:creationId xmlns:a16="http://schemas.microsoft.com/office/drawing/2014/main" id="{0A21EDA2-599F-DB07-3F0E-008B56E0FD7D}"/>
              </a:ext>
            </a:extLst>
          </p:cNvPr>
          <p:cNvSpPr txBox="1"/>
          <p:nvPr/>
        </p:nvSpPr>
        <p:spPr>
          <a:xfrm>
            <a:off x="6101967" y="4153991"/>
            <a:ext cx="1240966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64"/>
              </a:lnSpc>
            </a:pPr>
            <a:r>
              <a:rPr lang="en-US" sz="600" dirty="0">
                <a:solidFill>
                  <a:schemeClr val="tx2">
                    <a:lumMod val="40000"/>
                    <a:lumOff val="60000"/>
                  </a:schemeClr>
                </a:solidFill>
                <a:latin typeface="SUIT"/>
                <a:ea typeface="SUIT"/>
                <a:cs typeface="SUIT"/>
                <a:sym typeface="SUIT"/>
              </a:rPr>
              <a:t>Audit Logs</a:t>
            </a:r>
            <a:endParaRPr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9634B26-ED88-FF87-E60B-0C03ABBBC918}"/>
              </a:ext>
            </a:extLst>
          </p:cNvPr>
          <p:cNvSpPr/>
          <p:nvPr/>
        </p:nvSpPr>
        <p:spPr>
          <a:xfrm rot="16200000">
            <a:off x="2828724" y="875569"/>
            <a:ext cx="1095253" cy="2664000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74C23899-E47D-2756-1C35-39692B87D284}"/>
              </a:ext>
            </a:extLst>
          </p:cNvPr>
          <p:cNvSpPr/>
          <p:nvPr/>
        </p:nvSpPr>
        <p:spPr>
          <a:xfrm>
            <a:off x="2148306" y="1954532"/>
            <a:ext cx="2472235" cy="165369"/>
          </a:xfrm>
          <a:prstGeom prst="roundRect">
            <a:avLst>
              <a:gd name="adj" fmla="val 12570"/>
            </a:avLst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181" name="Google Shape;181;p13">
            <a:extLst>
              <a:ext uri="{FF2B5EF4-FFF2-40B4-BE49-F238E27FC236}">
                <a16:creationId xmlns:a16="http://schemas.microsoft.com/office/drawing/2014/main" id="{D8D759AB-8495-3CD4-8FDD-55C1B93441E9}"/>
              </a:ext>
            </a:extLst>
          </p:cNvPr>
          <p:cNvSpPr txBox="1"/>
          <p:nvPr/>
        </p:nvSpPr>
        <p:spPr>
          <a:xfrm>
            <a:off x="2429825" y="1743014"/>
            <a:ext cx="218865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00" b="1" dirty="0">
                <a:latin typeface="SUIT"/>
                <a:ea typeface="SUIT"/>
                <a:cs typeface="SUIT"/>
                <a:sym typeface="SUIT"/>
              </a:rPr>
              <a:t>AGENT 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sym typeface="SUIT"/>
              </a:rPr>
              <a:t>대화를 통한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sym typeface="SUIT"/>
              </a:rPr>
              <a:t>지능형</a:t>
            </a: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sym typeface="SUIT"/>
              </a:rPr>
              <a:t> </a:t>
            </a:r>
            <a:r>
              <a:rPr lang="en-US" sz="600" dirty="0" err="1">
                <a:solidFill>
                  <a:srgbClr val="64748B"/>
                </a:solidFill>
                <a:latin typeface="SUIT"/>
                <a:ea typeface="SUIT"/>
                <a:sym typeface="SUIT"/>
              </a:rPr>
              <a:t>분석</a:t>
            </a:r>
            <a:endParaRPr sz="600" dirty="0">
              <a:solidFill>
                <a:srgbClr val="64748B"/>
              </a:solidFill>
              <a:latin typeface="SUIT"/>
              <a:ea typeface="SUIT"/>
            </a:endParaRPr>
          </a:p>
        </p:txBody>
      </p:sp>
      <p:sp>
        <p:nvSpPr>
          <p:cNvPr id="248" name="Google Shape;248;p13">
            <a:extLst>
              <a:ext uri="{FF2B5EF4-FFF2-40B4-BE49-F238E27FC236}">
                <a16:creationId xmlns:a16="http://schemas.microsoft.com/office/drawing/2014/main" id="{90589142-D450-F997-7890-7651BB1C13DE}"/>
              </a:ext>
            </a:extLst>
          </p:cNvPr>
          <p:cNvSpPr txBox="1"/>
          <p:nvPr/>
        </p:nvSpPr>
        <p:spPr>
          <a:xfrm>
            <a:off x="2144988" y="1991791"/>
            <a:ext cx="2464952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자연어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질의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분석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(NLQ)</a:t>
            </a:r>
            <a:endParaRPr sz="1200" dirty="0"/>
          </a:p>
        </p:txBody>
      </p:sp>
      <p:sp>
        <p:nvSpPr>
          <p:cNvPr id="261" name="Google Shape;261;p13">
            <a:extLst>
              <a:ext uri="{FF2B5EF4-FFF2-40B4-BE49-F238E27FC236}">
                <a16:creationId xmlns:a16="http://schemas.microsoft.com/office/drawing/2014/main" id="{4AC7D7C1-261A-2382-7416-E336CF8FCEB2}"/>
              </a:ext>
            </a:extLst>
          </p:cNvPr>
          <p:cNvSpPr txBox="1"/>
          <p:nvPr/>
        </p:nvSpPr>
        <p:spPr>
          <a:xfrm>
            <a:off x="2216532" y="2146059"/>
            <a:ext cx="292536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1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2" name="Google Shape;262;p13">
            <a:extLst>
              <a:ext uri="{FF2B5EF4-FFF2-40B4-BE49-F238E27FC236}">
                <a16:creationId xmlns:a16="http://schemas.microsoft.com/office/drawing/2014/main" id="{FC464F2A-823D-4E75-6154-E817288A6819}"/>
              </a:ext>
            </a:extLst>
          </p:cNvPr>
          <p:cNvSpPr txBox="1"/>
          <p:nvPr/>
        </p:nvSpPr>
        <p:spPr>
          <a:xfrm>
            <a:off x="2229904" y="2272901"/>
            <a:ext cx="252537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N.E.R</a:t>
            </a:r>
            <a:endParaRPr sz="1400" dirty="0"/>
          </a:p>
        </p:txBody>
      </p:sp>
      <p:sp>
        <p:nvSpPr>
          <p:cNvPr id="263" name="Google Shape;263;p13">
            <a:extLst>
              <a:ext uri="{FF2B5EF4-FFF2-40B4-BE49-F238E27FC236}">
                <a16:creationId xmlns:a16="http://schemas.microsoft.com/office/drawing/2014/main" id="{11FF495D-487F-AFF7-A7B5-8AD7E5339A73}"/>
              </a:ext>
            </a:extLst>
          </p:cNvPr>
          <p:cNvSpPr txBox="1"/>
          <p:nvPr/>
        </p:nvSpPr>
        <p:spPr>
          <a:xfrm>
            <a:off x="2674267" y="2146059"/>
            <a:ext cx="312398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2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4" name="Google Shape;264;p13">
            <a:extLst>
              <a:ext uri="{FF2B5EF4-FFF2-40B4-BE49-F238E27FC236}">
                <a16:creationId xmlns:a16="http://schemas.microsoft.com/office/drawing/2014/main" id="{190E538C-D7C4-3EA4-705D-895C6D240BF4}"/>
              </a:ext>
            </a:extLst>
          </p:cNvPr>
          <p:cNvSpPr txBox="1"/>
          <p:nvPr/>
        </p:nvSpPr>
        <p:spPr>
          <a:xfrm>
            <a:off x="2684464" y="2224641"/>
            <a:ext cx="299026" cy="20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의도</a:t>
            </a:r>
            <a:r>
              <a:rPr lang="en-US" sz="600" b="1" dirty="0"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en-US" sz="600" b="1" dirty="0" err="1">
                <a:latin typeface="SUIT"/>
                <a:ea typeface="SUIT"/>
                <a:cs typeface="SUIT"/>
                <a:sym typeface="SUIT"/>
              </a:rPr>
              <a:t>인지</a:t>
            </a:r>
            <a:br>
              <a:rPr lang="en-US" sz="600" b="1" dirty="0">
                <a:latin typeface="SUIT"/>
                <a:ea typeface="SUIT"/>
                <a:cs typeface="SUIT"/>
                <a:sym typeface="SUIT"/>
              </a:rPr>
            </a:b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스킬 선정</a:t>
            </a:r>
            <a:endParaRPr sz="1400" dirty="0"/>
          </a:p>
        </p:txBody>
      </p:sp>
      <p:sp>
        <p:nvSpPr>
          <p:cNvPr id="265" name="Google Shape;265;p13">
            <a:extLst>
              <a:ext uri="{FF2B5EF4-FFF2-40B4-BE49-F238E27FC236}">
                <a16:creationId xmlns:a16="http://schemas.microsoft.com/office/drawing/2014/main" id="{D45D5CD0-162F-A291-8ECB-D5DDF0E6078D}"/>
              </a:ext>
            </a:extLst>
          </p:cNvPr>
          <p:cNvSpPr txBox="1"/>
          <p:nvPr/>
        </p:nvSpPr>
        <p:spPr>
          <a:xfrm>
            <a:off x="3206299" y="2146059"/>
            <a:ext cx="316670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3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6" name="Google Shape;266;p13">
            <a:extLst>
              <a:ext uri="{FF2B5EF4-FFF2-40B4-BE49-F238E27FC236}">
                <a16:creationId xmlns:a16="http://schemas.microsoft.com/office/drawing/2014/main" id="{9C45A383-0180-4297-E3F0-2BA2994E5617}"/>
              </a:ext>
            </a:extLst>
          </p:cNvPr>
          <p:cNvSpPr txBox="1"/>
          <p:nvPr/>
        </p:nvSpPr>
        <p:spPr>
          <a:xfrm>
            <a:off x="3212322" y="2272901"/>
            <a:ext cx="311830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스킬 실행</a:t>
            </a:r>
            <a:endParaRPr sz="1400" dirty="0"/>
          </a:p>
        </p:txBody>
      </p:sp>
      <p:sp>
        <p:nvSpPr>
          <p:cNvPr id="267" name="Google Shape;267;p13">
            <a:extLst>
              <a:ext uri="{FF2B5EF4-FFF2-40B4-BE49-F238E27FC236}">
                <a16:creationId xmlns:a16="http://schemas.microsoft.com/office/drawing/2014/main" id="{3D6C4C7B-31E1-6347-5328-85E1CF4F86D6}"/>
              </a:ext>
            </a:extLst>
          </p:cNvPr>
          <p:cNvSpPr txBox="1"/>
          <p:nvPr/>
        </p:nvSpPr>
        <p:spPr>
          <a:xfrm>
            <a:off x="3723312" y="2148489"/>
            <a:ext cx="325202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4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268" name="Google Shape;268;p13">
            <a:extLst>
              <a:ext uri="{FF2B5EF4-FFF2-40B4-BE49-F238E27FC236}">
                <a16:creationId xmlns:a16="http://schemas.microsoft.com/office/drawing/2014/main" id="{9DAE4044-6D3F-DFDE-D920-6A6EB7AD619E}"/>
              </a:ext>
            </a:extLst>
          </p:cNvPr>
          <p:cNvSpPr txBox="1"/>
          <p:nvPr/>
        </p:nvSpPr>
        <p:spPr>
          <a:xfrm>
            <a:off x="3738589" y="2270954"/>
            <a:ext cx="306279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결과 통합</a:t>
            </a:r>
            <a:endParaRPr sz="1400" dirty="0"/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4EFE465-261B-FAD2-294C-4D61A555C539}"/>
              </a:ext>
            </a:extLst>
          </p:cNvPr>
          <p:cNvGrpSpPr/>
          <p:nvPr/>
        </p:nvGrpSpPr>
        <p:grpSpPr>
          <a:xfrm>
            <a:off x="2160212" y="2479166"/>
            <a:ext cx="577751" cy="204365"/>
            <a:chOff x="1899153" y="2214985"/>
            <a:chExt cx="577751" cy="185510"/>
          </a:xfrm>
        </p:grpSpPr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6310AC10-6513-196C-6F53-BA0C71156324}"/>
                </a:ext>
              </a:extLst>
            </p:cNvPr>
            <p:cNvSpPr/>
            <p:nvPr/>
          </p:nvSpPr>
          <p:spPr>
            <a:xfrm>
              <a:off x="1899153" y="2214985"/>
              <a:ext cx="577751" cy="18551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5" name="Google Shape;262;p13">
              <a:extLst>
                <a:ext uri="{FF2B5EF4-FFF2-40B4-BE49-F238E27FC236}">
                  <a16:creationId xmlns:a16="http://schemas.microsoft.com/office/drawing/2014/main" id="{3180D0E8-B389-0AB9-ACAD-1BEA2B572BD6}"/>
                </a:ext>
              </a:extLst>
            </p:cNvPr>
            <p:cNvSpPr txBox="1"/>
            <p:nvPr/>
          </p:nvSpPr>
          <p:spPr>
            <a:xfrm>
              <a:off x="1906298" y="2262645"/>
              <a:ext cx="562548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데이터 추출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B60364E-6315-F6F5-2FF9-9B156000931F}"/>
              </a:ext>
            </a:extLst>
          </p:cNvPr>
          <p:cNvGrpSpPr/>
          <p:nvPr/>
        </p:nvGrpSpPr>
        <p:grpSpPr>
          <a:xfrm>
            <a:off x="2798613" y="2482095"/>
            <a:ext cx="570605" cy="205200"/>
            <a:chOff x="2512622" y="2217914"/>
            <a:chExt cx="570605" cy="20520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8E94CDAC-1C24-97FD-922A-A35320074BF2}"/>
                </a:ext>
              </a:extLst>
            </p:cNvPr>
            <p:cNvSpPr/>
            <p:nvPr/>
          </p:nvSpPr>
          <p:spPr>
            <a:xfrm>
              <a:off x="2512622" y="2217914"/>
              <a:ext cx="570605" cy="20520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pPr>
                <a:lnSpc>
                  <a:spcPct val="110000"/>
                </a:lnSpc>
              </a:pPr>
              <a:endParaRPr lang="ko-KR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Google Shape;262;p13">
              <a:extLst>
                <a:ext uri="{FF2B5EF4-FFF2-40B4-BE49-F238E27FC236}">
                  <a16:creationId xmlns:a16="http://schemas.microsoft.com/office/drawing/2014/main" id="{7C2150D5-D402-F4E0-DC1D-46541C1CF507}"/>
                </a:ext>
              </a:extLst>
            </p:cNvPr>
            <p:cNvSpPr txBox="1"/>
            <p:nvPr/>
          </p:nvSpPr>
          <p:spPr>
            <a:xfrm>
              <a:off x="2512622" y="2267785"/>
              <a:ext cx="562548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개인 파일 분석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7CA0E54-8D92-AA7B-1CCC-474A9112368D}"/>
              </a:ext>
            </a:extLst>
          </p:cNvPr>
          <p:cNvGrpSpPr/>
          <p:nvPr/>
        </p:nvGrpSpPr>
        <p:grpSpPr>
          <a:xfrm>
            <a:off x="3429868" y="2484049"/>
            <a:ext cx="570605" cy="205200"/>
            <a:chOff x="3110892" y="2219868"/>
            <a:chExt cx="570605" cy="205200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1311F8BC-A215-7EF5-3DB0-F4C9AAD73DDA}"/>
                </a:ext>
              </a:extLst>
            </p:cNvPr>
            <p:cNvSpPr/>
            <p:nvPr/>
          </p:nvSpPr>
          <p:spPr>
            <a:xfrm>
              <a:off x="3110892" y="2219868"/>
              <a:ext cx="570605" cy="205200"/>
            </a:xfrm>
            <a:prstGeom prst="roundRect">
              <a:avLst>
                <a:gd name="adj" fmla="val 9142"/>
              </a:avLst>
            </a:prstGeom>
            <a:solidFill>
              <a:srgbClr val="1D2537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Google Shape;262;p13">
              <a:extLst>
                <a:ext uri="{FF2B5EF4-FFF2-40B4-BE49-F238E27FC236}">
                  <a16:creationId xmlns:a16="http://schemas.microsoft.com/office/drawing/2014/main" id="{3D8C491F-1C79-E6FF-35C9-5226A8EEE22D}"/>
                </a:ext>
              </a:extLst>
            </p:cNvPr>
            <p:cNvSpPr txBox="1"/>
            <p:nvPr/>
          </p:nvSpPr>
          <p:spPr>
            <a:xfrm>
              <a:off x="3119864" y="2269740"/>
              <a:ext cx="553575" cy="101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SUIT"/>
                  <a:ea typeface="SUIT"/>
                  <a:sym typeface="SUIT"/>
                </a:rPr>
                <a:t>분석 시나리오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F5645780-2ACE-D2EB-4825-A57E049C2866}"/>
              </a:ext>
            </a:extLst>
          </p:cNvPr>
          <p:cNvGrpSpPr/>
          <p:nvPr/>
        </p:nvGrpSpPr>
        <p:grpSpPr>
          <a:xfrm>
            <a:off x="4061123" y="2486739"/>
            <a:ext cx="570605" cy="205200"/>
            <a:chOff x="3933872" y="2217913"/>
            <a:chExt cx="570605" cy="205200"/>
          </a:xfrm>
          <a:solidFill>
            <a:schemeClr val="bg1"/>
          </a:solidFill>
        </p:grpSpPr>
        <p:sp>
          <p:nvSpPr>
            <p:cNvPr id="33" name="Shape 4">
              <a:extLst>
                <a:ext uri="{FF2B5EF4-FFF2-40B4-BE49-F238E27FC236}">
                  <a16:creationId xmlns:a16="http://schemas.microsoft.com/office/drawing/2014/main" id="{A54C5344-1886-AFF6-4A88-F7345023FF18}"/>
                </a:ext>
              </a:extLst>
            </p:cNvPr>
            <p:cNvSpPr/>
            <p:nvPr/>
          </p:nvSpPr>
          <p:spPr>
            <a:xfrm>
              <a:off x="3933872" y="2217913"/>
              <a:ext cx="570605" cy="205200"/>
            </a:xfrm>
            <a:prstGeom prst="roundRect">
              <a:avLst>
                <a:gd name="adj" fmla="val 9142"/>
              </a:avLst>
            </a:prstGeom>
            <a:grpFill/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" name="Google Shape;262;p13">
              <a:extLst>
                <a:ext uri="{FF2B5EF4-FFF2-40B4-BE49-F238E27FC236}">
                  <a16:creationId xmlns:a16="http://schemas.microsoft.com/office/drawing/2014/main" id="{6EE0799F-7074-6B7C-FCC7-A92AA3646C03}"/>
                </a:ext>
              </a:extLst>
            </p:cNvPr>
            <p:cNvSpPr txBox="1"/>
            <p:nvPr/>
          </p:nvSpPr>
          <p:spPr>
            <a:xfrm>
              <a:off x="3945822" y="2270643"/>
              <a:ext cx="553575" cy="10156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UIT"/>
                  <a:ea typeface="SUIT"/>
                  <a:sym typeface="SUIT"/>
                </a:rPr>
                <a:t>생성 </a:t>
              </a:r>
              <a:endParaRPr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B856A017-8951-16EC-F396-C2B2B89A4E73}"/>
              </a:ext>
            </a:extLst>
          </p:cNvPr>
          <p:cNvSpPr/>
          <p:nvPr/>
        </p:nvSpPr>
        <p:spPr>
          <a:xfrm>
            <a:off x="2507200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5252D62D-4C81-C6D6-FC13-0D46D92CB493}"/>
              </a:ext>
            </a:extLst>
          </p:cNvPr>
          <p:cNvSpPr/>
          <p:nvPr/>
        </p:nvSpPr>
        <p:spPr>
          <a:xfrm>
            <a:off x="3038223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79A59098-0581-E423-888B-C2618AA9A0D2}"/>
              </a:ext>
            </a:extLst>
          </p:cNvPr>
          <p:cNvSpPr/>
          <p:nvPr/>
        </p:nvSpPr>
        <p:spPr>
          <a:xfrm>
            <a:off x="3563044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DD93788C-9E61-9F5F-A130-EBC64AFD29FC}"/>
              </a:ext>
            </a:extLst>
          </p:cNvPr>
          <p:cNvSpPr/>
          <p:nvPr/>
        </p:nvSpPr>
        <p:spPr>
          <a:xfrm>
            <a:off x="4089283" y="2304571"/>
            <a:ext cx="144000" cy="360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9" name="Google Shape;267;p13">
            <a:extLst>
              <a:ext uri="{FF2B5EF4-FFF2-40B4-BE49-F238E27FC236}">
                <a16:creationId xmlns:a16="http://schemas.microsoft.com/office/drawing/2014/main" id="{49D47789-9D2B-5440-16F1-CE4F315C0B2B}"/>
              </a:ext>
            </a:extLst>
          </p:cNvPr>
          <p:cNvSpPr txBox="1"/>
          <p:nvPr/>
        </p:nvSpPr>
        <p:spPr>
          <a:xfrm>
            <a:off x="4241332" y="2151085"/>
            <a:ext cx="325202" cy="6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94" b="1" dirty="0">
                <a:solidFill>
                  <a:srgbClr val="07D2C5"/>
                </a:solidFill>
                <a:latin typeface="SUIT"/>
                <a:ea typeface="SUIT"/>
                <a:cs typeface="SUIT"/>
                <a:sym typeface="SUIT"/>
              </a:rPr>
              <a:t>STEP 5</a:t>
            </a:r>
            <a:endParaRPr sz="1350" dirty="0">
              <a:solidFill>
                <a:srgbClr val="07D2C5"/>
              </a:solidFill>
            </a:endParaRPr>
          </a:p>
        </p:txBody>
      </p:sp>
      <p:sp>
        <p:nvSpPr>
          <p:cNvPr id="50" name="Google Shape;268;p13">
            <a:extLst>
              <a:ext uri="{FF2B5EF4-FFF2-40B4-BE49-F238E27FC236}">
                <a16:creationId xmlns:a16="http://schemas.microsoft.com/office/drawing/2014/main" id="{2727E995-1D99-B3DB-D7D9-C8886CC746E3}"/>
              </a:ext>
            </a:extLst>
          </p:cNvPr>
          <p:cNvSpPr txBox="1"/>
          <p:nvPr/>
        </p:nvSpPr>
        <p:spPr>
          <a:xfrm>
            <a:off x="4256609" y="2273550"/>
            <a:ext cx="311830" cy="10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600" b="1" dirty="0">
                <a:latin typeface="SUIT"/>
                <a:ea typeface="SUIT"/>
                <a:cs typeface="SUIT"/>
                <a:sym typeface="SUIT"/>
              </a:rPr>
              <a:t>응답 생성</a:t>
            </a:r>
          </a:p>
        </p:txBody>
      </p:sp>
      <p:pic>
        <p:nvPicPr>
          <p:cNvPr id="72" name="그래픽 71" descr="자막 단색으로 채워진">
            <a:extLst>
              <a:ext uri="{FF2B5EF4-FFF2-40B4-BE49-F238E27FC236}">
                <a16:creationId xmlns:a16="http://schemas.microsoft.com/office/drawing/2014/main" id="{BAB64283-143C-F261-22D7-B273B8ECC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60212" y="1710602"/>
            <a:ext cx="223854" cy="223854"/>
          </a:xfrm>
          <a:prstGeom prst="rect">
            <a:avLst/>
          </a:prstGeom>
        </p:spPr>
      </p:pic>
      <p:sp>
        <p:nvSpPr>
          <p:cNvPr id="314" name="화살표: 오른쪽 313">
            <a:extLst>
              <a:ext uri="{FF2B5EF4-FFF2-40B4-BE49-F238E27FC236}">
                <a16:creationId xmlns:a16="http://schemas.microsoft.com/office/drawing/2014/main" id="{1950B2D6-D52E-19D0-4298-CED2E3E071D4}"/>
              </a:ext>
            </a:extLst>
          </p:cNvPr>
          <p:cNvSpPr/>
          <p:nvPr/>
        </p:nvSpPr>
        <p:spPr>
          <a:xfrm>
            <a:off x="4645277" y="2534258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7" name="Shape 4">
            <a:extLst>
              <a:ext uri="{FF2B5EF4-FFF2-40B4-BE49-F238E27FC236}">
                <a16:creationId xmlns:a16="http://schemas.microsoft.com/office/drawing/2014/main" id="{40E13C7E-D63A-3467-93F3-A5CEA1A89D31}"/>
              </a:ext>
            </a:extLst>
          </p:cNvPr>
          <p:cNvSpPr/>
          <p:nvPr/>
        </p:nvSpPr>
        <p:spPr>
          <a:xfrm>
            <a:off x="7799882" y="1109405"/>
            <a:ext cx="1158477" cy="1268737"/>
          </a:xfrm>
          <a:prstGeom prst="roundRect">
            <a:avLst>
              <a:gd name="adj" fmla="val 2742"/>
            </a:avLst>
          </a:prstGeom>
          <a:solidFill>
            <a:srgbClr val="FAFEFE"/>
          </a:solidFill>
          <a:ln>
            <a:solidFill>
              <a:srgbClr val="6EE6DE"/>
            </a:solidFill>
            <a:prstDash val="sys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Google Shape;204;p13">
            <a:extLst>
              <a:ext uri="{FF2B5EF4-FFF2-40B4-BE49-F238E27FC236}">
                <a16:creationId xmlns:a16="http://schemas.microsoft.com/office/drawing/2014/main" id="{EF7EADE5-A304-9FEE-F51C-B9EF4FAAB5E2}"/>
              </a:ext>
            </a:extLst>
          </p:cNvPr>
          <p:cNvSpPr txBox="1"/>
          <p:nvPr/>
        </p:nvSpPr>
        <p:spPr>
          <a:xfrm>
            <a:off x="7871335" y="1564627"/>
            <a:ext cx="9580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700" b="1" dirty="0">
                <a:solidFill>
                  <a:srgbClr val="0F172A"/>
                </a:solidFill>
                <a:ea typeface="SUIT"/>
                <a:sym typeface="SUIT"/>
              </a:rPr>
              <a:t>EXTERNAL UI</a:t>
            </a:r>
            <a:endParaRPr sz="1400" dirty="0"/>
          </a:p>
        </p:txBody>
      </p:sp>
      <p:sp>
        <p:nvSpPr>
          <p:cNvPr id="341" name="Google Shape;205;p13">
            <a:extLst>
              <a:ext uri="{FF2B5EF4-FFF2-40B4-BE49-F238E27FC236}">
                <a16:creationId xmlns:a16="http://schemas.microsoft.com/office/drawing/2014/main" id="{2BEBA750-B79D-36E8-6450-441A0B4E0A44}"/>
              </a:ext>
            </a:extLst>
          </p:cNvPr>
          <p:cNvSpPr txBox="1"/>
          <p:nvPr/>
        </p:nvSpPr>
        <p:spPr>
          <a:xfrm>
            <a:off x="7799884" y="1726479"/>
            <a:ext cx="115847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94"/>
              </a:lnSpc>
            </a:pPr>
            <a:r>
              <a:rPr 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Modular Agent Embedding</a:t>
            </a:r>
          </a:p>
          <a:p>
            <a:pPr algn="ctr">
              <a:lnSpc>
                <a:spcPct val="120094"/>
              </a:lnSpc>
            </a:pP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Tableau </a:t>
            </a:r>
            <a:r>
              <a:rPr lang="ko-KR" alt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익스텐션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및 </a:t>
            </a:r>
            <a:endParaRPr lang="en-US" altLang="ko-KR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범용 웹 모듈 형태로</a:t>
            </a:r>
          </a:p>
          <a:p>
            <a:pPr algn="ctr">
              <a:lnSpc>
                <a:spcPct val="120094"/>
              </a:lnSpc>
            </a:pPr>
            <a:r>
              <a:rPr lang="ko-KR" altLang="en-US" sz="600" dirty="0" err="1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사내외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 시스템에 </a:t>
            </a:r>
            <a:r>
              <a:rPr lang="en-US" altLang="ko-KR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Agent</a:t>
            </a: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가 </a:t>
            </a:r>
            <a:endParaRPr lang="en-US" altLang="ko-KR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  <a:p>
            <a:pPr algn="ctr">
              <a:lnSpc>
                <a:spcPct val="120094"/>
              </a:lnSpc>
            </a:pPr>
            <a:r>
              <a:rPr lang="ko-KR" altLang="en-US" sz="600" dirty="0">
                <a:solidFill>
                  <a:srgbClr val="64748B"/>
                </a:solidFill>
                <a:latin typeface="SUIT"/>
                <a:ea typeface="SUIT"/>
                <a:cs typeface="SUIT"/>
                <a:sym typeface="SUIT"/>
              </a:rPr>
              <a:t>유연하게 이식</a:t>
            </a:r>
            <a:endParaRPr lang="en-US" sz="600" dirty="0">
              <a:solidFill>
                <a:srgbClr val="64748B"/>
              </a:solidFill>
              <a:latin typeface="SUIT"/>
              <a:ea typeface="SUIT"/>
              <a:cs typeface="SUIT"/>
              <a:sym typeface="SUIT"/>
            </a:endParaRPr>
          </a:p>
        </p:txBody>
      </p:sp>
      <p:pic>
        <p:nvPicPr>
          <p:cNvPr id="345" name="그래픽 344" descr="퍼즐 단색으로 채워진">
            <a:extLst>
              <a:ext uri="{FF2B5EF4-FFF2-40B4-BE49-F238E27FC236}">
                <a16:creationId xmlns:a16="http://schemas.microsoft.com/office/drawing/2014/main" id="{D51683BB-5515-3ACB-8768-6F6D98267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40180" y="1194778"/>
            <a:ext cx="432014" cy="343473"/>
          </a:xfrm>
          <a:prstGeom prst="rect">
            <a:avLst/>
          </a:prstGeom>
        </p:spPr>
      </p:pic>
      <p:sp>
        <p:nvSpPr>
          <p:cNvPr id="347" name="화살표: 오른쪽 346">
            <a:extLst>
              <a:ext uri="{FF2B5EF4-FFF2-40B4-BE49-F238E27FC236}">
                <a16:creationId xmlns:a16="http://schemas.microsoft.com/office/drawing/2014/main" id="{9EEB0A64-0A36-C073-02FF-E30F3B845224}"/>
              </a:ext>
            </a:extLst>
          </p:cNvPr>
          <p:cNvSpPr/>
          <p:nvPr/>
        </p:nvSpPr>
        <p:spPr>
          <a:xfrm>
            <a:off x="7671500" y="1787626"/>
            <a:ext cx="116572" cy="101187"/>
          </a:xfrm>
          <a:prstGeom prst="rightArrow">
            <a:avLst>
              <a:gd name="adj1" fmla="val 24657"/>
              <a:gd name="adj2" fmla="val 51782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2" name="그래픽 11" descr="프로세서 단색으로 채워진">
            <a:extLst>
              <a:ext uri="{FF2B5EF4-FFF2-40B4-BE49-F238E27FC236}">
                <a16:creationId xmlns:a16="http://schemas.microsoft.com/office/drawing/2014/main" id="{1C0C8E00-D5BC-34AE-C18E-DE1649A67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27507" y="3154961"/>
            <a:ext cx="190895" cy="19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58AE-E461-F339-83B2-C4F77296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A3BD36E9-48D0-673C-7284-EF8C746891FA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5A6E3C0-42ED-258D-BA5F-3BB5491C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 err="1">
                <a:latin typeface="SUIT ExtraBold" pitchFamily="2" charset="-127"/>
                <a:ea typeface="SUIT ExtraBold" pitchFamily="2" charset="-127"/>
              </a:rPr>
              <a:t>aisight Work Space - 인텔리전스 자산화 및 전사 협업 포털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8ED774E-068E-0445-ACD9-754016A15E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sz="900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6C4FB53-0838-68A2-88BB-E130B2F4E99B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aisight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Agent와의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분석 결과는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aisight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Work 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Space를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통해 즉각적인 대시보드 및 리포트로 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+mn-ea"/>
                <a:ea typeface="+mn-ea"/>
              </a:rPr>
              <a:t>자산화</a:t>
            </a:r>
            <a:r>
              <a:rPr lang="ko-KR" altLang="ko-KR" sz="1100" b="1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됩니다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. 생성된 지식은 중앙 워크스페이스에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안전하게 보존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되며, URL 공유 및 실시간 협업, 외부 문서 추출 및 정기 구독을 통해 전사적으로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확산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됩니다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E200D29-A538-126E-831C-5C1D25B39E38}"/>
              </a:ext>
            </a:extLst>
          </p:cNvPr>
          <p:cNvSpPr/>
          <p:nvPr/>
        </p:nvSpPr>
        <p:spPr>
          <a:xfrm>
            <a:off x="6195345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9E49E7B-D315-2BC9-EB3A-60DFEC85DC03}"/>
              </a:ext>
            </a:extLst>
          </p:cNvPr>
          <p:cNvSpPr/>
          <p:nvPr/>
        </p:nvSpPr>
        <p:spPr>
          <a:xfrm>
            <a:off x="3240928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E4C2B8A-EA85-C648-A450-8EDA1B32F291}"/>
              </a:ext>
            </a:extLst>
          </p:cNvPr>
          <p:cNvSpPr/>
          <p:nvPr/>
        </p:nvSpPr>
        <p:spPr>
          <a:xfrm>
            <a:off x="286512" y="1380388"/>
            <a:ext cx="2697388" cy="3115163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61EE0434-47FA-448D-DD71-7CFA2685676A}"/>
              </a:ext>
            </a:extLst>
          </p:cNvPr>
          <p:cNvSpPr/>
          <p:nvPr/>
        </p:nvSpPr>
        <p:spPr>
          <a:xfrm>
            <a:off x="454309" y="1519003"/>
            <a:ext cx="285883" cy="269666"/>
          </a:xfrm>
          <a:prstGeom prst="roundRect">
            <a:avLst>
              <a:gd name="adj" fmla="val 1430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2DD5D5-F8B3-7FB0-5620-F273F2A7ECE4}"/>
              </a:ext>
            </a:extLst>
          </p:cNvPr>
          <p:cNvGrpSpPr/>
          <p:nvPr/>
        </p:nvGrpSpPr>
        <p:grpSpPr>
          <a:xfrm>
            <a:off x="525577" y="1579029"/>
            <a:ext cx="143346" cy="123630"/>
            <a:chOff x="3637104" y="3918265"/>
            <a:chExt cx="563265" cy="452859"/>
          </a:xfrm>
          <a:solidFill>
            <a:schemeClr val="bg1"/>
          </a:solidFill>
        </p:grpSpPr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087B259D-1C8F-9856-BD52-DFA46676286B}"/>
                </a:ext>
              </a:extLst>
            </p:cNvPr>
            <p:cNvSpPr/>
            <p:nvPr/>
          </p:nvSpPr>
          <p:spPr>
            <a:xfrm>
              <a:off x="3680798" y="3975371"/>
              <a:ext cx="250784" cy="250784"/>
            </a:xfrm>
            <a:custGeom>
              <a:avLst/>
              <a:gdLst>
                <a:gd name="csX0" fmla="*/ 125392 w 250784"/>
                <a:gd name="csY0" fmla="*/ 0 h 250784"/>
                <a:gd name="csX1" fmla="*/ 163010 w 250784"/>
                <a:gd name="csY1" fmla="*/ 87775 h 250784"/>
                <a:gd name="csX2" fmla="*/ 250785 w 250784"/>
                <a:gd name="csY2" fmla="*/ 125392 h 250784"/>
                <a:gd name="csX3" fmla="*/ 163010 w 250784"/>
                <a:gd name="csY3" fmla="*/ 163010 h 250784"/>
                <a:gd name="csX4" fmla="*/ 125392 w 250784"/>
                <a:gd name="csY4" fmla="*/ 250785 h 250784"/>
                <a:gd name="csX5" fmla="*/ 87775 w 250784"/>
                <a:gd name="csY5" fmla="*/ 163010 h 250784"/>
                <a:gd name="csX6" fmla="*/ 0 w 250784"/>
                <a:gd name="csY6" fmla="*/ 125392 h 250784"/>
                <a:gd name="csX7" fmla="*/ 87775 w 250784"/>
                <a:gd name="csY7" fmla="*/ 87775 h 25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0784" h="250784">
                  <a:moveTo>
                    <a:pt x="125392" y="0"/>
                  </a:moveTo>
                  <a:lnTo>
                    <a:pt x="163010" y="87775"/>
                  </a:lnTo>
                  <a:lnTo>
                    <a:pt x="250785" y="125392"/>
                  </a:lnTo>
                  <a:lnTo>
                    <a:pt x="163010" y="163010"/>
                  </a:lnTo>
                  <a:lnTo>
                    <a:pt x="125392" y="250785"/>
                  </a:lnTo>
                  <a:lnTo>
                    <a:pt x="87775" y="163010"/>
                  </a:lnTo>
                  <a:lnTo>
                    <a:pt x="0" y="125392"/>
                  </a:lnTo>
                  <a:lnTo>
                    <a:pt x="87775" y="87775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EB68662-1A0F-535D-2F44-C6EC6882E54A}"/>
                </a:ext>
              </a:extLst>
            </p:cNvPr>
            <p:cNvSpPr/>
            <p:nvPr/>
          </p:nvSpPr>
          <p:spPr>
            <a:xfrm>
              <a:off x="3931582" y="3918265"/>
              <a:ext cx="130408" cy="130407"/>
            </a:xfrm>
            <a:custGeom>
              <a:avLst/>
              <a:gdLst>
                <a:gd name="csX0" fmla="*/ 65204 w 130408"/>
                <a:gd name="csY0" fmla="*/ 0 h 130407"/>
                <a:gd name="csX1" fmla="*/ 85267 w 130408"/>
                <a:gd name="csY1" fmla="*/ 45141 h 130407"/>
                <a:gd name="csX2" fmla="*/ 130408 w 130408"/>
                <a:gd name="csY2" fmla="*/ 65204 h 130407"/>
                <a:gd name="csX3" fmla="*/ 85267 w 130408"/>
                <a:gd name="csY3" fmla="*/ 85267 h 130407"/>
                <a:gd name="csX4" fmla="*/ 65204 w 130408"/>
                <a:gd name="csY4" fmla="*/ 130408 h 130407"/>
                <a:gd name="csX5" fmla="*/ 45141 w 130408"/>
                <a:gd name="csY5" fmla="*/ 85267 h 130407"/>
                <a:gd name="csX6" fmla="*/ 0 w 130408"/>
                <a:gd name="csY6" fmla="*/ 65204 h 130407"/>
                <a:gd name="csX7" fmla="*/ 45141 w 130408"/>
                <a:gd name="csY7" fmla="*/ 45141 h 130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0408" h="130407">
                  <a:moveTo>
                    <a:pt x="65204" y="0"/>
                  </a:moveTo>
                  <a:lnTo>
                    <a:pt x="85267" y="45141"/>
                  </a:lnTo>
                  <a:lnTo>
                    <a:pt x="130408" y="65204"/>
                  </a:lnTo>
                  <a:lnTo>
                    <a:pt x="85267" y="85267"/>
                  </a:lnTo>
                  <a:lnTo>
                    <a:pt x="65204" y="130408"/>
                  </a:lnTo>
                  <a:lnTo>
                    <a:pt x="45141" y="85267"/>
                  </a:lnTo>
                  <a:lnTo>
                    <a:pt x="0" y="65204"/>
                  </a:lnTo>
                  <a:lnTo>
                    <a:pt x="45141" y="45141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AD05B00-4252-DA5A-7BD8-68EA8ED78B2A}"/>
                </a:ext>
              </a:extLst>
            </p:cNvPr>
            <p:cNvSpPr/>
            <p:nvPr/>
          </p:nvSpPr>
          <p:spPr>
            <a:xfrm rot="18900000">
              <a:off x="3637104" y="4257919"/>
              <a:ext cx="482912" cy="11320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863C77D-A035-9B30-9C3D-C7AE5E020C28}"/>
                </a:ext>
              </a:extLst>
            </p:cNvPr>
            <p:cNvSpPr/>
            <p:nvPr/>
          </p:nvSpPr>
          <p:spPr>
            <a:xfrm rot="18900000">
              <a:off x="4058720" y="4019098"/>
              <a:ext cx="119061" cy="11320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F8456E77-025B-3A13-E5F5-34499DF07E05}"/>
                </a:ext>
              </a:extLst>
            </p:cNvPr>
            <p:cNvSpPr/>
            <p:nvPr/>
          </p:nvSpPr>
          <p:spPr>
            <a:xfrm>
              <a:off x="4069961" y="4233136"/>
              <a:ext cx="130408" cy="130407"/>
            </a:xfrm>
            <a:custGeom>
              <a:avLst/>
              <a:gdLst>
                <a:gd name="csX0" fmla="*/ 65204 w 130408"/>
                <a:gd name="csY0" fmla="*/ 0 h 130407"/>
                <a:gd name="csX1" fmla="*/ 85267 w 130408"/>
                <a:gd name="csY1" fmla="*/ 45141 h 130407"/>
                <a:gd name="csX2" fmla="*/ 130408 w 130408"/>
                <a:gd name="csY2" fmla="*/ 65204 h 130407"/>
                <a:gd name="csX3" fmla="*/ 85267 w 130408"/>
                <a:gd name="csY3" fmla="*/ 85267 h 130407"/>
                <a:gd name="csX4" fmla="*/ 65204 w 130408"/>
                <a:gd name="csY4" fmla="*/ 130408 h 130407"/>
                <a:gd name="csX5" fmla="*/ 45141 w 130408"/>
                <a:gd name="csY5" fmla="*/ 85267 h 130407"/>
                <a:gd name="csX6" fmla="*/ 0 w 130408"/>
                <a:gd name="csY6" fmla="*/ 65204 h 130407"/>
                <a:gd name="csX7" fmla="*/ 45141 w 130408"/>
                <a:gd name="csY7" fmla="*/ 45141 h 1304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0408" h="130407">
                  <a:moveTo>
                    <a:pt x="65204" y="0"/>
                  </a:moveTo>
                  <a:lnTo>
                    <a:pt x="85267" y="45141"/>
                  </a:lnTo>
                  <a:lnTo>
                    <a:pt x="130408" y="65204"/>
                  </a:lnTo>
                  <a:lnTo>
                    <a:pt x="85267" y="85267"/>
                  </a:lnTo>
                  <a:lnTo>
                    <a:pt x="65204" y="130408"/>
                  </a:lnTo>
                  <a:lnTo>
                    <a:pt x="45141" y="85267"/>
                  </a:lnTo>
                  <a:lnTo>
                    <a:pt x="0" y="65204"/>
                  </a:lnTo>
                  <a:lnTo>
                    <a:pt x="45141" y="45141"/>
                  </a:lnTo>
                  <a:close/>
                </a:path>
              </a:pathLst>
            </a:custGeom>
            <a:grpFill/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35E771A-5063-D3FA-7DE0-A67CC40142E8}"/>
              </a:ext>
            </a:extLst>
          </p:cNvPr>
          <p:cNvSpPr txBox="1"/>
          <p:nvPr/>
        </p:nvSpPr>
        <p:spPr>
          <a:xfrm>
            <a:off x="740192" y="1593557"/>
            <a:ext cx="20671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AI 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기반 분석 활용 및 자산 생성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8337538-5B66-86AA-CD65-480D9E88FF1F}"/>
              </a:ext>
            </a:extLst>
          </p:cNvPr>
          <p:cNvSpPr txBox="1"/>
          <p:nvPr/>
        </p:nvSpPr>
        <p:spPr>
          <a:xfrm>
            <a:off x="724952" y="1456464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ko-KR" sz="700" i="0" cap="all" dirty="0">
                <a:solidFill>
                  <a:srgbClr val="64748B"/>
                </a:solidFill>
                <a:effectLst/>
                <a:latin typeface="Urbanist"/>
              </a:rPr>
              <a:t> 01. </a:t>
            </a:r>
            <a:r>
              <a:rPr lang="ko-KR" altLang="ko-KR" sz="700" i="0" cap="all" dirty="0" err="1">
                <a:solidFill>
                  <a:srgbClr val="64748B"/>
                </a:solidFill>
                <a:effectLst/>
                <a:latin typeface="Urbanist"/>
              </a:rPr>
              <a:t>Intelligent</a:t>
            </a:r>
            <a:r>
              <a:rPr lang="ko-KR" altLang="ko-KR" sz="700" i="0" cap="all" dirty="0">
                <a:solidFill>
                  <a:srgbClr val="64748B"/>
                </a:solidFill>
                <a:effectLst/>
                <a:latin typeface="Urbanist"/>
              </a:rPr>
              <a:t> </a:t>
            </a:r>
            <a:r>
              <a:rPr lang="ko-KR" altLang="ko-KR" sz="700" i="0" cap="all" dirty="0" err="1">
                <a:solidFill>
                  <a:srgbClr val="64748B"/>
                </a:solidFill>
                <a:effectLst/>
                <a:latin typeface="Urbanist"/>
              </a:rPr>
              <a:t>Creation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sp>
        <p:nvSpPr>
          <p:cNvPr id="199" name="Shape 4">
            <a:extLst>
              <a:ext uri="{FF2B5EF4-FFF2-40B4-BE49-F238E27FC236}">
                <a16:creationId xmlns:a16="http://schemas.microsoft.com/office/drawing/2014/main" id="{A5085270-4FF3-901A-5AEE-02EB7A49FA5C}"/>
              </a:ext>
            </a:extLst>
          </p:cNvPr>
          <p:cNvSpPr/>
          <p:nvPr/>
        </p:nvSpPr>
        <p:spPr>
          <a:xfrm>
            <a:off x="3407100" y="1519003"/>
            <a:ext cx="285883" cy="269666"/>
          </a:xfrm>
          <a:prstGeom prst="roundRect">
            <a:avLst>
              <a:gd name="adj" fmla="val 14302"/>
            </a:avLst>
          </a:prstGeom>
          <a:solidFill>
            <a:srgbClr val="13CEC4"/>
          </a:solidFill>
          <a:ln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D9E79A9B-F834-7B08-903E-020EB452CA0B}"/>
              </a:ext>
            </a:extLst>
          </p:cNvPr>
          <p:cNvSpPr txBox="1"/>
          <p:nvPr/>
        </p:nvSpPr>
        <p:spPr>
          <a:xfrm>
            <a:off x="3692983" y="1593557"/>
            <a:ext cx="1658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중앙 저장 및 권한 제어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8E9EA69-DF49-7761-F454-C9CF882EF73A}"/>
              </a:ext>
            </a:extLst>
          </p:cNvPr>
          <p:cNvSpPr txBox="1"/>
          <p:nvPr/>
        </p:nvSpPr>
        <p:spPr>
          <a:xfrm>
            <a:off x="3677743" y="1456464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700" i="0" cap="all" dirty="0">
                <a:solidFill>
                  <a:srgbClr val="64748B"/>
                </a:solidFill>
                <a:effectLst/>
                <a:latin typeface="Urbanist"/>
              </a:rPr>
              <a:t>02. Storage &amp; Control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sp>
        <p:nvSpPr>
          <p:cNvPr id="216" name="Shape 4">
            <a:extLst>
              <a:ext uri="{FF2B5EF4-FFF2-40B4-BE49-F238E27FC236}">
                <a16:creationId xmlns:a16="http://schemas.microsoft.com/office/drawing/2014/main" id="{C8845DA5-5B37-ECC2-C6E0-7932387BCF5F}"/>
              </a:ext>
            </a:extLst>
          </p:cNvPr>
          <p:cNvSpPr/>
          <p:nvPr/>
        </p:nvSpPr>
        <p:spPr>
          <a:xfrm>
            <a:off x="6367784" y="1525815"/>
            <a:ext cx="285883" cy="269666"/>
          </a:xfrm>
          <a:prstGeom prst="roundRect">
            <a:avLst>
              <a:gd name="adj" fmla="val 14302"/>
            </a:avLst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0770B81-A48E-5876-2D4D-282B9F920BB3}"/>
              </a:ext>
            </a:extLst>
          </p:cNvPr>
          <p:cNvSpPr txBox="1"/>
          <p:nvPr/>
        </p:nvSpPr>
        <p:spPr>
          <a:xfrm>
            <a:off x="6653667" y="1600369"/>
            <a:ext cx="16588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전사 확산 및 배포 액션</a:t>
            </a:r>
            <a:endParaRPr lang="ko-KR" altLang="ko-KR" sz="3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0902B4C-43BF-C752-EA2A-9622005F98C2}"/>
              </a:ext>
            </a:extLst>
          </p:cNvPr>
          <p:cNvSpPr txBox="1"/>
          <p:nvPr/>
        </p:nvSpPr>
        <p:spPr>
          <a:xfrm>
            <a:off x="6638427" y="1463276"/>
            <a:ext cx="20019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700" i="0" cap="all" dirty="0">
                <a:solidFill>
                  <a:srgbClr val="64748B"/>
                </a:solidFill>
                <a:effectLst/>
                <a:latin typeface="Urbanist"/>
              </a:rPr>
              <a:t>03. Distribution &amp; Action</a:t>
            </a:r>
            <a:endParaRPr lang="ko-KR" altLang="ko-KR" sz="700" i="0" cap="all" dirty="0">
              <a:solidFill>
                <a:srgbClr val="64748B"/>
              </a:solidFill>
              <a:effectLst/>
              <a:latin typeface="Urbanist"/>
            </a:endParaRPr>
          </a:p>
        </p:txBody>
      </p: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DA020300-9253-BFD7-159D-4005A334A2BD}"/>
              </a:ext>
            </a:extLst>
          </p:cNvPr>
          <p:cNvGrpSpPr/>
          <p:nvPr/>
        </p:nvGrpSpPr>
        <p:grpSpPr>
          <a:xfrm>
            <a:off x="3468854" y="1593557"/>
            <a:ext cx="160482" cy="121945"/>
            <a:chOff x="5185735" y="-401107"/>
            <a:chExt cx="875937" cy="773695"/>
          </a:xfrm>
          <a:solidFill>
            <a:schemeClr val="bg1"/>
          </a:solidFill>
        </p:grpSpPr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FEACD0C5-BA33-36FF-6486-E2BA1202E04C}"/>
                </a:ext>
              </a:extLst>
            </p:cNvPr>
            <p:cNvSpPr/>
            <p:nvPr/>
          </p:nvSpPr>
          <p:spPr>
            <a:xfrm>
              <a:off x="5186094" y="-89596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331D1DC8-D60E-1616-7C6C-BED7FD4C25B8}"/>
                </a:ext>
              </a:extLst>
            </p:cNvPr>
            <p:cNvSpPr/>
            <p:nvPr/>
          </p:nvSpPr>
          <p:spPr>
            <a:xfrm>
              <a:off x="5186096" y="-401107"/>
              <a:ext cx="875576" cy="371475"/>
            </a:xfrm>
            <a:custGeom>
              <a:avLst/>
              <a:gdLst>
                <a:gd name="csX0" fmla="*/ 437788 w 875576"/>
                <a:gd name="csY0" fmla="*/ 0 h 371475"/>
                <a:gd name="csX1" fmla="*/ 0 w 875576"/>
                <a:gd name="csY1" fmla="*/ 185738 h 371475"/>
                <a:gd name="csX2" fmla="*/ 437788 w 875576"/>
                <a:gd name="csY2" fmla="*/ 371475 h 371475"/>
                <a:gd name="csX3" fmla="*/ 875576 w 875576"/>
                <a:gd name="csY3" fmla="*/ 185738 h 371475"/>
                <a:gd name="csX4" fmla="*/ 437788 w 875576"/>
                <a:gd name="csY4" fmla="*/ 0 h 37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75576" h="371475">
                  <a:moveTo>
                    <a:pt x="437788" y="0"/>
                  </a:moveTo>
                  <a:lnTo>
                    <a:pt x="0" y="185738"/>
                  </a:lnTo>
                  <a:lnTo>
                    <a:pt x="437788" y="371475"/>
                  </a:lnTo>
                  <a:lnTo>
                    <a:pt x="875576" y="185738"/>
                  </a:lnTo>
                  <a:lnTo>
                    <a:pt x="43778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D05D8881-9C88-44C7-2329-CF930632092B}"/>
                </a:ext>
              </a:extLst>
            </p:cNvPr>
            <p:cNvSpPr/>
            <p:nvPr/>
          </p:nvSpPr>
          <p:spPr>
            <a:xfrm>
              <a:off x="5185735" y="107532"/>
              <a:ext cx="875578" cy="265056"/>
            </a:xfrm>
            <a:custGeom>
              <a:avLst/>
              <a:gdLst>
                <a:gd name="csX0" fmla="*/ 437788 w 875576"/>
                <a:gd name="csY0" fmla="*/ 106413 h 265052"/>
                <a:gd name="csX1" fmla="*/ 186957 w 875576"/>
                <a:gd name="csY1" fmla="*/ 0 h 265052"/>
                <a:gd name="csX2" fmla="*/ 0 w 875576"/>
                <a:gd name="csY2" fmla="*/ 79315 h 265052"/>
                <a:gd name="csX3" fmla="*/ 437788 w 875576"/>
                <a:gd name="csY3" fmla="*/ 265052 h 265052"/>
                <a:gd name="csX4" fmla="*/ 875576 w 875576"/>
                <a:gd name="csY4" fmla="*/ 79315 h 265052"/>
                <a:gd name="csX5" fmla="*/ 688619 w 875576"/>
                <a:gd name="csY5" fmla="*/ 0 h 265052"/>
                <a:gd name="csX6" fmla="*/ 437788 w 875576"/>
                <a:gd name="csY6" fmla="*/ 106413 h 26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5576" h="265052">
                  <a:moveTo>
                    <a:pt x="437788" y="106413"/>
                  </a:moveTo>
                  <a:lnTo>
                    <a:pt x="186957" y="0"/>
                  </a:lnTo>
                  <a:lnTo>
                    <a:pt x="0" y="79315"/>
                  </a:lnTo>
                  <a:lnTo>
                    <a:pt x="437788" y="265052"/>
                  </a:lnTo>
                  <a:lnTo>
                    <a:pt x="875576" y="79315"/>
                  </a:lnTo>
                  <a:lnTo>
                    <a:pt x="688619" y="0"/>
                  </a:lnTo>
                  <a:lnTo>
                    <a:pt x="437788" y="1064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41" name="그래픽 240">
            <a:extLst>
              <a:ext uri="{FF2B5EF4-FFF2-40B4-BE49-F238E27FC236}">
                <a16:creationId xmlns:a16="http://schemas.microsoft.com/office/drawing/2014/main" id="{23FA493A-73FC-71CC-CEE2-AB6709220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0644" y="1575694"/>
            <a:ext cx="188862" cy="188862"/>
          </a:xfrm>
          <a:prstGeom prst="rect">
            <a:avLst/>
          </a:prstGeom>
        </p:spPr>
      </p:pic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B828951A-508B-9F33-D520-D2C914453026}"/>
              </a:ext>
            </a:extLst>
          </p:cNvPr>
          <p:cNvCxnSpPr>
            <a:cxnSpLocks/>
          </p:cNvCxnSpPr>
          <p:nvPr/>
        </p:nvCxnSpPr>
        <p:spPr>
          <a:xfrm>
            <a:off x="286512" y="1893455"/>
            <a:ext cx="26973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148C9840-4FD2-5A83-EFF9-DF4073227CA2}"/>
              </a:ext>
            </a:extLst>
          </p:cNvPr>
          <p:cNvCxnSpPr>
            <a:cxnSpLocks/>
          </p:cNvCxnSpPr>
          <p:nvPr/>
        </p:nvCxnSpPr>
        <p:spPr>
          <a:xfrm>
            <a:off x="3240402" y="1887359"/>
            <a:ext cx="2697388" cy="0"/>
          </a:xfrm>
          <a:prstGeom prst="line">
            <a:avLst/>
          </a:prstGeom>
          <a:ln w="9525">
            <a:solidFill>
              <a:srgbClr val="13CE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16054FAF-54B3-DA29-3A69-B9473CB1E425}"/>
              </a:ext>
            </a:extLst>
          </p:cNvPr>
          <p:cNvCxnSpPr>
            <a:cxnSpLocks/>
          </p:cNvCxnSpPr>
          <p:nvPr/>
        </p:nvCxnSpPr>
        <p:spPr>
          <a:xfrm>
            <a:off x="6201787" y="1887359"/>
            <a:ext cx="26973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hape 4">
            <a:extLst>
              <a:ext uri="{FF2B5EF4-FFF2-40B4-BE49-F238E27FC236}">
                <a16:creationId xmlns:a16="http://schemas.microsoft.com/office/drawing/2014/main" id="{8B7A1CAB-8A92-A36D-D81B-DF8D54DE955F}"/>
              </a:ext>
            </a:extLst>
          </p:cNvPr>
          <p:cNvSpPr/>
          <p:nvPr/>
        </p:nvSpPr>
        <p:spPr>
          <a:xfrm>
            <a:off x="445456" y="2039949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1" name="Shape 4">
            <a:extLst>
              <a:ext uri="{FF2B5EF4-FFF2-40B4-BE49-F238E27FC236}">
                <a16:creationId xmlns:a16="http://schemas.microsoft.com/office/drawing/2014/main" id="{1334F401-97A7-48D9-D178-180A51AB5D0D}"/>
              </a:ext>
            </a:extLst>
          </p:cNvPr>
          <p:cNvSpPr/>
          <p:nvPr/>
        </p:nvSpPr>
        <p:spPr>
          <a:xfrm>
            <a:off x="445456" y="2678004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2" name="Shape 4">
            <a:extLst>
              <a:ext uri="{FF2B5EF4-FFF2-40B4-BE49-F238E27FC236}">
                <a16:creationId xmlns:a16="http://schemas.microsoft.com/office/drawing/2014/main" id="{48D9CE56-04B8-E96A-5CDB-99E56B658AF3}"/>
              </a:ext>
            </a:extLst>
          </p:cNvPr>
          <p:cNvSpPr/>
          <p:nvPr/>
        </p:nvSpPr>
        <p:spPr>
          <a:xfrm>
            <a:off x="445456" y="3319832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72" name="그래픽 271">
            <a:extLst>
              <a:ext uri="{FF2B5EF4-FFF2-40B4-BE49-F238E27FC236}">
                <a16:creationId xmlns:a16="http://schemas.microsoft.com/office/drawing/2014/main" id="{BA8D83E4-EBEB-72A5-BD4E-3E2D57612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251" r="15922" b="10566"/>
          <a:stretch>
            <a:fillRect/>
          </a:stretch>
        </p:blipFill>
        <p:spPr>
          <a:xfrm>
            <a:off x="497699" y="2105676"/>
            <a:ext cx="210879" cy="196097"/>
          </a:xfrm>
          <a:prstGeom prst="rect">
            <a:avLst/>
          </a:prstGeom>
        </p:spPr>
      </p:pic>
      <p:pic>
        <p:nvPicPr>
          <p:cNvPr id="274" name="그래픽 273" descr="블로그 단색으로 채워진">
            <a:extLst>
              <a:ext uri="{FF2B5EF4-FFF2-40B4-BE49-F238E27FC236}">
                <a16:creationId xmlns:a16="http://schemas.microsoft.com/office/drawing/2014/main" id="{B8A0EEA5-D739-D139-CE76-497759D424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675" y="3370784"/>
            <a:ext cx="163501" cy="163501"/>
          </a:xfrm>
          <a:prstGeom prst="rect">
            <a:avLst/>
          </a:prstGeom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C5F2A79D-9F62-1796-71EE-7C7E195FFD9C}"/>
              </a:ext>
            </a:extLst>
          </p:cNvPr>
          <p:cNvSpPr txBox="1"/>
          <p:nvPr/>
        </p:nvSpPr>
        <p:spPr>
          <a:xfrm>
            <a:off x="666592" y="210496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분석 연동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(Handoff)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747F3E4-79F3-619B-B818-694FE6599458}"/>
              </a:ext>
            </a:extLst>
          </p:cNvPr>
          <p:cNvSpPr txBox="1"/>
          <p:nvPr/>
        </p:nvSpPr>
        <p:spPr>
          <a:xfrm>
            <a:off x="509709" y="2275089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Agent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와 대화하며 도출한 차트와 분석 결과를 클릭 한 번에 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Space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 정규 대시보드 뷰로 즉시 변환 및 저장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D750604-421A-2CC8-2DC5-C7DE0AA65C26}"/>
              </a:ext>
            </a:extLst>
          </p:cNvPr>
          <p:cNvSpPr txBox="1"/>
          <p:nvPr/>
        </p:nvSpPr>
        <p:spPr>
          <a:xfrm>
            <a:off x="666592" y="274615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대시보드 자동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생성기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66014E4-7AE0-3444-DB28-0A1A18D906DA}"/>
              </a:ext>
            </a:extLst>
          </p:cNvPr>
          <p:cNvSpPr txBox="1"/>
          <p:nvPr/>
        </p:nvSpPr>
        <p:spPr>
          <a:xfrm>
            <a:off x="530948" y="2938995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데이터 소스에 연결하면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AI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 데이터 구조를 인지해 최적의 시각화 레이아웃을 스스로 구성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이후 대화형 편집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40CDA60A-F622-D36A-E1AA-B4B0856BBEB2}"/>
              </a:ext>
            </a:extLst>
          </p:cNvPr>
          <p:cNvSpPr txBox="1"/>
          <p:nvPr/>
        </p:nvSpPr>
        <p:spPr>
          <a:xfrm>
            <a:off x="666592" y="338603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지능형 문서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생성기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1EEA8B09-2723-5C08-7658-E04B6310BB52}"/>
              </a:ext>
            </a:extLst>
          </p:cNvPr>
          <p:cNvSpPr txBox="1"/>
          <p:nvPr/>
        </p:nvSpPr>
        <p:spPr>
          <a:xfrm>
            <a:off x="562287" y="3551084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분석된 데이터를 바탕으로 경영진 보고에 적합한 양식의 서술형 리포트 및 문서를 자동 작성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E7199ABF-EB57-8F04-2864-4CC88CCAAE55}"/>
              </a:ext>
            </a:extLst>
          </p:cNvPr>
          <p:cNvSpPr txBox="1"/>
          <p:nvPr/>
        </p:nvSpPr>
        <p:spPr>
          <a:xfrm>
            <a:off x="3383328" y="2039051"/>
            <a:ext cx="2417376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생성된 모든 자산은 개인 및 팀 워크스페이스에 보존되며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안전한 권한 제어 하에 관리됩니다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  <a:endParaRPr lang="en-US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3" name="Shape 4">
            <a:extLst>
              <a:ext uri="{FF2B5EF4-FFF2-40B4-BE49-F238E27FC236}">
                <a16:creationId xmlns:a16="http://schemas.microsoft.com/office/drawing/2014/main" id="{B4D426DD-8C4D-7FD9-40DB-54376A70507D}"/>
              </a:ext>
            </a:extLst>
          </p:cNvPr>
          <p:cNvSpPr/>
          <p:nvPr/>
        </p:nvSpPr>
        <p:spPr>
          <a:xfrm rot="16200000">
            <a:off x="4030997" y="1852276"/>
            <a:ext cx="1118744" cy="2290991"/>
          </a:xfrm>
          <a:prstGeom prst="roundRect">
            <a:avLst>
              <a:gd name="adj" fmla="val 2294"/>
            </a:avLst>
          </a:prstGeom>
          <a:solidFill>
            <a:srgbClr val="FAFB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1" name="Shape 4">
            <a:extLst>
              <a:ext uri="{FF2B5EF4-FFF2-40B4-BE49-F238E27FC236}">
                <a16:creationId xmlns:a16="http://schemas.microsoft.com/office/drawing/2014/main" id="{6540FB04-0F40-7814-0DA3-3DCBE1B62676}"/>
              </a:ext>
            </a:extLst>
          </p:cNvPr>
          <p:cNvSpPr/>
          <p:nvPr/>
        </p:nvSpPr>
        <p:spPr>
          <a:xfrm>
            <a:off x="3444873" y="2445533"/>
            <a:ext cx="2290991" cy="201929"/>
          </a:xfrm>
          <a:prstGeom prst="roundRect">
            <a:avLst>
              <a:gd name="adj" fmla="val 2016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36000" tIns="10800" rIns="36000" bIns="10800">
            <a:noAutofit/>
          </a:bodyPr>
          <a:lstStyle/>
          <a:p>
            <a:endParaRPr lang="ko-KR" altLang="en-US" sz="5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86D2DC6-E78D-FB51-9338-B6B481F408E4}"/>
              </a:ext>
            </a:extLst>
          </p:cNvPr>
          <p:cNvSpPr txBox="1"/>
          <p:nvPr/>
        </p:nvSpPr>
        <p:spPr>
          <a:xfrm>
            <a:off x="3644135" y="2467294"/>
            <a:ext cx="198036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Team Workspace</a:t>
            </a:r>
          </a:p>
        </p:txBody>
      </p:sp>
      <p:pic>
        <p:nvPicPr>
          <p:cNvPr id="297" name="그래픽 296">
            <a:extLst>
              <a:ext uri="{FF2B5EF4-FFF2-40B4-BE49-F238E27FC236}">
                <a16:creationId xmlns:a16="http://schemas.microsoft.com/office/drawing/2014/main" id="{D3C8D9D9-6C6A-53C1-2B26-958C32DE0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1953" y="2474664"/>
            <a:ext cx="139394" cy="139394"/>
          </a:xfrm>
          <a:prstGeom prst="rect">
            <a:avLst/>
          </a:prstGeom>
        </p:spPr>
      </p:pic>
      <p:sp>
        <p:nvSpPr>
          <p:cNvPr id="301" name="Shape 4">
            <a:extLst>
              <a:ext uri="{FF2B5EF4-FFF2-40B4-BE49-F238E27FC236}">
                <a16:creationId xmlns:a16="http://schemas.microsoft.com/office/drawing/2014/main" id="{F14A00AA-8091-B59B-ADA5-28A22B4B3446}"/>
              </a:ext>
            </a:extLst>
          </p:cNvPr>
          <p:cNvSpPr/>
          <p:nvPr/>
        </p:nvSpPr>
        <p:spPr>
          <a:xfrm>
            <a:off x="3521953" y="2714916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13389B7A-92E2-B079-9691-07CD33CDB5FD}"/>
              </a:ext>
            </a:extLst>
          </p:cNvPr>
          <p:cNvSpPr txBox="1"/>
          <p:nvPr/>
        </p:nvSpPr>
        <p:spPr>
          <a:xfrm>
            <a:off x="3715468" y="2741660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25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년 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분기 매출 원인 분석 대시보드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05" name="Shape 4">
            <a:extLst>
              <a:ext uri="{FF2B5EF4-FFF2-40B4-BE49-F238E27FC236}">
                <a16:creationId xmlns:a16="http://schemas.microsoft.com/office/drawing/2014/main" id="{4CE51A2A-522E-6C16-C534-A4188CCE4586}"/>
              </a:ext>
            </a:extLst>
          </p:cNvPr>
          <p:cNvSpPr/>
          <p:nvPr/>
        </p:nvSpPr>
        <p:spPr>
          <a:xfrm>
            <a:off x="3521953" y="2997324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4">
            <a:extLst>
              <a:ext uri="{FF2B5EF4-FFF2-40B4-BE49-F238E27FC236}">
                <a16:creationId xmlns:a16="http://schemas.microsoft.com/office/drawing/2014/main" id="{7A247FAD-2F01-B32C-53DD-239F5CFE7B6A}"/>
              </a:ext>
            </a:extLst>
          </p:cNvPr>
          <p:cNvSpPr/>
          <p:nvPr/>
        </p:nvSpPr>
        <p:spPr>
          <a:xfrm>
            <a:off x="3521953" y="3279733"/>
            <a:ext cx="2146952" cy="200227"/>
          </a:xfrm>
          <a:prstGeom prst="roundRect">
            <a:avLst>
              <a:gd name="adj" fmla="val 8244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44CE771E-3543-35C8-9F61-68A6E101E68B}"/>
              </a:ext>
            </a:extLst>
          </p:cNvPr>
          <p:cNvSpPr txBox="1"/>
          <p:nvPr/>
        </p:nvSpPr>
        <p:spPr>
          <a:xfrm>
            <a:off x="3715468" y="3025656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신규 마케팅 캠페인 성과 리포트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BEB64D33-D233-9D46-8614-F4763066F589}"/>
              </a:ext>
            </a:extLst>
          </p:cNvPr>
          <p:cNvSpPr txBox="1"/>
          <p:nvPr/>
        </p:nvSpPr>
        <p:spPr>
          <a:xfrm>
            <a:off x="3715468" y="3302826"/>
            <a:ext cx="1488618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개인 테스트 대시보드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문서 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(Draft)</a:t>
            </a:r>
          </a:p>
        </p:txBody>
      </p:sp>
      <p:sp>
        <p:nvSpPr>
          <p:cNvPr id="334" name="자유형: 도형 333">
            <a:extLst>
              <a:ext uri="{FF2B5EF4-FFF2-40B4-BE49-F238E27FC236}">
                <a16:creationId xmlns:a16="http://schemas.microsoft.com/office/drawing/2014/main" id="{6805E7A9-7A4D-5E91-71A3-A1DF55490EAC}"/>
              </a:ext>
            </a:extLst>
          </p:cNvPr>
          <p:cNvSpPr/>
          <p:nvPr/>
        </p:nvSpPr>
        <p:spPr>
          <a:xfrm rot="5400000">
            <a:off x="3593126" y="2757664"/>
            <a:ext cx="104812" cy="104812"/>
          </a:xfrm>
          <a:custGeom>
            <a:avLst/>
            <a:gdLst>
              <a:gd name="csX0" fmla="*/ 9248 w 104812"/>
              <a:gd name="csY0" fmla="*/ 0 h 104812"/>
              <a:gd name="csX1" fmla="*/ 0 w 104812"/>
              <a:gd name="csY1" fmla="*/ 0 h 104812"/>
              <a:gd name="csX2" fmla="*/ 0 w 104812"/>
              <a:gd name="csY2" fmla="*/ 104813 h 104812"/>
              <a:gd name="csX3" fmla="*/ 104813 w 104812"/>
              <a:gd name="csY3" fmla="*/ 104813 h 104812"/>
              <a:gd name="csX4" fmla="*/ 104813 w 104812"/>
              <a:gd name="csY4" fmla="*/ 95565 h 104812"/>
              <a:gd name="csX5" fmla="*/ 9248 w 104812"/>
              <a:gd name="csY5" fmla="*/ 95565 h 10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4812" h="104812">
                <a:moveTo>
                  <a:pt x="9248" y="0"/>
                </a:moveTo>
                <a:lnTo>
                  <a:pt x="0" y="0"/>
                </a:lnTo>
                <a:lnTo>
                  <a:pt x="0" y="104813"/>
                </a:lnTo>
                <a:lnTo>
                  <a:pt x="104813" y="104813"/>
                </a:lnTo>
                <a:lnTo>
                  <a:pt x="104813" y="95565"/>
                </a:lnTo>
                <a:lnTo>
                  <a:pt x="9248" y="955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488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FCCFC668-9824-3625-6CBC-57981D04C1BE}"/>
              </a:ext>
            </a:extLst>
          </p:cNvPr>
          <p:cNvSpPr/>
          <p:nvPr/>
        </p:nvSpPr>
        <p:spPr>
          <a:xfrm rot="5400000">
            <a:off x="3628338" y="2757664"/>
            <a:ext cx="20516" cy="53947"/>
          </a:xfrm>
          <a:prstGeom prst="rect">
            <a:avLst/>
          </a:prstGeom>
          <a:solidFill>
            <a:srgbClr val="00BFA5"/>
          </a:solidFill>
          <a:ln w="1488" cap="flat">
            <a:solidFill>
              <a:srgbClr val="00BFA5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0C86FE21-B149-B09C-AF3F-FD68EB4217DA}"/>
              </a:ext>
            </a:extLst>
          </p:cNvPr>
          <p:cNvSpPr/>
          <p:nvPr/>
        </p:nvSpPr>
        <p:spPr>
          <a:xfrm rot="5400000">
            <a:off x="3644522" y="2772220"/>
            <a:ext cx="20516" cy="86316"/>
          </a:xfrm>
          <a:prstGeom prst="rect">
            <a:avLst/>
          </a:prstGeom>
          <a:solidFill>
            <a:srgbClr val="0070C0"/>
          </a:solidFill>
          <a:ln w="1488" cap="flat">
            <a:solidFill>
              <a:srgbClr val="3B82F6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B1E2112B-A57A-C105-2A1A-428A22B84182}"/>
              </a:ext>
            </a:extLst>
          </p:cNvPr>
          <p:cNvSpPr/>
          <p:nvPr/>
        </p:nvSpPr>
        <p:spPr>
          <a:xfrm rot="5400000">
            <a:off x="3616116" y="2830602"/>
            <a:ext cx="22568" cy="27744"/>
          </a:xfrm>
          <a:prstGeom prst="rect">
            <a:avLst/>
          </a:prstGeom>
          <a:solidFill>
            <a:srgbClr val="C00000"/>
          </a:solidFill>
          <a:ln w="1488" cap="flat">
            <a:solidFill>
              <a:srgbClr val="C00000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16" name="그래픽 315">
            <a:extLst>
              <a:ext uri="{FF2B5EF4-FFF2-40B4-BE49-F238E27FC236}">
                <a16:creationId xmlns:a16="http://schemas.microsoft.com/office/drawing/2014/main" id="{1077A9A7-8501-11AF-8DB6-E7255BBD7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5931" y="3033031"/>
            <a:ext cx="148113" cy="148113"/>
          </a:xfrm>
          <a:prstGeom prst="rect">
            <a:avLst/>
          </a:prstGeom>
        </p:spPr>
      </p:pic>
      <p:pic>
        <p:nvPicPr>
          <p:cNvPr id="317" name="그래픽 316">
            <a:extLst>
              <a:ext uri="{FF2B5EF4-FFF2-40B4-BE49-F238E27FC236}">
                <a16:creationId xmlns:a16="http://schemas.microsoft.com/office/drawing/2014/main" id="{71F4E17F-E50C-BF65-64C8-A3747C4FA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5931" y="3312275"/>
            <a:ext cx="148176" cy="148176"/>
          </a:xfrm>
          <a:prstGeom prst="rect">
            <a:avLst/>
          </a:prstGeom>
        </p:spPr>
      </p:pic>
      <p:pic>
        <p:nvPicPr>
          <p:cNvPr id="328" name="그래픽 327" descr="문서 단색으로 채워진">
            <a:extLst>
              <a:ext uri="{FF2B5EF4-FFF2-40B4-BE49-F238E27FC236}">
                <a16:creationId xmlns:a16="http://schemas.microsoft.com/office/drawing/2014/main" id="{E23CE5B4-FEDD-593F-06AF-5DEDFCA8AF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65442" y="3018656"/>
            <a:ext cx="148112" cy="148112"/>
          </a:xfrm>
          <a:prstGeom prst="rect">
            <a:avLst/>
          </a:prstGeom>
        </p:spPr>
      </p:pic>
      <p:pic>
        <p:nvPicPr>
          <p:cNvPr id="330" name="그래픽 329" descr="사용자 단색으로 채워진">
            <a:extLst>
              <a:ext uri="{FF2B5EF4-FFF2-40B4-BE49-F238E27FC236}">
                <a16:creationId xmlns:a16="http://schemas.microsoft.com/office/drawing/2014/main" id="{C347C327-0A8A-DD6C-3EEC-8D204B873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8566" y="2714932"/>
            <a:ext cx="200227" cy="200227"/>
          </a:xfrm>
          <a:prstGeom prst="rect">
            <a:avLst/>
          </a:prstGeom>
        </p:spPr>
      </p:pic>
      <p:pic>
        <p:nvPicPr>
          <p:cNvPr id="331" name="그래픽 330" descr="가로 막대형 차트 단색으로 채워진">
            <a:extLst>
              <a:ext uri="{FF2B5EF4-FFF2-40B4-BE49-F238E27FC236}">
                <a16:creationId xmlns:a16="http://schemas.microsoft.com/office/drawing/2014/main" id="{8AD340A2-755D-FA58-D539-39168A45C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1546" y="3302967"/>
            <a:ext cx="114608" cy="109941"/>
          </a:xfrm>
          <a:prstGeom prst="rect">
            <a:avLst/>
          </a:prstGeom>
        </p:spPr>
      </p:pic>
      <p:pic>
        <p:nvPicPr>
          <p:cNvPr id="332" name="그래픽 331" descr="문서 단색으로 채워진">
            <a:extLst>
              <a:ext uri="{FF2B5EF4-FFF2-40B4-BE49-F238E27FC236}">
                <a16:creationId xmlns:a16="http://schemas.microsoft.com/office/drawing/2014/main" id="{9B1CDB1E-C109-95AB-9D25-13348782D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30285" y="3358788"/>
            <a:ext cx="83269" cy="83269"/>
          </a:xfrm>
          <a:prstGeom prst="rect">
            <a:avLst/>
          </a:prstGeom>
        </p:spPr>
      </p:pic>
      <p:sp>
        <p:nvSpPr>
          <p:cNvPr id="339" name="Shape 4">
            <a:extLst>
              <a:ext uri="{FF2B5EF4-FFF2-40B4-BE49-F238E27FC236}">
                <a16:creationId xmlns:a16="http://schemas.microsoft.com/office/drawing/2014/main" id="{44011C01-10AD-D9E5-A195-BAAC59484408}"/>
              </a:ext>
            </a:extLst>
          </p:cNvPr>
          <p:cNvSpPr/>
          <p:nvPr/>
        </p:nvSpPr>
        <p:spPr>
          <a:xfrm>
            <a:off x="6367784" y="2021661"/>
            <a:ext cx="2383088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0BF4DB38-2874-0942-8A78-C2BE75AEE7EA}"/>
              </a:ext>
            </a:extLst>
          </p:cNvPr>
          <p:cNvSpPr txBox="1"/>
          <p:nvPr/>
        </p:nvSpPr>
        <p:spPr>
          <a:xfrm>
            <a:off x="6588920" y="2086672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뷰 공유 및 코멘트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241B0D68-B8A7-52FF-B505-D31198B07B70}"/>
              </a:ext>
            </a:extLst>
          </p:cNvPr>
          <p:cNvSpPr txBox="1"/>
          <p:nvPr/>
        </p:nvSpPr>
        <p:spPr>
          <a:xfrm>
            <a:off x="6432037" y="2268993"/>
            <a:ext cx="2266257" cy="363556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URL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링크 하나로 최신 데이터가 반영된 뷰를 공유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,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공유된 화면 위에서 팀원 간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협업이 가능합니다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  <a:p>
            <a:endParaRPr lang="en-US" altLang="ko-KR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44" name="그래픽 343" descr="공유 단색으로 채워진">
            <a:extLst>
              <a:ext uri="{FF2B5EF4-FFF2-40B4-BE49-F238E27FC236}">
                <a16:creationId xmlns:a16="http://schemas.microsoft.com/office/drawing/2014/main" id="{6D136DF4-2114-E4C0-1A1F-9FAE30D47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9999" y="2036761"/>
            <a:ext cx="264239" cy="264239"/>
          </a:xfrm>
          <a:prstGeom prst="rect">
            <a:avLst/>
          </a:prstGeom>
        </p:spPr>
      </p:pic>
      <p:sp>
        <p:nvSpPr>
          <p:cNvPr id="345" name="Shape 4">
            <a:extLst>
              <a:ext uri="{FF2B5EF4-FFF2-40B4-BE49-F238E27FC236}">
                <a16:creationId xmlns:a16="http://schemas.microsoft.com/office/drawing/2014/main" id="{5FFACA73-6D7E-8EBD-BA89-E656D325F06B}"/>
              </a:ext>
            </a:extLst>
          </p:cNvPr>
          <p:cNvSpPr/>
          <p:nvPr/>
        </p:nvSpPr>
        <p:spPr>
          <a:xfrm>
            <a:off x="6367784" y="2759084"/>
            <a:ext cx="2383088" cy="81331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1D2756A-4FF4-26E7-F5F1-EDFB02A794E4}"/>
              </a:ext>
            </a:extLst>
          </p:cNvPr>
          <p:cNvSpPr txBox="1"/>
          <p:nvPr/>
        </p:nvSpPr>
        <p:spPr>
          <a:xfrm>
            <a:off x="6588920" y="2824095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문서 파일 추출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(Export)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EF03CE4-AC83-24B7-8CD1-BB831FC841C1}"/>
              </a:ext>
            </a:extLst>
          </p:cNvPr>
          <p:cNvSpPr txBox="1"/>
          <p:nvPr/>
        </p:nvSpPr>
        <p:spPr>
          <a:xfrm>
            <a:off x="6432037" y="3006416"/>
            <a:ext cx="2266257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Space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내의 자산을 현업에서 바로 사용할 수 있는 상용 오피스 포맷으로 원 클릭 다운로드합니다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350" name="그래픽 349" descr="다운로드 단색으로 채워진">
            <a:extLst>
              <a:ext uri="{FF2B5EF4-FFF2-40B4-BE49-F238E27FC236}">
                <a16:creationId xmlns:a16="http://schemas.microsoft.com/office/drawing/2014/main" id="{A7FF01B9-18B2-7A17-16B3-AE84D6EF7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47059" y="2808469"/>
            <a:ext cx="193236" cy="193236"/>
          </a:xfrm>
          <a:prstGeom prst="rect">
            <a:avLst/>
          </a:prstGeom>
        </p:spPr>
      </p:pic>
      <p:sp>
        <p:nvSpPr>
          <p:cNvPr id="352" name="Shape 4">
            <a:extLst>
              <a:ext uri="{FF2B5EF4-FFF2-40B4-BE49-F238E27FC236}">
                <a16:creationId xmlns:a16="http://schemas.microsoft.com/office/drawing/2014/main" id="{A3E2B4F5-4503-EB4A-CBF3-77C533958B9D}"/>
              </a:ext>
            </a:extLst>
          </p:cNvPr>
          <p:cNvSpPr/>
          <p:nvPr/>
        </p:nvSpPr>
        <p:spPr>
          <a:xfrm>
            <a:off x="6447059" y="3297824"/>
            <a:ext cx="857981" cy="214328"/>
          </a:xfrm>
          <a:prstGeom prst="roundRect">
            <a:avLst>
              <a:gd name="adj" fmla="val 10466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CB8B260-F443-881A-306A-971537D33445}"/>
              </a:ext>
            </a:extLst>
          </p:cNvPr>
          <p:cNvGrpSpPr/>
          <p:nvPr/>
        </p:nvGrpSpPr>
        <p:grpSpPr>
          <a:xfrm>
            <a:off x="6494949" y="3316590"/>
            <a:ext cx="135976" cy="174275"/>
            <a:chOff x="5154355" y="1198737"/>
            <a:chExt cx="401255" cy="514271"/>
          </a:xfrm>
        </p:grpSpPr>
        <p:sp>
          <p:nvSpPr>
            <p:cNvPr id="312" name="자유형: 도형 311">
              <a:extLst>
                <a:ext uri="{FF2B5EF4-FFF2-40B4-BE49-F238E27FC236}">
                  <a16:creationId xmlns:a16="http://schemas.microsoft.com/office/drawing/2014/main" id="{C13A27EB-F670-167D-DF01-FB0D9E694CC0}"/>
                </a:ext>
              </a:extLst>
            </p:cNvPr>
            <p:cNvSpPr/>
            <p:nvPr/>
          </p:nvSpPr>
          <p:spPr>
            <a:xfrm>
              <a:off x="5154355" y="1198737"/>
              <a:ext cx="401255" cy="501569"/>
            </a:xfrm>
            <a:custGeom>
              <a:avLst/>
              <a:gdLst>
                <a:gd name="csX0" fmla="*/ 250785 w 401255"/>
                <a:gd name="csY0" fmla="*/ 0 h 501569"/>
                <a:gd name="csX1" fmla="*/ 50157 w 401255"/>
                <a:gd name="csY1" fmla="*/ 0 h 501569"/>
                <a:gd name="csX2" fmla="*/ 0 w 401255"/>
                <a:gd name="csY2" fmla="*/ 50157 h 501569"/>
                <a:gd name="csX3" fmla="*/ 0 w 401255"/>
                <a:gd name="csY3" fmla="*/ 451412 h 501569"/>
                <a:gd name="csX4" fmla="*/ 50157 w 401255"/>
                <a:gd name="csY4" fmla="*/ 501569 h 501569"/>
                <a:gd name="csX5" fmla="*/ 351098 w 401255"/>
                <a:gd name="csY5" fmla="*/ 501569 h 501569"/>
                <a:gd name="csX6" fmla="*/ 401255 w 401255"/>
                <a:gd name="csY6" fmla="*/ 451412 h 501569"/>
                <a:gd name="csX7" fmla="*/ 401255 w 401255"/>
                <a:gd name="csY7" fmla="*/ 150471 h 501569"/>
                <a:gd name="csX8" fmla="*/ 250785 w 401255"/>
                <a:gd name="csY8" fmla="*/ 0 h 501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1255" h="501569">
                  <a:moveTo>
                    <a:pt x="250785" y="0"/>
                  </a:moveTo>
                  <a:lnTo>
                    <a:pt x="50157" y="0"/>
                  </a:lnTo>
                  <a:cubicBezTo>
                    <a:pt x="22456" y="0"/>
                    <a:pt x="0" y="22456"/>
                    <a:pt x="0" y="50157"/>
                  </a:cubicBezTo>
                  <a:lnTo>
                    <a:pt x="0" y="451412"/>
                  </a:lnTo>
                  <a:cubicBezTo>
                    <a:pt x="0" y="479113"/>
                    <a:pt x="22456" y="501569"/>
                    <a:pt x="50157" y="501569"/>
                  </a:cubicBezTo>
                  <a:lnTo>
                    <a:pt x="351098" y="501569"/>
                  </a:lnTo>
                  <a:cubicBezTo>
                    <a:pt x="378799" y="501569"/>
                    <a:pt x="401255" y="479113"/>
                    <a:pt x="401255" y="451412"/>
                  </a:cubicBezTo>
                  <a:lnTo>
                    <a:pt x="401255" y="150471"/>
                  </a:lnTo>
                  <a:lnTo>
                    <a:pt x="250785" y="0"/>
                  </a:lnTo>
                  <a:close/>
                </a:path>
              </a:pathLst>
            </a:custGeom>
            <a:solidFill>
              <a:srgbClr val="D84315"/>
            </a:solidFill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" name="타원 312">
              <a:extLst>
                <a:ext uri="{FF2B5EF4-FFF2-40B4-BE49-F238E27FC236}">
                  <a16:creationId xmlns:a16="http://schemas.microsoft.com/office/drawing/2014/main" id="{AEC0B184-1F19-44B9-5879-FEC706FDAEB4}"/>
                </a:ext>
              </a:extLst>
            </p:cNvPr>
            <p:cNvSpPr/>
            <p:nvPr/>
          </p:nvSpPr>
          <p:spPr>
            <a:xfrm>
              <a:off x="5213608" y="1349208"/>
              <a:ext cx="268805" cy="268804"/>
            </a:xfrm>
            <a:prstGeom prst="ellipse">
              <a:avLst/>
            </a:prstGeom>
            <a:solidFill>
              <a:srgbClr val="FFFFFF"/>
            </a:solidFill>
            <a:ln w="25003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B34B562-B0BF-C176-A8AC-5C187EF344EB}"/>
                </a:ext>
              </a:extLst>
            </p:cNvPr>
            <p:cNvSpPr txBox="1"/>
            <p:nvPr/>
          </p:nvSpPr>
          <p:spPr>
            <a:xfrm>
              <a:off x="5162068" y="1239617"/>
              <a:ext cx="267778" cy="473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500" b="1" spc="0" baseline="0" dirty="0" err="1">
                  <a:ln/>
                  <a:solidFill>
                    <a:srgbClr val="D84315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  <a:endParaRPr lang="ko-KR" altLang="en-US" sz="500" b="1" spc="0" baseline="0" dirty="0">
                <a:ln/>
                <a:solidFill>
                  <a:srgbClr val="D84315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pic>
        <p:nvPicPr>
          <p:cNvPr id="318" name="그래픽 317">
            <a:extLst>
              <a:ext uri="{FF2B5EF4-FFF2-40B4-BE49-F238E27FC236}">
                <a16:creationId xmlns:a16="http://schemas.microsoft.com/office/drawing/2014/main" id="{87F6DCCB-5196-CF78-ED0C-C76E401A9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1698" y="3306213"/>
            <a:ext cx="199979" cy="199979"/>
          </a:xfrm>
          <a:prstGeom prst="rect">
            <a:avLst/>
          </a:prstGeom>
        </p:spPr>
      </p:pic>
      <p:sp>
        <p:nvSpPr>
          <p:cNvPr id="354" name="TextBox 353">
            <a:extLst>
              <a:ext uri="{FF2B5EF4-FFF2-40B4-BE49-F238E27FC236}">
                <a16:creationId xmlns:a16="http://schemas.microsoft.com/office/drawing/2014/main" id="{4BE6337C-97A5-BFAC-A820-7E303887B50C}"/>
              </a:ext>
            </a:extLst>
          </p:cNvPr>
          <p:cNvSpPr txBox="1"/>
          <p:nvPr/>
        </p:nvSpPr>
        <p:spPr>
          <a:xfrm>
            <a:off x="6810003" y="3316590"/>
            <a:ext cx="635118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Export</a:t>
            </a:r>
          </a:p>
        </p:txBody>
      </p:sp>
      <p:sp>
        <p:nvSpPr>
          <p:cNvPr id="357" name="Shape 4">
            <a:extLst>
              <a:ext uri="{FF2B5EF4-FFF2-40B4-BE49-F238E27FC236}">
                <a16:creationId xmlns:a16="http://schemas.microsoft.com/office/drawing/2014/main" id="{6CA1BD58-6E5B-931E-3EC3-1B5B138FC4EC}"/>
              </a:ext>
            </a:extLst>
          </p:cNvPr>
          <p:cNvSpPr/>
          <p:nvPr/>
        </p:nvSpPr>
        <p:spPr>
          <a:xfrm>
            <a:off x="6374188" y="3728995"/>
            <a:ext cx="2383088" cy="554779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8EDB184D-8AC6-C401-FEF1-75BDD1979214}"/>
              </a:ext>
            </a:extLst>
          </p:cNvPr>
          <p:cNvSpPr txBox="1"/>
          <p:nvPr/>
        </p:nvSpPr>
        <p:spPr>
          <a:xfrm>
            <a:off x="6595324" y="3794006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이메일 스케줄링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&amp;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정기 구독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26" name="그래픽 325" descr="봉투 열기 단색으로 채워진">
            <a:extLst>
              <a:ext uri="{FF2B5EF4-FFF2-40B4-BE49-F238E27FC236}">
                <a16:creationId xmlns:a16="http://schemas.microsoft.com/office/drawing/2014/main" id="{93275E90-54A6-3E8D-7D8A-2C32DABB9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73439" y="3771315"/>
            <a:ext cx="165106" cy="165106"/>
          </a:xfrm>
          <a:prstGeom prst="rect">
            <a:avLst/>
          </a:prstGeom>
        </p:spPr>
      </p:pic>
      <p:sp>
        <p:nvSpPr>
          <p:cNvPr id="361" name="Shape 4">
            <a:extLst>
              <a:ext uri="{FF2B5EF4-FFF2-40B4-BE49-F238E27FC236}">
                <a16:creationId xmlns:a16="http://schemas.microsoft.com/office/drawing/2014/main" id="{5B795DE2-023A-01B8-99B5-EB3F7C88F59A}"/>
              </a:ext>
            </a:extLst>
          </p:cNvPr>
          <p:cNvSpPr/>
          <p:nvPr/>
        </p:nvSpPr>
        <p:spPr>
          <a:xfrm>
            <a:off x="6473439" y="3982573"/>
            <a:ext cx="2220205" cy="214328"/>
          </a:xfrm>
          <a:prstGeom prst="roundRect">
            <a:avLst>
              <a:gd name="adj" fmla="val 10466"/>
            </a:avLst>
          </a:prstGeom>
          <a:solidFill>
            <a:schemeClr val="bg1"/>
          </a:solidFill>
          <a:ln w="3175">
            <a:solidFill>
              <a:srgbClr val="00D4C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15" name="그래픽 314">
            <a:extLst>
              <a:ext uri="{FF2B5EF4-FFF2-40B4-BE49-F238E27FC236}">
                <a16:creationId xmlns:a16="http://schemas.microsoft.com/office/drawing/2014/main" id="{C6A0B382-B495-5D67-8FC8-3629056B5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16075" y="4001763"/>
            <a:ext cx="180090" cy="180090"/>
          </a:xfrm>
          <a:prstGeom prst="rect">
            <a:avLst/>
          </a:prstGeom>
        </p:spPr>
      </p:pic>
      <p:sp>
        <p:nvSpPr>
          <p:cNvPr id="362" name="TextBox 361">
            <a:extLst>
              <a:ext uri="{FF2B5EF4-FFF2-40B4-BE49-F238E27FC236}">
                <a16:creationId xmlns:a16="http://schemas.microsoft.com/office/drawing/2014/main" id="{AC51B2BF-203E-FB61-6766-7787A4DDAA7D}"/>
              </a:ext>
            </a:extLst>
          </p:cNvPr>
          <p:cNvSpPr txBox="1"/>
          <p:nvPr/>
        </p:nvSpPr>
        <p:spPr>
          <a:xfrm>
            <a:off x="6642825" y="4017598"/>
            <a:ext cx="1449615" cy="1481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[</a:t>
            </a:r>
            <a:r>
              <a:rPr lang="en-US" altLang="ko-KR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aisight</a:t>
            </a:r>
            <a:r>
              <a:rPr lang="en-US" altLang="ko-KR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] 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주간 영업 실적 브리핑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" name="Shape 4">
            <a:extLst>
              <a:ext uri="{FF2B5EF4-FFF2-40B4-BE49-F238E27FC236}">
                <a16:creationId xmlns:a16="http://schemas.microsoft.com/office/drawing/2014/main" id="{17C812D1-E98E-436C-0F0C-44EC9C6395BE}"/>
              </a:ext>
            </a:extLst>
          </p:cNvPr>
          <p:cNvSpPr/>
          <p:nvPr/>
        </p:nvSpPr>
        <p:spPr>
          <a:xfrm>
            <a:off x="7970049" y="4029919"/>
            <a:ext cx="684985" cy="105243"/>
          </a:xfrm>
          <a:prstGeom prst="roundRect">
            <a:avLst>
              <a:gd name="adj" fmla="val 1046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0" rIns="36000" bIns="0"/>
          <a:lstStyle/>
          <a:p>
            <a:pPr algn="ctr"/>
            <a:r>
              <a:rPr lang="ko-KR" altLang="en-US" sz="600" dirty="0"/>
              <a:t>매주 월 </a:t>
            </a:r>
            <a:r>
              <a:rPr lang="en-US" altLang="ko-KR" sz="600" dirty="0"/>
              <a:t>08:00 AM</a:t>
            </a:r>
            <a:endParaRPr lang="ko-KR" altLang="en-US" sz="600" dirty="0"/>
          </a:p>
        </p:txBody>
      </p:sp>
      <p:sp>
        <p:nvSpPr>
          <p:cNvPr id="382" name="Shape 4">
            <a:extLst>
              <a:ext uri="{FF2B5EF4-FFF2-40B4-BE49-F238E27FC236}">
                <a16:creationId xmlns:a16="http://schemas.microsoft.com/office/drawing/2014/main" id="{C499EC3B-5513-5B0D-9F78-A9DC5A0B7691}"/>
              </a:ext>
            </a:extLst>
          </p:cNvPr>
          <p:cNvSpPr/>
          <p:nvPr/>
        </p:nvSpPr>
        <p:spPr>
          <a:xfrm>
            <a:off x="3407100" y="3662837"/>
            <a:ext cx="2361849" cy="588571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6E7F9A0-0181-1FE4-12D0-D466C626742B}"/>
              </a:ext>
            </a:extLst>
          </p:cNvPr>
          <p:cNvSpPr txBox="1"/>
          <p:nvPr/>
        </p:nvSpPr>
        <p:spPr>
          <a:xfrm>
            <a:off x="3628236" y="3729040"/>
            <a:ext cx="214071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실시간 데이터 연동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(Live Sync)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46E7249-A8AA-5E70-0414-CC872446665B}"/>
              </a:ext>
            </a:extLst>
          </p:cNvPr>
          <p:cNvSpPr txBox="1"/>
          <p:nvPr/>
        </p:nvSpPr>
        <p:spPr>
          <a:xfrm>
            <a:off x="3523932" y="3894089"/>
            <a:ext cx="2234418" cy="25583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저장된 자산은 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DB </a:t>
            </a:r>
            <a:r>
              <a:rPr lang="ko-KR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원본과 연동되어 별도 갱신 없이도 항상 최신 상태의 수치를 유지합니다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sz="7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pic>
        <p:nvPicPr>
          <p:cNvPr id="387" name="그래픽 386">
            <a:extLst>
              <a:ext uri="{FF2B5EF4-FFF2-40B4-BE49-F238E27FC236}">
                <a16:creationId xmlns:a16="http://schemas.microsoft.com/office/drawing/2014/main" id="{73119A99-8F56-18AE-B879-4EFD49CFB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96384" y="3739281"/>
            <a:ext cx="131852" cy="131852"/>
          </a:xfrm>
          <a:prstGeom prst="rect">
            <a:avLst/>
          </a:prstGeom>
        </p:spPr>
      </p:pic>
      <p:pic>
        <p:nvPicPr>
          <p:cNvPr id="389" name="그래픽 388">
            <a:extLst>
              <a:ext uri="{FF2B5EF4-FFF2-40B4-BE49-F238E27FC236}">
                <a16:creationId xmlns:a16="http://schemas.microsoft.com/office/drawing/2014/main" id="{BD1FB237-9652-2604-EFDE-7BFDB365E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6014" y="2734387"/>
            <a:ext cx="144000" cy="144000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DABD7504-AFFF-F0F6-BA6E-0E1D985548E0}"/>
              </a:ext>
            </a:extLst>
          </p:cNvPr>
          <p:cNvSpPr/>
          <p:nvPr/>
        </p:nvSpPr>
        <p:spPr>
          <a:xfrm>
            <a:off x="445456" y="3957563"/>
            <a:ext cx="2383088" cy="403980"/>
          </a:xfrm>
          <a:prstGeom prst="roundRect">
            <a:avLst>
              <a:gd name="adj" fmla="val 10835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7D306-F797-763F-862F-166480B34662}"/>
              </a:ext>
            </a:extLst>
          </p:cNvPr>
          <p:cNvSpPr txBox="1"/>
          <p:nvPr/>
        </p:nvSpPr>
        <p:spPr>
          <a:xfrm>
            <a:off x="666592" y="4023766"/>
            <a:ext cx="2140713" cy="286612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기존 레거시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BI 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레포트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기반 마이그레이션 및 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자체 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 문서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(HTML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등</a:t>
            </a:r>
            <a:r>
              <a:rPr lang="en-US" altLang="ko-KR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</a:t>
            </a:r>
            <a:r>
              <a: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업로드</a:t>
            </a:r>
            <a:endParaRPr lang="en-US" altLang="ko-KR" sz="8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14" name="그래픽 13" descr="용지 단색으로 채워진">
            <a:extLst>
              <a:ext uri="{FF2B5EF4-FFF2-40B4-BE49-F238E27FC236}">
                <a16:creationId xmlns:a16="http://schemas.microsoft.com/office/drawing/2014/main" id="{51BA34C3-ACDF-9BA0-61D6-703F7E101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7606" y="4067289"/>
            <a:ext cx="177886" cy="177886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FEA5F96E-A82C-9146-1DBD-10D140D8F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4174" y="4140156"/>
            <a:ext cx="62671" cy="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05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33AE-B996-906D-805A-99E3F61F1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>
            <a:extLst>
              <a:ext uri="{FF2B5EF4-FFF2-40B4-BE49-F238E27FC236}">
                <a16:creationId xmlns:a16="http://schemas.microsoft.com/office/drawing/2014/main" id="{86EBFD1C-3490-6838-1832-ACF875F589D1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55599B4-ED3B-9C9D-DA5F-9092F959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err="1">
                <a:latin typeface="SUIT ExtraBold" pitchFamily="2" charset="-127"/>
                <a:ea typeface="SUIT ExtraBold" pitchFamily="2" charset="-127"/>
              </a:rPr>
              <a:t>aisight Ops - 전사 AI 통합 관제 사령탑</a:t>
            </a:r>
            <a:endParaRPr lang="ko-KR" altLang="ko-KR" b="0" dirty="0">
              <a:latin typeface="SUIT ExtraBold" pitchFamily="2" charset="-127"/>
              <a:ea typeface="SUIT ExtraBold" pitchFamily="2" charset="-127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8D52EBF-EB6C-C032-2F90-6C6482FE3A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445046" y="279127"/>
            <a:ext cx="2606040" cy="21397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altLang="ko-KR" sz="900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 Product &amp; Service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D47D7DC-1E31-5E34-F86F-AB1F5855DF22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다양한 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LLM과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데이터, 기존 </a:t>
            </a:r>
            <a:r>
              <a:rPr lang="ko-KR" altLang="ko-KR" sz="1100" b="0" i="0" dirty="0" err="1">
                <a:solidFill>
                  <a:srgbClr val="1E293B"/>
                </a:solidFill>
                <a:effectLst/>
                <a:latin typeface="+mn-ea"/>
                <a:ea typeface="+mn-ea"/>
              </a:rPr>
              <a:t>BI를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 완벽히 연동하고 사내 인증 체계와 결합합니다. 이 모든 과정을 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'분석 스킬(</a:t>
            </a:r>
            <a:r>
              <a:rPr lang="ko-KR" altLang="ko-KR" sz="1100" b="1" i="0" dirty="0" err="1">
                <a:solidFill>
                  <a:srgbClr val="00A896"/>
                </a:solidFill>
                <a:effectLst/>
                <a:latin typeface="+mn-ea"/>
                <a:ea typeface="+mn-ea"/>
              </a:rPr>
              <a:t>Skill</a:t>
            </a:r>
            <a:r>
              <a:rPr lang="ko-KR" altLang="ko-KR" sz="1100" b="1" i="0" dirty="0">
                <a:solidFill>
                  <a:srgbClr val="00A896"/>
                </a:solidFill>
                <a:effectLst/>
                <a:latin typeface="+mn-ea"/>
                <a:ea typeface="+mn-ea"/>
              </a:rPr>
              <a:t>)' 단위로 통합 관리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하여,</a:t>
            </a:r>
            <a:br>
              <a:rPr lang="ko-KR" altLang="ko-KR" sz="1100" dirty="0">
                <a:latin typeface="+mn-ea"/>
                <a:ea typeface="+mn-ea"/>
              </a:rPr>
            </a:b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안전한 실행은 물론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지속적인 품질 모니터링 및 로직 업데이트</a:t>
            </a:r>
            <a:r>
              <a:rPr lang="ko-KR" altLang="ko-KR" sz="1100" b="0" i="0" dirty="0">
                <a:solidFill>
                  <a:srgbClr val="1E293B"/>
                </a:solidFill>
                <a:effectLst/>
                <a:latin typeface="+mn-ea"/>
                <a:ea typeface="+mn-ea"/>
              </a:rPr>
              <a:t>가 가능한 AI 거버넌스 사령탑입니다.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DC90557-AC8E-5CC5-790B-C7E5297E484D}"/>
              </a:ext>
            </a:extLst>
          </p:cNvPr>
          <p:cNvSpPr/>
          <p:nvPr/>
        </p:nvSpPr>
        <p:spPr>
          <a:xfrm rot="16200000">
            <a:off x="2213124" y="554959"/>
            <a:ext cx="445641" cy="1814363"/>
          </a:xfrm>
          <a:prstGeom prst="roundRect">
            <a:avLst>
              <a:gd name="adj" fmla="val 11753"/>
            </a:avLst>
          </a:prstGeom>
          <a:solidFill>
            <a:srgbClr val="1D2537"/>
          </a:solidFill>
          <a:ln w="9525">
            <a:solidFill>
              <a:srgbClr val="13CEC4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7DB4F-2C63-DBF5-5319-D6A5C9CF1BDF}"/>
              </a:ext>
            </a:extLst>
          </p:cNvPr>
          <p:cNvSpPr txBox="1"/>
          <p:nvPr/>
        </p:nvSpPr>
        <p:spPr>
          <a:xfrm>
            <a:off x="1528761" y="1273840"/>
            <a:ext cx="1814364" cy="19427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/>
            <a:r>
              <a:rPr lang="en-US" altLang="ko-KR" sz="1000" b="1" i="0" u="none" strike="noStrike" dirty="0" err="1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0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 Work Space</a:t>
            </a:r>
            <a:endParaRPr lang="ko-KR" altLang="en-US" sz="7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27C67A-11C7-9445-6A73-F938AEDB47B1}"/>
              </a:ext>
            </a:extLst>
          </p:cNvPr>
          <p:cNvSpPr txBox="1"/>
          <p:nvPr/>
        </p:nvSpPr>
        <p:spPr>
          <a:xfrm>
            <a:off x="1528762" y="1395927"/>
            <a:ext cx="1814364" cy="24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sz="700" dirty="0">
                <a:solidFill>
                  <a:srgbClr val="13CEC4"/>
                </a:solidFill>
                <a:latin typeface="+mn-ea"/>
              </a:rPr>
              <a:t>자연어 질의 기반 전사 </a:t>
            </a:r>
            <a:r>
              <a:rPr lang="en-US" altLang="ko-KR" sz="700" dirty="0">
                <a:solidFill>
                  <a:srgbClr val="13CEC4"/>
                </a:solidFill>
                <a:latin typeface="+mn-ea"/>
              </a:rPr>
              <a:t>AI </a:t>
            </a:r>
            <a:r>
              <a:rPr lang="ko-KR" altLang="en-US" sz="700" dirty="0">
                <a:solidFill>
                  <a:srgbClr val="13CEC4"/>
                </a:solidFill>
                <a:latin typeface="+mn-ea"/>
              </a:rPr>
              <a:t>포탈</a:t>
            </a: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A2D0C69-06E4-4122-D6A4-A93633B20272}"/>
              </a:ext>
            </a:extLst>
          </p:cNvPr>
          <p:cNvSpPr/>
          <p:nvPr/>
        </p:nvSpPr>
        <p:spPr>
          <a:xfrm>
            <a:off x="3523922" y="1324710"/>
            <a:ext cx="195612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FEF94A-09B8-B9A6-80EA-972FEF2D634A}"/>
              </a:ext>
            </a:extLst>
          </p:cNvPr>
          <p:cNvSpPr txBox="1"/>
          <p:nvPr/>
        </p:nvSpPr>
        <p:spPr>
          <a:xfrm>
            <a:off x="3766821" y="1354080"/>
            <a:ext cx="171323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Dashboard Ext. (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기존 대시보드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75CE4268-1B29-04A5-F6A2-3FF2305B26B9}"/>
              </a:ext>
            </a:extLst>
          </p:cNvPr>
          <p:cNvSpPr/>
          <p:nvPr/>
        </p:nvSpPr>
        <p:spPr>
          <a:xfrm>
            <a:off x="5680076" y="1324709"/>
            <a:ext cx="1671410" cy="214189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CEAA52-FEE1-4689-8DEF-A609297C7509}"/>
              </a:ext>
            </a:extLst>
          </p:cNvPr>
          <p:cNvSpPr txBox="1"/>
          <p:nvPr/>
        </p:nvSpPr>
        <p:spPr>
          <a:xfrm>
            <a:off x="5922975" y="1354080"/>
            <a:ext cx="1428511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3rd Party API Webhook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9" name="그래픽 38" descr="퍼즐 단색으로 채워진">
            <a:extLst>
              <a:ext uri="{FF2B5EF4-FFF2-40B4-BE49-F238E27FC236}">
                <a16:creationId xmlns:a16="http://schemas.microsoft.com/office/drawing/2014/main" id="{08A71D90-365E-A557-DD68-AACC7AEDE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8250" y="1373702"/>
            <a:ext cx="147776" cy="143480"/>
          </a:xfrm>
          <a:prstGeom prst="rect">
            <a:avLst/>
          </a:prstGeom>
        </p:spPr>
      </p:pic>
      <p:pic>
        <p:nvPicPr>
          <p:cNvPr id="41" name="그래픽 40" descr="CMD 터미널 단색으로 채워진">
            <a:extLst>
              <a:ext uri="{FF2B5EF4-FFF2-40B4-BE49-F238E27FC236}">
                <a16:creationId xmlns:a16="http://schemas.microsoft.com/office/drawing/2014/main" id="{0CBF5F2D-71D1-4E60-E1EA-629580B34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5150" y="1367413"/>
            <a:ext cx="152112" cy="152110"/>
          </a:xfrm>
          <a:prstGeom prst="rect">
            <a:avLst/>
          </a:prstGeom>
        </p:spPr>
      </p:pic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A489969B-8B2F-7DF3-D40F-C1BFADB70732}"/>
              </a:ext>
            </a:extLst>
          </p:cNvPr>
          <p:cNvSpPr/>
          <p:nvPr/>
        </p:nvSpPr>
        <p:spPr>
          <a:xfrm rot="10800000">
            <a:off x="2352675" y="1744980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DA2CABBD-D032-E578-F502-3E8A97BD2AE7}"/>
              </a:ext>
            </a:extLst>
          </p:cNvPr>
          <p:cNvSpPr/>
          <p:nvPr/>
        </p:nvSpPr>
        <p:spPr>
          <a:xfrm rot="10800000">
            <a:off x="4435311" y="1744980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AABB2DBD-0029-383F-D8B2-BCF619571417}"/>
              </a:ext>
            </a:extLst>
          </p:cNvPr>
          <p:cNvSpPr/>
          <p:nvPr/>
        </p:nvSpPr>
        <p:spPr>
          <a:xfrm rot="10800000">
            <a:off x="6481491" y="1744981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42A04233-697A-2285-C39D-EBE9040B61F4}"/>
              </a:ext>
            </a:extLst>
          </p:cNvPr>
          <p:cNvSpPr/>
          <p:nvPr/>
        </p:nvSpPr>
        <p:spPr>
          <a:xfrm>
            <a:off x="270981" y="1856169"/>
            <a:ext cx="8595360" cy="2599115"/>
          </a:xfrm>
          <a:prstGeom prst="roundRect">
            <a:avLst>
              <a:gd name="adj" fmla="val 4794"/>
            </a:avLst>
          </a:prstGeom>
          <a:solidFill>
            <a:schemeClr val="bg1"/>
          </a:solidFill>
          <a:ln w="9525">
            <a:solidFill>
              <a:srgbClr val="13CEC4"/>
            </a:solidFill>
          </a:ln>
          <a:effectLst>
            <a:glow rad="139700">
              <a:srgbClr val="13CEC4">
                <a:alpha val="8000"/>
              </a:srgbClr>
            </a:glo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8E28DF07-779F-923D-C381-B3CCDE45B80A}"/>
              </a:ext>
            </a:extLst>
          </p:cNvPr>
          <p:cNvSpPr/>
          <p:nvPr/>
        </p:nvSpPr>
        <p:spPr>
          <a:xfrm rot="16200000">
            <a:off x="4338460" y="-2198923"/>
            <a:ext cx="468000" cy="8589600"/>
          </a:xfrm>
          <a:prstGeom prst="roundRect">
            <a:avLst>
              <a:gd name="adj" fmla="val 26007"/>
            </a:avLst>
          </a:prstGeom>
          <a:solidFill>
            <a:srgbClr val="1D2537"/>
          </a:solidFill>
          <a:ln w="1270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6C7985-C76E-B062-FA59-B8B9E808973B}"/>
              </a:ext>
            </a:extLst>
          </p:cNvPr>
          <p:cNvSpPr txBox="1"/>
          <p:nvPr/>
        </p:nvSpPr>
        <p:spPr>
          <a:xfrm>
            <a:off x="594360" y="1996364"/>
            <a:ext cx="2034540" cy="209668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1100" b="1" i="0" u="none" strike="noStrike" dirty="0" err="1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aisight</a:t>
            </a:r>
            <a:r>
              <a:rPr lang="en-US" altLang="ko-KR" sz="1100" b="1" i="0" u="none" strike="noStrike" dirty="0">
                <a:solidFill>
                  <a:schemeClr val="bg1"/>
                </a:solidFill>
                <a:effectLst/>
                <a:latin typeface="SUIT ExtraBold" pitchFamily="50" charset="-127"/>
                <a:ea typeface="SUIT ExtraBold" pitchFamily="50" charset="-127"/>
              </a:rPr>
              <a:t> Ops Control Tower</a:t>
            </a:r>
            <a:endParaRPr lang="ko-KR" altLang="en-US" sz="9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pic>
        <p:nvPicPr>
          <p:cNvPr id="53" name="그래픽 52" descr="프로세서 단색으로 채워진">
            <a:extLst>
              <a:ext uri="{FF2B5EF4-FFF2-40B4-BE49-F238E27FC236}">
                <a16:creationId xmlns:a16="http://schemas.microsoft.com/office/drawing/2014/main" id="{5880DBCC-A607-5EDE-6CF5-370FAEE72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428" y="1973087"/>
            <a:ext cx="256221" cy="256221"/>
          </a:xfrm>
          <a:prstGeom prst="rect">
            <a:avLst/>
          </a:prstGeom>
        </p:spPr>
      </p:pic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F0D19392-CEE1-DE45-EBB4-4D3EBB9D4953}"/>
              </a:ext>
            </a:extLst>
          </p:cNvPr>
          <p:cNvGrpSpPr/>
          <p:nvPr/>
        </p:nvGrpSpPr>
        <p:grpSpPr>
          <a:xfrm>
            <a:off x="424885" y="2416088"/>
            <a:ext cx="1948052" cy="366688"/>
            <a:chOff x="433198" y="2399462"/>
            <a:chExt cx="1948052" cy="366688"/>
          </a:xfrm>
        </p:grpSpPr>
        <p:sp>
          <p:nvSpPr>
            <p:cNvPr id="58" name="Shape 4">
              <a:extLst>
                <a:ext uri="{FF2B5EF4-FFF2-40B4-BE49-F238E27FC236}">
                  <a16:creationId xmlns:a16="http://schemas.microsoft.com/office/drawing/2014/main" id="{CEC4A294-CA7F-1D94-9959-570EA8F792B8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E7568077-439E-A9FC-DE9A-5211ABF9C0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6221" y="2476550"/>
              <a:ext cx="227867" cy="227867"/>
            </a:xfrm>
            <a:prstGeom prst="rect">
              <a:avLst/>
            </a:prstGeom>
          </p:spPr>
        </p:pic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3322011C-32D5-A740-EF76-F66BA1C1F0FD}"/>
                </a:ext>
              </a:extLst>
            </p:cNvPr>
            <p:cNvSpPr txBox="1"/>
            <p:nvPr/>
          </p:nvSpPr>
          <p:spPr>
            <a:xfrm>
              <a:off x="714376" y="2519929"/>
              <a:ext cx="1638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1.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통합 연동 및 라우팅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5502336-DB9C-EB37-25F2-191904A8F046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j-lt"/>
                </a:rPr>
                <a:t>Integration &amp; Routing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j-lt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D56470D1-44FF-D9CF-6BE3-460130DE0FA9}"/>
              </a:ext>
            </a:extLst>
          </p:cNvPr>
          <p:cNvGrpSpPr/>
          <p:nvPr/>
        </p:nvGrpSpPr>
        <p:grpSpPr>
          <a:xfrm>
            <a:off x="2549395" y="2410437"/>
            <a:ext cx="1948052" cy="366688"/>
            <a:chOff x="433198" y="2399462"/>
            <a:chExt cx="1948052" cy="366688"/>
          </a:xfrm>
        </p:grpSpPr>
        <p:sp>
          <p:nvSpPr>
            <p:cNvPr id="218" name="Shape 4">
              <a:extLst>
                <a:ext uri="{FF2B5EF4-FFF2-40B4-BE49-F238E27FC236}">
                  <a16:creationId xmlns:a16="http://schemas.microsoft.com/office/drawing/2014/main" id="{55307A3A-0E82-A881-4709-A4F99EC005F1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C6A69A0-A39A-7922-964B-ADD86AE52190}"/>
                </a:ext>
              </a:extLst>
            </p:cNvPr>
            <p:cNvSpPr txBox="1"/>
            <p:nvPr/>
          </p:nvSpPr>
          <p:spPr>
            <a:xfrm>
              <a:off x="730096" y="2519929"/>
              <a:ext cx="162257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2.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권한 제어 및 보안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A33CA20D-3F77-E81C-544B-3866826404F3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n-ea"/>
                </a:rPr>
                <a:t>Auth &amp; Security Guardrails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n-ea"/>
              </a:endParaRP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42634637-AC35-8894-6733-6F179D001A73}"/>
              </a:ext>
            </a:extLst>
          </p:cNvPr>
          <p:cNvGrpSpPr/>
          <p:nvPr/>
        </p:nvGrpSpPr>
        <p:grpSpPr>
          <a:xfrm>
            <a:off x="4673905" y="2410437"/>
            <a:ext cx="1948052" cy="366688"/>
            <a:chOff x="433198" y="2399462"/>
            <a:chExt cx="1948052" cy="366688"/>
          </a:xfrm>
        </p:grpSpPr>
        <p:sp>
          <p:nvSpPr>
            <p:cNvPr id="223" name="Shape 4">
              <a:extLst>
                <a:ext uri="{FF2B5EF4-FFF2-40B4-BE49-F238E27FC236}">
                  <a16:creationId xmlns:a16="http://schemas.microsoft.com/office/drawing/2014/main" id="{D927FB60-7837-F2AA-EC6D-42781FC17D42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rgbClr val="13CEC4"/>
            </a:solidFill>
            <a:ln w="6350">
              <a:solidFill>
                <a:srgbClr val="13CEC4"/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4BB1DB4-AEAE-A09D-E43B-02667EF9C7D2}"/>
                </a:ext>
              </a:extLst>
            </p:cNvPr>
            <p:cNvSpPr txBox="1"/>
            <p:nvPr/>
          </p:nvSpPr>
          <p:spPr>
            <a:xfrm>
              <a:off x="735346" y="2519929"/>
              <a:ext cx="161733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3.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스킬 기반 관리 및 실행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C98D7757-11F4-5726-17D3-458192346A74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</a:rPr>
                <a:t>Skill Management</a:t>
              </a:r>
              <a:endParaRPr lang="ko-KR" altLang="ko-KR" sz="700" i="0" cap="all" dirty="0">
                <a:solidFill>
                  <a:srgbClr val="64748B"/>
                </a:solidFill>
                <a:effectLst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68E7C24-00FB-AAF0-9590-999045E7F340}"/>
              </a:ext>
            </a:extLst>
          </p:cNvPr>
          <p:cNvGrpSpPr/>
          <p:nvPr/>
        </p:nvGrpSpPr>
        <p:grpSpPr>
          <a:xfrm>
            <a:off x="6798416" y="2418114"/>
            <a:ext cx="1948052" cy="366688"/>
            <a:chOff x="433198" y="2399462"/>
            <a:chExt cx="1948052" cy="366688"/>
          </a:xfrm>
        </p:grpSpPr>
        <p:sp>
          <p:nvSpPr>
            <p:cNvPr id="230" name="Shape 4">
              <a:extLst>
                <a:ext uri="{FF2B5EF4-FFF2-40B4-BE49-F238E27FC236}">
                  <a16:creationId xmlns:a16="http://schemas.microsoft.com/office/drawing/2014/main" id="{87585208-335C-3AE3-EED2-DBDAB077335E}"/>
                </a:ext>
              </a:extLst>
            </p:cNvPr>
            <p:cNvSpPr/>
            <p:nvPr/>
          </p:nvSpPr>
          <p:spPr>
            <a:xfrm>
              <a:off x="433198" y="2450573"/>
              <a:ext cx="309752" cy="286738"/>
            </a:xfrm>
            <a:prstGeom prst="roundRect">
              <a:avLst>
                <a:gd name="adj" fmla="val 14302"/>
              </a:avLst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7C193DE1-D87B-A3E0-D357-89CD40DDEDBE}"/>
                </a:ext>
              </a:extLst>
            </p:cNvPr>
            <p:cNvSpPr txBox="1"/>
            <p:nvPr/>
          </p:nvSpPr>
          <p:spPr>
            <a:xfrm>
              <a:off x="714376" y="2519929"/>
              <a:ext cx="1638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900"/>
                </a:spcAft>
                <a:buNone/>
              </a:pPr>
              <a:r>
                <a:rPr lang="en-US" altLang="ko-KR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4. </a:t>
              </a:r>
              <a:r>
                <a:rPr lang="ko-KR" altLang="en-US" sz="1000" b="1" i="0" dirty="0">
                  <a:solidFill>
                    <a:srgbClr val="0F172A"/>
                  </a:solidFill>
                  <a:effectLst/>
                  <a:latin typeface="SUIT ExtraBold" pitchFamily="50" charset="-127"/>
                  <a:ea typeface="SUIT ExtraBold" pitchFamily="50" charset="-127"/>
                </a:rPr>
                <a:t>퀄리티 관제 및 업데이트</a:t>
              </a:r>
              <a:endParaRPr lang="ko-KR" altLang="ko-KR" sz="3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29273167-C243-7423-D5B8-6DA7EB34560C}"/>
                </a:ext>
              </a:extLst>
            </p:cNvPr>
            <p:cNvSpPr txBox="1"/>
            <p:nvPr/>
          </p:nvSpPr>
          <p:spPr>
            <a:xfrm>
              <a:off x="742950" y="2399462"/>
              <a:ext cx="163830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150"/>
                </a:spcAft>
                <a:buNone/>
              </a:pPr>
              <a:r>
                <a:rPr lang="en-US" altLang="ko-KR" sz="700" i="0" cap="all" dirty="0">
                  <a:solidFill>
                    <a:srgbClr val="64748B"/>
                  </a:solidFill>
                  <a:effectLst/>
                  <a:latin typeface="+mj-ea"/>
                  <a:ea typeface="+mj-ea"/>
                </a:rPr>
                <a:t>Quality Ops &amp; Update</a:t>
              </a:r>
              <a:endParaRPr lang="ko-KR" altLang="ko-KR" sz="700" i="0" cap="all" dirty="0">
                <a:solidFill>
                  <a:srgbClr val="64748B"/>
                </a:solidFill>
                <a:effectLst/>
                <a:latin typeface="+mj-ea"/>
                <a:ea typeface="+mj-ea"/>
              </a:endParaRPr>
            </a:p>
          </p:txBody>
        </p:sp>
      </p:grpSp>
      <p:pic>
        <p:nvPicPr>
          <p:cNvPr id="247" name="그래픽 246" descr="톱니바퀴 단색으로 채워진">
            <a:extLst>
              <a:ext uri="{FF2B5EF4-FFF2-40B4-BE49-F238E27FC236}">
                <a16:creationId xmlns:a16="http://schemas.microsoft.com/office/drawing/2014/main" id="{EB23C513-E038-4237-0191-E519890ED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707338" y="2472905"/>
            <a:ext cx="257175" cy="257175"/>
          </a:xfrm>
          <a:prstGeom prst="rect">
            <a:avLst/>
          </a:prstGeom>
        </p:spPr>
      </p:pic>
      <p:sp>
        <p:nvSpPr>
          <p:cNvPr id="273" name="Shape 4">
            <a:extLst>
              <a:ext uri="{FF2B5EF4-FFF2-40B4-BE49-F238E27FC236}">
                <a16:creationId xmlns:a16="http://schemas.microsoft.com/office/drawing/2014/main" id="{2E53C3C2-BD88-DD74-A8FD-246A0F9ED31E}"/>
              </a:ext>
            </a:extLst>
          </p:cNvPr>
          <p:cNvSpPr/>
          <p:nvPr/>
        </p:nvSpPr>
        <p:spPr>
          <a:xfrm>
            <a:off x="430540" y="294294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122470A-0251-C8E2-D05F-CBA3B4CC8E05}"/>
              </a:ext>
            </a:extLst>
          </p:cNvPr>
          <p:cNvSpPr txBox="1"/>
          <p:nvPr/>
        </p:nvSpPr>
        <p:spPr>
          <a:xfrm>
            <a:off x="481340" y="296507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다중 데이터 소스 연결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849CB978-A0B4-C877-D234-6138EA80A8F9}"/>
              </a:ext>
            </a:extLst>
          </p:cNvPr>
          <p:cNvSpPr txBox="1"/>
          <p:nvPr/>
        </p:nvSpPr>
        <p:spPr>
          <a:xfrm>
            <a:off x="481339" y="311103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RDBMS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부터 비정형 문서까지 단일 허브로 통합 연동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298" name="Shape 4">
            <a:extLst>
              <a:ext uri="{FF2B5EF4-FFF2-40B4-BE49-F238E27FC236}">
                <a16:creationId xmlns:a16="http://schemas.microsoft.com/office/drawing/2014/main" id="{BA53FA76-458D-889D-4976-5E7F4691D9F5}"/>
              </a:ext>
            </a:extLst>
          </p:cNvPr>
          <p:cNvSpPr/>
          <p:nvPr/>
        </p:nvSpPr>
        <p:spPr>
          <a:xfrm>
            <a:off x="430540" y="344259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7571373-7DB6-79DD-EE8B-4806285D6669}"/>
              </a:ext>
            </a:extLst>
          </p:cNvPr>
          <p:cNvSpPr txBox="1"/>
          <p:nvPr/>
        </p:nvSpPr>
        <p:spPr>
          <a:xfrm>
            <a:off x="481340" y="346472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하이브리드 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LLM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라우팅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B4DA8A93-35B0-95A1-E984-5425C4CC3FAF}"/>
              </a:ext>
            </a:extLst>
          </p:cNvPr>
          <p:cNvSpPr txBox="1"/>
          <p:nvPr/>
        </p:nvSpPr>
        <p:spPr>
          <a:xfrm>
            <a:off x="481339" y="361068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보안 및 난이도 기준 </a:t>
            </a:r>
            <a:r>
              <a:rPr lang="en-US" altLang="ko-KR" sz="600" i="0" cap="all" dirty="0" err="1">
                <a:solidFill>
                  <a:srgbClr val="64748B"/>
                </a:solidFill>
                <a:effectLst/>
                <a:latin typeface="+mn-ea"/>
              </a:rPr>
              <a:t>sLLM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과 상용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API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동적 분배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19" name="Shape 4">
            <a:extLst>
              <a:ext uri="{FF2B5EF4-FFF2-40B4-BE49-F238E27FC236}">
                <a16:creationId xmlns:a16="http://schemas.microsoft.com/office/drawing/2014/main" id="{3B5EF07F-F044-1B6F-7C54-D7160A0F30A5}"/>
              </a:ext>
            </a:extLst>
          </p:cNvPr>
          <p:cNvSpPr/>
          <p:nvPr/>
        </p:nvSpPr>
        <p:spPr>
          <a:xfrm>
            <a:off x="430540" y="3922989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6DB1682-F332-C64C-80D9-337F55515AF4}"/>
              </a:ext>
            </a:extLst>
          </p:cNvPr>
          <p:cNvSpPr txBox="1"/>
          <p:nvPr/>
        </p:nvSpPr>
        <p:spPr>
          <a:xfrm>
            <a:off x="481340" y="3945111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기존 </a:t>
            </a: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BI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시스템 마이그레이션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75DCE879-0FB9-1DE9-F108-3151307BAAD9}"/>
              </a:ext>
            </a:extLst>
          </p:cNvPr>
          <p:cNvSpPr txBox="1"/>
          <p:nvPr/>
        </p:nvSpPr>
        <p:spPr>
          <a:xfrm>
            <a:off x="481339" y="4091075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레거시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BI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연동 및 양방향 제어로 점진적 전환 지원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23" name="Shape 4">
            <a:extLst>
              <a:ext uri="{FF2B5EF4-FFF2-40B4-BE49-F238E27FC236}">
                <a16:creationId xmlns:a16="http://schemas.microsoft.com/office/drawing/2014/main" id="{AD1EDA74-E68D-E6A2-1626-33A48F94942D}"/>
              </a:ext>
            </a:extLst>
          </p:cNvPr>
          <p:cNvSpPr/>
          <p:nvPr/>
        </p:nvSpPr>
        <p:spPr>
          <a:xfrm>
            <a:off x="2549395" y="292848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50561845-45F7-EFB2-DDD1-EEE1A79629EA}"/>
              </a:ext>
            </a:extLst>
          </p:cNvPr>
          <p:cNvSpPr txBox="1"/>
          <p:nvPr/>
        </p:nvSpPr>
        <p:spPr>
          <a:xfrm>
            <a:off x="2600195" y="295060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권한 그룹 기반 동적 제어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F6452B5-F111-6050-7985-F334E2FB92A8}"/>
              </a:ext>
            </a:extLst>
          </p:cNvPr>
          <p:cNvSpPr txBox="1"/>
          <p:nvPr/>
        </p:nvSpPr>
        <p:spPr>
          <a:xfrm>
            <a:off x="2600194" y="309656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인사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DB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연동을 통한 조직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·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직급별 동적 접근 통제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29" name="Shape 4">
            <a:extLst>
              <a:ext uri="{FF2B5EF4-FFF2-40B4-BE49-F238E27FC236}">
                <a16:creationId xmlns:a16="http://schemas.microsoft.com/office/drawing/2014/main" id="{CCAFA703-A10C-0F39-362F-6EEB7AE7C95F}"/>
              </a:ext>
            </a:extLst>
          </p:cNvPr>
          <p:cNvSpPr/>
          <p:nvPr/>
        </p:nvSpPr>
        <p:spPr>
          <a:xfrm>
            <a:off x="2549395" y="342813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D6ECDC46-5345-80EB-382A-7B4AC7E23462}"/>
              </a:ext>
            </a:extLst>
          </p:cNvPr>
          <p:cNvSpPr txBox="1"/>
          <p:nvPr/>
        </p:nvSpPr>
        <p:spPr>
          <a:xfrm>
            <a:off x="2600195" y="345025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민감 데이터 </a:t>
            </a:r>
            <a:r>
              <a:rPr lang="ko-KR" altLang="en-US" sz="800" i="0" dirty="0" err="1">
                <a:solidFill>
                  <a:srgbClr val="0F172A"/>
                </a:solidFill>
                <a:effectLst/>
                <a:latin typeface="+mj-ea"/>
                <a:ea typeface="+mj-ea"/>
              </a:rPr>
              <a:t>마스킹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AB586BA-7673-06E4-C89C-02CCE28B35E4}"/>
              </a:ext>
            </a:extLst>
          </p:cNvPr>
          <p:cNvSpPr txBox="1"/>
          <p:nvPr/>
        </p:nvSpPr>
        <p:spPr>
          <a:xfrm>
            <a:off x="2600194" y="359621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LLM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전송 전 식별된 민감 데이터의 실시간 비식별화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43" name="Shape 4">
            <a:extLst>
              <a:ext uri="{FF2B5EF4-FFF2-40B4-BE49-F238E27FC236}">
                <a16:creationId xmlns:a16="http://schemas.microsoft.com/office/drawing/2014/main" id="{BDF47382-0BC5-7009-B339-26912D043708}"/>
              </a:ext>
            </a:extLst>
          </p:cNvPr>
          <p:cNvSpPr/>
          <p:nvPr/>
        </p:nvSpPr>
        <p:spPr>
          <a:xfrm>
            <a:off x="2549395" y="3908521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8A41385E-0F54-75AE-5E39-3858FF43507A}"/>
              </a:ext>
            </a:extLst>
          </p:cNvPr>
          <p:cNvSpPr txBox="1"/>
          <p:nvPr/>
        </p:nvSpPr>
        <p:spPr>
          <a:xfrm>
            <a:off x="2600195" y="3930643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악성 프롬프트 차단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7BADB4CF-ABA9-8E91-F426-E0D17CD36D7B}"/>
              </a:ext>
            </a:extLst>
          </p:cNvPr>
          <p:cNvSpPr txBox="1"/>
          <p:nvPr/>
        </p:nvSpPr>
        <p:spPr>
          <a:xfrm>
            <a:off x="2600194" y="4076607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권한 우회 및 비정상 데이터 추출을 시도하는 공격 차단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53" name="Shape 4">
            <a:extLst>
              <a:ext uri="{FF2B5EF4-FFF2-40B4-BE49-F238E27FC236}">
                <a16:creationId xmlns:a16="http://schemas.microsoft.com/office/drawing/2014/main" id="{7921A8AC-D974-5434-60D4-BD1D7901A4EC}"/>
              </a:ext>
            </a:extLst>
          </p:cNvPr>
          <p:cNvSpPr/>
          <p:nvPr/>
        </p:nvSpPr>
        <p:spPr>
          <a:xfrm>
            <a:off x="4673206" y="292777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AB65335F-7E97-A531-CAE3-93D8C832CAB8}"/>
              </a:ext>
            </a:extLst>
          </p:cNvPr>
          <p:cNvSpPr txBox="1"/>
          <p:nvPr/>
        </p:nvSpPr>
        <p:spPr>
          <a:xfrm>
            <a:off x="4724006" y="294989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중앙 집중형 스킬 레지스트리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F8C3A0A8-3AC7-CC34-5926-CAC7680150E4}"/>
              </a:ext>
            </a:extLst>
          </p:cNvPr>
          <p:cNvSpPr txBox="1"/>
          <p:nvPr/>
        </p:nvSpPr>
        <p:spPr>
          <a:xfrm>
            <a:off x="4724005" y="309585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승인된 분석 로직을 스킬 단위로 등록하여 중앙 통제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60" name="Shape 4">
            <a:extLst>
              <a:ext uri="{FF2B5EF4-FFF2-40B4-BE49-F238E27FC236}">
                <a16:creationId xmlns:a16="http://schemas.microsoft.com/office/drawing/2014/main" id="{C63F3F3E-1648-A25D-DDB2-2AE577220F8F}"/>
              </a:ext>
            </a:extLst>
          </p:cNvPr>
          <p:cNvSpPr/>
          <p:nvPr/>
        </p:nvSpPr>
        <p:spPr>
          <a:xfrm>
            <a:off x="4673206" y="342742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9772A6D4-B765-D6E5-A37E-CD81F7BA2F20}"/>
              </a:ext>
            </a:extLst>
          </p:cNvPr>
          <p:cNvSpPr txBox="1"/>
          <p:nvPr/>
        </p:nvSpPr>
        <p:spPr>
          <a:xfrm>
            <a:off x="4724006" y="344954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격리된 </a:t>
            </a:r>
            <a:r>
              <a:rPr lang="ko-KR" altLang="en-US" sz="800" i="0" dirty="0" err="1">
                <a:solidFill>
                  <a:srgbClr val="0F172A"/>
                </a:solidFill>
                <a:effectLst/>
                <a:latin typeface="+mj-ea"/>
                <a:ea typeface="+mj-ea"/>
              </a:rPr>
              <a:t>샌드박스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 런타임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CCCE188-9083-39BE-AAE1-7730F517938C}"/>
              </a:ext>
            </a:extLst>
          </p:cNvPr>
          <p:cNvSpPr txBox="1"/>
          <p:nvPr/>
        </p:nvSpPr>
        <p:spPr>
          <a:xfrm>
            <a:off x="4724005" y="359550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메인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DB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와 완벽히 분리된 읽기 전용 환경에서 실행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67" name="Shape 4">
            <a:extLst>
              <a:ext uri="{FF2B5EF4-FFF2-40B4-BE49-F238E27FC236}">
                <a16:creationId xmlns:a16="http://schemas.microsoft.com/office/drawing/2014/main" id="{CCFB1B40-1E5A-3079-5BCB-288AE639C279}"/>
              </a:ext>
            </a:extLst>
          </p:cNvPr>
          <p:cNvSpPr/>
          <p:nvPr/>
        </p:nvSpPr>
        <p:spPr>
          <a:xfrm>
            <a:off x="4673206" y="3907812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6CF91802-197B-C494-EB4F-E07A7F4F937C}"/>
              </a:ext>
            </a:extLst>
          </p:cNvPr>
          <p:cNvSpPr txBox="1"/>
          <p:nvPr/>
        </p:nvSpPr>
        <p:spPr>
          <a:xfrm>
            <a:off x="4724006" y="3929934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지식 그래프 매핑 검증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938B40-978C-E48E-D294-E9E36071F322}"/>
              </a:ext>
            </a:extLst>
          </p:cNvPr>
          <p:cNvSpPr txBox="1"/>
          <p:nvPr/>
        </p:nvSpPr>
        <p:spPr>
          <a:xfrm>
            <a:off x="4724005" y="4075898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사내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KPI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관계망을 강제 적용하여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AI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수치 환각 방지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1" name="Shape 4">
            <a:extLst>
              <a:ext uri="{FF2B5EF4-FFF2-40B4-BE49-F238E27FC236}">
                <a16:creationId xmlns:a16="http://schemas.microsoft.com/office/drawing/2014/main" id="{A03EC3A6-1F8D-23DF-40FD-B7CFD5090F67}"/>
              </a:ext>
            </a:extLst>
          </p:cNvPr>
          <p:cNvSpPr/>
          <p:nvPr/>
        </p:nvSpPr>
        <p:spPr>
          <a:xfrm>
            <a:off x="6792061" y="291330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91BEDAE1-00B7-449B-1578-73B8D734C698}"/>
              </a:ext>
            </a:extLst>
          </p:cNvPr>
          <p:cNvSpPr txBox="1"/>
          <p:nvPr/>
        </p:nvSpPr>
        <p:spPr>
          <a:xfrm>
            <a:off x="6842861" y="293542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스킬 성능 및 에러 관제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71EF02BA-85D7-2144-3652-E1EAF8B2D521}"/>
              </a:ext>
            </a:extLst>
          </p:cNvPr>
          <p:cNvSpPr txBox="1"/>
          <p:nvPr/>
        </p:nvSpPr>
        <p:spPr>
          <a:xfrm>
            <a:off x="6842860" y="308139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스킬 단위의 성공률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, </a:t>
            </a:r>
            <a:r>
              <a:rPr lang="ko-KR" altLang="en-US" sz="600" i="0" cap="all" dirty="0" err="1">
                <a:solidFill>
                  <a:srgbClr val="64748B"/>
                </a:solidFill>
                <a:effectLst/>
                <a:latin typeface="+mn-ea"/>
              </a:rPr>
              <a:t>에러율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, 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호출 빈도 실시간 모니터링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5" name="Shape 4">
            <a:extLst>
              <a:ext uri="{FF2B5EF4-FFF2-40B4-BE49-F238E27FC236}">
                <a16:creationId xmlns:a16="http://schemas.microsoft.com/office/drawing/2014/main" id="{388C7793-7782-E91A-09F3-6C6245AE4276}"/>
              </a:ext>
            </a:extLst>
          </p:cNvPr>
          <p:cNvSpPr/>
          <p:nvPr/>
        </p:nvSpPr>
        <p:spPr>
          <a:xfrm>
            <a:off x="6792061" y="341295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D5DAF012-2D32-0D8C-34B8-ED7133A6F46F}"/>
              </a:ext>
            </a:extLst>
          </p:cNvPr>
          <p:cNvSpPr txBox="1"/>
          <p:nvPr/>
        </p:nvSpPr>
        <p:spPr>
          <a:xfrm>
            <a:off x="6842861" y="343507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지속적인 스킬 로직 보완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93CBF61-23F1-8A44-63A1-3B34D1408E39}"/>
              </a:ext>
            </a:extLst>
          </p:cNvPr>
          <p:cNvSpPr txBox="1"/>
          <p:nvPr/>
        </p:nvSpPr>
        <p:spPr>
          <a:xfrm>
            <a:off x="6842860" y="358104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실패 질의 및 로직 변경 사항을 즉각 스킬에 업데이트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79" name="Shape 4">
            <a:extLst>
              <a:ext uri="{FF2B5EF4-FFF2-40B4-BE49-F238E27FC236}">
                <a16:creationId xmlns:a16="http://schemas.microsoft.com/office/drawing/2014/main" id="{8DE4486A-18DB-9193-8C49-D256722915EB}"/>
              </a:ext>
            </a:extLst>
          </p:cNvPr>
          <p:cNvSpPr/>
          <p:nvPr/>
        </p:nvSpPr>
        <p:spPr>
          <a:xfrm>
            <a:off x="6792061" y="3893344"/>
            <a:ext cx="1942397" cy="391001"/>
          </a:xfrm>
          <a:prstGeom prst="roundRect">
            <a:avLst>
              <a:gd name="adj" fmla="val 10835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EE749010-C494-EE88-4616-0E65E645E844}"/>
              </a:ext>
            </a:extLst>
          </p:cNvPr>
          <p:cNvSpPr txBox="1"/>
          <p:nvPr/>
        </p:nvSpPr>
        <p:spPr>
          <a:xfrm>
            <a:off x="6842861" y="3915466"/>
            <a:ext cx="1638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ko-KR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100% </a:t>
            </a:r>
            <a:r>
              <a:rPr lang="ko-KR" altLang="en-US" sz="800" i="0" dirty="0">
                <a:solidFill>
                  <a:srgbClr val="0F172A"/>
                </a:solidFill>
                <a:effectLst/>
                <a:latin typeface="+mj-ea"/>
                <a:ea typeface="+mj-ea"/>
              </a:rPr>
              <a:t>데이터 계보 추적</a:t>
            </a:r>
            <a:endParaRPr lang="ko-KR" altLang="ko-KR" sz="100" i="0" dirty="0">
              <a:solidFill>
                <a:srgbClr val="0F172A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C548F1E-DCAC-BB06-0E66-DD8F1B9BD6DD}"/>
              </a:ext>
            </a:extLst>
          </p:cNvPr>
          <p:cNvSpPr txBox="1"/>
          <p:nvPr/>
        </p:nvSpPr>
        <p:spPr>
          <a:xfrm>
            <a:off x="6842860" y="4061430"/>
            <a:ext cx="18283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  <a:buNone/>
            </a:pP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자연어 질의부터 최종 </a:t>
            </a:r>
            <a:r>
              <a:rPr lang="en-US" altLang="ko-KR" sz="600" i="0" cap="all" dirty="0">
                <a:solidFill>
                  <a:srgbClr val="64748B"/>
                </a:solidFill>
                <a:effectLst/>
                <a:latin typeface="+mn-ea"/>
              </a:rPr>
              <a:t>SQL</a:t>
            </a:r>
            <a:r>
              <a:rPr lang="ko-KR" altLang="en-US" sz="600" i="0" cap="all" dirty="0">
                <a:solidFill>
                  <a:srgbClr val="64748B"/>
                </a:solidFill>
                <a:effectLst/>
                <a:latin typeface="+mn-ea"/>
              </a:rPr>
              <a:t>까지 전 워크플로우 기록</a:t>
            </a:r>
            <a:endParaRPr lang="ko-KR" altLang="ko-KR" sz="600" i="0" cap="all" dirty="0">
              <a:solidFill>
                <a:srgbClr val="64748B"/>
              </a:solidFill>
              <a:effectLst/>
              <a:latin typeface="+mn-ea"/>
            </a:endParaRPr>
          </a:p>
        </p:txBody>
      </p:sp>
      <p:sp>
        <p:nvSpPr>
          <p:cNvPr id="384" name="Shape 4">
            <a:extLst>
              <a:ext uri="{FF2B5EF4-FFF2-40B4-BE49-F238E27FC236}">
                <a16:creationId xmlns:a16="http://schemas.microsoft.com/office/drawing/2014/main" id="{1E462EE2-C111-6BB2-D211-B07A9BD89896}"/>
              </a:ext>
            </a:extLst>
          </p:cNvPr>
          <p:cNvSpPr/>
          <p:nvPr/>
        </p:nvSpPr>
        <p:spPr>
          <a:xfrm>
            <a:off x="259637" y="4610890"/>
            <a:ext cx="12603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02BC6AF8-FBF5-1DF0-38AE-626643159DFB}"/>
              </a:ext>
            </a:extLst>
          </p:cNvPr>
          <p:cNvSpPr txBox="1"/>
          <p:nvPr/>
        </p:nvSpPr>
        <p:spPr>
          <a:xfrm>
            <a:off x="502535" y="4640260"/>
            <a:ext cx="1103841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Local </a:t>
            </a:r>
            <a:r>
              <a:rPr lang="en-US" altLang="ko-KR" sz="8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sLLM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 (</a:t>
            </a:r>
            <a:r>
              <a:rPr lang="ko-KR" altLang="en-US" sz="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내부</a:t>
            </a:r>
            <a:r>
              <a:rPr lang="ko-KR" altLang="en-US" sz="8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망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89" name="Shape 4">
            <a:extLst>
              <a:ext uri="{FF2B5EF4-FFF2-40B4-BE49-F238E27FC236}">
                <a16:creationId xmlns:a16="http://schemas.microsoft.com/office/drawing/2014/main" id="{0DE10B88-00E0-B331-0324-0A09584DBB72}"/>
              </a:ext>
            </a:extLst>
          </p:cNvPr>
          <p:cNvSpPr/>
          <p:nvPr/>
        </p:nvSpPr>
        <p:spPr>
          <a:xfrm>
            <a:off x="1586296" y="4615935"/>
            <a:ext cx="195612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5F8EDDFF-FC16-63E7-AE4E-90AD8095B47C}"/>
              </a:ext>
            </a:extLst>
          </p:cNvPr>
          <p:cNvSpPr txBox="1"/>
          <p:nvPr/>
        </p:nvSpPr>
        <p:spPr>
          <a:xfrm>
            <a:off x="1829195" y="4645305"/>
            <a:ext cx="1713230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외부 상용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LLM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연동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(Claude/GPT)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2" name="Shape 4">
            <a:extLst>
              <a:ext uri="{FF2B5EF4-FFF2-40B4-BE49-F238E27FC236}">
                <a16:creationId xmlns:a16="http://schemas.microsoft.com/office/drawing/2014/main" id="{DDD57091-D5D7-AEAE-DE2F-1A409F1B01ED}"/>
              </a:ext>
            </a:extLst>
          </p:cNvPr>
          <p:cNvSpPr/>
          <p:nvPr/>
        </p:nvSpPr>
        <p:spPr>
          <a:xfrm>
            <a:off x="3622312" y="4610890"/>
            <a:ext cx="2462559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BA6F83AC-385C-1A8C-7FD8-2E7802A9F544}"/>
              </a:ext>
            </a:extLst>
          </p:cNvPr>
          <p:cNvSpPr txBox="1"/>
          <p:nvPr/>
        </p:nvSpPr>
        <p:spPr>
          <a:xfrm>
            <a:off x="3865210" y="4640260"/>
            <a:ext cx="2241119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Oracle DB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활용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-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AI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메타 데이터 및 </a:t>
            </a:r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Vector </a:t>
            </a:r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연동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5" name="Shape 4">
            <a:extLst>
              <a:ext uri="{FF2B5EF4-FFF2-40B4-BE49-F238E27FC236}">
                <a16:creationId xmlns:a16="http://schemas.microsoft.com/office/drawing/2014/main" id="{2626DD26-54CD-0ADD-F450-C3521A5EFB74}"/>
              </a:ext>
            </a:extLst>
          </p:cNvPr>
          <p:cNvSpPr/>
          <p:nvPr/>
        </p:nvSpPr>
        <p:spPr>
          <a:xfrm>
            <a:off x="6179568" y="4610890"/>
            <a:ext cx="12659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E36EC57B-E4AF-0305-D570-321FA15B3DEC}"/>
              </a:ext>
            </a:extLst>
          </p:cNvPr>
          <p:cNvSpPr txBox="1"/>
          <p:nvPr/>
        </p:nvSpPr>
        <p:spPr>
          <a:xfrm>
            <a:off x="6422466" y="4640260"/>
            <a:ext cx="102304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en-US" altLang="ko-KR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Knowledge Graph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03" name="그래픽 402">
            <a:extLst>
              <a:ext uri="{FF2B5EF4-FFF2-40B4-BE49-F238E27FC236}">
                <a16:creationId xmlns:a16="http://schemas.microsoft.com/office/drawing/2014/main" id="{12950E89-5797-3257-6BCB-4E6C11162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8558" y="2998889"/>
            <a:ext cx="144000" cy="144000"/>
          </a:xfrm>
          <a:prstGeom prst="rect">
            <a:avLst/>
          </a:prstGeom>
        </p:spPr>
      </p:pic>
      <p:pic>
        <p:nvPicPr>
          <p:cNvPr id="405" name="그래픽 404">
            <a:extLst>
              <a:ext uri="{FF2B5EF4-FFF2-40B4-BE49-F238E27FC236}">
                <a16:creationId xmlns:a16="http://schemas.microsoft.com/office/drawing/2014/main" id="{F7340137-46C2-4B01-C996-51DBAD119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0617" y="3000287"/>
            <a:ext cx="144000" cy="144000"/>
          </a:xfrm>
          <a:prstGeom prst="rect">
            <a:avLst/>
          </a:prstGeom>
        </p:spPr>
      </p:pic>
      <p:pic>
        <p:nvPicPr>
          <p:cNvPr id="407" name="그래픽 406">
            <a:extLst>
              <a:ext uri="{FF2B5EF4-FFF2-40B4-BE49-F238E27FC236}">
                <a16:creationId xmlns:a16="http://schemas.microsoft.com/office/drawing/2014/main" id="{2610F20F-02F9-97A1-F307-DDE7AF5A2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65250" y="3981117"/>
            <a:ext cx="144000" cy="144000"/>
          </a:xfrm>
          <a:prstGeom prst="rect">
            <a:avLst/>
          </a:prstGeom>
        </p:spPr>
      </p:pic>
      <p:pic>
        <p:nvPicPr>
          <p:cNvPr id="413" name="그래픽 412">
            <a:extLst>
              <a:ext uri="{FF2B5EF4-FFF2-40B4-BE49-F238E27FC236}">
                <a16:creationId xmlns:a16="http://schemas.microsoft.com/office/drawing/2014/main" id="{A61C379E-CBD5-08DA-767B-2B7B1B72A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77885" y="4646955"/>
            <a:ext cx="144000" cy="144000"/>
          </a:xfrm>
          <a:prstGeom prst="rect">
            <a:avLst/>
          </a:prstGeom>
        </p:spPr>
      </p:pic>
      <p:pic>
        <p:nvPicPr>
          <p:cNvPr id="415" name="그래픽 414">
            <a:extLst>
              <a:ext uri="{FF2B5EF4-FFF2-40B4-BE49-F238E27FC236}">
                <a16:creationId xmlns:a16="http://schemas.microsoft.com/office/drawing/2014/main" id="{38BD62A9-6CA5-7A81-6F7E-7A2F794F9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2212" y="2969193"/>
            <a:ext cx="144000" cy="144000"/>
          </a:xfrm>
          <a:prstGeom prst="rect">
            <a:avLst/>
          </a:prstGeom>
        </p:spPr>
      </p:pic>
      <p:pic>
        <p:nvPicPr>
          <p:cNvPr id="417" name="그래픽 416">
            <a:extLst>
              <a:ext uri="{FF2B5EF4-FFF2-40B4-BE49-F238E27FC236}">
                <a16:creationId xmlns:a16="http://schemas.microsoft.com/office/drawing/2014/main" id="{69754FA8-C834-79BE-3F39-3AAF85BB5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5381" y="2513473"/>
            <a:ext cx="195026" cy="195026"/>
          </a:xfrm>
          <a:prstGeom prst="rect">
            <a:avLst/>
          </a:prstGeom>
        </p:spPr>
      </p:pic>
      <p:pic>
        <p:nvPicPr>
          <p:cNvPr id="419" name="그래픽 418">
            <a:extLst>
              <a:ext uri="{FF2B5EF4-FFF2-40B4-BE49-F238E27FC236}">
                <a16:creationId xmlns:a16="http://schemas.microsoft.com/office/drawing/2014/main" id="{AF749EF5-A383-35C8-66AF-D3EC1019F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3854" y="3957343"/>
            <a:ext cx="144000" cy="144000"/>
          </a:xfrm>
          <a:prstGeom prst="rect">
            <a:avLst/>
          </a:prstGeom>
        </p:spPr>
      </p:pic>
      <p:pic>
        <p:nvPicPr>
          <p:cNvPr id="421" name="그래픽 420">
            <a:extLst>
              <a:ext uri="{FF2B5EF4-FFF2-40B4-BE49-F238E27FC236}">
                <a16:creationId xmlns:a16="http://schemas.microsoft.com/office/drawing/2014/main" id="{EFC0AF7D-C615-13E8-0AC9-8227391B8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31961" y="3484101"/>
            <a:ext cx="144000" cy="144000"/>
          </a:xfrm>
          <a:prstGeom prst="rect">
            <a:avLst/>
          </a:prstGeom>
        </p:spPr>
      </p:pic>
      <p:pic>
        <p:nvPicPr>
          <p:cNvPr id="423" name="그래픽 422">
            <a:extLst>
              <a:ext uri="{FF2B5EF4-FFF2-40B4-BE49-F238E27FC236}">
                <a16:creationId xmlns:a16="http://schemas.microsoft.com/office/drawing/2014/main" id="{D85ED7BC-A3A9-4B50-2D27-C7989F315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5109" y="3491624"/>
            <a:ext cx="144000" cy="144000"/>
          </a:xfrm>
          <a:prstGeom prst="rect">
            <a:avLst/>
          </a:prstGeom>
        </p:spPr>
      </p:pic>
      <p:pic>
        <p:nvPicPr>
          <p:cNvPr id="425" name="그래픽 424">
            <a:extLst>
              <a:ext uri="{FF2B5EF4-FFF2-40B4-BE49-F238E27FC236}">
                <a16:creationId xmlns:a16="http://schemas.microsoft.com/office/drawing/2014/main" id="{37CE2800-5588-D4FA-91A0-2F82B1F776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22037" y="3973636"/>
            <a:ext cx="144000" cy="144000"/>
          </a:xfrm>
          <a:prstGeom prst="rect">
            <a:avLst/>
          </a:prstGeom>
        </p:spPr>
      </p:pic>
      <p:pic>
        <p:nvPicPr>
          <p:cNvPr id="427" name="그래픽 426">
            <a:extLst>
              <a:ext uri="{FF2B5EF4-FFF2-40B4-BE49-F238E27FC236}">
                <a16:creationId xmlns:a16="http://schemas.microsoft.com/office/drawing/2014/main" id="{6317A604-B342-6AE6-5C90-A0DE8C1D33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3929" y="4655268"/>
            <a:ext cx="144000" cy="144000"/>
          </a:xfrm>
          <a:prstGeom prst="rect">
            <a:avLst/>
          </a:prstGeom>
        </p:spPr>
      </p:pic>
      <p:pic>
        <p:nvPicPr>
          <p:cNvPr id="429" name="그래픽 428">
            <a:extLst>
              <a:ext uri="{FF2B5EF4-FFF2-40B4-BE49-F238E27FC236}">
                <a16:creationId xmlns:a16="http://schemas.microsoft.com/office/drawing/2014/main" id="{12323058-6F3B-0D3A-EC59-2EBCD690A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931" y="3964491"/>
            <a:ext cx="144000" cy="144000"/>
          </a:xfrm>
          <a:prstGeom prst="rect">
            <a:avLst/>
          </a:prstGeom>
        </p:spPr>
      </p:pic>
      <p:pic>
        <p:nvPicPr>
          <p:cNvPr id="433" name="그래픽 432">
            <a:extLst>
              <a:ext uri="{FF2B5EF4-FFF2-40B4-BE49-F238E27FC236}">
                <a16:creationId xmlns:a16="http://schemas.microsoft.com/office/drawing/2014/main" id="{72B09D05-8F18-7C0E-F139-EF91B9DE0F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294471" y="3484101"/>
            <a:ext cx="144000" cy="144000"/>
          </a:xfrm>
          <a:prstGeom prst="rect">
            <a:avLst/>
          </a:prstGeom>
        </p:spPr>
      </p:pic>
      <p:pic>
        <p:nvPicPr>
          <p:cNvPr id="437" name="그래픽 436">
            <a:extLst>
              <a:ext uri="{FF2B5EF4-FFF2-40B4-BE49-F238E27FC236}">
                <a16:creationId xmlns:a16="http://schemas.microsoft.com/office/drawing/2014/main" id="{B3CF7286-8074-DCA2-2584-64F53F502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64238" y="3524217"/>
            <a:ext cx="144000" cy="144000"/>
          </a:xfrm>
          <a:prstGeom prst="rect">
            <a:avLst/>
          </a:prstGeom>
        </p:spPr>
      </p:pic>
      <p:pic>
        <p:nvPicPr>
          <p:cNvPr id="441" name="그래픽 440">
            <a:extLst>
              <a:ext uri="{FF2B5EF4-FFF2-40B4-BE49-F238E27FC236}">
                <a16:creationId xmlns:a16="http://schemas.microsoft.com/office/drawing/2014/main" id="{41F54C82-264B-544D-9CA8-462D7165E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89294" y="2998056"/>
            <a:ext cx="144000" cy="144000"/>
          </a:xfrm>
          <a:prstGeom prst="rect">
            <a:avLst/>
          </a:prstGeom>
        </p:spPr>
      </p:pic>
      <p:pic>
        <p:nvPicPr>
          <p:cNvPr id="443" name="그래픽 442">
            <a:extLst>
              <a:ext uri="{FF2B5EF4-FFF2-40B4-BE49-F238E27FC236}">
                <a16:creationId xmlns:a16="http://schemas.microsoft.com/office/drawing/2014/main" id="{D2C489C7-63AF-C853-A222-9EDD8A295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16384" y="2504000"/>
            <a:ext cx="209469" cy="209469"/>
          </a:xfrm>
          <a:prstGeom prst="rect">
            <a:avLst/>
          </a:prstGeom>
        </p:spPr>
      </p:pic>
      <p:pic>
        <p:nvPicPr>
          <p:cNvPr id="447" name="그래픽 446">
            <a:extLst>
              <a:ext uri="{FF2B5EF4-FFF2-40B4-BE49-F238E27FC236}">
                <a16:creationId xmlns:a16="http://schemas.microsoft.com/office/drawing/2014/main" id="{D9D07F9F-A046-CB38-849D-EFEDD6FC5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8324" y="4654888"/>
            <a:ext cx="144000" cy="144000"/>
          </a:xfrm>
          <a:prstGeom prst="rect">
            <a:avLst/>
          </a:prstGeom>
        </p:spPr>
      </p:pic>
      <p:pic>
        <p:nvPicPr>
          <p:cNvPr id="448" name="그래픽 447">
            <a:extLst>
              <a:ext uri="{FF2B5EF4-FFF2-40B4-BE49-F238E27FC236}">
                <a16:creationId xmlns:a16="http://schemas.microsoft.com/office/drawing/2014/main" id="{90D9B203-23F4-65AD-E3AE-5940DBB78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5791" y="4663243"/>
            <a:ext cx="144000" cy="144000"/>
          </a:xfrm>
          <a:prstGeom prst="rect">
            <a:avLst/>
          </a:prstGeom>
        </p:spPr>
      </p:pic>
      <p:sp>
        <p:nvSpPr>
          <p:cNvPr id="450" name="이등변 삼각형 449">
            <a:extLst>
              <a:ext uri="{FF2B5EF4-FFF2-40B4-BE49-F238E27FC236}">
                <a16:creationId xmlns:a16="http://schemas.microsoft.com/office/drawing/2014/main" id="{0F6B4773-4002-E6DE-0B32-D17B454A1ABA}"/>
              </a:ext>
            </a:extLst>
          </p:cNvPr>
          <p:cNvSpPr/>
          <p:nvPr/>
        </p:nvSpPr>
        <p:spPr>
          <a:xfrm>
            <a:off x="870570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1" name="이등변 삼각형 450">
            <a:extLst>
              <a:ext uri="{FF2B5EF4-FFF2-40B4-BE49-F238E27FC236}">
                <a16:creationId xmlns:a16="http://schemas.microsoft.com/office/drawing/2014/main" id="{3A819477-1D0C-DC88-4A0F-E6C295C2BD87}"/>
              </a:ext>
            </a:extLst>
          </p:cNvPr>
          <p:cNvSpPr/>
          <p:nvPr/>
        </p:nvSpPr>
        <p:spPr>
          <a:xfrm>
            <a:off x="2497685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이등변 삼각형 451">
            <a:extLst>
              <a:ext uri="{FF2B5EF4-FFF2-40B4-BE49-F238E27FC236}">
                <a16:creationId xmlns:a16="http://schemas.microsoft.com/office/drawing/2014/main" id="{EE529CC5-60F9-C155-F7DF-B1CBCC7728C2}"/>
              </a:ext>
            </a:extLst>
          </p:cNvPr>
          <p:cNvSpPr/>
          <p:nvPr/>
        </p:nvSpPr>
        <p:spPr>
          <a:xfrm>
            <a:off x="4880438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3" name="이등변 삼각형 452">
            <a:extLst>
              <a:ext uri="{FF2B5EF4-FFF2-40B4-BE49-F238E27FC236}">
                <a16:creationId xmlns:a16="http://schemas.microsoft.com/office/drawing/2014/main" id="{071CA16B-5277-38EA-0287-9F8CE562B4CE}"/>
              </a:ext>
            </a:extLst>
          </p:cNvPr>
          <p:cNvSpPr/>
          <p:nvPr/>
        </p:nvSpPr>
        <p:spPr>
          <a:xfrm>
            <a:off x="6777096" y="4518214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7" name="Shape 4">
            <a:extLst>
              <a:ext uri="{FF2B5EF4-FFF2-40B4-BE49-F238E27FC236}">
                <a16:creationId xmlns:a16="http://schemas.microsoft.com/office/drawing/2014/main" id="{C14A9279-3AF4-4FCE-E6DE-0F2AF6FFD78F}"/>
              </a:ext>
            </a:extLst>
          </p:cNvPr>
          <p:cNvSpPr/>
          <p:nvPr/>
        </p:nvSpPr>
        <p:spPr>
          <a:xfrm>
            <a:off x="5082540" y="1976819"/>
            <a:ext cx="1707012" cy="252489"/>
          </a:xfrm>
          <a:prstGeom prst="roundRect">
            <a:avLst>
              <a:gd name="adj" fmla="val 28875"/>
            </a:avLst>
          </a:prstGeom>
          <a:solidFill>
            <a:srgbClr val="1D2537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18000" rIns="0" bIns="18000" anchor="ctr"/>
          <a:lstStyle/>
          <a:p>
            <a:pPr algn="l">
              <a:buNone/>
            </a:pP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  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Active</a:t>
            </a:r>
            <a:r>
              <a:rPr lang="ko-KR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Skills</a:t>
            </a: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- </a:t>
            </a:r>
            <a:r>
              <a:rPr lang="ko-KR" altLang="ko-KR" sz="1400" b="1" i="0" dirty="0">
                <a:solidFill>
                  <a:srgbClr val="13CEC4"/>
                </a:solidFill>
                <a:effectLst/>
                <a:latin typeface="Urbanist"/>
              </a:rPr>
              <a:t>142</a:t>
            </a:r>
            <a:endParaRPr lang="ko-KR" altLang="ko-KR" sz="900" b="1" i="0" dirty="0">
              <a:solidFill>
                <a:srgbClr val="13CEC4"/>
              </a:solidFill>
              <a:effectLst/>
              <a:latin typeface="Urbanist"/>
            </a:endParaRPr>
          </a:p>
        </p:txBody>
      </p:sp>
      <p:sp>
        <p:nvSpPr>
          <p:cNvPr id="458" name="Shape 4">
            <a:extLst>
              <a:ext uri="{FF2B5EF4-FFF2-40B4-BE49-F238E27FC236}">
                <a16:creationId xmlns:a16="http://schemas.microsoft.com/office/drawing/2014/main" id="{C2CFCB1E-8087-D895-EB1E-4CD883620517}"/>
              </a:ext>
            </a:extLst>
          </p:cNvPr>
          <p:cNvSpPr/>
          <p:nvPr/>
        </p:nvSpPr>
        <p:spPr>
          <a:xfrm>
            <a:off x="6929556" y="1976819"/>
            <a:ext cx="1707012" cy="252489"/>
          </a:xfrm>
          <a:prstGeom prst="roundRect">
            <a:avLst>
              <a:gd name="adj" fmla="val 28875"/>
            </a:avLst>
          </a:prstGeom>
          <a:solidFill>
            <a:srgbClr val="1D2537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0" tIns="18000" rIns="0" bIns="18000" anchor="ctr"/>
          <a:lstStyle/>
          <a:p>
            <a:pPr algn="l">
              <a:buNone/>
            </a:pP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Success</a:t>
            </a:r>
            <a:r>
              <a:rPr lang="ko-KR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</a:t>
            </a:r>
            <a:r>
              <a:rPr lang="ko-KR" altLang="ko-KR" sz="900" b="1" i="0" cap="all" dirty="0" err="1">
                <a:solidFill>
                  <a:srgbClr val="94A3B8"/>
                </a:solidFill>
                <a:effectLst/>
                <a:latin typeface="Urbanist"/>
              </a:rPr>
              <a:t>Rate</a:t>
            </a:r>
            <a:r>
              <a:rPr lang="en-US" altLang="ko-KR" sz="900" b="1" i="0" cap="all" dirty="0">
                <a:solidFill>
                  <a:srgbClr val="94A3B8"/>
                </a:solidFill>
                <a:effectLst/>
                <a:latin typeface="Urbanist"/>
              </a:rPr>
              <a:t> - </a:t>
            </a:r>
            <a:r>
              <a:rPr lang="en-US" altLang="ko-KR" sz="900" b="1" cap="all" dirty="0">
                <a:solidFill>
                  <a:srgbClr val="94A3B8"/>
                </a:solidFill>
                <a:latin typeface="Urbanist"/>
              </a:rPr>
              <a:t> </a:t>
            </a:r>
            <a:r>
              <a:rPr lang="ko-KR" altLang="ko-KR" sz="1400" b="1" i="0" dirty="0">
                <a:solidFill>
                  <a:srgbClr val="13CEC4"/>
                </a:solidFill>
                <a:effectLst/>
                <a:latin typeface="Urbanist"/>
              </a:rPr>
              <a:t>99.8%</a:t>
            </a:r>
          </a:p>
        </p:txBody>
      </p:sp>
      <p:pic>
        <p:nvPicPr>
          <p:cNvPr id="460" name="그래픽 459" descr="배지 체크 표시1 단색으로 채워진">
            <a:extLst>
              <a:ext uri="{FF2B5EF4-FFF2-40B4-BE49-F238E27FC236}">
                <a16:creationId xmlns:a16="http://schemas.microsoft.com/office/drawing/2014/main" id="{6D7023E5-ADEF-F7C2-EB0E-47A08AD7A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94584" y="2021286"/>
            <a:ext cx="149329" cy="149329"/>
          </a:xfrm>
          <a:prstGeom prst="rect">
            <a:avLst/>
          </a:prstGeom>
        </p:spPr>
      </p:pic>
      <p:pic>
        <p:nvPicPr>
          <p:cNvPr id="462" name="그래픽 461" descr="상향 추세 단색으로 채워진">
            <a:extLst>
              <a:ext uri="{FF2B5EF4-FFF2-40B4-BE49-F238E27FC236}">
                <a16:creationId xmlns:a16="http://schemas.microsoft.com/office/drawing/2014/main" id="{DB6F4309-E89A-6904-C65E-3E4DDEFA2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23263" t="21528" b="26214"/>
          <a:stretch>
            <a:fillRect/>
          </a:stretch>
        </p:blipFill>
        <p:spPr>
          <a:xfrm>
            <a:off x="6313087" y="2002235"/>
            <a:ext cx="354414" cy="18812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D2CE1F1D-F2FB-A597-71ED-93548A892416}"/>
              </a:ext>
            </a:extLst>
          </p:cNvPr>
          <p:cNvSpPr/>
          <p:nvPr/>
        </p:nvSpPr>
        <p:spPr>
          <a:xfrm>
            <a:off x="7533263" y="4610328"/>
            <a:ext cx="1265942" cy="216131"/>
          </a:xfrm>
          <a:prstGeom prst="roundRect">
            <a:avLst>
              <a:gd name="adj" fmla="val 16599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BA6C1-AF68-7B19-A168-DE97B31F550D}"/>
              </a:ext>
            </a:extLst>
          </p:cNvPr>
          <p:cNvSpPr txBox="1"/>
          <p:nvPr/>
        </p:nvSpPr>
        <p:spPr>
          <a:xfrm>
            <a:off x="7776161" y="4639698"/>
            <a:ext cx="1023043" cy="163501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r>
              <a:rPr lang="ko-KR" altLang="en-US" sz="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내부 문서 관리 시스템</a:t>
            </a:r>
            <a:endParaRPr lang="ko-KR" altLang="en-US" sz="5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6EAE89B5-045A-02DF-0CD0-832B0A0CF826}"/>
              </a:ext>
            </a:extLst>
          </p:cNvPr>
          <p:cNvSpPr/>
          <p:nvPr/>
        </p:nvSpPr>
        <p:spPr>
          <a:xfrm>
            <a:off x="8130791" y="4517652"/>
            <a:ext cx="133350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AD61324-2A10-4C13-5032-61B856903DAB}"/>
              </a:ext>
            </a:extLst>
          </p:cNvPr>
          <p:cNvGrpSpPr/>
          <p:nvPr/>
        </p:nvGrpSpPr>
        <p:grpSpPr>
          <a:xfrm>
            <a:off x="7608964" y="4634860"/>
            <a:ext cx="170609" cy="170609"/>
            <a:chOff x="2530648" y="3916717"/>
            <a:chExt cx="246899" cy="246899"/>
          </a:xfrm>
        </p:grpSpPr>
        <p:pic>
          <p:nvPicPr>
            <p:cNvPr id="9" name="그래픽 8" descr="용지 단색으로 채워진">
              <a:extLst>
                <a:ext uri="{FF2B5EF4-FFF2-40B4-BE49-F238E27FC236}">
                  <a16:creationId xmlns:a16="http://schemas.microsoft.com/office/drawing/2014/main" id="{E3D72A15-F6D1-56A5-C2FB-24A3D800B3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530648" y="3916717"/>
              <a:ext cx="246899" cy="246899"/>
            </a:xfrm>
            <a:prstGeom prst="rect">
              <a:avLst/>
            </a:prstGeom>
          </p:spPr>
        </p:pic>
        <p:pic>
          <p:nvPicPr>
            <p:cNvPr id="11" name="그래픽 10" descr="서명 단색으로 채워진">
              <a:extLst>
                <a:ext uri="{FF2B5EF4-FFF2-40B4-BE49-F238E27FC236}">
                  <a16:creationId xmlns:a16="http://schemas.microsoft.com/office/drawing/2014/main" id="{700B7DD2-D664-8483-DB9C-DF20369888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586990" y="3999992"/>
              <a:ext cx="137160" cy="137160"/>
            </a:xfrm>
            <a:prstGeom prst="rect">
              <a:avLst/>
            </a:prstGeom>
          </p:spPr>
        </p:pic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D49821-A0CD-0472-F996-E30E8D02AAE2}"/>
              </a:ext>
            </a:extLst>
          </p:cNvPr>
          <p:cNvCxnSpPr/>
          <p:nvPr/>
        </p:nvCxnSpPr>
        <p:spPr>
          <a:xfrm>
            <a:off x="270981" y="2837104"/>
            <a:ext cx="8595360" cy="0"/>
          </a:xfrm>
          <a:prstGeom prst="line">
            <a:avLst/>
          </a:prstGeom>
          <a:ln>
            <a:solidFill>
              <a:srgbClr val="13CEC4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904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1AAA-9E38-4446-7EA8-978E9A37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4">
            <a:extLst>
              <a:ext uri="{FF2B5EF4-FFF2-40B4-BE49-F238E27FC236}">
                <a16:creationId xmlns:a16="http://schemas.microsoft.com/office/drawing/2014/main" id="{11E2559F-3D4C-9C29-8737-3291BCD961DB}"/>
              </a:ext>
            </a:extLst>
          </p:cNvPr>
          <p:cNvSpPr/>
          <p:nvPr/>
        </p:nvSpPr>
        <p:spPr>
          <a:xfrm>
            <a:off x="2684478" y="1647125"/>
            <a:ext cx="3446430" cy="1852734"/>
          </a:xfrm>
          <a:prstGeom prst="roundRect">
            <a:avLst>
              <a:gd name="adj" fmla="val 2742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36" name="Google Shape;107;p13">
            <a:extLst>
              <a:ext uri="{FF2B5EF4-FFF2-40B4-BE49-F238E27FC236}">
                <a16:creationId xmlns:a16="http://schemas.microsoft.com/office/drawing/2014/main" id="{CCBCCE4B-9677-B94C-8469-5FA45A57EB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26677" y="2416497"/>
            <a:ext cx="1252977" cy="2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E70EF37B-A25B-40D2-8F0E-69F73C68138E}"/>
              </a:ext>
            </a:extLst>
          </p:cNvPr>
          <p:cNvSpPr/>
          <p:nvPr/>
        </p:nvSpPr>
        <p:spPr>
          <a:xfrm>
            <a:off x="141746" y="3943474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38" name="사각형: 둥근 모서리 1037">
            <a:extLst>
              <a:ext uri="{FF2B5EF4-FFF2-40B4-BE49-F238E27FC236}">
                <a16:creationId xmlns:a16="http://schemas.microsoft.com/office/drawing/2014/main" id="{E69F83DA-A04C-412D-93C6-365A927F8EF8}"/>
              </a:ext>
            </a:extLst>
          </p:cNvPr>
          <p:cNvSpPr/>
          <p:nvPr/>
        </p:nvSpPr>
        <p:spPr>
          <a:xfrm>
            <a:off x="141746" y="3349083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30" name="사각형: 둥근 모서리 1029">
            <a:extLst>
              <a:ext uri="{FF2B5EF4-FFF2-40B4-BE49-F238E27FC236}">
                <a16:creationId xmlns:a16="http://schemas.microsoft.com/office/drawing/2014/main" id="{D3B1399B-906B-4FAA-8826-4650FB642945}"/>
              </a:ext>
            </a:extLst>
          </p:cNvPr>
          <p:cNvSpPr/>
          <p:nvPr/>
        </p:nvSpPr>
        <p:spPr>
          <a:xfrm>
            <a:off x="141746" y="2754692"/>
            <a:ext cx="2223038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9C031CF8-76BC-4527-8A86-C87C280B359A}"/>
              </a:ext>
            </a:extLst>
          </p:cNvPr>
          <p:cNvSpPr/>
          <p:nvPr/>
        </p:nvSpPr>
        <p:spPr>
          <a:xfrm>
            <a:off x="141746" y="2160301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29642A4-AE2E-40BD-82B6-1A604F799137}"/>
              </a:ext>
            </a:extLst>
          </p:cNvPr>
          <p:cNvSpPr/>
          <p:nvPr/>
        </p:nvSpPr>
        <p:spPr>
          <a:xfrm>
            <a:off x="141746" y="1565910"/>
            <a:ext cx="2239899" cy="508000"/>
          </a:xfrm>
          <a:prstGeom prst="roundRect">
            <a:avLst/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2C50C35-9D68-802A-4B9C-2E16B8D4CA0D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FDB1F1BA-E68B-C225-188B-64F66D2F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지능형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LLM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위키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(Wiki)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및 전사 지식 자산화 파이프라인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B5B6F0D-052D-157A-076B-AE2483B3E0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ED0C3D2-8550-BDE7-9DDB-6ACCC2DB856A}"/>
              </a:ext>
            </a:extLst>
          </p:cNvPr>
          <p:cNvSpPr txBox="1"/>
          <p:nvPr/>
        </p:nvSpPr>
        <p:spPr>
          <a:xfrm>
            <a:off x="256032" y="643010"/>
            <a:ext cx="8595360" cy="4598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5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단계 파이프라인으로 수집된 사내 문서를 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Wiki </a:t>
            </a:r>
            <a:r>
              <a:rPr lang="ko-KR" altLang="en-US" sz="1100" b="1" dirty="0">
                <a:solidFill>
                  <a:srgbClr val="0F172A"/>
                </a:solidFill>
                <a:cs typeface="Noto Sans KR"/>
                <a:sym typeface="Noto Sans KR"/>
              </a:rPr>
              <a:t>자산화 스토리지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(</a:t>
            </a:r>
            <a:r>
              <a:rPr lang="en-US" altLang="ko-KR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wiki_pages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 &amp; </a:t>
            </a:r>
            <a:r>
              <a:rPr lang="en-US" altLang="ko-KR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wiki_embed</a:t>
            </a:r>
            <a:r>
              <a:rPr lang="en-US" altLang="ko-KR" sz="1100" b="1" dirty="0">
                <a:solidFill>
                  <a:srgbClr val="0F172A"/>
                </a:solidFill>
                <a:cs typeface="Noto Sans KR"/>
                <a:sym typeface="Noto Sans KR"/>
              </a:rPr>
              <a:t>)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에 물리적으로 격리해 적재하고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, </a:t>
            </a:r>
            <a:r>
              <a:rPr lang="ko-KR" altLang="en-US" sz="1100" b="1" dirty="0" err="1">
                <a:solidFill>
                  <a:srgbClr val="0F172A"/>
                </a:solidFill>
                <a:cs typeface="Noto Sans KR"/>
                <a:sym typeface="Noto Sans KR"/>
              </a:rPr>
              <a:t>시맨틱</a:t>
            </a:r>
            <a:r>
              <a:rPr lang="ko-KR" altLang="en-US" sz="1100" b="1" dirty="0">
                <a:solidFill>
                  <a:srgbClr val="0F172A"/>
                </a:solidFill>
                <a:cs typeface="Noto Sans KR"/>
                <a:sym typeface="Noto Sans KR"/>
              </a:rPr>
              <a:t> 레이어와 연동</a:t>
            </a:r>
            <a:r>
              <a:rPr lang="ko-KR" altLang="en-US" sz="1100" dirty="0">
                <a:solidFill>
                  <a:srgbClr val="334155"/>
                </a:solidFill>
                <a:cs typeface="Noto Sans KR"/>
                <a:sym typeface="Noto Sans KR"/>
              </a:rPr>
              <a:t>하여 실시간 비즈니스 질의 활용성을 극대화합니다</a:t>
            </a:r>
            <a:r>
              <a:rPr lang="en-US" altLang="ko-KR" sz="1100" dirty="0">
                <a:solidFill>
                  <a:srgbClr val="334155"/>
                </a:solidFill>
                <a:cs typeface="Noto Sans KR"/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7" name="Google Shape;87;p13">
            <a:extLst>
              <a:ext uri="{FF2B5EF4-FFF2-40B4-BE49-F238E27FC236}">
                <a16:creationId xmlns:a16="http://schemas.microsoft.com/office/drawing/2014/main" id="{642BE892-95FE-72AF-3AE9-A578E95F0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9120" y="1701611"/>
            <a:ext cx="2504848" cy="80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8;p13">
            <a:extLst>
              <a:ext uri="{FF2B5EF4-FFF2-40B4-BE49-F238E27FC236}">
                <a16:creationId xmlns:a16="http://schemas.microsoft.com/office/drawing/2014/main" id="{208D12ED-20E5-5EEB-1C3B-574E15F709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9120" y="2790143"/>
            <a:ext cx="2504848" cy="1646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4;p13">
            <a:extLst>
              <a:ext uri="{FF2B5EF4-FFF2-40B4-BE49-F238E27FC236}">
                <a16:creationId xmlns:a16="http://schemas.microsoft.com/office/drawing/2014/main" id="{5D401FBD-E368-5CB4-A485-E9301CBC718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5530" y="3631493"/>
            <a:ext cx="3465378" cy="72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96;p13">
            <a:extLst>
              <a:ext uri="{FF2B5EF4-FFF2-40B4-BE49-F238E27FC236}">
                <a16:creationId xmlns:a16="http://schemas.microsoft.com/office/drawing/2014/main" id="{A9CED44F-C6A0-FC73-3BE6-41313C4CD01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2260" y="3578060"/>
            <a:ext cx="2298566" cy="75353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17;p13">
            <a:extLst>
              <a:ext uri="{FF2B5EF4-FFF2-40B4-BE49-F238E27FC236}">
                <a16:creationId xmlns:a16="http://schemas.microsoft.com/office/drawing/2014/main" id="{24A94BA0-E7B6-0867-6B1C-AC6C33680AB3}"/>
              </a:ext>
            </a:extLst>
          </p:cNvPr>
          <p:cNvSpPr txBox="1"/>
          <p:nvPr/>
        </p:nvSpPr>
        <p:spPr>
          <a:xfrm>
            <a:off x="216916" y="1376061"/>
            <a:ext cx="212414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1. Wiki Ingest </a:t>
            </a:r>
            <a:r>
              <a:rPr lang="ko-KR" altLang="en-US" sz="800" b="1" i="0" u="none" strike="noStrike" cap="none" dirty="0">
                <a:solidFill>
                  <a:srgbClr val="0F172A"/>
                </a:solidFill>
                <a:sym typeface="Noto Sans KR"/>
              </a:rPr>
              <a:t>파이프라인</a:t>
            </a:r>
          </a:p>
        </p:txBody>
      </p:sp>
      <p:sp>
        <p:nvSpPr>
          <p:cNvPr id="36" name="Google Shape;118;p13">
            <a:extLst>
              <a:ext uri="{FF2B5EF4-FFF2-40B4-BE49-F238E27FC236}">
                <a16:creationId xmlns:a16="http://schemas.microsoft.com/office/drawing/2014/main" id="{C09B401D-13FF-E79A-F674-1DD102296F17}"/>
              </a:ext>
            </a:extLst>
          </p:cNvPr>
          <p:cNvSpPr txBox="1"/>
          <p:nvPr/>
        </p:nvSpPr>
        <p:spPr>
          <a:xfrm>
            <a:off x="2867598" y="1406767"/>
            <a:ext cx="345466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2. WIKI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자산화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스토리지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(STORAGE HUB)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37" name="Google Shape;119;p13">
            <a:extLst>
              <a:ext uri="{FF2B5EF4-FFF2-40B4-BE49-F238E27FC236}">
                <a16:creationId xmlns:a16="http://schemas.microsoft.com/office/drawing/2014/main" id="{9F5B2222-44BE-7A9A-8149-021E15073671}"/>
              </a:ext>
            </a:extLst>
          </p:cNvPr>
          <p:cNvSpPr txBox="1"/>
          <p:nvPr/>
        </p:nvSpPr>
        <p:spPr>
          <a:xfrm>
            <a:off x="6433323" y="1417320"/>
            <a:ext cx="2583676" cy="14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F172A"/>
                </a:solidFill>
                <a:sym typeface="Noto Sans KR"/>
              </a:rPr>
              <a:t>3. SEMANTIC UTILIZATION (활용 단계)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38" name="Google Shape;120;p13">
            <a:extLst>
              <a:ext uri="{FF2B5EF4-FFF2-40B4-BE49-F238E27FC236}">
                <a16:creationId xmlns:a16="http://schemas.microsoft.com/office/drawing/2014/main" id="{03D75B3A-3479-E14D-1DB0-C0721373940F}"/>
              </a:ext>
            </a:extLst>
          </p:cNvPr>
          <p:cNvSpPr txBox="1"/>
          <p:nvPr/>
        </p:nvSpPr>
        <p:spPr>
          <a:xfrm>
            <a:off x="567240" y="4574972"/>
            <a:ext cx="672993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Vendor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분리형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Fail-soft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엔지니어링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설계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기반의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무중단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운영</a:t>
            </a:r>
            <a:r>
              <a:rPr lang="en-US" sz="800" b="1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chemeClr val="tx1"/>
                </a:solidFill>
                <a:sym typeface="Noto Sans KR"/>
              </a:rPr>
              <a:t>보장</a:t>
            </a:r>
            <a:endParaRPr dirty="0">
              <a:solidFill>
                <a:schemeClr val="tx1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39" name="Google Shape;121;p13">
            <a:extLst>
              <a:ext uri="{FF2B5EF4-FFF2-40B4-BE49-F238E27FC236}">
                <a16:creationId xmlns:a16="http://schemas.microsoft.com/office/drawing/2014/main" id="{7E047079-74EA-DC87-209E-73E8CC8B9E00}"/>
              </a:ext>
            </a:extLst>
          </p:cNvPr>
          <p:cNvSpPr txBox="1"/>
          <p:nvPr/>
        </p:nvSpPr>
        <p:spPr>
          <a:xfrm>
            <a:off x="567240" y="4734340"/>
            <a:ext cx="7812728" cy="15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각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문서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변환기는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독립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프로세스로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격리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구동됩니다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.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사내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보고서나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제안서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파싱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중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특정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결함이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발생하더라도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전체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위키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서버는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중단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없이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가용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포맷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자산에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한해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무중단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질의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서비스를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chemeClr val="tx1"/>
                </a:solidFill>
                <a:sym typeface="Noto Sans KR"/>
              </a:rPr>
              <a:t>보장합니다</a:t>
            </a:r>
            <a:r>
              <a:rPr lang="en-US" sz="700" b="0" i="0" u="none" strike="noStrike" cap="none" dirty="0">
                <a:solidFill>
                  <a:schemeClr val="tx1"/>
                </a:solidFill>
                <a:sym typeface="Noto Sans KR"/>
              </a:rPr>
              <a:t>.</a:t>
            </a:r>
            <a:endParaRPr dirty="0">
              <a:solidFill>
                <a:schemeClr val="tx1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42" name="Google Shape;124;p13">
            <a:extLst>
              <a:ext uri="{FF2B5EF4-FFF2-40B4-BE49-F238E27FC236}">
                <a16:creationId xmlns:a16="http://schemas.microsoft.com/office/drawing/2014/main" id="{E1039AD6-6B6C-0976-FA93-C23B2D365EF2}"/>
              </a:ext>
            </a:extLst>
          </p:cNvPr>
          <p:cNvSpPr txBox="1"/>
          <p:nvPr/>
        </p:nvSpPr>
        <p:spPr>
          <a:xfrm>
            <a:off x="6639604" y="1828838"/>
            <a:ext cx="2258783" cy="14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0F172A"/>
                </a:solidFill>
                <a:sym typeface="Noto Sans KR"/>
              </a:rPr>
              <a:t>의미 기반 하이브리드 검색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3" name="Google Shape;125;p13">
            <a:extLst>
              <a:ext uri="{FF2B5EF4-FFF2-40B4-BE49-F238E27FC236}">
                <a16:creationId xmlns:a16="http://schemas.microsoft.com/office/drawing/2014/main" id="{7D6C6841-9C06-D4DD-14B8-4133AED5E0E0}"/>
              </a:ext>
            </a:extLst>
          </p:cNvPr>
          <p:cNvSpPr txBox="1"/>
          <p:nvPr/>
        </p:nvSpPr>
        <p:spPr>
          <a:xfrm>
            <a:off x="6492260" y="2038388"/>
            <a:ext cx="2298566" cy="36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현업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용어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(Jargon)나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모호한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질문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입력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시,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키워드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(BM25)와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의미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벡터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분석을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결합해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질문자의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진짜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숨은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의도를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파악하여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관련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자산을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정밀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475569"/>
                </a:solidFill>
                <a:sym typeface="Noto Sans KR"/>
              </a:rPr>
              <a:t>탐색합니다</a:t>
            </a:r>
            <a:r>
              <a:rPr lang="en-US" sz="700" b="0" i="0" u="none" strike="noStrike" cap="none" dirty="0">
                <a:solidFill>
                  <a:srgbClr val="475569"/>
                </a:solidFill>
                <a:sym typeface="Noto Sans KR"/>
              </a:rPr>
              <a:t>.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44" name="Google Shape;126;p13">
            <a:extLst>
              <a:ext uri="{FF2B5EF4-FFF2-40B4-BE49-F238E27FC236}">
                <a16:creationId xmlns:a16="http://schemas.microsoft.com/office/drawing/2014/main" id="{2FF58434-D1CA-3AF4-61A8-7BF0840105DD}"/>
              </a:ext>
            </a:extLst>
          </p:cNvPr>
          <p:cNvSpPr txBox="1"/>
          <p:nvPr/>
        </p:nvSpPr>
        <p:spPr>
          <a:xfrm>
            <a:off x="6632237" y="2930653"/>
            <a:ext cx="226651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근거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기반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추론</a:t>
            </a:r>
            <a:r>
              <a:rPr lang="en-US" sz="8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800" b="1" i="0" u="none" strike="noStrike" cap="none" dirty="0" err="1">
                <a:solidFill>
                  <a:srgbClr val="0F172A"/>
                </a:solidFill>
                <a:sym typeface="Noto Sans KR"/>
              </a:rPr>
              <a:t>접지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45" name="Google Shape;127;p13">
            <a:extLst>
              <a:ext uri="{FF2B5EF4-FFF2-40B4-BE49-F238E27FC236}">
                <a16:creationId xmlns:a16="http://schemas.microsoft.com/office/drawing/2014/main" id="{3BC96228-E2E4-66C0-4B7C-A4B62C31014B}"/>
              </a:ext>
            </a:extLst>
          </p:cNvPr>
          <p:cNvSpPr txBox="1"/>
          <p:nvPr/>
        </p:nvSpPr>
        <p:spPr>
          <a:xfrm>
            <a:off x="6492260" y="3126920"/>
            <a:ext cx="2298566" cy="361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인출된 위키 내 자동 연결된 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[[wikilink]]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 관계망을 역추적하여 답변을 도출합니다. 명확한 사실(Fact)과 본문 출처(Citation)를 표기하여 AI 환각을 완벽히 격리합니다.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6" name="Google Shape;128;p13">
            <a:extLst>
              <a:ext uri="{FF2B5EF4-FFF2-40B4-BE49-F238E27FC236}">
                <a16:creationId xmlns:a16="http://schemas.microsoft.com/office/drawing/2014/main" id="{F9E3F7F6-28AF-D6C7-C67E-C27622CA00AD}"/>
              </a:ext>
            </a:extLst>
          </p:cNvPr>
          <p:cNvSpPr txBox="1"/>
          <p:nvPr/>
        </p:nvSpPr>
        <p:spPr>
          <a:xfrm>
            <a:off x="4259999" y="2623421"/>
            <a:ext cx="279953" cy="82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028090"/>
                </a:solidFill>
                <a:sym typeface="Urbanist"/>
              </a:rPr>
              <a:t>Wiki Core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48" name="Google Shape;130;p13">
            <a:extLst>
              <a:ext uri="{FF2B5EF4-FFF2-40B4-BE49-F238E27FC236}">
                <a16:creationId xmlns:a16="http://schemas.microsoft.com/office/drawing/2014/main" id="{7B4949D9-D864-43F7-8B83-317F25EF1FA8}"/>
              </a:ext>
            </a:extLst>
          </p:cNvPr>
          <p:cNvSpPr txBox="1"/>
          <p:nvPr/>
        </p:nvSpPr>
        <p:spPr>
          <a:xfrm>
            <a:off x="3088614" y="1838778"/>
            <a:ext cx="1136676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[[사내_복리후생규정_2026]]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2" name="Google Shape;134;p13">
            <a:extLst>
              <a:ext uri="{FF2B5EF4-FFF2-40B4-BE49-F238E27FC236}">
                <a16:creationId xmlns:a16="http://schemas.microsoft.com/office/drawing/2014/main" id="{5ACC40C4-C64E-88A6-3ACF-949214AEA8F3}"/>
              </a:ext>
            </a:extLst>
          </p:cNvPr>
          <p:cNvSpPr txBox="1"/>
          <p:nvPr/>
        </p:nvSpPr>
        <p:spPr>
          <a:xfrm>
            <a:off x="2890728" y="2474912"/>
            <a:ext cx="10903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latin typeface="SUIT" pitchFamily="2" charset="-127"/>
                <a:ea typeface="SUIT" pitchFamily="2" charset="-127"/>
                <a:sym typeface="Noto Sans KR"/>
              </a:rPr>
              <a:t>[[A_Project_제안서_v1.2]]</a:t>
            </a:r>
            <a:endParaRPr dirty="0">
              <a:latin typeface="SUIT" pitchFamily="2" charset="-127"/>
              <a:ea typeface="SUIT" pitchFamily="2" charset="-127"/>
              <a:cs typeface="SUIT"/>
            </a:endParaRPr>
          </a:p>
        </p:txBody>
      </p:sp>
      <p:sp>
        <p:nvSpPr>
          <p:cNvPr id="54" name="Google Shape;136;p13">
            <a:extLst>
              <a:ext uri="{FF2B5EF4-FFF2-40B4-BE49-F238E27FC236}">
                <a16:creationId xmlns:a16="http://schemas.microsoft.com/office/drawing/2014/main" id="{4C2EC59B-1D14-A3F1-4213-E6A187BEEF01}"/>
              </a:ext>
            </a:extLst>
          </p:cNvPr>
          <p:cNvSpPr txBox="1"/>
          <p:nvPr/>
        </p:nvSpPr>
        <p:spPr>
          <a:xfrm>
            <a:off x="5111777" y="2587171"/>
            <a:ext cx="775943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FFFFFF"/>
                </a:solidFill>
                <a:sym typeface="Noto Sans KR"/>
              </a:rPr>
              <a:t>영업팀_전략회의록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6" name="Google Shape;138;p13">
            <a:extLst>
              <a:ext uri="{FF2B5EF4-FFF2-40B4-BE49-F238E27FC236}">
                <a16:creationId xmlns:a16="http://schemas.microsoft.com/office/drawing/2014/main" id="{184B8509-E257-BE59-DE5A-23BDB73F7608}"/>
              </a:ext>
            </a:extLst>
          </p:cNvPr>
          <p:cNvSpPr txBox="1"/>
          <p:nvPr/>
        </p:nvSpPr>
        <p:spPr>
          <a:xfrm>
            <a:off x="3140184" y="3176062"/>
            <a:ext cx="101667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[[일보_인프라파트_0525]]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8" name="Google Shape;140;p13">
            <a:extLst>
              <a:ext uri="{FF2B5EF4-FFF2-40B4-BE49-F238E27FC236}">
                <a16:creationId xmlns:a16="http://schemas.microsoft.com/office/drawing/2014/main" id="{0104D08E-67BA-E908-7E27-6EF8B8C4B5B3}"/>
              </a:ext>
            </a:extLst>
          </p:cNvPr>
          <p:cNvSpPr txBox="1"/>
          <p:nvPr/>
        </p:nvSpPr>
        <p:spPr>
          <a:xfrm>
            <a:off x="4819906" y="3101223"/>
            <a:ext cx="106781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FFFFFF"/>
                </a:solidFill>
                <a:sym typeface="Noto Sans KR"/>
              </a:rPr>
              <a:t>사내_보안지침_개정안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59" name="Google Shape;141;p13">
            <a:extLst>
              <a:ext uri="{FF2B5EF4-FFF2-40B4-BE49-F238E27FC236}">
                <a16:creationId xmlns:a16="http://schemas.microsoft.com/office/drawing/2014/main" id="{794FE0C0-6E82-AF81-4A0B-C456E3868ED4}"/>
              </a:ext>
            </a:extLst>
          </p:cNvPr>
          <p:cNvSpPr txBox="1"/>
          <p:nvPr/>
        </p:nvSpPr>
        <p:spPr>
          <a:xfrm>
            <a:off x="2742356" y="3698849"/>
            <a:ext cx="332316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벡터 </a:t>
            </a:r>
            <a:r>
              <a:rPr lang="en-US" altLang="ko-KR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DB </a:t>
            </a:r>
            <a:r>
              <a:rPr lang="ko-KR" altLang="en-US" sz="900" b="1" i="0" u="none" strike="noStrike" cap="none" dirty="0">
                <a:solidFill>
                  <a:srgbClr val="0D9488"/>
                </a:solidFill>
                <a:latin typeface="SUIT" pitchFamily="2" charset="-127"/>
                <a:ea typeface="SUIT" pitchFamily="2" charset="-127"/>
                <a:sym typeface="Urbanist"/>
              </a:rPr>
              <a:t> </a:t>
            </a:r>
            <a:r>
              <a:rPr lang="ko-KR" altLang="en-US" sz="900" b="1" i="0" u="none" strike="noStrike" cap="none" dirty="0">
                <a:solidFill>
                  <a:srgbClr val="0F172A"/>
                </a:solidFill>
                <a:latin typeface="SUIT" pitchFamily="2" charset="-127"/>
                <a:ea typeface="SUIT" pitchFamily="2" charset="-127"/>
                <a:sym typeface="Urbanist"/>
              </a:rPr>
              <a:t>통합 지식 저장소 </a:t>
            </a:r>
            <a:r>
              <a:rPr lang="en-US" altLang="ko-KR" sz="900" b="1" i="0" u="none" strike="noStrike" cap="none" dirty="0">
                <a:solidFill>
                  <a:srgbClr val="0F172A"/>
                </a:solidFill>
                <a:latin typeface="SUIT" pitchFamily="2" charset="-127"/>
                <a:ea typeface="SUIT" pitchFamily="2" charset="-127"/>
                <a:sym typeface="Urbanist"/>
              </a:rPr>
              <a:t>(PG Vector Integrated DB)</a:t>
            </a:r>
            <a:endParaRPr sz="900" dirty="0">
              <a:latin typeface="SUIT" pitchFamily="2" charset="-127"/>
              <a:ea typeface="SUIT" pitchFamily="2" charset="-127"/>
              <a:cs typeface="SUIT"/>
            </a:endParaRPr>
          </a:p>
        </p:txBody>
      </p:sp>
      <p:sp>
        <p:nvSpPr>
          <p:cNvPr id="60" name="Google Shape;142;p13">
            <a:extLst>
              <a:ext uri="{FF2B5EF4-FFF2-40B4-BE49-F238E27FC236}">
                <a16:creationId xmlns:a16="http://schemas.microsoft.com/office/drawing/2014/main" id="{FA6450AB-4F9D-CBEE-BF28-473705728008}"/>
              </a:ext>
            </a:extLst>
          </p:cNvPr>
          <p:cNvSpPr txBox="1"/>
          <p:nvPr/>
        </p:nvSpPr>
        <p:spPr>
          <a:xfrm>
            <a:off x="2731472" y="3904996"/>
            <a:ext cx="3323164" cy="280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정제된 마크다운</a:t>
            </a:r>
            <a:r>
              <a:rPr lang="en-US" altLang="ko-KR" sz="700" b="0" i="0" u="none" strike="noStrike" cap="none" dirty="0">
                <a:solidFill>
                  <a:srgbClr val="64748B"/>
                </a:solidFill>
                <a:sym typeface="Noto Sans KR"/>
              </a:rPr>
              <a:t>(Markdown) 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문서 자산을 고속 </a:t>
            </a:r>
            <a:r>
              <a:rPr lang="ko-KR" alt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시맨틱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검색용 고차원 벡터 데이터로 인덱싱하여 </a:t>
            </a:r>
            <a:r>
              <a:rPr lang="en-US" altLang="ko-KR" sz="700" b="0" i="0" u="none" strike="noStrike" cap="none" dirty="0">
                <a:solidFill>
                  <a:srgbClr val="64748B"/>
                </a:solidFill>
                <a:sym typeface="Noto Sans KR"/>
              </a:rPr>
              <a:t>Vector DB </a:t>
            </a:r>
            <a:r>
              <a:rPr lang="ko-KR" altLang="en-US" sz="700" b="0" i="0" u="none" strike="noStrike" cap="none" dirty="0">
                <a:solidFill>
                  <a:srgbClr val="64748B"/>
                </a:solidFill>
                <a:sym typeface="Noto Sans KR"/>
              </a:rPr>
              <a:t>레이어에 통합 적재 및 실시간 활용</a:t>
            </a:r>
            <a:endParaRPr dirty="0">
              <a:solidFill>
                <a:srgbClr val="0D9488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026" name="Google Shape;147;p13">
            <a:extLst>
              <a:ext uri="{FF2B5EF4-FFF2-40B4-BE49-F238E27FC236}">
                <a16:creationId xmlns:a16="http://schemas.microsoft.com/office/drawing/2014/main" id="{73D0ABC8-188F-2481-FDB8-3010A39E3045}"/>
              </a:ext>
            </a:extLst>
          </p:cNvPr>
          <p:cNvSpPr txBox="1"/>
          <p:nvPr/>
        </p:nvSpPr>
        <p:spPr>
          <a:xfrm>
            <a:off x="6558565" y="3690319"/>
            <a:ext cx="2099652" cy="29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Q. "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취업규칙상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연차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보상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기준이랑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지난주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보고된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정산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현황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28090"/>
                </a:solidFill>
                <a:sym typeface="Noto Sans KR"/>
              </a:rPr>
              <a:t>확인해줘</a:t>
            </a:r>
            <a:r>
              <a:rPr lang="en-US" sz="700" b="1" i="0" u="none" strike="noStrike" cap="none" dirty="0">
                <a:solidFill>
                  <a:srgbClr val="028090"/>
                </a:solidFill>
                <a:sym typeface="Noto Sans KR"/>
              </a:rPr>
              <a:t>"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27" name="Google Shape;148;p13">
            <a:extLst>
              <a:ext uri="{FF2B5EF4-FFF2-40B4-BE49-F238E27FC236}">
                <a16:creationId xmlns:a16="http://schemas.microsoft.com/office/drawing/2014/main" id="{84F4664F-D25D-BB7D-DE16-47646D8E7E64}"/>
              </a:ext>
            </a:extLst>
          </p:cNvPr>
          <p:cNvSpPr txBox="1"/>
          <p:nvPr/>
        </p:nvSpPr>
        <p:spPr>
          <a:xfrm>
            <a:off x="6558565" y="4019612"/>
            <a:ext cx="2165956" cy="24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A. "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[[사내_취업규칙_제12조]]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에 의거... 또한 </a:t>
            </a:r>
            <a:r>
              <a:rPr lang="en-US" sz="700" b="1" i="0" u="none" strike="noStrike" cap="none">
                <a:solidFill>
                  <a:srgbClr val="475569"/>
                </a:solidFill>
                <a:sym typeface="Noto Sans KR"/>
              </a:rPr>
              <a:t>[[주간보고_재무팀_W21]]</a:t>
            </a:r>
            <a:r>
              <a:rPr lang="en-US" sz="700" b="0" i="0" u="none" strike="noStrike" cap="none">
                <a:solidFill>
                  <a:srgbClr val="475569"/>
                </a:solidFill>
                <a:sym typeface="Noto Sans KR"/>
              </a:rPr>
              <a:t>에 따르면 현재..." </a:t>
            </a:r>
            <a:r>
              <a:rPr lang="en-US" sz="700" b="0" i="0" u="none" strike="noStrike" cap="none">
                <a:solidFill>
                  <a:schemeClr val="dk1"/>
                </a:solidFill>
                <a:sym typeface="Noto Sans KR"/>
              </a:rPr>
              <a:t>[출처 매핑 완료]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28" name="Google Shape;149;p13">
            <a:extLst>
              <a:ext uri="{FF2B5EF4-FFF2-40B4-BE49-F238E27FC236}">
                <a16:creationId xmlns:a16="http://schemas.microsoft.com/office/drawing/2014/main" id="{2CE87B67-8EB0-5D09-664F-66E060C40E0B}"/>
              </a:ext>
            </a:extLst>
          </p:cNvPr>
          <p:cNvSpPr txBox="1"/>
          <p:nvPr/>
        </p:nvSpPr>
        <p:spPr>
          <a:xfrm>
            <a:off x="558800" y="16764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원천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파일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</a:t>
            </a:r>
            <a:r>
              <a:rPr lang="en-US" sz="700" b="1" i="0" u="none" strike="noStrike" cap="none" dirty="0" err="1">
                <a:solidFill>
                  <a:srgbClr val="0F172A"/>
                </a:solidFill>
                <a:sym typeface="Noto Sans KR"/>
              </a:rPr>
              <a:t>업로드</a:t>
            </a:r>
            <a:r>
              <a:rPr lang="en-US" sz="700" b="1" i="0" u="none" strike="noStrike" cap="none" dirty="0">
                <a:solidFill>
                  <a:srgbClr val="0F172A"/>
                </a:solidFill>
                <a:sym typeface="Noto Sans KR"/>
              </a:rPr>
              <a:t> (Intake)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31" name="Google Shape;150;p13">
            <a:extLst>
              <a:ext uri="{FF2B5EF4-FFF2-40B4-BE49-F238E27FC236}">
                <a16:creationId xmlns:a16="http://schemas.microsoft.com/office/drawing/2014/main" id="{B8E6096A-00DE-C115-5EE5-6E767C8078C2}"/>
              </a:ext>
            </a:extLst>
          </p:cNvPr>
          <p:cNvSpPr txBox="1"/>
          <p:nvPr/>
        </p:nvSpPr>
        <p:spPr>
          <a:xfrm>
            <a:off x="558800" y="18034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규정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제안서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보고서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,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일보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등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파편</a:t>
            </a:r>
            <a:r>
              <a:rPr lang="en-US" sz="700" b="0" i="0" u="none" strike="noStrike" cap="none" dirty="0">
                <a:solidFill>
                  <a:srgbClr val="64748B"/>
                </a:solidFill>
                <a:sym typeface="Noto Sans KR"/>
              </a:rPr>
              <a:t> </a:t>
            </a:r>
            <a:r>
              <a:rPr lang="en-US" sz="700" b="0" i="0" u="none" strike="noStrike" cap="none" dirty="0" err="1">
                <a:solidFill>
                  <a:srgbClr val="64748B"/>
                </a:solidFill>
                <a:sym typeface="Noto Sans KR"/>
              </a:rPr>
              <a:t>수집</a:t>
            </a:r>
            <a:endParaRPr dirty="0">
              <a:latin typeface="SUIT"/>
              <a:ea typeface="SUIT"/>
              <a:cs typeface="SUIT"/>
            </a:endParaRPr>
          </a:p>
        </p:txBody>
      </p:sp>
      <p:sp>
        <p:nvSpPr>
          <p:cNvPr id="1032" name="Google Shape;151;p13">
            <a:extLst>
              <a:ext uri="{FF2B5EF4-FFF2-40B4-BE49-F238E27FC236}">
                <a16:creationId xmlns:a16="http://schemas.microsoft.com/office/drawing/2014/main" id="{EE1D13FF-A850-B5CF-7953-7B84E0A6384D}"/>
              </a:ext>
            </a:extLst>
          </p:cNvPr>
          <p:cNvSpPr txBox="1"/>
          <p:nvPr/>
        </p:nvSpPr>
        <p:spPr>
          <a:xfrm>
            <a:off x="573546" y="22733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멀티 파서 구동 (Conversion)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3" name="Google Shape;152;p13">
            <a:extLst>
              <a:ext uri="{FF2B5EF4-FFF2-40B4-BE49-F238E27FC236}">
                <a16:creationId xmlns:a16="http://schemas.microsoft.com/office/drawing/2014/main" id="{5FAEF416-86DE-2866-A3AD-C77CB16257B3}"/>
              </a:ext>
            </a:extLst>
          </p:cNvPr>
          <p:cNvSpPr txBox="1"/>
          <p:nvPr/>
        </p:nvSpPr>
        <p:spPr>
          <a:xfrm>
            <a:off x="558800" y="24003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Java / Python 독립 파서 기반 무결성 변환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5" name="Google Shape;153;p13">
            <a:extLst>
              <a:ext uri="{FF2B5EF4-FFF2-40B4-BE49-F238E27FC236}">
                <a16:creationId xmlns:a16="http://schemas.microsoft.com/office/drawing/2014/main" id="{2C11A134-B670-FBE3-EA43-6535AD8E3C0C}"/>
              </a:ext>
            </a:extLst>
          </p:cNvPr>
          <p:cNvSpPr txBox="1"/>
          <p:nvPr/>
        </p:nvSpPr>
        <p:spPr>
          <a:xfrm>
            <a:off x="558800" y="28575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LLM 정제 루프 (Ingest Loop)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6" name="Google Shape;154;p13">
            <a:extLst>
              <a:ext uri="{FF2B5EF4-FFF2-40B4-BE49-F238E27FC236}">
                <a16:creationId xmlns:a16="http://schemas.microsoft.com/office/drawing/2014/main" id="{9A140669-6D9E-9286-C50A-90C70A0DC0D0}"/>
              </a:ext>
            </a:extLst>
          </p:cNvPr>
          <p:cNvSpPr txBox="1"/>
          <p:nvPr/>
        </p:nvSpPr>
        <p:spPr>
          <a:xfrm>
            <a:off x="558800" y="2984500"/>
            <a:ext cx="1755597" cy="12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5단계 시스템 프롬프트 기반 맥락 정제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37" name="Google Shape;155;p13">
            <a:extLst>
              <a:ext uri="{FF2B5EF4-FFF2-40B4-BE49-F238E27FC236}">
                <a16:creationId xmlns:a16="http://schemas.microsoft.com/office/drawing/2014/main" id="{0B1AB971-F470-73F2-8F80-12B150C9C16F}"/>
              </a:ext>
            </a:extLst>
          </p:cNvPr>
          <p:cNvSpPr txBox="1"/>
          <p:nvPr/>
        </p:nvSpPr>
        <p:spPr>
          <a:xfrm>
            <a:off x="558800" y="34544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하이브리드 인덱싱 (Indexing)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0" name="Google Shape;156;p13">
            <a:extLst>
              <a:ext uri="{FF2B5EF4-FFF2-40B4-BE49-F238E27FC236}">
                <a16:creationId xmlns:a16="http://schemas.microsoft.com/office/drawing/2014/main" id="{F242A3AF-5469-F06B-2774-295F7C3BEA40}"/>
              </a:ext>
            </a:extLst>
          </p:cNvPr>
          <p:cNvSpPr txBox="1"/>
          <p:nvPr/>
        </p:nvSpPr>
        <p:spPr>
          <a:xfrm>
            <a:off x="558800" y="358140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마크다운 구조화 및 시맨틱 벡터 생성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1" name="Google Shape;157;p13">
            <a:extLst>
              <a:ext uri="{FF2B5EF4-FFF2-40B4-BE49-F238E27FC236}">
                <a16:creationId xmlns:a16="http://schemas.microsoft.com/office/drawing/2014/main" id="{497326C5-5334-3307-5C4D-62C2B7959095}"/>
              </a:ext>
            </a:extLst>
          </p:cNvPr>
          <p:cNvSpPr txBox="1"/>
          <p:nvPr/>
        </p:nvSpPr>
        <p:spPr>
          <a:xfrm>
            <a:off x="558800" y="4038600"/>
            <a:ext cx="1841500" cy="107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0F172A"/>
                </a:solidFill>
                <a:sym typeface="Noto Sans KR"/>
              </a:rPr>
              <a:t>관계 매핑 (Relation Engine)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1042" name="Google Shape;158;p13">
            <a:extLst>
              <a:ext uri="{FF2B5EF4-FFF2-40B4-BE49-F238E27FC236}">
                <a16:creationId xmlns:a16="http://schemas.microsoft.com/office/drawing/2014/main" id="{5CFBDCE2-6FB6-8C23-0EC4-DDBACF9A1EEC}"/>
              </a:ext>
            </a:extLst>
          </p:cNvPr>
          <p:cNvSpPr txBox="1"/>
          <p:nvPr/>
        </p:nvSpPr>
        <p:spPr>
          <a:xfrm>
            <a:off x="544066" y="4160250"/>
            <a:ext cx="1841500" cy="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lnSpc>
                <a:spcPct val="11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sym typeface="Noto Sans KR"/>
              </a:rPr>
              <a:t>자동 카테고리 분류 및 링크 구조화</a:t>
            </a:r>
            <a:endParaRPr>
              <a:latin typeface="SUIT"/>
              <a:ea typeface="SUIT"/>
              <a:cs typeface="SUI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DD7C55E-4A84-4EAA-BADB-4DB2ADDFCBB7}"/>
              </a:ext>
            </a:extLst>
          </p:cNvPr>
          <p:cNvSpPr/>
          <p:nvPr/>
        </p:nvSpPr>
        <p:spPr>
          <a:xfrm>
            <a:off x="230694" y="1691640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01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7" name="타원 1056">
            <a:extLst>
              <a:ext uri="{FF2B5EF4-FFF2-40B4-BE49-F238E27FC236}">
                <a16:creationId xmlns:a16="http://schemas.microsoft.com/office/drawing/2014/main" id="{5BDE562B-0DA8-010B-56E9-A86691FAAAAF}"/>
              </a:ext>
            </a:extLst>
          </p:cNvPr>
          <p:cNvSpPr/>
          <p:nvPr/>
        </p:nvSpPr>
        <p:spPr>
          <a:xfrm>
            <a:off x="230694" y="2281220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02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8" name="타원 1057">
            <a:extLst>
              <a:ext uri="{FF2B5EF4-FFF2-40B4-BE49-F238E27FC236}">
                <a16:creationId xmlns:a16="http://schemas.microsoft.com/office/drawing/2014/main" id="{6471B3FF-270E-3F29-8D16-5DE6FCE6675D}"/>
              </a:ext>
            </a:extLst>
          </p:cNvPr>
          <p:cNvSpPr/>
          <p:nvPr/>
        </p:nvSpPr>
        <p:spPr>
          <a:xfrm>
            <a:off x="230694" y="4049962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05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59" name="타원 1058">
            <a:extLst>
              <a:ext uri="{FF2B5EF4-FFF2-40B4-BE49-F238E27FC236}">
                <a16:creationId xmlns:a16="http://schemas.microsoft.com/office/drawing/2014/main" id="{3635C37F-03FB-3BE6-4DF4-571D11F86676}"/>
              </a:ext>
            </a:extLst>
          </p:cNvPr>
          <p:cNvSpPr/>
          <p:nvPr/>
        </p:nvSpPr>
        <p:spPr>
          <a:xfrm>
            <a:off x="230694" y="3460381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04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60" name="타원 1059">
            <a:extLst>
              <a:ext uri="{FF2B5EF4-FFF2-40B4-BE49-F238E27FC236}">
                <a16:creationId xmlns:a16="http://schemas.microsoft.com/office/drawing/2014/main" id="{DD0F66D8-EC2A-7333-D398-18E8638E74E3}"/>
              </a:ext>
            </a:extLst>
          </p:cNvPr>
          <p:cNvSpPr/>
          <p:nvPr/>
        </p:nvSpPr>
        <p:spPr>
          <a:xfrm>
            <a:off x="230694" y="2870801"/>
            <a:ext cx="232332" cy="228600"/>
          </a:xfrm>
          <a:prstGeom prst="ellips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clip" horzOverflow="clip" wrap="none" lIns="0" rIns="0" rtlCol="0" anchor="ctr" anchorCtr="0">
            <a:noAutofit/>
          </a:bodyPr>
          <a:lstStyle/>
          <a:p>
            <a:pPr algn="ctr"/>
            <a:r>
              <a:rPr lang="en-US" altLang="ko-KR" sz="1100" b="1" dirty="0">
                <a:solidFill>
                  <a:srgbClr val="0D9488"/>
                </a:solidFill>
                <a:latin typeface="SUIT"/>
                <a:ea typeface="SUIT"/>
              </a:rPr>
              <a:t>03</a:t>
            </a:r>
            <a:endParaRPr lang="ko-KR" altLang="en-US" sz="1100" b="1" dirty="0">
              <a:solidFill>
                <a:srgbClr val="0D9488"/>
              </a:solidFill>
              <a:latin typeface="SUIT"/>
              <a:ea typeface="SUIT"/>
            </a:endParaRPr>
          </a:p>
        </p:txBody>
      </p:sp>
      <p:sp>
        <p:nvSpPr>
          <p:cNvPr id="1061" name="화살표: 오른쪽 1060">
            <a:extLst>
              <a:ext uri="{FF2B5EF4-FFF2-40B4-BE49-F238E27FC236}">
                <a16:creationId xmlns:a16="http://schemas.microsoft.com/office/drawing/2014/main" id="{91FA957D-1FE4-34D8-035D-28B1345A3C0F}"/>
              </a:ext>
            </a:extLst>
          </p:cNvPr>
          <p:cNvSpPr/>
          <p:nvPr/>
        </p:nvSpPr>
        <p:spPr>
          <a:xfrm rot="5400000">
            <a:off x="1192527" y="2104941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2" name="화살표: 오른쪽 1061">
            <a:extLst>
              <a:ext uri="{FF2B5EF4-FFF2-40B4-BE49-F238E27FC236}">
                <a16:creationId xmlns:a16="http://schemas.microsoft.com/office/drawing/2014/main" id="{133C489F-A639-4D7A-D7E7-C79DE7FA990F}"/>
              </a:ext>
            </a:extLst>
          </p:cNvPr>
          <p:cNvSpPr/>
          <p:nvPr/>
        </p:nvSpPr>
        <p:spPr>
          <a:xfrm rot="5400000">
            <a:off x="1192527" y="2696418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3" name="화살표: 오른쪽 1062">
            <a:extLst>
              <a:ext uri="{FF2B5EF4-FFF2-40B4-BE49-F238E27FC236}">
                <a16:creationId xmlns:a16="http://schemas.microsoft.com/office/drawing/2014/main" id="{55BD6995-EA46-6DD5-AD6E-E3D51E68EFEE}"/>
              </a:ext>
            </a:extLst>
          </p:cNvPr>
          <p:cNvSpPr/>
          <p:nvPr/>
        </p:nvSpPr>
        <p:spPr>
          <a:xfrm rot="5400000">
            <a:off x="1192527" y="3287895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64" name="화살표: 오른쪽 1063">
            <a:extLst>
              <a:ext uri="{FF2B5EF4-FFF2-40B4-BE49-F238E27FC236}">
                <a16:creationId xmlns:a16="http://schemas.microsoft.com/office/drawing/2014/main" id="{E988E80D-D9ED-C76B-6A49-77D1256617DA}"/>
              </a:ext>
            </a:extLst>
          </p:cNvPr>
          <p:cNvSpPr/>
          <p:nvPr/>
        </p:nvSpPr>
        <p:spPr>
          <a:xfrm rot="5400000">
            <a:off x="1192527" y="3879373"/>
            <a:ext cx="191863" cy="45719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65" name="Google Shape;145;p13">
            <a:extLst>
              <a:ext uri="{FF2B5EF4-FFF2-40B4-BE49-F238E27FC236}">
                <a16:creationId xmlns:a16="http://schemas.microsoft.com/office/drawing/2014/main" id="{098ACE1E-7AE5-2B8E-313A-6530358214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83985" y="184440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46;p13">
            <a:extLst>
              <a:ext uri="{FF2B5EF4-FFF2-40B4-BE49-F238E27FC236}">
                <a16:creationId xmlns:a16="http://schemas.microsoft.com/office/drawing/2014/main" id="{DD29AF19-ACBA-53B4-B39F-5DD703845FF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48766" y="29262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그래픽 1069" descr="문서 단색으로 채워진">
            <a:extLst>
              <a:ext uri="{FF2B5EF4-FFF2-40B4-BE49-F238E27FC236}">
                <a16:creationId xmlns:a16="http://schemas.microsoft.com/office/drawing/2014/main" id="{6133800A-5F97-08F6-EA76-E95ED8DF8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0218" y="1900728"/>
            <a:ext cx="118110" cy="118110"/>
          </a:xfrm>
          <a:prstGeom prst="rect">
            <a:avLst/>
          </a:prstGeom>
        </p:spPr>
      </p:pic>
      <p:pic>
        <p:nvPicPr>
          <p:cNvPr id="1072" name="그래픽 1071" descr="정보 단색으로 채워진">
            <a:extLst>
              <a:ext uri="{FF2B5EF4-FFF2-40B4-BE49-F238E27FC236}">
                <a16:creationId xmlns:a16="http://schemas.microsoft.com/office/drawing/2014/main" id="{AE730869-7126-847D-0D95-5A9A7400E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86534" y="2574572"/>
            <a:ext cx="118110" cy="118110"/>
          </a:xfrm>
          <a:prstGeom prst="rect">
            <a:avLst/>
          </a:prstGeom>
        </p:spPr>
      </p:pic>
      <p:pic>
        <p:nvPicPr>
          <p:cNvPr id="1074" name="그래픽 1073" descr="포스트잇 단색으로 채워진">
            <a:extLst>
              <a:ext uri="{FF2B5EF4-FFF2-40B4-BE49-F238E27FC236}">
                <a16:creationId xmlns:a16="http://schemas.microsoft.com/office/drawing/2014/main" id="{109EDA71-DC0D-3CDE-0EF2-FCC8C5DC2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65195" y="3094201"/>
            <a:ext cx="118110" cy="118110"/>
          </a:xfrm>
          <a:prstGeom prst="rect">
            <a:avLst/>
          </a:prstGeom>
        </p:spPr>
      </p:pic>
      <p:pic>
        <p:nvPicPr>
          <p:cNvPr id="1076" name="그래픽 1075" descr="신문 단색으로 채워진">
            <a:extLst>
              <a:ext uri="{FF2B5EF4-FFF2-40B4-BE49-F238E27FC236}">
                <a16:creationId xmlns:a16="http://schemas.microsoft.com/office/drawing/2014/main" id="{C4BA5168-6D22-8BA9-98FD-B0CA6289C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74380" y="2465959"/>
            <a:ext cx="118110" cy="118110"/>
          </a:xfrm>
          <a:prstGeom prst="rect">
            <a:avLst/>
          </a:prstGeom>
        </p:spPr>
      </p:pic>
      <p:pic>
        <p:nvPicPr>
          <p:cNvPr id="1078" name="그래픽 1077" descr="포스트잇 3 윤곽선">
            <a:extLst>
              <a:ext uri="{FF2B5EF4-FFF2-40B4-BE49-F238E27FC236}">
                <a16:creationId xmlns:a16="http://schemas.microsoft.com/office/drawing/2014/main" id="{A1F9D8BD-8862-3F31-4D60-51CFF396B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12401" y="3168025"/>
            <a:ext cx="118110" cy="118110"/>
          </a:xfrm>
          <a:prstGeom prst="rect">
            <a:avLst/>
          </a:prstGeom>
        </p:spPr>
      </p:pic>
      <p:pic>
        <p:nvPicPr>
          <p:cNvPr id="1079" name="그래픽 1078" descr="문서 단색으로 채워진">
            <a:extLst>
              <a:ext uri="{FF2B5EF4-FFF2-40B4-BE49-F238E27FC236}">
                <a16:creationId xmlns:a16="http://schemas.microsoft.com/office/drawing/2014/main" id="{CCA7F173-57DE-7DFD-ED05-1225175AA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1269" y="1828838"/>
            <a:ext cx="118110" cy="118110"/>
          </a:xfrm>
          <a:prstGeom prst="rect">
            <a:avLst/>
          </a:prstGeom>
        </p:spPr>
      </p:pic>
      <p:pic>
        <p:nvPicPr>
          <p:cNvPr id="1081" name="그래픽 1080" descr="데이터베이스 단색으로 채워진">
            <a:extLst>
              <a:ext uri="{FF2B5EF4-FFF2-40B4-BE49-F238E27FC236}">
                <a16:creationId xmlns:a16="http://schemas.microsoft.com/office/drawing/2014/main" id="{418E95E9-BB37-6B9D-DFC0-F1FC46054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53369" y="1390382"/>
            <a:ext cx="214229" cy="168671"/>
          </a:xfrm>
          <a:prstGeom prst="rect">
            <a:avLst/>
          </a:prstGeom>
        </p:spPr>
      </p:pic>
      <p:pic>
        <p:nvPicPr>
          <p:cNvPr id="1082" name="Image 0" descr="/home/claude/innermate/cover_glow.png">
            <a:extLst>
              <a:ext uri="{FF2B5EF4-FFF2-40B4-BE49-F238E27FC236}">
                <a16:creationId xmlns:a16="http://schemas.microsoft.com/office/drawing/2014/main" id="{5612DB68-81CD-EEA3-6ADB-1739E781FB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4160" y="1666645"/>
            <a:ext cx="2387004" cy="1765507"/>
          </a:xfrm>
          <a:prstGeom prst="rect">
            <a:avLst/>
          </a:prstGeom>
        </p:spPr>
      </p:pic>
      <p:sp>
        <p:nvSpPr>
          <p:cNvPr id="1047" name="타원 1046">
            <a:extLst>
              <a:ext uri="{FF2B5EF4-FFF2-40B4-BE49-F238E27FC236}">
                <a16:creationId xmlns:a16="http://schemas.microsoft.com/office/drawing/2014/main" id="{B703864A-9024-40D8-95FB-AA71BB85D260}"/>
              </a:ext>
            </a:extLst>
          </p:cNvPr>
          <p:cNvSpPr/>
          <p:nvPr/>
        </p:nvSpPr>
        <p:spPr>
          <a:xfrm>
            <a:off x="4027932" y="2193146"/>
            <a:ext cx="773555" cy="745752"/>
          </a:xfrm>
          <a:prstGeom prst="ellipse">
            <a:avLst/>
          </a:prstGeom>
          <a:solidFill>
            <a:srgbClr val="0F766E"/>
          </a:solidFill>
          <a:ln w="19050" cap="flat" cmpd="sng" algn="ctr">
            <a:solidFill>
              <a:srgbClr val="5EEA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-US" altLang="ko-KR" sz="1050" dirty="0">
                <a:solidFill>
                  <a:srgbClr val="FFFFFF"/>
                </a:solidFill>
                <a:latin typeface="SUIT"/>
                <a:ea typeface="SUIT"/>
              </a:rPr>
              <a:t>Wiki Core</a:t>
            </a:r>
            <a:endParaRPr lang="ko-KR" altLang="en-US" sz="1050" dirty="0">
              <a:solidFill>
                <a:srgbClr val="FFFFFF"/>
              </a:solidFill>
              <a:latin typeface="SUIT"/>
              <a:ea typeface="SUIT"/>
            </a:endParaRPr>
          </a:p>
        </p:txBody>
      </p:sp>
      <p:pic>
        <p:nvPicPr>
          <p:cNvPr id="30" name="Google Shape;108;p13">
            <a:extLst>
              <a:ext uri="{FF2B5EF4-FFF2-40B4-BE49-F238E27FC236}">
                <a16:creationId xmlns:a16="http://schemas.microsoft.com/office/drawing/2014/main" id="{6F3AADF7-BC16-A070-61EB-EB82645AAAF6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941269" y="3123675"/>
            <a:ext cx="1318729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09;p13">
            <a:extLst>
              <a:ext uri="{FF2B5EF4-FFF2-40B4-BE49-F238E27FC236}">
                <a16:creationId xmlns:a16="http://schemas.microsoft.com/office/drawing/2014/main" id="{35119EE2-5BD2-FEAA-6C11-C0C7C24C359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06257" y="3048835"/>
            <a:ext cx="1326096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07;p13">
            <a:extLst>
              <a:ext uri="{FF2B5EF4-FFF2-40B4-BE49-F238E27FC236}">
                <a16:creationId xmlns:a16="http://schemas.microsoft.com/office/drawing/2014/main" id="{5F964472-9293-7EE1-451E-A89D9CCC5F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98128" y="2534783"/>
            <a:ext cx="1113381" cy="2170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4" name="직선 연결선 1083">
            <a:extLst>
              <a:ext uri="{FF2B5EF4-FFF2-40B4-BE49-F238E27FC236}">
                <a16:creationId xmlns:a16="http://schemas.microsoft.com/office/drawing/2014/main" id="{AFC2A535-2977-1D85-7BA6-8E0D959D1DCA}"/>
              </a:ext>
            </a:extLst>
          </p:cNvPr>
          <p:cNvCxnSpPr>
            <a:cxnSpLocks/>
            <a:stCxn id="232" idx="2"/>
            <a:endCxn id="1047" idx="7"/>
          </p:cNvCxnSpPr>
          <p:nvPr/>
        </p:nvCxnSpPr>
        <p:spPr>
          <a:xfrm flipH="1">
            <a:off x="4688202" y="2066696"/>
            <a:ext cx="692131" cy="235663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87" name="직선 연결선 1086">
            <a:extLst>
              <a:ext uri="{FF2B5EF4-FFF2-40B4-BE49-F238E27FC236}">
                <a16:creationId xmlns:a16="http://schemas.microsoft.com/office/drawing/2014/main" id="{6D852DFE-0552-FD68-6BBF-FE271B2B9E8B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4804987" y="2465959"/>
            <a:ext cx="649832" cy="68824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39D68905-65A5-6569-1609-E9CE2AB1ECA2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4738867" y="2815209"/>
            <a:ext cx="530438" cy="233626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586134F0-DAC8-0625-75C7-8E79E5B033F3}"/>
              </a:ext>
            </a:extLst>
          </p:cNvPr>
          <p:cNvCxnSpPr>
            <a:cxnSpLocks/>
            <a:stCxn id="30" idx="0"/>
            <a:endCxn id="1047" idx="3"/>
          </p:cNvCxnSpPr>
          <p:nvPr/>
        </p:nvCxnSpPr>
        <p:spPr>
          <a:xfrm flipV="1">
            <a:off x="3600634" y="2829685"/>
            <a:ext cx="540583" cy="293990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C2A6FEEB-4021-C94C-F88C-F7FE42575515}"/>
              </a:ext>
            </a:extLst>
          </p:cNvPr>
          <p:cNvCxnSpPr>
            <a:cxnSpLocks/>
            <a:stCxn id="1047" idx="1"/>
          </p:cNvCxnSpPr>
          <p:nvPr/>
        </p:nvCxnSpPr>
        <p:spPr>
          <a:xfrm flipH="1" flipV="1">
            <a:off x="3538899" y="2008369"/>
            <a:ext cx="602318" cy="293990"/>
          </a:xfrm>
          <a:prstGeom prst="line">
            <a:avLst/>
          </a:prstGeom>
          <a:ln>
            <a:solidFill>
              <a:srgbClr val="0E596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30" name="그래픽 229" descr="네트워크 단색으로 채워진">
            <a:extLst>
              <a:ext uri="{FF2B5EF4-FFF2-40B4-BE49-F238E27FC236}">
                <a16:creationId xmlns:a16="http://schemas.microsoft.com/office/drawing/2014/main" id="{5E2EE9EB-CDC0-E95B-9634-06CB70F27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4677" y="4520785"/>
            <a:ext cx="364366" cy="364366"/>
          </a:xfrm>
          <a:prstGeom prst="rect">
            <a:avLst/>
          </a:prstGeom>
        </p:spPr>
      </p:pic>
      <p:pic>
        <p:nvPicPr>
          <p:cNvPr id="231" name="그래픽 230" descr="오른쪽 캐럿 윤곽선">
            <a:extLst>
              <a:ext uri="{FF2B5EF4-FFF2-40B4-BE49-F238E27FC236}">
                <a16:creationId xmlns:a16="http://schemas.microsoft.com/office/drawing/2014/main" id="{3A72BE61-5A1D-49FC-888E-EB117390C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82904" y="1417320"/>
            <a:ext cx="359040" cy="2937051"/>
          </a:xfrm>
          <a:prstGeom prst="rect">
            <a:avLst/>
          </a:prstGeom>
        </p:spPr>
      </p:pic>
      <p:sp>
        <p:nvSpPr>
          <p:cNvPr id="50" name="Google Shape;132;p13">
            <a:extLst>
              <a:ext uri="{FF2B5EF4-FFF2-40B4-BE49-F238E27FC236}">
                <a16:creationId xmlns:a16="http://schemas.microsoft.com/office/drawing/2014/main" id="{F1D4CA9E-5209-B3A5-C73D-83319F60CB52}"/>
              </a:ext>
            </a:extLst>
          </p:cNvPr>
          <p:cNvSpPr txBox="1"/>
          <p:nvPr/>
        </p:nvSpPr>
        <p:spPr>
          <a:xfrm>
            <a:off x="4938927" y="1913617"/>
            <a:ext cx="998957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sym typeface="Noto Sans KR"/>
              </a:rPr>
              <a:t>[[주간보고_기획팀_W21]]</a:t>
            </a:r>
            <a:endParaRPr dirty="0">
              <a:latin typeface="SUIT"/>
              <a:ea typeface="SUIT"/>
              <a:cs typeface="SUIT"/>
            </a:endParaRPr>
          </a:p>
        </p:txBody>
      </p:sp>
      <p:pic>
        <p:nvPicPr>
          <p:cNvPr id="232" name="Google Shape;107;p13">
            <a:extLst>
              <a:ext uri="{FF2B5EF4-FFF2-40B4-BE49-F238E27FC236}">
                <a16:creationId xmlns:a16="http://schemas.microsoft.com/office/drawing/2014/main" id="{17B37782-3AB9-FA7E-AC20-3B6FDA78FE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79017" y="1849663"/>
            <a:ext cx="1202631" cy="2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107;p13">
            <a:extLst>
              <a:ext uri="{FF2B5EF4-FFF2-40B4-BE49-F238E27FC236}">
                <a16:creationId xmlns:a16="http://schemas.microsoft.com/office/drawing/2014/main" id="{3D297467-741D-137D-223C-EB257A4CB0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2816" y="1788551"/>
            <a:ext cx="1322474" cy="2170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Shape 4">
            <a:extLst>
              <a:ext uri="{FF2B5EF4-FFF2-40B4-BE49-F238E27FC236}">
                <a16:creationId xmlns:a16="http://schemas.microsoft.com/office/drawing/2014/main" id="{ECE9FB48-83AE-F7DA-6507-256ADE9B5F2E}"/>
              </a:ext>
            </a:extLst>
          </p:cNvPr>
          <p:cNvSpPr/>
          <p:nvPr/>
        </p:nvSpPr>
        <p:spPr>
          <a:xfrm>
            <a:off x="2550149" y="1280572"/>
            <a:ext cx="3706362" cy="3170902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307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297173" y="1224153"/>
            <a:ext cx="5065649" cy="3622567"/>
          </a:xfrm>
          <a:prstGeom prst="roundRect">
            <a:avLst>
              <a:gd name="adj" fmla="val 315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9816" y="4646638"/>
            <a:ext cx="85952" cy="8538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726344" y="4646638"/>
            <a:ext cx="85952" cy="85382"/>
          </a:xfrm>
          <a:prstGeom prst="ellipse">
            <a:avLst/>
          </a:prstGeom>
          <a:solidFill>
            <a:srgbClr val="7C6FDB"/>
          </a:solidFill>
          <a:ln/>
        </p:spPr>
      </p:sp>
      <p:sp>
        <p:nvSpPr>
          <p:cNvPr id="7" name="Shape 5"/>
          <p:cNvSpPr/>
          <p:nvPr/>
        </p:nvSpPr>
        <p:spPr>
          <a:xfrm>
            <a:off x="2926921" y="4646638"/>
            <a:ext cx="85952" cy="8538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5659994" y="1224154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91665" y="1332682"/>
            <a:ext cx="239567" cy="239687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659994" y="2161300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91665" y="2269827"/>
            <a:ext cx="239567" cy="239687"/>
          </a:xfrm>
          <a:prstGeom prst="ellipse">
            <a:avLst/>
          </a:prstGeom>
          <a:solidFill>
            <a:srgbClr val="7C6FDB"/>
          </a:solidFill>
          <a:ln/>
        </p:spPr>
      </p:sp>
      <p:sp>
        <p:nvSpPr>
          <p:cNvPr id="12" name="Shape 10"/>
          <p:cNvSpPr/>
          <p:nvPr/>
        </p:nvSpPr>
        <p:spPr>
          <a:xfrm>
            <a:off x="5659994" y="3097930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1665" y="3206458"/>
            <a:ext cx="239567" cy="23968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59994" y="4035076"/>
            <a:ext cx="3186605" cy="811130"/>
          </a:xfrm>
          <a:prstGeom prst="roundRect">
            <a:avLst>
              <a:gd name="adj" fmla="val 11977"/>
            </a:avLst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91665" y="4143604"/>
            <a:ext cx="239567" cy="239687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16" y="1640776"/>
            <a:ext cx="4780364" cy="292562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45303" y="167678"/>
            <a:ext cx="4354172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지식 그래프(Graph DB) 기반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시맨틱 질의 검증</a:t>
            </a:r>
            <a:endParaRPr lang="en-US" sz="1710" dirty="0"/>
          </a:p>
        </p:txBody>
      </p:sp>
      <p:sp>
        <p:nvSpPr>
          <p:cNvPr id="18" name="Text 15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19" name="Text 16"/>
          <p:cNvSpPr txBox="1"/>
          <p:nvPr/>
        </p:nvSpPr>
        <p:spPr>
          <a:xfrm>
            <a:off x="297173" y="677913"/>
            <a:ext cx="7680402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기준정보 · 지표 · 조건(라벨)과 표준 의미(노드), 연결 관계(엣지)를 정교하게 설계해 둡니다. 유효성 검증까지 AI에 맡기지 않고,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검증된 지식 그래</a:t>
            </a:r>
            <a:endParaRPr lang="en-US" sz="975" dirty="0"/>
          </a:p>
        </p:txBody>
      </p:sp>
      <p:sp>
        <p:nvSpPr>
          <p:cNvPr id="20" name="Text 17"/>
          <p:cNvSpPr txBox="1"/>
          <p:nvPr/>
        </p:nvSpPr>
        <p:spPr>
          <a:xfrm>
            <a:off x="297173" y="881596"/>
            <a:ext cx="2883671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프로 먼저 확인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뒤 AI는 잘하는 분석에 집중시킵니다.</a:t>
            </a:r>
            <a:endParaRPr lang="en-US" sz="975" dirty="0"/>
          </a:p>
        </p:txBody>
      </p:sp>
      <p:sp>
        <p:nvSpPr>
          <p:cNvPr id="21" name="Text 18"/>
          <p:cNvSpPr txBox="1"/>
          <p:nvPr/>
        </p:nvSpPr>
        <p:spPr>
          <a:xfrm>
            <a:off x="6145529" y="1322908"/>
            <a:ext cx="129476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무엇을 묻는지 분류</a:t>
            </a:r>
            <a:r>
              <a:rPr lang="en-US" sz="735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라벨</a:t>
            </a:r>
            <a:endParaRPr lang="en-US" sz="1005" dirty="0"/>
          </a:p>
        </p:txBody>
      </p:sp>
      <p:sp>
        <p:nvSpPr>
          <p:cNvPr id="22" name="Text 19"/>
          <p:cNvSpPr txBox="1"/>
          <p:nvPr/>
        </p:nvSpPr>
        <p:spPr>
          <a:xfrm>
            <a:off x="439816" y="1335768"/>
            <a:ext cx="176017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kern="0" spc="107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KNOWLEDGE GRAPH VIEW</a:t>
            </a:r>
            <a:endParaRPr lang="en-US" sz="765" dirty="0"/>
          </a:p>
        </p:txBody>
      </p:sp>
      <p:sp>
        <p:nvSpPr>
          <p:cNvPr id="23" name="Text 20"/>
          <p:cNvSpPr txBox="1"/>
          <p:nvPr/>
        </p:nvSpPr>
        <p:spPr>
          <a:xfrm>
            <a:off x="5884018" y="1368686"/>
            <a:ext cx="191108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945" dirty="0"/>
          </a:p>
        </p:txBody>
      </p:sp>
      <p:sp>
        <p:nvSpPr>
          <p:cNvPr id="24" name="Text 21"/>
          <p:cNvSpPr txBox="1"/>
          <p:nvPr/>
        </p:nvSpPr>
        <p:spPr>
          <a:xfrm>
            <a:off x="439816" y="1478757"/>
            <a:ext cx="3187427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개념도 - 라벨 · 속성 · 관계의 상세 정의는 온톨로지 스키마로 일원화해 관리됩니다.</a:t>
            </a:r>
            <a:endParaRPr lang="en-US" sz="705" dirty="0"/>
          </a:p>
        </p:txBody>
      </p:sp>
      <p:sp>
        <p:nvSpPr>
          <p:cNvPr id="25" name="Text 22"/>
          <p:cNvSpPr txBox="1"/>
          <p:nvPr/>
        </p:nvSpPr>
        <p:spPr>
          <a:xfrm>
            <a:off x="6145528" y="1516818"/>
            <a:ext cx="279013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질문 속 단어가 분석 기준인지 · 측정 지표인지 · 조건인지 종</a:t>
            </a:r>
            <a:endParaRPr lang="en-US" sz="855" dirty="0"/>
          </a:p>
        </p:txBody>
      </p:sp>
      <p:sp>
        <p:nvSpPr>
          <p:cNvPr id="26" name="Text 23"/>
          <p:cNvSpPr txBox="1"/>
          <p:nvPr/>
        </p:nvSpPr>
        <p:spPr>
          <a:xfrm>
            <a:off x="6145529" y="1685011"/>
            <a:ext cx="974729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류를 먼저 가립니다.</a:t>
            </a:r>
            <a:endParaRPr lang="en-US" sz="855" dirty="0"/>
          </a:p>
        </p:txBody>
      </p:sp>
      <p:sp>
        <p:nvSpPr>
          <p:cNvPr id="27" name="Text 24"/>
          <p:cNvSpPr txBox="1"/>
          <p:nvPr/>
        </p:nvSpPr>
        <p:spPr>
          <a:xfrm>
            <a:off x="6145529" y="2260054"/>
            <a:ext cx="1294762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정확한 의미로 특정</a:t>
            </a:r>
            <a:r>
              <a:rPr lang="en-US" sz="735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노드</a:t>
            </a:r>
            <a:endParaRPr lang="en-US" sz="1005" dirty="0"/>
          </a:p>
        </p:txBody>
      </p:sp>
      <p:sp>
        <p:nvSpPr>
          <p:cNvPr id="28" name="Text 25"/>
          <p:cNvSpPr txBox="1"/>
          <p:nvPr/>
        </p:nvSpPr>
        <p:spPr>
          <a:xfrm>
            <a:off x="5875787" y="2305317"/>
            <a:ext cx="20756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945" dirty="0"/>
          </a:p>
        </p:txBody>
      </p:sp>
      <p:sp>
        <p:nvSpPr>
          <p:cNvPr id="29" name="Text 26"/>
          <p:cNvSpPr txBox="1"/>
          <p:nvPr/>
        </p:nvSpPr>
        <p:spPr>
          <a:xfrm>
            <a:off x="6145529" y="2453964"/>
            <a:ext cx="27559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"냉장고=REF"처럼 표준 용어로 바꿔, 부서 · 사람마다 다른</a:t>
            </a:r>
            <a:endParaRPr lang="en-US" sz="855" dirty="0"/>
          </a:p>
        </p:txBody>
      </p:sp>
      <p:sp>
        <p:nvSpPr>
          <p:cNvPr id="30" name="Text 27"/>
          <p:cNvSpPr txBox="1"/>
          <p:nvPr/>
        </p:nvSpPr>
        <p:spPr>
          <a:xfrm>
            <a:off x="6145529" y="2622156"/>
            <a:ext cx="1575106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표현을 같은 대상으로 집어냅니다.</a:t>
            </a:r>
            <a:endParaRPr lang="en-US" sz="855" dirty="0"/>
          </a:p>
        </p:txBody>
      </p:sp>
      <p:sp>
        <p:nvSpPr>
          <p:cNvPr id="31" name="Text 28"/>
          <p:cNvSpPr txBox="1"/>
          <p:nvPr/>
        </p:nvSpPr>
        <p:spPr>
          <a:xfrm>
            <a:off x="6145529" y="3197200"/>
            <a:ext cx="1182293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연결을 따라 검증</a:t>
            </a:r>
            <a:r>
              <a:rPr lang="en-US" sz="735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관계</a:t>
            </a:r>
            <a:endParaRPr lang="en-US" sz="1005" dirty="0"/>
          </a:p>
        </p:txBody>
      </p:sp>
      <p:sp>
        <p:nvSpPr>
          <p:cNvPr id="32" name="Text 29"/>
          <p:cNvSpPr txBox="1"/>
          <p:nvPr/>
        </p:nvSpPr>
        <p:spPr>
          <a:xfrm>
            <a:off x="5874873" y="3242463"/>
            <a:ext cx="209396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945" dirty="0"/>
          </a:p>
        </p:txBody>
      </p:sp>
      <p:sp>
        <p:nvSpPr>
          <p:cNvPr id="33" name="Text 30"/>
          <p:cNvSpPr txBox="1"/>
          <p:nvPr/>
        </p:nvSpPr>
        <p:spPr>
          <a:xfrm>
            <a:off x="6145529" y="3391110"/>
            <a:ext cx="2750904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그 조합이 실제로 분석 가능한지 데이터 간 연결을 따라 확인</a:t>
            </a:r>
            <a:endParaRPr lang="en-US" sz="855" dirty="0"/>
          </a:p>
        </p:txBody>
      </p:sp>
      <p:sp>
        <p:nvSpPr>
          <p:cNvPr id="34" name="Text 31"/>
          <p:cNvSpPr txBox="1"/>
          <p:nvPr/>
        </p:nvSpPr>
        <p:spPr>
          <a:xfrm>
            <a:off x="6145529" y="3559302"/>
            <a:ext cx="24964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하고, 모호하면 사용자에게 되물어 명확히 유도합니다.</a:t>
            </a:r>
            <a:endParaRPr lang="en-US" sz="855" dirty="0"/>
          </a:p>
        </p:txBody>
      </p:sp>
      <p:sp>
        <p:nvSpPr>
          <p:cNvPr id="35" name="Text 32"/>
          <p:cNvSpPr txBox="1"/>
          <p:nvPr/>
        </p:nvSpPr>
        <p:spPr>
          <a:xfrm>
            <a:off x="6145529" y="4133831"/>
            <a:ext cx="1926136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검증은 지식 그래프가, 분석은 AI가</a:t>
            </a:r>
            <a:endParaRPr lang="en-US" sz="1005" dirty="0"/>
          </a:p>
        </p:txBody>
      </p:sp>
      <p:sp>
        <p:nvSpPr>
          <p:cNvPr id="36" name="Text 33"/>
          <p:cNvSpPr txBox="1"/>
          <p:nvPr/>
        </p:nvSpPr>
        <p:spPr>
          <a:xfrm>
            <a:off x="5856586" y="4179609"/>
            <a:ext cx="24597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✓</a:t>
            </a:r>
            <a:endParaRPr lang="en-US" sz="945" dirty="0"/>
          </a:p>
        </p:txBody>
      </p:sp>
      <p:sp>
        <p:nvSpPr>
          <p:cNvPr id="37" name="Text 34"/>
          <p:cNvSpPr txBox="1"/>
          <p:nvPr/>
        </p:nvSpPr>
        <p:spPr>
          <a:xfrm>
            <a:off x="6145529" y="4327741"/>
            <a:ext cx="275392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대충 물어봐도 기준정보 · 지표를 표준으로 또렷하게 인식합</a:t>
            </a:r>
            <a:endParaRPr lang="en-US" sz="855" dirty="0"/>
          </a:p>
        </p:txBody>
      </p:sp>
      <p:sp>
        <p:nvSpPr>
          <p:cNvPr id="38" name="Text 35"/>
          <p:cNvSpPr txBox="1"/>
          <p:nvPr/>
        </p:nvSpPr>
        <p:spPr>
          <a:xfrm>
            <a:off x="6145529" y="4495934"/>
            <a:ext cx="163344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r>
              <a:rPr lang="en-US" sz="855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각자 잘하는 일에 집중</a:t>
            </a:r>
            <a:r>
              <a:rPr lang="en-US" sz="85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합니다.</a:t>
            </a:r>
            <a:endParaRPr lang="en-US" sz="855" dirty="0"/>
          </a:p>
        </p:txBody>
      </p:sp>
      <p:sp>
        <p:nvSpPr>
          <p:cNvPr id="39" name="Text 36"/>
          <p:cNvSpPr txBox="1"/>
          <p:nvPr/>
        </p:nvSpPr>
        <p:spPr>
          <a:xfrm>
            <a:off x="571486" y="4621435"/>
            <a:ext cx="1109143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분석 기준 (법인 · 제품군)</a:t>
            </a:r>
            <a:endParaRPr lang="en-US" sz="765" dirty="0"/>
          </a:p>
        </p:txBody>
      </p:sp>
      <p:sp>
        <p:nvSpPr>
          <p:cNvPr id="40" name="Text 37"/>
          <p:cNvSpPr txBox="1"/>
          <p:nvPr/>
        </p:nvSpPr>
        <p:spPr>
          <a:xfrm>
            <a:off x="1857100" y="4621435"/>
            <a:ext cx="102410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측정 지표 (매출 · 손익)</a:t>
            </a:r>
            <a:endParaRPr lang="en-US" sz="765" dirty="0"/>
          </a:p>
        </p:txBody>
      </p:sp>
      <p:sp>
        <p:nvSpPr>
          <p:cNvPr id="41" name="Text 38"/>
          <p:cNvSpPr txBox="1"/>
          <p:nvPr/>
        </p:nvSpPr>
        <p:spPr>
          <a:xfrm>
            <a:off x="3058591" y="4621435"/>
            <a:ext cx="76076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확정된 값 · 조건</a:t>
            </a:r>
            <a:endParaRPr lang="en-US" sz="765" dirty="0"/>
          </a:p>
        </p:txBody>
      </p:sp>
      <p:sp>
        <p:nvSpPr>
          <p:cNvPr id="42" name="Text 39"/>
          <p:cNvSpPr txBox="1"/>
          <p:nvPr/>
        </p:nvSpPr>
        <p:spPr>
          <a:xfrm>
            <a:off x="4458504" y="4923873"/>
            <a:ext cx="363011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- 18 -</a:t>
            </a:r>
            <a:endParaRPr lang="en-US" sz="705" dirty="0"/>
          </a:p>
        </p:txBody>
      </p:sp>
      <p:sp>
        <p:nvSpPr>
          <p:cNvPr id="43" name="Text 40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2" y="1224154"/>
            <a:ext cx="1948538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497164" y="1224154"/>
            <a:ext cx="1949452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697156" y="1224154"/>
            <a:ext cx="1949452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898062" y="1224154"/>
            <a:ext cx="1949452" cy="825017"/>
          </a:xfrm>
          <a:prstGeom prst="roundRect">
            <a:avLst>
              <a:gd name="adj" fmla="val 117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97173" y="2185987"/>
            <a:ext cx="8549426" cy="2660219"/>
          </a:xfrm>
          <a:prstGeom prst="roundRect">
            <a:avLst>
              <a:gd name="adj" fmla="val 4296"/>
            </a:avLst>
          </a:prstGeom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9816" y="2083118"/>
            <a:ext cx="2076551" cy="209341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1703" y="2362924"/>
            <a:ext cx="1985113" cy="1046188"/>
          </a:xfrm>
          <a:prstGeom prst="roundRect">
            <a:avLst>
              <a:gd name="adj" fmla="val 76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1703" y="2362924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435901" y="2362924"/>
            <a:ext cx="686" cy="104618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1703" y="3409111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1702" y="2362924"/>
            <a:ext cx="686" cy="1046188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550198" y="2362924"/>
            <a:ext cx="1985113" cy="1046188"/>
          </a:xfrm>
          <a:prstGeom prst="roundRect">
            <a:avLst>
              <a:gd name="adj" fmla="val 76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550198" y="2362924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35311" y="2362924"/>
            <a:ext cx="686" cy="104618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550198" y="3409111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550198" y="2362924"/>
            <a:ext cx="686" cy="1046188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1703" y="3523298"/>
            <a:ext cx="1985113" cy="1191749"/>
          </a:xfrm>
          <a:prstGeom prst="roundRect">
            <a:avLst>
              <a:gd name="adj" fmla="val 671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1703" y="352329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435901" y="3523298"/>
            <a:ext cx="686" cy="1191749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1703" y="471504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1702" y="3523298"/>
            <a:ext cx="686" cy="1191749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550198" y="3523298"/>
            <a:ext cx="1985113" cy="1191749"/>
          </a:xfrm>
          <a:prstGeom prst="roundRect">
            <a:avLst>
              <a:gd name="adj" fmla="val 671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550198" y="352329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535311" y="3523298"/>
            <a:ext cx="686" cy="1191749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550198" y="4715047"/>
            <a:ext cx="19851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550198" y="3523298"/>
            <a:ext cx="686" cy="1191749"/>
          </a:xfrm>
          <a:prstGeom prst="line">
            <a:avLst/>
          </a:prstGeom>
          <a:noFill/>
          <a:ln w="22859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832484" y="2362924"/>
            <a:ext cx="3859586" cy="2352122"/>
          </a:xfrm>
          <a:prstGeom prst="roundRect">
            <a:avLst>
              <a:gd name="adj" fmla="val 413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21147" y="1348819"/>
            <a:ext cx="96772" cy="82703"/>
          </a:xfrm>
          <a:custGeom>
            <a:avLst/>
            <a:gdLst/>
            <a:ahLst/>
            <a:cxnLst/>
            <a:rect l="l" t="t" r="r" b="b"/>
            <a:pathLst>
              <a:path w="129029" h="110271">
                <a:moveTo>
                  <a:pt x="12903" y="110271"/>
                </a:moveTo>
                <a:lnTo>
                  <a:pt x="116126" y="110271"/>
                </a:lnTo>
                <a:cubicBezTo>
                  <a:pt x="123252" y="110271"/>
                  <a:pt x="129029" y="104463"/>
                  <a:pt x="129029" y="97298"/>
                </a:cubicBezTo>
                <a:lnTo>
                  <a:pt x="129029" y="32433"/>
                </a:lnTo>
                <a:cubicBezTo>
                  <a:pt x="129029" y="25268"/>
                  <a:pt x="123252" y="19460"/>
                  <a:pt x="116126" y="19460"/>
                </a:cubicBezTo>
                <a:lnTo>
                  <a:pt x="65160" y="19460"/>
                </a:lnTo>
                <a:cubicBezTo>
                  <a:pt x="60775" y="19503"/>
                  <a:pt x="56668" y="17304"/>
                  <a:pt x="54257" y="13622"/>
                </a:cubicBezTo>
                <a:lnTo>
                  <a:pt x="49031" y="5838"/>
                </a:lnTo>
                <a:cubicBezTo>
                  <a:pt x="46644" y="2194"/>
                  <a:pt x="42596" y="1"/>
                  <a:pt x="38257" y="0"/>
                </a:cubicBezTo>
                <a:lnTo>
                  <a:pt x="12903" y="0"/>
                </a:lnTo>
                <a:cubicBezTo>
                  <a:pt x="5777" y="0"/>
                  <a:pt x="0" y="5808"/>
                  <a:pt x="0" y="12973"/>
                </a:cubicBezTo>
                <a:lnTo>
                  <a:pt x="0" y="97298"/>
                </a:lnTo>
                <a:cubicBezTo>
                  <a:pt x="0" y="104463"/>
                  <a:pt x="5777" y="110271"/>
                  <a:pt x="12903" y="110271"/>
                </a:cubicBezTo>
                <a:close/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2625976" y="1348819"/>
            <a:ext cx="87095" cy="87568"/>
          </a:xfrm>
          <a:prstGeom prst="roundRect">
            <a:avLst>
              <a:gd name="adj" fmla="val 11141"/>
            </a:avLst>
          </a:pr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625976" y="1378008"/>
            <a:ext cx="87095" cy="2744"/>
          </a:xfrm>
          <a:custGeom>
            <a:avLst/>
            <a:gdLst/>
            <a:ahLst/>
            <a:cxnLst/>
            <a:rect l="l" t="t" r="r" b="b"/>
            <a:pathLst>
              <a:path w="116126" h="3658">
                <a:moveTo>
                  <a:pt x="0" y="0"/>
                </a:moveTo>
                <a:lnTo>
                  <a:pt x="116126" y="0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655008" y="1378008"/>
            <a:ext cx="2744" cy="58379"/>
          </a:xfrm>
          <a:custGeom>
            <a:avLst/>
            <a:gdLst/>
            <a:ahLst/>
            <a:cxnLst/>
            <a:rect l="l" t="t" r="r" b="b"/>
            <a:pathLst>
              <a:path w="3658" h="77838">
                <a:moveTo>
                  <a:pt x="0" y="0"/>
                </a:moveTo>
                <a:lnTo>
                  <a:pt x="0" y="77838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830808" y="1343954"/>
            <a:ext cx="77417" cy="97298"/>
          </a:xfrm>
          <a:custGeom>
            <a:avLst/>
            <a:gdLst/>
            <a:ahLst/>
            <a:cxnLst/>
            <a:rect l="l" t="t" r="r" b="b"/>
            <a:pathLst>
              <a:path w="103223" h="129731">
                <a:moveTo>
                  <a:pt x="64514" y="0"/>
                </a:moveTo>
                <a:lnTo>
                  <a:pt x="12903" y="0"/>
                </a:lnTo>
                <a:cubicBezTo>
                  <a:pt x="5777" y="0"/>
                  <a:pt x="0" y="5808"/>
                  <a:pt x="0" y="12973"/>
                </a:cubicBezTo>
                <a:lnTo>
                  <a:pt x="0" y="116757"/>
                </a:lnTo>
                <a:cubicBezTo>
                  <a:pt x="0" y="123922"/>
                  <a:pt x="5777" y="129731"/>
                  <a:pt x="12903" y="129731"/>
                </a:cubicBezTo>
                <a:lnTo>
                  <a:pt x="90320" y="129731"/>
                </a:lnTo>
                <a:cubicBezTo>
                  <a:pt x="97446" y="129731"/>
                  <a:pt x="103223" y="123922"/>
                  <a:pt x="103223" y="116757"/>
                </a:cubicBezTo>
                <a:lnTo>
                  <a:pt x="103223" y="38919"/>
                </a:lnTo>
                <a:close/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879193" y="1343954"/>
            <a:ext cx="29032" cy="29189"/>
          </a:xfrm>
          <a:custGeom>
            <a:avLst/>
            <a:gdLst/>
            <a:ahLst/>
            <a:cxnLst/>
            <a:rect l="l" t="t" r="r" b="b"/>
            <a:pathLst>
              <a:path w="38709" h="38919">
                <a:moveTo>
                  <a:pt x="0" y="0"/>
                </a:moveTo>
                <a:lnTo>
                  <a:pt x="0" y="38919"/>
                </a:lnTo>
                <a:lnTo>
                  <a:pt x="38709" y="38919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025959" y="1343954"/>
            <a:ext cx="87095" cy="29189"/>
          </a:xfrm>
          <a:prstGeom prst="ellipse">
            <a:avLst/>
          </a:pr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025959" y="1392603"/>
            <a:ext cx="87095" cy="14595"/>
          </a:xfrm>
          <a:custGeom>
            <a:avLst/>
            <a:gdLst/>
            <a:ahLst/>
            <a:cxnLst/>
            <a:rect l="l" t="t" r="r" b="b"/>
            <a:pathLst>
              <a:path w="116126" h="19460">
                <a:moveTo>
                  <a:pt x="116126" y="0"/>
                </a:moveTo>
                <a:cubicBezTo>
                  <a:pt x="116126" y="10768"/>
                  <a:pt x="90320" y="19460"/>
                  <a:pt x="58063" y="19460"/>
                </a:cubicBezTo>
                <a:cubicBezTo>
                  <a:pt x="25806" y="19460"/>
                  <a:pt x="0" y="10768"/>
                  <a:pt x="0" y="0"/>
                </a:cubicBez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025959" y="1358549"/>
            <a:ext cx="87095" cy="82703"/>
          </a:xfrm>
          <a:custGeom>
            <a:avLst/>
            <a:gdLst/>
            <a:ahLst/>
            <a:cxnLst/>
            <a:rect l="l" t="t" r="r" b="b"/>
            <a:pathLst>
              <a:path w="116126" h="110271">
                <a:moveTo>
                  <a:pt x="0" y="0"/>
                </a:moveTo>
                <a:lnTo>
                  <a:pt x="0" y="90811"/>
                </a:lnTo>
                <a:cubicBezTo>
                  <a:pt x="0" y="101579"/>
                  <a:pt x="25806" y="110271"/>
                  <a:pt x="58063" y="110271"/>
                </a:cubicBezTo>
                <a:cubicBezTo>
                  <a:pt x="90320" y="110271"/>
                  <a:pt x="116126" y="101579"/>
                  <a:pt x="116126" y="90811"/>
                </a:cubicBezTo>
                <a:lnTo>
                  <a:pt x="116126" y="0"/>
                </a:lnTo>
              </a:path>
            </a:pathLst>
          </a:custGeom>
          <a:ln w="10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063821" y="3281810"/>
            <a:ext cx="51205" cy="2744"/>
          </a:xfrm>
          <a:custGeom>
            <a:avLst/>
            <a:gdLst/>
            <a:ahLst/>
            <a:cxnLst/>
            <a:rect l="l" t="t" r="r" b="b"/>
            <a:pathLst>
              <a:path w="68273" h="3658">
                <a:moveTo>
                  <a:pt x="0" y="0"/>
                </a:moveTo>
                <a:lnTo>
                  <a:pt x="68273" y="0"/>
                </a:lnTo>
              </a:path>
            </a:pathLst>
          </a:custGeom>
          <a:ln w="187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072355" y="3317986"/>
            <a:ext cx="34137" cy="2744"/>
          </a:xfrm>
          <a:custGeom>
            <a:avLst/>
            <a:gdLst/>
            <a:ahLst/>
            <a:cxnLst/>
            <a:rect l="l" t="t" r="r" b="b"/>
            <a:pathLst>
              <a:path w="45516" h="3658">
                <a:moveTo>
                  <a:pt x="0" y="0"/>
                </a:moveTo>
                <a:lnTo>
                  <a:pt x="45516" y="0"/>
                </a:lnTo>
              </a:path>
            </a:pathLst>
          </a:custGeom>
          <a:ln w="187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038219" y="3137107"/>
            <a:ext cx="102602" cy="108528"/>
          </a:xfrm>
          <a:custGeom>
            <a:avLst/>
            <a:gdLst/>
            <a:ahLst/>
            <a:cxnLst/>
            <a:rect l="l" t="t" r="r" b="b"/>
            <a:pathLst>
              <a:path w="136803" h="144704">
                <a:moveTo>
                  <a:pt x="103434" y="144704"/>
                </a:moveTo>
                <a:cubicBezTo>
                  <a:pt x="105483" y="132886"/>
                  <a:pt x="110831" y="123722"/>
                  <a:pt x="119479" y="114557"/>
                </a:cubicBezTo>
                <a:cubicBezTo>
                  <a:pt x="130592" y="103716"/>
                  <a:pt x="136803" y="88357"/>
                  <a:pt x="136547" y="72352"/>
                </a:cubicBezTo>
                <a:cubicBezTo>
                  <a:pt x="136547" y="32393"/>
                  <a:pt x="105980" y="0"/>
                  <a:pt x="68273" y="0"/>
                </a:cubicBezTo>
                <a:cubicBezTo>
                  <a:pt x="30567" y="0"/>
                  <a:pt x="0" y="32393"/>
                  <a:pt x="0" y="72352"/>
                </a:cubicBezTo>
                <a:cubicBezTo>
                  <a:pt x="0" y="84411"/>
                  <a:pt x="2617" y="99243"/>
                  <a:pt x="17068" y="114557"/>
                </a:cubicBezTo>
                <a:cubicBezTo>
                  <a:pt x="24806" y="122757"/>
                  <a:pt x="30154" y="132042"/>
                  <a:pt x="33113" y="144704"/>
                </a:cubicBezTo>
              </a:path>
            </a:pathLst>
          </a:custGeom>
          <a:ln w="187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445302" y="167678"/>
            <a:ext cx="4296841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비정형 문서까지 데이터로,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Document Parser</a:t>
            </a:r>
            <a:endParaRPr lang="en-US" sz="1710" dirty="0"/>
          </a:p>
        </p:txBody>
      </p:sp>
      <p:sp>
        <p:nvSpPr>
          <p:cNvPr id="44" name="Text 42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45" name="Text 43"/>
          <p:cNvSpPr txBox="1"/>
          <p:nvPr/>
        </p:nvSpPr>
        <p:spPr>
          <a:xfrm>
            <a:off x="297172" y="677913"/>
            <a:ext cx="7789031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기업 내 방치된 정형 · 비정형 문서(PDF, 엑셀 등)를 AI가 스스로 읽고 해석해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지식 DB로 자동 마이그레이션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합니다. 단순 텍스트 추출을 넘어 다단 레</a:t>
            </a:r>
            <a:endParaRPr lang="en-US" sz="975" dirty="0"/>
          </a:p>
        </p:txBody>
      </p:sp>
      <p:sp>
        <p:nvSpPr>
          <p:cNvPr id="46" name="Text 44"/>
          <p:cNvSpPr txBox="1"/>
          <p:nvPr/>
        </p:nvSpPr>
        <p:spPr>
          <a:xfrm>
            <a:off x="297173" y="881596"/>
            <a:ext cx="2905799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이아웃, 복잡한 표(Table) 구조의 맥락까지 파싱합니다.</a:t>
            </a:r>
            <a:endParaRPr lang="en-US" sz="975" dirty="0"/>
          </a:p>
        </p:txBody>
      </p:sp>
      <p:sp>
        <p:nvSpPr>
          <p:cNvPr id="47" name="Text 45"/>
          <p:cNvSpPr txBox="1"/>
          <p:nvPr/>
        </p:nvSpPr>
        <p:spPr>
          <a:xfrm>
            <a:off x="585202" y="1311079"/>
            <a:ext cx="1133831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멀티 포맷 데이터 인입</a:t>
            </a:r>
            <a:endParaRPr lang="en-US" sz="915" dirty="0"/>
          </a:p>
        </p:txBody>
      </p:sp>
      <p:sp>
        <p:nvSpPr>
          <p:cNvPr id="48" name="Text 46"/>
          <p:cNvSpPr txBox="1"/>
          <p:nvPr/>
        </p:nvSpPr>
        <p:spPr>
          <a:xfrm>
            <a:off x="2785193" y="1311079"/>
            <a:ext cx="14401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지능형 구조 분석 (Parsing)</a:t>
            </a:r>
            <a:endParaRPr lang="en-US" sz="915" dirty="0"/>
          </a:p>
        </p:txBody>
      </p:sp>
      <p:sp>
        <p:nvSpPr>
          <p:cNvPr id="49" name="Text 47"/>
          <p:cNvSpPr txBox="1"/>
          <p:nvPr/>
        </p:nvSpPr>
        <p:spPr>
          <a:xfrm>
            <a:off x="4985184" y="1311079"/>
            <a:ext cx="1403573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마크다운(MD) 최적화 변환</a:t>
            </a:r>
            <a:endParaRPr lang="en-US" sz="915" dirty="0"/>
          </a:p>
        </p:txBody>
      </p:sp>
      <p:sp>
        <p:nvSpPr>
          <p:cNvPr id="50" name="Text 48"/>
          <p:cNvSpPr txBox="1"/>
          <p:nvPr/>
        </p:nvSpPr>
        <p:spPr>
          <a:xfrm>
            <a:off x="7185175" y="1311079"/>
            <a:ext cx="1394429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지식 DB 자동 마이그레이션</a:t>
            </a:r>
            <a:endParaRPr lang="en-US" sz="915" dirty="0"/>
          </a:p>
        </p:txBody>
      </p:sp>
      <p:sp>
        <p:nvSpPr>
          <p:cNvPr id="51" name="Text 49"/>
          <p:cNvSpPr txBox="1"/>
          <p:nvPr/>
        </p:nvSpPr>
        <p:spPr>
          <a:xfrm>
            <a:off x="411470" y="1507560"/>
            <a:ext cx="1789345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텍스트 · 도형 · 표가 혼재된 비정형 문서와</a:t>
            </a:r>
            <a:endParaRPr lang="en-US" sz="773" dirty="0"/>
          </a:p>
        </p:txBody>
      </p:sp>
      <p:sp>
        <p:nvSpPr>
          <p:cNvPr id="52" name="Text 50"/>
          <p:cNvSpPr txBox="1"/>
          <p:nvPr/>
        </p:nvSpPr>
        <p:spPr>
          <a:xfrm>
            <a:off x="2611461" y="1507560"/>
            <a:ext cx="1848688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다중 레이아웃 등 구조를 완벽히 식별해 원본</a:t>
            </a:r>
            <a:endParaRPr lang="en-US" sz="773" dirty="0"/>
          </a:p>
        </p:txBody>
      </p:sp>
      <p:sp>
        <p:nvSpPr>
          <p:cNvPr id="53" name="Text 51"/>
          <p:cNvSpPr txBox="1"/>
          <p:nvPr/>
        </p:nvSpPr>
        <p:spPr>
          <a:xfrm>
            <a:off x="4811453" y="1507560"/>
            <a:ext cx="1851705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LLM이 가장 잘 이해하는 마크다운 규격으로</a:t>
            </a:r>
            <a:endParaRPr lang="en-US" sz="773" dirty="0"/>
          </a:p>
        </p:txBody>
      </p:sp>
      <p:sp>
        <p:nvSpPr>
          <p:cNvPr id="54" name="Text 52"/>
          <p:cNvSpPr txBox="1"/>
          <p:nvPr/>
        </p:nvSpPr>
        <p:spPr>
          <a:xfrm>
            <a:off x="7011444" y="1507560"/>
            <a:ext cx="1831589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가공 완료된 정성 · 정량 데이터를 사내 지식</a:t>
            </a:r>
            <a:endParaRPr lang="en-US" sz="773" dirty="0"/>
          </a:p>
        </p:txBody>
      </p:sp>
      <p:sp>
        <p:nvSpPr>
          <p:cNvPr id="55" name="Text 53"/>
          <p:cNvSpPr txBox="1"/>
          <p:nvPr/>
        </p:nvSpPr>
        <p:spPr>
          <a:xfrm>
            <a:off x="2353607" y="1562081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553599" y="1562081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753590" y="1562081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11470" y="1654665"/>
            <a:ext cx="1873833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정량 엑셀 데이터를 포맷 제약 없이 일괄 수집</a:t>
            </a:r>
            <a:endParaRPr lang="en-US" sz="773" dirty="0"/>
          </a:p>
        </p:txBody>
      </p:sp>
      <p:sp>
        <p:nvSpPr>
          <p:cNvPr id="59" name="Text 57"/>
          <p:cNvSpPr txBox="1"/>
          <p:nvPr/>
        </p:nvSpPr>
        <p:spPr>
          <a:xfrm>
            <a:off x="2611462" y="1654665"/>
            <a:ext cx="1824548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데이터의 문서 흐름과 맥락을 정확히 추출합</a:t>
            </a:r>
            <a:endParaRPr lang="en-US" sz="773" dirty="0"/>
          </a:p>
        </p:txBody>
      </p:sp>
      <p:sp>
        <p:nvSpPr>
          <p:cNvPr id="60" name="Text 58"/>
          <p:cNvSpPr txBox="1"/>
          <p:nvPr/>
        </p:nvSpPr>
        <p:spPr>
          <a:xfrm>
            <a:off x="4811453" y="1654665"/>
            <a:ext cx="1759170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자동 변환하고, 최적의 시맨틱 단위로 분할</a:t>
            </a:r>
            <a:endParaRPr lang="en-US" sz="773" dirty="0"/>
          </a:p>
        </p:txBody>
      </p:sp>
      <p:sp>
        <p:nvSpPr>
          <p:cNvPr id="61" name="Text 59"/>
          <p:cNvSpPr txBox="1"/>
          <p:nvPr/>
        </p:nvSpPr>
        <p:spPr>
          <a:xfrm>
            <a:off x="7011445" y="1654665"/>
            <a:ext cx="1824548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위키와 Vector DB로 이관해 즉시 검색 가능</a:t>
            </a:r>
            <a:endParaRPr lang="en-US" sz="773" dirty="0"/>
          </a:p>
        </p:txBody>
      </p:sp>
      <p:sp>
        <p:nvSpPr>
          <p:cNvPr id="62" name="Text 60"/>
          <p:cNvSpPr txBox="1"/>
          <p:nvPr/>
        </p:nvSpPr>
        <p:spPr>
          <a:xfrm>
            <a:off x="411470" y="1802283"/>
            <a:ext cx="420617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합니다.</a:t>
            </a:r>
            <a:endParaRPr lang="en-US" sz="773" dirty="0"/>
          </a:p>
        </p:txBody>
      </p:sp>
      <p:sp>
        <p:nvSpPr>
          <p:cNvPr id="63" name="Text 61"/>
          <p:cNvSpPr txBox="1"/>
          <p:nvPr/>
        </p:nvSpPr>
        <p:spPr>
          <a:xfrm>
            <a:off x="2611461" y="1802283"/>
            <a:ext cx="334666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773" dirty="0"/>
          </a:p>
        </p:txBody>
      </p:sp>
      <p:sp>
        <p:nvSpPr>
          <p:cNvPr id="64" name="Text 62"/>
          <p:cNvSpPr txBox="1"/>
          <p:nvPr/>
        </p:nvSpPr>
        <p:spPr>
          <a:xfrm>
            <a:off x="4811452" y="1802283"/>
            <a:ext cx="901580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(Chunking)합니다.</a:t>
            </a:r>
            <a:endParaRPr lang="en-US" sz="773" dirty="0"/>
          </a:p>
        </p:txBody>
      </p:sp>
      <p:sp>
        <p:nvSpPr>
          <p:cNvPr id="65" name="Text 63"/>
          <p:cNvSpPr txBox="1"/>
          <p:nvPr/>
        </p:nvSpPr>
        <p:spPr>
          <a:xfrm>
            <a:off x="7011445" y="1802283"/>
            <a:ext cx="1067081" cy="147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자산으로 편입합니다.</a:t>
            </a:r>
            <a:endParaRPr lang="en-US" sz="773" dirty="0"/>
          </a:p>
        </p:txBody>
      </p:sp>
      <p:sp>
        <p:nvSpPr>
          <p:cNvPr id="66" name="Text 64"/>
          <p:cNvSpPr txBox="1"/>
          <p:nvPr/>
        </p:nvSpPr>
        <p:spPr>
          <a:xfrm>
            <a:off x="565086" y="2114494"/>
            <a:ext cx="2007607" cy="147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aisight Document Parser Core Engine</a:t>
            </a:r>
            <a:endParaRPr lang="en-US" sz="825" dirty="0"/>
          </a:p>
        </p:txBody>
      </p:sp>
      <p:sp>
        <p:nvSpPr>
          <p:cNvPr id="67" name="Text 65"/>
          <p:cNvSpPr txBox="1"/>
          <p:nvPr/>
        </p:nvSpPr>
        <p:spPr>
          <a:xfrm>
            <a:off x="576972" y="2446763"/>
            <a:ext cx="1837624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정성 · 정량 데이터 통합 마이그레이션</a:t>
            </a:r>
            <a:endParaRPr lang="en-US" sz="893" dirty="0"/>
          </a:p>
        </p:txBody>
      </p:sp>
      <p:sp>
        <p:nvSpPr>
          <p:cNvPr id="68" name="Text 66"/>
          <p:cNvSpPr txBox="1"/>
          <p:nvPr/>
        </p:nvSpPr>
        <p:spPr>
          <a:xfrm>
            <a:off x="2676382" y="2446763"/>
            <a:ext cx="1547949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표 · 이미지 맥락 이해 (Vision)</a:t>
            </a:r>
            <a:endParaRPr lang="en-US" sz="893" dirty="0"/>
          </a:p>
        </p:txBody>
      </p:sp>
      <p:sp>
        <p:nvSpPr>
          <p:cNvPr id="69" name="Text 67"/>
          <p:cNvSpPr txBox="1"/>
          <p:nvPr/>
        </p:nvSpPr>
        <p:spPr>
          <a:xfrm>
            <a:off x="576972" y="2630386"/>
            <a:ext cx="1904008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내부 · 외부 문서 업로드 즉시 파싱 파이프라인</a:t>
            </a:r>
            <a:endParaRPr lang="en-US" sz="765" dirty="0"/>
          </a:p>
        </p:txBody>
      </p:sp>
      <p:sp>
        <p:nvSpPr>
          <p:cNvPr id="70" name="Text 68"/>
          <p:cNvSpPr txBox="1"/>
          <p:nvPr/>
        </p:nvSpPr>
        <p:spPr>
          <a:xfrm>
            <a:off x="2676382" y="2630386"/>
            <a:ext cx="1917083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표의 헤더-본문 관계, 이미지 내 객체의 의미까</a:t>
            </a:r>
            <a:endParaRPr lang="en-US" sz="765" dirty="0"/>
          </a:p>
        </p:txBody>
      </p:sp>
      <p:sp>
        <p:nvSpPr>
          <p:cNvPr id="71" name="Text 69"/>
          <p:cNvSpPr txBox="1"/>
          <p:nvPr/>
        </p:nvSpPr>
        <p:spPr>
          <a:xfrm>
            <a:off x="576972" y="2775948"/>
            <a:ext cx="1620368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으로 이관해 지식 관계를 구조화합니다.</a:t>
            </a:r>
            <a:endParaRPr lang="en-US" sz="765" dirty="0"/>
          </a:p>
        </p:txBody>
      </p:sp>
      <p:sp>
        <p:nvSpPr>
          <p:cNvPr id="72" name="Text 70"/>
          <p:cNvSpPr txBox="1"/>
          <p:nvPr/>
        </p:nvSpPr>
        <p:spPr>
          <a:xfrm>
            <a:off x="2676382" y="2775948"/>
            <a:ext cx="1526827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 파악해 데이터 손실을 방지합니다.</a:t>
            </a:r>
            <a:endParaRPr lang="en-US" sz="765" dirty="0"/>
          </a:p>
        </p:txBody>
      </p:sp>
      <p:sp>
        <p:nvSpPr>
          <p:cNvPr id="73" name="Text 71"/>
          <p:cNvSpPr txBox="1"/>
          <p:nvPr/>
        </p:nvSpPr>
        <p:spPr>
          <a:xfrm>
            <a:off x="5271384" y="3017692"/>
            <a:ext cx="3526387" cy="20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'문서'를 '살아있는 AI 데이터 베이스'로 실시간 마이그레</a:t>
            </a:r>
            <a:endParaRPr lang="en-US" sz="1155" dirty="0"/>
          </a:p>
        </p:txBody>
      </p:sp>
      <p:sp>
        <p:nvSpPr>
          <p:cNvPr id="74" name="Text 72"/>
          <p:cNvSpPr txBox="1"/>
          <p:nvPr/>
        </p:nvSpPr>
        <p:spPr>
          <a:xfrm>
            <a:off x="5271385" y="3222403"/>
            <a:ext cx="393185" cy="20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이션</a:t>
            </a:r>
            <a:endParaRPr lang="en-US" sz="1155" dirty="0"/>
          </a:p>
        </p:txBody>
      </p:sp>
      <p:sp>
        <p:nvSpPr>
          <p:cNvPr id="75" name="Text 73"/>
          <p:cNvSpPr txBox="1"/>
          <p:nvPr/>
        </p:nvSpPr>
        <p:spPr>
          <a:xfrm>
            <a:off x="4987013" y="3500152"/>
            <a:ext cx="3809021" cy="1846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단순 문서 저장을 넘어 사내 각종 문서를 통합 적재하고,</a:t>
            </a:r>
            <a:r>
              <a:rPr lang="en-US" sz="88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문서 위키화 - 지식 관계</a:t>
            </a:r>
            <a:endParaRPr lang="en-US" sz="885" dirty="0"/>
          </a:p>
        </p:txBody>
      </p:sp>
      <p:sp>
        <p:nvSpPr>
          <p:cNvPr id="76" name="Text 74"/>
          <p:cNvSpPr txBox="1"/>
          <p:nvPr/>
        </p:nvSpPr>
        <p:spPr>
          <a:xfrm>
            <a:off x="576972" y="3607136"/>
            <a:ext cx="1386200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메타데이터 자동 추출 · 태깅</a:t>
            </a:r>
            <a:endParaRPr lang="en-US" sz="893" dirty="0"/>
          </a:p>
        </p:txBody>
      </p:sp>
      <p:sp>
        <p:nvSpPr>
          <p:cNvPr id="77" name="Text 75"/>
          <p:cNvSpPr txBox="1"/>
          <p:nvPr/>
        </p:nvSpPr>
        <p:spPr>
          <a:xfrm>
            <a:off x="2676382" y="3607136"/>
            <a:ext cx="1607292" cy="1584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9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무인(Human-less) 파이프라인</a:t>
            </a:r>
            <a:endParaRPr lang="en-US" sz="893" dirty="0"/>
          </a:p>
        </p:txBody>
      </p:sp>
      <p:sp>
        <p:nvSpPr>
          <p:cNvPr id="78" name="Text 76"/>
          <p:cNvSpPr txBox="1"/>
          <p:nvPr/>
        </p:nvSpPr>
        <p:spPr>
          <a:xfrm>
            <a:off x="4987013" y="3684803"/>
            <a:ext cx="3886469" cy="1846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망 형성 - 태그 기반 연관 탐색</a:t>
            </a:r>
            <a:r>
              <a:rPr lang="en-US" sz="88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으로 이어지는 답변 제공 플로우를 구현합니다. 지식</a:t>
            </a:r>
            <a:endParaRPr lang="en-US" sz="885" dirty="0"/>
          </a:p>
        </p:txBody>
      </p:sp>
      <p:sp>
        <p:nvSpPr>
          <p:cNvPr id="79" name="Text 77"/>
          <p:cNvSpPr txBox="1"/>
          <p:nvPr/>
        </p:nvSpPr>
        <p:spPr>
          <a:xfrm>
            <a:off x="576972" y="3790245"/>
            <a:ext cx="1871822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문서 내 핵심 엔티티(부서명, 날짜, 제품명 등)</a:t>
            </a:r>
            <a:endParaRPr lang="en-US" sz="765" dirty="0"/>
          </a:p>
        </p:txBody>
      </p:sp>
      <p:sp>
        <p:nvSpPr>
          <p:cNvPr id="80" name="Text 78"/>
          <p:cNvSpPr txBox="1"/>
          <p:nvPr/>
        </p:nvSpPr>
        <p:spPr>
          <a:xfrm>
            <a:off x="2676382" y="3790245"/>
            <a:ext cx="1840641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업로드 즉시 파싱-청킹-임베딩-적재까지 사</a:t>
            </a:r>
            <a:endParaRPr lang="en-US" sz="765" dirty="0"/>
          </a:p>
        </p:txBody>
      </p:sp>
      <p:sp>
        <p:nvSpPr>
          <p:cNvPr id="81" name="Text 79"/>
          <p:cNvSpPr txBox="1"/>
          <p:nvPr/>
        </p:nvSpPr>
        <p:spPr>
          <a:xfrm>
            <a:off x="4987013" y="3869455"/>
            <a:ext cx="2873613" cy="1846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그래프 · 지능형 위키와 같은 데이터를 바라보며 동작합니다.</a:t>
            </a:r>
            <a:endParaRPr lang="en-US" sz="885" dirty="0"/>
          </a:p>
        </p:txBody>
      </p:sp>
      <p:sp>
        <p:nvSpPr>
          <p:cNvPr id="82" name="Text 80"/>
          <p:cNvSpPr txBox="1"/>
          <p:nvPr/>
        </p:nvSpPr>
        <p:spPr>
          <a:xfrm>
            <a:off x="576972" y="3936321"/>
            <a:ext cx="1852711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를 자동 식별해 검색 효율을 높이는 태그를 부</a:t>
            </a:r>
            <a:endParaRPr lang="en-US" sz="765" dirty="0"/>
          </a:p>
        </p:txBody>
      </p:sp>
      <p:sp>
        <p:nvSpPr>
          <p:cNvPr id="83" name="Text 81"/>
          <p:cNvSpPr txBox="1"/>
          <p:nvPr/>
        </p:nvSpPr>
        <p:spPr>
          <a:xfrm>
            <a:off x="2676382" y="3936321"/>
            <a:ext cx="1827566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람 개입 없이 완전 자동화된 백엔드로 동작합</a:t>
            </a:r>
            <a:endParaRPr lang="en-US" sz="765" dirty="0"/>
          </a:p>
        </p:txBody>
      </p:sp>
      <p:sp>
        <p:nvSpPr>
          <p:cNvPr id="84" name="Text 82"/>
          <p:cNvSpPr txBox="1"/>
          <p:nvPr/>
        </p:nvSpPr>
        <p:spPr>
          <a:xfrm>
            <a:off x="576972" y="4081882"/>
            <a:ext cx="501997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여합니다.</a:t>
            </a:r>
            <a:endParaRPr lang="en-US" sz="765" dirty="0"/>
          </a:p>
        </p:txBody>
      </p:sp>
      <p:sp>
        <p:nvSpPr>
          <p:cNvPr id="85" name="Text 83"/>
          <p:cNvSpPr txBox="1"/>
          <p:nvPr/>
        </p:nvSpPr>
        <p:spPr>
          <a:xfrm>
            <a:off x="2676382" y="4081882"/>
            <a:ext cx="332837" cy="145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765" dirty="0"/>
          </a:p>
        </p:txBody>
      </p:sp>
      <p:sp>
        <p:nvSpPr>
          <p:cNvPr id="86" name="Text 84"/>
          <p:cNvSpPr txBox="1"/>
          <p:nvPr/>
        </p:nvSpPr>
        <p:spPr>
          <a:xfrm>
            <a:off x="4458503" y="4923873"/>
            <a:ext cx="36392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- 19 -</a:t>
            </a:r>
            <a:endParaRPr lang="en-US" sz="705" dirty="0"/>
          </a:p>
        </p:txBody>
      </p:sp>
      <p:sp>
        <p:nvSpPr>
          <p:cNvPr id="87" name="Text 85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2" y="1224153"/>
            <a:ext cx="5000729" cy="3622567"/>
          </a:xfrm>
          <a:prstGeom prst="roundRect">
            <a:avLst>
              <a:gd name="adj" fmla="val 315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9816" y="1930356"/>
            <a:ext cx="1510551" cy="373418"/>
          </a:xfrm>
          <a:prstGeom prst="roundRect">
            <a:avLst>
              <a:gd name="adj" fmla="val 214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041805" y="1930356"/>
            <a:ext cx="1510551" cy="373418"/>
          </a:xfrm>
          <a:prstGeom prst="roundRect">
            <a:avLst>
              <a:gd name="adj" fmla="val 214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43793" y="1930356"/>
            <a:ext cx="1510551" cy="373418"/>
          </a:xfrm>
          <a:prstGeom prst="roundRect">
            <a:avLst>
              <a:gd name="adj" fmla="val 2142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9816" y="2754344"/>
            <a:ext cx="4715443" cy="302438"/>
          </a:xfrm>
          <a:prstGeom prst="roundRect">
            <a:avLst>
              <a:gd name="adj" fmla="val 302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804395" y="2822753"/>
            <a:ext cx="715958" cy="16562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571557" y="2822753"/>
            <a:ext cx="641893" cy="16562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264656" y="2822753"/>
            <a:ext cx="776306" cy="16562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9816" y="3848881"/>
            <a:ext cx="1510551" cy="581730"/>
          </a:xfrm>
          <a:prstGeom prst="roundRect">
            <a:avLst>
              <a:gd name="adj" fmla="val 137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9816" y="3848881"/>
            <a:ext cx="1510551" cy="68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950367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9816" y="4430611"/>
            <a:ext cx="1510551" cy="6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39816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1253" y="3922948"/>
            <a:ext cx="1327676" cy="16099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31253" y="4145661"/>
            <a:ext cx="56692" cy="57093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86365" y="4294823"/>
            <a:ext cx="849456" cy="36519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86364" y="4294823"/>
            <a:ext cx="306317" cy="365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041805" y="3848881"/>
            <a:ext cx="1510551" cy="581730"/>
          </a:xfrm>
          <a:prstGeom prst="roundRect">
            <a:avLst>
              <a:gd name="adj" fmla="val 137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041805" y="3848881"/>
            <a:ext cx="1510551" cy="68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552355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041805" y="4430611"/>
            <a:ext cx="1510551" cy="6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041804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133241" y="3922948"/>
            <a:ext cx="1327676" cy="16099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133242" y="4145661"/>
            <a:ext cx="56692" cy="57093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388354" y="4294823"/>
            <a:ext cx="853114" cy="36519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388353" y="4294823"/>
            <a:ext cx="187448" cy="365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43793" y="3848881"/>
            <a:ext cx="1510551" cy="581730"/>
          </a:xfrm>
          <a:prstGeom prst="roundRect">
            <a:avLst>
              <a:gd name="adj" fmla="val 137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643793" y="3848881"/>
            <a:ext cx="1510551" cy="686"/>
          </a:xfrm>
          <a:prstGeom prst="line">
            <a:avLst/>
          </a:prstGeom>
          <a:noFill/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155258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3643793" y="4430611"/>
            <a:ext cx="1510551" cy="6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3643793" y="3848881"/>
            <a:ext cx="686" cy="581730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735231" y="3922948"/>
            <a:ext cx="1328590" cy="16099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735231" y="4145661"/>
            <a:ext cx="56692" cy="57093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3990342" y="4294823"/>
            <a:ext cx="865916" cy="36519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990343" y="4294823"/>
            <a:ext cx="441644" cy="36519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595074" y="1224153"/>
            <a:ext cx="3251525" cy="910914"/>
          </a:xfrm>
          <a:prstGeom prst="roundRect">
            <a:avLst>
              <a:gd name="adj" fmla="val 1066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725830" y="1332682"/>
            <a:ext cx="285286" cy="285464"/>
          </a:xfrm>
          <a:prstGeom prst="roundRect">
            <a:avLst>
              <a:gd name="adj" fmla="val 280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595074" y="2260568"/>
            <a:ext cx="3251525" cy="910914"/>
          </a:xfrm>
          <a:prstGeom prst="roundRect">
            <a:avLst>
              <a:gd name="adj" fmla="val 1066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725830" y="2369097"/>
            <a:ext cx="285286" cy="285464"/>
          </a:xfrm>
          <a:prstGeom prst="roundRect">
            <a:avLst>
              <a:gd name="adj" fmla="val 280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5595074" y="3296984"/>
            <a:ext cx="3251525" cy="910914"/>
          </a:xfrm>
          <a:prstGeom prst="roundRect">
            <a:avLst>
              <a:gd name="adj" fmla="val 1066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725830" y="3405512"/>
            <a:ext cx="285286" cy="285464"/>
          </a:xfrm>
          <a:prstGeom prst="roundRect">
            <a:avLst>
              <a:gd name="adj" fmla="val 280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5595074" y="4333399"/>
            <a:ext cx="3251525" cy="512807"/>
          </a:xfrm>
          <a:prstGeom prst="roundRect">
            <a:avLst>
              <a:gd name="adj" fmla="val 1894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551027" y="2074245"/>
            <a:ext cx="85723" cy="85640"/>
          </a:xfrm>
          <a:prstGeom prst="roundRect">
            <a:avLst>
              <a:gd name="adj" fmla="val 11117"/>
            </a:avLst>
          </a:pr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51027" y="2102791"/>
            <a:ext cx="85723" cy="2744"/>
          </a:xfrm>
          <a:custGeom>
            <a:avLst/>
            <a:gdLst/>
            <a:ahLst/>
            <a:cxnLst/>
            <a:rect l="l" t="t" r="r" b="b"/>
            <a:pathLst>
              <a:path w="114297" h="3658">
                <a:moveTo>
                  <a:pt x="0" y="0"/>
                </a:moveTo>
                <a:lnTo>
                  <a:pt x="114297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579601" y="2102792"/>
            <a:ext cx="2744" cy="57093"/>
          </a:xfrm>
          <a:custGeom>
            <a:avLst/>
            <a:gdLst/>
            <a:ahLst/>
            <a:cxnLst/>
            <a:rect l="l" t="t" r="r" b="b"/>
            <a:pathLst>
              <a:path w="3658" h="76124">
                <a:moveTo>
                  <a:pt x="0" y="76124"/>
                </a:moveTo>
                <a:lnTo>
                  <a:pt x="0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2153016" y="2069072"/>
            <a:ext cx="85723" cy="95985"/>
          </a:xfrm>
          <a:custGeom>
            <a:avLst/>
            <a:gdLst/>
            <a:ahLst/>
            <a:cxnLst/>
            <a:rect l="l" t="t" r="r" b="b"/>
            <a:pathLst>
              <a:path w="114297" h="127980">
                <a:moveTo>
                  <a:pt x="114297" y="89365"/>
                </a:moveTo>
                <a:lnTo>
                  <a:pt x="114297" y="38615"/>
                </a:lnTo>
                <a:cubicBezTo>
                  <a:pt x="114292" y="34087"/>
                  <a:pt x="111873" y="29905"/>
                  <a:pt x="107947" y="27641"/>
                </a:cubicBezTo>
                <a:lnTo>
                  <a:pt x="63498" y="2266"/>
                </a:lnTo>
                <a:cubicBezTo>
                  <a:pt x="59569" y="0"/>
                  <a:pt x="54728" y="0"/>
                  <a:pt x="50799" y="2266"/>
                </a:cubicBezTo>
                <a:lnTo>
                  <a:pt x="6350" y="27641"/>
                </a:lnTo>
                <a:cubicBezTo>
                  <a:pt x="2425" y="29905"/>
                  <a:pt x="5" y="34087"/>
                  <a:pt x="0" y="38615"/>
                </a:cubicBezTo>
                <a:lnTo>
                  <a:pt x="0" y="89365"/>
                </a:lnTo>
                <a:cubicBezTo>
                  <a:pt x="5" y="93893"/>
                  <a:pt x="2425" y="98075"/>
                  <a:pt x="6350" y="100339"/>
                </a:cubicBezTo>
                <a:lnTo>
                  <a:pt x="50799" y="125714"/>
                </a:lnTo>
                <a:cubicBezTo>
                  <a:pt x="54728" y="127980"/>
                  <a:pt x="59569" y="127980"/>
                  <a:pt x="63498" y="125714"/>
                </a:cubicBezTo>
                <a:lnTo>
                  <a:pt x="107947" y="100339"/>
                </a:lnTo>
                <a:cubicBezTo>
                  <a:pt x="111873" y="98075"/>
                  <a:pt x="114292" y="93893"/>
                  <a:pt x="114297" y="89365"/>
                </a:cubicBezTo>
                <a:close/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2154301" y="2093086"/>
            <a:ext cx="83151" cy="24026"/>
          </a:xfrm>
          <a:custGeom>
            <a:avLst/>
            <a:gdLst/>
            <a:ahLst/>
            <a:cxnLst/>
            <a:rect l="l" t="t" r="r" b="b"/>
            <a:pathLst>
              <a:path w="110868" h="32035">
                <a:moveTo>
                  <a:pt x="0" y="0"/>
                </a:moveTo>
                <a:lnTo>
                  <a:pt x="55434" y="32035"/>
                </a:lnTo>
                <a:lnTo>
                  <a:pt x="110868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2195877" y="2117065"/>
            <a:ext cx="2744" cy="47958"/>
          </a:xfrm>
          <a:custGeom>
            <a:avLst/>
            <a:gdLst/>
            <a:ahLst/>
            <a:cxnLst/>
            <a:rect l="l" t="t" r="r" b="b"/>
            <a:pathLst>
              <a:path w="3658" h="63944">
                <a:moveTo>
                  <a:pt x="0" y="63944"/>
                </a:moveTo>
                <a:lnTo>
                  <a:pt x="0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760681" y="2069487"/>
            <a:ext cx="76198" cy="95155"/>
          </a:xfrm>
          <a:custGeom>
            <a:avLst/>
            <a:gdLst/>
            <a:ahLst/>
            <a:cxnLst/>
            <a:rect l="l" t="t" r="r" b="b"/>
            <a:pathLst>
              <a:path w="101597" h="126873">
                <a:moveTo>
                  <a:pt x="63498" y="0"/>
                </a:moveTo>
                <a:lnTo>
                  <a:pt x="12700" y="0"/>
                </a:lnTo>
                <a:cubicBezTo>
                  <a:pt x="5686" y="0"/>
                  <a:pt x="0" y="5680"/>
                  <a:pt x="0" y="12687"/>
                </a:cubicBezTo>
                <a:lnTo>
                  <a:pt x="0" y="114186"/>
                </a:lnTo>
                <a:cubicBezTo>
                  <a:pt x="0" y="121193"/>
                  <a:pt x="5686" y="126873"/>
                  <a:pt x="12700" y="126873"/>
                </a:cubicBezTo>
                <a:lnTo>
                  <a:pt x="88898" y="126873"/>
                </a:lnTo>
                <a:cubicBezTo>
                  <a:pt x="95912" y="126873"/>
                  <a:pt x="101597" y="121193"/>
                  <a:pt x="101597" y="114186"/>
                </a:cubicBezTo>
                <a:lnTo>
                  <a:pt x="101597" y="38062"/>
                </a:lnTo>
                <a:close/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3808305" y="2069487"/>
            <a:ext cx="28574" cy="28547"/>
          </a:xfrm>
          <a:custGeom>
            <a:avLst/>
            <a:gdLst/>
            <a:ahLst/>
            <a:cxnLst/>
            <a:rect l="l" t="t" r="r" b="b"/>
            <a:pathLst>
              <a:path w="38099" h="38062">
                <a:moveTo>
                  <a:pt x="0" y="0"/>
                </a:moveTo>
                <a:lnTo>
                  <a:pt x="0" y="38062"/>
                </a:lnTo>
                <a:lnTo>
                  <a:pt x="38099" y="38062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3784493" y="2131338"/>
            <a:ext cx="28574" cy="2744"/>
          </a:xfrm>
          <a:custGeom>
            <a:avLst/>
            <a:gdLst/>
            <a:ahLst/>
            <a:cxnLst/>
            <a:rect l="l" t="t" r="r" b="b"/>
            <a:pathLst>
              <a:path w="38099" h="3658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0155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01661" y="2905564"/>
            <a:ext cx="47548" cy="23831"/>
          </a:xfrm>
          <a:custGeom>
            <a:avLst/>
            <a:gdLst/>
            <a:ahLst/>
            <a:cxnLst/>
            <a:rect l="l" t="t" r="r" b="b"/>
            <a:pathLst>
              <a:path w="63397" h="31775">
                <a:moveTo>
                  <a:pt x="63397" y="31775"/>
                </a:moveTo>
                <a:lnTo>
                  <a:pt x="31698" y="0"/>
                </a:lnTo>
                <a:lnTo>
                  <a:pt x="0" y="31775"/>
                </a:lnTo>
              </a:path>
            </a:pathLst>
          </a:custGeom>
          <a:ln w="12695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25434" y="2905564"/>
            <a:ext cx="2744" cy="53621"/>
          </a:xfrm>
          <a:custGeom>
            <a:avLst/>
            <a:gdLst/>
            <a:ahLst/>
            <a:cxnLst/>
            <a:rect l="l" t="t" r="r" b="b"/>
            <a:pathLst>
              <a:path w="3658" h="71495">
                <a:moveTo>
                  <a:pt x="0" y="0"/>
                </a:moveTo>
                <a:lnTo>
                  <a:pt x="0" y="71495"/>
                </a:lnTo>
              </a:path>
            </a:pathLst>
          </a:custGeom>
          <a:ln w="12695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556310" y="2850026"/>
            <a:ext cx="136914" cy="93608"/>
          </a:xfrm>
          <a:custGeom>
            <a:avLst/>
            <a:gdLst/>
            <a:ahLst/>
            <a:cxnLst/>
            <a:rect l="l" t="t" r="r" b="b"/>
            <a:pathLst>
              <a:path w="182552" h="124810">
                <a:moveTo>
                  <a:pt x="158652" y="124810"/>
                </a:moveTo>
                <a:cubicBezTo>
                  <a:pt x="174552" y="116121"/>
                  <a:pt x="182552" y="97732"/>
                  <a:pt x="178085" y="80140"/>
                </a:cubicBezTo>
                <a:cubicBezTo>
                  <a:pt x="173618" y="62547"/>
                  <a:pt x="157822" y="50230"/>
                  <a:pt x="139713" y="50218"/>
                </a:cubicBezTo>
                <a:lnTo>
                  <a:pt x="129728" y="50218"/>
                </a:lnTo>
                <a:cubicBezTo>
                  <a:pt x="123159" y="24748"/>
                  <a:pt x="101615" y="5969"/>
                  <a:pt x="75541" y="2984"/>
                </a:cubicBezTo>
                <a:cubicBezTo>
                  <a:pt x="49467" y="0"/>
                  <a:pt x="24254" y="13428"/>
                  <a:pt x="12127" y="36758"/>
                </a:cubicBezTo>
                <a:cubicBezTo>
                  <a:pt x="0" y="60087"/>
                  <a:pt x="3466" y="88495"/>
                  <a:pt x="20844" y="108208"/>
                </a:cubicBezTo>
              </a:path>
            </a:pathLst>
          </a:custGeom>
          <a:ln w="12695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12709" y="3966367"/>
            <a:ext cx="73913" cy="74153"/>
          </a:xfrm>
          <a:prstGeom prst="ellipse">
            <a:avLst/>
          </a:pr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12709" y="4003443"/>
            <a:ext cx="73913" cy="2744"/>
          </a:xfrm>
          <a:custGeom>
            <a:avLst/>
            <a:gdLst/>
            <a:ahLst/>
            <a:cxnLst/>
            <a:rect l="l" t="t" r="r" b="b"/>
            <a:pathLst>
              <a:path w="98550" h="3658">
                <a:moveTo>
                  <a:pt x="0" y="0"/>
                </a:moveTo>
                <a:lnTo>
                  <a:pt x="98550" y="0"/>
                </a:lnTo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634883" y="3966368"/>
            <a:ext cx="29565" cy="74152"/>
          </a:xfrm>
          <a:custGeom>
            <a:avLst/>
            <a:gdLst/>
            <a:ahLst/>
            <a:cxnLst/>
            <a:rect l="l" t="t" r="r" b="b"/>
            <a:pathLst>
              <a:path w="39420" h="98869">
                <a:moveTo>
                  <a:pt x="19710" y="0"/>
                </a:moveTo>
                <a:cubicBezTo>
                  <a:pt x="32035" y="13537"/>
                  <a:pt x="39039" y="31105"/>
                  <a:pt x="39420" y="49435"/>
                </a:cubicBezTo>
                <a:cubicBezTo>
                  <a:pt x="39039" y="67765"/>
                  <a:pt x="32035" y="85333"/>
                  <a:pt x="19710" y="98869"/>
                </a:cubicBezTo>
                <a:cubicBezTo>
                  <a:pt x="7385" y="85333"/>
                  <a:pt x="381" y="67765"/>
                  <a:pt x="0" y="49435"/>
                </a:cubicBezTo>
                <a:cubicBezTo>
                  <a:pt x="381" y="31105"/>
                  <a:pt x="7385" y="13537"/>
                  <a:pt x="19710" y="0"/>
                </a:cubicBezTo>
                <a:close/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2214697" y="3966367"/>
            <a:ext cx="73913" cy="74153"/>
          </a:xfrm>
          <a:prstGeom prst="ellipse">
            <a:avLst/>
          </a:pr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2214697" y="4003443"/>
            <a:ext cx="73913" cy="2744"/>
          </a:xfrm>
          <a:custGeom>
            <a:avLst/>
            <a:gdLst/>
            <a:ahLst/>
            <a:cxnLst/>
            <a:rect l="l" t="t" r="r" b="b"/>
            <a:pathLst>
              <a:path w="98550" h="3658">
                <a:moveTo>
                  <a:pt x="0" y="0"/>
                </a:moveTo>
                <a:lnTo>
                  <a:pt x="98550" y="0"/>
                </a:lnTo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2236871" y="3966368"/>
            <a:ext cx="29565" cy="74152"/>
          </a:xfrm>
          <a:custGeom>
            <a:avLst/>
            <a:gdLst/>
            <a:ahLst/>
            <a:cxnLst/>
            <a:rect l="l" t="t" r="r" b="b"/>
            <a:pathLst>
              <a:path w="39420" h="98869">
                <a:moveTo>
                  <a:pt x="19710" y="0"/>
                </a:moveTo>
                <a:cubicBezTo>
                  <a:pt x="32035" y="13537"/>
                  <a:pt x="39039" y="31105"/>
                  <a:pt x="39420" y="49435"/>
                </a:cubicBezTo>
                <a:cubicBezTo>
                  <a:pt x="39039" y="67765"/>
                  <a:pt x="32035" y="85333"/>
                  <a:pt x="19710" y="98869"/>
                </a:cubicBezTo>
                <a:cubicBezTo>
                  <a:pt x="7385" y="85333"/>
                  <a:pt x="381" y="67765"/>
                  <a:pt x="0" y="49435"/>
                </a:cubicBezTo>
                <a:cubicBezTo>
                  <a:pt x="381" y="31105"/>
                  <a:pt x="7385" y="13537"/>
                  <a:pt x="19710" y="0"/>
                </a:cubicBezTo>
                <a:close/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3816686" y="3966367"/>
            <a:ext cx="73913" cy="74153"/>
          </a:xfrm>
          <a:prstGeom prst="ellipse">
            <a:avLst/>
          </a:pr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3816686" y="4003443"/>
            <a:ext cx="73913" cy="2744"/>
          </a:xfrm>
          <a:custGeom>
            <a:avLst/>
            <a:gdLst/>
            <a:ahLst/>
            <a:cxnLst/>
            <a:rect l="l" t="t" r="r" b="b"/>
            <a:pathLst>
              <a:path w="98550" h="3658">
                <a:moveTo>
                  <a:pt x="0" y="0"/>
                </a:moveTo>
                <a:lnTo>
                  <a:pt x="98550" y="0"/>
                </a:lnTo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3838860" y="3966368"/>
            <a:ext cx="29565" cy="74152"/>
          </a:xfrm>
          <a:custGeom>
            <a:avLst/>
            <a:gdLst/>
            <a:ahLst/>
            <a:cxnLst/>
            <a:rect l="l" t="t" r="r" b="b"/>
            <a:pathLst>
              <a:path w="39420" h="98869">
                <a:moveTo>
                  <a:pt x="19710" y="0"/>
                </a:moveTo>
                <a:cubicBezTo>
                  <a:pt x="32035" y="13537"/>
                  <a:pt x="39039" y="31105"/>
                  <a:pt x="39420" y="49435"/>
                </a:cubicBezTo>
                <a:cubicBezTo>
                  <a:pt x="39039" y="67765"/>
                  <a:pt x="32035" y="85333"/>
                  <a:pt x="19710" y="98869"/>
                </a:cubicBezTo>
                <a:cubicBezTo>
                  <a:pt x="7385" y="85333"/>
                  <a:pt x="381" y="67765"/>
                  <a:pt x="0" y="49435"/>
                </a:cubicBezTo>
                <a:cubicBezTo>
                  <a:pt x="381" y="31105"/>
                  <a:pt x="7385" y="13537"/>
                  <a:pt x="19710" y="0"/>
                </a:cubicBezTo>
                <a:close/>
              </a:path>
            </a:pathLst>
          </a:custGeom>
          <a:ln w="789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846527" y="1475156"/>
            <a:ext cx="45719" cy="22803"/>
          </a:xfrm>
          <a:custGeom>
            <a:avLst/>
            <a:gdLst/>
            <a:ahLst/>
            <a:cxnLst/>
            <a:rect l="l" t="t" r="r" b="b"/>
            <a:pathLst>
              <a:path w="60958" h="30404">
                <a:moveTo>
                  <a:pt x="60958" y="30404"/>
                </a:moveTo>
                <a:lnTo>
                  <a:pt x="30479" y="0"/>
                </a:lnTo>
                <a:lnTo>
                  <a:pt x="0" y="30404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869387" y="1475156"/>
            <a:ext cx="2744" cy="51307"/>
          </a:xfrm>
          <a:custGeom>
            <a:avLst/>
            <a:gdLst/>
            <a:ahLst/>
            <a:cxnLst/>
            <a:rect l="l" t="t" r="r" b="b"/>
            <a:pathLst>
              <a:path w="3658" h="68409">
                <a:moveTo>
                  <a:pt x="0" y="0"/>
                </a:moveTo>
                <a:lnTo>
                  <a:pt x="0" y="68409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5802922" y="1422017"/>
            <a:ext cx="131648" cy="89567"/>
          </a:xfrm>
          <a:custGeom>
            <a:avLst/>
            <a:gdLst/>
            <a:ahLst/>
            <a:cxnLst/>
            <a:rect l="l" t="t" r="r" b="b"/>
            <a:pathLst>
              <a:path w="175531" h="119423">
                <a:moveTo>
                  <a:pt x="152550" y="119423"/>
                </a:moveTo>
                <a:cubicBezTo>
                  <a:pt x="167839" y="111109"/>
                  <a:pt x="175531" y="93513"/>
                  <a:pt x="171236" y="76680"/>
                </a:cubicBezTo>
                <a:cubicBezTo>
                  <a:pt x="166941" y="59848"/>
                  <a:pt x="151752" y="48061"/>
                  <a:pt x="134339" y="48050"/>
                </a:cubicBezTo>
                <a:lnTo>
                  <a:pt x="124738" y="48050"/>
                </a:lnTo>
                <a:cubicBezTo>
                  <a:pt x="118422" y="23680"/>
                  <a:pt x="97706" y="5711"/>
                  <a:pt x="72635" y="2855"/>
                </a:cubicBezTo>
                <a:cubicBezTo>
                  <a:pt x="47564" y="0"/>
                  <a:pt x="23321" y="12848"/>
                  <a:pt x="11661" y="35171"/>
                </a:cubicBezTo>
                <a:cubicBezTo>
                  <a:pt x="0" y="57493"/>
                  <a:pt x="3332" y="84675"/>
                  <a:pt x="20042" y="103537"/>
                </a:cubicBez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5812238" y="2460265"/>
            <a:ext cx="114297" cy="79810"/>
          </a:xfrm>
          <a:prstGeom prst="roundRect">
            <a:avLst>
              <a:gd name="adj" fmla="val 14303"/>
            </a:avLst>
          </a:pr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846527" y="2562877"/>
            <a:ext cx="45719" cy="2744"/>
          </a:xfrm>
          <a:custGeom>
            <a:avLst/>
            <a:gdLst/>
            <a:ahLst/>
            <a:cxnLst/>
            <a:rect l="l" t="t" r="r" b="b"/>
            <a:pathLst>
              <a:path w="60958" h="3658">
                <a:moveTo>
                  <a:pt x="0" y="0"/>
                </a:moveTo>
                <a:lnTo>
                  <a:pt x="60958" y="0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5869387" y="2540075"/>
            <a:ext cx="2744" cy="22803"/>
          </a:xfrm>
          <a:custGeom>
            <a:avLst/>
            <a:gdLst/>
            <a:ahLst/>
            <a:cxnLst/>
            <a:rect l="l" t="t" r="r" b="b"/>
            <a:pathLst>
              <a:path w="3658" h="30404">
                <a:moveTo>
                  <a:pt x="0" y="0"/>
                </a:moveTo>
                <a:lnTo>
                  <a:pt x="0" y="30404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5817954" y="3542285"/>
            <a:ext cx="102868" cy="62708"/>
          </a:xfrm>
          <a:prstGeom prst="roundRect">
            <a:avLst>
              <a:gd name="adj" fmla="val 18204"/>
            </a:avLst>
          </a:pr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5840812" y="3490980"/>
            <a:ext cx="57149" cy="51307"/>
          </a:xfrm>
          <a:custGeom>
            <a:avLst/>
            <a:gdLst/>
            <a:ahLst/>
            <a:cxnLst/>
            <a:rect l="l" t="t" r="r" b="b"/>
            <a:pathLst>
              <a:path w="76198" h="68409">
                <a:moveTo>
                  <a:pt x="0" y="68409"/>
                </a:moveTo>
                <a:lnTo>
                  <a:pt x="0" y="38005"/>
                </a:lnTo>
                <a:cubicBezTo>
                  <a:pt x="0" y="17015"/>
                  <a:pt x="17058" y="0"/>
                  <a:pt x="38099" y="0"/>
                </a:cubicBezTo>
                <a:cubicBezTo>
                  <a:pt x="59141" y="0"/>
                  <a:pt x="76198" y="17015"/>
                  <a:pt x="76198" y="38005"/>
                </a:cubicBezTo>
                <a:lnTo>
                  <a:pt x="76198" y="68409"/>
                </a:lnTo>
              </a:path>
            </a:pathLst>
          </a:custGeom>
          <a:ln w="12177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5736193" y="4466101"/>
            <a:ext cx="59739" cy="60008"/>
          </a:xfrm>
          <a:custGeom>
            <a:avLst/>
            <a:gdLst/>
            <a:ahLst/>
            <a:cxnLst/>
            <a:rect l="l" t="t" r="r" b="b"/>
            <a:pathLst>
              <a:path w="79652" h="80010">
                <a:moveTo>
                  <a:pt x="39826" y="0"/>
                </a:moveTo>
                <a:lnTo>
                  <a:pt x="50636" y="29146"/>
                </a:lnTo>
                <a:lnTo>
                  <a:pt x="79652" y="40005"/>
                </a:lnTo>
                <a:lnTo>
                  <a:pt x="50636" y="50864"/>
                </a:lnTo>
                <a:lnTo>
                  <a:pt x="39826" y="80010"/>
                </a:lnTo>
                <a:lnTo>
                  <a:pt x="29016" y="50864"/>
                </a:lnTo>
                <a:lnTo>
                  <a:pt x="0" y="40005"/>
                </a:lnTo>
                <a:lnTo>
                  <a:pt x="29016" y="29146"/>
                </a:lnTo>
                <a:close/>
              </a:path>
            </a:pathLst>
          </a:custGeom>
          <a:ln w="9124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5783131" y="4521822"/>
            <a:ext cx="25603" cy="25718"/>
          </a:xfrm>
          <a:custGeom>
            <a:avLst/>
            <a:gdLst/>
            <a:ahLst/>
            <a:cxnLst/>
            <a:rect l="l" t="t" r="r" b="b"/>
            <a:pathLst>
              <a:path w="34137" h="34290">
                <a:moveTo>
                  <a:pt x="17068" y="0"/>
                </a:moveTo>
                <a:lnTo>
                  <a:pt x="21620" y="12573"/>
                </a:lnTo>
                <a:lnTo>
                  <a:pt x="34137" y="17145"/>
                </a:lnTo>
                <a:lnTo>
                  <a:pt x="21620" y="21717"/>
                </a:lnTo>
                <a:lnTo>
                  <a:pt x="17068" y="34290"/>
                </a:lnTo>
                <a:lnTo>
                  <a:pt x="12517" y="21717"/>
                </a:lnTo>
                <a:lnTo>
                  <a:pt x="0" y="17145"/>
                </a:lnTo>
                <a:lnTo>
                  <a:pt x="12517" y="12573"/>
                </a:lnTo>
                <a:close/>
              </a:path>
            </a:pathLst>
          </a:custGeom>
          <a:ln w="9124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445303" y="167678"/>
            <a:ext cx="273179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산출물 배포 플랫폼,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Apps</a:t>
            </a:r>
            <a:endParaRPr lang="en-US" sz="1710" dirty="0"/>
          </a:p>
        </p:txBody>
      </p:sp>
      <p:sp>
        <p:nvSpPr>
          <p:cNvPr id="78" name="Text 76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79" name="Text 77"/>
          <p:cNvSpPr txBox="1"/>
          <p:nvPr/>
        </p:nvSpPr>
        <p:spPr>
          <a:xfrm>
            <a:off x="297173" y="677913"/>
            <a:ext cx="7677385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요즘은 현업 개인이 AI로 직접 포털 · 업무 프로그램을 만듭니다. Apps는 이 산출물들을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원클릭으로 각자의 공간에 배포하고 한곳에서 관리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하는 세</a:t>
            </a:r>
            <a:endParaRPr lang="en-US" sz="975" dirty="0"/>
          </a:p>
        </p:txBody>
      </p:sp>
      <p:sp>
        <p:nvSpPr>
          <p:cNvPr id="80" name="Text 78"/>
          <p:cNvSpPr txBox="1"/>
          <p:nvPr/>
        </p:nvSpPr>
        <p:spPr>
          <a:xfrm>
            <a:off x="297172" y="881596"/>
            <a:ext cx="1790351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일링스톤 자체 배포 플랫폼입니다.</a:t>
            </a:r>
            <a:endParaRPr lang="en-US" sz="975" dirty="0"/>
          </a:p>
        </p:txBody>
      </p:sp>
      <p:sp>
        <p:nvSpPr>
          <p:cNvPr id="81" name="Text 79"/>
          <p:cNvSpPr txBox="1"/>
          <p:nvPr/>
        </p:nvSpPr>
        <p:spPr>
          <a:xfrm>
            <a:off x="6126328" y="1322908"/>
            <a:ext cx="979301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원클릭 개별 배포</a:t>
            </a:r>
            <a:endParaRPr lang="en-US" sz="1005" dirty="0"/>
          </a:p>
        </p:txBody>
      </p:sp>
      <p:sp>
        <p:nvSpPr>
          <p:cNvPr id="82" name="Text 80"/>
          <p:cNvSpPr txBox="1"/>
          <p:nvPr/>
        </p:nvSpPr>
        <p:spPr>
          <a:xfrm>
            <a:off x="439816" y="1335768"/>
            <a:ext cx="996674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kern="0" spc="107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DEPLOY FLOW</a:t>
            </a:r>
            <a:endParaRPr lang="en-US" sz="765" dirty="0"/>
          </a:p>
        </p:txBody>
      </p:sp>
      <p:sp>
        <p:nvSpPr>
          <p:cNvPr id="83" name="Text 81"/>
          <p:cNvSpPr txBox="1"/>
          <p:nvPr/>
        </p:nvSpPr>
        <p:spPr>
          <a:xfrm>
            <a:off x="6126327" y="1516818"/>
            <a:ext cx="2800189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산출물을 올리면 논리적으로 격리된 전용 공간에 즉시 배포됩</a:t>
            </a:r>
            <a:endParaRPr lang="en-US" sz="855" dirty="0"/>
          </a:p>
        </p:txBody>
      </p:sp>
      <p:sp>
        <p:nvSpPr>
          <p:cNvPr id="84" name="Text 82"/>
          <p:cNvSpPr txBox="1"/>
          <p:nvPr/>
        </p:nvSpPr>
        <p:spPr>
          <a:xfrm>
            <a:off x="439816" y="1643349"/>
            <a:ext cx="112194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71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개인이 AI로 만든 산출물</a:t>
            </a:r>
            <a:endParaRPr lang="en-US" sz="705" dirty="0"/>
          </a:p>
        </p:txBody>
      </p:sp>
      <p:sp>
        <p:nvSpPr>
          <p:cNvPr id="85" name="Text 83"/>
          <p:cNvSpPr txBox="1"/>
          <p:nvPr/>
        </p:nvSpPr>
        <p:spPr>
          <a:xfrm>
            <a:off x="6126328" y="1685011"/>
            <a:ext cx="2784095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 접속 주소가 자동 발급되어 IT 요청 없이 바로 서비스가</a:t>
            </a:r>
            <a:endParaRPr lang="en-US" sz="855" dirty="0"/>
          </a:p>
        </p:txBody>
      </p:sp>
      <p:sp>
        <p:nvSpPr>
          <p:cNvPr id="86" name="Text 84"/>
          <p:cNvSpPr txBox="1"/>
          <p:nvPr/>
        </p:nvSpPr>
        <p:spPr>
          <a:xfrm>
            <a:off x="6126328" y="1853203"/>
            <a:ext cx="45079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됩니다.</a:t>
            </a:r>
            <a:endParaRPr lang="en-US" sz="855" dirty="0"/>
          </a:p>
        </p:txBody>
      </p:sp>
      <p:sp>
        <p:nvSpPr>
          <p:cNvPr id="87" name="Text 85"/>
          <p:cNvSpPr txBox="1"/>
          <p:nvPr/>
        </p:nvSpPr>
        <p:spPr>
          <a:xfrm>
            <a:off x="714128" y="1997735"/>
            <a:ext cx="723276" cy="133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영업 현황 포털</a:t>
            </a:r>
            <a:endParaRPr lang="en-US" sz="810" dirty="0"/>
          </a:p>
        </p:txBody>
      </p:sp>
      <p:sp>
        <p:nvSpPr>
          <p:cNvPr id="88" name="Text 86"/>
          <p:cNvSpPr txBox="1"/>
          <p:nvPr/>
        </p:nvSpPr>
        <p:spPr>
          <a:xfrm>
            <a:off x="2316117" y="1997735"/>
            <a:ext cx="837573" cy="133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재고 조회 미니 앱</a:t>
            </a:r>
            <a:endParaRPr lang="en-US" sz="810" dirty="0"/>
          </a:p>
        </p:txBody>
      </p:sp>
      <p:sp>
        <p:nvSpPr>
          <p:cNvPr id="89" name="Text 87"/>
          <p:cNvSpPr txBox="1"/>
          <p:nvPr/>
        </p:nvSpPr>
        <p:spPr>
          <a:xfrm>
            <a:off x="3918106" y="1997735"/>
            <a:ext cx="813799" cy="133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주간 보고 생성기</a:t>
            </a:r>
            <a:endParaRPr lang="en-US" sz="810" dirty="0"/>
          </a:p>
        </p:txBody>
      </p:sp>
      <p:sp>
        <p:nvSpPr>
          <p:cNvPr id="90" name="Text 88"/>
          <p:cNvSpPr txBox="1"/>
          <p:nvPr/>
        </p:nvSpPr>
        <p:spPr>
          <a:xfrm>
            <a:off x="714128" y="2126323"/>
            <a:ext cx="678471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영업팀 김 매니저</a:t>
            </a:r>
            <a:endParaRPr lang="en-US" sz="645" dirty="0"/>
          </a:p>
        </p:txBody>
      </p:sp>
      <p:sp>
        <p:nvSpPr>
          <p:cNvPr id="91" name="Text 89"/>
          <p:cNvSpPr txBox="1"/>
          <p:nvPr/>
        </p:nvSpPr>
        <p:spPr>
          <a:xfrm>
            <a:off x="2316118" y="2126323"/>
            <a:ext cx="715046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SCM팀 박 파트장</a:t>
            </a:r>
            <a:endParaRPr lang="en-US" sz="645" dirty="0"/>
          </a:p>
        </p:txBody>
      </p:sp>
      <p:sp>
        <p:nvSpPr>
          <p:cNvPr id="92" name="Text 90"/>
          <p:cNvSpPr txBox="1"/>
          <p:nvPr/>
        </p:nvSpPr>
        <p:spPr>
          <a:xfrm>
            <a:off x="3918106" y="2126323"/>
            <a:ext cx="606236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기획팀 이 책임</a:t>
            </a:r>
            <a:endParaRPr lang="en-US" sz="645" dirty="0"/>
          </a:p>
        </p:txBody>
      </p:sp>
      <p:sp>
        <p:nvSpPr>
          <p:cNvPr id="93" name="Text 91"/>
          <p:cNvSpPr txBox="1"/>
          <p:nvPr/>
        </p:nvSpPr>
        <p:spPr>
          <a:xfrm>
            <a:off x="6126327" y="2359324"/>
            <a:ext cx="866833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통합 관리 콘솔</a:t>
            </a:r>
            <a:endParaRPr lang="en-US" sz="1005" dirty="0"/>
          </a:p>
        </p:txBody>
      </p:sp>
      <p:sp>
        <p:nvSpPr>
          <p:cNvPr id="94" name="Text 92"/>
          <p:cNvSpPr txBox="1"/>
          <p:nvPr/>
        </p:nvSpPr>
        <p:spPr>
          <a:xfrm>
            <a:off x="1183204" y="2453964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95" name="Text 93"/>
          <p:cNvSpPr txBox="1"/>
          <p:nvPr/>
        </p:nvSpPr>
        <p:spPr>
          <a:xfrm>
            <a:off x="2754104" y="2453964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96" name="Text 94"/>
          <p:cNvSpPr txBox="1"/>
          <p:nvPr/>
        </p:nvSpPr>
        <p:spPr>
          <a:xfrm>
            <a:off x="4325918" y="2453964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97" name="Text 95"/>
          <p:cNvSpPr txBox="1"/>
          <p:nvPr/>
        </p:nvSpPr>
        <p:spPr>
          <a:xfrm>
            <a:off x="6126327" y="2553234"/>
            <a:ext cx="27559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누가 어떤 앱을 올렸는지, 상태와 리소스 사용량은 어떤지 한</a:t>
            </a:r>
            <a:endParaRPr lang="en-US" sz="855" dirty="0"/>
          </a:p>
        </p:txBody>
      </p:sp>
      <p:sp>
        <p:nvSpPr>
          <p:cNvPr id="98" name="Text 96"/>
          <p:cNvSpPr txBox="1"/>
          <p:nvPr/>
        </p:nvSpPr>
        <p:spPr>
          <a:xfrm>
            <a:off x="6126327" y="2721426"/>
            <a:ext cx="276599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화면에서 관리합니다. 중지 · 재배포 · 회수도 콘솔에서 즉시</a:t>
            </a:r>
            <a:endParaRPr lang="en-US" sz="855" dirty="0"/>
          </a:p>
        </p:txBody>
      </p:sp>
      <p:sp>
        <p:nvSpPr>
          <p:cNvPr id="99" name="Text 97"/>
          <p:cNvSpPr txBox="1"/>
          <p:nvPr/>
        </p:nvSpPr>
        <p:spPr>
          <a:xfrm>
            <a:off x="754362" y="2819153"/>
            <a:ext cx="446219" cy="1728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Apps</a:t>
            </a:r>
            <a:endParaRPr lang="en-US" sz="975" dirty="0"/>
          </a:p>
        </p:txBody>
      </p:sp>
      <p:sp>
        <p:nvSpPr>
          <p:cNvPr id="100" name="Text 98"/>
          <p:cNvSpPr txBox="1"/>
          <p:nvPr/>
        </p:nvSpPr>
        <p:spPr>
          <a:xfrm>
            <a:off x="2883946" y="2846413"/>
            <a:ext cx="693101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논리적 격리 공간</a:t>
            </a:r>
            <a:endParaRPr lang="en-US" sz="668" dirty="0"/>
          </a:p>
        </p:txBody>
      </p:sp>
      <p:sp>
        <p:nvSpPr>
          <p:cNvPr id="101" name="Text 99"/>
          <p:cNvSpPr txBox="1"/>
          <p:nvPr/>
        </p:nvSpPr>
        <p:spPr>
          <a:xfrm>
            <a:off x="3651108" y="2846413"/>
            <a:ext cx="619037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주소 자동 발급</a:t>
            </a:r>
            <a:endParaRPr lang="en-US" sz="668" dirty="0"/>
          </a:p>
        </p:txBody>
      </p:sp>
      <p:sp>
        <p:nvSpPr>
          <p:cNvPr id="102" name="Text 100"/>
          <p:cNvSpPr txBox="1"/>
          <p:nvPr/>
        </p:nvSpPr>
        <p:spPr>
          <a:xfrm>
            <a:off x="4344206" y="2846413"/>
            <a:ext cx="753450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 할당 · 관리</a:t>
            </a:r>
            <a:endParaRPr lang="en-US" sz="668" dirty="0"/>
          </a:p>
        </p:txBody>
      </p:sp>
      <p:sp>
        <p:nvSpPr>
          <p:cNvPr id="103" name="Text 101"/>
          <p:cNvSpPr txBox="1"/>
          <p:nvPr/>
        </p:nvSpPr>
        <p:spPr>
          <a:xfrm>
            <a:off x="6126328" y="2890133"/>
            <a:ext cx="64006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처리합니다.</a:t>
            </a:r>
            <a:endParaRPr lang="en-US" sz="855" dirty="0"/>
          </a:p>
        </p:txBody>
      </p:sp>
      <p:sp>
        <p:nvSpPr>
          <p:cNvPr id="104" name="Text 102"/>
          <p:cNvSpPr txBox="1"/>
          <p:nvPr/>
        </p:nvSpPr>
        <p:spPr>
          <a:xfrm>
            <a:off x="1183204" y="3206972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105" name="Text 103"/>
          <p:cNvSpPr txBox="1"/>
          <p:nvPr/>
        </p:nvSpPr>
        <p:spPr>
          <a:xfrm>
            <a:off x="2754104" y="3206972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106" name="Text 104"/>
          <p:cNvSpPr txBox="1"/>
          <p:nvPr/>
        </p:nvSpPr>
        <p:spPr>
          <a:xfrm>
            <a:off x="4325918" y="3206972"/>
            <a:ext cx="223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▾</a:t>
            </a:r>
            <a:endParaRPr lang="en-US" sz="810" dirty="0"/>
          </a:p>
        </p:txBody>
      </p:sp>
      <p:sp>
        <p:nvSpPr>
          <p:cNvPr id="107" name="Text 105"/>
          <p:cNvSpPr txBox="1"/>
          <p:nvPr/>
        </p:nvSpPr>
        <p:spPr>
          <a:xfrm>
            <a:off x="6126327" y="3395739"/>
            <a:ext cx="1214297" cy="17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접근 권한 · 공유 통제</a:t>
            </a:r>
            <a:endParaRPr lang="en-US" sz="1005" dirty="0"/>
          </a:p>
        </p:txBody>
      </p:sp>
      <p:sp>
        <p:nvSpPr>
          <p:cNvPr id="108" name="Text 106"/>
          <p:cNvSpPr txBox="1"/>
          <p:nvPr/>
        </p:nvSpPr>
        <p:spPr>
          <a:xfrm>
            <a:off x="439816" y="3561874"/>
            <a:ext cx="129659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71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바로 접속 가능한 사내 서비스</a:t>
            </a:r>
            <a:endParaRPr lang="en-US" sz="705" dirty="0"/>
          </a:p>
        </p:txBody>
      </p:sp>
      <p:sp>
        <p:nvSpPr>
          <p:cNvPr id="109" name="Text 107"/>
          <p:cNvSpPr txBox="1"/>
          <p:nvPr/>
        </p:nvSpPr>
        <p:spPr>
          <a:xfrm>
            <a:off x="6126327" y="3589649"/>
            <a:ext cx="275492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계정과 연동해 앱별 공개 범위를 지정합니다. 팀 공개부</a:t>
            </a:r>
            <a:endParaRPr lang="en-US" sz="855" dirty="0"/>
          </a:p>
        </p:txBody>
      </p:sp>
      <p:sp>
        <p:nvSpPr>
          <p:cNvPr id="110" name="Text 108"/>
          <p:cNvSpPr txBox="1"/>
          <p:nvPr/>
        </p:nvSpPr>
        <p:spPr>
          <a:xfrm>
            <a:off x="6126327" y="3758356"/>
            <a:ext cx="2755933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터 지정 인원까지, 개인 산출물도 통제된 범위 안에서 공유됩</a:t>
            </a:r>
            <a:endParaRPr lang="en-US" sz="855" dirty="0"/>
          </a:p>
        </p:txBody>
      </p:sp>
      <p:sp>
        <p:nvSpPr>
          <p:cNvPr id="111" name="Text 109"/>
          <p:cNvSpPr txBox="1"/>
          <p:nvPr/>
        </p:nvSpPr>
        <p:spPr>
          <a:xfrm>
            <a:off x="6126327" y="3926548"/>
            <a:ext cx="355697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855" dirty="0"/>
          </a:p>
        </p:txBody>
      </p:sp>
      <p:sp>
        <p:nvSpPr>
          <p:cNvPr id="112" name="Text 110"/>
          <p:cNvSpPr txBox="1"/>
          <p:nvPr/>
        </p:nvSpPr>
        <p:spPr>
          <a:xfrm>
            <a:off x="739731" y="3941464"/>
            <a:ext cx="9518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sales-hub.corp.app</a:t>
            </a:r>
            <a:endParaRPr lang="en-US" sz="705" dirty="0"/>
          </a:p>
        </p:txBody>
      </p:sp>
      <p:sp>
        <p:nvSpPr>
          <p:cNvPr id="113" name="Text 111"/>
          <p:cNvSpPr txBox="1"/>
          <p:nvPr/>
        </p:nvSpPr>
        <p:spPr>
          <a:xfrm>
            <a:off x="2342635" y="3941464"/>
            <a:ext cx="101953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stock-mate.corp.app</a:t>
            </a:r>
            <a:endParaRPr lang="en-US" sz="705" dirty="0"/>
          </a:p>
        </p:txBody>
      </p:sp>
      <p:sp>
        <p:nvSpPr>
          <p:cNvPr id="114" name="Text 112"/>
          <p:cNvSpPr txBox="1"/>
          <p:nvPr/>
        </p:nvSpPr>
        <p:spPr>
          <a:xfrm>
            <a:off x="3944623" y="3941464"/>
            <a:ext cx="99027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report-gen.corp.app</a:t>
            </a:r>
            <a:endParaRPr lang="en-US" sz="705" dirty="0"/>
          </a:p>
        </p:txBody>
      </p:sp>
      <p:sp>
        <p:nvSpPr>
          <p:cNvPr id="115" name="Text 113"/>
          <p:cNvSpPr txBox="1"/>
          <p:nvPr/>
        </p:nvSpPr>
        <p:spPr>
          <a:xfrm>
            <a:off x="633663" y="4116858"/>
            <a:ext cx="827515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중 · 영업팀 공개</a:t>
            </a:r>
            <a:endParaRPr lang="en-US" sz="645" dirty="0"/>
          </a:p>
        </p:txBody>
      </p:sp>
      <p:sp>
        <p:nvSpPr>
          <p:cNvPr id="116" name="Text 114"/>
          <p:cNvSpPr txBox="1"/>
          <p:nvPr/>
        </p:nvSpPr>
        <p:spPr>
          <a:xfrm>
            <a:off x="2235652" y="4116858"/>
            <a:ext cx="864090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중 · SCM팀 공개</a:t>
            </a:r>
            <a:endParaRPr lang="en-US" sz="645" dirty="0"/>
          </a:p>
        </p:txBody>
      </p:sp>
      <p:sp>
        <p:nvSpPr>
          <p:cNvPr id="117" name="Text 115"/>
          <p:cNvSpPr txBox="1"/>
          <p:nvPr/>
        </p:nvSpPr>
        <p:spPr>
          <a:xfrm>
            <a:off x="3838555" y="4116858"/>
            <a:ext cx="756194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중 · 지정 인원</a:t>
            </a:r>
            <a:endParaRPr lang="en-US" sz="645" dirty="0"/>
          </a:p>
        </p:txBody>
      </p:sp>
      <p:sp>
        <p:nvSpPr>
          <p:cNvPr id="118" name="Text 116"/>
          <p:cNvSpPr txBox="1"/>
          <p:nvPr/>
        </p:nvSpPr>
        <p:spPr>
          <a:xfrm>
            <a:off x="531253" y="4258818"/>
            <a:ext cx="341066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</a:t>
            </a:r>
            <a:endParaRPr lang="en-US" sz="615" dirty="0"/>
          </a:p>
        </p:txBody>
      </p:sp>
      <p:sp>
        <p:nvSpPr>
          <p:cNvPr id="119" name="Text 117"/>
          <p:cNvSpPr txBox="1"/>
          <p:nvPr/>
        </p:nvSpPr>
        <p:spPr>
          <a:xfrm>
            <a:off x="1687940" y="4258818"/>
            <a:ext cx="309063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36%</a:t>
            </a:r>
            <a:endParaRPr lang="en-US" sz="615" dirty="0"/>
          </a:p>
        </p:txBody>
      </p:sp>
      <p:sp>
        <p:nvSpPr>
          <p:cNvPr id="120" name="Text 118"/>
          <p:cNvSpPr txBox="1"/>
          <p:nvPr/>
        </p:nvSpPr>
        <p:spPr>
          <a:xfrm>
            <a:off x="2133242" y="4258818"/>
            <a:ext cx="341066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</a:t>
            </a:r>
            <a:endParaRPr lang="en-US" sz="615" dirty="0"/>
          </a:p>
        </p:txBody>
      </p:sp>
      <p:sp>
        <p:nvSpPr>
          <p:cNvPr id="121" name="Text 119"/>
          <p:cNvSpPr txBox="1"/>
          <p:nvPr/>
        </p:nvSpPr>
        <p:spPr>
          <a:xfrm>
            <a:off x="3293587" y="4258818"/>
            <a:ext cx="305405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22%</a:t>
            </a:r>
            <a:endParaRPr lang="en-US" sz="615" dirty="0"/>
          </a:p>
        </p:txBody>
      </p:sp>
      <p:sp>
        <p:nvSpPr>
          <p:cNvPr id="122" name="Text 120"/>
          <p:cNvSpPr txBox="1"/>
          <p:nvPr/>
        </p:nvSpPr>
        <p:spPr>
          <a:xfrm>
            <a:off x="3735231" y="4258818"/>
            <a:ext cx="341066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리소스</a:t>
            </a:r>
            <a:endParaRPr lang="en-US" sz="615" dirty="0"/>
          </a:p>
        </p:txBody>
      </p:sp>
      <p:sp>
        <p:nvSpPr>
          <p:cNvPr id="123" name="Text 121"/>
          <p:cNvSpPr txBox="1"/>
          <p:nvPr/>
        </p:nvSpPr>
        <p:spPr>
          <a:xfrm>
            <a:off x="4907462" y="4258818"/>
            <a:ext cx="293519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51%</a:t>
            </a:r>
            <a:endParaRPr lang="en-US" sz="615" dirty="0"/>
          </a:p>
        </p:txBody>
      </p:sp>
      <p:sp>
        <p:nvSpPr>
          <p:cNvPr id="124" name="Text 122"/>
          <p:cNvSpPr txBox="1"/>
          <p:nvPr/>
        </p:nvSpPr>
        <p:spPr>
          <a:xfrm>
            <a:off x="5885846" y="4428039"/>
            <a:ext cx="3124061" cy="159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개인 PC에 잠들어 있던 AI 산출물이</a:t>
            </a:r>
            <a:r>
              <a:rPr lang="en-US" sz="810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조직의 서비스</a:t>
            </a:r>
            <a:r>
              <a:rPr lang="en-US" sz="81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 됩니다. 만드는 사</a:t>
            </a:r>
            <a:endParaRPr lang="en-US" sz="810" dirty="0"/>
          </a:p>
        </p:txBody>
      </p:sp>
      <p:sp>
        <p:nvSpPr>
          <p:cNvPr id="125" name="Text 123"/>
          <p:cNvSpPr txBox="1"/>
          <p:nvPr/>
        </p:nvSpPr>
        <p:spPr>
          <a:xfrm>
            <a:off x="5885846" y="4587487"/>
            <a:ext cx="2042810" cy="159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람은 늘어나도, 관리는 한곳에서 이루어집니다.</a:t>
            </a:r>
            <a:endParaRPr lang="en-US" sz="810" dirty="0"/>
          </a:p>
        </p:txBody>
      </p:sp>
      <p:sp>
        <p:nvSpPr>
          <p:cNvPr id="126" name="Text 124"/>
          <p:cNvSpPr txBox="1"/>
          <p:nvPr/>
        </p:nvSpPr>
        <p:spPr>
          <a:xfrm>
            <a:off x="839399" y="4616806"/>
            <a:ext cx="4307905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서버를 새로 만드는 것이 아니라,</a:t>
            </a:r>
            <a:r>
              <a:rPr lang="en-US" sz="720" dirty="0">
                <a:solidFill>
                  <a:srgbClr val="47556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논리적으로 격리된 전용 공간</a:t>
            </a:r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에 올라가 주소와 리소스가 자동으로 관리됩니다.</a:t>
            </a:r>
            <a:endParaRPr lang="en-US" sz="720" dirty="0"/>
          </a:p>
        </p:txBody>
      </p:sp>
      <p:sp>
        <p:nvSpPr>
          <p:cNvPr id="127" name="Text 125"/>
          <p:cNvSpPr txBox="1"/>
          <p:nvPr/>
        </p:nvSpPr>
        <p:spPr>
          <a:xfrm>
            <a:off x="4448445" y="4923873"/>
            <a:ext cx="38312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- 20 -</a:t>
            </a:r>
            <a:endParaRPr lang="en-US" sz="705" dirty="0"/>
          </a:p>
        </p:txBody>
      </p:sp>
      <p:sp>
        <p:nvSpPr>
          <p:cNvPr id="128" name="Text 126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22BBC-3833-4B0A-D942-F904E32E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5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16B9332E-8EDA-1682-C3F4-F6FFDB6584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" r="21646" b="25674"/>
          <a:stretch/>
        </p:blipFill>
        <p:spPr>
          <a:xfrm>
            <a:off x="4562377" y="1987052"/>
            <a:ext cx="2046590" cy="2457879"/>
          </a:xfrm>
          <a:prstGeom prst="rect">
            <a:avLst/>
          </a:prstGeom>
          <a:ln>
            <a:solidFill>
              <a:srgbClr val="266D6D">
                <a:alpha val="0"/>
              </a:srgbClr>
            </a:solidFill>
          </a:ln>
          <a:effectLst>
            <a:softEdge rad="0"/>
          </a:effectLst>
        </p:spPr>
      </p:pic>
      <p:pic>
        <p:nvPicPr>
          <p:cNvPr id="7" name="Picture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08C3E05-11EC-DCDF-45DC-39F02B11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206" y="1440268"/>
            <a:ext cx="3421383" cy="3107079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dist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Shape 4">
            <a:extLst>
              <a:ext uri="{FF2B5EF4-FFF2-40B4-BE49-F238E27FC236}">
                <a16:creationId xmlns:a16="http://schemas.microsoft.com/office/drawing/2014/main" id="{40F419EA-6231-6567-BA60-8C2DBAAA1986}"/>
              </a:ext>
            </a:extLst>
          </p:cNvPr>
          <p:cNvSpPr/>
          <p:nvPr/>
        </p:nvSpPr>
        <p:spPr>
          <a:xfrm rot="10800000">
            <a:off x="344360" y="702361"/>
            <a:ext cx="4837239" cy="1084703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06458"/>
              </a:gs>
              <a:gs pos="788">
                <a:srgbClr val="106458"/>
              </a:gs>
              <a:gs pos="78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807F5550-6323-748E-A68A-5760C9140E30}"/>
              </a:ext>
            </a:extLst>
          </p:cNvPr>
          <p:cNvSpPr/>
          <p:nvPr/>
        </p:nvSpPr>
        <p:spPr>
          <a:xfrm rot="16200000">
            <a:off x="383828" y="3064943"/>
            <a:ext cx="517628" cy="584781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042D105-DED6-909D-F982-7BA76082F0D9}"/>
              </a:ext>
            </a:extLst>
          </p:cNvPr>
          <p:cNvSpPr/>
          <p:nvPr/>
        </p:nvSpPr>
        <p:spPr>
          <a:xfrm rot="16200000">
            <a:off x="377941" y="3996142"/>
            <a:ext cx="517628" cy="584781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ECDBB092-8B38-CC67-292B-E614C3BC10D9}"/>
              </a:ext>
            </a:extLst>
          </p:cNvPr>
          <p:cNvSpPr/>
          <p:nvPr/>
        </p:nvSpPr>
        <p:spPr>
          <a:xfrm rot="16200000">
            <a:off x="383828" y="2168903"/>
            <a:ext cx="517628" cy="584781"/>
          </a:xfrm>
          <a:prstGeom prst="roundRect">
            <a:avLst>
              <a:gd name="adj" fmla="val 15186"/>
            </a:avLst>
          </a:prstGeom>
          <a:solidFill>
            <a:srgbClr val="CCFBF1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CF64AC74-62BE-5A09-4D91-698689CE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Insight Mate (Excel - Plug In)</a:t>
            </a:r>
            <a:endParaRPr lang="ko-KR" altLang="en-US" b="0" dirty="0">
              <a:latin typeface="SUIT ExtraBold" pitchFamily="2" charset="-127"/>
              <a:ea typeface="SUIT ExtraBold" pitchFamily="2" charset="-127"/>
              <a:sym typeface="SUIT"/>
            </a:endParaRP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42AAA8DE-F2D4-314D-15A1-632DB3AC0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C83BA40-DC44-4AFD-C3CE-7FED66FCBA51}"/>
              </a:ext>
            </a:extLst>
          </p:cNvPr>
          <p:cNvSpPr txBox="1"/>
          <p:nvPr/>
        </p:nvSpPr>
        <p:spPr>
          <a:xfrm>
            <a:off x="558078" y="819647"/>
            <a:ext cx="4442545" cy="923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Insight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Mate는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 전사 데이터베이스와 Microsoft Excel을 다이렉트로 연결하는 전용 플러그인(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Add-in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)입니다.</a:t>
            </a:r>
            <a:br>
              <a:rPr lang="ko-KR" altLang="ko-KR" sz="1100" dirty="0"/>
            </a:b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복잡한 SQL 쿼리 없이, </a:t>
            </a:r>
            <a:r>
              <a:rPr lang="ko-KR" altLang="ko-KR" sz="11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엑셀 셀 연동만으로 실시간(Live) 데이터를 조회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하고 대용량 데이터를 원하는 위치에 즉시 </a:t>
            </a:r>
            <a:r>
              <a:rPr lang="ko-KR" altLang="ko-KR" sz="1100" b="0" i="0" dirty="0" err="1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로딩합니다</a:t>
            </a:r>
            <a:r>
              <a:rPr lang="ko-KR" altLang="ko-KR" sz="1100" b="0" i="0" dirty="0">
                <a:solidFill>
                  <a:srgbClr val="475569"/>
                </a:solidFill>
                <a:effectLst/>
                <a:latin typeface="SUIT" pitchFamily="2" charset="-127"/>
                <a:ea typeface="SUIT" pitchFamily="2" charset="-127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B1521-3AFB-642F-B094-577326A9D344}"/>
              </a:ext>
            </a:extLst>
          </p:cNvPr>
          <p:cNvSpPr txBox="1"/>
          <p:nvPr/>
        </p:nvSpPr>
        <p:spPr>
          <a:xfrm>
            <a:off x="1070056" y="2188091"/>
            <a:ext cx="12049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데이터베이스 탐색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16243-AA4C-DC00-D547-7AA03DBBD875}"/>
              </a:ext>
            </a:extLst>
          </p:cNvPr>
          <p:cNvSpPr txBox="1"/>
          <p:nvPr/>
        </p:nvSpPr>
        <p:spPr>
          <a:xfrm>
            <a:off x="1070056" y="2407714"/>
            <a:ext cx="2803444" cy="458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전사 통합 관리되고 있는 데이터 탐색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데이터 컬럼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샘플 데이터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데이터 정보 확인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E5C1F2-4152-B9D9-5074-B393E585DCA9}"/>
              </a:ext>
            </a:extLst>
          </p:cNvPr>
          <p:cNvSpPr txBox="1"/>
          <p:nvPr/>
        </p:nvSpPr>
        <p:spPr>
          <a:xfrm>
            <a:off x="1070056" y="3065412"/>
            <a:ext cx="21038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동적 조회조건 연동 </a:t>
            </a:r>
            <a:r>
              <a:rPr lang="en-US" altLang="ko-KR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(Live Sync)</a:t>
            </a:r>
            <a:endParaRPr lang="ko-KR" altLang="en-US" sz="1400" spc="-8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5767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270BEC-813D-C67C-2392-B9FAF4BC9073}"/>
              </a:ext>
            </a:extLst>
          </p:cNvPr>
          <p:cNvSpPr txBox="1"/>
          <p:nvPr/>
        </p:nvSpPr>
        <p:spPr>
          <a:xfrm>
            <a:off x="1070056" y="3285035"/>
            <a:ext cx="2803444" cy="458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사용자가 입력한 엑셀 셀 값을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DB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조회 조건으로 매핑하여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실시간으로 데이터를 조회합니다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.</a:t>
            </a:r>
          </a:p>
        </p:txBody>
      </p:sp>
      <p:pic>
        <p:nvPicPr>
          <p:cNvPr id="30" name="그래픽 65" descr="클립보드 단색으로 채워진">
            <a:extLst>
              <a:ext uri="{FF2B5EF4-FFF2-40B4-BE49-F238E27FC236}">
                <a16:creationId xmlns:a16="http://schemas.microsoft.com/office/drawing/2014/main" id="{C5608B52-A219-797C-030D-1ABA4A463D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862" y="2270434"/>
            <a:ext cx="498317" cy="38805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6F2B2F2-CFF3-1B04-A163-FF6E89F49555}"/>
              </a:ext>
            </a:extLst>
          </p:cNvPr>
          <p:cNvSpPr txBox="1"/>
          <p:nvPr/>
        </p:nvSpPr>
        <p:spPr>
          <a:xfrm>
            <a:off x="1070056" y="3968516"/>
            <a:ext cx="91153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7673"/>
                </a:solidFill>
                <a:latin typeface="SUIT" pitchFamily="2" charset="-127"/>
                <a:ea typeface="SUIT" pitchFamily="2" charset="-127"/>
              </a:rPr>
              <a:t>다이렉트 로딩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A8E45B-5703-423B-7EDF-6B57A5E179D5}"/>
              </a:ext>
            </a:extLst>
          </p:cNvPr>
          <p:cNvSpPr txBox="1"/>
          <p:nvPr/>
        </p:nvSpPr>
        <p:spPr>
          <a:xfrm>
            <a:off x="1070056" y="4188140"/>
            <a:ext cx="2366564" cy="4585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원하는 시트의 원하는 셀에 불러오기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SUIT" pitchFamily="2" charset="-127"/>
                <a:ea typeface="SUIT" pitchFamily="2" charset="-127"/>
              </a:rPr>
              <a:t>대용량 데이터 로딩 가능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60" name="그래픽 59" descr="테이블 단색으로 채워진">
            <a:extLst>
              <a:ext uri="{FF2B5EF4-FFF2-40B4-BE49-F238E27FC236}">
                <a16:creationId xmlns:a16="http://schemas.microsoft.com/office/drawing/2014/main" id="{723BEADB-D02C-815F-A879-25C0B41AB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793" y="4068669"/>
            <a:ext cx="450442" cy="450442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8683E285-050B-471D-5EB0-B7ECD8AECBC2}"/>
              </a:ext>
            </a:extLst>
          </p:cNvPr>
          <p:cNvGrpSpPr/>
          <p:nvPr/>
        </p:nvGrpSpPr>
        <p:grpSpPr>
          <a:xfrm>
            <a:off x="489441" y="3198450"/>
            <a:ext cx="343471" cy="343905"/>
            <a:chOff x="1005585" y="2172863"/>
            <a:chExt cx="235386" cy="235683"/>
          </a:xfrm>
          <a:solidFill>
            <a:srgbClr val="115E59"/>
          </a:solidFill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11321AC5-26C8-3FFE-E79E-A7B2BDB24932}"/>
                </a:ext>
              </a:extLst>
            </p:cNvPr>
            <p:cNvSpPr/>
            <p:nvPr/>
          </p:nvSpPr>
          <p:spPr>
            <a:xfrm>
              <a:off x="1005585" y="2172863"/>
              <a:ext cx="235386" cy="235683"/>
            </a:xfrm>
            <a:custGeom>
              <a:avLst/>
              <a:gdLst>
                <a:gd name="csX0" fmla="*/ 192474 w 235386"/>
                <a:gd name="csY0" fmla="*/ 163023 h 235683"/>
                <a:gd name="csX1" fmla="*/ 174030 w 235386"/>
                <a:gd name="csY1" fmla="*/ 157371 h 235683"/>
                <a:gd name="csX2" fmla="*/ 160643 w 235386"/>
                <a:gd name="csY2" fmla="*/ 144282 h 235683"/>
                <a:gd name="csX3" fmla="*/ 179087 w 235386"/>
                <a:gd name="csY3" fmla="*/ 90139 h 235683"/>
                <a:gd name="csX4" fmla="*/ 89842 w 235386"/>
                <a:gd name="csY4" fmla="*/ 2 h 235683"/>
                <a:gd name="csX5" fmla="*/ 2 w 235386"/>
                <a:gd name="csY5" fmla="*/ 89247 h 235683"/>
                <a:gd name="csX6" fmla="*/ 89247 w 235386"/>
                <a:gd name="csY6" fmla="*/ 179087 h 235683"/>
                <a:gd name="csX7" fmla="*/ 143984 w 235386"/>
                <a:gd name="csY7" fmla="*/ 160643 h 235683"/>
                <a:gd name="csX8" fmla="*/ 157073 w 235386"/>
                <a:gd name="csY8" fmla="*/ 173733 h 235683"/>
                <a:gd name="csX9" fmla="*/ 162726 w 235386"/>
                <a:gd name="csY9" fmla="*/ 192474 h 235683"/>
                <a:gd name="csX10" fmla="*/ 199911 w 235386"/>
                <a:gd name="csY10" fmla="*/ 229660 h 235683"/>
                <a:gd name="csX11" fmla="*/ 229362 w 235386"/>
                <a:gd name="csY11" fmla="*/ 229660 h 235683"/>
                <a:gd name="csX12" fmla="*/ 229362 w 235386"/>
                <a:gd name="csY12" fmla="*/ 200209 h 235683"/>
                <a:gd name="csX13" fmla="*/ 192474 w 235386"/>
                <a:gd name="csY13" fmla="*/ 163023 h 235683"/>
                <a:gd name="csX14" fmla="*/ 89842 w 235386"/>
                <a:gd name="csY14" fmla="*/ 161238 h 235683"/>
                <a:gd name="csX15" fmla="*/ 18446 w 235386"/>
                <a:gd name="csY15" fmla="*/ 89842 h 235683"/>
                <a:gd name="csX16" fmla="*/ 89842 w 235386"/>
                <a:gd name="csY16" fmla="*/ 18446 h 235683"/>
                <a:gd name="csX17" fmla="*/ 161238 w 235386"/>
                <a:gd name="csY17" fmla="*/ 89842 h 235683"/>
                <a:gd name="csX18" fmla="*/ 89842 w 235386"/>
                <a:gd name="csY18" fmla="*/ 161238 h 235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5386" h="235683">
                  <a:moveTo>
                    <a:pt x="192474" y="163023"/>
                  </a:moveTo>
                  <a:cubicBezTo>
                    <a:pt x="187714" y="158263"/>
                    <a:pt x="180575" y="155883"/>
                    <a:pt x="174030" y="157371"/>
                  </a:cubicBezTo>
                  <a:lnTo>
                    <a:pt x="160643" y="144282"/>
                  </a:lnTo>
                  <a:cubicBezTo>
                    <a:pt x="172543" y="128812"/>
                    <a:pt x="179087" y="109773"/>
                    <a:pt x="179087" y="90139"/>
                  </a:cubicBezTo>
                  <a:cubicBezTo>
                    <a:pt x="179385" y="40460"/>
                    <a:pt x="139224" y="299"/>
                    <a:pt x="89842" y="2"/>
                  </a:cubicBezTo>
                  <a:cubicBezTo>
                    <a:pt x="40460" y="-296"/>
                    <a:pt x="299" y="39865"/>
                    <a:pt x="2" y="89247"/>
                  </a:cubicBezTo>
                  <a:cubicBezTo>
                    <a:pt x="-296" y="138629"/>
                    <a:pt x="39865" y="178790"/>
                    <a:pt x="89247" y="179087"/>
                  </a:cubicBezTo>
                  <a:cubicBezTo>
                    <a:pt x="108881" y="179087"/>
                    <a:pt x="128217" y="172543"/>
                    <a:pt x="143984" y="160643"/>
                  </a:cubicBezTo>
                  <a:lnTo>
                    <a:pt x="157073" y="173733"/>
                  </a:lnTo>
                  <a:cubicBezTo>
                    <a:pt x="155883" y="180575"/>
                    <a:pt x="157966" y="187417"/>
                    <a:pt x="162726" y="192474"/>
                  </a:cubicBezTo>
                  <a:lnTo>
                    <a:pt x="199911" y="229660"/>
                  </a:lnTo>
                  <a:cubicBezTo>
                    <a:pt x="207943" y="237692"/>
                    <a:pt x="221330" y="237692"/>
                    <a:pt x="229362" y="229660"/>
                  </a:cubicBezTo>
                  <a:cubicBezTo>
                    <a:pt x="237394" y="221628"/>
                    <a:pt x="237394" y="208241"/>
                    <a:pt x="229362" y="200209"/>
                  </a:cubicBezTo>
                  <a:lnTo>
                    <a:pt x="192474" y="163023"/>
                  </a:lnTo>
                  <a:close/>
                  <a:moveTo>
                    <a:pt x="89842" y="161238"/>
                  </a:moveTo>
                  <a:cubicBezTo>
                    <a:pt x="50277" y="161238"/>
                    <a:pt x="18446" y="129407"/>
                    <a:pt x="18446" y="89842"/>
                  </a:cubicBezTo>
                  <a:cubicBezTo>
                    <a:pt x="18446" y="50277"/>
                    <a:pt x="50277" y="18446"/>
                    <a:pt x="89842" y="18446"/>
                  </a:cubicBezTo>
                  <a:cubicBezTo>
                    <a:pt x="129407" y="18446"/>
                    <a:pt x="161238" y="50277"/>
                    <a:pt x="161238" y="89842"/>
                  </a:cubicBezTo>
                  <a:cubicBezTo>
                    <a:pt x="161238" y="129110"/>
                    <a:pt x="129110" y="161238"/>
                    <a:pt x="89842" y="161238"/>
                  </a:cubicBezTo>
                  <a:close/>
                </a:path>
              </a:pathLst>
            </a:custGeom>
            <a:grpFill/>
            <a:ln w="2877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FA8071B-F8A2-F2EF-9D74-122CFD34AD8E}"/>
                </a:ext>
              </a:extLst>
            </p:cNvPr>
            <p:cNvSpPr/>
            <p:nvPr/>
          </p:nvSpPr>
          <p:spPr>
            <a:xfrm>
              <a:off x="1072881" y="2258604"/>
              <a:ext cx="15755" cy="36012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DD759567-A973-634B-E33C-53DE189EBD32}"/>
                </a:ext>
              </a:extLst>
            </p:cNvPr>
            <p:cNvSpPr/>
            <p:nvPr/>
          </p:nvSpPr>
          <p:spPr>
            <a:xfrm>
              <a:off x="1093137" y="2238348"/>
              <a:ext cx="15755" cy="56268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E6389FF2-0D87-48D8-4593-9427100D7773}"/>
                </a:ext>
              </a:extLst>
            </p:cNvPr>
            <p:cNvSpPr/>
            <p:nvPr/>
          </p:nvSpPr>
          <p:spPr>
            <a:xfrm>
              <a:off x="1113394" y="2218091"/>
              <a:ext cx="15755" cy="76525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26" name="직사각형 1025">
              <a:extLst>
                <a:ext uri="{FF2B5EF4-FFF2-40B4-BE49-F238E27FC236}">
                  <a16:creationId xmlns:a16="http://schemas.microsoft.com/office/drawing/2014/main" id="{DEECA51E-2A67-61EF-482B-3725B872B9C9}"/>
                </a:ext>
              </a:extLst>
            </p:cNvPr>
            <p:cNvSpPr/>
            <p:nvPr/>
          </p:nvSpPr>
          <p:spPr>
            <a:xfrm>
              <a:off x="1052624" y="2278861"/>
              <a:ext cx="15755" cy="15755"/>
            </a:xfrm>
            <a:prstGeom prst="rect">
              <a:avLst/>
            </a:prstGeom>
            <a:grpFill/>
            <a:ln w="1091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0578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5730-4598-3AD6-089A-C2327F94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4">
            <a:extLst>
              <a:ext uri="{FF2B5EF4-FFF2-40B4-BE49-F238E27FC236}">
                <a16:creationId xmlns:a16="http://schemas.microsoft.com/office/drawing/2014/main" id="{B76B31F2-E932-A1A1-25DE-5D2274E94EA6}"/>
              </a:ext>
            </a:extLst>
          </p:cNvPr>
          <p:cNvSpPr/>
          <p:nvPr/>
        </p:nvSpPr>
        <p:spPr>
          <a:xfrm>
            <a:off x="5305409" y="2324599"/>
            <a:ext cx="1381522" cy="1401556"/>
          </a:xfrm>
          <a:prstGeom prst="roundRect">
            <a:avLst>
              <a:gd name="adj" fmla="val 2742"/>
            </a:avLst>
          </a:prstGeom>
          <a:solidFill>
            <a:schemeClr val="bg1"/>
          </a:solidFill>
          <a:ln>
            <a:solidFill>
              <a:srgbClr val="41C0C2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8" name="Shape 4">
            <a:extLst>
              <a:ext uri="{FF2B5EF4-FFF2-40B4-BE49-F238E27FC236}">
                <a16:creationId xmlns:a16="http://schemas.microsoft.com/office/drawing/2014/main" id="{D1D2B9D7-9997-FDD4-770A-79483F5F52EE}"/>
              </a:ext>
            </a:extLst>
          </p:cNvPr>
          <p:cNvSpPr/>
          <p:nvPr/>
        </p:nvSpPr>
        <p:spPr>
          <a:xfrm>
            <a:off x="5373517" y="2638702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2B18CA-F8BF-CCCE-46B3-D1C936951C2E}"/>
              </a:ext>
            </a:extLst>
          </p:cNvPr>
          <p:cNvSpPr/>
          <p:nvPr/>
        </p:nvSpPr>
        <p:spPr>
          <a:xfrm>
            <a:off x="188976" y="1955751"/>
            <a:ext cx="4559866" cy="2294627"/>
          </a:xfrm>
          <a:prstGeom prst="rect">
            <a:avLst/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7A316C2-4E03-1186-A7F4-2B9D87D7A11E}"/>
              </a:ext>
            </a:extLst>
          </p:cNvPr>
          <p:cNvSpPr/>
          <p:nvPr/>
        </p:nvSpPr>
        <p:spPr>
          <a:xfrm>
            <a:off x="0" y="563349"/>
            <a:ext cx="9144000" cy="644355"/>
          </a:xfrm>
          <a:prstGeom prst="roundRect">
            <a:avLst>
              <a:gd name="adj" fmla="val 2742"/>
            </a:avLst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SUIT"/>
              <a:ea typeface="SUIT"/>
              <a:cs typeface="SUIT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37C3587D-D493-02F5-FE6C-0C8E7A3C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  <a:sym typeface="SUIT"/>
              </a:rPr>
              <a:t>Tableau Extension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  <a:sym typeface="SUIT"/>
              </a:rPr>
              <a:t>지원 아키텍처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EB9BE04-26A4-BA41-5A43-A36E84358C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02 · Product &amp; Service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17E770E-274D-8027-C141-830C81870C40}"/>
              </a:ext>
            </a:extLst>
          </p:cNvPr>
          <p:cNvSpPr txBox="1"/>
          <p:nvPr/>
        </p:nvSpPr>
        <p:spPr>
          <a:xfrm>
            <a:off x="256032" y="647947"/>
            <a:ext cx="8595360" cy="449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Extension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을 통해 쉽게 기존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Tableau Server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에 통합되며 분석 데이터셋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, LLM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답변의 연결 관계를 한 장에 요약해서 보여줍니다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</a:t>
            </a:r>
          </a:p>
          <a:p>
            <a:pPr lvl="0">
              <a:lnSpc>
                <a:spcPct val="140000"/>
              </a:lnSpc>
            </a:pP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또한 분석 결과에 대하여 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Tableau </a:t>
            </a:r>
            <a:r>
              <a:rPr lang="ko-KR" altLang="en-US" sz="1100" dirty="0">
                <a:solidFill>
                  <a:srgbClr val="334155"/>
                </a:solidFill>
                <a:sym typeface="Noto Sans KR"/>
              </a:rPr>
              <a:t>대시보드와 연동되어 즉시 화면에서 데이터를 확인할 수 있습니다</a:t>
            </a:r>
            <a:r>
              <a:rPr lang="en-US" altLang="ko-KR" sz="1100" dirty="0">
                <a:solidFill>
                  <a:srgbClr val="334155"/>
                </a:solidFill>
                <a:sym typeface="Noto Sans KR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317161-98D3-221C-4AD0-CF5232BC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992863"/>
            <a:ext cx="3304032" cy="222672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23B0CF-20D3-BA7F-47A8-F5F452B32E00}"/>
              </a:ext>
            </a:extLst>
          </p:cNvPr>
          <p:cNvSpPr>
            <a:spLocks noChangeAspect="1"/>
          </p:cNvSpPr>
          <p:nvPr/>
        </p:nvSpPr>
        <p:spPr>
          <a:xfrm>
            <a:off x="3560064" y="2747079"/>
            <a:ext cx="1179549" cy="14725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AD2788-7CCC-E0F7-99E2-1564CD2E865A}"/>
              </a:ext>
            </a:extLst>
          </p:cNvPr>
          <p:cNvSpPr>
            <a:spLocks noChangeAspect="1"/>
          </p:cNvSpPr>
          <p:nvPr/>
        </p:nvSpPr>
        <p:spPr>
          <a:xfrm>
            <a:off x="3560064" y="1992863"/>
            <a:ext cx="1179549" cy="14725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F9C7E2A-686A-D174-78C8-3CBADA92A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100" y="2967740"/>
            <a:ext cx="1141476" cy="47762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E7CDCFA-0159-6768-4335-256F2EF80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836" y="3666028"/>
            <a:ext cx="601740" cy="323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512CFD-FA33-3486-B5D6-FC2464E46590}"/>
              </a:ext>
            </a:extLst>
          </p:cNvPr>
          <p:cNvSpPr/>
          <p:nvPr/>
        </p:nvSpPr>
        <p:spPr>
          <a:xfrm>
            <a:off x="3579100" y="3395980"/>
            <a:ext cx="1141476" cy="59379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1FA5641-08E1-19BE-8FF5-E0647508746C}"/>
              </a:ext>
            </a:extLst>
          </p:cNvPr>
          <p:cNvSpPr/>
          <p:nvPr/>
        </p:nvSpPr>
        <p:spPr>
          <a:xfrm>
            <a:off x="675822" y="4408435"/>
            <a:ext cx="2600778" cy="473340"/>
          </a:xfrm>
          <a:prstGeom prst="roundRect">
            <a:avLst>
              <a:gd name="adj" fmla="val 39027"/>
            </a:avLst>
          </a:prstGeom>
          <a:solidFill>
            <a:srgbClr val="FFFFFF"/>
          </a:solidFill>
          <a:ln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Tableau </a:t>
            </a:r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화면에서 바로 묻고 바로 확인 </a:t>
            </a:r>
            <a:endParaRPr lang="en-US" altLang="ko-KR" sz="1050" b="1" dirty="0">
              <a:latin typeface="SUIT" pitchFamily="2" charset="-127"/>
              <a:ea typeface="SUIT" pitchFamily="2" charset="-127"/>
            </a:endParaRPr>
          </a:p>
          <a:p>
            <a:pPr algn="ctr"/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SUIT" pitchFamily="2" charset="-127"/>
                <a:ea typeface="SUIT" pitchFamily="2" charset="-127"/>
              </a:rPr>
              <a:t> 현재 보고 있는 데이터에 연결된 답변을 즉시 확인합니다</a:t>
            </a:r>
            <a:r>
              <a:rPr lang="en-US" altLang="ko-KR" sz="800" b="1" dirty="0"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350018FF-4313-574E-6DAF-21D584A8AF19}"/>
              </a:ext>
            </a:extLst>
          </p:cNvPr>
          <p:cNvCxnSpPr>
            <a:stCxn id="21" idx="3"/>
            <a:endCxn id="13" idx="2"/>
          </p:cNvCxnSpPr>
          <p:nvPr/>
        </p:nvCxnSpPr>
        <p:spPr>
          <a:xfrm flipV="1">
            <a:off x="3276600" y="4219591"/>
            <a:ext cx="873239" cy="425514"/>
          </a:xfrm>
          <a:prstGeom prst="bentConnector2">
            <a:avLst/>
          </a:prstGeom>
          <a:ln w="12700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Google Shape;154;p13">
            <a:extLst>
              <a:ext uri="{FF2B5EF4-FFF2-40B4-BE49-F238E27FC236}">
                <a16:creationId xmlns:a16="http://schemas.microsoft.com/office/drawing/2014/main" id="{89D350E4-957B-399A-728F-A0B33F605FCF}"/>
              </a:ext>
            </a:extLst>
          </p:cNvPr>
          <p:cNvSpPr txBox="1"/>
          <p:nvPr/>
        </p:nvSpPr>
        <p:spPr>
          <a:xfrm>
            <a:off x="5699378" y="2388286"/>
            <a:ext cx="82296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800" b="1" dirty="0">
                <a:solidFill>
                  <a:srgbClr val="0F172A"/>
                </a:solidFill>
                <a:latin typeface="SUIT ExtraBold" pitchFamily="50" charset="-127"/>
                <a:ea typeface="SUIT ExtraBold" pitchFamily="50" charset="-127"/>
                <a:cs typeface="SUIT"/>
                <a:sym typeface="SUIT"/>
              </a:rPr>
              <a:t>aisight Server</a:t>
            </a:r>
            <a:endParaRPr sz="1600" dirty="0">
              <a:solidFill>
                <a:srgbClr val="0F172A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4F8772AF-B80F-46B7-E640-EAE6D179F085}"/>
              </a:ext>
            </a:extLst>
          </p:cNvPr>
          <p:cNvCxnSpPr>
            <a:cxnSpLocks/>
          </p:cNvCxnSpPr>
          <p:nvPr/>
        </p:nvCxnSpPr>
        <p:spPr>
          <a:xfrm>
            <a:off x="5373517" y="2575082"/>
            <a:ext cx="1232944" cy="0"/>
          </a:xfrm>
          <a:prstGeom prst="line">
            <a:avLst/>
          </a:prstGeom>
          <a:ln>
            <a:solidFill>
              <a:srgbClr val="41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" name="그래픽 214" descr="방패 선택 표시 단색으로 채워진">
            <a:extLst>
              <a:ext uri="{FF2B5EF4-FFF2-40B4-BE49-F238E27FC236}">
                <a16:creationId xmlns:a16="http://schemas.microsoft.com/office/drawing/2014/main" id="{375FD4A5-CE43-441F-3C83-CDC642C28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8396" y="2674490"/>
            <a:ext cx="144293" cy="144293"/>
          </a:xfrm>
          <a:prstGeom prst="rect">
            <a:avLst/>
          </a:prstGeom>
        </p:spPr>
      </p:pic>
      <p:sp>
        <p:nvSpPr>
          <p:cNvPr id="219" name="Google Shape;238;p13">
            <a:extLst>
              <a:ext uri="{FF2B5EF4-FFF2-40B4-BE49-F238E27FC236}">
                <a16:creationId xmlns:a16="http://schemas.microsoft.com/office/drawing/2014/main" id="{92957435-275D-0B49-E645-EB9504F610B0}"/>
              </a:ext>
            </a:extLst>
          </p:cNvPr>
          <p:cNvSpPr txBox="1"/>
          <p:nvPr/>
        </p:nvSpPr>
        <p:spPr>
          <a:xfrm>
            <a:off x="5581649" y="2698907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권한</a:t>
            </a:r>
            <a:r>
              <a:rPr 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확인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컨텍스트 수신</a:t>
            </a:r>
            <a:endParaRPr sz="1600" dirty="0"/>
          </a:p>
        </p:txBody>
      </p:sp>
      <p:sp>
        <p:nvSpPr>
          <p:cNvPr id="221" name="Shape 4">
            <a:extLst>
              <a:ext uri="{FF2B5EF4-FFF2-40B4-BE49-F238E27FC236}">
                <a16:creationId xmlns:a16="http://schemas.microsoft.com/office/drawing/2014/main" id="{B4746CC1-D81C-970A-7D91-1CBCAA1158D3}"/>
              </a:ext>
            </a:extLst>
          </p:cNvPr>
          <p:cNvSpPr/>
          <p:nvPr/>
        </p:nvSpPr>
        <p:spPr>
          <a:xfrm>
            <a:off x="5373517" y="2903315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3" name="Google Shape;238;p13">
            <a:extLst>
              <a:ext uri="{FF2B5EF4-FFF2-40B4-BE49-F238E27FC236}">
                <a16:creationId xmlns:a16="http://schemas.microsoft.com/office/drawing/2014/main" id="{D128C566-B9DF-84DD-8FC8-87DC6565EB2C}"/>
              </a:ext>
            </a:extLst>
          </p:cNvPr>
          <p:cNvSpPr txBox="1"/>
          <p:nvPr/>
        </p:nvSpPr>
        <p:spPr>
          <a:xfrm>
            <a:off x="5581649" y="2963520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Skill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선택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도구 실행</a:t>
            </a:r>
            <a:endParaRPr sz="1600" dirty="0"/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F2CEF951-2970-47B4-07C7-71F555357C69}"/>
              </a:ext>
            </a:extLst>
          </p:cNvPr>
          <p:cNvSpPr/>
          <p:nvPr/>
        </p:nvSpPr>
        <p:spPr>
          <a:xfrm>
            <a:off x="5373517" y="3161325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6" name="Google Shape;238;p13">
            <a:extLst>
              <a:ext uri="{FF2B5EF4-FFF2-40B4-BE49-F238E27FC236}">
                <a16:creationId xmlns:a16="http://schemas.microsoft.com/office/drawing/2014/main" id="{3A33AF9A-568B-ECD1-765C-E56673278428}"/>
              </a:ext>
            </a:extLst>
          </p:cNvPr>
          <p:cNvSpPr txBox="1"/>
          <p:nvPr/>
        </p:nvSpPr>
        <p:spPr>
          <a:xfrm>
            <a:off x="5581649" y="3221530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쿼리 생성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최적화</a:t>
            </a:r>
            <a:endParaRPr sz="1600" dirty="0"/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49B7B12B-BA34-56C9-7E2E-29ED5C0CD159}"/>
              </a:ext>
            </a:extLst>
          </p:cNvPr>
          <p:cNvSpPr/>
          <p:nvPr/>
        </p:nvSpPr>
        <p:spPr>
          <a:xfrm>
            <a:off x="5373517" y="3421931"/>
            <a:ext cx="1232944" cy="230386"/>
          </a:xfrm>
          <a:prstGeom prst="roundRect">
            <a:avLst>
              <a:gd name="adj" fmla="val 9142"/>
            </a:avLst>
          </a:prstGeom>
          <a:solidFill>
            <a:schemeClr val="bg1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9" name="Google Shape;238;p13">
            <a:extLst>
              <a:ext uri="{FF2B5EF4-FFF2-40B4-BE49-F238E27FC236}">
                <a16:creationId xmlns:a16="http://schemas.microsoft.com/office/drawing/2014/main" id="{6B66DEF1-FD6B-BAEB-352D-B5C9746BAA6C}"/>
              </a:ext>
            </a:extLst>
          </p:cNvPr>
          <p:cNvSpPr txBox="1"/>
          <p:nvPr/>
        </p:nvSpPr>
        <p:spPr>
          <a:xfrm>
            <a:off x="5581649" y="3482136"/>
            <a:ext cx="940689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결과 통합 </a:t>
            </a:r>
            <a:r>
              <a:rPr lang="en-US" altLang="ko-KR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&amp; </a:t>
            </a:r>
            <a:r>
              <a:rPr lang="ko-KR" altLang="en-US" sz="7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요약</a:t>
            </a:r>
            <a:endParaRPr sz="1600" dirty="0"/>
          </a:p>
        </p:txBody>
      </p:sp>
      <p:pic>
        <p:nvPicPr>
          <p:cNvPr id="212" name="그래픽 211" descr="합병 단색으로 채워진">
            <a:extLst>
              <a:ext uri="{FF2B5EF4-FFF2-40B4-BE49-F238E27FC236}">
                <a16:creationId xmlns:a16="http://schemas.microsoft.com/office/drawing/2014/main" id="{5D038C47-E143-1F8F-5133-B88328B39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6801" y="3463997"/>
            <a:ext cx="144000" cy="144000"/>
          </a:xfrm>
          <a:prstGeom prst="rect">
            <a:avLst/>
          </a:prstGeom>
        </p:spPr>
      </p:pic>
      <p:pic>
        <p:nvPicPr>
          <p:cNvPr id="214" name="그래픽 213" descr="데이터베이스 단색으로 채워진">
            <a:extLst>
              <a:ext uri="{FF2B5EF4-FFF2-40B4-BE49-F238E27FC236}">
                <a16:creationId xmlns:a16="http://schemas.microsoft.com/office/drawing/2014/main" id="{64F19D13-9896-C676-EFDC-F33D25668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6801" y="3198681"/>
            <a:ext cx="144000" cy="144000"/>
          </a:xfrm>
          <a:prstGeom prst="rect">
            <a:avLst/>
          </a:prstGeom>
        </p:spPr>
      </p:pic>
      <p:pic>
        <p:nvPicPr>
          <p:cNvPr id="216" name="그래픽 215" descr="퍼즐 단색으로 채워진">
            <a:extLst>
              <a:ext uri="{FF2B5EF4-FFF2-40B4-BE49-F238E27FC236}">
                <a16:creationId xmlns:a16="http://schemas.microsoft.com/office/drawing/2014/main" id="{79B677A4-A57F-7EE4-E9A7-F37BC7509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6801" y="2947815"/>
            <a:ext cx="144000" cy="144000"/>
          </a:xfrm>
          <a:prstGeom prst="rect">
            <a:avLst/>
          </a:prstGeom>
        </p:spPr>
      </p:pic>
      <p:sp>
        <p:nvSpPr>
          <p:cNvPr id="233" name="Shape 4">
            <a:extLst>
              <a:ext uri="{FF2B5EF4-FFF2-40B4-BE49-F238E27FC236}">
                <a16:creationId xmlns:a16="http://schemas.microsoft.com/office/drawing/2014/main" id="{C9EDFDBF-387A-81AD-C05D-661061588E06}"/>
              </a:ext>
            </a:extLst>
          </p:cNvPr>
          <p:cNvSpPr/>
          <p:nvPr/>
        </p:nvSpPr>
        <p:spPr>
          <a:xfrm>
            <a:off x="7385650" y="1686040"/>
            <a:ext cx="1569374" cy="123132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428">
                <a:srgbClr val="00D4C5"/>
              </a:gs>
              <a:gs pos="242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3E94774-DC7A-AB32-979F-02603624BCEC}"/>
              </a:ext>
            </a:extLst>
          </p:cNvPr>
          <p:cNvSpPr txBox="1"/>
          <p:nvPr/>
        </p:nvSpPr>
        <p:spPr>
          <a:xfrm>
            <a:off x="7708311" y="1738699"/>
            <a:ext cx="1246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Tableau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분석 데이터 </a:t>
            </a:r>
            <a:endParaRPr lang="en-US" altLang="ko-KR" sz="8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1373F10-2B8C-4A70-A6E6-27584DBE62F4}"/>
              </a:ext>
            </a:extLst>
          </p:cNvPr>
          <p:cNvSpPr txBox="1"/>
          <p:nvPr/>
        </p:nvSpPr>
        <p:spPr>
          <a:xfrm>
            <a:off x="7491687" y="1994943"/>
            <a:ext cx="1381521" cy="92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Tableau </a:t>
            </a:r>
            <a:r>
              <a:rPr lang="ko-KR" altLang="en-US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추출본을 분석</a:t>
            </a:r>
            <a:endParaRPr lang="en-US" altLang="ko-KR" sz="8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ko-KR" altLang="en-US" sz="8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질의에 최적화해 보관</a:t>
            </a:r>
            <a:endParaRPr lang="en-US" altLang="ko-KR" sz="800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en-US" altLang="ko-KR" sz="1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  </a:t>
            </a: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집계 데이터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차원 데이터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171450" indent="-17145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메타 데이터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24BD6A4D-F760-4B4A-6B4D-36EB42E38D22}"/>
              </a:ext>
            </a:extLst>
          </p:cNvPr>
          <p:cNvSpPr/>
          <p:nvPr/>
        </p:nvSpPr>
        <p:spPr>
          <a:xfrm>
            <a:off x="7385650" y="3488267"/>
            <a:ext cx="1569374" cy="1267756"/>
          </a:xfrm>
          <a:prstGeom prst="roundRect">
            <a:avLst>
              <a:gd name="adj" fmla="val 5869"/>
            </a:avLst>
          </a:prstGeom>
          <a:gradFill rotWithShape="1">
            <a:gsLst>
              <a:gs pos="0">
                <a:srgbClr val="00D4C5"/>
              </a:gs>
              <a:gs pos="2428">
                <a:srgbClr val="00D4C5"/>
              </a:gs>
              <a:gs pos="2429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C513B7E2-F61B-0C05-AB95-B5A5F884505E}"/>
              </a:ext>
            </a:extLst>
          </p:cNvPr>
          <p:cNvSpPr txBox="1"/>
          <p:nvPr/>
        </p:nvSpPr>
        <p:spPr>
          <a:xfrm>
            <a:off x="7708311" y="3540926"/>
            <a:ext cx="1246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en-US" altLang="ko-KR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LLM </a:t>
            </a:r>
            <a:r>
              <a:rPr lang="ko-KR" altLang="en-US" sz="800" b="1" i="0" dirty="0">
                <a:solidFill>
                  <a:srgbClr val="0F172A"/>
                </a:solidFill>
                <a:effectLst/>
                <a:latin typeface="SUIT ExtraBold" pitchFamily="50" charset="-127"/>
                <a:ea typeface="SUIT ExtraBold" pitchFamily="50" charset="-127"/>
              </a:rPr>
              <a:t>답변</a:t>
            </a:r>
            <a:endParaRPr lang="en-US" altLang="ko-KR" sz="800" b="1" i="0" dirty="0">
              <a:solidFill>
                <a:srgbClr val="0F172A"/>
              </a:solidFill>
              <a:effectLst/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011F083-DF81-00F8-D23E-6CFE4F9D0056}"/>
              </a:ext>
            </a:extLst>
          </p:cNvPr>
          <p:cNvSpPr txBox="1"/>
          <p:nvPr/>
        </p:nvSpPr>
        <p:spPr>
          <a:xfrm>
            <a:off x="7491687" y="3797170"/>
            <a:ext cx="1381521" cy="91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  <a:buNone/>
            </a:pPr>
            <a:r>
              <a:rPr lang="ko-KR" altLang="en-US" sz="800" b="0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분석 결과를 업무 문장으로</a:t>
            </a:r>
            <a:endParaRPr lang="en-US" altLang="ko-KR" sz="800" b="0" i="0" dirty="0">
              <a:solidFill>
                <a:srgbClr val="64748B"/>
              </a:solidFill>
              <a:effectLst/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ko-KR" altLang="en-US" sz="800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요약하고 후속 질문 제안</a:t>
            </a:r>
            <a:endParaRPr lang="en-US" altLang="ko-KR" sz="800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algn="l">
              <a:spcAft>
                <a:spcPts val="225"/>
              </a:spcAft>
              <a:buNone/>
            </a:pPr>
            <a:r>
              <a:rPr lang="en-US" altLang="ko-KR" sz="100" b="1" i="0" dirty="0">
                <a:solidFill>
                  <a:srgbClr val="64748B"/>
                </a:solidFill>
                <a:effectLst/>
                <a:latin typeface="SUIT Light" pitchFamily="50" charset="-127"/>
                <a:ea typeface="SUIT Light" pitchFamily="50" charset="-127"/>
              </a:rPr>
              <a:t> </a:t>
            </a: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원인 분석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핵심 지표 도출</a:t>
            </a:r>
            <a:endParaRPr lang="en-US" altLang="ko-KR" sz="800" b="1" dirty="0">
              <a:solidFill>
                <a:srgbClr val="64748B"/>
              </a:solidFill>
              <a:latin typeface="SUIT Light" pitchFamily="50" charset="-127"/>
              <a:ea typeface="SUIT Light" pitchFamily="50" charset="-127"/>
            </a:endParaRPr>
          </a:p>
          <a:p>
            <a:pPr marL="228600" indent="-228600" algn="l">
              <a:lnSpc>
                <a:spcPct val="12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64748B"/>
                </a:solidFill>
                <a:latin typeface="SUIT Light" pitchFamily="50" charset="-127"/>
                <a:ea typeface="SUIT Light" pitchFamily="50" charset="-127"/>
              </a:rPr>
              <a:t>맞춤형 인사이트</a:t>
            </a:r>
            <a:endParaRPr lang="en-US" altLang="ko-KR" sz="800" b="1" i="0" dirty="0">
              <a:solidFill>
                <a:srgbClr val="0F172A"/>
              </a:solidFill>
              <a:effectLst/>
              <a:latin typeface="SUIT Light" pitchFamily="50" charset="-127"/>
              <a:ea typeface="SUIT Light" pitchFamily="50" charset="-127"/>
            </a:endParaRPr>
          </a:p>
        </p:txBody>
      </p:sp>
      <p:pic>
        <p:nvPicPr>
          <p:cNvPr id="246" name="그래픽 245" descr="좌뇌 단색으로 채워진">
            <a:extLst>
              <a:ext uri="{FF2B5EF4-FFF2-40B4-BE49-F238E27FC236}">
                <a16:creationId xmlns:a16="http://schemas.microsoft.com/office/drawing/2014/main" id="{66EFE40E-2C77-8148-547A-189D7B26C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6054" y="3540926"/>
            <a:ext cx="216104" cy="216104"/>
          </a:xfrm>
          <a:prstGeom prst="rect">
            <a:avLst/>
          </a:prstGeom>
        </p:spPr>
      </p:pic>
      <p:pic>
        <p:nvPicPr>
          <p:cNvPr id="248" name="그래픽 247" descr="테이블 단색으로 채워진">
            <a:extLst>
              <a:ext uri="{FF2B5EF4-FFF2-40B4-BE49-F238E27FC236}">
                <a16:creationId xmlns:a16="http://schemas.microsoft.com/office/drawing/2014/main" id="{1DED7FD9-C6FD-0963-DC33-29D517DE8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8526" y="1745345"/>
            <a:ext cx="216000" cy="216000"/>
          </a:xfrm>
          <a:prstGeom prst="rect">
            <a:avLst/>
          </a:prstGeom>
        </p:spPr>
      </p:pic>
      <p:sp>
        <p:nvSpPr>
          <p:cNvPr id="249" name="Shape 4">
            <a:extLst>
              <a:ext uri="{FF2B5EF4-FFF2-40B4-BE49-F238E27FC236}">
                <a16:creationId xmlns:a16="http://schemas.microsoft.com/office/drawing/2014/main" id="{05A1709B-22CA-DFB9-44E9-B19CE18A1A0D}"/>
              </a:ext>
            </a:extLst>
          </p:cNvPr>
          <p:cNvSpPr/>
          <p:nvPr/>
        </p:nvSpPr>
        <p:spPr>
          <a:xfrm>
            <a:off x="3579100" y="1825525"/>
            <a:ext cx="1160513" cy="144000"/>
          </a:xfrm>
          <a:prstGeom prst="rect">
            <a:avLst/>
          </a:prstGeom>
          <a:solidFill>
            <a:srgbClr val="41C0C2"/>
          </a:solidFill>
          <a:ln>
            <a:solidFill>
              <a:schemeClr val="tx1"/>
            </a:solidFill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Agent Embed</a:t>
            </a:r>
            <a:endParaRPr lang="ko-KR" altLang="en-US" sz="7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250" name="Shape 4">
            <a:extLst>
              <a:ext uri="{FF2B5EF4-FFF2-40B4-BE49-F238E27FC236}">
                <a16:creationId xmlns:a16="http://schemas.microsoft.com/office/drawing/2014/main" id="{8EA55866-F2C1-0D2E-13D3-502B589B4DB0}"/>
              </a:ext>
            </a:extLst>
          </p:cNvPr>
          <p:cNvSpPr/>
          <p:nvPr/>
        </p:nvSpPr>
        <p:spPr>
          <a:xfrm>
            <a:off x="188976" y="1825525"/>
            <a:ext cx="3390124" cy="144000"/>
          </a:xfrm>
          <a:prstGeom prst="rect">
            <a:avLst/>
          </a:prstGeom>
          <a:solidFill>
            <a:srgbClr val="0F172A"/>
          </a:solidFill>
          <a:ln>
            <a:solidFill>
              <a:schemeClr val="tx1"/>
            </a:solidFill>
          </a:ln>
        </p:spPr>
        <p:txBody>
          <a:bodyPr wrap="square" lIns="36000" tIns="10800" rIns="36000" bIns="1080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SUIT" pitchFamily="2" charset="-127"/>
                <a:ea typeface="SUIT" pitchFamily="2" charset="-127"/>
              </a:rPr>
              <a:t>Tableau Dashboard</a:t>
            </a:r>
            <a:endParaRPr lang="ko-KR" altLang="en-US" sz="700" dirty="0">
              <a:solidFill>
                <a:schemeClr val="bg1"/>
              </a:solidFill>
              <a:latin typeface="SUIT" pitchFamily="2" charset="-127"/>
              <a:ea typeface="SUIT" pitchFamily="2" charset="-127"/>
            </a:endParaRPr>
          </a:p>
        </p:txBody>
      </p:sp>
      <p:pic>
        <p:nvPicPr>
          <p:cNvPr id="251" name="그래픽 250" descr="배지 1 단색으로 채워진">
            <a:extLst>
              <a:ext uri="{FF2B5EF4-FFF2-40B4-BE49-F238E27FC236}">
                <a16:creationId xmlns:a16="http://schemas.microsoft.com/office/drawing/2014/main" id="{13981E02-6F8F-5A4F-94BD-ECC627C13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8842" y="1630685"/>
            <a:ext cx="252000" cy="252000"/>
          </a:xfrm>
          <a:prstGeom prst="rect">
            <a:avLst/>
          </a:prstGeom>
        </p:spPr>
      </p:pic>
      <p:pic>
        <p:nvPicPr>
          <p:cNvPr id="252" name="그래픽 251" descr="배지 단색으로 채워진">
            <a:extLst>
              <a:ext uri="{FF2B5EF4-FFF2-40B4-BE49-F238E27FC236}">
                <a16:creationId xmlns:a16="http://schemas.microsoft.com/office/drawing/2014/main" id="{E2B17FC6-33AC-47A0-86E7-036A6C695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44804" y="2957633"/>
            <a:ext cx="252000" cy="252000"/>
          </a:xfrm>
          <a:prstGeom prst="rect">
            <a:avLst/>
          </a:prstGeom>
        </p:spPr>
      </p:pic>
      <p:pic>
        <p:nvPicPr>
          <p:cNvPr id="253" name="그래픽 252" descr="배지 3 단색으로 채워진">
            <a:extLst>
              <a:ext uri="{FF2B5EF4-FFF2-40B4-BE49-F238E27FC236}">
                <a16:creationId xmlns:a16="http://schemas.microsoft.com/office/drawing/2014/main" id="{ABC39ECF-56CF-805A-FEB3-AF56A0C2D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44170" y="4108032"/>
            <a:ext cx="252000" cy="252000"/>
          </a:xfrm>
          <a:prstGeom prst="rect">
            <a:avLst/>
          </a:prstGeom>
        </p:spPr>
      </p:pic>
      <p:pic>
        <p:nvPicPr>
          <p:cNvPr id="254" name="그래픽 253" descr="배지 4 단색으로 채워진">
            <a:extLst>
              <a:ext uri="{FF2B5EF4-FFF2-40B4-BE49-F238E27FC236}">
                <a16:creationId xmlns:a16="http://schemas.microsoft.com/office/drawing/2014/main" id="{095E733E-9999-DA71-1104-B8CBE8466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05409" y="4540634"/>
            <a:ext cx="252000" cy="252000"/>
          </a:xfrm>
          <a:prstGeom prst="rect">
            <a:avLst/>
          </a:prstGeom>
        </p:spPr>
      </p:pic>
      <p:cxnSp>
        <p:nvCxnSpPr>
          <p:cNvPr id="1089" name="연결선: 꺾임 1088">
            <a:extLst>
              <a:ext uri="{FF2B5EF4-FFF2-40B4-BE49-F238E27FC236}">
                <a16:creationId xmlns:a16="http://schemas.microsoft.com/office/drawing/2014/main" id="{FF48D5DD-1957-D174-71A4-1A94092CA8F8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758648" y="1890293"/>
            <a:ext cx="1237522" cy="434306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" name="Google Shape;238;p13">
            <a:extLst>
              <a:ext uri="{FF2B5EF4-FFF2-40B4-BE49-F238E27FC236}">
                <a16:creationId xmlns:a16="http://schemas.microsoft.com/office/drawing/2014/main" id="{E59897B1-D3AB-B5F8-FE1B-8C6D28D144C5}"/>
              </a:ext>
            </a:extLst>
          </p:cNvPr>
          <p:cNvSpPr txBox="1"/>
          <p:nvPr/>
        </p:nvSpPr>
        <p:spPr>
          <a:xfrm>
            <a:off x="5018151" y="1715658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화면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컨텍스트</a:t>
            </a:r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+ 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사용자 질문 전달</a:t>
            </a:r>
            <a:endParaRPr dirty="0"/>
          </a:p>
        </p:txBody>
      </p:sp>
      <p:cxnSp>
        <p:nvCxnSpPr>
          <p:cNvPr id="1098" name="연결선: 꺾임 1097">
            <a:extLst>
              <a:ext uri="{FF2B5EF4-FFF2-40B4-BE49-F238E27FC236}">
                <a16:creationId xmlns:a16="http://schemas.microsoft.com/office/drawing/2014/main" id="{6DFF0B1C-D03D-67B0-A152-FDE78D0577D0}"/>
              </a:ext>
            </a:extLst>
          </p:cNvPr>
          <p:cNvCxnSpPr>
            <a:cxnSpLocks/>
            <a:stCxn id="26" idx="3"/>
            <a:endCxn id="233" idx="1"/>
          </p:cNvCxnSpPr>
          <p:nvPr/>
        </p:nvCxnSpPr>
        <p:spPr>
          <a:xfrm flipV="1">
            <a:off x="6686931" y="2301703"/>
            <a:ext cx="698719" cy="723674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2" name="Google Shape;238;p13">
            <a:extLst>
              <a:ext uri="{FF2B5EF4-FFF2-40B4-BE49-F238E27FC236}">
                <a16:creationId xmlns:a16="http://schemas.microsoft.com/office/drawing/2014/main" id="{E47B1967-6321-CC8D-C42E-48D4BA4C736B}"/>
              </a:ext>
            </a:extLst>
          </p:cNvPr>
          <p:cNvSpPr txBox="1"/>
          <p:nvPr/>
        </p:nvSpPr>
        <p:spPr>
          <a:xfrm>
            <a:off x="7296804" y="3024874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Parquet</a:t>
            </a:r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 분석 데이터 쿼리 실행</a:t>
            </a:r>
            <a:endParaRPr dirty="0"/>
          </a:p>
        </p:txBody>
      </p:sp>
      <p:cxnSp>
        <p:nvCxnSpPr>
          <p:cNvPr id="1103" name="연결선: 꺾임 1102">
            <a:extLst>
              <a:ext uri="{FF2B5EF4-FFF2-40B4-BE49-F238E27FC236}">
                <a16:creationId xmlns:a16="http://schemas.microsoft.com/office/drawing/2014/main" id="{21F2465D-2C49-81C9-B685-B056A250BB37}"/>
              </a:ext>
            </a:extLst>
          </p:cNvPr>
          <p:cNvCxnSpPr>
            <a:cxnSpLocks/>
            <a:stCxn id="241" idx="2"/>
          </p:cNvCxnSpPr>
          <p:nvPr/>
        </p:nvCxnSpPr>
        <p:spPr>
          <a:xfrm rot="5400000">
            <a:off x="7256244" y="2342754"/>
            <a:ext cx="344530" cy="1507879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Google Shape;238;p13">
            <a:extLst>
              <a:ext uri="{FF2B5EF4-FFF2-40B4-BE49-F238E27FC236}">
                <a16:creationId xmlns:a16="http://schemas.microsoft.com/office/drawing/2014/main" id="{9C7B18DA-1B61-68F0-D963-BC1216E94743}"/>
              </a:ext>
            </a:extLst>
          </p:cNvPr>
          <p:cNvSpPr txBox="1"/>
          <p:nvPr/>
        </p:nvSpPr>
        <p:spPr>
          <a:xfrm>
            <a:off x="7279104" y="3285745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결과 전달</a:t>
            </a:r>
            <a:endParaRPr dirty="0"/>
          </a:p>
        </p:txBody>
      </p:sp>
      <p:cxnSp>
        <p:nvCxnSpPr>
          <p:cNvPr id="1107" name="연결선: 꺾임 1106">
            <a:extLst>
              <a:ext uri="{FF2B5EF4-FFF2-40B4-BE49-F238E27FC236}">
                <a16:creationId xmlns:a16="http://schemas.microsoft.com/office/drawing/2014/main" id="{143BFBBA-E1C5-07A4-43CA-B11FD5FAA2BE}"/>
              </a:ext>
            </a:extLst>
          </p:cNvPr>
          <p:cNvCxnSpPr>
            <a:cxnSpLocks/>
            <a:stCxn id="26" idx="2"/>
            <a:endCxn id="242" idx="1"/>
          </p:cNvCxnSpPr>
          <p:nvPr/>
        </p:nvCxnSpPr>
        <p:spPr>
          <a:xfrm rot="16200000" flipH="1">
            <a:off x="6492915" y="3229410"/>
            <a:ext cx="395990" cy="1389480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Google Shape;238;p13">
            <a:extLst>
              <a:ext uri="{FF2B5EF4-FFF2-40B4-BE49-F238E27FC236}">
                <a16:creationId xmlns:a16="http://schemas.microsoft.com/office/drawing/2014/main" id="{A2F3F853-0606-DC19-9994-8A1D726F0F7D}"/>
              </a:ext>
            </a:extLst>
          </p:cNvPr>
          <p:cNvSpPr txBox="1"/>
          <p:nvPr/>
        </p:nvSpPr>
        <p:spPr>
          <a:xfrm>
            <a:off x="6051993" y="4188822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분석 결과 기반 프롬프트</a:t>
            </a:r>
            <a:endParaRPr dirty="0"/>
          </a:p>
        </p:txBody>
      </p:sp>
      <p:cxnSp>
        <p:nvCxnSpPr>
          <p:cNvPr id="1114" name="연결선: 꺾임 1113">
            <a:extLst>
              <a:ext uri="{FF2B5EF4-FFF2-40B4-BE49-F238E27FC236}">
                <a16:creationId xmlns:a16="http://schemas.microsoft.com/office/drawing/2014/main" id="{71C70F15-BC53-1405-78E4-C475E72E77A2}"/>
              </a:ext>
            </a:extLst>
          </p:cNvPr>
          <p:cNvCxnSpPr>
            <a:cxnSpLocks/>
          </p:cNvCxnSpPr>
          <p:nvPr/>
        </p:nvCxnSpPr>
        <p:spPr>
          <a:xfrm rot="10800000">
            <a:off x="4748842" y="4122145"/>
            <a:ext cx="2636808" cy="423452"/>
          </a:xfrm>
          <a:prstGeom prst="bentConnector3">
            <a:avLst>
              <a:gd name="adj1" fmla="val 79477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Google Shape;238;p13">
            <a:extLst>
              <a:ext uri="{FF2B5EF4-FFF2-40B4-BE49-F238E27FC236}">
                <a16:creationId xmlns:a16="http://schemas.microsoft.com/office/drawing/2014/main" id="{E84C87C4-5DBE-431A-C995-669F202E3807}"/>
              </a:ext>
            </a:extLst>
          </p:cNvPr>
          <p:cNvSpPr txBox="1"/>
          <p:nvPr/>
        </p:nvSpPr>
        <p:spPr>
          <a:xfrm>
            <a:off x="5564885" y="4598953"/>
            <a:ext cx="159410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800" b="1" dirty="0">
                <a:solidFill>
                  <a:srgbClr val="0F172A"/>
                </a:solidFill>
                <a:latin typeface="SUIT"/>
                <a:ea typeface="SUIT"/>
                <a:cs typeface="SUIT"/>
                <a:sym typeface="SUIT"/>
              </a:rPr>
              <a:t>생성 답변 스트리밍 전송</a:t>
            </a:r>
            <a:endParaRPr dirty="0"/>
          </a:p>
        </p:txBody>
      </p:sp>
      <p:cxnSp>
        <p:nvCxnSpPr>
          <p:cNvPr id="1120" name="연결선: 꺾임 1119">
            <a:extLst>
              <a:ext uri="{FF2B5EF4-FFF2-40B4-BE49-F238E27FC236}">
                <a16:creationId xmlns:a16="http://schemas.microsoft.com/office/drawing/2014/main" id="{D11F306E-D4CF-D671-17E3-8D9330654628}"/>
              </a:ext>
            </a:extLst>
          </p:cNvPr>
          <p:cNvCxnSpPr>
            <a:cxnSpLocks/>
            <a:stCxn id="1119" idx="1"/>
          </p:cNvCxnSpPr>
          <p:nvPr/>
        </p:nvCxnSpPr>
        <p:spPr>
          <a:xfrm rot="10800000" flipV="1">
            <a:off x="311270" y="1440578"/>
            <a:ext cx="357258" cy="387757"/>
          </a:xfrm>
          <a:prstGeom prst="bentConnector2">
            <a:avLst/>
          </a:prstGeom>
          <a:ln w="12700">
            <a:solidFill>
              <a:srgbClr val="41C0C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9" name="Shape 4">
            <a:extLst>
              <a:ext uri="{FF2B5EF4-FFF2-40B4-BE49-F238E27FC236}">
                <a16:creationId xmlns:a16="http://schemas.microsoft.com/office/drawing/2014/main" id="{2AB8E6F5-F585-5A3F-6D45-15A3A7166D7A}"/>
              </a:ext>
            </a:extLst>
          </p:cNvPr>
          <p:cNvSpPr/>
          <p:nvPr/>
        </p:nvSpPr>
        <p:spPr>
          <a:xfrm>
            <a:off x="668528" y="1292302"/>
            <a:ext cx="3717543" cy="296554"/>
          </a:xfrm>
          <a:prstGeom prst="roundRect">
            <a:avLst>
              <a:gd name="adj" fmla="val 39027"/>
            </a:avLst>
          </a:prstGeom>
          <a:solidFill>
            <a:schemeClr val="bg1"/>
          </a:solidFill>
          <a:ln>
            <a:solidFill>
              <a:srgbClr val="41C0C2"/>
            </a:solidFill>
            <a:prstDash val="dash"/>
          </a:ln>
        </p:spPr>
        <p:txBody>
          <a:bodyPr wrap="square" lIns="36000" tIns="10800" rIns="36000" bIns="10800">
            <a:noAutofit/>
          </a:bodyPr>
          <a:lstStyle/>
          <a:p>
            <a:pPr algn="ctr"/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현재 </a:t>
            </a:r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Tableau </a:t>
            </a:r>
            <a:r>
              <a:rPr lang="ko-KR" altLang="en-US" sz="1050" b="1" dirty="0">
                <a:latin typeface="SUIT" pitchFamily="2" charset="-127"/>
                <a:ea typeface="SUIT" pitchFamily="2" charset="-127"/>
              </a:rPr>
              <a:t>화면 컨텍스트가 분석 답변의 기준이 됩니다</a:t>
            </a:r>
            <a:r>
              <a:rPr lang="en-US" altLang="ko-KR" sz="1050" b="1" dirty="0">
                <a:latin typeface="SUIT" pitchFamily="2" charset="-127"/>
                <a:ea typeface="SUIT" pitchFamily="2" charset="-127"/>
              </a:rPr>
              <a:t>.</a:t>
            </a:r>
            <a:endParaRPr lang="ko-KR" altLang="en-US" sz="800" b="1" dirty="0">
              <a:latin typeface="SUIT" pitchFamily="2" charset="-127"/>
              <a:ea typeface="SUIT" pitchFamily="2" charset="-127"/>
            </a:endParaRPr>
          </a:p>
        </p:txBody>
      </p:sp>
      <p:pic>
        <p:nvPicPr>
          <p:cNvPr id="1121" name="그래픽 1120" descr="배지 체크 표시1 단색으로 채워진">
            <a:extLst>
              <a:ext uri="{FF2B5EF4-FFF2-40B4-BE49-F238E27FC236}">
                <a16:creationId xmlns:a16="http://schemas.microsoft.com/office/drawing/2014/main" id="{B652FCCE-59F6-AD44-2981-2FBA9191B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9718" y="1317073"/>
            <a:ext cx="216000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C08A5C-BF91-ADA9-AD58-4EDE81453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454" y="3530987"/>
            <a:ext cx="852737" cy="4587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111D93-52A9-6C6F-8D7A-22FDEC172B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6790" y="2384713"/>
            <a:ext cx="97460" cy="11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8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297173" y="1224153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70" y="1421664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</p:sp>
      <p:sp>
        <p:nvSpPr>
          <p:cNvPr id="6" name="Shape 4"/>
          <p:cNvSpPr/>
          <p:nvPr/>
        </p:nvSpPr>
        <p:spPr>
          <a:xfrm>
            <a:off x="3966568" y="1484929"/>
            <a:ext cx="655609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73" y="1962245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70" y="2159756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</p:sp>
      <p:sp>
        <p:nvSpPr>
          <p:cNvPr id="9" name="Shape 7"/>
          <p:cNvSpPr/>
          <p:nvPr/>
        </p:nvSpPr>
        <p:spPr>
          <a:xfrm>
            <a:off x="4046119" y="2223021"/>
            <a:ext cx="576058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73" y="2700338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70" y="2898363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7440" y="2961113"/>
            <a:ext cx="503822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73" y="3438944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70" y="3636455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7440" y="3699206"/>
            <a:ext cx="503822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73" y="4177037"/>
            <a:ext cx="4438387" cy="669684"/>
          </a:xfrm>
          <a:prstGeom prst="roundRect">
            <a:avLst>
              <a:gd name="adj" fmla="val 1365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70" y="4374547"/>
            <a:ext cx="274313" cy="274148"/>
          </a:xfrm>
          <a:prstGeom prst="roundRect">
            <a:avLst>
              <a:gd name="adj" fmla="val 25015"/>
            </a:avLst>
          </a:prstGeom>
          <a:solidFill>
            <a:srgbClr val="F0FDFA"/>
          </a:solidFill>
          <a:ln/>
        </p:spPr>
      </p:sp>
      <p:sp>
        <p:nvSpPr>
          <p:cNvPr id="18" name="Shape 16"/>
          <p:cNvSpPr/>
          <p:nvPr/>
        </p:nvSpPr>
        <p:spPr>
          <a:xfrm>
            <a:off x="3984856" y="4437812"/>
            <a:ext cx="636407" cy="148647"/>
          </a:xfrm>
          <a:prstGeom prst="roundRect">
            <a:avLst>
              <a:gd name="adj" fmla="val 2691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7014" y="1224153"/>
            <a:ext cx="3859586" cy="3165310"/>
          </a:xfrm>
          <a:prstGeom prst="roundRect">
            <a:avLst>
              <a:gd name="adj" fmla="val 325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6797" y="1515275"/>
            <a:ext cx="3620019" cy="217056"/>
          </a:xfrm>
          <a:prstGeom prst="roundRect">
            <a:avLst>
              <a:gd name="adj" fmla="val 26329"/>
            </a:avLst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6797" y="1800740"/>
            <a:ext cx="1161259" cy="2480196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98234" y="2229193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5198234" y="2393785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Shape 22"/>
          <p:cNvSpPr/>
          <p:nvPr/>
        </p:nvSpPr>
        <p:spPr>
          <a:xfrm>
            <a:off x="5198234" y="2558377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36634" y="1800740"/>
            <a:ext cx="1161259" cy="2480196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071" y="2229193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8071" y="2393785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28071" y="2558377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9" name="Shape 27"/>
          <p:cNvSpPr/>
          <p:nvPr/>
        </p:nvSpPr>
        <p:spPr>
          <a:xfrm>
            <a:off x="7565557" y="1800740"/>
            <a:ext cx="1161259" cy="2480196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56994" y="2229193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Shape 29"/>
          <p:cNvSpPr/>
          <p:nvPr/>
        </p:nvSpPr>
        <p:spPr>
          <a:xfrm>
            <a:off x="7656994" y="2393785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Shape 30"/>
          <p:cNvSpPr/>
          <p:nvPr/>
        </p:nvSpPr>
        <p:spPr>
          <a:xfrm>
            <a:off x="7656994" y="2558377"/>
            <a:ext cx="28346" cy="28289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7014" y="4481018"/>
            <a:ext cx="1240810" cy="365703"/>
          </a:xfrm>
          <a:prstGeom prst="roundRect">
            <a:avLst>
              <a:gd name="adj" fmla="val 1875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6401" y="4481018"/>
            <a:ext cx="1240810" cy="365703"/>
          </a:xfrm>
          <a:prstGeom prst="roundRect">
            <a:avLst>
              <a:gd name="adj" fmla="val 1875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5789" y="4481018"/>
            <a:ext cx="1240810" cy="365703"/>
          </a:xfrm>
          <a:prstGeom prst="roundRect">
            <a:avLst>
              <a:gd name="adj" fmla="val 18752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340" y="1504839"/>
            <a:ext cx="28574" cy="28504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26" y="1533342"/>
            <a:ext cx="2744" cy="22803"/>
          </a:xfrm>
          <a:custGeom>
            <a:avLst/>
            <a:gdLst/>
            <a:ahLst/>
            <a:cxnLst/>
            <a:rect l="l" t="t" r="r" b="b"/>
            <a:pathLst>
              <a:path w="3658" h="30404">
                <a:moveTo>
                  <a:pt x="0" y="0"/>
                </a:moveTo>
                <a:lnTo>
                  <a:pt x="0" y="30404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8623" y="1564696"/>
            <a:ext cx="80008" cy="34205"/>
          </a:xfrm>
          <a:custGeom>
            <a:avLst/>
            <a:gdLst/>
            <a:ahLst/>
            <a:cxnLst/>
            <a:rect l="l" t="t" r="r" b="b"/>
            <a:pathLst>
              <a:path w="106677" h="45606">
                <a:moveTo>
                  <a:pt x="0" y="45606"/>
                </a:moveTo>
                <a:lnTo>
                  <a:pt x="0" y="22803"/>
                </a:lnTo>
                <a:cubicBezTo>
                  <a:pt x="0" y="10209"/>
                  <a:pt x="10235" y="0"/>
                  <a:pt x="22859" y="0"/>
                </a:cubicBezTo>
                <a:lnTo>
                  <a:pt x="83818" y="0"/>
                </a:lnTo>
                <a:cubicBezTo>
                  <a:pt x="96443" y="0"/>
                  <a:pt x="106677" y="10209"/>
                  <a:pt x="106677" y="22803"/>
                </a:cubicBezTo>
                <a:lnTo>
                  <a:pt x="106677" y="45606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7193" y="1587499"/>
            <a:ext cx="22859" cy="22803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7201" y="1587499"/>
            <a:ext cx="22859" cy="22803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7197" y="1587499"/>
            <a:ext cx="22859" cy="22803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08" y="2245780"/>
            <a:ext cx="91438" cy="34205"/>
          </a:xfrm>
          <a:prstGeom prst="ellipse">
            <a:avLst/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08" y="2262883"/>
            <a:ext cx="91438" cy="85511"/>
          </a:xfrm>
          <a:custGeom>
            <a:avLst/>
            <a:gdLst/>
            <a:ahLst/>
            <a:cxnLst/>
            <a:rect l="l" t="t" r="r" b="b"/>
            <a:pathLst>
              <a:path w="121917" h="114014">
                <a:moveTo>
                  <a:pt x="0" y="0"/>
                </a:moveTo>
                <a:lnTo>
                  <a:pt x="0" y="91211"/>
                </a:lnTo>
                <a:cubicBezTo>
                  <a:pt x="0" y="104133"/>
                  <a:pt x="27431" y="114014"/>
                  <a:pt x="60958" y="114014"/>
                </a:cubicBezTo>
                <a:cubicBezTo>
                  <a:pt x="94486" y="114014"/>
                  <a:pt x="121917" y="104133"/>
                  <a:pt x="121917" y="91211"/>
                </a:cubicBezTo>
                <a:lnTo>
                  <a:pt x="121917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08" y="2297088"/>
            <a:ext cx="91438" cy="17102"/>
          </a:xfrm>
          <a:custGeom>
            <a:avLst/>
            <a:gdLst/>
            <a:ahLst/>
            <a:cxnLst/>
            <a:rect l="l" t="t" r="r" b="b"/>
            <a:pathLst>
              <a:path w="121917" h="22803">
                <a:moveTo>
                  <a:pt x="0" y="0"/>
                </a:moveTo>
                <a:cubicBezTo>
                  <a:pt x="0" y="12922"/>
                  <a:pt x="27431" y="22803"/>
                  <a:pt x="60958" y="22803"/>
                </a:cubicBezTo>
                <a:cubicBezTo>
                  <a:pt x="94486" y="22803"/>
                  <a:pt x="121917" y="12922"/>
                  <a:pt x="121917" y="0"/>
                </a:cubicBez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7193" y="2983873"/>
            <a:ext cx="102868" cy="102613"/>
          </a:xfrm>
          <a:custGeom>
            <a:avLst/>
            <a:gdLst/>
            <a:ahLst/>
            <a:cxnLst/>
            <a:rect l="l" t="t" r="r" b="b"/>
            <a:pathLst>
              <a:path w="137157" h="136817">
                <a:moveTo>
                  <a:pt x="0" y="0"/>
                </a:moveTo>
                <a:lnTo>
                  <a:pt x="0" y="136817"/>
                </a:lnTo>
                <a:lnTo>
                  <a:pt x="137157" y="136817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0052" y="3006676"/>
            <a:ext cx="68579" cy="39905"/>
          </a:xfrm>
          <a:custGeom>
            <a:avLst/>
            <a:gdLst/>
            <a:ahLst/>
            <a:cxnLst/>
            <a:rect l="l" t="t" r="r" b="b"/>
            <a:pathLst>
              <a:path w="91438" h="53207">
                <a:moveTo>
                  <a:pt x="0" y="53207"/>
                </a:moveTo>
                <a:lnTo>
                  <a:pt x="30479" y="22803"/>
                </a:lnTo>
                <a:lnTo>
                  <a:pt x="53339" y="45606"/>
                </a:lnTo>
                <a:lnTo>
                  <a:pt x="91438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7193" y="3727666"/>
            <a:ext cx="102868" cy="34205"/>
          </a:xfrm>
          <a:prstGeom prst="roundRect">
            <a:avLst>
              <a:gd name="adj" fmla="val 25031"/>
            </a:avLst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7193" y="3784673"/>
            <a:ext cx="102868" cy="34205"/>
          </a:xfrm>
          <a:prstGeom prst="roundRect">
            <a:avLst>
              <a:gd name="adj" fmla="val 25031"/>
            </a:avLst>
          </a:prstGeom>
          <a:ln w="12177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0052" y="3744768"/>
            <a:ext cx="2744" cy="2744"/>
          </a:xfrm>
          <a:custGeom>
            <a:avLst/>
            <a:gdLst/>
            <a:ahLst/>
            <a:cxnLst/>
            <a:rect l="l" t="t" r="r" b="b"/>
            <a:pathLst>
              <a:path w="3658" h="3658">
                <a:moveTo>
                  <a:pt x="0" y="0"/>
                </a:moveTo>
                <a:lnTo>
                  <a:pt x="76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0052" y="3801775"/>
            <a:ext cx="2744" cy="2744"/>
          </a:xfrm>
          <a:custGeom>
            <a:avLst/>
            <a:gdLst/>
            <a:ahLst/>
            <a:cxnLst/>
            <a:rect l="l" t="t" r="r" b="b"/>
            <a:pathLst>
              <a:path w="3658" h="3658">
                <a:moveTo>
                  <a:pt x="0" y="0"/>
                </a:moveTo>
                <a:lnTo>
                  <a:pt x="76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8622" y="4466273"/>
            <a:ext cx="2744" cy="96912"/>
          </a:xfrm>
          <a:custGeom>
            <a:avLst/>
            <a:gdLst/>
            <a:ahLst/>
            <a:cxnLst/>
            <a:rect l="l" t="t" r="r" b="b"/>
            <a:pathLst>
              <a:path w="3658" h="129216">
                <a:moveTo>
                  <a:pt x="0" y="129216"/>
                </a:moveTo>
                <a:lnTo>
                  <a:pt x="0" y="0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8622" y="4466273"/>
            <a:ext cx="68579" cy="45606"/>
          </a:xfrm>
          <a:custGeom>
            <a:avLst/>
            <a:gdLst/>
            <a:ahLst/>
            <a:cxnLst/>
            <a:rect l="l" t="t" r="r" b="b"/>
            <a:pathLst>
              <a:path w="91438" h="60808">
                <a:moveTo>
                  <a:pt x="0" y="0"/>
                </a:moveTo>
                <a:lnTo>
                  <a:pt x="91438" y="0"/>
                </a:lnTo>
                <a:lnTo>
                  <a:pt x="76198" y="30404"/>
                </a:lnTo>
                <a:lnTo>
                  <a:pt x="91438" y="60808"/>
                </a:lnTo>
                <a:lnTo>
                  <a:pt x="0" y="60808"/>
                </a:lnTo>
              </a:path>
            </a:pathLst>
          </a:custGeom>
          <a:ln w="12177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01939" y="4627801"/>
            <a:ext cx="60006" cy="72137"/>
          </a:xfrm>
          <a:custGeom>
            <a:avLst/>
            <a:gdLst/>
            <a:ahLst/>
            <a:cxnLst/>
            <a:rect l="l" t="t" r="r" b="b"/>
            <a:pathLst>
              <a:path w="80008" h="96183">
                <a:moveTo>
                  <a:pt x="40004" y="0"/>
                </a:moveTo>
                <a:lnTo>
                  <a:pt x="80008" y="16031"/>
                </a:lnTo>
                <a:lnTo>
                  <a:pt x="80008" y="45420"/>
                </a:lnTo>
                <a:cubicBezTo>
                  <a:pt x="80008" y="69466"/>
                  <a:pt x="62940" y="88168"/>
                  <a:pt x="40004" y="96183"/>
                </a:cubicBezTo>
                <a:cubicBezTo>
                  <a:pt x="17068" y="88168"/>
                  <a:pt x="0" y="69466"/>
                  <a:pt x="0" y="45420"/>
                </a:cubicBezTo>
                <a:lnTo>
                  <a:pt x="0" y="16031"/>
                </a:lnTo>
                <a:close/>
              </a:path>
            </a:pathLst>
          </a:custGeom>
          <a:ln w="8542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1326" y="4623793"/>
            <a:ext cx="80008" cy="40076"/>
          </a:xfrm>
          <a:custGeom>
            <a:avLst/>
            <a:gdLst/>
            <a:ahLst/>
            <a:cxnLst/>
            <a:rect l="l" t="t" r="r" b="b"/>
            <a:pathLst>
              <a:path w="106677" h="53435">
                <a:moveTo>
                  <a:pt x="53339" y="0"/>
                </a:moveTo>
                <a:lnTo>
                  <a:pt x="0" y="26718"/>
                </a:lnTo>
                <a:lnTo>
                  <a:pt x="53339" y="53435"/>
                </a:lnTo>
                <a:lnTo>
                  <a:pt x="106677" y="26718"/>
                </a:lnTo>
                <a:lnTo>
                  <a:pt x="53339" y="0"/>
                </a:lnTo>
                <a:close/>
              </a:path>
            </a:pathLst>
          </a:custGeom>
          <a:ln w="8542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1326" y="4683907"/>
            <a:ext cx="80008" cy="20039"/>
          </a:xfrm>
          <a:custGeom>
            <a:avLst/>
            <a:gdLst/>
            <a:ahLst/>
            <a:cxnLst/>
            <a:rect l="l" t="t" r="r" b="b"/>
            <a:pathLst>
              <a:path w="106677" h="26718">
                <a:moveTo>
                  <a:pt x="0" y="0"/>
                </a:moveTo>
                <a:lnTo>
                  <a:pt x="53339" y="26718"/>
                </a:lnTo>
                <a:lnTo>
                  <a:pt x="106677" y="0"/>
                </a:lnTo>
              </a:path>
            </a:pathLst>
          </a:custGeom>
          <a:ln w="8542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1326" y="4663869"/>
            <a:ext cx="80008" cy="20039"/>
          </a:xfrm>
          <a:custGeom>
            <a:avLst/>
            <a:gdLst/>
            <a:ahLst/>
            <a:cxnLst/>
            <a:rect l="l" t="t" r="r" b="b"/>
            <a:pathLst>
              <a:path w="106677" h="26718">
                <a:moveTo>
                  <a:pt x="0" y="0"/>
                </a:moveTo>
                <a:lnTo>
                  <a:pt x="53339" y="26718"/>
                </a:lnTo>
                <a:lnTo>
                  <a:pt x="106677" y="0"/>
                </a:lnTo>
              </a:path>
            </a:pathLst>
          </a:custGeom>
          <a:ln w="8542">
            <a:solidFill>
              <a:srgbClr val="0D9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18715" y="4639823"/>
            <a:ext cx="64007" cy="44084"/>
          </a:xfrm>
          <a:custGeom>
            <a:avLst/>
            <a:gdLst/>
            <a:ahLst/>
            <a:cxnLst/>
            <a:rect l="l" t="t" r="r" b="b"/>
            <a:pathLst>
              <a:path w="85342" h="58779">
                <a:moveTo>
                  <a:pt x="85342" y="0"/>
                </a:moveTo>
                <a:lnTo>
                  <a:pt x="26669" y="58779"/>
                </a:lnTo>
                <a:lnTo>
                  <a:pt x="0" y="32061"/>
                </a:lnTo>
              </a:path>
            </a:pathLst>
          </a:custGeom>
          <a:ln w="8542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45302" y="167678"/>
            <a:ext cx="5403238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기능 교육이 아니라 데이터 문화,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Tableau 데이터 문화 교육</a:t>
            </a:r>
            <a:endParaRPr lang="en-US" sz="1710" dirty="0"/>
          </a:p>
        </p:txBody>
      </p:sp>
      <p:sp>
        <p:nvSpPr>
          <p:cNvPr id="59" name="Text 57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60" name="Text 58"/>
          <p:cNvSpPr txBox="1"/>
          <p:nvPr/>
        </p:nvSpPr>
        <p:spPr>
          <a:xfrm>
            <a:off x="297173" y="677913"/>
            <a:ext cx="7754833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단순 기능에 머문 교육으로는 조직이 바뀌지 않습니다. 개인의 운영 · 활용 능력을 높이고,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조직 안에 데이터 문화가 퍼지는 것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까지를 목표로</a:t>
            </a:r>
            <a:endParaRPr lang="en-US" sz="975" dirty="0"/>
          </a:p>
        </p:txBody>
      </p:sp>
      <p:sp>
        <p:nvSpPr>
          <p:cNvPr id="61" name="Text 59"/>
          <p:cNvSpPr txBox="1"/>
          <p:nvPr/>
        </p:nvSpPr>
        <p:spPr>
          <a:xfrm>
            <a:off x="297172" y="881596"/>
            <a:ext cx="1671665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다섯 개 프로그램을 운영합니다.</a:t>
            </a:r>
            <a:endParaRPr lang="en-US" sz="975" dirty="0"/>
          </a:p>
        </p:txBody>
      </p:sp>
      <p:sp>
        <p:nvSpPr>
          <p:cNvPr id="62" name="Text 60"/>
          <p:cNvSpPr txBox="1"/>
          <p:nvPr/>
        </p:nvSpPr>
        <p:spPr>
          <a:xfrm>
            <a:off x="5106797" y="1325480"/>
            <a:ext cx="130939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100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TABLEAU BLUEPRINT</a:t>
            </a:r>
            <a:endParaRPr lang="en-US" sz="720" dirty="0"/>
          </a:p>
        </p:txBody>
      </p:sp>
      <p:sp>
        <p:nvSpPr>
          <p:cNvPr id="63" name="Text 61"/>
          <p:cNvSpPr txBox="1"/>
          <p:nvPr/>
        </p:nvSpPr>
        <p:spPr>
          <a:xfrm>
            <a:off x="777221" y="1332682"/>
            <a:ext cx="1120115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기반 조직 체험</a:t>
            </a:r>
            <a:endParaRPr lang="en-US" sz="915" dirty="0"/>
          </a:p>
        </p:txBody>
      </p:sp>
      <p:sp>
        <p:nvSpPr>
          <p:cNvPr id="64" name="Text 62"/>
          <p:cNvSpPr txBox="1"/>
          <p:nvPr/>
        </p:nvSpPr>
        <p:spPr>
          <a:xfrm>
            <a:off x="7342449" y="1337825"/>
            <a:ext cx="1522804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Tableau 공식 데이터 문화 프레임워크 기준</a:t>
            </a:r>
            <a:endParaRPr lang="en-US" sz="645" dirty="0"/>
          </a:p>
        </p:txBody>
      </p:sp>
      <p:sp>
        <p:nvSpPr>
          <p:cNvPr id="65" name="Text 63"/>
          <p:cNvSpPr txBox="1"/>
          <p:nvPr/>
        </p:nvSpPr>
        <p:spPr>
          <a:xfrm>
            <a:off x="4028746" y="1501388"/>
            <a:ext cx="666584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전 임직원 · 리더</a:t>
            </a:r>
            <a:endParaRPr lang="en-US" sz="645" dirty="0"/>
          </a:p>
        </p:txBody>
      </p:sp>
      <p:sp>
        <p:nvSpPr>
          <p:cNvPr id="66" name="Text 64"/>
          <p:cNvSpPr txBox="1"/>
          <p:nvPr/>
        </p:nvSpPr>
        <p:spPr>
          <a:xfrm>
            <a:off x="777221" y="1497788"/>
            <a:ext cx="3303096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데이터로 결정하는 조직이 어떻게 일하는지 사례로 체험하고, 우리 조직의 출발점을</a:t>
            </a:r>
            <a:endParaRPr lang="en-US" sz="735" dirty="0"/>
          </a:p>
        </p:txBody>
      </p:sp>
      <p:sp>
        <p:nvSpPr>
          <p:cNvPr id="67" name="Text 65"/>
          <p:cNvSpPr txBox="1"/>
          <p:nvPr/>
        </p:nvSpPr>
        <p:spPr>
          <a:xfrm>
            <a:off x="5198235" y="1558481"/>
            <a:ext cx="218764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FFFFF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Trusted &amp; Governed - 신뢰할 수 있는 데이터 위에서</a:t>
            </a:r>
            <a:endParaRPr lang="en-US" sz="735" dirty="0"/>
          </a:p>
        </p:txBody>
      </p:sp>
      <p:sp>
        <p:nvSpPr>
          <p:cNvPr id="68" name="Text 66"/>
          <p:cNvSpPr txBox="1"/>
          <p:nvPr/>
        </p:nvSpPr>
        <p:spPr>
          <a:xfrm>
            <a:off x="7800551" y="1558481"/>
            <a:ext cx="97198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Analytics Strategy</a:t>
            </a:r>
            <a:endParaRPr lang="en-US" sz="735" dirty="0"/>
          </a:p>
        </p:txBody>
      </p:sp>
      <p:sp>
        <p:nvSpPr>
          <p:cNvPr id="69" name="Text 67"/>
          <p:cNvSpPr txBox="1"/>
          <p:nvPr/>
        </p:nvSpPr>
        <p:spPr>
          <a:xfrm>
            <a:off x="777221" y="1633576"/>
            <a:ext cx="546801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진단합니다</a:t>
            </a:r>
            <a:endParaRPr lang="en-US" sz="735" dirty="0"/>
          </a:p>
        </p:txBody>
      </p:sp>
      <p:sp>
        <p:nvSpPr>
          <p:cNvPr id="70" name="Text 68"/>
          <p:cNvSpPr txBox="1"/>
          <p:nvPr/>
        </p:nvSpPr>
        <p:spPr>
          <a:xfrm>
            <a:off x="5198235" y="1880464"/>
            <a:ext cx="497425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kern="0" spc="49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AGILITY</a:t>
            </a:r>
            <a:endParaRPr lang="en-US" sz="615" dirty="0"/>
          </a:p>
        </p:txBody>
      </p:sp>
      <p:sp>
        <p:nvSpPr>
          <p:cNvPr id="71" name="Text 69"/>
          <p:cNvSpPr txBox="1"/>
          <p:nvPr/>
        </p:nvSpPr>
        <p:spPr>
          <a:xfrm>
            <a:off x="6428071" y="1880464"/>
            <a:ext cx="738821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kern="0" spc="49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PROFICIENCY</a:t>
            </a:r>
            <a:endParaRPr lang="en-US" sz="615" dirty="0"/>
          </a:p>
        </p:txBody>
      </p:sp>
      <p:sp>
        <p:nvSpPr>
          <p:cNvPr id="72" name="Text 70"/>
          <p:cNvSpPr txBox="1"/>
          <p:nvPr/>
        </p:nvSpPr>
        <p:spPr>
          <a:xfrm>
            <a:off x="7656995" y="1880464"/>
            <a:ext cx="705902" cy="1090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15" kern="0" spc="49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COMMUNITY</a:t>
            </a:r>
            <a:endParaRPr lang="en-US" sz="615" dirty="0"/>
          </a:p>
        </p:txBody>
      </p:sp>
      <p:sp>
        <p:nvSpPr>
          <p:cNvPr id="73" name="Text 71"/>
          <p:cNvSpPr txBox="1"/>
          <p:nvPr/>
        </p:nvSpPr>
        <p:spPr>
          <a:xfrm>
            <a:off x="5198235" y="1985391"/>
            <a:ext cx="430675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민첩성</a:t>
            </a:r>
            <a:endParaRPr lang="en-US" sz="885" dirty="0"/>
          </a:p>
        </p:txBody>
      </p:sp>
      <p:sp>
        <p:nvSpPr>
          <p:cNvPr id="74" name="Text 72"/>
          <p:cNvSpPr txBox="1"/>
          <p:nvPr/>
        </p:nvSpPr>
        <p:spPr>
          <a:xfrm>
            <a:off x="6428072" y="1985391"/>
            <a:ext cx="430675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숙련도</a:t>
            </a:r>
            <a:endParaRPr lang="en-US" sz="885" dirty="0"/>
          </a:p>
        </p:txBody>
      </p:sp>
      <p:sp>
        <p:nvSpPr>
          <p:cNvPr id="75" name="Text 73"/>
          <p:cNvSpPr txBox="1"/>
          <p:nvPr/>
        </p:nvSpPr>
        <p:spPr>
          <a:xfrm>
            <a:off x="7656995" y="1985391"/>
            <a:ext cx="528514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커뮤니티</a:t>
            </a:r>
            <a:endParaRPr lang="en-US" sz="885" dirty="0"/>
          </a:p>
        </p:txBody>
      </p:sp>
      <p:sp>
        <p:nvSpPr>
          <p:cNvPr id="76" name="Text 74"/>
          <p:cNvSpPr txBox="1"/>
          <p:nvPr/>
        </p:nvSpPr>
        <p:spPr>
          <a:xfrm>
            <a:off x="777221" y="2139182"/>
            <a:ext cx="1120115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준비의 모든 것</a:t>
            </a:r>
            <a:endParaRPr lang="en-US" sz="915" dirty="0"/>
          </a:p>
        </p:txBody>
      </p:sp>
      <p:sp>
        <p:nvSpPr>
          <p:cNvPr id="77" name="Text 75"/>
          <p:cNvSpPr txBox="1"/>
          <p:nvPr/>
        </p:nvSpPr>
        <p:spPr>
          <a:xfrm>
            <a:off x="5266812" y="2169528"/>
            <a:ext cx="84488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Deployment - 배포</a:t>
            </a:r>
            <a:endParaRPr lang="en-US" sz="705" dirty="0"/>
          </a:p>
        </p:txBody>
      </p:sp>
      <p:sp>
        <p:nvSpPr>
          <p:cNvPr id="78" name="Text 76"/>
          <p:cNvSpPr txBox="1"/>
          <p:nvPr/>
        </p:nvSpPr>
        <p:spPr>
          <a:xfrm>
            <a:off x="6495735" y="2169528"/>
            <a:ext cx="76990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Education - 교육</a:t>
            </a:r>
            <a:endParaRPr lang="en-US" sz="705" dirty="0"/>
          </a:p>
        </p:txBody>
      </p:sp>
      <p:sp>
        <p:nvSpPr>
          <p:cNvPr id="79" name="Text 77"/>
          <p:cNvSpPr txBox="1"/>
          <p:nvPr/>
        </p:nvSpPr>
        <p:spPr>
          <a:xfrm>
            <a:off x="7725573" y="2169528"/>
            <a:ext cx="1027763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Communications - 소통</a:t>
            </a:r>
            <a:endParaRPr lang="en-US" sz="705" dirty="0"/>
          </a:p>
        </p:txBody>
      </p:sp>
      <p:sp>
        <p:nvSpPr>
          <p:cNvPr id="80" name="Text 78"/>
          <p:cNvSpPr txBox="1"/>
          <p:nvPr/>
        </p:nvSpPr>
        <p:spPr>
          <a:xfrm>
            <a:off x="4108297" y="2239480"/>
            <a:ext cx="587033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담당자</a:t>
            </a:r>
            <a:endParaRPr lang="en-US" sz="645" dirty="0"/>
          </a:p>
        </p:txBody>
      </p:sp>
      <p:sp>
        <p:nvSpPr>
          <p:cNvPr id="81" name="Text 79"/>
          <p:cNvSpPr txBox="1"/>
          <p:nvPr/>
        </p:nvSpPr>
        <p:spPr>
          <a:xfrm>
            <a:off x="777220" y="2304289"/>
            <a:ext cx="3312149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연결 · 정제 · 결합 · 추출 - 분석 전에 데이터를 쓸 수 있는 상태로 만드는 과정 전체</a:t>
            </a:r>
            <a:endParaRPr lang="en-US" sz="735" dirty="0"/>
          </a:p>
        </p:txBody>
      </p:sp>
      <p:sp>
        <p:nvSpPr>
          <p:cNvPr id="82" name="Text 80"/>
          <p:cNvSpPr txBox="1"/>
          <p:nvPr/>
        </p:nvSpPr>
        <p:spPr>
          <a:xfrm>
            <a:off x="5266812" y="2334120"/>
            <a:ext cx="95461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Monitoring - 모니터링</a:t>
            </a:r>
            <a:endParaRPr lang="en-US" sz="705" dirty="0"/>
          </a:p>
        </p:txBody>
      </p:sp>
      <p:sp>
        <p:nvSpPr>
          <p:cNvPr id="83" name="Text 81"/>
          <p:cNvSpPr txBox="1"/>
          <p:nvPr/>
        </p:nvSpPr>
        <p:spPr>
          <a:xfrm>
            <a:off x="6495735" y="2334120"/>
            <a:ext cx="91620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Measurement - 측정</a:t>
            </a:r>
            <a:endParaRPr lang="en-US" sz="705" dirty="0"/>
          </a:p>
        </p:txBody>
      </p:sp>
      <p:sp>
        <p:nvSpPr>
          <p:cNvPr id="84" name="Text 82"/>
          <p:cNvSpPr txBox="1"/>
          <p:nvPr/>
        </p:nvSpPr>
        <p:spPr>
          <a:xfrm>
            <a:off x="7725573" y="2334120"/>
            <a:ext cx="873233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Engagement - 참여</a:t>
            </a:r>
            <a:endParaRPr lang="en-US" sz="705" dirty="0"/>
          </a:p>
        </p:txBody>
      </p:sp>
      <p:sp>
        <p:nvSpPr>
          <p:cNvPr id="85" name="Text 83"/>
          <p:cNvSpPr txBox="1"/>
          <p:nvPr/>
        </p:nvSpPr>
        <p:spPr>
          <a:xfrm>
            <a:off x="5266812" y="2499227"/>
            <a:ext cx="881463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Maintenance - 유지</a:t>
            </a:r>
            <a:endParaRPr lang="en-US" sz="705" dirty="0"/>
          </a:p>
        </p:txBody>
      </p:sp>
      <p:sp>
        <p:nvSpPr>
          <p:cNvPr id="86" name="Text 84"/>
          <p:cNvSpPr txBox="1"/>
          <p:nvPr/>
        </p:nvSpPr>
        <p:spPr>
          <a:xfrm>
            <a:off x="6495735" y="2499227"/>
            <a:ext cx="69675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Analytics Best</a:t>
            </a:r>
            <a:endParaRPr lang="en-US" sz="705" dirty="0"/>
          </a:p>
        </p:txBody>
      </p:sp>
      <p:sp>
        <p:nvSpPr>
          <p:cNvPr id="87" name="Text 85"/>
          <p:cNvSpPr txBox="1"/>
          <p:nvPr/>
        </p:nvSpPr>
        <p:spPr>
          <a:xfrm>
            <a:off x="7725573" y="2499227"/>
            <a:ext cx="69950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Support - 지원</a:t>
            </a:r>
            <a:endParaRPr lang="en-US" sz="705" dirty="0"/>
          </a:p>
        </p:txBody>
      </p:sp>
      <p:sp>
        <p:nvSpPr>
          <p:cNvPr id="88" name="Text 86"/>
          <p:cNvSpPr txBox="1"/>
          <p:nvPr/>
        </p:nvSpPr>
        <p:spPr>
          <a:xfrm>
            <a:off x="6495736" y="2623700"/>
            <a:ext cx="490109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Practices</a:t>
            </a:r>
            <a:endParaRPr lang="en-US" sz="705" dirty="0"/>
          </a:p>
        </p:txBody>
      </p:sp>
      <p:sp>
        <p:nvSpPr>
          <p:cNvPr id="89" name="Text 87"/>
          <p:cNvSpPr txBox="1"/>
          <p:nvPr/>
        </p:nvSpPr>
        <p:spPr>
          <a:xfrm>
            <a:off x="777221" y="2877274"/>
            <a:ext cx="120423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기초 · 중급 데이터 분석</a:t>
            </a:r>
            <a:endParaRPr lang="en-US" sz="915" dirty="0"/>
          </a:p>
        </p:txBody>
      </p:sp>
      <p:sp>
        <p:nvSpPr>
          <p:cNvPr id="90" name="Text 88"/>
          <p:cNvSpPr txBox="1"/>
          <p:nvPr/>
        </p:nvSpPr>
        <p:spPr>
          <a:xfrm>
            <a:off x="4180532" y="2977573"/>
            <a:ext cx="515712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현업 분석가</a:t>
            </a:r>
            <a:endParaRPr lang="en-US" sz="645" dirty="0"/>
          </a:p>
        </p:txBody>
      </p:sp>
      <p:sp>
        <p:nvSpPr>
          <p:cNvPr id="91" name="Text 89"/>
          <p:cNvSpPr txBox="1"/>
          <p:nvPr/>
        </p:nvSpPr>
        <p:spPr>
          <a:xfrm>
            <a:off x="777221" y="3042381"/>
            <a:ext cx="3233695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시각화 문법부터 계산 필드 · LOD · 대시보드 설계까지, 실제 업무 데이터로 실습</a:t>
            </a:r>
            <a:endParaRPr lang="en-US" sz="735" dirty="0"/>
          </a:p>
        </p:txBody>
      </p:sp>
      <p:sp>
        <p:nvSpPr>
          <p:cNvPr id="92" name="Text 90"/>
          <p:cNvSpPr txBox="1"/>
          <p:nvPr/>
        </p:nvSpPr>
        <p:spPr>
          <a:xfrm>
            <a:off x="777220" y="3547473"/>
            <a:ext cx="2153450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Tableau Server Admin · Architecture</a:t>
            </a:r>
            <a:endParaRPr lang="en-US" sz="915" dirty="0"/>
          </a:p>
        </p:txBody>
      </p:sp>
      <p:sp>
        <p:nvSpPr>
          <p:cNvPr id="93" name="Text 91"/>
          <p:cNvSpPr txBox="1"/>
          <p:nvPr/>
        </p:nvSpPr>
        <p:spPr>
          <a:xfrm>
            <a:off x="4180532" y="3716179"/>
            <a:ext cx="515712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서버 운영자</a:t>
            </a:r>
            <a:endParaRPr lang="en-US" sz="645" dirty="0"/>
          </a:p>
        </p:txBody>
      </p:sp>
      <p:sp>
        <p:nvSpPr>
          <p:cNvPr id="94" name="Text 92"/>
          <p:cNvSpPr txBox="1"/>
          <p:nvPr/>
        </p:nvSpPr>
        <p:spPr>
          <a:xfrm>
            <a:off x="777221" y="3712579"/>
            <a:ext cx="3511300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사이트 · 권한 · 스케줄 · 성능 운영과 확장 아키텍처 - 운영자가 스스로 관리하는 수준까</a:t>
            </a:r>
            <a:endParaRPr lang="en-US" sz="735" dirty="0"/>
          </a:p>
        </p:txBody>
      </p:sp>
      <p:sp>
        <p:nvSpPr>
          <p:cNvPr id="95" name="Text 93"/>
          <p:cNvSpPr txBox="1"/>
          <p:nvPr/>
        </p:nvSpPr>
        <p:spPr>
          <a:xfrm>
            <a:off x="777221" y="3848368"/>
            <a:ext cx="219454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</a:t>
            </a:r>
            <a:endParaRPr lang="en-US" sz="735" dirty="0"/>
          </a:p>
        </p:txBody>
      </p:sp>
      <p:sp>
        <p:nvSpPr>
          <p:cNvPr id="96" name="Text 94"/>
          <p:cNvSpPr txBox="1"/>
          <p:nvPr/>
        </p:nvSpPr>
        <p:spPr>
          <a:xfrm>
            <a:off x="777221" y="4285565"/>
            <a:ext cx="1321279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문화 확산 프로그램</a:t>
            </a:r>
            <a:endParaRPr lang="en-US" sz="915" dirty="0"/>
          </a:p>
        </p:txBody>
      </p:sp>
      <p:sp>
        <p:nvSpPr>
          <p:cNvPr id="97" name="Text 95"/>
          <p:cNvSpPr txBox="1"/>
          <p:nvPr/>
        </p:nvSpPr>
        <p:spPr>
          <a:xfrm>
            <a:off x="4047947" y="4454272"/>
            <a:ext cx="648297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챔피언 · 관리자</a:t>
            </a:r>
            <a:endParaRPr lang="en-US" sz="645" dirty="0"/>
          </a:p>
        </p:txBody>
      </p:sp>
      <p:sp>
        <p:nvSpPr>
          <p:cNvPr id="98" name="Text 96"/>
          <p:cNvSpPr txBox="1"/>
          <p:nvPr/>
        </p:nvSpPr>
        <p:spPr>
          <a:xfrm>
            <a:off x="777221" y="4450671"/>
            <a:ext cx="3378532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챔피언 육성, 표준 템플릿과 가이드, 정기 커뮤니티로 교육 이후에도 활용이 이어</a:t>
            </a:r>
            <a:endParaRPr lang="en-US" sz="735" dirty="0"/>
          </a:p>
        </p:txBody>
      </p:sp>
      <p:sp>
        <p:nvSpPr>
          <p:cNvPr id="99" name="Text 97"/>
          <p:cNvSpPr txBox="1"/>
          <p:nvPr/>
        </p:nvSpPr>
        <p:spPr>
          <a:xfrm>
            <a:off x="5243039" y="4536567"/>
            <a:ext cx="97290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공식 자격</a:t>
            </a:r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전문가의 1:1</a:t>
            </a:r>
            <a:endParaRPr lang="en-US" sz="758" dirty="0"/>
          </a:p>
        </p:txBody>
      </p:sp>
      <p:sp>
        <p:nvSpPr>
          <p:cNvPr id="100" name="Text 98"/>
          <p:cNvSpPr txBox="1"/>
          <p:nvPr/>
        </p:nvSpPr>
        <p:spPr>
          <a:xfrm>
            <a:off x="6552427" y="4536567"/>
            <a:ext cx="92078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표준 템플릿</a:t>
            </a:r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가이드</a:t>
            </a:r>
            <a:endParaRPr lang="en-US" sz="758" dirty="0"/>
          </a:p>
        </p:txBody>
      </p:sp>
      <p:sp>
        <p:nvSpPr>
          <p:cNvPr id="101" name="Text 99"/>
          <p:cNvSpPr txBox="1"/>
          <p:nvPr/>
        </p:nvSpPr>
        <p:spPr>
          <a:xfrm>
            <a:off x="7861815" y="4536567"/>
            <a:ext cx="946384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TA 레퍼런스</a:t>
            </a:r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SK하이</a:t>
            </a:r>
            <a:endParaRPr lang="en-US" sz="758" dirty="0"/>
          </a:p>
        </p:txBody>
      </p:sp>
      <p:sp>
        <p:nvSpPr>
          <p:cNvPr id="102" name="Text 100"/>
          <p:cNvSpPr txBox="1"/>
          <p:nvPr/>
        </p:nvSpPr>
        <p:spPr>
          <a:xfrm>
            <a:off x="777221" y="4586460"/>
            <a:ext cx="300833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지게</a:t>
            </a:r>
            <a:endParaRPr lang="en-US" sz="735" dirty="0"/>
          </a:p>
        </p:txBody>
      </p:sp>
      <p:sp>
        <p:nvSpPr>
          <p:cNvPr id="103" name="Text 101"/>
          <p:cNvSpPr txBox="1"/>
          <p:nvPr/>
        </p:nvSpPr>
        <p:spPr>
          <a:xfrm>
            <a:off x="5243039" y="4656410"/>
            <a:ext cx="30449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지원</a:t>
            </a:r>
            <a:endParaRPr lang="en-US" sz="758" dirty="0"/>
          </a:p>
        </p:txBody>
      </p:sp>
      <p:sp>
        <p:nvSpPr>
          <p:cNvPr id="104" name="Text 102"/>
          <p:cNvSpPr txBox="1"/>
          <p:nvPr/>
        </p:nvSpPr>
        <p:spPr>
          <a:xfrm>
            <a:off x="6552427" y="4656410"/>
            <a:ext cx="30449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제공</a:t>
            </a:r>
            <a:endParaRPr lang="en-US" sz="758" dirty="0"/>
          </a:p>
        </p:txBody>
      </p:sp>
      <p:sp>
        <p:nvSpPr>
          <p:cNvPr id="105" name="Text 103"/>
          <p:cNvSpPr txBox="1"/>
          <p:nvPr/>
        </p:nvSpPr>
        <p:spPr>
          <a:xfrm>
            <a:off x="7861816" y="4656410"/>
            <a:ext cx="733334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닉스 · 한화생명</a:t>
            </a:r>
            <a:endParaRPr lang="en-US" sz="758" dirty="0"/>
          </a:p>
        </p:txBody>
      </p:sp>
      <p:sp>
        <p:nvSpPr>
          <p:cNvPr id="106" name="Text 104"/>
          <p:cNvSpPr txBox="1"/>
          <p:nvPr/>
        </p:nvSpPr>
        <p:spPr>
          <a:xfrm>
            <a:off x="4451188" y="4923873"/>
            <a:ext cx="3794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- 23 -</a:t>
            </a:r>
            <a:endParaRPr lang="en-US" sz="705" dirty="0"/>
          </a:p>
        </p:txBody>
      </p:sp>
      <p:sp>
        <p:nvSpPr>
          <p:cNvPr id="107" name="Text 105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3" y="2518772"/>
            <a:ext cx="3660252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97173" y="3070669"/>
            <a:ext cx="3660252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97173" y="3486264"/>
            <a:ext cx="3660252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97173" y="3901859"/>
            <a:ext cx="3660252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97173" y="4600861"/>
            <a:ext cx="3660252" cy="245345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254597" y="679971"/>
            <a:ext cx="4592002" cy="2359838"/>
          </a:xfrm>
          <a:prstGeom prst="roundRect">
            <a:avLst>
              <a:gd name="adj" fmla="val 4359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260083" y="685628"/>
            <a:ext cx="4580115" cy="2057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51522" y="757124"/>
            <a:ext cx="63092" cy="62751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54846" y="757124"/>
            <a:ext cx="63092" cy="62751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57256" y="757124"/>
            <a:ext cx="63092" cy="62751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254597" y="3142679"/>
            <a:ext cx="1096338" cy="388334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19514" y="3142679"/>
            <a:ext cx="1096338" cy="388334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85344" y="3142679"/>
            <a:ext cx="1096338" cy="388334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50261" y="3142679"/>
            <a:ext cx="1096338" cy="388334"/>
          </a:xfrm>
          <a:prstGeom prst="roundRect">
            <a:avLst>
              <a:gd name="adj" fmla="val 1765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254597" y="3633883"/>
            <a:ext cx="4592002" cy="251517"/>
          </a:xfrm>
          <a:prstGeom prst="roundRect">
            <a:avLst>
              <a:gd name="adj" fmla="val 27266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90338" y="3702291"/>
            <a:ext cx="686" cy="114186"/>
          </a:xfrm>
          <a:prstGeom prst="line">
            <a:avLst/>
          </a:prstGeom>
          <a:noFill/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713553" y="962414"/>
            <a:ext cx="146681" cy="146718"/>
          </a:xfrm>
          <a:custGeom>
            <a:avLst/>
            <a:gdLst/>
            <a:ahLst/>
            <a:cxnLst/>
            <a:rect l="l" t="t" r="r" b="b"/>
            <a:pathLst>
              <a:path w="195575" h="195624">
                <a:moveTo>
                  <a:pt x="97788" y="0"/>
                </a:moveTo>
                <a:lnTo>
                  <a:pt x="124330" y="71263"/>
                </a:lnTo>
                <a:lnTo>
                  <a:pt x="195575" y="97812"/>
                </a:lnTo>
                <a:lnTo>
                  <a:pt x="124330" y="124361"/>
                </a:lnTo>
                <a:lnTo>
                  <a:pt x="97788" y="195624"/>
                </a:lnTo>
                <a:lnTo>
                  <a:pt x="71245" y="124361"/>
                </a:lnTo>
                <a:lnTo>
                  <a:pt x="0" y="97812"/>
                </a:lnTo>
                <a:lnTo>
                  <a:pt x="71245" y="71263"/>
                </a:lnTo>
                <a:close/>
              </a:path>
            </a:pathLst>
          </a:custGeom>
          <a:ln w="22354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828802" y="1098652"/>
            <a:ext cx="62864" cy="62879"/>
          </a:xfrm>
          <a:custGeom>
            <a:avLst/>
            <a:gdLst/>
            <a:ahLst/>
            <a:cxnLst/>
            <a:rect l="l" t="t" r="r" b="b"/>
            <a:pathLst>
              <a:path w="83818" h="83839">
                <a:moveTo>
                  <a:pt x="41909" y="0"/>
                </a:moveTo>
                <a:lnTo>
                  <a:pt x="53085" y="30741"/>
                </a:lnTo>
                <a:lnTo>
                  <a:pt x="83818" y="41920"/>
                </a:lnTo>
                <a:lnTo>
                  <a:pt x="53085" y="53098"/>
                </a:lnTo>
                <a:lnTo>
                  <a:pt x="41909" y="83839"/>
                </a:lnTo>
                <a:lnTo>
                  <a:pt x="30733" y="53098"/>
                </a:lnTo>
                <a:lnTo>
                  <a:pt x="0" y="41920"/>
                </a:lnTo>
                <a:lnTo>
                  <a:pt x="30733" y="30741"/>
                </a:lnTo>
                <a:close/>
              </a:path>
            </a:pathLst>
          </a:custGeom>
          <a:ln w="22354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21162" y="1268001"/>
            <a:ext cx="80008" cy="79810"/>
          </a:xfrm>
          <a:custGeom>
            <a:avLst/>
            <a:gdLst/>
            <a:ahLst/>
            <a:cxnLst/>
            <a:rect l="l" t="t" r="r" b="b"/>
            <a:pathLst>
              <a:path w="106677" h="106413">
                <a:moveTo>
                  <a:pt x="53339" y="0"/>
                </a:moveTo>
                <a:lnTo>
                  <a:pt x="67816" y="38765"/>
                </a:lnTo>
                <a:lnTo>
                  <a:pt x="106677" y="53207"/>
                </a:lnTo>
                <a:lnTo>
                  <a:pt x="67816" y="67648"/>
                </a:lnTo>
                <a:lnTo>
                  <a:pt x="53339" y="106413"/>
                </a:lnTo>
                <a:lnTo>
                  <a:pt x="38861" y="67648"/>
                </a:lnTo>
                <a:lnTo>
                  <a:pt x="0" y="53207"/>
                </a:lnTo>
                <a:lnTo>
                  <a:pt x="38861" y="38765"/>
                </a:lnTo>
                <a:close/>
              </a:path>
            </a:pathLst>
          </a:custGeom>
          <a:ln w="12177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684026" y="1342111"/>
            <a:ext cx="34289" cy="34205"/>
          </a:xfrm>
          <a:custGeom>
            <a:avLst/>
            <a:gdLst/>
            <a:ahLst/>
            <a:cxnLst/>
            <a:rect l="l" t="t" r="r" b="b"/>
            <a:pathLst>
              <a:path w="45719" h="45606">
                <a:moveTo>
                  <a:pt x="22859" y="0"/>
                </a:moveTo>
                <a:lnTo>
                  <a:pt x="28955" y="16722"/>
                </a:lnTo>
                <a:lnTo>
                  <a:pt x="45719" y="22803"/>
                </a:lnTo>
                <a:lnTo>
                  <a:pt x="28955" y="28884"/>
                </a:lnTo>
                <a:lnTo>
                  <a:pt x="22859" y="45606"/>
                </a:lnTo>
                <a:lnTo>
                  <a:pt x="16764" y="28884"/>
                </a:lnTo>
                <a:lnTo>
                  <a:pt x="0" y="22803"/>
                </a:lnTo>
                <a:lnTo>
                  <a:pt x="16764" y="16722"/>
                </a:lnTo>
                <a:close/>
              </a:path>
            </a:pathLst>
          </a:custGeom>
          <a:ln w="12177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7339" y="4686693"/>
            <a:ext cx="57072" cy="57308"/>
          </a:xfrm>
          <a:custGeom>
            <a:avLst/>
            <a:gdLst/>
            <a:ahLst/>
            <a:cxnLst/>
            <a:rect l="l" t="t" r="r" b="b"/>
            <a:pathLst>
              <a:path w="76096" h="76410">
                <a:moveTo>
                  <a:pt x="38048" y="0"/>
                </a:moveTo>
                <a:lnTo>
                  <a:pt x="48376" y="27835"/>
                </a:lnTo>
                <a:lnTo>
                  <a:pt x="76096" y="38205"/>
                </a:lnTo>
                <a:lnTo>
                  <a:pt x="48376" y="48575"/>
                </a:lnTo>
                <a:lnTo>
                  <a:pt x="38048" y="76410"/>
                </a:lnTo>
                <a:lnTo>
                  <a:pt x="27721" y="48575"/>
                </a:lnTo>
                <a:lnTo>
                  <a:pt x="0" y="38205"/>
                </a:lnTo>
                <a:lnTo>
                  <a:pt x="27721" y="27835"/>
                </a:lnTo>
                <a:close/>
              </a:path>
            </a:pathLst>
          </a:custGeom>
          <a:ln w="871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2182" y="4739908"/>
            <a:ext cx="24460" cy="24560"/>
          </a:xfrm>
          <a:custGeom>
            <a:avLst/>
            <a:gdLst/>
            <a:ahLst/>
            <a:cxnLst/>
            <a:rect l="l" t="t" r="r" b="b"/>
            <a:pathLst>
              <a:path w="32613" h="32747">
                <a:moveTo>
                  <a:pt x="16306" y="0"/>
                </a:moveTo>
                <a:lnTo>
                  <a:pt x="20655" y="12007"/>
                </a:lnTo>
                <a:lnTo>
                  <a:pt x="32613" y="16373"/>
                </a:lnTo>
                <a:lnTo>
                  <a:pt x="20655" y="20740"/>
                </a:lnTo>
                <a:lnTo>
                  <a:pt x="16306" y="32747"/>
                </a:lnTo>
                <a:lnTo>
                  <a:pt x="11958" y="20740"/>
                </a:lnTo>
                <a:lnTo>
                  <a:pt x="0" y="16373"/>
                </a:lnTo>
                <a:lnTo>
                  <a:pt x="11958" y="12007"/>
                </a:lnTo>
                <a:close/>
              </a:path>
            </a:pathLst>
          </a:custGeom>
          <a:ln w="8715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83" y="890855"/>
            <a:ext cx="4580115" cy="214278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380552" y="3725051"/>
            <a:ext cx="57149" cy="68666"/>
          </a:xfrm>
          <a:custGeom>
            <a:avLst/>
            <a:gdLst/>
            <a:ahLst/>
            <a:cxnLst/>
            <a:rect l="l" t="t" r="r" b="b"/>
            <a:pathLst>
              <a:path w="76198" h="91554">
                <a:moveTo>
                  <a:pt x="38099" y="0"/>
                </a:moveTo>
                <a:lnTo>
                  <a:pt x="76198" y="15259"/>
                </a:lnTo>
                <a:lnTo>
                  <a:pt x="76198" y="43234"/>
                </a:lnTo>
                <a:cubicBezTo>
                  <a:pt x="76198" y="66123"/>
                  <a:pt x="59943" y="83925"/>
                  <a:pt x="38099" y="91554"/>
                </a:cubicBezTo>
                <a:cubicBezTo>
                  <a:pt x="16256" y="83925"/>
                  <a:pt x="0" y="66123"/>
                  <a:pt x="0" y="43234"/>
                </a:cubicBezTo>
                <a:lnTo>
                  <a:pt x="0" y="15259"/>
                </a:lnTo>
                <a:close/>
              </a:path>
            </a:pathLst>
          </a:custGeom>
          <a:ln w="8133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5219874" y="3736495"/>
            <a:ext cx="60959" cy="41963"/>
          </a:xfrm>
          <a:custGeom>
            <a:avLst/>
            <a:gdLst/>
            <a:ahLst/>
            <a:cxnLst/>
            <a:rect l="l" t="t" r="r" b="b"/>
            <a:pathLst>
              <a:path w="81278" h="55950">
                <a:moveTo>
                  <a:pt x="81278" y="0"/>
                </a:moveTo>
                <a:lnTo>
                  <a:pt x="25399" y="55950"/>
                </a:lnTo>
                <a:lnTo>
                  <a:pt x="0" y="30518"/>
                </a:lnTo>
              </a:path>
            </a:pathLst>
          </a:custGeom>
          <a:ln w="8133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6406735" y="3736495"/>
            <a:ext cx="60959" cy="41963"/>
          </a:xfrm>
          <a:custGeom>
            <a:avLst/>
            <a:gdLst/>
            <a:ahLst/>
            <a:cxnLst/>
            <a:rect l="l" t="t" r="r" b="b"/>
            <a:pathLst>
              <a:path w="81278" h="55950">
                <a:moveTo>
                  <a:pt x="81278" y="0"/>
                </a:moveTo>
                <a:lnTo>
                  <a:pt x="25399" y="55950"/>
                </a:lnTo>
                <a:lnTo>
                  <a:pt x="0" y="30518"/>
                </a:lnTo>
              </a:path>
            </a:pathLst>
          </a:custGeom>
          <a:ln w="8133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7614628" y="3736495"/>
            <a:ext cx="60959" cy="41963"/>
          </a:xfrm>
          <a:custGeom>
            <a:avLst/>
            <a:gdLst/>
            <a:ahLst/>
            <a:cxnLst/>
            <a:rect l="l" t="t" r="r" b="b"/>
            <a:pathLst>
              <a:path w="81278" h="55950">
                <a:moveTo>
                  <a:pt x="81278" y="0"/>
                </a:moveTo>
                <a:lnTo>
                  <a:pt x="25399" y="55950"/>
                </a:lnTo>
                <a:lnTo>
                  <a:pt x="0" y="30518"/>
                </a:lnTo>
              </a:path>
            </a:pathLst>
          </a:custGeom>
          <a:ln w="8133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445302" y="167678"/>
            <a:ext cx="3270910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연말정산 프로그램,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bibidi 연말정산</a:t>
            </a:r>
            <a:endParaRPr lang="en-US" sz="1710" dirty="0"/>
          </a:p>
        </p:txBody>
      </p:sp>
      <p:sp>
        <p:nvSpPr>
          <p:cNvPr id="32" name="Text 29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33" name="Text 30"/>
          <p:cNvSpPr txBox="1"/>
          <p:nvPr/>
        </p:nvSpPr>
        <p:spPr>
          <a:xfrm>
            <a:off x="297172" y="672770"/>
            <a:ext cx="2738834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10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더홍시 × 세일링스톤 합작법인 · bibidi(비비디바비디부)</a:t>
            </a:r>
            <a:endParaRPr lang="en-US" sz="720" dirty="0"/>
          </a:p>
        </p:txBody>
      </p:sp>
      <p:sp>
        <p:nvSpPr>
          <p:cNvPr id="34" name="Text 31"/>
          <p:cNvSpPr txBox="1"/>
          <p:nvPr/>
        </p:nvSpPr>
        <p:spPr>
          <a:xfrm>
            <a:off x="4717272" y="730892"/>
            <a:ext cx="1852711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kern="0" spc="26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bibidi 연말정산 · 국세청 자료 입력 (예시 데이터)</a:t>
            </a:r>
            <a:endParaRPr lang="en-US" sz="645" dirty="0"/>
          </a:p>
        </p:txBody>
      </p:sp>
      <p:sp>
        <p:nvSpPr>
          <p:cNvPr id="35" name="Text 32"/>
          <p:cNvSpPr txBox="1"/>
          <p:nvPr/>
        </p:nvSpPr>
        <p:spPr>
          <a:xfrm>
            <a:off x="297173" y="885711"/>
            <a:ext cx="1431918" cy="4402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790" kern="0" spc="-84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연말정산,</a:t>
            </a:r>
            <a:endParaRPr lang="en-US" sz="2790" dirty="0"/>
          </a:p>
        </p:txBody>
      </p:sp>
      <p:sp>
        <p:nvSpPr>
          <p:cNvPr id="36" name="Text 33"/>
          <p:cNvSpPr txBox="1"/>
          <p:nvPr/>
        </p:nvSpPr>
        <p:spPr>
          <a:xfrm>
            <a:off x="297173" y="1282275"/>
            <a:ext cx="1822537" cy="4402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790" kern="0" spc="-84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마법처럼 끝.</a:t>
            </a:r>
            <a:endParaRPr lang="en-US" sz="2790" dirty="0"/>
          </a:p>
        </p:txBody>
      </p:sp>
      <p:sp>
        <p:nvSpPr>
          <p:cNvPr id="37" name="Text 34"/>
          <p:cNvSpPr txBox="1"/>
          <p:nvPr/>
        </p:nvSpPr>
        <p:spPr>
          <a:xfrm>
            <a:off x="297172" y="1816170"/>
            <a:ext cx="4008173" cy="188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원천세 · 연말정산 아웃소싱 전문 그룹 더홍시의 세무 실무 노하우에, 세일링스톤이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297173" y="2004936"/>
            <a:ext cx="3999120" cy="188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설계한 자동 계산과 AI 기능을 더했습니다. 담당자의 가산세 리스크는 줄이고, 정산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297172" y="2193189"/>
            <a:ext cx="918953" cy="188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은 쉽게 만듭니다.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71486" y="2577408"/>
            <a:ext cx="1291104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가산세를 줄이는 설문 설계</a:t>
            </a:r>
            <a:endParaRPr lang="en-US" sz="885" dirty="0"/>
          </a:p>
        </p:txBody>
      </p:sp>
      <p:sp>
        <p:nvSpPr>
          <p:cNvPr id="41" name="Text 38"/>
          <p:cNvSpPr txBox="1"/>
          <p:nvPr/>
        </p:nvSpPr>
        <p:spPr>
          <a:xfrm>
            <a:off x="297173" y="2597468"/>
            <a:ext cx="237742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01</a:t>
            </a:r>
            <a:endParaRPr lang="en-US" sz="720" dirty="0"/>
          </a:p>
        </p:txBody>
      </p:sp>
      <p:sp>
        <p:nvSpPr>
          <p:cNvPr id="42" name="Text 39"/>
          <p:cNvSpPr txBox="1"/>
          <p:nvPr/>
        </p:nvSpPr>
        <p:spPr>
          <a:xfrm>
            <a:off x="571486" y="2730685"/>
            <a:ext cx="3690335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가산세가 가장 많이 나는 부양가족 · 주택 항목을 국세청 가이드에 맞춘 설문으로 사전에 걸러</a:t>
            </a:r>
            <a:endParaRPr lang="en-US" sz="735" dirty="0"/>
          </a:p>
        </p:txBody>
      </p:sp>
      <p:sp>
        <p:nvSpPr>
          <p:cNvPr id="43" name="Text 40"/>
          <p:cNvSpPr txBox="1"/>
          <p:nvPr/>
        </p:nvSpPr>
        <p:spPr>
          <a:xfrm>
            <a:off x="571486" y="2866987"/>
            <a:ext cx="383128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냅니다</a:t>
            </a:r>
            <a:endParaRPr lang="en-US" sz="735" dirty="0"/>
          </a:p>
        </p:txBody>
      </p:sp>
      <p:sp>
        <p:nvSpPr>
          <p:cNvPr id="44" name="Text 41"/>
          <p:cNvSpPr txBox="1"/>
          <p:nvPr/>
        </p:nvSpPr>
        <p:spPr>
          <a:xfrm>
            <a:off x="571486" y="3129306"/>
            <a:ext cx="1441976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모든 항목에 Validation 검증</a:t>
            </a:r>
            <a:endParaRPr lang="en-US" sz="885" dirty="0"/>
          </a:p>
        </p:txBody>
      </p:sp>
      <p:sp>
        <p:nvSpPr>
          <p:cNvPr id="45" name="Text 42"/>
          <p:cNvSpPr txBox="1"/>
          <p:nvPr/>
        </p:nvSpPr>
        <p:spPr>
          <a:xfrm>
            <a:off x="297173" y="3149365"/>
            <a:ext cx="251457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02</a:t>
            </a:r>
            <a:endParaRPr lang="en-US" sz="720" dirty="0"/>
          </a:p>
        </p:txBody>
      </p:sp>
      <p:sp>
        <p:nvSpPr>
          <p:cNvPr id="46" name="Text 43"/>
          <p:cNvSpPr txBox="1"/>
          <p:nvPr/>
        </p:nvSpPr>
        <p:spPr>
          <a:xfrm>
            <a:off x="4340549" y="3193085"/>
            <a:ext cx="38861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Excel</a:t>
            </a:r>
            <a:endParaRPr lang="en-US" sz="810" dirty="0"/>
          </a:p>
        </p:txBody>
      </p:sp>
      <p:sp>
        <p:nvSpPr>
          <p:cNvPr id="47" name="Text 44"/>
          <p:cNvSpPr txBox="1"/>
          <p:nvPr/>
        </p:nvSpPr>
        <p:spPr>
          <a:xfrm>
            <a:off x="5505465" y="3193085"/>
            <a:ext cx="3511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SAP</a:t>
            </a:r>
            <a:endParaRPr lang="en-US" sz="810" dirty="0"/>
          </a:p>
        </p:txBody>
      </p:sp>
      <p:sp>
        <p:nvSpPr>
          <p:cNvPr id="48" name="Text 45"/>
          <p:cNvSpPr txBox="1"/>
          <p:nvPr/>
        </p:nvSpPr>
        <p:spPr>
          <a:xfrm>
            <a:off x="6670382" y="3193085"/>
            <a:ext cx="77082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Rimini Street</a:t>
            </a:r>
            <a:endParaRPr lang="en-US" sz="810" dirty="0"/>
          </a:p>
        </p:txBody>
      </p:sp>
      <p:sp>
        <p:nvSpPr>
          <p:cNvPr id="49" name="Text 46"/>
          <p:cNvSpPr txBox="1"/>
          <p:nvPr/>
        </p:nvSpPr>
        <p:spPr>
          <a:xfrm>
            <a:off x="7835298" y="3193085"/>
            <a:ext cx="39227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SaaS</a:t>
            </a:r>
            <a:endParaRPr lang="en-US" sz="810" dirty="0"/>
          </a:p>
        </p:txBody>
      </p:sp>
      <p:sp>
        <p:nvSpPr>
          <p:cNvPr id="50" name="Text 47"/>
          <p:cNvSpPr txBox="1"/>
          <p:nvPr/>
        </p:nvSpPr>
        <p:spPr>
          <a:xfrm>
            <a:off x="571486" y="3282583"/>
            <a:ext cx="3232689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화면에 드러나지 않는 곳까지 촘촘히 검증해 한 번 더 확인하는 수고를 덜어줍니다</a:t>
            </a:r>
            <a:endParaRPr lang="en-US" sz="735" dirty="0"/>
          </a:p>
        </p:txBody>
      </p:sp>
      <p:sp>
        <p:nvSpPr>
          <p:cNvPr id="51" name="Text 48"/>
          <p:cNvSpPr txBox="1"/>
          <p:nvPr/>
        </p:nvSpPr>
        <p:spPr>
          <a:xfrm>
            <a:off x="4340549" y="3360763"/>
            <a:ext cx="702245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업로드 · 내보내기</a:t>
            </a:r>
            <a:endParaRPr lang="en-US" sz="630" dirty="0"/>
          </a:p>
        </p:txBody>
      </p:sp>
      <p:sp>
        <p:nvSpPr>
          <p:cNvPr id="52" name="Text 49"/>
          <p:cNvSpPr txBox="1"/>
          <p:nvPr/>
        </p:nvSpPr>
        <p:spPr>
          <a:xfrm>
            <a:off x="5505466" y="3360763"/>
            <a:ext cx="821114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사용 고객사 연계 특화</a:t>
            </a:r>
            <a:endParaRPr lang="en-US" sz="630" dirty="0"/>
          </a:p>
        </p:txBody>
      </p:sp>
      <p:sp>
        <p:nvSpPr>
          <p:cNvPr id="53" name="Text 50"/>
          <p:cNvSpPr txBox="1"/>
          <p:nvPr/>
        </p:nvSpPr>
        <p:spPr>
          <a:xfrm>
            <a:off x="6670382" y="3360763"/>
            <a:ext cx="821114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사용 고객사 연계 특화</a:t>
            </a:r>
            <a:endParaRPr lang="en-US" sz="630" dirty="0"/>
          </a:p>
        </p:txBody>
      </p:sp>
      <p:sp>
        <p:nvSpPr>
          <p:cNvPr id="54" name="Text 51"/>
          <p:cNvSpPr txBox="1"/>
          <p:nvPr/>
        </p:nvSpPr>
        <p:spPr>
          <a:xfrm>
            <a:off x="7835298" y="3360763"/>
            <a:ext cx="872319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가볍게 시작하는 선택지</a:t>
            </a:r>
            <a:endParaRPr lang="en-US" sz="630" dirty="0"/>
          </a:p>
        </p:txBody>
      </p:sp>
      <p:sp>
        <p:nvSpPr>
          <p:cNvPr id="55" name="Text 52"/>
          <p:cNvSpPr txBox="1"/>
          <p:nvPr/>
        </p:nvSpPr>
        <p:spPr>
          <a:xfrm>
            <a:off x="571486" y="3544901"/>
            <a:ext cx="1291104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실무자를 위한 쉬운 사용성</a:t>
            </a:r>
            <a:endParaRPr lang="en-US" sz="885" dirty="0"/>
          </a:p>
        </p:txBody>
      </p:sp>
      <p:sp>
        <p:nvSpPr>
          <p:cNvPr id="56" name="Text 53"/>
          <p:cNvSpPr txBox="1"/>
          <p:nvPr/>
        </p:nvSpPr>
        <p:spPr>
          <a:xfrm>
            <a:off x="297173" y="3564960"/>
            <a:ext cx="25237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03</a:t>
            </a:r>
            <a:endParaRPr lang="en-US" sz="720" dirty="0"/>
          </a:p>
        </p:txBody>
      </p:sp>
      <p:sp>
        <p:nvSpPr>
          <p:cNvPr id="57" name="Text 54"/>
          <p:cNvSpPr txBox="1"/>
          <p:nvPr/>
        </p:nvSpPr>
        <p:spPr>
          <a:xfrm>
            <a:off x="4494164" y="3695090"/>
            <a:ext cx="658355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이중 잠금 보안</a:t>
            </a:r>
            <a:endParaRPr lang="en-US" sz="720" dirty="0"/>
          </a:p>
        </p:txBody>
      </p:sp>
      <p:sp>
        <p:nvSpPr>
          <p:cNvPr id="58" name="Text 55"/>
          <p:cNvSpPr txBox="1"/>
          <p:nvPr/>
        </p:nvSpPr>
        <p:spPr>
          <a:xfrm>
            <a:off x="5335391" y="3695090"/>
            <a:ext cx="1078969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고객사별 스키마 완전 분리</a:t>
            </a:r>
            <a:endParaRPr lang="en-US" sz="720" dirty="0"/>
          </a:p>
        </p:txBody>
      </p:sp>
      <p:sp>
        <p:nvSpPr>
          <p:cNvPr id="59" name="Text 56"/>
          <p:cNvSpPr txBox="1"/>
          <p:nvPr/>
        </p:nvSpPr>
        <p:spPr>
          <a:xfrm>
            <a:off x="6522252" y="3695090"/>
            <a:ext cx="1100000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고객사 전용 키 이중 암호화</a:t>
            </a:r>
            <a:endParaRPr lang="en-US" sz="720" dirty="0"/>
          </a:p>
        </p:txBody>
      </p:sp>
      <p:sp>
        <p:nvSpPr>
          <p:cNvPr id="60" name="Text 57"/>
          <p:cNvSpPr txBox="1"/>
          <p:nvPr/>
        </p:nvSpPr>
        <p:spPr>
          <a:xfrm>
            <a:off x="7731059" y="3695090"/>
            <a:ext cx="1144804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NIST 표준 시험 12항목 통과</a:t>
            </a:r>
            <a:endParaRPr lang="en-US" sz="720" dirty="0"/>
          </a:p>
        </p:txBody>
      </p:sp>
      <p:sp>
        <p:nvSpPr>
          <p:cNvPr id="61" name="Text 58"/>
          <p:cNvSpPr txBox="1"/>
          <p:nvPr/>
        </p:nvSpPr>
        <p:spPr>
          <a:xfrm>
            <a:off x="571486" y="3698177"/>
            <a:ext cx="2967154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복잡한 세무 용어 대신 쉬운 안내로, 처음 진행하는 사용자도 끝까지 갑니다</a:t>
            </a:r>
            <a:endParaRPr lang="en-US" sz="735" dirty="0"/>
          </a:p>
        </p:txBody>
      </p:sp>
      <p:sp>
        <p:nvSpPr>
          <p:cNvPr id="62" name="Text 59"/>
          <p:cNvSpPr txBox="1"/>
          <p:nvPr/>
        </p:nvSpPr>
        <p:spPr>
          <a:xfrm>
            <a:off x="571486" y="3960495"/>
            <a:ext cx="1363340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수정신고까지 이어지는 대응</a:t>
            </a:r>
            <a:endParaRPr lang="en-US" sz="885" dirty="0"/>
          </a:p>
        </p:txBody>
      </p:sp>
      <p:sp>
        <p:nvSpPr>
          <p:cNvPr id="63" name="Text 60"/>
          <p:cNvSpPr txBox="1"/>
          <p:nvPr/>
        </p:nvSpPr>
        <p:spPr>
          <a:xfrm>
            <a:off x="297172" y="3980555"/>
            <a:ext cx="25420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04</a:t>
            </a:r>
            <a:endParaRPr lang="en-US" sz="720" dirty="0"/>
          </a:p>
        </p:txBody>
      </p:sp>
      <p:sp>
        <p:nvSpPr>
          <p:cNvPr id="64" name="Text 61"/>
          <p:cNvSpPr txBox="1"/>
          <p:nvPr/>
        </p:nvSpPr>
        <p:spPr>
          <a:xfrm>
            <a:off x="571486" y="4113772"/>
            <a:ext cx="2914852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정산이 끝난 뒤 생기는 이슈도 수정신고 지원으로 시즌 후까지 대응합니다</a:t>
            </a:r>
            <a:endParaRPr lang="en-US" sz="735" dirty="0"/>
          </a:p>
        </p:txBody>
      </p:sp>
      <p:sp>
        <p:nvSpPr>
          <p:cNvPr id="65" name="Text 62"/>
          <p:cNvSpPr txBox="1"/>
          <p:nvPr/>
        </p:nvSpPr>
        <p:spPr>
          <a:xfrm>
            <a:off x="583373" y="4654867"/>
            <a:ext cx="3461009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2027년 귀속분부터 AI 상담 · 서류 인식 전면 도입</a:t>
            </a:r>
            <a:r>
              <a:rPr lang="en-US" sz="773" dirty="0">
                <a:solidFill>
                  <a:srgbClr val="334155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- 근거와 출처를 붙여 답합니다</a:t>
            </a:r>
            <a:endParaRPr lang="en-US" sz="773" dirty="0"/>
          </a:p>
        </p:txBody>
      </p:sp>
      <p:sp>
        <p:nvSpPr>
          <p:cNvPr id="66" name="Text 63"/>
          <p:cNvSpPr txBox="1"/>
          <p:nvPr/>
        </p:nvSpPr>
        <p:spPr>
          <a:xfrm>
            <a:off x="4451188" y="4923873"/>
            <a:ext cx="37764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- 24 -</a:t>
            </a:r>
            <a:endParaRPr lang="en-US" sz="705" dirty="0"/>
          </a:p>
        </p:txBody>
      </p:sp>
      <p:sp>
        <p:nvSpPr>
          <p:cNvPr id="67" name="Text 64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2" y="679972"/>
            <a:ext cx="182876" cy="18259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6740" y="708261"/>
            <a:ext cx="342892" cy="125501"/>
          </a:xfrm>
          <a:prstGeom prst="roundRect">
            <a:avLst>
              <a:gd name="adj" fmla="val 27321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97173" y="919658"/>
            <a:ext cx="2727587" cy="1313135"/>
          </a:xfrm>
          <a:prstGeom prst="roundRect">
            <a:avLst>
              <a:gd name="adj" fmla="val 696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207635" y="679972"/>
            <a:ext cx="182876" cy="18259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48116" y="708261"/>
            <a:ext cx="342892" cy="125501"/>
          </a:xfrm>
          <a:prstGeom prst="roundRect">
            <a:avLst>
              <a:gd name="adj" fmla="val 27321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7636" y="919658"/>
            <a:ext cx="2727587" cy="1282274"/>
          </a:xfrm>
          <a:prstGeom prst="roundRect">
            <a:avLst>
              <a:gd name="adj" fmla="val 713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119011" y="679972"/>
            <a:ext cx="182876" cy="18259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358579" y="708261"/>
            <a:ext cx="342892" cy="125501"/>
          </a:xfrm>
          <a:prstGeom prst="roundRect">
            <a:avLst>
              <a:gd name="adj" fmla="val 27321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119012" y="919657"/>
            <a:ext cx="2727587" cy="1316222"/>
          </a:xfrm>
          <a:prstGeom prst="roundRect">
            <a:avLst>
              <a:gd name="adj" fmla="val 694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97172" y="2696223"/>
            <a:ext cx="5577701" cy="1733874"/>
          </a:xfrm>
          <a:prstGeom prst="roundRect">
            <a:avLst>
              <a:gd name="adj" fmla="val 593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05983" y="2792921"/>
            <a:ext cx="182876" cy="18259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5550" y="2821725"/>
            <a:ext cx="411470" cy="125501"/>
          </a:xfrm>
          <a:prstGeom prst="roundRect">
            <a:avLst>
              <a:gd name="adj" fmla="val 27321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05984" y="3033123"/>
            <a:ext cx="5360993" cy="964921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057749" y="2696223"/>
            <a:ext cx="2788850" cy="1733874"/>
          </a:xfrm>
          <a:prstGeom prst="roundRect">
            <a:avLst>
              <a:gd name="adj" fmla="val 5933"/>
            </a:avLst>
          </a:prstGeom>
          <a:solidFill>
            <a:srgbClr val="F7F6FD"/>
          </a:solidFill>
          <a:ln w="7620">
            <a:solidFill>
              <a:srgbClr val="E4E0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66559" y="2792921"/>
            <a:ext cx="182876" cy="18259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06126" y="2821725"/>
            <a:ext cx="522110" cy="125501"/>
          </a:xfrm>
          <a:prstGeom prst="roundRect">
            <a:avLst>
              <a:gd name="adj" fmla="val 27321"/>
            </a:avLst>
          </a:prstGeom>
          <a:solidFill>
            <a:srgbClr val="F3F1FD"/>
          </a:solidFill>
          <a:ln w="7620">
            <a:solidFill>
              <a:srgbClr val="E4E0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166559" y="3033123"/>
            <a:ext cx="2572143" cy="944861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59" y="925316"/>
            <a:ext cx="2716615" cy="130182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122" y="925316"/>
            <a:ext cx="2716615" cy="1270959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498" y="925316"/>
            <a:ext cx="2716615" cy="1304392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69" y="3038780"/>
            <a:ext cx="5349107" cy="953605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046" y="3038780"/>
            <a:ext cx="2560256" cy="93354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5302" y="167678"/>
            <a:ext cx="4652900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담당자 혼자 짊어지지 않는 연말정산,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실제 화면으로</a:t>
            </a:r>
            <a:endParaRPr lang="en-US" sz="1710" dirty="0"/>
          </a:p>
        </p:txBody>
      </p:sp>
      <p:sp>
        <p:nvSpPr>
          <p:cNvPr id="27" name="Text 20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28" name="Text 21"/>
          <p:cNvSpPr txBox="1"/>
          <p:nvPr/>
        </p:nvSpPr>
        <p:spPr>
          <a:xfrm>
            <a:off x="367580" y="707231"/>
            <a:ext cx="178307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720" dirty="0"/>
          </a:p>
        </p:txBody>
      </p:sp>
      <p:sp>
        <p:nvSpPr>
          <p:cNvPr id="29" name="Text 22"/>
          <p:cNvSpPr txBox="1"/>
          <p:nvPr/>
        </p:nvSpPr>
        <p:spPr>
          <a:xfrm>
            <a:off x="3272557" y="707231"/>
            <a:ext cx="191108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720" dirty="0"/>
          </a:p>
        </p:txBody>
      </p:sp>
      <p:sp>
        <p:nvSpPr>
          <p:cNvPr id="30" name="Text 23"/>
          <p:cNvSpPr txBox="1"/>
          <p:nvPr/>
        </p:nvSpPr>
        <p:spPr>
          <a:xfrm>
            <a:off x="6182104" y="707231"/>
            <a:ext cx="192023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720" dirty="0"/>
          </a:p>
        </p:txBody>
      </p:sp>
      <p:sp>
        <p:nvSpPr>
          <p:cNvPr id="31" name="Text 24"/>
          <p:cNvSpPr txBox="1"/>
          <p:nvPr/>
        </p:nvSpPr>
        <p:spPr>
          <a:xfrm>
            <a:off x="587944" y="718548"/>
            <a:ext cx="377642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kern="0" spc="71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USER</a:t>
            </a:r>
            <a:endParaRPr lang="en-US" sz="593" dirty="0"/>
          </a:p>
        </p:txBody>
      </p:sp>
      <p:sp>
        <p:nvSpPr>
          <p:cNvPr id="32" name="Text 25"/>
          <p:cNvSpPr txBox="1"/>
          <p:nvPr/>
        </p:nvSpPr>
        <p:spPr>
          <a:xfrm>
            <a:off x="3499321" y="718548"/>
            <a:ext cx="377642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kern="0" spc="71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USER</a:t>
            </a:r>
            <a:endParaRPr lang="en-US" sz="593" dirty="0"/>
          </a:p>
        </p:txBody>
      </p:sp>
      <p:sp>
        <p:nvSpPr>
          <p:cNvPr id="33" name="Text 26"/>
          <p:cNvSpPr txBox="1"/>
          <p:nvPr/>
        </p:nvSpPr>
        <p:spPr>
          <a:xfrm>
            <a:off x="6409783" y="718548"/>
            <a:ext cx="377642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kern="0" spc="71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USER</a:t>
            </a:r>
            <a:endParaRPr lang="en-US" sz="593" dirty="0"/>
          </a:p>
        </p:txBody>
      </p:sp>
      <p:sp>
        <p:nvSpPr>
          <p:cNvPr id="34" name="Text 27"/>
          <p:cNvSpPr txBox="1"/>
          <p:nvPr/>
        </p:nvSpPr>
        <p:spPr>
          <a:xfrm>
            <a:off x="3089681" y="1567739"/>
            <a:ext cx="191108" cy="24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5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6000143" y="1567739"/>
            <a:ext cx="191108" cy="24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5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3207635" y="2251824"/>
            <a:ext cx="2268113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국세청 간소화 PDF - 올리면 항목별로 자동 인식</a:t>
            </a:r>
            <a:endParaRPr lang="en-US" sz="855" dirty="0"/>
          </a:p>
        </p:txBody>
      </p:sp>
      <p:sp>
        <p:nvSpPr>
          <p:cNvPr id="37" name="Text 30"/>
          <p:cNvSpPr txBox="1"/>
          <p:nvPr/>
        </p:nvSpPr>
        <p:spPr>
          <a:xfrm>
            <a:off x="297173" y="2282685"/>
            <a:ext cx="2214804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부양가족 설문 - 가산세 지점을 미리 걸러냅니다</a:t>
            </a:r>
            <a:endParaRPr lang="en-US" sz="855" dirty="0"/>
          </a:p>
        </p:txBody>
      </p:sp>
      <p:sp>
        <p:nvSpPr>
          <p:cNvPr id="38" name="Text 31"/>
          <p:cNvSpPr txBox="1"/>
          <p:nvPr/>
        </p:nvSpPr>
        <p:spPr>
          <a:xfrm>
            <a:off x="6119011" y="2285257"/>
            <a:ext cx="1797392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연말정산 결과 - 확정 전에 미리 봅니다</a:t>
            </a:r>
            <a:endParaRPr lang="en-US" sz="855" dirty="0"/>
          </a:p>
        </p:txBody>
      </p:sp>
      <p:sp>
        <p:nvSpPr>
          <p:cNvPr id="39" name="Text 32"/>
          <p:cNvSpPr txBox="1"/>
          <p:nvPr/>
        </p:nvSpPr>
        <p:spPr>
          <a:xfrm>
            <a:off x="3207636" y="2403044"/>
            <a:ext cx="2128304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원본 금액과 반영 금액을 나란히 보여줘 바로 검증합니다</a:t>
            </a:r>
            <a:endParaRPr lang="en-US" sz="705" dirty="0"/>
          </a:p>
        </p:txBody>
      </p:sp>
      <p:sp>
        <p:nvSpPr>
          <p:cNvPr id="40" name="Text 33"/>
          <p:cNvSpPr txBox="1"/>
          <p:nvPr/>
        </p:nvSpPr>
        <p:spPr>
          <a:xfrm>
            <a:off x="297172" y="2433905"/>
            <a:ext cx="2112212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짧은 질문이 나이 · 소득 요건을 그 자리에서 판단합니다</a:t>
            </a:r>
            <a:endParaRPr lang="en-US" sz="705" dirty="0"/>
          </a:p>
        </p:txBody>
      </p:sp>
      <p:sp>
        <p:nvSpPr>
          <p:cNvPr id="41" name="Text 34"/>
          <p:cNvSpPr txBox="1"/>
          <p:nvPr/>
        </p:nvSpPr>
        <p:spPr>
          <a:xfrm>
            <a:off x="6119012" y="2436476"/>
            <a:ext cx="2066950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예상 결정세액 · 차감징수세액을 제출 즉시 계산합니다</a:t>
            </a:r>
            <a:endParaRPr lang="en-US" sz="705" dirty="0"/>
          </a:p>
        </p:txBody>
      </p:sp>
      <p:sp>
        <p:nvSpPr>
          <p:cNvPr id="42" name="Text 35"/>
          <p:cNvSpPr txBox="1"/>
          <p:nvPr/>
        </p:nvSpPr>
        <p:spPr>
          <a:xfrm>
            <a:off x="459017" y="2820695"/>
            <a:ext cx="212139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</a:t>
            </a:r>
            <a:endParaRPr lang="en-US" sz="720" dirty="0"/>
          </a:p>
        </p:txBody>
      </p:sp>
      <p:sp>
        <p:nvSpPr>
          <p:cNvPr id="43" name="Text 36"/>
          <p:cNvSpPr txBox="1"/>
          <p:nvPr/>
        </p:nvSpPr>
        <p:spPr>
          <a:xfrm>
            <a:off x="6207707" y="2820695"/>
            <a:ext cx="236827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</a:t>
            </a:r>
            <a:endParaRPr lang="en-US" sz="720" dirty="0"/>
          </a:p>
        </p:txBody>
      </p:sp>
      <p:sp>
        <p:nvSpPr>
          <p:cNvPr id="44" name="Text 37"/>
          <p:cNvSpPr txBox="1"/>
          <p:nvPr/>
        </p:nvSpPr>
        <p:spPr>
          <a:xfrm>
            <a:off x="696756" y="2831497"/>
            <a:ext cx="446219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kern="0" spc="71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ADMIN</a:t>
            </a:r>
            <a:endParaRPr lang="en-US" sz="593" dirty="0"/>
          </a:p>
        </p:txBody>
      </p:sp>
      <p:sp>
        <p:nvSpPr>
          <p:cNvPr id="45" name="Text 38"/>
          <p:cNvSpPr txBox="1"/>
          <p:nvPr/>
        </p:nvSpPr>
        <p:spPr>
          <a:xfrm>
            <a:off x="6457331" y="2831497"/>
            <a:ext cx="555945" cy="1054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593" kern="0" spc="71" dirty="0">
                <a:solidFill>
                  <a:srgbClr val="7C6FD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PREVIEW</a:t>
            </a:r>
            <a:endParaRPr lang="en-US" sz="593" dirty="0"/>
          </a:p>
        </p:txBody>
      </p:sp>
      <p:sp>
        <p:nvSpPr>
          <p:cNvPr id="46" name="Text 39"/>
          <p:cNvSpPr txBox="1"/>
          <p:nvPr/>
        </p:nvSpPr>
        <p:spPr>
          <a:xfrm>
            <a:off x="6166560" y="4027361"/>
            <a:ext cx="148586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상담 - 출처를 붙여 답합니다</a:t>
            </a:r>
            <a:endParaRPr lang="en-US" sz="855" dirty="0"/>
          </a:p>
        </p:txBody>
      </p:sp>
      <p:sp>
        <p:nvSpPr>
          <p:cNvPr id="47" name="Text 40"/>
          <p:cNvSpPr txBox="1"/>
          <p:nvPr/>
        </p:nvSpPr>
        <p:spPr>
          <a:xfrm>
            <a:off x="405983" y="4047420"/>
            <a:ext cx="2638253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진행 현황 - 수백 명 중 누구를 챙겨야 할지 바로 보입니다</a:t>
            </a:r>
            <a:endParaRPr lang="en-US" sz="855" dirty="0"/>
          </a:p>
        </p:txBody>
      </p:sp>
      <p:sp>
        <p:nvSpPr>
          <p:cNvPr id="48" name="Text 41"/>
          <p:cNvSpPr txBox="1"/>
          <p:nvPr/>
        </p:nvSpPr>
        <p:spPr>
          <a:xfrm>
            <a:off x="6166559" y="4178579"/>
            <a:ext cx="2444130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연말정산 자료 DB에 근거해서만 답합니다 (2027년 귀속분부터)</a:t>
            </a:r>
            <a:endParaRPr lang="en-US" sz="705" dirty="0"/>
          </a:p>
        </p:txBody>
      </p:sp>
      <p:sp>
        <p:nvSpPr>
          <p:cNvPr id="49" name="Text 42"/>
          <p:cNvSpPr txBox="1"/>
          <p:nvPr/>
        </p:nvSpPr>
        <p:spPr>
          <a:xfrm>
            <a:off x="405983" y="4199153"/>
            <a:ext cx="4336068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미접속 · 입력중 · 입력완료 · 검토완료 4단계로 보고, 상태별 인원을 클릭해 그 대상자에게만 리마인드를 보냅니다</a:t>
            </a:r>
            <a:endParaRPr lang="en-US" sz="705" dirty="0"/>
          </a:p>
        </p:txBody>
      </p:sp>
      <p:sp>
        <p:nvSpPr>
          <p:cNvPr id="50" name="Text 43"/>
          <p:cNvSpPr txBox="1"/>
          <p:nvPr/>
        </p:nvSpPr>
        <p:spPr>
          <a:xfrm>
            <a:off x="3269813" y="4617834"/>
            <a:ext cx="5873959" cy="24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50" kern="0" spc="-27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설문으로 걸러내고, 자동으로 계산하고, 확정 전에 미리 봅니다.</a:t>
            </a:r>
            <a:r>
              <a:rPr lang="en-US" sz="1350" kern="0" spc="-27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연말정산, 마법처럼 끝.</a:t>
            </a:r>
            <a:endParaRPr lang="en-US" sz="1350" dirty="0"/>
          </a:p>
        </p:txBody>
      </p:sp>
      <p:sp>
        <p:nvSpPr>
          <p:cNvPr id="51" name="Text 44"/>
          <p:cNvSpPr txBox="1"/>
          <p:nvPr/>
        </p:nvSpPr>
        <p:spPr>
          <a:xfrm>
            <a:off x="297173" y="4700645"/>
            <a:ext cx="116309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화면의 데이터는 예시입니다</a:t>
            </a:r>
            <a:endParaRPr lang="en-US" sz="735" dirty="0"/>
          </a:p>
        </p:txBody>
      </p:sp>
      <p:sp>
        <p:nvSpPr>
          <p:cNvPr id="52" name="Text 45"/>
          <p:cNvSpPr txBox="1"/>
          <p:nvPr/>
        </p:nvSpPr>
        <p:spPr>
          <a:xfrm>
            <a:off x="4451188" y="4923873"/>
            <a:ext cx="3794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- 25 -</a:t>
            </a:r>
            <a:endParaRPr lang="en-US" sz="705" dirty="0"/>
          </a:p>
        </p:txBody>
      </p:sp>
      <p:sp>
        <p:nvSpPr>
          <p:cNvPr id="53" name="Text 46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645879" y="679971"/>
            <a:ext cx="3372223" cy="362617"/>
          </a:xfrm>
          <a:prstGeom prst="round2Same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74376" y="679971"/>
            <a:ext cx="3372223" cy="362617"/>
          </a:xfrm>
          <a:prstGeom prst="round2Same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97172" y="1042073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645879" y="1042074"/>
            <a:ext cx="3372223" cy="5796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645879" y="1042073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108626" y="1042073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74376" y="1042074"/>
            <a:ext cx="3372223" cy="579673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74376" y="1042073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97172" y="1621745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645879" y="1621745"/>
            <a:ext cx="3372223" cy="416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645879" y="1621745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108626" y="1621745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74376" y="1621745"/>
            <a:ext cx="3372223" cy="416624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474376" y="1621745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97172" y="2038369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645879" y="2038369"/>
            <a:ext cx="3372223" cy="416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645879" y="2038369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108626" y="2038369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74376" y="2038369"/>
            <a:ext cx="3372223" cy="416624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474376" y="2038369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97172" y="2455507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645879" y="2455507"/>
            <a:ext cx="3372223" cy="41662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645879" y="2455507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08626" y="2455507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74376" y="2455507"/>
            <a:ext cx="3372223" cy="416624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474376" y="2455507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297172" y="2872130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645879" y="2872131"/>
            <a:ext cx="3372223" cy="5796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645879" y="2872130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108626" y="2872130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474376" y="2872131"/>
            <a:ext cx="3372223" cy="579673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474376" y="2872130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297172" y="3451803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297172" y="3874084"/>
            <a:ext cx="1257269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1645879" y="3451803"/>
            <a:ext cx="3372223" cy="42228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645879" y="3451803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645879" y="3874084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5108626" y="3451803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108626" y="3874084"/>
            <a:ext cx="27431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5474376" y="3451803"/>
            <a:ext cx="3372223" cy="422282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474376" y="3451803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5474376" y="3874084"/>
            <a:ext cx="337222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381624" y="4065422"/>
            <a:ext cx="4171388" cy="565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297173" y="4262419"/>
            <a:ext cx="1932079" cy="583787"/>
          </a:xfrm>
          <a:prstGeom prst="roundRect">
            <a:avLst>
              <a:gd name="adj" fmla="val 1566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05983" y="4348315"/>
            <a:ext cx="193848" cy="1944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2502651" y="4262419"/>
            <a:ext cx="1932079" cy="583787"/>
          </a:xfrm>
          <a:prstGeom prst="roundRect">
            <a:avLst>
              <a:gd name="adj" fmla="val 1566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2611461" y="4348315"/>
            <a:ext cx="193848" cy="1944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4709043" y="4262419"/>
            <a:ext cx="1932079" cy="583787"/>
          </a:xfrm>
          <a:prstGeom prst="roundRect">
            <a:avLst>
              <a:gd name="adj" fmla="val 1566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4816939" y="4348315"/>
            <a:ext cx="193848" cy="1944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6914520" y="4262419"/>
            <a:ext cx="1932079" cy="583787"/>
          </a:xfrm>
          <a:prstGeom prst="roundRect">
            <a:avLst>
              <a:gd name="adj" fmla="val 1566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7023331" y="4348315"/>
            <a:ext cx="193848" cy="1944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1775492" y="1307864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72541" y="0"/>
                </a:moveTo>
                <a:lnTo>
                  <a:pt x="0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1775492" y="1307864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0" y="0"/>
                </a:moveTo>
                <a:lnTo>
                  <a:pt x="72541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5212902" y="1334738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5251002" y="1306192"/>
            <a:ext cx="28574" cy="57093"/>
          </a:xfrm>
          <a:custGeom>
            <a:avLst/>
            <a:gdLst/>
            <a:ahLst/>
            <a:cxnLst/>
            <a:rect l="l" t="t" r="r" b="b"/>
            <a:pathLst>
              <a:path w="38099" h="76124">
                <a:moveTo>
                  <a:pt x="0" y="0"/>
                </a:moveTo>
                <a:lnTo>
                  <a:pt x="38099" y="38062"/>
                </a:lnTo>
                <a:lnTo>
                  <a:pt x="0" y="76124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5595836" y="1307864"/>
            <a:ext cx="72541" cy="49742"/>
          </a:xfrm>
          <a:custGeom>
            <a:avLst/>
            <a:gdLst/>
            <a:ahLst/>
            <a:cxnLst/>
            <a:rect l="l" t="t" r="r" b="b"/>
            <a:pathLst>
              <a:path w="96721" h="66323">
                <a:moveTo>
                  <a:pt x="96721" y="0"/>
                </a:moveTo>
                <a:lnTo>
                  <a:pt x="30225" y="66323"/>
                </a:lnTo>
                <a:lnTo>
                  <a:pt x="0" y="36176"/>
                </a:lnTo>
              </a:path>
            </a:pathLst>
          </a:custGeom>
          <a:ln w="9659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1775492" y="1805754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72541" y="0"/>
                </a:moveTo>
                <a:lnTo>
                  <a:pt x="0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775492" y="1805754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0" y="0"/>
                </a:moveTo>
                <a:lnTo>
                  <a:pt x="72541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5212902" y="1833143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5251002" y="1804597"/>
            <a:ext cx="28574" cy="57093"/>
          </a:xfrm>
          <a:custGeom>
            <a:avLst/>
            <a:gdLst/>
            <a:ahLst/>
            <a:cxnLst/>
            <a:rect l="l" t="t" r="r" b="b"/>
            <a:pathLst>
              <a:path w="38099" h="76124">
                <a:moveTo>
                  <a:pt x="0" y="0"/>
                </a:moveTo>
                <a:lnTo>
                  <a:pt x="38099" y="38062"/>
                </a:lnTo>
                <a:lnTo>
                  <a:pt x="0" y="76124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5595836" y="1805755"/>
            <a:ext cx="72541" cy="49742"/>
          </a:xfrm>
          <a:custGeom>
            <a:avLst/>
            <a:gdLst/>
            <a:ahLst/>
            <a:cxnLst/>
            <a:rect l="l" t="t" r="r" b="b"/>
            <a:pathLst>
              <a:path w="96721" h="66323">
                <a:moveTo>
                  <a:pt x="96721" y="0"/>
                </a:moveTo>
                <a:lnTo>
                  <a:pt x="30225" y="66323"/>
                </a:lnTo>
                <a:lnTo>
                  <a:pt x="0" y="36176"/>
                </a:lnTo>
              </a:path>
            </a:pathLst>
          </a:custGeom>
          <a:ln w="9659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1775492" y="2222892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72541" y="0"/>
                </a:moveTo>
                <a:lnTo>
                  <a:pt x="0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1775492" y="2222892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0" y="0"/>
                </a:moveTo>
                <a:lnTo>
                  <a:pt x="72541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212902" y="2249767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251002" y="2221220"/>
            <a:ext cx="28574" cy="57093"/>
          </a:xfrm>
          <a:custGeom>
            <a:avLst/>
            <a:gdLst/>
            <a:ahLst/>
            <a:cxnLst/>
            <a:rect l="l" t="t" r="r" b="b"/>
            <a:pathLst>
              <a:path w="38099" h="76124">
                <a:moveTo>
                  <a:pt x="0" y="0"/>
                </a:moveTo>
                <a:lnTo>
                  <a:pt x="38099" y="38062"/>
                </a:lnTo>
                <a:lnTo>
                  <a:pt x="0" y="76124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5595836" y="2222893"/>
            <a:ext cx="72541" cy="49742"/>
          </a:xfrm>
          <a:custGeom>
            <a:avLst/>
            <a:gdLst/>
            <a:ahLst/>
            <a:cxnLst/>
            <a:rect l="l" t="t" r="r" b="b"/>
            <a:pathLst>
              <a:path w="96721" h="66323">
                <a:moveTo>
                  <a:pt x="96721" y="0"/>
                </a:moveTo>
                <a:lnTo>
                  <a:pt x="30225" y="66323"/>
                </a:lnTo>
                <a:lnTo>
                  <a:pt x="0" y="36176"/>
                </a:lnTo>
              </a:path>
            </a:pathLst>
          </a:custGeom>
          <a:ln w="9659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1775492" y="2639516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72541" y="0"/>
                </a:moveTo>
                <a:lnTo>
                  <a:pt x="0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1775492" y="2639516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0" y="0"/>
                </a:moveTo>
                <a:lnTo>
                  <a:pt x="72541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5212902" y="2666390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5251002" y="2637844"/>
            <a:ext cx="28574" cy="57093"/>
          </a:xfrm>
          <a:custGeom>
            <a:avLst/>
            <a:gdLst/>
            <a:ahLst/>
            <a:cxnLst/>
            <a:rect l="l" t="t" r="r" b="b"/>
            <a:pathLst>
              <a:path w="38099" h="76124">
                <a:moveTo>
                  <a:pt x="0" y="0"/>
                </a:moveTo>
                <a:lnTo>
                  <a:pt x="38099" y="38062"/>
                </a:lnTo>
                <a:lnTo>
                  <a:pt x="0" y="76124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5595836" y="2639516"/>
            <a:ext cx="72541" cy="49742"/>
          </a:xfrm>
          <a:custGeom>
            <a:avLst/>
            <a:gdLst/>
            <a:ahLst/>
            <a:cxnLst/>
            <a:rect l="l" t="t" r="r" b="b"/>
            <a:pathLst>
              <a:path w="96721" h="66323">
                <a:moveTo>
                  <a:pt x="96721" y="0"/>
                </a:moveTo>
                <a:lnTo>
                  <a:pt x="30225" y="66323"/>
                </a:lnTo>
                <a:lnTo>
                  <a:pt x="0" y="36176"/>
                </a:lnTo>
              </a:path>
            </a:pathLst>
          </a:custGeom>
          <a:ln w="9659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1775492" y="3137407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72541" y="0"/>
                </a:moveTo>
                <a:lnTo>
                  <a:pt x="0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1775492" y="3137407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0" y="0"/>
                </a:moveTo>
                <a:lnTo>
                  <a:pt x="72541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5212902" y="3164795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5251002" y="3136249"/>
            <a:ext cx="28574" cy="57093"/>
          </a:xfrm>
          <a:custGeom>
            <a:avLst/>
            <a:gdLst/>
            <a:ahLst/>
            <a:cxnLst/>
            <a:rect l="l" t="t" r="r" b="b"/>
            <a:pathLst>
              <a:path w="38099" h="76124">
                <a:moveTo>
                  <a:pt x="0" y="0"/>
                </a:moveTo>
                <a:lnTo>
                  <a:pt x="38099" y="38062"/>
                </a:lnTo>
                <a:lnTo>
                  <a:pt x="0" y="76124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5595836" y="3137407"/>
            <a:ext cx="72541" cy="49742"/>
          </a:xfrm>
          <a:custGeom>
            <a:avLst/>
            <a:gdLst/>
            <a:ahLst/>
            <a:cxnLst/>
            <a:rect l="l" t="t" r="r" b="b"/>
            <a:pathLst>
              <a:path w="96721" h="66323">
                <a:moveTo>
                  <a:pt x="96721" y="0"/>
                </a:moveTo>
                <a:lnTo>
                  <a:pt x="30225" y="66323"/>
                </a:lnTo>
                <a:lnTo>
                  <a:pt x="0" y="36176"/>
                </a:lnTo>
              </a:path>
            </a:pathLst>
          </a:custGeom>
          <a:ln w="9659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1775492" y="3635812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72541" y="0"/>
                </a:moveTo>
                <a:lnTo>
                  <a:pt x="0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1775492" y="3635812"/>
            <a:ext cx="54406" cy="54264"/>
          </a:xfrm>
          <a:custGeom>
            <a:avLst/>
            <a:gdLst/>
            <a:ahLst/>
            <a:cxnLst/>
            <a:rect l="l" t="t" r="r" b="b"/>
            <a:pathLst>
              <a:path w="72541" h="72352">
                <a:moveTo>
                  <a:pt x="0" y="0"/>
                </a:moveTo>
                <a:lnTo>
                  <a:pt x="72541" y="72352"/>
                </a:lnTo>
              </a:path>
            </a:pathLst>
          </a:custGeom>
          <a:ln w="9659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5212902" y="3662686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5251002" y="3634140"/>
            <a:ext cx="28574" cy="57093"/>
          </a:xfrm>
          <a:custGeom>
            <a:avLst/>
            <a:gdLst/>
            <a:ahLst/>
            <a:cxnLst/>
            <a:rect l="l" t="t" r="r" b="b"/>
            <a:pathLst>
              <a:path w="38099" h="76124">
                <a:moveTo>
                  <a:pt x="0" y="0"/>
                </a:moveTo>
                <a:lnTo>
                  <a:pt x="38099" y="38062"/>
                </a:lnTo>
                <a:lnTo>
                  <a:pt x="0" y="76124"/>
                </a:lnTo>
              </a:path>
            </a:pathLst>
          </a:custGeom>
          <a:ln w="1015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5595836" y="3635812"/>
            <a:ext cx="72541" cy="49742"/>
          </a:xfrm>
          <a:custGeom>
            <a:avLst/>
            <a:gdLst/>
            <a:ahLst/>
            <a:cxnLst/>
            <a:rect l="l" t="t" r="r" b="b"/>
            <a:pathLst>
              <a:path w="96721" h="66323">
                <a:moveTo>
                  <a:pt x="96721" y="0"/>
                </a:moveTo>
                <a:lnTo>
                  <a:pt x="30225" y="66323"/>
                </a:lnTo>
                <a:lnTo>
                  <a:pt x="0" y="36176"/>
                </a:lnTo>
              </a:path>
            </a:pathLst>
          </a:custGeom>
          <a:ln w="9659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 txBox="1"/>
          <p:nvPr/>
        </p:nvSpPr>
        <p:spPr>
          <a:xfrm>
            <a:off x="445302" y="167678"/>
            <a:ext cx="4075562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담당자의 연말정산 시즌이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이렇게 달라집니다</a:t>
            </a:r>
            <a:endParaRPr lang="en-US" sz="1710" dirty="0"/>
          </a:p>
        </p:txBody>
      </p:sp>
      <p:sp>
        <p:nvSpPr>
          <p:cNvPr id="86" name="Text 84"/>
          <p:cNvSpPr txBox="1"/>
          <p:nvPr/>
        </p:nvSpPr>
        <p:spPr>
          <a:xfrm>
            <a:off x="7636878" y="241745"/>
            <a:ext cx="1346881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02 · Product &amp; Service</a:t>
            </a:r>
            <a:endParaRPr lang="en-US" sz="885" dirty="0"/>
          </a:p>
        </p:txBody>
      </p:sp>
      <p:sp>
        <p:nvSpPr>
          <p:cNvPr id="87" name="Text 85"/>
          <p:cNvSpPr txBox="1"/>
          <p:nvPr/>
        </p:nvSpPr>
        <p:spPr>
          <a:xfrm>
            <a:off x="1748289" y="735521"/>
            <a:ext cx="968329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72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지금까지의 연말정산</a:t>
            </a:r>
            <a:endParaRPr lang="en-US" sz="720" dirty="0"/>
          </a:p>
        </p:txBody>
      </p:sp>
      <p:sp>
        <p:nvSpPr>
          <p:cNvPr id="88" name="Text 86"/>
          <p:cNvSpPr txBox="1"/>
          <p:nvPr/>
        </p:nvSpPr>
        <p:spPr>
          <a:xfrm>
            <a:off x="5577701" y="735521"/>
            <a:ext cx="820200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7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bibidi 연말정산</a:t>
            </a:r>
            <a:endParaRPr lang="en-US" sz="720" dirty="0"/>
          </a:p>
        </p:txBody>
      </p:sp>
      <p:sp>
        <p:nvSpPr>
          <p:cNvPr id="89" name="Text 87"/>
          <p:cNvSpPr txBox="1"/>
          <p:nvPr/>
        </p:nvSpPr>
        <p:spPr>
          <a:xfrm>
            <a:off x="1925679" y="1170661"/>
            <a:ext cx="3262864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매년 바뀌는 세법을 담당자가 일일이 확인 - 가산세로 이어지기 쉬운 지</a:t>
            </a:r>
            <a:endParaRPr lang="en-US" sz="855" dirty="0"/>
          </a:p>
        </p:txBody>
      </p:sp>
      <p:sp>
        <p:nvSpPr>
          <p:cNvPr id="90" name="Text 88"/>
          <p:cNvSpPr txBox="1"/>
          <p:nvPr/>
        </p:nvSpPr>
        <p:spPr>
          <a:xfrm>
            <a:off x="297173" y="1255014"/>
            <a:ext cx="98844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부양가족 공제 요건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5754175" y="1251928"/>
            <a:ext cx="3149207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등록 화면에서 이어지는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설문</a:t>
            </a:r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이 나이 · 소득 요건을 그 자리에서 판단</a:t>
            </a:r>
            <a:endParaRPr lang="en-US" sz="855" dirty="0"/>
          </a:p>
        </p:txBody>
      </p:sp>
      <p:sp>
        <p:nvSpPr>
          <p:cNvPr id="92" name="Text 90"/>
          <p:cNvSpPr txBox="1"/>
          <p:nvPr/>
        </p:nvSpPr>
        <p:spPr>
          <a:xfrm>
            <a:off x="1925678" y="1333196"/>
            <a:ext cx="232256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점</a:t>
            </a:r>
            <a:endParaRPr lang="en-US" sz="855" dirty="0"/>
          </a:p>
        </p:txBody>
      </p:sp>
      <p:sp>
        <p:nvSpPr>
          <p:cNvPr id="93" name="Text 91"/>
          <p:cNvSpPr txBox="1"/>
          <p:nvPr/>
        </p:nvSpPr>
        <p:spPr>
          <a:xfrm>
            <a:off x="297173" y="1752905"/>
            <a:ext cx="789111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입력 오류 검증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1925679" y="1750333"/>
            <a:ext cx="1399915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담당자가 한 번 더 눈으로 확인</a:t>
            </a:r>
            <a:endParaRPr lang="en-US" sz="855" dirty="0"/>
          </a:p>
        </p:txBody>
      </p:sp>
      <p:sp>
        <p:nvSpPr>
          <p:cNvPr id="95" name="Text 93"/>
          <p:cNvSpPr txBox="1"/>
          <p:nvPr/>
        </p:nvSpPr>
        <p:spPr>
          <a:xfrm>
            <a:off x="5754176" y="1750333"/>
            <a:ext cx="2743863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모든 항목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Validation</a:t>
            </a:r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- 화면에 드러나지 않는 곳까지 검증</a:t>
            </a:r>
            <a:endParaRPr lang="en-US" sz="855" dirty="0"/>
          </a:p>
        </p:txBody>
      </p:sp>
      <p:sp>
        <p:nvSpPr>
          <p:cNvPr id="96" name="Text 94"/>
          <p:cNvSpPr txBox="1"/>
          <p:nvPr/>
        </p:nvSpPr>
        <p:spPr>
          <a:xfrm>
            <a:off x="297172" y="2169528"/>
            <a:ext cx="662927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국세청 자료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1925678" y="2166957"/>
            <a:ext cx="2779067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PDF 금액을 수기로 옮겨 입력, 중도 입 · 퇴사자는 따로 계산</a:t>
            </a:r>
            <a:endParaRPr lang="en-US" sz="855" dirty="0"/>
          </a:p>
        </p:txBody>
      </p:sp>
      <p:sp>
        <p:nvSpPr>
          <p:cNvPr id="98" name="Text 96"/>
          <p:cNvSpPr txBox="1"/>
          <p:nvPr/>
        </p:nvSpPr>
        <p:spPr>
          <a:xfrm>
            <a:off x="5754176" y="2166957"/>
            <a:ext cx="2652334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업로드하면 항목별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자동 인식</a:t>
            </a:r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, 근무 기간에 맞춰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안분 계산</a:t>
            </a:r>
            <a:endParaRPr lang="en-US" sz="855" dirty="0"/>
          </a:p>
        </p:txBody>
      </p:sp>
      <p:sp>
        <p:nvSpPr>
          <p:cNvPr id="99" name="Text 97"/>
          <p:cNvSpPr txBox="1"/>
          <p:nvPr/>
        </p:nvSpPr>
        <p:spPr>
          <a:xfrm>
            <a:off x="297173" y="2586666"/>
            <a:ext cx="563260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증빙 서류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1925678" y="2583580"/>
            <a:ext cx="19110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항목별 필요 서류를 담당자가 기억해 안내</a:t>
            </a:r>
            <a:endParaRPr lang="en-US" sz="855" dirty="0"/>
          </a:p>
        </p:txBody>
      </p:sp>
      <p:sp>
        <p:nvSpPr>
          <p:cNvPr id="101" name="Text 99"/>
          <p:cNvSpPr txBox="1"/>
          <p:nvPr/>
        </p:nvSpPr>
        <p:spPr>
          <a:xfrm>
            <a:off x="5754175" y="2583580"/>
            <a:ext cx="2679491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항목별 서류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자동 안내</a:t>
            </a:r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, 마감 전 미제출 항목만 골라 재요청</a:t>
            </a:r>
            <a:endParaRPr lang="en-US" sz="855" dirty="0"/>
          </a:p>
        </p:txBody>
      </p:sp>
      <p:sp>
        <p:nvSpPr>
          <p:cNvPr id="102" name="Text 100"/>
          <p:cNvSpPr txBox="1"/>
          <p:nvPr/>
        </p:nvSpPr>
        <p:spPr>
          <a:xfrm>
            <a:off x="5754175" y="3000204"/>
            <a:ext cx="3190445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미접속 · 입력중 · 입력완료 · 검토완료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4단계 현황</a:t>
            </a:r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, 대상자만 골라 리</a:t>
            </a:r>
            <a:endParaRPr lang="en-US" sz="855" dirty="0"/>
          </a:p>
        </p:txBody>
      </p:sp>
      <p:sp>
        <p:nvSpPr>
          <p:cNvPr id="103" name="Text 101"/>
          <p:cNvSpPr txBox="1"/>
          <p:nvPr/>
        </p:nvSpPr>
        <p:spPr>
          <a:xfrm>
            <a:off x="297173" y="3084557"/>
            <a:ext cx="563260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진행 관리</a:t>
            </a:r>
            <a:endParaRPr lang="en-US" sz="900" dirty="0"/>
          </a:p>
        </p:txBody>
      </p:sp>
      <p:sp>
        <p:nvSpPr>
          <p:cNvPr id="104" name="Text 102"/>
          <p:cNvSpPr txBox="1"/>
          <p:nvPr/>
        </p:nvSpPr>
        <p:spPr>
          <a:xfrm>
            <a:off x="1925678" y="3081986"/>
            <a:ext cx="1598240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수백 명의 진행 상황을 개별로 확인</a:t>
            </a:r>
            <a:endParaRPr lang="en-US" sz="855" dirty="0"/>
          </a:p>
        </p:txBody>
      </p:sp>
      <p:sp>
        <p:nvSpPr>
          <p:cNvPr id="105" name="Text 103"/>
          <p:cNvSpPr txBox="1"/>
          <p:nvPr/>
        </p:nvSpPr>
        <p:spPr>
          <a:xfrm>
            <a:off x="5754175" y="3163253"/>
            <a:ext cx="421532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마인드</a:t>
            </a:r>
            <a:endParaRPr lang="en-US" sz="855" dirty="0"/>
          </a:p>
        </p:txBody>
      </p:sp>
      <p:sp>
        <p:nvSpPr>
          <p:cNvPr id="106" name="Text 104"/>
          <p:cNvSpPr txBox="1"/>
          <p:nvPr/>
        </p:nvSpPr>
        <p:spPr>
          <a:xfrm>
            <a:off x="297173" y="3582962"/>
            <a:ext cx="563260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결과 확인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1925679" y="3579877"/>
            <a:ext cx="1470322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급여 지급일 임박해 몰아서 확인</a:t>
            </a:r>
            <a:endParaRPr lang="en-US" sz="855" dirty="0"/>
          </a:p>
        </p:txBody>
      </p:sp>
      <p:sp>
        <p:nvSpPr>
          <p:cNvPr id="108" name="Text 106"/>
          <p:cNvSpPr txBox="1"/>
          <p:nvPr/>
        </p:nvSpPr>
        <p:spPr>
          <a:xfrm>
            <a:off x="5754176" y="3579877"/>
            <a:ext cx="2976206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제출 즉시</a:t>
            </a:r>
            <a:r>
              <a:rPr lang="en-US" sz="855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예상 결정세액 · 차감징수세액</a:t>
            </a:r>
            <a:r>
              <a:rPr lang="en-US" sz="855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계산, 확정 전 미리 확인</a:t>
            </a:r>
            <a:endParaRPr lang="en-US" sz="855" dirty="0"/>
          </a:p>
        </p:txBody>
      </p:sp>
      <p:sp>
        <p:nvSpPr>
          <p:cNvPr id="109" name="Text 107"/>
          <p:cNvSpPr txBox="1"/>
          <p:nvPr/>
        </p:nvSpPr>
        <p:spPr>
          <a:xfrm>
            <a:off x="297173" y="4004215"/>
            <a:ext cx="1141146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kern="0" spc="86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도입은 지금 환경 그대로</a:t>
            </a:r>
            <a:endParaRPr lang="en-US" sz="720" dirty="0"/>
          </a:p>
        </p:txBody>
      </p:sp>
      <p:sp>
        <p:nvSpPr>
          <p:cNvPr id="110" name="Text 108"/>
          <p:cNvSpPr txBox="1"/>
          <p:nvPr/>
        </p:nvSpPr>
        <p:spPr>
          <a:xfrm>
            <a:off x="5667310" y="4002673"/>
            <a:ext cx="3476462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Excel 업로드 ·</a:t>
            </a:r>
            <a:r>
              <a:rPr lang="en-US" sz="73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SAP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/</a:t>
            </a:r>
            <a:r>
              <a:rPr lang="en-US" sz="73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Rimini Street</a:t>
            </a:r>
            <a:r>
              <a:rPr lang="en-US" sz="73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사용 고객사 연계 특화 · 가볍게 시작하는</a:t>
            </a:r>
            <a:r>
              <a:rPr lang="en-US" sz="73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SaaS</a:t>
            </a:r>
            <a:endParaRPr lang="en-US" sz="735" dirty="0"/>
          </a:p>
        </p:txBody>
      </p:sp>
      <p:sp>
        <p:nvSpPr>
          <p:cNvPr id="111" name="Text 109"/>
          <p:cNvSpPr txBox="1"/>
          <p:nvPr/>
        </p:nvSpPr>
        <p:spPr>
          <a:xfrm>
            <a:off x="679382" y="4340600"/>
            <a:ext cx="82660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기초데이터 등록</a:t>
            </a:r>
            <a:endParaRPr lang="en-US" sz="855" dirty="0"/>
          </a:p>
        </p:txBody>
      </p:sp>
      <p:sp>
        <p:nvSpPr>
          <p:cNvPr id="112" name="Text 110"/>
          <p:cNvSpPr txBox="1"/>
          <p:nvPr/>
        </p:nvSpPr>
        <p:spPr>
          <a:xfrm>
            <a:off x="2885775" y="4340600"/>
            <a:ext cx="636410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근로자 입력</a:t>
            </a:r>
            <a:endParaRPr lang="en-US" sz="855" dirty="0"/>
          </a:p>
        </p:txBody>
      </p:sp>
      <p:sp>
        <p:nvSpPr>
          <p:cNvPr id="113" name="Text 111"/>
          <p:cNvSpPr txBox="1"/>
          <p:nvPr/>
        </p:nvSpPr>
        <p:spPr>
          <a:xfrm>
            <a:off x="5091252" y="4340600"/>
            <a:ext cx="621780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검토 · 확정</a:t>
            </a:r>
            <a:endParaRPr lang="en-US" sz="855" dirty="0"/>
          </a:p>
        </p:txBody>
      </p:sp>
      <p:sp>
        <p:nvSpPr>
          <p:cNvPr id="114" name="Text 112"/>
          <p:cNvSpPr txBox="1"/>
          <p:nvPr/>
        </p:nvSpPr>
        <p:spPr>
          <a:xfrm>
            <a:off x="7297644" y="4340600"/>
            <a:ext cx="54131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시즌 이후</a:t>
            </a:r>
            <a:endParaRPr lang="en-US" sz="855" dirty="0"/>
          </a:p>
        </p:txBody>
      </p:sp>
      <p:sp>
        <p:nvSpPr>
          <p:cNvPr id="115" name="Text 113"/>
          <p:cNvSpPr txBox="1"/>
          <p:nvPr/>
        </p:nvSpPr>
        <p:spPr>
          <a:xfrm>
            <a:off x="482792" y="4382777"/>
            <a:ext cx="17739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705" dirty="0"/>
          </a:p>
        </p:txBody>
      </p:sp>
      <p:sp>
        <p:nvSpPr>
          <p:cNvPr id="116" name="Text 114"/>
          <p:cNvSpPr txBox="1"/>
          <p:nvPr/>
        </p:nvSpPr>
        <p:spPr>
          <a:xfrm>
            <a:off x="2681868" y="4382777"/>
            <a:ext cx="18928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705" dirty="0"/>
          </a:p>
        </p:txBody>
      </p:sp>
      <p:sp>
        <p:nvSpPr>
          <p:cNvPr id="117" name="Text 115"/>
          <p:cNvSpPr txBox="1"/>
          <p:nvPr/>
        </p:nvSpPr>
        <p:spPr>
          <a:xfrm>
            <a:off x="4887346" y="4382777"/>
            <a:ext cx="19110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705" dirty="0"/>
          </a:p>
        </p:txBody>
      </p:sp>
      <p:sp>
        <p:nvSpPr>
          <p:cNvPr id="118" name="Text 116"/>
          <p:cNvSpPr txBox="1"/>
          <p:nvPr/>
        </p:nvSpPr>
        <p:spPr>
          <a:xfrm>
            <a:off x="7092824" y="4382777"/>
            <a:ext cx="192937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4</a:t>
            </a:r>
            <a:endParaRPr lang="en-US" sz="705" dirty="0"/>
          </a:p>
        </p:txBody>
      </p:sp>
      <p:sp>
        <p:nvSpPr>
          <p:cNvPr id="119" name="Text 117"/>
          <p:cNvSpPr txBox="1"/>
          <p:nvPr/>
        </p:nvSpPr>
        <p:spPr>
          <a:xfrm>
            <a:off x="2348121" y="4479989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4553599" y="4479989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121" name="Text 119"/>
          <p:cNvSpPr txBox="1"/>
          <p:nvPr/>
        </p:nvSpPr>
        <p:spPr>
          <a:xfrm>
            <a:off x="6759991" y="4479989"/>
            <a:ext cx="17373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›</a:t>
            </a:r>
            <a:endParaRPr lang="en-US" sz="900" dirty="0"/>
          </a:p>
        </p:txBody>
      </p:sp>
      <p:sp>
        <p:nvSpPr>
          <p:cNvPr id="122" name="Text 120"/>
          <p:cNvSpPr txBox="1"/>
          <p:nvPr/>
        </p:nvSpPr>
        <p:spPr>
          <a:xfrm>
            <a:off x="679383" y="4497991"/>
            <a:ext cx="1496839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대상자 · 급여 정보를 Excel로 올리거나</a:t>
            </a:r>
            <a:endParaRPr lang="en-US" sz="705" dirty="0"/>
          </a:p>
        </p:txBody>
      </p:sp>
      <p:sp>
        <p:nvSpPr>
          <p:cNvPr id="123" name="Text 121"/>
          <p:cNvSpPr txBox="1"/>
          <p:nvPr/>
        </p:nvSpPr>
        <p:spPr>
          <a:xfrm>
            <a:off x="2885774" y="4497991"/>
            <a:ext cx="1541915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가족등록 설문 → 간소화 PDF 업로드 →</a:t>
            </a:r>
            <a:endParaRPr lang="en-US" sz="705" dirty="0"/>
          </a:p>
        </p:txBody>
      </p:sp>
      <p:sp>
        <p:nvSpPr>
          <p:cNvPr id="124" name="Text 122"/>
          <p:cNvSpPr txBox="1"/>
          <p:nvPr/>
        </p:nvSpPr>
        <p:spPr>
          <a:xfrm>
            <a:off x="5091252" y="4497991"/>
            <a:ext cx="1570077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4단계 진행 현황으로 챙기고, 예상 세액을</a:t>
            </a:r>
            <a:endParaRPr lang="en-US" sz="705" dirty="0"/>
          </a:p>
        </p:txBody>
      </p:sp>
      <p:sp>
        <p:nvSpPr>
          <p:cNvPr id="125" name="Text 123"/>
          <p:cNvSpPr txBox="1"/>
          <p:nvPr/>
        </p:nvSpPr>
        <p:spPr>
          <a:xfrm>
            <a:off x="7297645" y="4497991"/>
            <a:ext cx="1569071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정산 뒤 생기는 이슈는 수정신고 지원으로</a:t>
            </a:r>
            <a:endParaRPr lang="en-US" sz="705" dirty="0"/>
          </a:p>
        </p:txBody>
      </p:sp>
      <p:sp>
        <p:nvSpPr>
          <p:cNvPr id="126" name="Text 124"/>
          <p:cNvSpPr txBox="1"/>
          <p:nvPr/>
        </p:nvSpPr>
        <p:spPr>
          <a:xfrm>
            <a:off x="679383" y="4627093"/>
            <a:ext cx="1146632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SAP · Rimini Street와 연계</a:t>
            </a:r>
            <a:endParaRPr lang="en-US" sz="705" dirty="0"/>
          </a:p>
        </p:txBody>
      </p:sp>
      <p:sp>
        <p:nvSpPr>
          <p:cNvPr id="127" name="Text 125"/>
          <p:cNvSpPr txBox="1"/>
          <p:nvPr/>
        </p:nvSpPr>
        <p:spPr>
          <a:xfrm>
            <a:off x="2885775" y="4627093"/>
            <a:ext cx="1177721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서류 제출, 안내를 따라가면 끝</a:t>
            </a:r>
            <a:endParaRPr lang="en-US" sz="705" dirty="0"/>
          </a:p>
        </p:txBody>
      </p:sp>
      <p:sp>
        <p:nvSpPr>
          <p:cNvPr id="128" name="Text 126"/>
          <p:cNvSpPr txBox="1"/>
          <p:nvPr/>
        </p:nvSpPr>
        <p:spPr>
          <a:xfrm>
            <a:off x="5091252" y="4627093"/>
            <a:ext cx="645554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확인한 뒤 확정</a:t>
            </a:r>
            <a:endParaRPr lang="en-US" sz="705" dirty="0"/>
          </a:p>
        </p:txBody>
      </p:sp>
      <p:sp>
        <p:nvSpPr>
          <p:cNvPr id="129" name="Text 127"/>
          <p:cNvSpPr txBox="1"/>
          <p:nvPr/>
        </p:nvSpPr>
        <p:spPr>
          <a:xfrm>
            <a:off x="7297645" y="4627093"/>
            <a:ext cx="292604" cy="12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대응</a:t>
            </a:r>
            <a:endParaRPr lang="en-US" sz="705" dirty="0"/>
          </a:p>
        </p:txBody>
      </p:sp>
      <p:sp>
        <p:nvSpPr>
          <p:cNvPr id="130" name="Text 128"/>
          <p:cNvSpPr txBox="1"/>
          <p:nvPr/>
        </p:nvSpPr>
        <p:spPr>
          <a:xfrm>
            <a:off x="4449360" y="4923873"/>
            <a:ext cx="38312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- 26 -</a:t>
            </a:r>
            <a:endParaRPr lang="en-US" sz="705" dirty="0"/>
          </a:p>
        </p:txBody>
      </p:sp>
      <p:sp>
        <p:nvSpPr>
          <p:cNvPr id="131" name="Text 129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DDC6-177B-32F8-43B0-F5364576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0D3596-E114-80EA-B48A-7BCC4E2E1316}"/>
              </a:ext>
            </a:extLst>
          </p:cNvPr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03.</a:t>
            </a:r>
            <a:endParaRPr lang="en-US" sz="1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83EF05-355B-095B-0EF0-052FB29BFC32}"/>
              </a:ext>
            </a:extLst>
          </p:cNvPr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사례 및 예시</a:t>
            </a:r>
            <a:endParaRPr lang="ko-KR" altLang="en-US" sz="3200" b="1" dirty="0">
              <a:solidFill>
                <a:srgbClr val="FFFFFF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E65F52-B9C3-3CA7-F077-649C7EF9B4B9}"/>
              </a:ext>
            </a:extLst>
          </p:cNvPr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1767966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" y="548297"/>
            <a:ext cx="9143771" cy="3950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" y="548297"/>
            <a:ext cx="91437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" y="943832"/>
            <a:ext cx="91437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97173" y="1069334"/>
            <a:ext cx="8549426" cy="420224"/>
          </a:xfrm>
          <a:prstGeom prst="roundRect">
            <a:avLst>
              <a:gd name="adj" fmla="val 2175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674553" y="1074992"/>
            <a:ext cx="686" cy="40890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192419" y="1074992"/>
            <a:ext cx="686" cy="40890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79028" y="1074992"/>
            <a:ext cx="686" cy="408908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97173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4329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4329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09051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646208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646208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20015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57171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57171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931893" y="1626889"/>
            <a:ext cx="1914706" cy="2768232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069050" y="2146382"/>
            <a:ext cx="1640393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069050" y="3728009"/>
            <a:ext cx="1640393" cy="547268"/>
          </a:xfrm>
          <a:prstGeom prst="roundRect">
            <a:avLst>
              <a:gd name="adj" fmla="val 11487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97173" y="4532453"/>
            <a:ext cx="8549426" cy="314268"/>
          </a:xfrm>
          <a:prstGeom prst="roundRect">
            <a:avLst>
              <a:gd name="adj" fmla="val 25458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1703" y="1935949"/>
            <a:ext cx="104239" cy="104542"/>
          </a:xfrm>
          <a:custGeom>
            <a:avLst/>
            <a:gdLst/>
            <a:ahLst/>
            <a:cxnLst/>
            <a:rect l="l" t="t" r="r" b="b"/>
            <a:pathLst>
              <a:path w="138985" h="139389">
                <a:moveTo>
                  <a:pt x="0" y="0"/>
                </a:moveTo>
                <a:lnTo>
                  <a:pt x="0" y="139389"/>
                </a:lnTo>
                <a:lnTo>
                  <a:pt x="138985" y="139389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4867" y="1959181"/>
            <a:ext cx="69493" cy="40655"/>
          </a:xfrm>
          <a:custGeom>
            <a:avLst/>
            <a:gdLst/>
            <a:ahLst/>
            <a:cxnLst/>
            <a:rect l="l" t="t" r="r" b="b"/>
            <a:pathLst>
              <a:path w="92657" h="54207">
                <a:moveTo>
                  <a:pt x="0" y="54207"/>
                </a:moveTo>
                <a:lnTo>
                  <a:pt x="30886" y="23231"/>
                </a:lnTo>
                <a:lnTo>
                  <a:pt x="54050" y="46463"/>
                </a:lnTo>
                <a:lnTo>
                  <a:pt x="92657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669372" y="1937410"/>
            <a:ext cx="98654" cy="103082"/>
          </a:xfrm>
          <a:custGeom>
            <a:avLst/>
            <a:gdLst/>
            <a:ahLst/>
            <a:cxnLst/>
            <a:rect l="l" t="t" r="r" b="b"/>
            <a:pathLst>
              <a:path w="131539" h="137442">
                <a:moveTo>
                  <a:pt x="131264" y="67747"/>
                </a:moveTo>
                <a:cubicBezTo>
                  <a:pt x="131146" y="89191"/>
                  <a:pt x="119978" y="109049"/>
                  <a:pt x="101741" y="120244"/>
                </a:cubicBezTo>
                <a:cubicBezTo>
                  <a:pt x="83504" y="131439"/>
                  <a:pt x="60790" y="132379"/>
                  <a:pt x="41696" y="122729"/>
                </a:cubicBezTo>
                <a:lnTo>
                  <a:pt x="0" y="137442"/>
                </a:lnTo>
                <a:lnTo>
                  <a:pt x="14671" y="95625"/>
                </a:lnTo>
                <a:cubicBezTo>
                  <a:pt x="2826" y="72739"/>
                  <a:pt x="6355" y="44887"/>
                  <a:pt x="23531" y="25699"/>
                </a:cubicBezTo>
                <a:cubicBezTo>
                  <a:pt x="40707" y="6511"/>
                  <a:pt x="67938" y="0"/>
                  <a:pt x="91899" y="9352"/>
                </a:cubicBezTo>
                <a:cubicBezTo>
                  <a:pt x="115860" y="18704"/>
                  <a:pt x="131539" y="41963"/>
                  <a:pt x="131264" y="67747"/>
                </a:cubicBezTo>
                <a:close/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946933" y="1933046"/>
            <a:ext cx="28955" cy="29039"/>
          </a:xfrm>
          <a:prstGeom prst="ellipse">
            <a:avLst/>
          </a:pr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877440" y="1973701"/>
            <a:ext cx="28955" cy="29039"/>
          </a:xfrm>
          <a:prstGeom prst="ellipse">
            <a:avLst/>
          </a:pr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946933" y="2014356"/>
            <a:ext cx="28955" cy="29039"/>
          </a:xfrm>
          <a:prstGeom prst="ellipse">
            <a:avLst/>
          </a:pr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904659" y="1955696"/>
            <a:ext cx="44012" cy="25555"/>
          </a:xfrm>
          <a:custGeom>
            <a:avLst/>
            <a:gdLst/>
            <a:ahLst/>
            <a:cxnLst/>
            <a:rect l="l" t="t" r="r" b="b"/>
            <a:pathLst>
              <a:path w="58683" h="34073">
                <a:moveTo>
                  <a:pt x="0" y="34073"/>
                </a:moveTo>
                <a:lnTo>
                  <a:pt x="58683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904659" y="1995189"/>
            <a:ext cx="44012" cy="25555"/>
          </a:xfrm>
          <a:custGeom>
            <a:avLst/>
            <a:gdLst/>
            <a:ahLst/>
            <a:cxnLst/>
            <a:rect l="l" t="t" r="r" b="b"/>
            <a:pathLst>
              <a:path w="58683" h="34073">
                <a:moveTo>
                  <a:pt x="0" y="0"/>
                </a:moveTo>
                <a:lnTo>
                  <a:pt x="58683" y="34073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121169" y="1935949"/>
            <a:ext cx="2744" cy="23231"/>
          </a:xfrm>
          <a:custGeom>
            <a:avLst/>
            <a:gdLst/>
            <a:ahLst/>
            <a:cxnLst/>
            <a:rect l="l" t="t" r="r" b="b"/>
            <a:pathLst>
              <a:path w="3658" h="30975">
                <a:moveTo>
                  <a:pt x="0" y="30975"/>
                </a:moveTo>
                <a:lnTo>
                  <a:pt x="0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155916" y="1935949"/>
            <a:ext cx="2744" cy="23231"/>
          </a:xfrm>
          <a:custGeom>
            <a:avLst/>
            <a:gdLst/>
            <a:ahLst/>
            <a:cxnLst/>
            <a:rect l="l" t="t" r="r" b="b"/>
            <a:pathLst>
              <a:path w="3658" h="30975">
                <a:moveTo>
                  <a:pt x="0" y="30975"/>
                </a:moveTo>
                <a:lnTo>
                  <a:pt x="0" y="0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103796" y="1959181"/>
            <a:ext cx="69493" cy="58079"/>
          </a:xfrm>
          <a:custGeom>
            <a:avLst/>
            <a:gdLst/>
            <a:ahLst/>
            <a:cxnLst/>
            <a:rect l="l" t="t" r="r" b="b"/>
            <a:pathLst>
              <a:path w="92657" h="77438">
                <a:moveTo>
                  <a:pt x="0" y="0"/>
                </a:moveTo>
                <a:lnTo>
                  <a:pt x="92657" y="0"/>
                </a:lnTo>
                <a:lnTo>
                  <a:pt x="92657" y="30975"/>
                </a:lnTo>
                <a:cubicBezTo>
                  <a:pt x="92657" y="56636"/>
                  <a:pt x="71915" y="77438"/>
                  <a:pt x="46328" y="77438"/>
                </a:cubicBezTo>
                <a:cubicBezTo>
                  <a:pt x="20742" y="77438"/>
                  <a:pt x="0" y="56636"/>
                  <a:pt x="0" y="30975"/>
                </a:cubicBezTo>
                <a:close/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138542" y="2017260"/>
            <a:ext cx="2744" cy="23231"/>
          </a:xfrm>
          <a:custGeom>
            <a:avLst/>
            <a:gdLst/>
            <a:ahLst/>
            <a:cxnLst/>
            <a:rect l="l" t="t" r="r" b="b"/>
            <a:pathLst>
              <a:path w="3658" h="30975">
                <a:moveTo>
                  <a:pt x="0" y="0"/>
                </a:moveTo>
                <a:lnTo>
                  <a:pt x="0" y="30975"/>
                </a:lnTo>
              </a:path>
            </a:pathLst>
          </a:custGeom>
          <a:ln w="12372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3776" y="4629271"/>
            <a:ext cx="114112" cy="119039"/>
          </a:xfrm>
          <a:custGeom>
            <a:avLst/>
            <a:gdLst/>
            <a:ahLst/>
            <a:cxnLst/>
            <a:rect l="l" t="t" r="r" b="b"/>
            <a:pathLst>
              <a:path w="152149" h="158718">
                <a:moveTo>
                  <a:pt x="152149" y="73030"/>
                </a:moveTo>
                <a:lnTo>
                  <a:pt x="152149" y="79734"/>
                </a:lnTo>
                <a:cubicBezTo>
                  <a:pt x="152130" y="112004"/>
                  <a:pt x="130806" y="140418"/>
                  <a:pt x="99739" y="149568"/>
                </a:cubicBezTo>
                <a:cubicBezTo>
                  <a:pt x="68673" y="158718"/>
                  <a:pt x="35265" y="146423"/>
                  <a:pt x="17632" y="119352"/>
                </a:cubicBezTo>
                <a:cubicBezTo>
                  <a:pt x="0" y="92280"/>
                  <a:pt x="2343" y="56880"/>
                  <a:pt x="23392" y="32349"/>
                </a:cubicBezTo>
                <a:cubicBezTo>
                  <a:pt x="44440" y="7818"/>
                  <a:pt x="79179" y="0"/>
                  <a:pt x="108771" y="13134"/>
                </a:cubicBezTo>
              </a:path>
            </a:pathLst>
          </a:custGeom>
          <a:ln w="11681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06566" y="4645353"/>
            <a:ext cx="71321" cy="54704"/>
          </a:xfrm>
          <a:custGeom>
            <a:avLst/>
            <a:gdLst/>
            <a:ahLst/>
            <a:cxnLst/>
            <a:rect l="l" t="t" r="r" b="b"/>
            <a:pathLst>
              <a:path w="95095" h="72939">
                <a:moveTo>
                  <a:pt x="95095" y="0"/>
                </a:moveTo>
                <a:lnTo>
                  <a:pt x="21945" y="72939"/>
                </a:lnTo>
                <a:lnTo>
                  <a:pt x="0" y="51079"/>
                </a:lnTo>
              </a:path>
            </a:pathLst>
          </a:custGeom>
          <a:ln w="11681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445302" y="167678"/>
            <a:ext cx="4718278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사례 A - 실적 조회부터 외부 연동까지,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네 가지 기능</a:t>
            </a:r>
            <a:endParaRPr lang="en-US" sz="1710" dirty="0"/>
          </a:p>
        </p:txBody>
      </p:sp>
      <p:sp>
        <p:nvSpPr>
          <p:cNvPr id="38" name="Text 36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39" name="Text 37"/>
          <p:cNvSpPr txBox="1"/>
          <p:nvPr/>
        </p:nvSpPr>
        <p:spPr>
          <a:xfrm>
            <a:off x="297173" y="641909"/>
            <a:ext cx="8655037" cy="201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9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하나의 프로젝트 안에서</a:t>
            </a:r>
            <a:r>
              <a:rPr lang="en-US" sz="990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사내 데이터 · 사내 문서 · 산출물 공유 · 외부 시스템 연동</a:t>
            </a:r>
            <a:r>
              <a:rPr lang="en-US" sz="99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까지 순차 적용했습니다. 8월 구축 완료, 일부 조직이 파일럿으로 사용 중입니다.</a:t>
            </a:r>
            <a:endParaRPr lang="en-US" sz="990" dirty="0"/>
          </a:p>
        </p:txBody>
      </p:sp>
      <p:sp>
        <p:nvSpPr>
          <p:cNvPr id="40" name="Text 38"/>
          <p:cNvSpPr txBox="1"/>
          <p:nvPr/>
        </p:nvSpPr>
        <p:spPr>
          <a:xfrm>
            <a:off x="428843" y="1135171"/>
            <a:ext cx="53308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 · 조직</a:t>
            </a:r>
            <a:endParaRPr lang="en-US" sz="705" dirty="0"/>
          </a:p>
        </p:txBody>
      </p:sp>
      <p:sp>
        <p:nvSpPr>
          <p:cNvPr id="41" name="Text 39"/>
          <p:cNvSpPr txBox="1"/>
          <p:nvPr/>
        </p:nvSpPr>
        <p:spPr>
          <a:xfrm>
            <a:off x="2806224" y="1135171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업종</a:t>
            </a:r>
            <a:endParaRPr lang="en-US" sz="705" dirty="0"/>
          </a:p>
        </p:txBody>
      </p:sp>
      <p:sp>
        <p:nvSpPr>
          <p:cNvPr id="42" name="Text 40"/>
          <p:cNvSpPr txBox="1"/>
          <p:nvPr/>
        </p:nvSpPr>
        <p:spPr>
          <a:xfrm>
            <a:off x="4324090" y="1135171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단계</a:t>
            </a:r>
            <a:endParaRPr lang="en-US" sz="705" dirty="0"/>
          </a:p>
        </p:txBody>
      </p:sp>
      <p:sp>
        <p:nvSpPr>
          <p:cNvPr id="43" name="Text 41"/>
          <p:cNvSpPr txBox="1"/>
          <p:nvPr/>
        </p:nvSpPr>
        <p:spPr>
          <a:xfrm>
            <a:off x="6410699" y="1135171"/>
            <a:ext cx="546801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주요 데이터</a:t>
            </a:r>
            <a:endParaRPr lang="en-US" sz="705" dirty="0"/>
          </a:p>
        </p:txBody>
      </p:sp>
      <p:sp>
        <p:nvSpPr>
          <p:cNvPr id="44" name="Text 42"/>
          <p:cNvSpPr txBox="1"/>
          <p:nvPr/>
        </p:nvSpPr>
        <p:spPr>
          <a:xfrm>
            <a:off x="428844" y="1262730"/>
            <a:ext cx="893350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국내 통신 유통사</a:t>
            </a:r>
            <a:endParaRPr lang="en-US" sz="915" dirty="0"/>
          </a:p>
        </p:txBody>
      </p:sp>
      <p:sp>
        <p:nvSpPr>
          <p:cNvPr id="45" name="Text 43"/>
          <p:cNvSpPr txBox="1"/>
          <p:nvPr/>
        </p:nvSpPr>
        <p:spPr>
          <a:xfrm>
            <a:off x="2806224" y="1262730"/>
            <a:ext cx="649211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유통 · 통신</a:t>
            </a:r>
            <a:endParaRPr lang="en-US" sz="915" dirty="0"/>
          </a:p>
        </p:txBody>
      </p:sp>
      <p:sp>
        <p:nvSpPr>
          <p:cNvPr id="46" name="Text 44"/>
          <p:cNvSpPr txBox="1"/>
          <p:nvPr/>
        </p:nvSpPr>
        <p:spPr>
          <a:xfrm>
            <a:off x="4324090" y="1262730"/>
            <a:ext cx="1330422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구축 완료</a:t>
            </a:r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· 파일럿 사용 중</a:t>
            </a:r>
            <a:endParaRPr lang="en-US" sz="915" dirty="0"/>
          </a:p>
        </p:txBody>
      </p:sp>
      <p:sp>
        <p:nvSpPr>
          <p:cNvPr id="47" name="Text 45"/>
          <p:cNvSpPr txBox="1"/>
          <p:nvPr/>
        </p:nvSpPr>
        <p:spPr>
          <a:xfrm>
            <a:off x="6410699" y="1262730"/>
            <a:ext cx="1967374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15" kern="0" spc="-9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· 사내 문서 · 대시보드 · 도매 거래</a:t>
            </a:r>
            <a:endParaRPr lang="en-US" sz="915" dirty="0"/>
          </a:p>
        </p:txBody>
      </p:sp>
      <p:sp>
        <p:nvSpPr>
          <p:cNvPr id="48" name="Text 46"/>
          <p:cNvSpPr txBox="1"/>
          <p:nvPr/>
        </p:nvSpPr>
        <p:spPr>
          <a:xfrm>
            <a:off x="434330" y="1745704"/>
            <a:ext cx="246885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01</a:t>
            </a:r>
            <a:endParaRPr lang="en-US" sz="683" dirty="0"/>
          </a:p>
        </p:txBody>
      </p:sp>
      <p:sp>
        <p:nvSpPr>
          <p:cNvPr id="49" name="Text 47"/>
          <p:cNvSpPr txBox="1"/>
          <p:nvPr/>
        </p:nvSpPr>
        <p:spPr>
          <a:xfrm>
            <a:off x="1665081" y="1745704"/>
            <a:ext cx="5468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데이터</a:t>
            </a:r>
            <a:endParaRPr lang="en-US" sz="683" dirty="0"/>
          </a:p>
        </p:txBody>
      </p:sp>
      <p:sp>
        <p:nvSpPr>
          <p:cNvPr id="50" name="Text 48"/>
          <p:cNvSpPr txBox="1"/>
          <p:nvPr/>
        </p:nvSpPr>
        <p:spPr>
          <a:xfrm>
            <a:off x="2646208" y="1745704"/>
            <a:ext cx="25877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02</a:t>
            </a:r>
            <a:endParaRPr lang="en-US" sz="683" dirty="0"/>
          </a:p>
        </p:txBody>
      </p:sp>
      <p:sp>
        <p:nvSpPr>
          <p:cNvPr id="51" name="Text 49"/>
          <p:cNvSpPr txBox="1"/>
          <p:nvPr/>
        </p:nvSpPr>
        <p:spPr>
          <a:xfrm>
            <a:off x="3953767" y="1745704"/>
            <a:ext cx="469079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문서</a:t>
            </a:r>
            <a:endParaRPr lang="en-US" sz="683" dirty="0"/>
          </a:p>
        </p:txBody>
      </p:sp>
      <p:sp>
        <p:nvSpPr>
          <p:cNvPr id="52" name="Text 50"/>
          <p:cNvSpPr txBox="1"/>
          <p:nvPr/>
        </p:nvSpPr>
        <p:spPr>
          <a:xfrm>
            <a:off x="4857171" y="1745704"/>
            <a:ext cx="2606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03</a:t>
            </a:r>
            <a:endParaRPr lang="en-US" sz="683" dirty="0"/>
          </a:p>
        </p:txBody>
      </p:sp>
      <p:sp>
        <p:nvSpPr>
          <p:cNvPr id="53" name="Text 51"/>
          <p:cNvSpPr txBox="1"/>
          <p:nvPr/>
        </p:nvSpPr>
        <p:spPr>
          <a:xfrm>
            <a:off x="6087923" y="1745704"/>
            <a:ext cx="5468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산출물 공유</a:t>
            </a:r>
            <a:endParaRPr lang="en-US" sz="683" dirty="0"/>
          </a:p>
        </p:txBody>
      </p:sp>
      <p:sp>
        <p:nvSpPr>
          <p:cNvPr id="54" name="Text 52"/>
          <p:cNvSpPr txBox="1"/>
          <p:nvPr/>
        </p:nvSpPr>
        <p:spPr>
          <a:xfrm>
            <a:off x="7069050" y="1745704"/>
            <a:ext cx="262430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5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04</a:t>
            </a:r>
            <a:endParaRPr lang="en-US" sz="683" dirty="0"/>
          </a:p>
        </p:txBody>
      </p:sp>
      <p:sp>
        <p:nvSpPr>
          <p:cNvPr id="55" name="Text 53"/>
          <p:cNvSpPr txBox="1"/>
          <p:nvPr/>
        </p:nvSpPr>
        <p:spPr>
          <a:xfrm>
            <a:off x="8299802" y="1745704"/>
            <a:ext cx="546801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kern="0" spc="14" dirty="0">
                <a:solidFill>
                  <a:srgbClr val="94A3B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외부 시스템</a:t>
            </a:r>
            <a:endParaRPr lang="en-US" sz="683" dirty="0"/>
          </a:p>
        </p:txBody>
      </p:sp>
      <p:sp>
        <p:nvSpPr>
          <p:cNvPr id="56" name="Text 54"/>
          <p:cNvSpPr txBox="1"/>
          <p:nvPr/>
        </p:nvSpPr>
        <p:spPr>
          <a:xfrm>
            <a:off x="619034" y="1894865"/>
            <a:ext cx="920781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실적 셀프 조회</a:t>
            </a:r>
            <a:endParaRPr lang="en-US" sz="1095" dirty="0"/>
          </a:p>
        </p:txBody>
      </p:sp>
      <p:sp>
        <p:nvSpPr>
          <p:cNvPr id="57" name="Text 55"/>
          <p:cNvSpPr txBox="1"/>
          <p:nvPr/>
        </p:nvSpPr>
        <p:spPr>
          <a:xfrm>
            <a:off x="2830912" y="1894865"/>
            <a:ext cx="920781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문서 챗봇</a:t>
            </a:r>
            <a:endParaRPr lang="en-US" sz="1095" dirty="0"/>
          </a:p>
        </p:txBody>
      </p:sp>
      <p:sp>
        <p:nvSpPr>
          <p:cNvPr id="58" name="Text 56"/>
          <p:cNvSpPr txBox="1"/>
          <p:nvPr/>
        </p:nvSpPr>
        <p:spPr>
          <a:xfrm>
            <a:off x="5042791" y="1894865"/>
            <a:ext cx="1313963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대시보드 공유 · SDK</a:t>
            </a:r>
            <a:endParaRPr lang="en-US" sz="1095" dirty="0"/>
          </a:p>
        </p:txBody>
      </p:sp>
      <p:sp>
        <p:nvSpPr>
          <p:cNvPr id="59" name="Text 57"/>
          <p:cNvSpPr txBox="1"/>
          <p:nvPr/>
        </p:nvSpPr>
        <p:spPr>
          <a:xfrm>
            <a:off x="7253754" y="1894865"/>
            <a:ext cx="1162177" cy="1954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9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도매 에이전트 연동</a:t>
            </a:r>
            <a:endParaRPr lang="en-US" sz="1095" dirty="0"/>
          </a:p>
        </p:txBody>
      </p:sp>
      <p:sp>
        <p:nvSpPr>
          <p:cNvPr id="60" name="Text 58"/>
          <p:cNvSpPr txBox="1"/>
          <p:nvPr/>
        </p:nvSpPr>
        <p:spPr>
          <a:xfrm>
            <a:off x="434330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1" name="Text 59"/>
          <p:cNvSpPr txBox="1"/>
          <p:nvPr/>
        </p:nvSpPr>
        <p:spPr>
          <a:xfrm>
            <a:off x="2646208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2" name="Text 60"/>
          <p:cNvSpPr txBox="1"/>
          <p:nvPr/>
        </p:nvSpPr>
        <p:spPr>
          <a:xfrm>
            <a:off x="4857172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3" name="Text 61"/>
          <p:cNvSpPr txBox="1"/>
          <p:nvPr/>
        </p:nvSpPr>
        <p:spPr>
          <a:xfrm>
            <a:off x="7069051" y="2207076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과제</a:t>
            </a:r>
            <a:endParaRPr lang="en-US" sz="705" dirty="0"/>
          </a:p>
        </p:txBody>
      </p:sp>
      <p:sp>
        <p:nvSpPr>
          <p:cNvPr id="64" name="Text 62"/>
          <p:cNvSpPr txBox="1"/>
          <p:nvPr/>
        </p:nvSpPr>
        <p:spPr>
          <a:xfrm>
            <a:off x="434329" y="2339778"/>
            <a:ext cx="1742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실적이 시스템별로 흩어져 있고, 조회 요</a:t>
            </a:r>
            <a:endParaRPr lang="en-US" sz="810" dirty="0"/>
          </a:p>
        </p:txBody>
      </p:sp>
      <p:sp>
        <p:nvSpPr>
          <p:cNvPr id="65" name="Text 63"/>
          <p:cNvSpPr txBox="1"/>
          <p:nvPr/>
        </p:nvSpPr>
        <p:spPr>
          <a:xfrm>
            <a:off x="2646208" y="2339778"/>
            <a:ext cx="174609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문서 2,000여 건이 쌓여 탐색에 시</a:t>
            </a:r>
            <a:endParaRPr lang="en-US" sz="810" dirty="0"/>
          </a:p>
        </p:txBody>
      </p:sp>
      <p:sp>
        <p:nvSpPr>
          <p:cNvPr id="66" name="Text 64"/>
          <p:cNvSpPr txBox="1"/>
          <p:nvPr/>
        </p:nvSpPr>
        <p:spPr>
          <a:xfrm>
            <a:off x="4857171" y="2339778"/>
            <a:ext cx="17118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개인이 만든 분석 결과물이 파일로 흩어</a:t>
            </a:r>
            <a:endParaRPr lang="en-US" sz="810" dirty="0"/>
          </a:p>
        </p:txBody>
      </p:sp>
      <p:sp>
        <p:nvSpPr>
          <p:cNvPr id="67" name="Text 65"/>
          <p:cNvSpPr txBox="1"/>
          <p:nvPr/>
        </p:nvSpPr>
        <p:spPr>
          <a:xfrm>
            <a:off x="7069050" y="2339778"/>
            <a:ext cx="17118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도매 업무가 별도 시스템이라 분석 도구</a:t>
            </a:r>
            <a:endParaRPr lang="en-US" sz="810" dirty="0"/>
          </a:p>
        </p:txBody>
      </p:sp>
      <p:sp>
        <p:nvSpPr>
          <p:cNvPr id="68" name="Text 66"/>
          <p:cNvSpPr txBox="1"/>
          <p:nvPr/>
        </p:nvSpPr>
        <p:spPr>
          <a:xfrm>
            <a:off x="434330" y="2494083"/>
            <a:ext cx="168574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청이 본사 담당자에게 집중되어 대기가</a:t>
            </a:r>
            <a:endParaRPr lang="en-US" sz="810" dirty="0"/>
          </a:p>
        </p:txBody>
      </p:sp>
      <p:sp>
        <p:nvSpPr>
          <p:cNvPr id="69" name="Text 67"/>
          <p:cNvSpPr txBox="1"/>
          <p:nvPr/>
        </p:nvSpPr>
        <p:spPr>
          <a:xfrm>
            <a:off x="2646208" y="2494083"/>
            <a:ext cx="176822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간이 들고, 열람 권한이 달라 통합 검색이</a:t>
            </a:r>
            <a:endParaRPr lang="en-US" sz="810" dirty="0"/>
          </a:p>
        </p:txBody>
      </p:sp>
      <p:sp>
        <p:nvSpPr>
          <p:cNvPr id="70" name="Text 68"/>
          <p:cNvSpPr txBox="1"/>
          <p:nvPr/>
        </p:nvSpPr>
        <p:spPr>
          <a:xfrm>
            <a:off x="4857171" y="2494083"/>
            <a:ext cx="176822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지고, 공유 시 열람 범위를 통제할 수단이</a:t>
            </a:r>
            <a:endParaRPr lang="en-US" sz="810" dirty="0"/>
          </a:p>
        </p:txBody>
      </p:sp>
      <p:sp>
        <p:nvSpPr>
          <p:cNvPr id="71" name="Text 69"/>
          <p:cNvSpPr txBox="1"/>
          <p:nvPr/>
        </p:nvSpPr>
        <p:spPr>
          <a:xfrm>
            <a:off x="7069050" y="2494083"/>
            <a:ext cx="1742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와 분리되고, 확인한 내용이 액션으로 이</a:t>
            </a:r>
            <a:endParaRPr lang="en-US" sz="810" dirty="0"/>
          </a:p>
        </p:txBody>
      </p:sp>
      <p:sp>
        <p:nvSpPr>
          <p:cNvPr id="72" name="Text 70"/>
          <p:cNvSpPr txBox="1"/>
          <p:nvPr/>
        </p:nvSpPr>
        <p:spPr>
          <a:xfrm>
            <a:off x="434330" y="2648388"/>
            <a:ext cx="3172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발생</a:t>
            </a:r>
            <a:endParaRPr lang="en-US" sz="810" dirty="0"/>
          </a:p>
        </p:txBody>
      </p:sp>
      <p:sp>
        <p:nvSpPr>
          <p:cNvPr id="73" name="Text 71"/>
          <p:cNvSpPr txBox="1"/>
          <p:nvPr/>
        </p:nvSpPr>
        <p:spPr>
          <a:xfrm>
            <a:off x="2646208" y="2648388"/>
            <a:ext cx="40690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어려움</a:t>
            </a:r>
            <a:endParaRPr lang="en-US" sz="810" dirty="0"/>
          </a:p>
        </p:txBody>
      </p:sp>
      <p:sp>
        <p:nvSpPr>
          <p:cNvPr id="74" name="Text 72"/>
          <p:cNvSpPr txBox="1"/>
          <p:nvPr/>
        </p:nvSpPr>
        <p:spPr>
          <a:xfrm>
            <a:off x="4857171" y="2648388"/>
            <a:ext cx="3172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없음</a:t>
            </a:r>
            <a:endParaRPr lang="en-US" sz="810" dirty="0"/>
          </a:p>
        </p:txBody>
      </p:sp>
      <p:sp>
        <p:nvSpPr>
          <p:cNvPr id="75" name="Text 73"/>
          <p:cNvSpPr txBox="1"/>
          <p:nvPr/>
        </p:nvSpPr>
        <p:spPr>
          <a:xfrm>
            <a:off x="7069051" y="2648388"/>
            <a:ext cx="60989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어지지 않음</a:t>
            </a:r>
            <a:endParaRPr lang="en-US" sz="810" dirty="0"/>
          </a:p>
        </p:txBody>
      </p:sp>
      <p:sp>
        <p:nvSpPr>
          <p:cNvPr id="76" name="Text 74"/>
          <p:cNvSpPr txBox="1"/>
          <p:nvPr/>
        </p:nvSpPr>
        <p:spPr>
          <a:xfrm>
            <a:off x="434330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77" name="Text 75"/>
          <p:cNvSpPr txBox="1"/>
          <p:nvPr/>
        </p:nvSpPr>
        <p:spPr>
          <a:xfrm>
            <a:off x="2646208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78" name="Text 76"/>
          <p:cNvSpPr txBox="1"/>
          <p:nvPr/>
        </p:nvSpPr>
        <p:spPr>
          <a:xfrm>
            <a:off x="4857172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79" name="Text 77"/>
          <p:cNvSpPr txBox="1"/>
          <p:nvPr/>
        </p:nvSpPr>
        <p:spPr>
          <a:xfrm>
            <a:off x="7069051" y="285721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적용</a:t>
            </a:r>
            <a:endParaRPr lang="en-US" sz="705" dirty="0"/>
          </a:p>
        </p:txBody>
      </p:sp>
      <p:sp>
        <p:nvSpPr>
          <p:cNvPr id="80" name="Text 78"/>
          <p:cNvSpPr txBox="1"/>
          <p:nvPr/>
        </p:nvSpPr>
        <p:spPr>
          <a:xfrm>
            <a:off x="434330" y="2989916"/>
            <a:ext cx="176621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무선 · 유선 상품군별 실적을 대화형으로</a:t>
            </a:r>
            <a:endParaRPr lang="en-US" sz="810" dirty="0"/>
          </a:p>
        </p:txBody>
      </p:sp>
      <p:sp>
        <p:nvSpPr>
          <p:cNvPr id="81" name="Text 79"/>
          <p:cNvSpPr txBox="1"/>
          <p:nvPr/>
        </p:nvSpPr>
        <p:spPr>
          <a:xfrm>
            <a:off x="2646208" y="2989916"/>
            <a:ext cx="173100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문서 시스템을 API로 연동하고, 권</a:t>
            </a:r>
            <a:endParaRPr lang="en-US" sz="810" dirty="0"/>
          </a:p>
        </p:txBody>
      </p:sp>
      <p:sp>
        <p:nvSpPr>
          <p:cNvPr id="82" name="Text 80"/>
          <p:cNvSpPr txBox="1"/>
          <p:nvPr/>
        </p:nvSpPr>
        <p:spPr>
          <a:xfrm>
            <a:off x="4857171" y="2989916"/>
            <a:ext cx="173100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HTML 산출물을 플랫폼에 등록하고, 권</a:t>
            </a:r>
            <a:endParaRPr lang="en-US" sz="810" dirty="0"/>
          </a:p>
        </p:txBody>
      </p:sp>
      <p:sp>
        <p:nvSpPr>
          <p:cNvPr id="83" name="Text 81"/>
          <p:cNvSpPr txBox="1"/>
          <p:nvPr/>
        </p:nvSpPr>
        <p:spPr>
          <a:xfrm>
            <a:off x="7069050" y="2989916"/>
            <a:ext cx="175011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aisight AI 기능을 API로 제공해 고객사</a:t>
            </a:r>
            <a:endParaRPr lang="en-US" sz="810" dirty="0"/>
          </a:p>
        </p:txBody>
      </p:sp>
      <p:sp>
        <p:nvSpPr>
          <p:cNvPr id="84" name="Text 82"/>
          <p:cNvSpPr txBox="1"/>
          <p:nvPr/>
        </p:nvSpPr>
        <p:spPr>
          <a:xfrm>
            <a:off x="434329" y="3144221"/>
            <a:ext cx="1742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조회하고, 팀장 이상 관리자용 현황 요약</a:t>
            </a:r>
            <a:endParaRPr lang="en-US" sz="810" dirty="0"/>
          </a:p>
        </p:txBody>
      </p:sp>
      <p:sp>
        <p:nvSpPr>
          <p:cNvPr id="85" name="Text 83"/>
          <p:cNvSpPr txBox="1"/>
          <p:nvPr/>
        </p:nvSpPr>
        <p:spPr>
          <a:xfrm>
            <a:off x="2646208" y="3144221"/>
            <a:ext cx="133408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범위 내 문서만 답변에 활용</a:t>
            </a:r>
            <a:endParaRPr lang="en-US" sz="810" dirty="0"/>
          </a:p>
        </p:txBody>
      </p:sp>
      <p:sp>
        <p:nvSpPr>
          <p:cNvPr id="86" name="Text 84"/>
          <p:cNvSpPr txBox="1"/>
          <p:nvPr/>
        </p:nvSpPr>
        <p:spPr>
          <a:xfrm>
            <a:off x="4857171" y="3144221"/>
            <a:ext cx="121978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관리 기반으로 링크 공유</a:t>
            </a:r>
            <a:endParaRPr lang="en-US" sz="810" dirty="0"/>
          </a:p>
        </p:txBody>
      </p:sp>
      <p:sp>
        <p:nvSpPr>
          <p:cNvPr id="87" name="Text 85"/>
          <p:cNvSpPr txBox="1"/>
          <p:nvPr/>
        </p:nvSpPr>
        <p:spPr>
          <a:xfrm>
            <a:off x="7069050" y="3144221"/>
            <a:ext cx="128653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도매 에이전트 시스템에 탑재</a:t>
            </a:r>
            <a:endParaRPr lang="en-US" sz="810" dirty="0"/>
          </a:p>
        </p:txBody>
      </p:sp>
      <p:sp>
        <p:nvSpPr>
          <p:cNvPr id="88" name="Text 86"/>
          <p:cNvSpPr txBox="1"/>
          <p:nvPr/>
        </p:nvSpPr>
        <p:spPr>
          <a:xfrm>
            <a:off x="434330" y="3298526"/>
            <a:ext cx="43067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뷰 제공</a:t>
            </a:r>
            <a:endParaRPr lang="en-US" sz="810" dirty="0"/>
          </a:p>
        </p:txBody>
      </p:sp>
      <p:sp>
        <p:nvSpPr>
          <p:cNvPr id="89" name="Text 87"/>
          <p:cNvSpPr txBox="1"/>
          <p:nvPr/>
        </p:nvSpPr>
        <p:spPr>
          <a:xfrm>
            <a:off x="519367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0" name="Text 88"/>
          <p:cNvSpPr txBox="1"/>
          <p:nvPr/>
        </p:nvSpPr>
        <p:spPr>
          <a:xfrm>
            <a:off x="2731245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1" name="Text 89"/>
          <p:cNvSpPr txBox="1"/>
          <p:nvPr/>
        </p:nvSpPr>
        <p:spPr>
          <a:xfrm>
            <a:off x="4943123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2" name="Text 90"/>
          <p:cNvSpPr txBox="1"/>
          <p:nvPr/>
        </p:nvSpPr>
        <p:spPr>
          <a:xfrm>
            <a:off x="7155001" y="3783045"/>
            <a:ext cx="29260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효과</a:t>
            </a:r>
            <a:endParaRPr lang="en-US" sz="705" dirty="0"/>
          </a:p>
        </p:txBody>
      </p:sp>
      <p:sp>
        <p:nvSpPr>
          <p:cNvPr id="93" name="Text 91"/>
          <p:cNvSpPr txBox="1"/>
          <p:nvPr/>
        </p:nvSpPr>
        <p:spPr>
          <a:xfrm>
            <a:off x="519367" y="3909575"/>
            <a:ext cx="1584158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요청 대기열 감소 · 현황 파악 시점 단</a:t>
            </a:r>
            <a:endParaRPr lang="en-US" sz="795" dirty="0"/>
          </a:p>
        </p:txBody>
      </p:sp>
      <p:sp>
        <p:nvSpPr>
          <p:cNvPr id="94" name="Text 92"/>
          <p:cNvSpPr txBox="1"/>
          <p:nvPr/>
        </p:nvSpPr>
        <p:spPr>
          <a:xfrm>
            <a:off x="2731245" y="3909575"/>
            <a:ext cx="1610309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문서 탐색 시간 단축 · 권한 밖 노출 없</a:t>
            </a:r>
            <a:endParaRPr lang="en-US" sz="795" dirty="0"/>
          </a:p>
        </p:txBody>
      </p:sp>
      <p:sp>
        <p:nvSpPr>
          <p:cNvPr id="95" name="Text 93"/>
          <p:cNvSpPr txBox="1"/>
          <p:nvPr/>
        </p:nvSpPr>
        <p:spPr>
          <a:xfrm>
            <a:off x="4943123" y="3909575"/>
            <a:ext cx="1533868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분석 결과물이 조직 자산으로 축적 ·</a:t>
            </a:r>
            <a:endParaRPr lang="en-US" sz="795" dirty="0"/>
          </a:p>
        </p:txBody>
      </p:sp>
      <p:sp>
        <p:nvSpPr>
          <p:cNvPr id="96" name="Text 94"/>
          <p:cNvSpPr txBox="1"/>
          <p:nvPr/>
        </p:nvSpPr>
        <p:spPr>
          <a:xfrm>
            <a:off x="7155001" y="3909575"/>
            <a:ext cx="1533868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업무 화면에서 바로 인사이트 확보 ·</a:t>
            </a:r>
            <a:endParaRPr lang="en-US" sz="795" dirty="0"/>
          </a:p>
        </p:txBody>
      </p:sp>
      <p:sp>
        <p:nvSpPr>
          <p:cNvPr id="97" name="Text 95"/>
          <p:cNvSpPr txBox="1"/>
          <p:nvPr/>
        </p:nvSpPr>
        <p:spPr>
          <a:xfrm>
            <a:off x="519366" y="4060794"/>
            <a:ext cx="1091770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축 · 조회 이력 전건 기록</a:t>
            </a:r>
            <a:endParaRPr lang="en-US" sz="795" dirty="0"/>
          </a:p>
        </p:txBody>
      </p:sp>
      <p:sp>
        <p:nvSpPr>
          <p:cNvPr id="98" name="Text 96"/>
          <p:cNvSpPr txBox="1"/>
          <p:nvPr/>
        </p:nvSpPr>
        <p:spPr>
          <a:xfrm>
            <a:off x="2731245" y="4060794"/>
            <a:ext cx="1356025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음 · 답변 근거를 원문으로 확인</a:t>
            </a:r>
            <a:endParaRPr lang="en-US" sz="795" dirty="0"/>
          </a:p>
        </p:txBody>
      </p:sp>
      <p:sp>
        <p:nvSpPr>
          <p:cNvPr id="99" name="Text 97"/>
          <p:cNvSpPr txBox="1"/>
          <p:nvPr/>
        </p:nvSpPr>
        <p:spPr>
          <a:xfrm>
            <a:off x="4943123" y="4060794"/>
            <a:ext cx="710474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중복 제작 감소</a:t>
            </a:r>
            <a:endParaRPr lang="en-US" sz="795" dirty="0"/>
          </a:p>
        </p:txBody>
      </p:sp>
      <p:sp>
        <p:nvSpPr>
          <p:cNvPr id="100" name="Text 98"/>
          <p:cNvSpPr txBox="1"/>
          <p:nvPr/>
        </p:nvSpPr>
        <p:spPr>
          <a:xfrm>
            <a:off x="7155001" y="4060794"/>
            <a:ext cx="1085369" cy="150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95" dirty="0">
                <a:solidFill>
                  <a:srgbClr val="115E5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분석 이후 액션까지 연결</a:t>
            </a:r>
            <a:endParaRPr lang="en-US" sz="795" dirty="0"/>
          </a:p>
        </p:txBody>
      </p:sp>
      <p:sp>
        <p:nvSpPr>
          <p:cNvPr id="101" name="Text 99"/>
          <p:cNvSpPr txBox="1"/>
          <p:nvPr/>
        </p:nvSpPr>
        <p:spPr>
          <a:xfrm>
            <a:off x="679382" y="4609605"/>
            <a:ext cx="6232029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8월 구축을 완료하고 일부 조직이</a:t>
            </a:r>
            <a:r>
              <a:rPr lang="en-US" sz="900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파일럿으로 사용 중</a:t>
            </a:r>
            <a:r>
              <a:rPr lang="en-US" sz="900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입니다. 문서 접근은 사내 문서 시스템의 기존 권한 체계를 그대로 따릅니다.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4450274" y="4923873"/>
            <a:ext cx="379470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- 28 -</a:t>
            </a:r>
            <a:endParaRPr lang="en-US" sz="705" dirty="0"/>
          </a:p>
        </p:txBody>
      </p:sp>
      <p:sp>
        <p:nvSpPr>
          <p:cNvPr id="103" name="Text 101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4" name="Shape 2"/>
          <p:cNvSpPr/>
          <p:nvPr/>
        </p:nvSpPr>
        <p:spPr>
          <a:xfrm>
            <a:off x="297173" y="1020470"/>
            <a:ext cx="1756519" cy="2047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5" name="Shape 3"/>
          <p:cNvSpPr/>
          <p:nvPr/>
        </p:nvSpPr>
        <p:spPr>
          <a:xfrm>
            <a:off x="2111297" y="1020470"/>
            <a:ext cx="994842" cy="2047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6" name="Shape 4"/>
          <p:cNvSpPr/>
          <p:nvPr/>
        </p:nvSpPr>
        <p:spPr>
          <a:xfrm>
            <a:off x="3162831" y="1020470"/>
            <a:ext cx="1753775" cy="20471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7" name="Shape 5"/>
          <p:cNvSpPr/>
          <p:nvPr/>
        </p:nvSpPr>
        <p:spPr>
          <a:xfrm>
            <a:off x="4973297" y="1020470"/>
            <a:ext cx="942723" cy="204711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8" name="Shape 6"/>
          <p:cNvSpPr/>
          <p:nvPr/>
        </p:nvSpPr>
        <p:spPr>
          <a:xfrm>
            <a:off x="297173" y="1361999"/>
            <a:ext cx="216707" cy="2170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9" name="Shape 7"/>
          <p:cNvSpPr/>
          <p:nvPr/>
        </p:nvSpPr>
        <p:spPr>
          <a:xfrm>
            <a:off x="559599" y="1464869"/>
            <a:ext cx="1755604" cy="113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10" name="Shape 8"/>
          <p:cNvSpPr/>
          <p:nvPr/>
        </p:nvSpPr>
        <p:spPr>
          <a:xfrm>
            <a:off x="297173" y="1647463"/>
            <a:ext cx="2018030" cy="3198743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1" name="Shape 9"/>
          <p:cNvSpPr/>
          <p:nvPr/>
        </p:nvSpPr>
        <p:spPr>
          <a:xfrm>
            <a:off x="416956" y="4538110"/>
            <a:ext cx="1778464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2" name="Shape 10"/>
          <p:cNvSpPr/>
          <p:nvPr/>
        </p:nvSpPr>
        <p:spPr>
          <a:xfrm>
            <a:off x="416956" y="4649210"/>
            <a:ext cx="63092" cy="62751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13" name="Shape 11"/>
          <p:cNvSpPr/>
          <p:nvPr/>
        </p:nvSpPr>
        <p:spPr>
          <a:xfrm>
            <a:off x="2452360" y="1361999"/>
            <a:ext cx="216707" cy="217056"/>
          </a:xfrm>
          <a:prstGeom prst="ellipse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4" name="Shape 12"/>
          <p:cNvSpPr/>
          <p:nvPr/>
        </p:nvSpPr>
        <p:spPr>
          <a:xfrm>
            <a:off x="2714786" y="1464869"/>
            <a:ext cx="3975712" cy="113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15" name="Shape 13"/>
          <p:cNvSpPr/>
          <p:nvPr/>
        </p:nvSpPr>
        <p:spPr>
          <a:xfrm>
            <a:off x="2452360" y="1647463"/>
            <a:ext cx="4239053" cy="3198743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6" name="Shape 14"/>
          <p:cNvSpPr/>
          <p:nvPr/>
        </p:nvSpPr>
        <p:spPr>
          <a:xfrm>
            <a:off x="2572143" y="2007508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7" name="Shape 15"/>
          <p:cNvSpPr/>
          <p:nvPr/>
        </p:nvSpPr>
        <p:spPr>
          <a:xfrm>
            <a:off x="2572143" y="2637073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8" name="Shape 16"/>
          <p:cNvSpPr/>
          <p:nvPr/>
        </p:nvSpPr>
        <p:spPr>
          <a:xfrm>
            <a:off x="2572143" y="3267151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19" name="Shape 17"/>
          <p:cNvSpPr/>
          <p:nvPr/>
        </p:nvSpPr>
        <p:spPr>
          <a:xfrm>
            <a:off x="2572143" y="3896716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0" name="Shape 18"/>
          <p:cNvSpPr/>
          <p:nvPr/>
        </p:nvSpPr>
        <p:spPr>
          <a:xfrm>
            <a:off x="2572143" y="4538110"/>
            <a:ext cx="3998571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1" name="Shape 19"/>
          <p:cNvSpPr/>
          <p:nvPr/>
        </p:nvSpPr>
        <p:spPr>
          <a:xfrm>
            <a:off x="2572144" y="4649210"/>
            <a:ext cx="63092" cy="62751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22" name="Shape 20"/>
          <p:cNvSpPr/>
          <p:nvPr/>
        </p:nvSpPr>
        <p:spPr>
          <a:xfrm>
            <a:off x="6828569" y="1361999"/>
            <a:ext cx="216707" cy="2170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3" name="Shape 21"/>
          <p:cNvSpPr/>
          <p:nvPr/>
        </p:nvSpPr>
        <p:spPr>
          <a:xfrm>
            <a:off x="6828569" y="1647463"/>
            <a:ext cx="2018030" cy="3198743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4" name="Shape 22"/>
          <p:cNvSpPr/>
          <p:nvPr/>
        </p:nvSpPr>
        <p:spPr>
          <a:xfrm>
            <a:off x="6948352" y="4538110"/>
            <a:ext cx="1778464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5" name="Shape 23"/>
          <p:cNvSpPr/>
          <p:nvPr/>
        </p:nvSpPr>
        <p:spPr>
          <a:xfrm>
            <a:off x="6948352" y="4649210"/>
            <a:ext cx="63092" cy="62751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 sz="1350"/>
          </a:p>
        </p:txBody>
      </p:sp>
      <p:sp>
        <p:nvSpPr>
          <p:cNvPr id="26" name="Shape 24"/>
          <p:cNvSpPr/>
          <p:nvPr/>
        </p:nvSpPr>
        <p:spPr>
          <a:xfrm>
            <a:off x="433111" y="241448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7" name="Shape 25"/>
          <p:cNvSpPr/>
          <p:nvPr/>
        </p:nvSpPr>
        <p:spPr>
          <a:xfrm>
            <a:off x="433111" y="2603769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8" name="Shape 26"/>
          <p:cNvSpPr/>
          <p:nvPr/>
        </p:nvSpPr>
        <p:spPr>
          <a:xfrm>
            <a:off x="2586430" y="2290786"/>
            <a:ext cx="85723" cy="85640"/>
          </a:xfrm>
          <a:custGeom>
            <a:avLst/>
            <a:gdLst/>
            <a:ahLst/>
            <a:cxnLst/>
            <a:rect l="l" t="t" r="r" b="b"/>
            <a:pathLst>
              <a:path w="114297" h="114186">
                <a:moveTo>
                  <a:pt x="0" y="0"/>
                </a:moveTo>
                <a:lnTo>
                  <a:pt x="0" y="114186"/>
                </a:lnTo>
                <a:lnTo>
                  <a:pt x="114297" y="114186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9" name="Shape 27"/>
          <p:cNvSpPr/>
          <p:nvPr/>
        </p:nvSpPr>
        <p:spPr>
          <a:xfrm>
            <a:off x="2605480" y="2309817"/>
            <a:ext cx="57149" cy="33305"/>
          </a:xfrm>
          <a:custGeom>
            <a:avLst/>
            <a:gdLst/>
            <a:ahLst/>
            <a:cxnLst/>
            <a:rect l="l" t="t" r="r" b="b"/>
            <a:pathLst>
              <a:path w="76198" h="44406">
                <a:moveTo>
                  <a:pt x="0" y="44406"/>
                </a:moveTo>
                <a:lnTo>
                  <a:pt x="25399" y="19031"/>
                </a:lnTo>
                <a:lnTo>
                  <a:pt x="44449" y="38062"/>
                </a:lnTo>
                <a:lnTo>
                  <a:pt x="76198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0" name="Shape 28"/>
          <p:cNvSpPr/>
          <p:nvPr/>
        </p:nvSpPr>
        <p:spPr>
          <a:xfrm>
            <a:off x="2591193" y="2920865"/>
            <a:ext cx="76198" cy="28547"/>
          </a:xfrm>
          <a:prstGeom prst="ellipse">
            <a:avLst/>
          </a:pr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1" name="Shape 29"/>
          <p:cNvSpPr/>
          <p:nvPr/>
        </p:nvSpPr>
        <p:spPr>
          <a:xfrm>
            <a:off x="2591193" y="2935139"/>
            <a:ext cx="76198" cy="71366"/>
          </a:xfrm>
          <a:custGeom>
            <a:avLst/>
            <a:gdLst/>
            <a:ahLst/>
            <a:cxnLst/>
            <a:rect l="l" t="t" r="r" b="b"/>
            <a:pathLst>
              <a:path w="101597" h="95155">
                <a:moveTo>
                  <a:pt x="0" y="0"/>
                </a:moveTo>
                <a:lnTo>
                  <a:pt x="0" y="76124"/>
                </a:lnTo>
                <a:cubicBezTo>
                  <a:pt x="0" y="86908"/>
                  <a:pt x="22859" y="95155"/>
                  <a:pt x="50799" y="95155"/>
                </a:cubicBezTo>
                <a:cubicBezTo>
                  <a:pt x="78738" y="95155"/>
                  <a:pt x="101597" y="86908"/>
                  <a:pt x="101597" y="76124"/>
                </a:cubicBezTo>
                <a:lnTo>
                  <a:pt x="101597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2" name="Shape 30"/>
          <p:cNvSpPr/>
          <p:nvPr/>
        </p:nvSpPr>
        <p:spPr>
          <a:xfrm>
            <a:off x="2591193" y="2963686"/>
            <a:ext cx="76198" cy="14273"/>
          </a:xfrm>
          <a:custGeom>
            <a:avLst/>
            <a:gdLst/>
            <a:ahLst/>
            <a:cxnLst/>
            <a:rect l="l" t="t" r="r" b="b"/>
            <a:pathLst>
              <a:path w="101597" h="19031">
                <a:moveTo>
                  <a:pt x="0" y="0"/>
                </a:moveTo>
                <a:cubicBezTo>
                  <a:pt x="0" y="10784"/>
                  <a:pt x="22859" y="19031"/>
                  <a:pt x="50799" y="19031"/>
                </a:cubicBezTo>
                <a:cubicBezTo>
                  <a:pt x="78738" y="19031"/>
                  <a:pt x="101597" y="10784"/>
                  <a:pt x="101597" y="0"/>
                </a:cubicBez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3" name="Shape 31"/>
          <p:cNvSpPr/>
          <p:nvPr/>
        </p:nvSpPr>
        <p:spPr>
          <a:xfrm>
            <a:off x="2591193" y="3545672"/>
            <a:ext cx="76198" cy="95155"/>
          </a:xfrm>
          <a:custGeom>
            <a:avLst/>
            <a:gdLst/>
            <a:ahLst/>
            <a:cxnLst/>
            <a:rect l="l" t="t" r="r" b="b"/>
            <a:pathLst>
              <a:path w="101597" h="126873">
                <a:moveTo>
                  <a:pt x="63498" y="0"/>
                </a:moveTo>
                <a:lnTo>
                  <a:pt x="12700" y="0"/>
                </a:lnTo>
                <a:cubicBezTo>
                  <a:pt x="5686" y="0"/>
                  <a:pt x="0" y="5680"/>
                  <a:pt x="0" y="12687"/>
                </a:cubicBezTo>
                <a:lnTo>
                  <a:pt x="0" y="114186"/>
                </a:lnTo>
                <a:cubicBezTo>
                  <a:pt x="0" y="121193"/>
                  <a:pt x="5686" y="126873"/>
                  <a:pt x="12700" y="126873"/>
                </a:cubicBezTo>
                <a:lnTo>
                  <a:pt x="88898" y="126873"/>
                </a:lnTo>
                <a:cubicBezTo>
                  <a:pt x="95912" y="126873"/>
                  <a:pt x="101597" y="121193"/>
                  <a:pt x="101597" y="114186"/>
                </a:cubicBezTo>
                <a:lnTo>
                  <a:pt x="101597" y="38062"/>
                </a:ln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4" name="Shape 32"/>
          <p:cNvSpPr/>
          <p:nvPr/>
        </p:nvSpPr>
        <p:spPr>
          <a:xfrm>
            <a:off x="2638817" y="3545671"/>
            <a:ext cx="28574" cy="28547"/>
          </a:xfrm>
          <a:custGeom>
            <a:avLst/>
            <a:gdLst/>
            <a:ahLst/>
            <a:cxnLst/>
            <a:rect l="l" t="t" r="r" b="b"/>
            <a:pathLst>
              <a:path w="38099" h="38062">
                <a:moveTo>
                  <a:pt x="0" y="0"/>
                </a:moveTo>
                <a:lnTo>
                  <a:pt x="0" y="38062"/>
                </a:lnTo>
                <a:lnTo>
                  <a:pt x="38099" y="38062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5" name="Shape 33"/>
          <p:cNvSpPr/>
          <p:nvPr/>
        </p:nvSpPr>
        <p:spPr>
          <a:xfrm>
            <a:off x="2615005" y="3607522"/>
            <a:ext cx="28574" cy="2744"/>
          </a:xfrm>
          <a:custGeom>
            <a:avLst/>
            <a:gdLst/>
            <a:ahLst/>
            <a:cxnLst/>
            <a:rect l="l" t="t" r="r" b="b"/>
            <a:pathLst>
              <a:path w="38099" h="3658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6" name="Shape 34"/>
          <p:cNvSpPr/>
          <p:nvPr/>
        </p:nvSpPr>
        <p:spPr>
          <a:xfrm>
            <a:off x="2591193" y="4181191"/>
            <a:ext cx="81130" cy="84443"/>
          </a:xfrm>
          <a:custGeom>
            <a:avLst/>
            <a:gdLst/>
            <a:ahLst/>
            <a:cxnLst/>
            <a:rect l="l" t="t" r="r" b="b"/>
            <a:pathLst>
              <a:path w="108173" h="112591">
                <a:moveTo>
                  <a:pt x="107947" y="55498"/>
                </a:moveTo>
                <a:cubicBezTo>
                  <a:pt x="107850" y="73065"/>
                  <a:pt x="98666" y="89332"/>
                  <a:pt x="83669" y="98503"/>
                </a:cubicBezTo>
                <a:cubicBezTo>
                  <a:pt x="68671" y="107673"/>
                  <a:pt x="49992" y="108443"/>
                  <a:pt x="34289" y="100538"/>
                </a:cubicBezTo>
                <a:lnTo>
                  <a:pt x="0" y="112591"/>
                </a:lnTo>
                <a:lnTo>
                  <a:pt x="12065" y="78335"/>
                </a:lnTo>
                <a:cubicBezTo>
                  <a:pt x="2324" y="59587"/>
                  <a:pt x="5226" y="36771"/>
                  <a:pt x="19351" y="21052"/>
                </a:cubicBezTo>
                <a:cubicBezTo>
                  <a:pt x="33476" y="5334"/>
                  <a:pt x="55870" y="0"/>
                  <a:pt x="75575" y="7661"/>
                </a:cubicBezTo>
                <a:cubicBezTo>
                  <a:pt x="95279" y="15322"/>
                  <a:pt x="108173" y="34376"/>
                  <a:pt x="107947" y="55498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7" name="Shape 35"/>
          <p:cNvSpPr/>
          <p:nvPr/>
        </p:nvSpPr>
        <p:spPr>
          <a:xfrm>
            <a:off x="2617386" y="4199025"/>
            <a:ext cx="23812" cy="28547"/>
          </a:xfrm>
          <a:custGeom>
            <a:avLst/>
            <a:gdLst/>
            <a:ahLst/>
            <a:cxnLst/>
            <a:rect l="l" t="t" r="r" b="b"/>
            <a:pathLst>
              <a:path w="31749" h="38062">
                <a:moveTo>
                  <a:pt x="0" y="15859"/>
                </a:moveTo>
                <a:cubicBezTo>
                  <a:pt x="0" y="7100"/>
                  <a:pt x="7107" y="0"/>
                  <a:pt x="15875" y="0"/>
                </a:cubicBezTo>
                <a:cubicBezTo>
                  <a:pt x="24642" y="0"/>
                  <a:pt x="31749" y="7100"/>
                  <a:pt x="31749" y="15859"/>
                </a:cubicBezTo>
                <a:cubicBezTo>
                  <a:pt x="31749" y="25375"/>
                  <a:pt x="15875" y="28546"/>
                  <a:pt x="15875" y="38062"/>
                </a:cubicBezTo>
              </a:path>
            </a:pathLst>
          </a:cu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8" name="Shape 36"/>
          <p:cNvSpPr/>
          <p:nvPr/>
        </p:nvSpPr>
        <p:spPr>
          <a:xfrm>
            <a:off x="2626910" y="4241845"/>
            <a:ext cx="4763" cy="4758"/>
          </a:xfrm>
          <a:prstGeom prst="ellipse">
            <a:avLst/>
          </a:prstGeom>
          <a:ln w="1015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9" name="Shape 37"/>
          <p:cNvSpPr/>
          <p:nvPr/>
        </p:nvSpPr>
        <p:spPr>
          <a:xfrm>
            <a:off x="6960467" y="2565385"/>
            <a:ext cx="72693" cy="72909"/>
          </a:xfrm>
          <a:custGeom>
            <a:avLst/>
            <a:gdLst/>
            <a:ahLst/>
            <a:cxnLst/>
            <a:rect l="l" t="t" r="r" b="b"/>
            <a:pathLst>
              <a:path w="96924" h="97212">
                <a:moveTo>
                  <a:pt x="96924" y="48606"/>
                </a:moveTo>
                <a:cubicBezTo>
                  <a:pt x="96924" y="75450"/>
                  <a:pt x="75227" y="97212"/>
                  <a:pt x="48462" y="97212"/>
                </a:cubicBezTo>
                <a:cubicBezTo>
                  <a:pt x="21697" y="97212"/>
                  <a:pt x="0" y="75450"/>
                  <a:pt x="0" y="48606"/>
                </a:cubicBezTo>
                <a:cubicBezTo>
                  <a:pt x="0" y="21762"/>
                  <a:pt x="21697" y="0"/>
                  <a:pt x="48462" y="0"/>
                </a:cubicBez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0" name="Shape 38"/>
          <p:cNvSpPr/>
          <p:nvPr/>
        </p:nvSpPr>
        <p:spPr>
          <a:xfrm>
            <a:off x="7008929" y="2565385"/>
            <a:ext cx="24231" cy="24303"/>
          </a:xfrm>
          <a:custGeom>
            <a:avLst/>
            <a:gdLst/>
            <a:ahLst/>
            <a:cxnLst/>
            <a:rect l="l" t="t" r="r" b="b"/>
            <a:pathLst>
              <a:path w="32308" h="32404">
                <a:moveTo>
                  <a:pt x="32308" y="0"/>
                </a:moveTo>
                <a:lnTo>
                  <a:pt x="32308" y="32404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1" name="Shape 39"/>
          <p:cNvSpPr/>
          <p:nvPr/>
        </p:nvSpPr>
        <p:spPr>
          <a:xfrm>
            <a:off x="6964507" y="2766304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2" name="Text 40"/>
          <p:cNvSpPr txBox="1"/>
          <p:nvPr/>
        </p:nvSpPr>
        <p:spPr>
          <a:xfrm>
            <a:off x="445302" y="167678"/>
            <a:ext cx="408260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사례 B - 글로벌 D2C 채널의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BI Agent 구축</a:t>
            </a:r>
            <a:endParaRPr lang="en-US" sz="1710" dirty="0"/>
          </a:p>
        </p:txBody>
      </p:sp>
      <p:sp>
        <p:nvSpPr>
          <p:cNvPr id="43" name="Text 41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44" name="Text 42"/>
          <p:cNvSpPr txBox="1"/>
          <p:nvPr/>
        </p:nvSpPr>
        <p:spPr>
          <a:xfrm>
            <a:off x="297173" y="677913"/>
            <a:ext cx="5354958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PoC로 가능성을 검증한 뒤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본 구축으로 이어진 건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입니다. 해외 판매 법인 전체로 확산하는 구조입니다.</a:t>
            </a:r>
            <a:endParaRPr lang="en-US" sz="975" dirty="0"/>
          </a:p>
        </p:txBody>
      </p:sp>
      <p:sp>
        <p:nvSpPr>
          <p:cNvPr id="45" name="Text 43"/>
          <p:cNvSpPr txBox="1"/>
          <p:nvPr/>
        </p:nvSpPr>
        <p:spPr>
          <a:xfrm>
            <a:off x="595259" y="1055446"/>
            <a:ext cx="149318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글로벌 제조사 · D2C 해외영업 조직</a:t>
            </a:r>
            <a:endParaRPr lang="en-US" sz="758" dirty="0"/>
          </a:p>
        </p:txBody>
      </p:sp>
      <p:sp>
        <p:nvSpPr>
          <p:cNvPr id="46" name="Text 44"/>
          <p:cNvSpPr txBox="1"/>
          <p:nvPr/>
        </p:nvSpPr>
        <p:spPr>
          <a:xfrm>
            <a:off x="2409384" y="1055446"/>
            <a:ext cx="730591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제조 · 이커머스</a:t>
            </a:r>
            <a:endParaRPr lang="en-US" sz="758" dirty="0"/>
          </a:p>
        </p:txBody>
      </p:sp>
      <p:sp>
        <p:nvSpPr>
          <p:cNvPr id="47" name="Text 45"/>
          <p:cNvSpPr txBox="1"/>
          <p:nvPr/>
        </p:nvSpPr>
        <p:spPr>
          <a:xfrm>
            <a:off x="3532239" y="1055446"/>
            <a:ext cx="1418202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E293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매출 GMV · 손익 · 트래픽 · 상품</a:t>
            </a:r>
            <a:endParaRPr lang="en-US" sz="758" dirty="0"/>
          </a:p>
        </p:txBody>
      </p:sp>
      <p:sp>
        <p:nvSpPr>
          <p:cNvPr id="48" name="Text 46"/>
          <p:cNvSpPr txBox="1"/>
          <p:nvPr/>
        </p:nvSpPr>
        <p:spPr>
          <a:xfrm>
            <a:off x="5075708" y="1055446"/>
            <a:ext cx="874148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115E5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해외 법인 전체 확산</a:t>
            </a:r>
            <a:endParaRPr lang="en-US" sz="758" dirty="0"/>
          </a:p>
        </p:txBody>
      </p:sp>
      <p:sp>
        <p:nvSpPr>
          <p:cNvPr id="49" name="Text 47"/>
          <p:cNvSpPr txBox="1"/>
          <p:nvPr/>
        </p:nvSpPr>
        <p:spPr>
          <a:xfrm>
            <a:off x="399583" y="1065220"/>
            <a:ext cx="280718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</a:t>
            </a:r>
            <a:endParaRPr lang="en-US" sz="645" dirty="0"/>
          </a:p>
        </p:txBody>
      </p:sp>
      <p:sp>
        <p:nvSpPr>
          <p:cNvPr id="50" name="Text 48"/>
          <p:cNvSpPr txBox="1"/>
          <p:nvPr/>
        </p:nvSpPr>
        <p:spPr>
          <a:xfrm>
            <a:off x="2213707" y="1065220"/>
            <a:ext cx="280718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업종</a:t>
            </a:r>
            <a:endParaRPr lang="en-US" sz="645" dirty="0"/>
          </a:p>
        </p:txBody>
      </p:sp>
      <p:sp>
        <p:nvSpPr>
          <p:cNvPr id="51" name="Text 49"/>
          <p:cNvSpPr txBox="1"/>
          <p:nvPr/>
        </p:nvSpPr>
        <p:spPr>
          <a:xfrm>
            <a:off x="3265241" y="1065220"/>
            <a:ext cx="352953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</a:t>
            </a:r>
            <a:endParaRPr lang="en-US" sz="645" dirty="0"/>
          </a:p>
        </p:txBody>
      </p:sp>
      <p:sp>
        <p:nvSpPr>
          <p:cNvPr id="52" name="Text 50"/>
          <p:cNvSpPr txBox="1"/>
          <p:nvPr/>
        </p:nvSpPr>
        <p:spPr>
          <a:xfrm>
            <a:off x="382210" y="1398518"/>
            <a:ext cx="18287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810" dirty="0"/>
          </a:p>
        </p:txBody>
      </p:sp>
      <p:sp>
        <p:nvSpPr>
          <p:cNvPr id="53" name="Text 51"/>
          <p:cNvSpPr txBox="1"/>
          <p:nvPr/>
        </p:nvSpPr>
        <p:spPr>
          <a:xfrm>
            <a:off x="2530996" y="1398518"/>
            <a:ext cx="19750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810" dirty="0"/>
          </a:p>
        </p:txBody>
      </p:sp>
      <p:sp>
        <p:nvSpPr>
          <p:cNvPr id="54" name="Text 52"/>
          <p:cNvSpPr txBox="1"/>
          <p:nvPr/>
        </p:nvSpPr>
        <p:spPr>
          <a:xfrm>
            <a:off x="6906290" y="1398518"/>
            <a:ext cx="19933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810" dirty="0"/>
          </a:p>
        </p:txBody>
      </p:sp>
      <p:sp>
        <p:nvSpPr>
          <p:cNvPr id="55" name="Text 53"/>
          <p:cNvSpPr txBox="1"/>
          <p:nvPr/>
        </p:nvSpPr>
        <p:spPr>
          <a:xfrm>
            <a:off x="416956" y="1745704"/>
            <a:ext cx="914381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검증</a:t>
            </a:r>
            <a:r>
              <a:rPr lang="en-US" sz="705" kern="0" spc="-11" dirty="0">
                <a:solidFill>
                  <a:srgbClr val="0D948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4개월</a:t>
            </a:r>
            <a:endParaRPr lang="en-US" sz="1080" dirty="0"/>
          </a:p>
        </p:txBody>
      </p:sp>
      <p:sp>
        <p:nvSpPr>
          <p:cNvPr id="56" name="Text 54"/>
          <p:cNvSpPr txBox="1"/>
          <p:nvPr/>
        </p:nvSpPr>
        <p:spPr>
          <a:xfrm>
            <a:off x="2572143" y="1745704"/>
            <a:ext cx="1674682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D2C 사업 영역 본 구축</a:t>
            </a:r>
            <a:r>
              <a:rPr lang="en-US" sz="705" kern="0" spc="-11" dirty="0">
                <a:solidFill>
                  <a:srgbClr val="0D948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진행 중</a:t>
            </a:r>
            <a:endParaRPr lang="en-US" sz="1080" dirty="0"/>
          </a:p>
        </p:txBody>
      </p:sp>
      <p:sp>
        <p:nvSpPr>
          <p:cNvPr id="57" name="Text 55"/>
          <p:cNvSpPr txBox="1"/>
          <p:nvPr/>
        </p:nvSpPr>
        <p:spPr>
          <a:xfrm>
            <a:off x="6948352" y="1745704"/>
            <a:ext cx="1152119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운영 · 고도화</a:t>
            </a:r>
            <a:r>
              <a:rPr lang="en-US" sz="705" kern="0" spc="-11" dirty="0">
                <a:solidFill>
                  <a:srgbClr val="0D948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오픈 후</a:t>
            </a:r>
            <a:endParaRPr lang="en-US" sz="1080" dirty="0"/>
          </a:p>
        </p:txBody>
      </p:sp>
      <p:sp>
        <p:nvSpPr>
          <p:cNvPr id="58" name="Text 56"/>
          <p:cNvSpPr txBox="1"/>
          <p:nvPr/>
        </p:nvSpPr>
        <p:spPr>
          <a:xfrm>
            <a:off x="416956" y="1983334"/>
            <a:ext cx="19110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실제 데이터로 가능성을 검증하고 본 구축</a:t>
            </a:r>
            <a:endParaRPr lang="en-US" sz="855" dirty="0"/>
          </a:p>
        </p:txBody>
      </p:sp>
      <p:sp>
        <p:nvSpPr>
          <p:cNvPr id="59" name="Text 57"/>
          <p:cNvSpPr txBox="1"/>
          <p:nvPr/>
        </p:nvSpPr>
        <p:spPr>
          <a:xfrm>
            <a:off x="6948352" y="1983334"/>
            <a:ext cx="1885903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사용 현황과 오류 질의를</a:t>
            </a:r>
            <a:r>
              <a:rPr lang="en-US" sz="855" dirty="0">
                <a:solidFill>
                  <a:srgbClr val="47556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AI Ops로 수집</a:t>
            </a:r>
            <a:endParaRPr lang="en-US" sz="855" dirty="0"/>
          </a:p>
        </p:txBody>
      </p:sp>
      <p:sp>
        <p:nvSpPr>
          <p:cNvPr id="60" name="Text 58"/>
          <p:cNvSpPr txBox="1"/>
          <p:nvPr/>
        </p:nvSpPr>
        <p:spPr>
          <a:xfrm>
            <a:off x="416956" y="2145869"/>
            <a:ext cx="1044222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범위를 확정했습니다.</a:t>
            </a:r>
            <a:endParaRPr lang="en-US" sz="855" dirty="0"/>
          </a:p>
        </p:txBody>
      </p:sp>
      <p:sp>
        <p:nvSpPr>
          <p:cNvPr id="61" name="Text 59"/>
          <p:cNvSpPr txBox="1"/>
          <p:nvPr/>
        </p:nvSpPr>
        <p:spPr>
          <a:xfrm>
            <a:off x="6948352" y="2145869"/>
            <a:ext cx="1911048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해 재학습</a:t>
            </a:r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하는 운영 체계를 함께 구축했습</a:t>
            </a:r>
            <a:endParaRPr lang="en-US" sz="855" dirty="0"/>
          </a:p>
        </p:txBody>
      </p:sp>
      <p:sp>
        <p:nvSpPr>
          <p:cNvPr id="62" name="Text 60"/>
          <p:cNvSpPr txBox="1"/>
          <p:nvPr/>
        </p:nvSpPr>
        <p:spPr>
          <a:xfrm>
            <a:off x="4149443" y="2179301"/>
            <a:ext cx="256583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주요 지표의 현황 · 증감 · 원인을 질문 한 줄로 확인, 지역-</a:t>
            </a:r>
            <a:endParaRPr lang="en-US" sz="810" dirty="0"/>
          </a:p>
        </p:txBody>
      </p:sp>
      <p:sp>
        <p:nvSpPr>
          <p:cNvPr id="63" name="Text 61"/>
          <p:cNvSpPr txBox="1"/>
          <p:nvPr/>
        </p:nvSpPr>
        <p:spPr>
          <a:xfrm>
            <a:off x="2732160" y="2253882"/>
            <a:ext cx="563260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현황 분석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6948352" y="2308918"/>
            <a:ext cx="355697" cy="163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니다.</a:t>
            </a:r>
            <a:endParaRPr lang="en-US" sz="855" dirty="0"/>
          </a:p>
        </p:txBody>
      </p:sp>
      <p:sp>
        <p:nvSpPr>
          <p:cNvPr id="65" name="Text 63"/>
          <p:cNvSpPr txBox="1"/>
          <p:nvPr/>
        </p:nvSpPr>
        <p:spPr>
          <a:xfrm>
            <a:off x="4149443" y="2333606"/>
            <a:ext cx="250548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법인 · 사업부-제품군 드릴다운, 연관 질의로 이어서 분석</a:t>
            </a:r>
            <a:endParaRPr lang="en-US" sz="810" dirty="0"/>
          </a:p>
        </p:txBody>
      </p:sp>
      <p:sp>
        <p:nvSpPr>
          <p:cNvPr id="66" name="Text 64"/>
          <p:cNvSpPr txBox="1"/>
          <p:nvPr/>
        </p:nvSpPr>
        <p:spPr>
          <a:xfrm>
            <a:off x="565085" y="2364467"/>
            <a:ext cx="1612322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현업이 직접 질의하며 답변 품질 확인</a:t>
            </a:r>
            <a:endParaRPr lang="en-US" sz="810" dirty="0"/>
          </a:p>
        </p:txBody>
      </p:sp>
      <p:sp>
        <p:nvSpPr>
          <p:cNvPr id="67" name="Text 65"/>
          <p:cNvSpPr txBox="1"/>
          <p:nvPr/>
        </p:nvSpPr>
        <p:spPr>
          <a:xfrm>
            <a:off x="7096481" y="2527001"/>
            <a:ext cx="1310306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질의 로그 기반 재학습 사이클</a:t>
            </a:r>
            <a:endParaRPr lang="en-US" sz="810" dirty="0"/>
          </a:p>
        </p:txBody>
      </p:sp>
      <p:sp>
        <p:nvSpPr>
          <p:cNvPr id="68" name="Text 66"/>
          <p:cNvSpPr txBox="1"/>
          <p:nvPr/>
        </p:nvSpPr>
        <p:spPr>
          <a:xfrm>
            <a:off x="565085" y="2553233"/>
            <a:ext cx="1521798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본 구축 대상 지표 · 문서 범위 확정</a:t>
            </a:r>
            <a:endParaRPr lang="en-US" sz="810" dirty="0"/>
          </a:p>
        </p:txBody>
      </p:sp>
      <p:sp>
        <p:nvSpPr>
          <p:cNvPr id="69" name="Text 67"/>
          <p:cNvSpPr txBox="1"/>
          <p:nvPr/>
        </p:nvSpPr>
        <p:spPr>
          <a:xfrm>
            <a:off x="7096482" y="2716282"/>
            <a:ext cx="1513751" cy="149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해외 법인 확산에 맞춘 다국어 대응</a:t>
            </a:r>
            <a:endParaRPr lang="en-US" sz="810" dirty="0"/>
          </a:p>
        </p:txBody>
      </p:sp>
      <p:sp>
        <p:nvSpPr>
          <p:cNvPr id="70" name="Text 68"/>
          <p:cNvSpPr txBox="1"/>
          <p:nvPr/>
        </p:nvSpPr>
        <p:spPr>
          <a:xfrm>
            <a:off x="4149444" y="2809380"/>
            <a:ext cx="25859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자연어 질의로 DB를 직접 조회해 표로 즉시 제공, 기초 데이</a:t>
            </a:r>
            <a:endParaRPr lang="en-US" sz="810" dirty="0"/>
          </a:p>
        </p:txBody>
      </p:sp>
      <p:sp>
        <p:nvSpPr>
          <p:cNvPr id="71" name="Text 69"/>
          <p:cNvSpPr txBox="1"/>
          <p:nvPr/>
        </p:nvSpPr>
        <p:spPr>
          <a:xfrm>
            <a:off x="2732160" y="2883446"/>
            <a:ext cx="123075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데이터 탐색 · GenSQL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4149444" y="2963685"/>
            <a:ext cx="139991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터를 내려받아 후속 작업에 활용</a:t>
            </a:r>
            <a:endParaRPr lang="en-US" sz="810" dirty="0"/>
          </a:p>
        </p:txBody>
      </p:sp>
      <p:sp>
        <p:nvSpPr>
          <p:cNvPr id="73" name="Text 71"/>
          <p:cNvSpPr txBox="1"/>
          <p:nvPr/>
        </p:nvSpPr>
        <p:spPr>
          <a:xfrm>
            <a:off x="4149444" y="3438944"/>
            <a:ext cx="265032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탐색 결과를 보고서용 차트로 자동 변환(GenChart), 프롬프</a:t>
            </a:r>
            <a:endParaRPr lang="en-US" sz="810" dirty="0"/>
          </a:p>
        </p:txBody>
      </p:sp>
      <p:sp>
        <p:nvSpPr>
          <p:cNvPr id="74" name="Text 72"/>
          <p:cNvSpPr txBox="1"/>
          <p:nvPr/>
        </p:nvSpPr>
        <p:spPr>
          <a:xfrm>
            <a:off x="2732159" y="3513525"/>
            <a:ext cx="1099085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차트 · 문서 자동 생성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4149444" y="3593249"/>
            <a:ext cx="143283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트만으로 PPT 생성 후 메일 발송</a:t>
            </a:r>
            <a:endParaRPr lang="en-US" sz="810" dirty="0"/>
          </a:p>
        </p:txBody>
      </p:sp>
      <p:sp>
        <p:nvSpPr>
          <p:cNvPr id="76" name="Text 74"/>
          <p:cNvSpPr txBox="1"/>
          <p:nvPr/>
        </p:nvSpPr>
        <p:spPr>
          <a:xfrm>
            <a:off x="4149443" y="4069023"/>
            <a:ext cx="260707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온보딩 문서를 Document Parser로 지식화, 질문 의도를 해</a:t>
            </a:r>
            <a:endParaRPr lang="en-US" sz="810" dirty="0"/>
          </a:p>
        </p:txBody>
      </p:sp>
      <p:sp>
        <p:nvSpPr>
          <p:cNvPr id="77" name="Text 75"/>
          <p:cNvSpPr txBox="1"/>
          <p:nvPr/>
        </p:nvSpPr>
        <p:spPr>
          <a:xfrm>
            <a:off x="2732160" y="4143089"/>
            <a:ext cx="1298419" cy="15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궁금해요 · 문서 기반 응답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149444" y="4223328"/>
            <a:ext cx="143557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석해 응답, 한글 · 영문 질의 대응</a:t>
            </a:r>
            <a:endParaRPr lang="en-US" sz="810" dirty="0"/>
          </a:p>
        </p:txBody>
      </p:sp>
      <p:sp>
        <p:nvSpPr>
          <p:cNvPr id="79" name="Text 77"/>
          <p:cNvSpPr txBox="1"/>
          <p:nvPr/>
        </p:nvSpPr>
        <p:spPr>
          <a:xfrm>
            <a:off x="531253" y="4616806"/>
            <a:ext cx="598921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완료 · 4개월</a:t>
            </a:r>
            <a:endParaRPr lang="en-US" sz="720" dirty="0"/>
          </a:p>
        </p:txBody>
      </p:sp>
      <p:sp>
        <p:nvSpPr>
          <p:cNvPr id="80" name="Text 78"/>
          <p:cNvSpPr txBox="1"/>
          <p:nvPr/>
        </p:nvSpPr>
        <p:spPr>
          <a:xfrm>
            <a:off x="2686440" y="4616806"/>
            <a:ext cx="1187780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진행 중 · 해외 법인 전체 확산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7062649" y="4616806"/>
            <a:ext cx="758936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오픈 후 운영 단계</a:t>
            </a:r>
            <a:endParaRPr lang="en-US" sz="720" dirty="0"/>
          </a:p>
        </p:txBody>
      </p:sp>
      <p:sp>
        <p:nvSpPr>
          <p:cNvPr id="82" name="Text 80"/>
          <p:cNvSpPr txBox="1"/>
          <p:nvPr/>
        </p:nvSpPr>
        <p:spPr>
          <a:xfrm>
            <a:off x="4450274" y="4923873"/>
            <a:ext cx="380384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- 29 -</a:t>
            </a:r>
            <a:endParaRPr lang="en-US" sz="705" dirty="0"/>
          </a:p>
        </p:txBody>
      </p:sp>
      <p:sp>
        <p:nvSpPr>
          <p:cNvPr id="83" name="Text 81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97173" y="679971"/>
            <a:ext cx="2971726" cy="4166750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68161" y="2057914"/>
            <a:ext cx="2628834" cy="686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68161" y="2857729"/>
            <a:ext cx="2628834" cy="686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68161" y="4486675"/>
            <a:ext cx="2628834" cy="686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977541" y="97675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630735" y="97675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284843" y="97675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071" y="1665979"/>
            <a:ext cx="5280528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977541" y="203682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30735" y="203682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284843" y="203682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566071" y="2726055"/>
            <a:ext cx="5280528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977541" y="309741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630735" y="309741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84843" y="3097417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566071" y="3786130"/>
            <a:ext cx="5280528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977541" y="415749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630735" y="415749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284843" y="4157491"/>
            <a:ext cx="33832" cy="33947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79590" y="4637165"/>
            <a:ext cx="68579" cy="41963"/>
          </a:xfrm>
          <a:prstGeom prst="roundRect">
            <a:avLst>
              <a:gd name="adj" fmla="val 18170"/>
            </a:avLst>
          </a:prstGeom>
          <a:ln w="8133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94831" y="4602833"/>
            <a:ext cx="38099" cy="34333"/>
          </a:xfrm>
          <a:custGeom>
            <a:avLst/>
            <a:gdLst/>
            <a:ahLst/>
            <a:cxnLst/>
            <a:rect l="l" t="t" r="r" b="b"/>
            <a:pathLst>
              <a:path w="50799" h="45777">
                <a:moveTo>
                  <a:pt x="0" y="45777"/>
                </a:moveTo>
                <a:lnTo>
                  <a:pt x="0" y="25432"/>
                </a:lnTo>
                <a:cubicBezTo>
                  <a:pt x="0" y="11386"/>
                  <a:pt x="11372" y="0"/>
                  <a:pt x="25399" y="0"/>
                </a:cubicBezTo>
                <a:cubicBezTo>
                  <a:pt x="39427" y="0"/>
                  <a:pt x="50799" y="11386"/>
                  <a:pt x="50799" y="25432"/>
                </a:cubicBezTo>
                <a:lnTo>
                  <a:pt x="50799" y="45777"/>
                </a:lnTo>
              </a:path>
            </a:pathLst>
          </a:custGeom>
          <a:ln w="8133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5302" y="167678"/>
            <a:ext cx="462574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사례 C - 실적 대시보드와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AI 의사결정 지원 플랫폼</a:t>
            </a:r>
            <a:endParaRPr lang="en-US" sz="1710" dirty="0"/>
          </a:p>
        </p:txBody>
      </p:sp>
      <p:sp>
        <p:nvSpPr>
          <p:cNvPr id="26" name="Text 24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27" name="Text 25"/>
          <p:cNvSpPr txBox="1"/>
          <p:nvPr/>
        </p:nvSpPr>
        <p:spPr>
          <a:xfrm>
            <a:off x="3566071" y="673799"/>
            <a:ext cx="343809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01</a:t>
            </a:r>
            <a:endParaRPr lang="en-US" sz="1530" dirty="0"/>
          </a:p>
        </p:txBody>
      </p:sp>
      <p:sp>
        <p:nvSpPr>
          <p:cNvPr id="28" name="Text 26"/>
          <p:cNvSpPr txBox="1"/>
          <p:nvPr/>
        </p:nvSpPr>
        <p:spPr>
          <a:xfrm>
            <a:off x="3977540" y="691286"/>
            <a:ext cx="1249043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전용 데이터 마트</a:t>
            </a:r>
            <a:endParaRPr lang="en-US" sz="1125" dirty="0"/>
          </a:p>
        </p:txBody>
      </p:sp>
      <p:sp>
        <p:nvSpPr>
          <p:cNvPr id="29" name="Text 27"/>
          <p:cNvSpPr txBox="1"/>
          <p:nvPr/>
        </p:nvSpPr>
        <p:spPr>
          <a:xfrm>
            <a:off x="5157087" y="753009"/>
            <a:ext cx="53674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기반</a:t>
            </a:r>
            <a:endParaRPr lang="en-US" sz="683" dirty="0"/>
          </a:p>
        </p:txBody>
      </p:sp>
      <p:sp>
        <p:nvSpPr>
          <p:cNvPr id="30" name="Text 28"/>
          <p:cNvSpPr txBox="1"/>
          <p:nvPr/>
        </p:nvSpPr>
        <p:spPr>
          <a:xfrm>
            <a:off x="468161" y="846106"/>
            <a:ext cx="1948263" cy="118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68" kern="0" spc="120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CASE C · MANUFACTURING R&amp;D</a:t>
            </a:r>
            <a:endParaRPr lang="en-US" sz="668" dirty="0"/>
          </a:p>
        </p:txBody>
      </p:sp>
      <p:sp>
        <p:nvSpPr>
          <p:cNvPr id="31" name="Text 29"/>
          <p:cNvSpPr txBox="1"/>
          <p:nvPr/>
        </p:nvSpPr>
        <p:spPr>
          <a:xfrm>
            <a:off x="4062578" y="915029"/>
            <a:ext cx="161131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 영역별 특성</a:t>
            </a:r>
            <a:endParaRPr lang="en-US" sz="825" dirty="0"/>
          </a:p>
        </p:txBody>
      </p:sp>
      <p:sp>
        <p:nvSpPr>
          <p:cNvPr id="32" name="Text 30"/>
          <p:cNvSpPr txBox="1"/>
          <p:nvPr/>
        </p:nvSpPr>
        <p:spPr>
          <a:xfrm>
            <a:off x="5716686" y="915029"/>
            <a:ext cx="1564042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웹 대시보드와 AI 분석이 같은 데이</a:t>
            </a:r>
            <a:endParaRPr lang="en-US" sz="825" dirty="0"/>
          </a:p>
        </p:txBody>
      </p:sp>
      <p:sp>
        <p:nvSpPr>
          <p:cNvPr id="33" name="Text 31"/>
          <p:cNvSpPr txBox="1"/>
          <p:nvPr/>
        </p:nvSpPr>
        <p:spPr>
          <a:xfrm>
            <a:off x="7369880" y="915029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영역이 늘어나도 같은 방식으로 마트</a:t>
            </a:r>
            <a:endParaRPr lang="en-US" sz="825" dirty="0"/>
          </a:p>
        </p:txBody>
      </p:sp>
      <p:sp>
        <p:nvSpPr>
          <p:cNvPr id="34" name="Text 32"/>
          <p:cNvSpPr txBox="1"/>
          <p:nvPr/>
        </p:nvSpPr>
        <p:spPr>
          <a:xfrm>
            <a:off x="468161" y="1059046"/>
            <a:ext cx="1786328" cy="230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95" kern="0" spc="-28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정량 지표와 문서 근거를</a:t>
            </a:r>
            <a:endParaRPr lang="en-US" sz="1395" dirty="0"/>
          </a:p>
        </p:txBody>
      </p:sp>
      <p:sp>
        <p:nvSpPr>
          <p:cNvPr id="35" name="Text 33"/>
          <p:cNvSpPr txBox="1"/>
          <p:nvPr/>
        </p:nvSpPr>
        <p:spPr>
          <a:xfrm>
            <a:off x="4062577" y="1067277"/>
            <a:ext cx="115211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을 반영한 전용 마트 설계</a:t>
            </a:r>
            <a:endParaRPr lang="en-US" sz="825" dirty="0"/>
          </a:p>
        </p:txBody>
      </p:sp>
      <p:sp>
        <p:nvSpPr>
          <p:cNvPr id="36" name="Text 34"/>
          <p:cNvSpPr txBox="1"/>
          <p:nvPr/>
        </p:nvSpPr>
        <p:spPr>
          <a:xfrm>
            <a:off x="5716686" y="1067277"/>
            <a:ext cx="92078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터를 바라보는 구조</a:t>
            </a:r>
            <a:endParaRPr lang="en-US" sz="825" dirty="0"/>
          </a:p>
        </p:txBody>
      </p:sp>
      <p:sp>
        <p:nvSpPr>
          <p:cNvPr id="37" name="Text 35"/>
          <p:cNvSpPr txBox="1"/>
          <p:nvPr/>
        </p:nvSpPr>
        <p:spPr>
          <a:xfrm>
            <a:off x="7369880" y="1067277"/>
            <a:ext cx="73699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를 추가해 확장</a:t>
            </a:r>
            <a:endParaRPr lang="en-US" sz="825" dirty="0"/>
          </a:p>
        </p:txBody>
      </p:sp>
      <p:sp>
        <p:nvSpPr>
          <p:cNvPr id="38" name="Text 36"/>
          <p:cNvSpPr txBox="1"/>
          <p:nvPr/>
        </p:nvSpPr>
        <p:spPr>
          <a:xfrm>
            <a:off x="468161" y="1288961"/>
            <a:ext cx="1786328" cy="230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95" kern="0" spc="-28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한 포털에서 함께 봅니다</a:t>
            </a:r>
            <a:endParaRPr lang="en-US" sz="1395" dirty="0"/>
          </a:p>
        </p:txBody>
      </p:sp>
      <p:sp>
        <p:nvSpPr>
          <p:cNvPr id="39" name="Text 37"/>
          <p:cNvSpPr txBox="1"/>
          <p:nvPr/>
        </p:nvSpPr>
        <p:spPr>
          <a:xfrm>
            <a:off x="468161" y="1620717"/>
            <a:ext cx="2799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실적을 하나의 포털에서 보고, 정량 지표와 문</a:t>
            </a:r>
            <a:endParaRPr lang="en-US" sz="810" dirty="0"/>
          </a:p>
        </p:txBody>
      </p:sp>
      <p:sp>
        <p:nvSpPr>
          <p:cNvPr id="40" name="Text 38"/>
          <p:cNvSpPr txBox="1"/>
          <p:nvPr/>
        </p:nvSpPr>
        <p:spPr>
          <a:xfrm>
            <a:off x="3566071" y="1734389"/>
            <a:ext cx="371240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02</a:t>
            </a:r>
            <a:endParaRPr lang="en-US" sz="1530" dirty="0"/>
          </a:p>
        </p:txBody>
      </p:sp>
      <p:sp>
        <p:nvSpPr>
          <p:cNvPr id="41" name="Text 39"/>
          <p:cNvSpPr txBox="1"/>
          <p:nvPr/>
        </p:nvSpPr>
        <p:spPr>
          <a:xfrm>
            <a:off x="3977541" y="1751362"/>
            <a:ext cx="1093598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인사이트 분석</a:t>
            </a:r>
            <a:endParaRPr lang="en-US" sz="1125" dirty="0"/>
          </a:p>
        </p:txBody>
      </p:sp>
      <p:sp>
        <p:nvSpPr>
          <p:cNvPr id="42" name="Text 40"/>
          <p:cNvSpPr txBox="1"/>
          <p:nvPr/>
        </p:nvSpPr>
        <p:spPr>
          <a:xfrm>
            <a:off x="468161" y="1785309"/>
            <a:ext cx="16163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서 근거를 함께 확인하는 구조입니다.</a:t>
            </a:r>
            <a:endParaRPr lang="en-US" sz="810" dirty="0"/>
          </a:p>
        </p:txBody>
      </p:sp>
      <p:sp>
        <p:nvSpPr>
          <p:cNvPr id="43" name="Text 41"/>
          <p:cNvSpPr txBox="1"/>
          <p:nvPr/>
        </p:nvSpPr>
        <p:spPr>
          <a:xfrm>
            <a:off x="5002557" y="1813599"/>
            <a:ext cx="460850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정량 분석</a:t>
            </a:r>
            <a:endParaRPr lang="en-US" sz="683" dirty="0"/>
          </a:p>
        </p:txBody>
      </p:sp>
      <p:sp>
        <p:nvSpPr>
          <p:cNvPr id="44" name="Text 42"/>
          <p:cNvSpPr txBox="1"/>
          <p:nvPr/>
        </p:nvSpPr>
        <p:spPr>
          <a:xfrm>
            <a:off x="4062578" y="1975104"/>
            <a:ext cx="15479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현황 · 비교 · 증감 · 원인분석 · 트</a:t>
            </a:r>
            <a:endParaRPr lang="en-US" sz="825" dirty="0"/>
          </a:p>
        </p:txBody>
      </p:sp>
      <p:sp>
        <p:nvSpPr>
          <p:cNvPr id="45" name="Text 43"/>
          <p:cNvSpPr txBox="1"/>
          <p:nvPr/>
        </p:nvSpPr>
        <p:spPr>
          <a:xfrm>
            <a:off x="5716686" y="1975104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자연어 질의로 데이터를 탐색하고 세</a:t>
            </a:r>
            <a:endParaRPr lang="en-US" sz="825" dirty="0"/>
          </a:p>
        </p:txBody>
      </p:sp>
      <p:sp>
        <p:nvSpPr>
          <p:cNvPr id="46" name="Text 44"/>
          <p:cNvSpPr txBox="1"/>
          <p:nvPr/>
        </p:nvSpPr>
        <p:spPr>
          <a:xfrm>
            <a:off x="7369880" y="1975104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웹 대시보드와 인사이트를 연계해 화</a:t>
            </a:r>
            <a:endParaRPr lang="en-US" sz="825" dirty="0"/>
          </a:p>
        </p:txBody>
      </p:sp>
      <p:sp>
        <p:nvSpPr>
          <p:cNvPr id="47" name="Text 45"/>
          <p:cNvSpPr txBox="1"/>
          <p:nvPr/>
        </p:nvSpPr>
        <p:spPr>
          <a:xfrm>
            <a:off x="4062577" y="2127867"/>
            <a:ext cx="145203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렌드 · 순위 · 누적 7개 질의유형</a:t>
            </a:r>
            <a:endParaRPr lang="en-US" sz="825" dirty="0"/>
          </a:p>
        </p:txBody>
      </p:sp>
      <p:sp>
        <p:nvSpPr>
          <p:cNvPr id="48" name="Text 46"/>
          <p:cNvSpPr txBox="1"/>
          <p:nvPr/>
        </p:nvSpPr>
        <p:spPr>
          <a:xfrm>
            <a:off x="5716687" y="2127867"/>
            <a:ext cx="111188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부 내역 조회 · 다운로드</a:t>
            </a:r>
            <a:endParaRPr lang="en-US" sz="825" dirty="0"/>
          </a:p>
        </p:txBody>
      </p:sp>
      <p:sp>
        <p:nvSpPr>
          <p:cNvPr id="49" name="Text 47"/>
          <p:cNvSpPr txBox="1"/>
          <p:nvPr/>
        </p:nvSpPr>
        <p:spPr>
          <a:xfrm>
            <a:off x="7369880" y="2127867"/>
            <a:ext cx="82842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면에서 바로 분석</a:t>
            </a:r>
            <a:endParaRPr lang="en-US" sz="825" dirty="0"/>
          </a:p>
        </p:txBody>
      </p:sp>
      <p:sp>
        <p:nvSpPr>
          <p:cNvPr id="50" name="Text 48"/>
          <p:cNvSpPr txBox="1"/>
          <p:nvPr/>
        </p:nvSpPr>
        <p:spPr>
          <a:xfrm>
            <a:off x="468161" y="2150498"/>
            <a:ext cx="491939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고객 · 조직</a:t>
            </a:r>
            <a:endParaRPr lang="en-US" sz="630" dirty="0"/>
          </a:p>
        </p:txBody>
      </p:sp>
      <p:sp>
        <p:nvSpPr>
          <p:cNvPr id="51" name="Text 49"/>
          <p:cNvSpPr txBox="1"/>
          <p:nvPr/>
        </p:nvSpPr>
        <p:spPr>
          <a:xfrm>
            <a:off x="1131085" y="2147926"/>
            <a:ext cx="1672670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글로벌 제조사 · 냉난방 제품 개발 연구소</a:t>
            </a:r>
            <a:endParaRPr lang="en-US" sz="758" dirty="0"/>
          </a:p>
        </p:txBody>
      </p:sp>
      <p:sp>
        <p:nvSpPr>
          <p:cNvPr id="52" name="Text 50"/>
          <p:cNvSpPr txBox="1"/>
          <p:nvPr/>
        </p:nvSpPr>
        <p:spPr>
          <a:xfrm>
            <a:off x="468162" y="2310461"/>
            <a:ext cx="277060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업종</a:t>
            </a:r>
            <a:endParaRPr lang="en-US" sz="630" dirty="0"/>
          </a:p>
        </p:txBody>
      </p:sp>
      <p:sp>
        <p:nvSpPr>
          <p:cNvPr id="53" name="Text 51"/>
          <p:cNvSpPr txBox="1"/>
          <p:nvPr/>
        </p:nvSpPr>
        <p:spPr>
          <a:xfrm>
            <a:off x="1131085" y="2307889"/>
            <a:ext cx="596177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제조 · R&amp;D</a:t>
            </a:r>
            <a:endParaRPr lang="en-US" sz="758" dirty="0"/>
          </a:p>
        </p:txBody>
      </p:sp>
      <p:sp>
        <p:nvSpPr>
          <p:cNvPr id="54" name="Text 52"/>
          <p:cNvSpPr txBox="1"/>
          <p:nvPr/>
        </p:nvSpPr>
        <p:spPr>
          <a:xfrm>
            <a:off x="468161" y="2470423"/>
            <a:ext cx="504740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주요 데이터</a:t>
            </a:r>
            <a:endParaRPr lang="en-US" sz="630" dirty="0"/>
          </a:p>
        </p:txBody>
      </p:sp>
      <p:sp>
        <p:nvSpPr>
          <p:cNvPr id="55" name="Text 53"/>
          <p:cNvSpPr txBox="1"/>
          <p:nvPr/>
        </p:nvSpPr>
        <p:spPr>
          <a:xfrm>
            <a:off x="1131085" y="2467337"/>
            <a:ext cx="1546943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 · 품질 · 개발 실적 · 경쟁사 정보</a:t>
            </a:r>
            <a:endParaRPr lang="en-US" sz="758" dirty="0"/>
          </a:p>
        </p:txBody>
      </p:sp>
      <p:sp>
        <p:nvSpPr>
          <p:cNvPr id="56" name="Text 54"/>
          <p:cNvSpPr txBox="1"/>
          <p:nvPr/>
        </p:nvSpPr>
        <p:spPr>
          <a:xfrm>
            <a:off x="468162" y="2630386"/>
            <a:ext cx="277060" cy="112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30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단계</a:t>
            </a:r>
            <a:endParaRPr lang="en-US" sz="630" dirty="0"/>
          </a:p>
        </p:txBody>
      </p:sp>
      <p:sp>
        <p:nvSpPr>
          <p:cNvPr id="57" name="Text 55"/>
          <p:cNvSpPr txBox="1"/>
          <p:nvPr/>
        </p:nvSpPr>
        <p:spPr>
          <a:xfrm>
            <a:off x="1131085" y="2627299"/>
            <a:ext cx="1054280" cy="1342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58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구축 중</a:t>
            </a:r>
            <a:r>
              <a:rPr lang="en-US" sz="758" dirty="0">
                <a:solidFill>
                  <a:srgbClr val="E2E8F0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12월 오픈 예정</a:t>
            </a:r>
            <a:endParaRPr lang="en-US" sz="758" dirty="0"/>
          </a:p>
        </p:txBody>
      </p:sp>
      <p:sp>
        <p:nvSpPr>
          <p:cNvPr id="58" name="Text 56"/>
          <p:cNvSpPr txBox="1"/>
          <p:nvPr/>
        </p:nvSpPr>
        <p:spPr>
          <a:xfrm>
            <a:off x="3566071" y="2794463"/>
            <a:ext cx="373984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03</a:t>
            </a:r>
            <a:endParaRPr lang="en-US" sz="1530" dirty="0"/>
          </a:p>
        </p:txBody>
      </p:sp>
      <p:sp>
        <p:nvSpPr>
          <p:cNvPr id="59" name="Text 57"/>
          <p:cNvSpPr txBox="1"/>
          <p:nvPr/>
        </p:nvSpPr>
        <p:spPr>
          <a:xfrm>
            <a:off x="3977540" y="2811437"/>
            <a:ext cx="1125602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사내 문서 AI 분석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5033646" y="2873674"/>
            <a:ext cx="53674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정성 데이터</a:t>
            </a:r>
            <a:endParaRPr lang="en-US" sz="683" dirty="0"/>
          </a:p>
        </p:txBody>
      </p:sp>
      <p:sp>
        <p:nvSpPr>
          <p:cNvPr id="61" name="Text 59"/>
          <p:cNvSpPr txBox="1"/>
          <p:nvPr/>
        </p:nvSpPr>
        <p:spPr>
          <a:xfrm>
            <a:off x="468162" y="2948255"/>
            <a:ext cx="492853" cy="115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45" kern="0" spc="7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과업 단계</a:t>
            </a:r>
            <a:endParaRPr lang="en-US" sz="645" dirty="0"/>
          </a:p>
        </p:txBody>
      </p:sp>
      <p:sp>
        <p:nvSpPr>
          <p:cNvPr id="62" name="Text 60"/>
          <p:cNvSpPr txBox="1"/>
          <p:nvPr/>
        </p:nvSpPr>
        <p:spPr>
          <a:xfrm>
            <a:off x="4062578" y="3035180"/>
            <a:ext cx="1611316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문서 내 텍스트 · 표 · 이미지를 함께</a:t>
            </a:r>
            <a:endParaRPr lang="en-US" sz="825" dirty="0"/>
          </a:p>
        </p:txBody>
      </p:sp>
      <p:sp>
        <p:nvSpPr>
          <p:cNvPr id="63" name="Text 61"/>
          <p:cNvSpPr txBox="1"/>
          <p:nvPr/>
        </p:nvSpPr>
        <p:spPr>
          <a:xfrm>
            <a:off x="5716686" y="3035180"/>
            <a:ext cx="15479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답변에 근거 문서와 출처를 함께 제</a:t>
            </a:r>
            <a:endParaRPr lang="en-US" sz="825" dirty="0"/>
          </a:p>
        </p:txBody>
      </p:sp>
      <p:sp>
        <p:nvSpPr>
          <p:cNvPr id="64" name="Text 62"/>
          <p:cNvSpPr txBox="1"/>
          <p:nvPr/>
        </p:nvSpPr>
        <p:spPr>
          <a:xfrm>
            <a:off x="7369880" y="3035180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대시보드와 연계해 정량 지표와 정성</a:t>
            </a:r>
            <a:endParaRPr lang="en-US" sz="825" dirty="0"/>
          </a:p>
        </p:txBody>
      </p:sp>
      <p:sp>
        <p:nvSpPr>
          <p:cNvPr id="65" name="Text 63"/>
          <p:cNvSpPr txBox="1"/>
          <p:nvPr/>
        </p:nvSpPr>
        <p:spPr>
          <a:xfrm>
            <a:off x="468161" y="3099988"/>
            <a:ext cx="267002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1차</a:t>
            </a:r>
            <a:endParaRPr lang="en-US" sz="773" dirty="0"/>
          </a:p>
        </p:txBody>
      </p:sp>
      <p:sp>
        <p:nvSpPr>
          <p:cNvPr id="66" name="Text 64"/>
          <p:cNvSpPr txBox="1"/>
          <p:nvPr/>
        </p:nvSpPr>
        <p:spPr>
          <a:xfrm>
            <a:off x="788193" y="3099988"/>
            <a:ext cx="1461178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FFFFF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경영실적 · 품질실적 · 콘텐츠 영역</a:t>
            </a:r>
            <a:endParaRPr lang="en-US" sz="773" dirty="0"/>
          </a:p>
        </p:txBody>
      </p:sp>
      <p:sp>
        <p:nvSpPr>
          <p:cNvPr id="67" name="Text 65"/>
          <p:cNvSpPr txBox="1"/>
          <p:nvPr/>
        </p:nvSpPr>
        <p:spPr>
          <a:xfrm>
            <a:off x="4062578" y="3187941"/>
            <a:ext cx="1104571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처리하는 멀티모달 방식</a:t>
            </a:r>
            <a:endParaRPr lang="en-US" sz="825" dirty="0"/>
          </a:p>
        </p:txBody>
      </p:sp>
      <p:sp>
        <p:nvSpPr>
          <p:cNvPr id="68" name="Text 66"/>
          <p:cNvSpPr txBox="1"/>
          <p:nvPr/>
        </p:nvSpPr>
        <p:spPr>
          <a:xfrm>
            <a:off x="5716686" y="3187941"/>
            <a:ext cx="228598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시</a:t>
            </a:r>
            <a:endParaRPr lang="en-US" sz="825" dirty="0"/>
          </a:p>
        </p:txBody>
      </p:sp>
      <p:sp>
        <p:nvSpPr>
          <p:cNvPr id="69" name="Text 67"/>
          <p:cNvSpPr txBox="1"/>
          <p:nvPr/>
        </p:nvSpPr>
        <p:spPr>
          <a:xfrm>
            <a:off x="7369880" y="3187941"/>
            <a:ext cx="112834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근거를 한 흐름에서 확인</a:t>
            </a:r>
            <a:endParaRPr lang="en-US" sz="825" dirty="0"/>
          </a:p>
        </p:txBody>
      </p:sp>
      <p:sp>
        <p:nvSpPr>
          <p:cNvPr id="70" name="Text 68"/>
          <p:cNvSpPr txBox="1"/>
          <p:nvPr/>
        </p:nvSpPr>
        <p:spPr>
          <a:xfrm>
            <a:off x="468161" y="3271266"/>
            <a:ext cx="280718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2차</a:t>
            </a:r>
            <a:endParaRPr lang="en-US" sz="773" dirty="0"/>
          </a:p>
        </p:txBody>
      </p:sp>
      <p:sp>
        <p:nvSpPr>
          <p:cNvPr id="71" name="Text 69"/>
          <p:cNvSpPr txBox="1"/>
          <p:nvPr/>
        </p:nvSpPr>
        <p:spPr>
          <a:xfrm>
            <a:off x="788194" y="3271266"/>
            <a:ext cx="869576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CBD5E1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개발실적 영역 확대</a:t>
            </a:r>
            <a:endParaRPr lang="en-US" sz="773" dirty="0"/>
          </a:p>
        </p:txBody>
      </p:sp>
      <p:sp>
        <p:nvSpPr>
          <p:cNvPr id="72" name="Text 70"/>
          <p:cNvSpPr txBox="1"/>
          <p:nvPr/>
        </p:nvSpPr>
        <p:spPr>
          <a:xfrm>
            <a:off x="3566071" y="3854539"/>
            <a:ext cx="377642" cy="245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0" kern="0" spc="-31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04</a:t>
            </a:r>
            <a:endParaRPr lang="en-US" sz="1530" dirty="0"/>
          </a:p>
        </p:txBody>
      </p:sp>
      <p:sp>
        <p:nvSpPr>
          <p:cNvPr id="73" name="Text 71"/>
          <p:cNvSpPr txBox="1"/>
          <p:nvPr/>
        </p:nvSpPr>
        <p:spPr>
          <a:xfrm>
            <a:off x="3977541" y="3872027"/>
            <a:ext cx="1379798" cy="20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25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Ops · 문서 자동화</a:t>
            </a:r>
            <a:endParaRPr lang="en-US" sz="1125" dirty="0"/>
          </a:p>
        </p:txBody>
      </p:sp>
      <p:sp>
        <p:nvSpPr>
          <p:cNvPr id="74" name="Text 72"/>
          <p:cNvSpPr txBox="1"/>
          <p:nvPr/>
        </p:nvSpPr>
        <p:spPr>
          <a:xfrm>
            <a:off x="5287843" y="3933749"/>
            <a:ext cx="523028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· 통제</a:t>
            </a:r>
            <a:endParaRPr lang="en-US" sz="683" dirty="0"/>
          </a:p>
        </p:txBody>
      </p:sp>
      <p:sp>
        <p:nvSpPr>
          <p:cNvPr id="75" name="Text 73"/>
          <p:cNvSpPr txBox="1"/>
          <p:nvPr/>
        </p:nvSpPr>
        <p:spPr>
          <a:xfrm>
            <a:off x="4062578" y="4095769"/>
            <a:ext cx="1370655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사용량 · 로그 · 통계 모니터링</a:t>
            </a:r>
            <a:endParaRPr lang="en-US" sz="825" dirty="0"/>
          </a:p>
        </p:txBody>
      </p:sp>
      <p:sp>
        <p:nvSpPr>
          <p:cNvPr id="76" name="Text 74"/>
          <p:cNvSpPr txBox="1"/>
          <p:nvPr/>
        </p:nvSpPr>
        <p:spPr>
          <a:xfrm>
            <a:off x="5716686" y="4095769"/>
            <a:ext cx="162237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질문에서 답변까지 도출 과정을 단계</a:t>
            </a:r>
            <a:endParaRPr lang="en-US" sz="825" dirty="0"/>
          </a:p>
        </p:txBody>
      </p:sp>
      <p:sp>
        <p:nvSpPr>
          <p:cNvPr id="77" name="Text 75"/>
          <p:cNvSpPr txBox="1"/>
          <p:nvPr/>
        </p:nvSpPr>
        <p:spPr>
          <a:xfrm>
            <a:off x="7369880" y="4095769"/>
            <a:ext cx="15479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인사이트 기반 문서 자동 생성과 정</a:t>
            </a:r>
            <a:endParaRPr lang="en-US" sz="825" dirty="0"/>
          </a:p>
        </p:txBody>
      </p:sp>
      <p:sp>
        <p:nvSpPr>
          <p:cNvPr id="78" name="Text 76"/>
          <p:cNvSpPr txBox="1"/>
          <p:nvPr/>
        </p:nvSpPr>
        <p:spPr>
          <a:xfrm>
            <a:off x="5716686" y="4248017"/>
            <a:ext cx="528514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별로 추적</a:t>
            </a:r>
            <a:endParaRPr lang="en-US" sz="825" dirty="0"/>
          </a:p>
        </p:txBody>
      </p:sp>
      <p:sp>
        <p:nvSpPr>
          <p:cNvPr id="79" name="Text 77"/>
          <p:cNvSpPr txBox="1"/>
          <p:nvPr/>
        </p:nvSpPr>
        <p:spPr>
          <a:xfrm>
            <a:off x="7369880" y="4248017"/>
            <a:ext cx="64463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기 구독 발송</a:t>
            </a:r>
            <a:endParaRPr lang="en-US" sz="825" dirty="0"/>
          </a:p>
        </p:txBody>
      </p:sp>
      <p:sp>
        <p:nvSpPr>
          <p:cNvPr id="80" name="Text 78"/>
          <p:cNvSpPr txBox="1"/>
          <p:nvPr/>
        </p:nvSpPr>
        <p:spPr>
          <a:xfrm>
            <a:off x="617205" y="4576686"/>
            <a:ext cx="2476316" cy="12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2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포털 사용자 · 메뉴 권한 관리를 포함해 고객사 환경에 맞춰 구성</a:t>
            </a:r>
            <a:endParaRPr lang="en-US" sz="720" dirty="0"/>
          </a:p>
        </p:txBody>
      </p:sp>
      <p:sp>
        <p:nvSpPr>
          <p:cNvPr id="81" name="Text 79"/>
          <p:cNvSpPr txBox="1"/>
          <p:nvPr/>
        </p:nvSpPr>
        <p:spPr>
          <a:xfrm>
            <a:off x="4447531" y="4923873"/>
            <a:ext cx="38495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- 30 -</a:t>
            </a:r>
            <a:endParaRPr lang="en-US" sz="705" dirty="0"/>
          </a:p>
        </p:txBody>
      </p:sp>
      <p:sp>
        <p:nvSpPr>
          <p:cNvPr id="82" name="Text 80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3792-175D-CB75-E695-37396E61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C72321D4-A576-D9DF-D0FB-4F471F27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현장이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말로 묻고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검증된 답을 얻는다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10DFFB2A-41E1-B0DA-DD74-D04C4920A9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Use Cases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95C50D8D-B399-0437-DEF3-59EF3328FD40}"/>
              </a:ext>
            </a:extLst>
          </p:cNvPr>
          <p:cNvSpPr/>
          <p:nvPr/>
        </p:nvSpPr>
        <p:spPr>
          <a:xfrm>
            <a:off x="381377" y="1485453"/>
            <a:ext cx="8463539" cy="1043125"/>
          </a:xfrm>
          <a:prstGeom prst="roundRect">
            <a:avLst>
              <a:gd name="adj" fmla="val 10372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4476ACB-B37D-183B-6653-6118A1B239A4}"/>
              </a:ext>
            </a:extLst>
          </p:cNvPr>
          <p:cNvCxnSpPr>
            <a:cxnSpLocks/>
          </p:cNvCxnSpPr>
          <p:nvPr/>
        </p:nvCxnSpPr>
        <p:spPr>
          <a:xfrm>
            <a:off x="737993" y="1918559"/>
            <a:ext cx="777898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654D1DB1-57F2-76D5-899B-3586DFB3A229}"/>
              </a:ext>
            </a:extLst>
          </p:cNvPr>
          <p:cNvSpPr/>
          <p:nvPr/>
        </p:nvSpPr>
        <p:spPr>
          <a:xfrm>
            <a:off x="1202641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F7B2A2-B001-AD53-CB45-32998804EF08}"/>
              </a:ext>
            </a:extLst>
          </p:cNvPr>
          <p:cNvSpPr txBox="1"/>
          <p:nvPr/>
        </p:nvSpPr>
        <p:spPr>
          <a:xfrm>
            <a:off x="737994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 err="1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개체명</a:t>
            </a: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 인식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3라인·불량률 식별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3094F09-7E14-85F3-73AE-74E9A35479AE}"/>
              </a:ext>
            </a:extLst>
          </p:cNvPr>
          <p:cNvSpPr/>
          <p:nvPr/>
        </p:nvSpPr>
        <p:spPr>
          <a:xfrm>
            <a:off x="381377" y="717526"/>
            <a:ext cx="8463539" cy="670601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7BBC83D-F8F1-9019-1AF6-E4324F7D6CAD}"/>
              </a:ext>
            </a:extLst>
          </p:cNvPr>
          <p:cNvCxnSpPr>
            <a:cxnSpLocks/>
          </p:cNvCxnSpPr>
          <p:nvPr/>
        </p:nvCxnSpPr>
        <p:spPr>
          <a:xfrm flipV="1">
            <a:off x="3785583" y="828208"/>
            <a:ext cx="0" cy="497840"/>
          </a:xfrm>
          <a:prstGeom prst="line">
            <a:avLst/>
          </a:prstGeom>
          <a:ln w="12700">
            <a:solidFill>
              <a:srgbClr val="EBEF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EFDCC9D-D882-CD1A-C010-813238005271}"/>
              </a:ext>
            </a:extLst>
          </p:cNvPr>
          <p:cNvSpPr/>
          <p:nvPr/>
        </p:nvSpPr>
        <p:spPr>
          <a:xfrm>
            <a:off x="3927938" y="977479"/>
            <a:ext cx="3209461" cy="193965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 코딩이나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SQL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지식 없이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평소 쓰는 업무 말투 그대로 자연어 입력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pic>
        <p:nvPicPr>
          <p:cNvPr id="58" name="그래픽 57">
            <a:extLst>
              <a:ext uri="{FF2B5EF4-FFF2-40B4-BE49-F238E27FC236}">
                <a16:creationId xmlns:a16="http://schemas.microsoft.com/office/drawing/2014/main" id="{0C5E1139-D634-AB08-0D44-3DA9F4506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24" y="2853107"/>
            <a:ext cx="419100" cy="419100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7F195FBA-628D-0439-90DD-8A7C6D831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924" y="811924"/>
            <a:ext cx="419100" cy="419100"/>
          </a:xfrm>
          <a:prstGeom prst="rect">
            <a:avLst/>
          </a:prstGeom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151F5194-7194-FEEB-F42D-54F60A0A7892}"/>
              </a:ext>
            </a:extLst>
          </p:cNvPr>
          <p:cNvSpPr txBox="1"/>
          <p:nvPr/>
        </p:nvSpPr>
        <p:spPr>
          <a:xfrm>
            <a:off x="974982" y="788692"/>
            <a:ext cx="13716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현장 담당자 질의</a:t>
            </a:r>
            <a:endParaRPr lang="ko-KR" altLang="en-US" sz="11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10A59BF-CB1C-409C-A681-78A5E579B8D9}"/>
              </a:ext>
            </a:extLst>
          </p:cNvPr>
          <p:cNvSpPr txBox="1"/>
          <p:nvPr/>
        </p:nvSpPr>
        <p:spPr>
          <a:xfrm>
            <a:off x="987024" y="1020214"/>
            <a:ext cx="2798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"</a:t>
            </a:r>
            <a:r>
              <a:rPr lang="ko-KR" altLang="ko-KR" sz="12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3라인 불량률</a:t>
            </a:r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이 </a:t>
            </a:r>
            <a:r>
              <a:rPr lang="ko-KR" altLang="ko-KR" sz="12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지난주 대비</a:t>
            </a:r>
            <a:r>
              <a:rPr lang="ko-KR" altLang="ko-KR" sz="12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 왜 올라갔어?"</a:t>
            </a:r>
            <a:endParaRPr lang="ko-KR" altLang="en-US" sz="12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8F78929-A770-2038-5D45-ED29D800A335}"/>
              </a:ext>
            </a:extLst>
          </p:cNvPr>
          <p:cNvSpPr txBox="1"/>
          <p:nvPr/>
        </p:nvSpPr>
        <p:spPr>
          <a:xfrm>
            <a:off x="454025" y="1512226"/>
            <a:ext cx="22720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Insight</a:t>
            </a:r>
            <a:r>
              <a:rPr lang="ko-KR" altLang="ko-KR" sz="9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 </a:t>
            </a:r>
            <a:r>
              <a:rPr lang="ko-KR" altLang="ko-KR" sz="9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Agent</a:t>
            </a:r>
            <a:r>
              <a:rPr lang="ko-KR" altLang="ko-KR" sz="900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 Processing </a:t>
            </a:r>
            <a:r>
              <a:rPr lang="ko-KR" altLang="ko-KR" sz="900" i="0" dirty="0" err="1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Engine</a:t>
            </a:r>
            <a:endParaRPr lang="ko-KR" altLang="en-US" sz="900" dirty="0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90C3FA47-EF14-CCC8-9C96-3AE23D9E70D1}"/>
              </a:ext>
            </a:extLst>
          </p:cNvPr>
          <p:cNvSpPr/>
          <p:nvPr/>
        </p:nvSpPr>
        <p:spPr>
          <a:xfrm>
            <a:off x="3365670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8B521079-526E-8A5A-74AA-4F72F288ED76}"/>
              </a:ext>
            </a:extLst>
          </p:cNvPr>
          <p:cNvSpPr/>
          <p:nvPr/>
        </p:nvSpPr>
        <p:spPr>
          <a:xfrm>
            <a:off x="5528699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9871232C-8F9E-FA17-BADF-6D73CF34D2E8}"/>
              </a:ext>
            </a:extLst>
          </p:cNvPr>
          <p:cNvSpPr/>
          <p:nvPr/>
        </p:nvSpPr>
        <p:spPr>
          <a:xfrm>
            <a:off x="7691729" y="1777425"/>
            <a:ext cx="248514" cy="248514"/>
          </a:xfrm>
          <a:prstGeom prst="ellipse">
            <a:avLst/>
          </a:prstGeom>
          <a:solidFill>
            <a:srgbClr val="272F40"/>
          </a:solidFill>
          <a:ln>
            <a:solidFill>
              <a:srgbClr val="2DD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4</a:t>
            </a:r>
            <a:endParaRPr lang="ko-KR" altLang="en-US" sz="11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5F0A044-8960-4E74-8625-04729F0045E9}"/>
              </a:ext>
            </a:extLst>
          </p:cNvPr>
          <p:cNvSpPr txBox="1"/>
          <p:nvPr/>
        </p:nvSpPr>
        <p:spPr>
          <a:xfrm>
            <a:off x="2871129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의도 인지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3</a:t>
            </a: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기간 비교 분석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FE8720B-E7DF-8283-E94D-61CF582B96CD}"/>
              </a:ext>
            </a:extLst>
          </p:cNvPr>
          <p:cNvSpPr txBox="1"/>
          <p:nvPr/>
        </p:nvSpPr>
        <p:spPr>
          <a:xfrm>
            <a:off x="5004264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함수 호출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공정 마트 쿼리 수행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326FFD2-2B7D-BD04-3485-3CBE4BC72789}"/>
              </a:ext>
            </a:extLst>
          </p:cNvPr>
          <p:cNvSpPr txBox="1"/>
          <p:nvPr/>
        </p:nvSpPr>
        <p:spPr>
          <a:xfrm>
            <a:off x="7137399" y="2057962"/>
            <a:ext cx="1217806" cy="389204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답변 정리</a:t>
            </a:r>
            <a:endParaRPr lang="en-US" altLang="ko-KR" sz="8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b="0" i="0" dirty="0">
                <a:solidFill>
                  <a:srgbClr val="94A3B8"/>
                </a:solidFill>
                <a:effectLst/>
                <a:latin typeface="SUIT" pitchFamily="2" charset="-127"/>
                <a:ea typeface="SUIT" pitchFamily="2" charset="-127"/>
              </a:rPr>
              <a:t>원인 및 근거 데이터 제시</a:t>
            </a:r>
            <a:endParaRPr lang="en-US" sz="800" dirty="0">
              <a:solidFill>
                <a:srgbClr val="41C0C2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872ADB03-7CAA-825A-8213-F8FCB36BF199}"/>
              </a:ext>
            </a:extLst>
          </p:cNvPr>
          <p:cNvSpPr/>
          <p:nvPr/>
        </p:nvSpPr>
        <p:spPr>
          <a:xfrm>
            <a:off x="1186813" y="2651396"/>
            <a:ext cx="7658103" cy="1125081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D4112C8-51CC-D1FB-D799-3DAA16FE0C29}"/>
              </a:ext>
            </a:extLst>
          </p:cNvPr>
          <p:cNvSpPr txBox="1"/>
          <p:nvPr/>
        </p:nvSpPr>
        <p:spPr>
          <a:xfrm>
            <a:off x="1346897" y="2700227"/>
            <a:ext cx="26663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      </a:t>
            </a:r>
            <a:r>
              <a:rPr lang="ko-KR" altLang="ko-KR" sz="105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검증된 데이터 기반 답변</a:t>
            </a:r>
            <a:endParaRPr lang="ko-KR" altLang="en-US" sz="105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A66F9F8-B69E-138A-5995-8D7CECE7158B}"/>
              </a:ext>
            </a:extLst>
          </p:cNvPr>
          <p:cNvSpPr txBox="1"/>
          <p:nvPr/>
        </p:nvSpPr>
        <p:spPr>
          <a:xfrm>
            <a:off x="1346897" y="2923936"/>
            <a:ext cx="6816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3라인 불량률 상승의 주 원인은 </a:t>
            </a:r>
            <a:r>
              <a:rPr lang="ko-KR" altLang="ko-KR" sz="1400" b="0" i="0" dirty="0">
                <a:solidFill>
                  <a:srgbClr val="DC2626"/>
                </a:solidFill>
                <a:effectLst/>
                <a:latin typeface="SUIT" pitchFamily="2" charset="-127"/>
                <a:ea typeface="SUIT" pitchFamily="2" charset="-127"/>
              </a:rPr>
              <a:t>설비 온도 편차</a:t>
            </a:r>
            <a:r>
              <a:rPr lang="ko-KR" altLang="ko-KR" sz="1400" b="1" i="0" dirty="0">
                <a:solidFill>
                  <a:srgbClr val="1E293B"/>
                </a:solidFill>
                <a:effectLst/>
                <a:latin typeface="SUIT" pitchFamily="2" charset="-127"/>
                <a:ea typeface="SUIT" pitchFamily="2" charset="-127"/>
              </a:rPr>
              <a:t>입니다.</a:t>
            </a:r>
            <a:endParaRPr lang="ko-KR" altLang="en-US" sz="1400" dirty="0"/>
          </a:p>
        </p:txBody>
      </p:sp>
      <p:pic>
        <p:nvPicPr>
          <p:cNvPr id="222" name="그래픽 221" descr="배지 체크 표시1 단색으로 채워진">
            <a:extLst>
              <a:ext uri="{FF2B5EF4-FFF2-40B4-BE49-F238E27FC236}">
                <a16:creationId xmlns:a16="http://schemas.microsoft.com/office/drawing/2014/main" id="{DFDF34A5-8DBE-5BC9-DD4C-4996FCA0C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3588" y="2728156"/>
            <a:ext cx="185419" cy="185419"/>
          </a:xfrm>
          <a:prstGeom prst="rect">
            <a:avLst/>
          </a:prstGeom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9E99C4A9-56AC-F4E3-15FC-E7AA1274415E}"/>
              </a:ext>
            </a:extLst>
          </p:cNvPr>
          <p:cNvSpPr txBox="1"/>
          <p:nvPr/>
        </p:nvSpPr>
        <p:spPr>
          <a:xfrm>
            <a:off x="1355816" y="3188990"/>
            <a:ext cx="6083312" cy="493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지난주 대비 불량률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+2.4%p 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증가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050" i="0" dirty="0" err="1">
                <a:effectLst/>
                <a:latin typeface="SUIT" pitchFamily="2" charset="-127"/>
                <a:ea typeface="SUIT" pitchFamily="2" charset="-127"/>
              </a:rPr>
              <a:t>야간조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 설비 온도가 </a:t>
            </a:r>
            <a:r>
              <a:rPr lang="ko-KR" altLang="en-US" sz="1050" i="0" dirty="0" err="1">
                <a:effectLst/>
                <a:latin typeface="SUIT" pitchFamily="2" charset="-127"/>
                <a:ea typeface="SUIT" pitchFamily="2" charset="-127"/>
              </a:rPr>
              <a:t>설정값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 대비 평균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3.5℃ 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높게 유지되었습니다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.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관련 불량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12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건 중 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9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건이 동일 시간대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(</a:t>
            </a:r>
            <a:r>
              <a:rPr lang="ko-KR" altLang="en-US" sz="1050" i="0" dirty="0" err="1">
                <a:effectLst/>
                <a:latin typeface="SUIT" pitchFamily="2" charset="-127"/>
                <a:ea typeface="SUIT" pitchFamily="2" charset="-127"/>
              </a:rPr>
              <a:t>야간조</a:t>
            </a:r>
            <a:r>
              <a:rPr lang="en-US" altLang="ko-KR" sz="1050" i="0" dirty="0">
                <a:effectLst/>
                <a:latin typeface="SUIT" pitchFamily="2" charset="-127"/>
                <a:ea typeface="SUIT" pitchFamily="2" charset="-127"/>
              </a:rPr>
              <a:t>)</a:t>
            </a:r>
            <a:r>
              <a:rPr lang="ko-KR" altLang="en-US" sz="1050" i="0" dirty="0">
                <a:effectLst/>
                <a:latin typeface="SUIT" pitchFamily="2" charset="-127"/>
                <a:ea typeface="SUIT" pitchFamily="2" charset="-127"/>
              </a:rPr>
              <a:t>에 집중 발생하였습니다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D1A74A1E-4E5F-CD22-8164-121EF6223C50}"/>
              </a:ext>
            </a:extLst>
          </p:cNvPr>
          <p:cNvSpPr/>
          <p:nvPr/>
        </p:nvSpPr>
        <p:spPr>
          <a:xfrm>
            <a:off x="381377" y="3876956"/>
            <a:ext cx="2700000" cy="929714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1453492D-A0CC-406B-3AFC-3EC4E8BF40EF}"/>
              </a:ext>
            </a:extLst>
          </p:cNvPr>
          <p:cNvSpPr/>
          <p:nvPr/>
        </p:nvSpPr>
        <p:spPr>
          <a:xfrm>
            <a:off x="3263146" y="3876956"/>
            <a:ext cx="2700000" cy="929714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C1F46FB4-4254-E6B3-1DB6-87855D9448FE}"/>
              </a:ext>
            </a:extLst>
          </p:cNvPr>
          <p:cNvSpPr/>
          <p:nvPr/>
        </p:nvSpPr>
        <p:spPr>
          <a:xfrm>
            <a:off x="6144916" y="3904362"/>
            <a:ext cx="2700000" cy="929714"/>
          </a:xfrm>
          <a:prstGeom prst="roundRect">
            <a:avLst>
              <a:gd name="adj" fmla="val 16515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105BA480-1B40-6025-F202-48FD70ED3D87}"/>
              </a:ext>
            </a:extLst>
          </p:cNvPr>
          <p:cNvSpPr/>
          <p:nvPr/>
        </p:nvSpPr>
        <p:spPr>
          <a:xfrm>
            <a:off x="510820" y="4063024"/>
            <a:ext cx="366064" cy="353425"/>
          </a:xfrm>
          <a:prstGeom prst="roundRect">
            <a:avLst>
              <a:gd name="adj" fmla="val 14302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237CD81D-0771-3259-3F97-A457284DDAFD}"/>
              </a:ext>
            </a:extLst>
          </p:cNvPr>
          <p:cNvSpPr/>
          <p:nvPr/>
        </p:nvSpPr>
        <p:spPr>
          <a:xfrm>
            <a:off x="6949454" y="3383510"/>
            <a:ext cx="1733064" cy="290346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solidFill>
              <a:srgbClr val="E8A7B1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en-US" altLang="ko-KR" sz="1200" dirty="0">
                <a:solidFill>
                  <a:srgbClr val="E11D48"/>
                </a:solidFill>
                <a:latin typeface="+mj-ea"/>
                <a:ea typeface="+mj-ea"/>
              </a:rPr>
              <a:t> -&gt; </a:t>
            </a:r>
            <a:r>
              <a:rPr lang="ko-KR" altLang="en-US" sz="1200" dirty="0">
                <a:solidFill>
                  <a:srgbClr val="E11D48"/>
                </a:solidFill>
                <a:latin typeface="+mj-ea"/>
                <a:ea typeface="+mj-ea"/>
              </a:rPr>
              <a:t>야간 설비 점검 권고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DF7B1B-87DA-F5C3-906C-1D131C9236CB}"/>
              </a:ext>
            </a:extLst>
          </p:cNvPr>
          <p:cNvSpPr txBox="1"/>
          <p:nvPr/>
        </p:nvSpPr>
        <p:spPr>
          <a:xfrm>
            <a:off x="924509" y="4019194"/>
            <a:ext cx="2156867" cy="5447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데이터 환각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(Hallucination)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차단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오류 없는 분석을 위해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사전 검증된 공정 마트 데이터만 엄격하게 참조합니다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.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1D2B0FF9-362E-AA09-1DD3-843330CFA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56" y="4095265"/>
            <a:ext cx="288836" cy="288836"/>
          </a:xfrm>
          <a:prstGeom prst="rect">
            <a:avLst/>
          </a:prstGeom>
        </p:spPr>
      </p:pic>
      <p:sp>
        <p:nvSpPr>
          <p:cNvPr id="229" name="Shape 4">
            <a:extLst>
              <a:ext uri="{FF2B5EF4-FFF2-40B4-BE49-F238E27FC236}">
                <a16:creationId xmlns:a16="http://schemas.microsoft.com/office/drawing/2014/main" id="{311B05FC-8FA7-38E3-1A10-3FA67B31E00D}"/>
              </a:ext>
            </a:extLst>
          </p:cNvPr>
          <p:cNvSpPr/>
          <p:nvPr/>
        </p:nvSpPr>
        <p:spPr>
          <a:xfrm>
            <a:off x="3388284" y="4042751"/>
            <a:ext cx="366064" cy="353425"/>
          </a:xfrm>
          <a:prstGeom prst="roundRect">
            <a:avLst>
              <a:gd name="adj" fmla="val 14302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F75B909-7273-ADB1-40BF-D384AC3E1DBA}"/>
              </a:ext>
            </a:extLst>
          </p:cNvPr>
          <p:cNvSpPr txBox="1"/>
          <p:nvPr/>
        </p:nvSpPr>
        <p:spPr>
          <a:xfrm>
            <a:off x="3801973" y="3998921"/>
            <a:ext cx="2156867" cy="7109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하이브리드 보안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(Security)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핵심 공정 민감 정보는 철저하게 내부 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On-Premise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환경에서 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안전하게 처리합니다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232" name="Shape 4">
            <a:extLst>
              <a:ext uri="{FF2B5EF4-FFF2-40B4-BE49-F238E27FC236}">
                <a16:creationId xmlns:a16="http://schemas.microsoft.com/office/drawing/2014/main" id="{99337469-95C2-04B9-F770-32221FEF8C3E}"/>
              </a:ext>
            </a:extLst>
          </p:cNvPr>
          <p:cNvSpPr/>
          <p:nvPr/>
        </p:nvSpPr>
        <p:spPr>
          <a:xfrm>
            <a:off x="6274360" y="4077311"/>
            <a:ext cx="366064" cy="353425"/>
          </a:xfrm>
          <a:prstGeom prst="roundRect">
            <a:avLst>
              <a:gd name="adj" fmla="val 14302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6EDE75A-8771-824A-4FAC-488C1943E01D}"/>
              </a:ext>
            </a:extLst>
          </p:cNvPr>
          <p:cNvSpPr txBox="1"/>
          <p:nvPr/>
        </p:nvSpPr>
        <p:spPr>
          <a:xfrm>
            <a:off x="6688049" y="4033481"/>
            <a:ext cx="2156867" cy="544759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현업 주도 셀프 분석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  <a:t>(Self-BI)</a:t>
            </a:r>
            <a:b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UIT ExtraBold" pitchFamily="2" charset="-127"/>
                <a:ea typeface="SUIT ExtraBold" pitchFamily="2" charset="-127"/>
              </a:rPr>
            </a:b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복잡한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IT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의뢰 과정 없이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현업 담당자가 질문 즉시 분석 결과를 </a:t>
            </a:r>
            <a:r>
              <a:rPr lang="ko-KR" alt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응답받습니다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0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pic>
        <p:nvPicPr>
          <p:cNvPr id="192" name="그래픽 191">
            <a:extLst>
              <a:ext uri="{FF2B5EF4-FFF2-40B4-BE49-F238E27FC236}">
                <a16:creationId xmlns:a16="http://schemas.microsoft.com/office/drawing/2014/main" id="{17FEB0F5-84D0-0B17-4653-90900F3DA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6259" y="4090011"/>
            <a:ext cx="234094" cy="234094"/>
          </a:xfrm>
          <a:prstGeom prst="rect">
            <a:avLst/>
          </a:prstGeom>
        </p:spPr>
      </p:pic>
      <p:pic>
        <p:nvPicPr>
          <p:cNvPr id="194" name="그래픽 193">
            <a:extLst>
              <a:ext uri="{FF2B5EF4-FFF2-40B4-BE49-F238E27FC236}">
                <a16:creationId xmlns:a16="http://schemas.microsoft.com/office/drawing/2014/main" id="{7BF80FD4-5CCB-C9C5-D098-9FF88E1C8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6828" y="4079119"/>
            <a:ext cx="321128" cy="32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42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62AC-3E5A-F122-104E-FEDB1BF2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2102B5EA-3B01-38A5-F898-E29CC4191C0A}"/>
              </a:ext>
            </a:extLst>
          </p:cNvPr>
          <p:cNvSpPr/>
          <p:nvPr/>
        </p:nvSpPr>
        <p:spPr>
          <a:xfrm>
            <a:off x="3224423" y="681859"/>
            <a:ext cx="5677733" cy="4119452"/>
          </a:xfrm>
          <a:prstGeom prst="roundRect">
            <a:avLst>
              <a:gd name="adj" fmla="val 3479"/>
            </a:avLst>
          </a:prstGeom>
          <a:solidFill>
            <a:schemeClr val="bg1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B1C67DCC-78F5-C5A7-7866-AD190453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흩어진 현장 노하우가 </a:t>
            </a:r>
            <a:r>
              <a:rPr lang="en-US" altLang="ko-KR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'AI </a:t>
            </a:r>
            <a:r>
              <a:rPr lang="ko-KR" altLang="en-US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지식 자산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이 된다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676BAD26-9629-6DA5-A3EB-1492E03FD1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Use Cases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" name="그래픽 8">
            <a:extLst>
              <a:ext uri="{FF2B5EF4-FFF2-40B4-BE49-F238E27FC236}">
                <a16:creationId xmlns:a16="http://schemas.microsoft.com/office/drawing/2014/main" id="{44E96BFF-FEA0-74E8-1701-221A9C448E49}"/>
              </a:ext>
            </a:extLst>
          </p:cNvPr>
          <p:cNvSpPr/>
          <p:nvPr/>
        </p:nvSpPr>
        <p:spPr>
          <a:xfrm>
            <a:off x="241844" y="678005"/>
            <a:ext cx="2765541" cy="4123306"/>
          </a:xfrm>
          <a:prstGeom prst="roundRect">
            <a:avLst>
              <a:gd name="adj" fmla="val 4166"/>
            </a:avLst>
          </a:prstGeom>
          <a:gradFill>
            <a:gsLst>
              <a:gs pos="0">
                <a:srgbClr val="0B1120"/>
              </a:gs>
              <a:gs pos="50000">
                <a:srgbClr val="101B2D"/>
              </a:gs>
              <a:gs pos="100000">
                <a:srgbClr val="16263A"/>
              </a:gs>
            </a:gsLst>
            <a:lin ang="2700000" scaled="1"/>
          </a:gradFill>
          <a:ln w="754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ED004-9093-BB10-C1F6-58BE5461C35B}"/>
              </a:ext>
            </a:extLst>
          </p:cNvPr>
          <p:cNvSpPr txBox="1"/>
          <p:nvPr/>
        </p:nvSpPr>
        <p:spPr>
          <a:xfrm>
            <a:off x="628175" y="884544"/>
            <a:ext cx="1632267" cy="182788"/>
          </a:xfrm>
          <a:prstGeom prst="rect">
            <a:avLst/>
          </a:prstGeom>
          <a:noFill/>
        </p:spPr>
        <p:txBody>
          <a:bodyPr wrap="square" lIns="40000" tIns="15000" rIns="40000" bIns="15000">
            <a:spAutoFit/>
          </a:bodyPr>
          <a:lstStyle/>
          <a:p>
            <a:r>
              <a:rPr lang="ko-KR" altLang="en-US" sz="1000" b="1" i="0" dirty="0">
                <a:solidFill>
                  <a:srgbClr val="2DD4BF"/>
                </a:solidFill>
                <a:effectLst/>
                <a:latin typeface="SUIT" pitchFamily="2" charset="-127"/>
                <a:ea typeface="SUIT" pitchFamily="2" charset="-127"/>
              </a:rPr>
              <a:t>흩어진 문서의 자산화 프로세스</a:t>
            </a:r>
            <a:endParaRPr lang="ko-KR" sz="1000" b="1" dirty="0">
              <a:solidFill>
                <a:srgbClr val="00E2FE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DE9D1B0C-4802-43B4-7D43-63C455217A9E}"/>
              </a:ext>
            </a:extLst>
          </p:cNvPr>
          <p:cNvSpPr/>
          <p:nvPr/>
        </p:nvSpPr>
        <p:spPr>
          <a:xfrm>
            <a:off x="433854" y="1257198"/>
            <a:ext cx="2352075" cy="318916"/>
          </a:xfrm>
          <a:prstGeom prst="roundRect">
            <a:avLst>
              <a:gd name="adj" fmla="val 12053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7" name="그래픽 26">
            <a:extLst>
              <a:ext uri="{FF2B5EF4-FFF2-40B4-BE49-F238E27FC236}">
                <a16:creationId xmlns:a16="http://schemas.microsoft.com/office/drawing/2014/main" id="{8E8C1FC4-897B-8485-8A6E-2F845AA9C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6181" y="2392753"/>
            <a:ext cx="228600" cy="228600"/>
          </a:xfrm>
          <a:prstGeom prst="rect">
            <a:avLst/>
          </a:prstGeom>
        </p:spPr>
      </p:pic>
      <p:pic>
        <p:nvPicPr>
          <p:cNvPr id="39" name="그래픽 38">
            <a:extLst>
              <a:ext uri="{FF2B5EF4-FFF2-40B4-BE49-F238E27FC236}">
                <a16:creationId xmlns:a16="http://schemas.microsoft.com/office/drawing/2014/main" id="{32BB8381-F27D-7BF3-162E-C64CD5622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716" y="815028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20DAB71C-39C4-4EF0-7C22-89D02DBCD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014" y="1324654"/>
            <a:ext cx="228600" cy="2286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09EB83F-946E-4D33-8DD4-3EB2CE4A397B}"/>
              </a:ext>
            </a:extLst>
          </p:cNvPr>
          <p:cNvSpPr txBox="1"/>
          <p:nvPr/>
        </p:nvSpPr>
        <p:spPr>
          <a:xfrm>
            <a:off x="793380" y="1289111"/>
            <a:ext cx="1911720" cy="228600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작업 매뉴얼 </a:t>
            </a:r>
            <a:r>
              <a:rPr lang="en-US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(PDF, Word </a:t>
            </a: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등</a:t>
            </a:r>
            <a:r>
              <a:rPr lang="en-US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)</a:t>
            </a: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55AF6F62-F854-D88C-6B95-1D408C47BFFE}"/>
              </a:ext>
            </a:extLst>
          </p:cNvPr>
          <p:cNvSpPr/>
          <p:nvPr/>
        </p:nvSpPr>
        <p:spPr>
          <a:xfrm>
            <a:off x="433854" y="1677502"/>
            <a:ext cx="2352075" cy="318916"/>
          </a:xfrm>
          <a:prstGeom prst="roundRect">
            <a:avLst>
              <a:gd name="adj" fmla="val 12053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F1AE5D-0F3A-9E41-5CE0-3DCF844D18E1}"/>
              </a:ext>
            </a:extLst>
          </p:cNvPr>
          <p:cNvSpPr txBox="1"/>
          <p:nvPr/>
        </p:nvSpPr>
        <p:spPr>
          <a:xfrm>
            <a:off x="793380" y="1709415"/>
            <a:ext cx="1911720" cy="228600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설비 점검 일지</a:t>
            </a:r>
            <a:endParaRPr lang="en-US" altLang="ko-KR" sz="1000" dirty="0">
              <a:solidFill>
                <a:schemeClr val="bg1"/>
              </a:solidFill>
              <a:latin typeface="SUIT ExtraBold" pitchFamily="50" charset="-127"/>
              <a:ea typeface="SUIT ExtraBold" pitchFamily="50" charset="-127"/>
            </a:endParaRPr>
          </a:p>
        </p:txBody>
      </p:sp>
      <p:sp>
        <p:nvSpPr>
          <p:cNvPr id="193" name="Shape 4">
            <a:extLst>
              <a:ext uri="{FF2B5EF4-FFF2-40B4-BE49-F238E27FC236}">
                <a16:creationId xmlns:a16="http://schemas.microsoft.com/office/drawing/2014/main" id="{E8662891-5735-4CFA-3C59-0D3F368E00F4}"/>
              </a:ext>
            </a:extLst>
          </p:cNvPr>
          <p:cNvSpPr/>
          <p:nvPr/>
        </p:nvSpPr>
        <p:spPr>
          <a:xfrm>
            <a:off x="433854" y="2099120"/>
            <a:ext cx="2352075" cy="318916"/>
          </a:xfrm>
          <a:prstGeom prst="roundRect">
            <a:avLst>
              <a:gd name="adj" fmla="val 12053"/>
            </a:avLst>
          </a:prstGeom>
          <a:solidFill>
            <a:srgbClr val="1D2537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pPr>
              <a:lnSpc>
                <a:spcPct val="110000"/>
              </a:lnSpc>
            </a:pP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344DAD8-A637-8DD2-9855-847B08B38C37}"/>
              </a:ext>
            </a:extLst>
          </p:cNvPr>
          <p:cNvSpPr txBox="1"/>
          <p:nvPr/>
        </p:nvSpPr>
        <p:spPr>
          <a:xfrm>
            <a:off x="793380" y="2131033"/>
            <a:ext cx="1911720" cy="228600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트러블슈팅 노하우 </a:t>
            </a:r>
            <a:r>
              <a:rPr lang="en-US" altLang="ko-KR" sz="1000" dirty="0">
                <a:solidFill>
                  <a:schemeClr val="bg1"/>
                </a:solidFill>
                <a:latin typeface="SUIT ExtraBold" pitchFamily="50" charset="-127"/>
                <a:ea typeface="SUIT ExtraBold" pitchFamily="50" charset="-127"/>
              </a:rPr>
              <a:t>(Text)</a:t>
            </a:r>
          </a:p>
        </p:txBody>
      </p:sp>
      <p:pic>
        <p:nvPicPr>
          <p:cNvPr id="199" name="그래픽 198">
            <a:extLst>
              <a:ext uri="{FF2B5EF4-FFF2-40B4-BE49-F238E27FC236}">
                <a16:creationId xmlns:a16="http://schemas.microsoft.com/office/drawing/2014/main" id="{E1268615-18EC-21B2-513B-327CE30A6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628" y="2174758"/>
            <a:ext cx="228600" cy="228600"/>
          </a:xfrm>
          <a:prstGeom prst="rect">
            <a:avLst/>
          </a:prstGeom>
        </p:spPr>
      </p:pic>
      <p:sp>
        <p:nvSpPr>
          <p:cNvPr id="252" name="TextBox 251">
            <a:extLst>
              <a:ext uri="{FF2B5EF4-FFF2-40B4-BE49-F238E27FC236}">
                <a16:creationId xmlns:a16="http://schemas.microsoft.com/office/drawing/2014/main" id="{62B2A992-4E5C-B67D-3FF4-3DB11323F94A}"/>
              </a:ext>
            </a:extLst>
          </p:cNvPr>
          <p:cNvSpPr txBox="1"/>
          <p:nvPr/>
        </p:nvSpPr>
        <p:spPr>
          <a:xfrm>
            <a:off x="732477" y="2685966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i="0" dirty="0">
                <a:solidFill>
                  <a:srgbClr val="2DD4BF"/>
                </a:solidFill>
                <a:effectLst/>
                <a:latin typeface="+mn-ea"/>
              </a:rPr>
              <a:t>멀티 포맷 데이터 </a:t>
            </a:r>
            <a:r>
              <a:rPr lang="ko-KR" altLang="en-US" sz="1050" i="0" dirty="0" err="1">
                <a:solidFill>
                  <a:srgbClr val="2DD4BF"/>
                </a:solidFill>
                <a:effectLst/>
                <a:latin typeface="+mn-ea"/>
              </a:rPr>
              <a:t>인입</a:t>
            </a:r>
            <a:endParaRPr lang="ko-KR" altLang="ko-KR" sz="400" i="0" dirty="0">
              <a:solidFill>
                <a:srgbClr val="2DD4BF"/>
              </a:solidFill>
              <a:effectLst/>
              <a:latin typeface="+mn-ea"/>
            </a:endParaRPr>
          </a:p>
        </p:txBody>
      </p:sp>
      <p:sp>
        <p:nvSpPr>
          <p:cNvPr id="256" name="사각형: 둥근 모서리 255">
            <a:extLst>
              <a:ext uri="{FF2B5EF4-FFF2-40B4-BE49-F238E27FC236}">
                <a16:creationId xmlns:a16="http://schemas.microsoft.com/office/drawing/2014/main" id="{EB435A10-D0B0-401E-DF48-2BE55B7D38B2}"/>
              </a:ext>
            </a:extLst>
          </p:cNvPr>
          <p:cNvSpPr/>
          <p:nvPr/>
        </p:nvSpPr>
        <p:spPr>
          <a:xfrm>
            <a:off x="429027" y="3777793"/>
            <a:ext cx="2356901" cy="864533"/>
          </a:xfrm>
          <a:prstGeom prst="roundRect">
            <a:avLst>
              <a:gd name="adj" fmla="val 10705"/>
            </a:avLst>
          </a:prstGeom>
          <a:noFill/>
          <a:ln w="12700" cap="flat" cmpd="sng" algn="ctr">
            <a:solidFill>
              <a:srgbClr val="13CE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222A212-1D2E-E209-0CE7-B27C2EEB6788}"/>
              </a:ext>
            </a:extLst>
          </p:cNvPr>
          <p:cNvSpPr txBox="1"/>
          <p:nvPr/>
        </p:nvSpPr>
        <p:spPr>
          <a:xfrm>
            <a:off x="728833" y="2947576"/>
            <a:ext cx="1658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2DD4BF"/>
                </a:solidFill>
                <a:effectLst/>
                <a:latin typeface="+mn-ea"/>
              </a:rPr>
              <a:t>지능형 구조 분석 </a:t>
            </a:r>
            <a:r>
              <a:rPr lang="en-US" altLang="ko-KR" sz="1050" b="1" i="0" dirty="0">
                <a:solidFill>
                  <a:srgbClr val="2DD4BF"/>
                </a:solidFill>
                <a:effectLst/>
                <a:latin typeface="+mn-ea"/>
              </a:rPr>
              <a:t>(Parsing)</a:t>
            </a:r>
            <a:endParaRPr lang="ko-KR" altLang="en-US" sz="1050" b="1" i="0" dirty="0">
              <a:solidFill>
                <a:srgbClr val="2DD4BF"/>
              </a:solidFill>
              <a:effectLst/>
              <a:latin typeface="+mn-ea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BC595E4-A529-4F70-6770-15A822479571}"/>
              </a:ext>
            </a:extLst>
          </p:cNvPr>
          <p:cNvSpPr txBox="1"/>
          <p:nvPr/>
        </p:nvSpPr>
        <p:spPr>
          <a:xfrm>
            <a:off x="728834" y="3213559"/>
            <a:ext cx="16957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ko-KR" altLang="en-US" sz="1050" b="1" i="0" dirty="0">
                <a:solidFill>
                  <a:srgbClr val="2DD4BF"/>
                </a:solidFill>
                <a:effectLst/>
                <a:latin typeface="+mn-ea"/>
              </a:rPr>
              <a:t>마크다운</a:t>
            </a:r>
            <a:r>
              <a:rPr lang="en-US" altLang="ko-KR" sz="1050" b="1" i="0" dirty="0">
                <a:solidFill>
                  <a:srgbClr val="2DD4BF"/>
                </a:solidFill>
                <a:effectLst/>
                <a:latin typeface="+mn-ea"/>
              </a:rPr>
              <a:t>(MD) </a:t>
            </a:r>
            <a:r>
              <a:rPr lang="ko-KR" altLang="en-US" sz="1050" b="1" i="0" dirty="0">
                <a:solidFill>
                  <a:srgbClr val="2DD4BF"/>
                </a:solidFill>
                <a:effectLst/>
                <a:latin typeface="+mn-ea"/>
              </a:rPr>
              <a:t>최적화 변환</a:t>
            </a:r>
            <a:endParaRPr lang="ko-KR" altLang="ko-KR" sz="400" b="1" i="0" dirty="0">
              <a:solidFill>
                <a:srgbClr val="2DD4BF"/>
              </a:solidFill>
              <a:effectLst/>
              <a:latin typeface="+mn-ea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BBB6983-366C-DE04-EFB1-74060D151DED}"/>
              </a:ext>
            </a:extLst>
          </p:cNvPr>
          <p:cNvSpPr txBox="1"/>
          <p:nvPr/>
        </p:nvSpPr>
        <p:spPr>
          <a:xfrm>
            <a:off x="654365" y="3862137"/>
            <a:ext cx="1997395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 algn="ctr"/>
            <a:r>
              <a:rPr lang="en-US" altLang="ko-KR" sz="1050" dirty="0">
                <a:solidFill>
                  <a:schemeClr val="bg1"/>
                </a:solidFill>
                <a:latin typeface="SUIT" pitchFamily="2" charset="-127"/>
                <a:sym typeface="Urbanist"/>
              </a:rPr>
              <a:t>AI </a:t>
            </a:r>
            <a:r>
              <a:rPr lang="ko-KR" altLang="en-US" sz="1050" dirty="0">
                <a:solidFill>
                  <a:schemeClr val="bg1"/>
                </a:solidFill>
                <a:latin typeface="SUIT" pitchFamily="2" charset="-127"/>
                <a:sym typeface="Urbanist"/>
              </a:rPr>
              <a:t>지식 자산 </a:t>
            </a:r>
            <a:r>
              <a:rPr lang="en-US" altLang="ko-KR" sz="1050" dirty="0">
                <a:solidFill>
                  <a:schemeClr val="bg1"/>
                </a:solidFill>
                <a:latin typeface="SUIT" pitchFamily="2" charset="-127"/>
                <a:sym typeface="Urbanist"/>
              </a:rPr>
              <a:t>Wiki (Vector DB)</a:t>
            </a:r>
            <a:endParaRPr lang="en-US" altLang="ko-KR" sz="1050" dirty="0">
              <a:solidFill>
                <a:schemeClr val="bg1"/>
              </a:solidFill>
              <a:latin typeface="SUIT" pitchFamily="2" charset="-127"/>
            </a:endParaRPr>
          </a:p>
        </p:txBody>
      </p:sp>
      <p:pic>
        <p:nvPicPr>
          <p:cNvPr id="272" name="그래픽 271">
            <a:extLst>
              <a:ext uri="{FF2B5EF4-FFF2-40B4-BE49-F238E27FC236}">
                <a16:creationId xmlns:a16="http://schemas.microsoft.com/office/drawing/2014/main" id="{8795E7CA-CA2D-B12A-BE51-F4F1BA891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200" y="3228041"/>
            <a:ext cx="145633" cy="194177"/>
          </a:xfrm>
          <a:prstGeom prst="rect">
            <a:avLst/>
          </a:prstGeom>
        </p:spPr>
      </p:pic>
      <p:pic>
        <p:nvPicPr>
          <p:cNvPr id="274" name="그래픽 273" descr="폴더 검색 단색으로 채워진">
            <a:extLst>
              <a:ext uri="{FF2B5EF4-FFF2-40B4-BE49-F238E27FC236}">
                <a16:creationId xmlns:a16="http://schemas.microsoft.com/office/drawing/2014/main" id="{83C4B13A-21C0-9B83-BADC-FEE8CEBC3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551" y="2698048"/>
            <a:ext cx="231117" cy="231117"/>
          </a:xfrm>
          <a:prstGeom prst="rect">
            <a:avLst/>
          </a:prstGeom>
        </p:spPr>
      </p:pic>
      <p:sp>
        <p:nvSpPr>
          <p:cNvPr id="276" name="Shape 4">
            <a:extLst>
              <a:ext uri="{FF2B5EF4-FFF2-40B4-BE49-F238E27FC236}">
                <a16:creationId xmlns:a16="http://schemas.microsoft.com/office/drawing/2014/main" id="{DF712A92-6044-F085-C07F-23C22DB12078}"/>
              </a:ext>
            </a:extLst>
          </p:cNvPr>
          <p:cNvSpPr/>
          <p:nvPr/>
        </p:nvSpPr>
        <p:spPr>
          <a:xfrm>
            <a:off x="429028" y="2622550"/>
            <a:ext cx="2356902" cy="944837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C5CFD4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CBD64CC7-2B34-7BB5-318D-FC1A8728F1A0}"/>
              </a:ext>
            </a:extLst>
          </p:cNvPr>
          <p:cNvGrpSpPr/>
          <p:nvPr/>
        </p:nvGrpSpPr>
        <p:grpSpPr>
          <a:xfrm>
            <a:off x="568217" y="2984300"/>
            <a:ext cx="165590" cy="151805"/>
            <a:chOff x="1891724" y="3181554"/>
            <a:chExt cx="752474" cy="663984"/>
          </a:xfrm>
          <a:solidFill>
            <a:srgbClr val="2DD4BF"/>
          </a:solidFill>
        </p:grpSpPr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1B2FCB5A-AC99-6A31-47B4-E3248F8DE3DD}"/>
                </a:ext>
              </a:extLst>
            </p:cNvPr>
            <p:cNvSpPr/>
            <p:nvPr/>
          </p:nvSpPr>
          <p:spPr>
            <a:xfrm>
              <a:off x="2348923" y="3199612"/>
              <a:ext cx="295275" cy="615894"/>
            </a:xfrm>
            <a:custGeom>
              <a:avLst/>
              <a:gdLst>
                <a:gd name="csX0" fmla="*/ 295275 w 295275"/>
                <a:gd name="csY0" fmla="*/ 388113 h 615894"/>
                <a:gd name="csX1" fmla="*/ 264557 w 295275"/>
                <a:gd name="csY1" fmla="*/ 315551 h 615894"/>
                <a:gd name="csX2" fmla="*/ 231570 w 295275"/>
                <a:gd name="csY2" fmla="*/ 182837 h 615894"/>
                <a:gd name="csX3" fmla="*/ 224438 w 295275"/>
                <a:gd name="csY3" fmla="*/ 178944 h 615894"/>
                <a:gd name="csX4" fmla="*/ 170618 w 295275"/>
                <a:gd name="csY4" fmla="*/ 79411 h 615894"/>
                <a:gd name="csX5" fmla="*/ 168450 w 295275"/>
                <a:gd name="csY5" fmla="*/ 78798 h 615894"/>
                <a:gd name="csX6" fmla="*/ 78795 w 295275"/>
                <a:gd name="csY6" fmla="*/ 184 h 615894"/>
                <a:gd name="csX7" fmla="*/ 0 w 295275"/>
                <a:gd name="csY7" fmla="*/ 84408 h 615894"/>
                <a:gd name="csX8" fmla="*/ 0 w 295275"/>
                <a:gd name="csY8" fmla="*/ 552628 h 615894"/>
                <a:gd name="csX9" fmla="*/ 63302 w 295275"/>
                <a:gd name="csY9" fmla="*/ 615894 h 615894"/>
                <a:gd name="csX10" fmla="*/ 123663 w 295275"/>
                <a:gd name="csY10" fmla="*/ 571564 h 615894"/>
                <a:gd name="csX11" fmla="*/ 234067 w 295275"/>
                <a:gd name="csY11" fmla="*/ 500879 h 615894"/>
                <a:gd name="csX12" fmla="*/ 236220 w 295275"/>
                <a:gd name="csY12" fmla="*/ 480915 h 615894"/>
                <a:gd name="csX13" fmla="*/ 236220 w 295275"/>
                <a:gd name="csY13" fmla="*/ 480076 h 615894"/>
                <a:gd name="csX14" fmla="*/ 295275 w 295275"/>
                <a:gd name="csY14" fmla="*/ 388113 h 6158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95275" h="615894">
                  <a:moveTo>
                    <a:pt x="295275" y="388113"/>
                  </a:moveTo>
                  <a:cubicBezTo>
                    <a:pt x="295294" y="360761"/>
                    <a:pt x="284208" y="334575"/>
                    <a:pt x="264557" y="315551"/>
                  </a:cubicBezTo>
                  <a:cubicBezTo>
                    <a:pt x="292096" y="269794"/>
                    <a:pt x="277327" y="210377"/>
                    <a:pt x="231570" y="182837"/>
                  </a:cubicBezTo>
                  <a:cubicBezTo>
                    <a:pt x="229249" y="181440"/>
                    <a:pt x="226868" y="180141"/>
                    <a:pt x="224438" y="178944"/>
                  </a:cubicBezTo>
                  <a:cubicBezTo>
                    <a:pt x="237061" y="136596"/>
                    <a:pt x="212966" y="92035"/>
                    <a:pt x="170618" y="79411"/>
                  </a:cubicBezTo>
                  <a:cubicBezTo>
                    <a:pt x="169898" y="79197"/>
                    <a:pt x="169175" y="78992"/>
                    <a:pt x="168450" y="78798"/>
                  </a:cubicBezTo>
                  <a:cubicBezTo>
                    <a:pt x="165401" y="32332"/>
                    <a:pt x="125260" y="-2865"/>
                    <a:pt x="78795" y="184"/>
                  </a:cubicBezTo>
                  <a:cubicBezTo>
                    <a:pt x="34433" y="3095"/>
                    <a:pt x="-48" y="39951"/>
                    <a:pt x="0" y="84408"/>
                  </a:cubicBezTo>
                  <a:lnTo>
                    <a:pt x="0" y="552628"/>
                  </a:lnTo>
                  <a:cubicBezTo>
                    <a:pt x="11" y="587579"/>
                    <a:pt x="28351" y="615904"/>
                    <a:pt x="63302" y="615894"/>
                  </a:cubicBezTo>
                  <a:cubicBezTo>
                    <a:pt x="90945" y="615886"/>
                    <a:pt x="115384" y="597938"/>
                    <a:pt x="123663" y="571564"/>
                  </a:cubicBezTo>
                  <a:cubicBezTo>
                    <a:pt x="173669" y="582532"/>
                    <a:pt x="223099" y="550885"/>
                    <a:pt x="234067" y="500879"/>
                  </a:cubicBezTo>
                  <a:cubicBezTo>
                    <a:pt x="235506" y="494322"/>
                    <a:pt x="236228" y="487628"/>
                    <a:pt x="236220" y="480915"/>
                  </a:cubicBezTo>
                  <a:cubicBezTo>
                    <a:pt x="236220" y="480638"/>
                    <a:pt x="236220" y="480362"/>
                    <a:pt x="236220" y="480076"/>
                  </a:cubicBezTo>
                  <a:cubicBezTo>
                    <a:pt x="272195" y="463608"/>
                    <a:pt x="295267" y="427677"/>
                    <a:pt x="295275" y="3881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338AB5FF-03A3-D1A5-2EF0-BDCD28701AEA}"/>
                </a:ext>
              </a:extLst>
            </p:cNvPr>
            <p:cNvSpPr/>
            <p:nvPr/>
          </p:nvSpPr>
          <p:spPr>
            <a:xfrm>
              <a:off x="2000732" y="3181554"/>
              <a:ext cx="78734" cy="78748"/>
            </a:xfrm>
            <a:custGeom>
              <a:avLst/>
              <a:gdLst>
                <a:gd name="csX0" fmla="*/ 59689 w 78734"/>
                <a:gd name="csY0" fmla="*/ 78749 h 78748"/>
                <a:gd name="csX1" fmla="*/ 46221 w 78734"/>
                <a:gd name="csY1" fmla="*/ 73167 h 78748"/>
                <a:gd name="csX2" fmla="*/ 5816 w 78734"/>
                <a:gd name="csY2" fmla="*/ 32752 h 78748"/>
                <a:gd name="csX3" fmla="*/ 5347 w 78734"/>
                <a:gd name="csY3" fmla="*/ 5816 h 78748"/>
                <a:gd name="csX4" fmla="*/ 32284 w 78734"/>
                <a:gd name="csY4" fmla="*/ 5347 h 78748"/>
                <a:gd name="csX5" fmla="*/ 32752 w 78734"/>
                <a:gd name="csY5" fmla="*/ 5816 h 78748"/>
                <a:gd name="csX6" fmla="*/ 73158 w 78734"/>
                <a:gd name="csY6" fmla="*/ 46230 h 78748"/>
                <a:gd name="csX7" fmla="*/ 73154 w 78734"/>
                <a:gd name="csY7" fmla="*/ 73171 h 78748"/>
                <a:gd name="csX8" fmla="*/ 59689 w 78734"/>
                <a:gd name="csY8" fmla="*/ 78749 h 78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4" h="78748">
                  <a:moveTo>
                    <a:pt x="59689" y="78749"/>
                  </a:moveTo>
                  <a:cubicBezTo>
                    <a:pt x="54635" y="78756"/>
                    <a:pt x="49788" y="76747"/>
                    <a:pt x="46221" y="73167"/>
                  </a:cubicBezTo>
                  <a:lnTo>
                    <a:pt x="5816" y="32752"/>
                  </a:lnTo>
                  <a:cubicBezTo>
                    <a:pt x="-1752" y="25443"/>
                    <a:pt x="-1961" y="13383"/>
                    <a:pt x="5347" y="5816"/>
                  </a:cubicBezTo>
                  <a:cubicBezTo>
                    <a:pt x="12657" y="-1752"/>
                    <a:pt x="24716" y="-1961"/>
                    <a:pt x="32284" y="5347"/>
                  </a:cubicBezTo>
                  <a:cubicBezTo>
                    <a:pt x="32443" y="5500"/>
                    <a:pt x="32599" y="5657"/>
                    <a:pt x="32752" y="5816"/>
                  </a:cubicBezTo>
                  <a:lnTo>
                    <a:pt x="73158" y="46230"/>
                  </a:lnTo>
                  <a:cubicBezTo>
                    <a:pt x="80596" y="53671"/>
                    <a:pt x="80594" y="65733"/>
                    <a:pt x="73154" y="73171"/>
                  </a:cubicBezTo>
                  <a:cubicBezTo>
                    <a:pt x="69582" y="76742"/>
                    <a:pt x="64739" y="78748"/>
                    <a:pt x="59689" y="787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F4716C6E-DF56-11A2-D2AE-9F787C2BBA7C}"/>
                </a:ext>
              </a:extLst>
            </p:cNvPr>
            <p:cNvSpPr/>
            <p:nvPr/>
          </p:nvSpPr>
          <p:spPr>
            <a:xfrm>
              <a:off x="1916016" y="3324853"/>
              <a:ext cx="97727" cy="63313"/>
            </a:xfrm>
            <a:custGeom>
              <a:avLst/>
              <a:gdLst>
                <a:gd name="csX0" fmla="*/ 78664 w 97727"/>
                <a:gd name="csY0" fmla="*/ 63313 h 63313"/>
                <a:gd name="csX1" fmla="*/ 71244 w 97727"/>
                <a:gd name="csY1" fmla="*/ 61808 h 63313"/>
                <a:gd name="csX2" fmla="*/ 11512 w 97727"/>
                <a:gd name="csY2" fmla="*/ 36548 h 63313"/>
                <a:gd name="csX3" fmla="*/ 1562 w 97727"/>
                <a:gd name="csY3" fmla="*/ 11513 h 63313"/>
                <a:gd name="csX4" fmla="*/ 26352 w 97727"/>
                <a:gd name="csY4" fmla="*/ 1458 h 63313"/>
                <a:gd name="csX5" fmla="*/ 86093 w 97727"/>
                <a:gd name="csY5" fmla="*/ 26718 h 63313"/>
                <a:gd name="csX6" fmla="*/ 96217 w 97727"/>
                <a:gd name="csY6" fmla="*/ 51684 h 63313"/>
                <a:gd name="csX7" fmla="*/ 78664 w 97727"/>
                <a:gd name="csY7" fmla="*/ 63313 h 63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7727" h="63313">
                  <a:moveTo>
                    <a:pt x="78664" y="63313"/>
                  </a:moveTo>
                  <a:cubicBezTo>
                    <a:pt x="76115" y="63315"/>
                    <a:pt x="73591" y="62804"/>
                    <a:pt x="71244" y="61808"/>
                  </a:cubicBezTo>
                  <a:lnTo>
                    <a:pt x="11512" y="36548"/>
                  </a:lnTo>
                  <a:cubicBezTo>
                    <a:pt x="1851" y="32383"/>
                    <a:pt x="-2604" y="21174"/>
                    <a:pt x="1562" y="11513"/>
                  </a:cubicBezTo>
                  <a:cubicBezTo>
                    <a:pt x="5686" y="1947"/>
                    <a:pt x="16730" y="-2533"/>
                    <a:pt x="26352" y="1458"/>
                  </a:cubicBezTo>
                  <a:lnTo>
                    <a:pt x="86093" y="26718"/>
                  </a:lnTo>
                  <a:cubicBezTo>
                    <a:pt x="95783" y="30817"/>
                    <a:pt x="100316" y="41994"/>
                    <a:pt x="96217" y="51684"/>
                  </a:cubicBezTo>
                  <a:cubicBezTo>
                    <a:pt x="93234" y="58736"/>
                    <a:pt x="86320" y="63317"/>
                    <a:pt x="78664" y="633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40ED7352-DDA2-CCC1-1B27-007801D847C7}"/>
                </a:ext>
              </a:extLst>
            </p:cNvPr>
            <p:cNvSpPr/>
            <p:nvPr/>
          </p:nvSpPr>
          <p:spPr>
            <a:xfrm>
              <a:off x="1891724" y="3491665"/>
              <a:ext cx="90849" cy="38100"/>
            </a:xfrm>
            <a:custGeom>
              <a:avLst/>
              <a:gdLst>
                <a:gd name="csX0" fmla="*/ 71799 w 90849"/>
                <a:gd name="csY0" fmla="*/ 38100 h 38100"/>
                <a:gd name="csX1" fmla="*/ 19050 w 90849"/>
                <a:gd name="csY1" fmla="*/ 38100 h 38100"/>
                <a:gd name="csX2" fmla="*/ 0 w 90849"/>
                <a:gd name="csY2" fmla="*/ 19050 h 38100"/>
                <a:gd name="csX3" fmla="*/ 19050 w 90849"/>
                <a:gd name="csY3" fmla="*/ 0 h 38100"/>
                <a:gd name="csX4" fmla="*/ 71799 w 90849"/>
                <a:gd name="csY4" fmla="*/ 0 h 38100"/>
                <a:gd name="csX5" fmla="*/ 90849 w 90849"/>
                <a:gd name="csY5" fmla="*/ 19050 h 38100"/>
                <a:gd name="csX6" fmla="*/ 71799 w 90849"/>
                <a:gd name="csY6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0849" h="38100">
                  <a:moveTo>
                    <a:pt x="71799" y="38100"/>
                  </a:move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lnTo>
                    <a:pt x="71799" y="0"/>
                  </a:lnTo>
                  <a:cubicBezTo>
                    <a:pt x="82321" y="0"/>
                    <a:pt x="90849" y="8529"/>
                    <a:pt x="90849" y="19050"/>
                  </a:cubicBezTo>
                  <a:cubicBezTo>
                    <a:pt x="90849" y="29571"/>
                    <a:pt x="82321" y="38100"/>
                    <a:pt x="71799" y="38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B3A5F85-6624-4D90-22D5-81A170A4F8F0}"/>
                </a:ext>
              </a:extLst>
            </p:cNvPr>
            <p:cNvSpPr/>
            <p:nvPr/>
          </p:nvSpPr>
          <p:spPr>
            <a:xfrm>
              <a:off x="1901279" y="3641479"/>
              <a:ext cx="88685" cy="61203"/>
            </a:xfrm>
            <a:custGeom>
              <a:avLst/>
              <a:gdLst>
                <a:gd name="csX0" fmla="*/ 19077 w 88685"/>
                <a:gd name="csY0" fmla="*/ 61203 h 61203"/>
                <a:gd name="csX1" fmla="*/ 0 w 88685"/>
                <a:gd name="csY1" fmla="*/ 42180 h 61203"/>
                <a:gd name="csX2" fmla="*/ 11152 w 88685"/>
                <a:gd name="csY2" fmla="*/ 24818 h 61203"/>
                <a:gd name="csX3" fmla="*/ 61710 w 88685"/>
                <a:gd name="csY3" fmla="*/ 1729 h 61203"/>
                <a:gd name="csX4" fmla="*/ 86957 w 88685"/>
                <a:gd name="csY4" fmla="*/ 11135 h 61203"/>
                <a:gd name="csX5" fmla="*/ 77551 w 88685"/>
                <a:gd name="csY5" fmla="*/ 36381 h 61203"/>
                <a:gd name="csX6" fmla="*/ 26982 w 88685"/>
                <a:gd name="csY6" fmla="*/ 59479 h 61203"/>
                <a:gd name="csX7" fmla="*/ 19077 w 88685"/>
                <a:gd name="csY7" fmla="*/ 61203 h 61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88685" h="61203">
                  <a:moveTo>
                    <a:pt x="19077" y="61203"/>
                  </a:moveTo>
                  <a:cubicBezTo>
                    <a:pt x="8556" y="61217"/>
                    <a:pt x="15" y="52701"/>
                    <a:pt x="0" y="42180"/>
                  </a:cubicBezTo>
                  <a:cubicBezTo>
                    <a:pt x="-10" y="34705"/>
                    <a:pt x="4351" y="27916"/>
                    <a:pt x="11152" y="24818"/>
                  </a:cubicBezTo>
                  <a:lnTo>
                    <a:pt x="61710" y="1729"/>
                  </a:lnTo>
                  <a:cubicBezTo>
                    <a:pt x="71279" y="-2645"/>
                    <a:pt x="82583" y="1566"/>
                    <a:pt x="86957" y="11135"/>
                  </a:cubicBezTo>
                  <a:cubicBezTo>
                    <a:pt x="91330" y="20704"/>
                    <a:pt x="87119" y="32007"/>
                    <a:pt x="77551" y="36381"/>
                  </a:cubicBezTo>
                  <a:lnTo>
                    <a:pt x="26982" y="59479"/>
                  </a:lnTo>
                  <a:cubicBezTo>
                    <a:pt x="24501" y="60613"/>
                    <a:pt x="21805" y="61201"/>
                    <a:pt x="19077" y="6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88C657EF-1F2D-6E28-BAC9-DFBA2EF6456D}"/>
                </a:ext>
              </a:extLst>
            </p:cNvPr>
            <p:cNvSpPr/>
            <p:nvPr/>
          </p:nvSpPr>
          <p:spPr>
            <a:xfrm>
              <a:off x="1995035" y="3767525"/>
              <a:ext cx="78003" cy="78013"/>
            </a:xfrm>
            <a:custGeom>
              <a:avLst/>
              <a:gdLst>
                <a:gd name="csX0" fmla="*/ 19056 w 78003"/>
                <a:gd name="csY0" fmla="*/ 78013 h 78013"/>
                <a:gd name="csX1" fmla="*/ 0 w 78003"/>
                <a:gd name="csY1" fmla="*/ 58969 h 78013"/>
                <a:gd name="csX2" fmla="*/ 5587 w 78003"/>
                <a:gd name="csY2" fmla="*/ 45485 h 78013"/>
                <a:gd name="csX3" fmla="*/ 46002 w 78003"/>
                <a:gd name="csY3" fmla="*/ 5080 h 78013"/>
                <a:gd name="csX4" fmla="*/ 72923 w 78003"/>
                <a:gd name="csY4" fmla="*/ 6099 h 78013"/>
                <a:gd name="csX5" fmla="*/ 72901 w 78003"/>
                <a:gd name="csY5" fmla="*/ 32027 h 78013"/>
                <a:gd name="csX6" fmla="*/ 32524 w 78003"/>
                <a:gd name="csY6" fmla="*/ 72441 h 78013"/>
                <a:gd name="csX7" fmla="*/ 19056 w 78003"/>
                <a:gd name="csY7" fmla="*/ 78013 h 78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8003" h="78013">
                  <a:moveTo>
                    <a:pt x="19056" y="78013"/>
                  </a:moveTo>
                  <a:cubicBezTo>
                    <a:pt x="8534" y="78016"/>
                    <a:pt x="3" y="69489"/>
                    <a:pt x="0" y="58969"/>
                  </a:cubicBezTo>
                  <a:cubicBezTo>
                    <a:pt x="-1" y="53911"/>
                    <a:pt x="2009" y="49060"/>
                    <a:pt x="5587" y="45485"/>
                  </a:cubicBezTo>
                  <a:lnTo>
                    <a:pt x="46002" y="5080"/>
                  </a:lnTo>
                  <a:cubicBezTo>
                    <a:pt x="53717" y="-2073"/>
                    <a:pt x="65770" y="-1617"/>
                    <a:pt x="72923" y="6099"/>
                  </a:cubicBezTo>
                  <a:cubicBezTo>
                    <a:pt x="79706" y="13414"/>
                    <a:pt x="79696" y="24723"/>
                    <a:pt x="72901" y="32027"/>
                  </a:cubicBezTo>
                  <a:lnTo>
                    <a:pt x="32524" y="72441"/>
                  </a:lnTo>
                  <a:cubicBezTo>
                    <a:pt x="28954" y="76016"/>
                    <a:pt x="24108" y="78021"/>
                    <a:pt x="19056" y="780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ED07EC25-4A41-0715-58B3-48DB9CE830CA}"/>
                </a:ext>
              </a:extLst>
            </p:cNvPr>
            <p:cNvSpPr/>
            <p:nvPr/>
          </p:nvSpPr>
          <p:spPr>
            <a:xfrm>
              <a:off x="2119494" y="3362325"/>
              <a:ext cx="163706" cy="163713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F637CF5B-730A-02C8-61CD-24A26559572E}"/>
                </a:ext>
              </a:extLst>
            </p:cNvPr>
            <p:cNvSpPr/>
            <p:nvPr/>
          </p:nvSpPr>
          <p:spPr>
            <a:xfrm>
              <a:off x="2133572" y="3555391"/>
              <a:ext cx="49428" cy="49430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F7788223-C2F4-499C-68B5-21888085D7B1}"/>
                </a:ext>
              </a:extLst>
            </p:cNvPr>
            <p:cNvSpPr/>
            <p:nvPr/>
          </p:nvSpPr>
          <p:spPr>
            <a:xfrm>
              <a:off x="2015552" y="3199648"/>
              <a:ext cx="295271" cy="615747"/>
            </a:xfrm>
            <a:custGeom>
              <a:avLst/>
              <a:gdLst>
                <a:gd name="csX0" fmla="*/ 210909 w 295271"/>
                <a:gd name="csY0" fmla="*/ 0 h 615747"/>
                <a:gd name="csX1" fmla="*/ 126832 w 295271"/>
                <a:gd name="csY1" fmla="*/ 78753 h 615747"/>
                <a:gd name="csX2" fmla="*/ 70216 w 295271"/>
                <a:gd name="csY2" fmla="*/ 176721 h 615747"/>
                <a:gd name="csX3" fmla="*/ 70834 w 295271"/>
                <a:gd name="csY3" fmla="*/ 178908 h 615747"/>
                <a:gd name="csX4" fmla="*/ 26813 w 295271"/>
                <a:gd name="csY4" fmla="*/ 308352 h 615747"/>
                <a:gd name="csX5" fmla="*/ 30724 w 295271"/>
                <a:gd name="csY5" fmla="*/ 315516 h 615747"/>
                <a:gd name="csX6" fmla="*/ 28503 w 295271"/>
                <a:gd name="csY6" fmla="*/ 458446 h 615747"/>
                <a:gd name="csX7" fmla="*/ 59099 w 295271"/>
                <a:gd name="csY7" fmla="*/ 480041 h 615747"/>
                <a:gd name="csX8" fmla="*/ 59099 w 295271"/>
                <a:gd name="csY8" fmla="*/ 480879 h 615747"/>
                <a:gd name="csX9" fmla="*/ 151711 w 295271"/>
                <a:gd name="csY9" fmla="*/ 573680 h 615747"/>
                <a:gd name="csX10" fmla="*/ 171666 w 295271"/>
                <a:gd name="csY10" fmla="*/ 571529 h 615747"/>
                <a:gd name="csX11" fmla="*/ 251070 w 295271"/>
                <a:gd name="csY11" fmla="*/ 612787 h 615747"/>
                <a:gd name="csX12" fmla="*/ 295272 w 295271"/>
                <a:gd name="csY12" fmla="*/ 552593 h 615747"/>
                <a:gd name="csX13" fmla="*/ 295272 w 295271"/>
                <a:gd name="csY13" fmla="*/ 84372 h 615747"/>
                <a:gd name="csX14" fmla="*/ 210918 w 295271"/>
                <a:gd name="csY14" fmla="*/ 0 h 615747"/>
                <a:gd name="csX15" fmla="*/ 210909 w 295271"/>
                <a:gd name="csY15" fmla="*/ 0 h 615747"/>
                <a:gd name="csX16" fmla="*/ 208309 w 295271"/>
                <a:gd name="csY16" fmla="*/ 406432 h 615747"/>
                <a:gd name="csX17" fmla="*/ 200498 w 295271"/>
                <a:gd name="csY17" fmla="*/ 420986 h 615747"/>
                <a:gd name="csX18" fmla="*/ 184306 w 295271"/>
                <a:gd name="csY18" fmla="*/ 420500 h 615747"/>
                <a:gd name="csX19" fmla="*/ 173438 w 295271"/>
                <a:gd name="csY19" fmla="*/ 429187 h 615747"/>
                <a:gd name="csX20" fmla="*/ 170723 w 295271"/>
                <a:gd name="csY20" fmla="*/ 445170 h 615747"/>
                <a:gd name="csX21" fmla="*/ 154988 w 295271"/>
                <a:gd name="csY21" fmla="*/ 449932 h 615747"/>
                <a:gd name="csX22" fmla="*/ 143881 w 295271"/>
                <a:gd name="csY22" fmla="*/ 438207 h 615747"/>
                <a:gd name="csX23" fmla="*/ 130089 w 295271"/>
                <a:gd name="csY23" fmla="*/ 436826 h 615747"/>
                <a:gd name="csX24" fmla="*/ 116754 w 295271"/>
                <a:gd name="csY24" fmla="*/ 446084 h 615747"/>
                <a:gd name="csX25" fmla="*/ 102305 w 295271"/>
                <a:gd name="csY25" fmla="*/ 438312 h 615747"/>
                <a:gd name="csX26" fmla="*/ 102676 w 295271"/>
                <a:gd name="csY26" fmla="*/ 422119 h 615747"/>
                <a:gd name="csX27" fmla="*/ 93999 w 295271"/>
                <a:gd name="csY27" fmla="*/ 411280 h 615747"/>
                <a:gd name="csX28" fmla="*/ 78007 w 295271"/>
                <a:gd name="csY28" fmla="*/ 408499 h 615747"/>
                <a:gd name="csX29" fmla="*/ 73244 w 295271"/>
                <a:gd name="csY29" fmla="*/ 392763 h 615747"/>
                <a:gd name="csX30" fmla="*/ 85103 w 295271"/>
                <a:gd name="csY30" fmla="*/ 381762 h 615747"/>
                <a:gd name="csX31" fmla="*/ 86360 w 295271"/>
                <a:gd name="csY31" fmla="*/ 367894 h 615747"/>
                <a:gd name="csX32" fmla="*/ 77073 w 295271"/>
                <a:gd name="csY32" fmla="*/ 354568 h 615747"/>
                <a:gd name="csX33" fmla="*/ 84884 w 295271"/>
                <a:gd name="csY33" fmla="*/ 340043 h 615747"/>
                <a:gd name="csX34" fmla="*/ 101152 w 295271"/>
                <a:gd name="csY34" fmla="*/ 340509 h 615747"/>
                <a:gd name="csX35" fmla="*/ 111906 w 295271"/>
                <a:gd name="csY35" fmla="*/ 331756 h 615747"/>
                <a:gd name="csX36" fmla="*/ 114621 w 295271"/>
                <a:gd name="csY36" fmla="*/ 315773 h 615747"/>
                <a:gd name="csX37" fmla="*/ 130356 w 295271"/>
                <a:gd name="csY37" fmla="*/ 311010 h 615747"/>
                <a:gd name="csX38" fmla="*/ 141481 w 295271"/>
                <a:gd name="csY38" fmla="*/ 322831 h 615747"/>
                <a:gd name="csX39" fmla="*/ 155378 w 295271"/>
                <a:gd name="csY39" fmla="*/ 324183 h 615747"/>
                <a:gd name="csX40" fmla="*/ 168627 w 295271"/>
                <a:gd name="csY40" fmla="*/ 314849 h 615747"/>
                <a:gd name="csX41" fmla="*/ 183153 w 295271"/>
                <a:gd name="csY41" fmla="*/ 322669 h 615747"/>
                <a:gd name="csX42" fmla="*/ 182667 w 295271"/>
                <a:gd name="csY42" fmla="*/ 338861 h 615747"/>
                <a:gd name="csX43" fmla="*/ 191449 w 295271"/>
                <a:gd name="csY43" fmla="*/ 349710 h 615747"/>
                <a:gd name="csX44" fmla="*/ 207432 w 295271"/>
                <a:gd name="csY44" fmla="*/ 352415 h 615747"/>
                <a:gd name="csX45" fmla="*/ 212195 w 295271"/>
                <a:gd name="csY45" fmla="*/ 368151 h 615747"/>
                <a:gd name="csX46" fmla="*/ 200336 w 295271"/>
                <a:gd name="csY46" fmla="*/ 379333 h 615747"/>
                <a:gd name="csX47" fmla="*/ 198955 w 295271"/>
                <a:gd name="csY47" fmla="*/ 393125 h 615747"/>
                <a:gd name="csX48" fmla="*/ 244789 w 295271"/>
                <a:gd name="csY48" fmla="*/ 264081 h 615747"/>
                <a:gd name="csX49" fmla="*/ 236979 w 295271"/>
                <a:gd name="csY49" fmla="*/ 278606 h 615747"/>
                <a:gd name="csX50" fmla="*/ 220786 w 295271"/>
                <a:gd name="csY50" fmla="*/ 278121 h 615747"/>
                <a:gd name="csX51" fmla="*/ 210023 w 295271"/>
                <a:gd name="csY51" fmla="*/ 286941 h 615747"/>
                <a:gd name="csX52" fmla="*/ 207242 w 295271"/>
                <a:gd name="csY52" fmla="*/ 302943 h 615747"/>
                <a:gd name="csX53" fmla="*/ 191506 w 295271"/>
                <a:gd name="csY53" fmla="*/ 307705 h 615747"/>
                <a:gd name="csX54" fmla="*/ 180381 w 295271"/>
                <a:gd name="csY54" fmla="*/ 295885 h 615747"/>
                <a:gd name="csX55" fmla="*/ 166580 w 295271"/>
                <a:gd name="csY55" fmla="*/ 294503 h 615747"/>
                <a:gd name="csX56" fmla="*/ 153330 w 295271"/>
                <a:gd name="csY56" fmla="*/ 303838 h 615747"/>
                <a:gd name="csX57" fmla="*/ 138805 w 295271"/>
                <a:gd name="csY57" fmla="*/ 296018 h 615747"/>
                <a:gd name="csX58" fmla="*/ 139405 w 295271"/>
                <a:gd name="csY58" fmla="*/ 279645 h 615747"/>
                <a:gd name="csX59" fmla="*/ 130651 w 295271"/>
                <a:gd name="csY59" fmla="*/ 268891 h 615747"/>
                <a:gd name="csX60" fmla="*/ 114678 w 295271"/>
                <a:gd name="csY60" fmla="*/ 266186 h 615747"/>
                <a:gd name="csX61" fmla="*/ 109915 w 295271"/>
                <a:gd name="csY61" fmla="*/ 250450 h 615747"/>
                <a:gd name="csX62" fmla="*/ 121736 w 295271"/>
                <a:gd name="csY62" fmla="*/ 239316 h 615747"/>
                <a:gd name="csX63" fmla="*/ 123088 w 295271"/>
                <a:gd name="csY63" fmla="*/ 225523 h 615747"/>
                <a:gd name="csX64" fmla="*/ 113611 w 295271"/>
                <a:gd name="csY64" fmla="*/ 212246 h 615747"/>
                <a:gd name="csX65" fmla="*/ 121545 w 295271"/>
                <a:gd name="csY65" fmla="*/ 197653 h 615747"/>
                <a:gd name="csX66" fmla="*/ 137738 w 295271"/>
                <a:gd name="csY66" fmla="*/ 198139 h 615747"/>
                <a:gd name="csX67" fmla="*/ 148577 w 295271"/>
                <a:gd name="csY67" fmla="*/ 189462 h 615747"/>
                <a:gd name="csX68" fmla="*/ 151359 w 295271"/>
                <a:gd name="csY68" fmla="*/ 173460 h 615747"/>
                <a:gd name="csX69" fmla="*/ 167094 w 295271"/>
                <a:gd name="csY69" fmla="*/ 168697 h 615747"/>
                <a:gd name="csX70" fmla="*/ 178200 w 295271"/>
                <a:gd name="csY70" fmla="*/ 180423 h 615747"/>
                <a:gd name="csX71" fmla="*/ 191992 w 295271"/>
                <a:gd name="csY71" fmla="*/ 181804 h 615747"/>
                <a:gd name="csX72" fmla="*/ 205251 w 295271"/>
                <a:gd name="csY72" fmla="*/ 172507 h 615747"/>
                <a:gd name="csX73" fmla="*/ 219777 w 295271"/>
                <a:gd name="csY73" fmla="*/ 180318 h 615747"/>
                <a:gd name="csX74" fmla="*/ 219281 w 295271"/>
                <a:gd name="csY74" fmla="*/ 196596 h 615747"/>
                <a:gd name="csX75" fmla="*/ 228035 w 295271"/>
                <a:gd name="csY75" fmla="*/ 207350 h 615747"/>
                <a:gd name="csX76" fmla="*/ 244018 w 295271"/>
                <a:gd name="csY76" fmla="*/ 210055 h 615747"/>
                <a:gd name="csX77" fmla="*/ 248780 w 295271"/>
                <a:gd name="csY77" fmla="*/ 225800 h 615747"/>
                <a:gd name="csX78" fmla="*/ 236960 w 295271"/>
                <a:gd name="csY78" fmla="*/ 236925 h 615747"/>
                <a:gd name="csX79" fmla="*/ 235455 w 295271"/>
                <a:gd name="csY79" fmla="*/ 250898 h 6157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295271" h="615747">
                  <a:moveTo>
                    <a:pt x="210909" y="0"/>
                  </a:moveTo>
                  <a:cubicBezTo>
                    <a:pt x="166520" y="19"/>
                    <a:pt x="129751" y="34460"/>
                    <a:pt x="126832" y="78753"/>
                  </a:cubicBezTo>
                  <a:cubicBezTo>
                    <a:pt x="84144" y="90172"/>
                    <a:pt x="58797" y="134034"/>
                    <a:pt x="70216" y="176721"/>
                  </a:cubicBezTo>
                  <a:cubicBezTo>
                    <a:pt x="70411" y="177453"/>
                    <a:pt x="70618" y="178182"/>
                    <a:pt x="70834" y="178908"/>
                  </a:cubicBezTo>
                  <a:cubicBezTo>
                    <a:pt x="22933" y="202497"/>
                    <a:pt x="3224" y="260451"/>
                    <a:pt x="26813" y="308352"/>
                  </a:cubicBezTo>
                  <a:cubicBezTo>
                    <a:pt x="28016" y="310794"/>
                    <a:pt x="29320" y="313184"/>
                    <a:pt x="30724" y="315516"/>
                  </a:cubicBezTo>
                  <a:cubicBezTo>
                    <a:pt x="-9358" y="354372"/>
                    <a:pt x="-10352" y="418364"/>
                    <a:pt x="28503" y="458446"/>
                  </a:cubicBezTo>
                  <a:cubicBezTo>
                    <a:pt x="37268" y="467487"/>
                    <a:pt x="47645" y="474812"/>
                    <a:pt x="59099" y="480041"/>
                  </a:cubicBezTo>
                  <a:cubicBezTo>
                    <a:pt x="59099" y="480327"/>
                    <a:pt x="59099" y="480603"/>
                    <a:pt x="59099" y="480879"/>
                  </a:cubicBezTo>
                  <a:cubicBezTo>
                    <a:pt x="59047" y="532080"/>
                    <a:pt x="100511" y="573628"/>
                    <a:pt x="151711" y="573680"/>
                  </a:cubicBezTo>
                  <a:cubicBezTo>
                    <a:pt x="158421" y="573688"/>
                    <a:pt x="165112" y="572966"/>
                    <a:pt x="171666" y="571529"/>
                  </a:cubicBezTo>
                  <a:cubicBezTo>
                    <a:pt x="182200" y="604849"/>
                    <a:pt x="217751" y="623321"/>
                    <a:pt x="251070" y="612787"/>
                  </a:cubicBezTo>
                  <a:cubicBezTo>
                    <a:pt x="277336" y="604483"/>
                    <a:pt x="295212" y="580140"/>
                    <a:pt x="295272" y="552593"/>
                  </a:cubicBezTo>
                  <a:lnTo>
                    <a:pt x="295272" y="84372"/>
                  </a:lnTo>
                  <a:cubicBezTo>
                    <a:pt x="295278" y="37780"/>
                    <a:pt x="257511" y="6"/>
                    <a:pt x="210918" y="0"/>
                  </a:cubicBezTo>
                  <a:cubicBezTo>
                    <a:pt x="210916" y="0"/>
                    <a:pt x="210912" y="0"/>
                    <a:pt x="210909" y="0"/>
                  </a:cubicBezTo>
                  <a:close/>
                  <a:moveTo>
                    <a:pt x="208309" y="406432"/>
                  </a:moveTo>
                  <a:lnTo>
                    <a:pt x="200498" y="420986"/>
                  </a:lnTo>
                  <a:lnTo>
                    <a:pt x="184306" y="420500"/>
                  </a:lnTo>
                  <a:cubicBezTo>
                    <a:pt x="181050" y="423827"/>
                    <a:pt x="177400" y="426745"/>
                    <a:pt x="173438" y="429187"/>
                  </a:cubicBezTo>
                  <a:lnTo>
                    <a:pt x="170723" y="445170"/>
                  </a:lnTo>
                  <a:lnTo>
                    <a:pt x="154988" y="449932"/>
                  </a:lnTo>
                  <a:lnTo>
                    <a:pt x="143881" y="438207"/>
                  </a:lnTo>
                  <a:cubicBezTo>
                    <a:pt x="139245" y="438306"/>
                    <a:pt x="134614" y="437842"/>
                    <a:pt x="130089" y="436826"/>
                  </a:cubicBezTo>
                  <a:lnTo>
                    <a:pt x="116754" y="446084"/>
                  </a:lnTo>
                  <a:lnTo>
                    <a:pt x="102305" y="438312"/>
                  </a:lnTo>
                  <a:lnTo>
                    <a:pt x="102676" y="422119"/>
                  </a:lnTo>
                  <a:cubicBezTo>
                    <a:pt x="99356" y="418871"/>
                    <a:pt x="96442" y="415231"/>
                    <a:pt x="93999" y="411280"/>
                  </a:cubicBezTo>
                  <a:lnTo>
                    <a:pt x="78007" y="408499"/>
                  </a:lnTo>
                  <a:lnTo>
                    <a:pt x="73244" y="392763"/>
                  </a:lnTo>
                  <a:lnTo>
                    <a:pt x="85103" y="381762"/>
                  </a:lnTo>
                  <a:cubicBezTo>
                    <a:pt x="84958" y="377105"/>
                    <a:pt x="85380" y="372448"/>
                    <a:pt x="86360" y="367894"/>
                  </a:cubicBezTo>
                  <a:lnTo>
                    <a:pt x="77073" y="354568"/>
                  </a:lnTo>
                  <a:lnTo>
                    <a:pt x="84884" y="340043"/>
                  </a:lnTo>
                  <a:lnTo>
                    <a:pt x="101152" y="340509"/>
                  </a:lnTo>
                  <a:cubicBezTo>
                    <a:pt x="104369" y="337166"/>
                    <a:pt x="107980" y="334227"/>
                    <a:pt x="111906" y="331756"/>
                  </a:cubicBezTo>
                  <a:lnTo>
                    <a:pt x="114621" y="315773"/>
                  </a:lnTo>
                  <a:lnTo>
                    <a:pt x="130356" y="311010"/>
                  </a:lnTo>
                  <a:lnTo>
                    <a:pt x="141481" y="322831"/>
                  </a:lnTo>
                  <a:cubicBezTo>
                    <a:pt x="146151" y="322713"/>
                    <a:pt x="150819" y="323167"/>
                    <a:pt x="155378" y="324183"/>
                  </a:cubicBezTo>
                  <a:lnTo>
                    <a:pt x="168627" y="314849"/>
                  </a:lnTo>
                  <a:lnTo>
                    <a:pt x="183153" y="322669"/>
                  </a:lnTo>
                  <a:lnTo>
                    <a:pt x="182667" y="338861"/>
                  </a:lnTo>
                  <a:cubicBezTo>
                    <a:pt x="186031" y="342102"/>
                    <a:pt x="188980" y="345746"/>
                    <a:pt x="191449" y="349710"/>
                  </a:cubicBezTo>
                  <a:lnTo>
                    <a:pt x="207432" y="352415"/>
                  </a:lnTo>
                  <a:lnTo>
                    <a:pt x="212195" y="368151"/>
                  </a:lnTo>
                  <a:lnTo>
                    <a:pt x="200336" y="379333"/>
                  </a:lnTo>
                  <a:cubicBezTo>
                    <a:pt x="200440" y="383970"/>
                    <a:pt x="199976" y="388601"/>
                    <a:pt x="198955" y="393125"/>
                  </a:cubicBezTo>
                  <a:close/>
                  <a:moveTo>
                    <a:pt x="244789" y="264081"/>
                  </a:moveTo>
                  <a:lnTo>
                    <a:pt x="236979" y="278606"/>
                  </a:lnTo>
                  <a:lnTo>
                    <a:pt x="220786" y="278121"/>
                  </a:lnTo>
                  <a:cubicBezTo>
                    <a:pt x="217571" y="281488"/>
                    <a:pt x="213957" y="284450"/>
                    <a:pt x="210023" y="286941"/>
                  </a:cubicBezTo>
                  <a:lnTo>
                    <a:pt x="207242" y="302943"/>
                  </a:lnTo>
                  <a:lnTo>
                    <a:pt x="191506" y="307705"/>
                  </a:lnTo>
                  <a:lnTo>
                    <a:pt x="180381" y="295885"/>
                  </a:lnTo>
                  <a:cubicBezTo>
                    <a:pt x="175742" y="295988"/>
                    <a:pt x="171107" y="295525"/>
                    <a:pt x="166580" y="294503"/>
                  </a:cubicBezTo>
                  <a:lnTo>
                    <a:pt x="153330" y="303838"/>
                  </a:lnTo>
                  <a:lnTo>
                    <a:pt x="138805" y="296018"/>
                  </a:lnTo>
                  <a:lnTo>
                    <a:pt x="139405" y="279645"/>
                  </a:lnTo>
                  <a:cubicBezTo>
                    <a:pt x="136060" y="276430"/>
                    <a:pt x="133120" y="272818"/>
                    <a:pt x="130651" y="268891"/>
                  </a:cubicBezTo>
                  <a:lnTo>
                    <a:pt x="114678" y="266186"/>
                  </a:lnTo>
                  <a:lnTo>
                    <a:pt x="109915" y="250450"/>
                  </a:lnTo>
                  <a:lnTo>
                    <a:pt x="121736" y="239316"/>
                  </a:lnTo>
                  <a:cubicBezTo>
                    <a:pt x="121632" y="234681"/>
                    <a:pt x="122086" y="230050"/>
                    <a:pt x="123088" y="225523"/>
                  </a:cubicBezTo>
                  <a:lnTo>
                    <a:pt x="113611" y="212246"/>
                  </a:lnTo>
                  <a:lnTo>
                    <a:pt x="121545" y="197653"/>
                  </a:lnTo>
                  <a:lnTo>
                    <a:pt x="137738" y="198139"/>
                  </a:lnTo>
                  <a:cubicBezTo>
                    <a:pt x="140984" y="194816"/>
                    <a:pt x="144623" y="191901"/>
                    <a:pt x="148577" y="189462"/>
                  </a:cubicBezTo>
                  <a:lnTo>
                    <a:pt x="151359" y="173460"/>
                  </a:lnTo>
                  <a:lnTo>
                    <a:pt x="167094" y="168697"/>
                  </a:lnTo>
                  <a:lnTo>
                    <a:pt x="178200" y="180423"/>
                  </a:lnTo>
                  <a:cubicBezTo>
                    <a:pt x="182837" y="180324"/>
                    <a:pt x="187468" y="180788"/>
                    <a:pt x="191992" y="181804"/>
                  </a:cubicBezTo>
                  <a:lnTo>
                    <a:pt x="205251" y="172507"/>
                  </a:lnTo>
                  <a:lnTo>
                    <a:pt x="219777" y="180318"/>
                  </a:lnTo>
                  <a:lnTo>
                    <a:pt x="219281" y="196596"/>
                  </a:lnTo>
                  <a:cubicBezTo>
                    <a:pt x="222627" y="199811"/>
                    <a:pt x="225566" y="203422"/>
                    <a:pt x="228035" y="207350"/>
                  </a:cubicBezTo>
                  <a:lnTo>
                    <a:pt x="244018" y="210055"/>
                  </a:lnTo>
                  <a:lnTo>
                    <a:pt x="248780" y="225800"/>
                  </a:lnTo>
                  <a:lnTo>
                    <a:pt x="236960" y="236925"/>
                  </a:lnTo>
                  <a:cubicBezTo>
                    <a:pt x="237036" y="241626"/>
                    <a:pt x="236531" y="246320"/>
                    <a:pt x="235455" y="2508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A6477641-FF8A-FBC7-E2FE-0F1537519EE8}"/>
                </a:ext>
              </a:extLst>
            </p:cNvPr>
            <p:cNvSpPr/>
            <p:nvPr/>
          </p:nvSpPr>
          <p:spPr>
            <a:xfrm>
              <a:off x="2082944" y="3494446"/>
              <a:ext cx="163706" cy="163713"/>
            </a:xfrm>
            <a:custGeom>
              <a:avLst/>
              <a:gdLst>
                <a:gd name="csX0" fmla="*/ 17603 w 49428"/>
                <a:gd name="csY0" fmla="*/ 1054 h 49430"/>
                <a:gd name="csX1" fmla="*/ 1052 w 49428"/>
                <a:gd name="csY1" fmla="*/ 31829 h 49430"/>
                <a:gd name="csX2" fmla="*/ 31826 w 49428"/>
                <a:gd name="csY2" fmla="*/ 48378 h 49430"/>
                <a:gd name="csX3" fmla="*/ 48378 w 49428"/>
                <a:gd name="csY3" fmla="*/ 17609 h 49430"/>
                <a:gd name="csX4" fmla="*/ 17624 w 49428"/>
                <a:gd name="csY4" fmla="*/ 1048 h 49430"/>
                <a:gd name="csX5" fmla="*/ 17603 w 49428"/>
                <a:gd name="csY5" fmla="*/ 1054 h 4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9428" h="49430">
                  <a:moveTo>
                    <a:pt x="17603" y="1054"/>
                  </a:moveTo>
                  <a:cubicBezTo>
                    <a:pt x="4534" y="4982"/>
                    <a:pt x="-2875" y="18760"/>
                    <a:pt x="1052" y="31829"/>
                  </a:cubicBezTo>
                  <a:cubicBezTo>
                    <a:pt x="4980" y="44897"/>
                    <a:pt x="18758" y="52306"/>
                    <a:pt x="31826" y="48378"/>
                  </a:cubicBezTo>
                  <a:cubicBezTo>
                    <a:pt x="44893" y="44451"/>
                    <a:pt x="52303" y="30676"/>
                    <a:pt x="48378" y="17609"/>
                  </a:cubicBezTo>
                  <a:cubicBezTo>
                    <a:pt x="44459" y="4543"/>
                    <a:pt x="30690" y="-2871"/>
                    <a:pt x="17624" y="1048"/>
                  </a:cubicBezTo>
                  <a:cubicBezTo>
                    <a:pt x="17618" y="1050"/>
                    <a:pt x="17610" y="1052"/>
                    <a:pt x="17603" y="105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289" name="그래픽 288" descr="포스트잇 단색으로 채워진">
            <a:extLst>
              <a:ext uri="{FF2B5EF4-FFF2-40B4-BE49-F238E27FC236}">
                <a16:creationId xmlns:a16="http://schemas.microsoft.com/office/drawing/2014/main" id="{DD03FF96-51FC-2A10-2AA5-02E59102D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8015" y="1700710"/>
            <a:ext cx="228600" cy="228600"/>
          </a:xfrm>
          <a:prstGeom prst="rect">
            <a:avLst/>
          </a:prstGeom>
        </p:spPr>
      </p:pic>
      <p:sp>
        <p:nvSpPr>
          <p:cNvPr id="291" name="TextBox 290">
            <a:extLst>
              <a:ext uri="{FF2B5EF4-FFF2-40B4-BE49-F238E27FC236}">
                <a16:creationId xmlns:a16="http://schemas.microsoft.com/office/drawing/2014/main" id="{1EF05067-0262-B922-991D-8768D8808E0D}"/>
              </a:ext>
            </a:extLst>
          </p:cNvPr>
          <p:cNvSpPr txBox="1"/>
          <p:nvPr/>
        </p:nvSpPr>
        <p:spPr>
          <a:xfrm>
            <a:off x="429027" y="4122212"/>
            <a:ext cx="235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900" b="0" i="0" dirty="0">
                <a:solidFill>
                  <a:srgbClr val="CCFBF1"/>
                </a:solidFill>
                <a:effectLst/>
                <a:latin typeface="SUIT" pitchFamily="2" charset="-127"/>
                <a:ea typeface="SUIT" pitchFamily="2" charset="-127"/>
              </a:rPr>
              <a:t>단순 텍스트 검색을 넘어, AI 엔진이 기계적으로 맥락을 추론할 수 있는 정제된 자산 형태로 전환</a:t>
            </a:r>
            <a:endParaRPr lang="ko-KR" altLang="en-US" sz="900" dirty="0"/>
          </a:p>
        </p:txBody>
      </p: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1C894079-109A-E24D-C7BB-AE8C772E3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3177" y="3546604"/>
            <a:ext cx="228600" cy="228600"/>
          </a:xfrm>
          <a:prstGeom prst="rect">
            <a:avLst/>
          </a:prstGeom>
        </p:spPr>
      </p:pic>
      <p:pic>
        <p:nvPicPr>
          <p:cNvPr id="296" name="그래픽 295" descr="폴더 검색 단색으로 채워진">
            <a:extLst>
              <a:ext uri="{FF2B5EF4-FFF2-40B4-BE49-F238E27FC236}">
                <a16:creationId xmlns:a16="http://schemas.microsoft.com/office/drawing/2014/main" id="{26B185FD-B8AD-D7FF-C45E-B6359C53C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784" y="841079"/>
            <a:ext cx="253045" cy="253045"/>
          </a:xfrm>
          <a:prstGeom prst="rect">
            <a:avLst/>
          </a:prstGeom>
        </p:spPr>
      </p:pic>
      <p:sp>
        <p:nvSpPr>
          <p:cNvPr id="300" name="TextBox 299">
            <a:extLst>
              <a:ext uri="{FF2B5EF4-FFF2-40B4-BE49-F238E27FC236}">
                <a16:creationId xmlns:a16="http://schemas.microsoft.com/office/drawing/2014/main" id="{E76C0F01-ABD8-DCB3-5D92-A0695035D484}"/>
              </a:ext>
            </a:extLst>
          </p:cNvPr>
          <p:cNvSpPr txBox="1"/>
          <p:nvPr/>
        </p:nvSpPr>
        <p:spPr>
          <a:xfrm>
            <a:off x="3646564" y="782935"/>
            <a:ext cx="4300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 err="1"/>
              <a:t>Hybrid</a:t>
            </a:r>
            <a:r>
              <a:rPr lang="ko-KR" altLang="ko-KR" sz="1200" dirty="0"/>
              <a:t> 추론</a:t>
            </a:r>
            <a:r>
              <a:rPr lang="en-US" altLang="ko-KR" sz="1200" dirty="0"/>
              <a:t> </a:t>
            </a:r>
            <a:r>
              <a:rPr lang="ko-KR" altLang="en-US" sz="1200" dirty="0"/>
              <a:t>답변</a:t>
            </a:r>
            <a:r>
              <a:rPr lang="ko-KR" altLang="ko-KR" sz="1200" dirty="0"/>
              <a:t> </a:t>
            </a:r>
            <a:endParaRPr lang="en-US" altLang="ko-KR" sz="1000" dirty="0">
              <a:latin typeface="SUIT" pitchFamily="2" charset="-127"/>
              <a:ea typeface="SUIT" pitchFamily="2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10DDAC2D-3068-E1D9-411A-1EA7E3523AE9}"/>
              </a:ext>
            </a:extLst>
          </p:cNvPr>
          <p:cNvSpPr/>
          <p:nvPr/>
        </p:nvSpPr>
        <p:spPr>
          <a:xfrm>
            <a:off x="3398519" y="1163978"/>
            <a:ext cx="5311627" cy="417326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EF8F2661-6216-C2A5-92E7-5CF962B58DE3}"/>
              </a:ext>
            </a:extLst>
          </p:cNvPr>
          <p:cNvSpPr txBox="1"/>
          <p:nvPr/>
        </p:nvSpPr>
        <p:spPr>
          <a:xfrm>
            <a:off x="3745427" y="1248696"/>
            <a:ext cx="40326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SUIT" pitchFamily="2" charset="-127"/>
                <a:ea typeface="SUIT" pitchFamily="2" charset="-127"/>
              </a:rPr>
              <a:t>Q. “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지금 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2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호기에 뜬 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E-204 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에러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100" dirty="0">
                <a:latin typeface="SUIT" pitchFamily="2" charset="-127"/>
                <a:ea typeface="SUIT" pitchFamily="2" charset="-127"/>
              </a:rPr>
              <a:t>어떻게 대응해야 해</a:t>
            </a:r>
            <a:r>
              <a:rPr lang="en-US" altLang="ko-KR" sz="1100" dirty="0">
                <a:latin typeface="SUIT" pitchFamily="2" charset="-127"/>
                <a:ea typeface="SUIT" pitchFamily="2" charset="-127"/>
              </a:rPr>
              <a:t>?"</a:t>
            </a:r>
          </a:p>
        </p:txBody>
      </p:sp>
      <p:sp>
        <p:nvSpPr>
          <p:cNvPr id="305" name="Shape 4">
            <a:extLst>
              <a:ext uri="{FF2B5EF4-FFF2-40B4-BE49-F238E27FC236}">
                <a16:creationId xmlns:a16="http://schemas.microsoft.com/office/drawing/2014/main" id="{5DF2CF69-A488-9D29-C3D2-327713B367BB}"/>
              </a:ext>
            </a:extLst>
          </p:cNvPr>
          <p:cNvSpPr/>
          <p:nvPr/>
        </p:nvSpPr>
        <p:spPr>
          <a:xfrm rot="16200000">
            <a:off x="4147102" y="1077516"/>
            <a:ext cx="942337" cy="2430860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2DD4BF"/>
              </a:gs>
              <a:gs pos="4043">
                <a:srgbClr val="2DD4BF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7" name="Shape 4">
            <a:extLst>
              <a:ext uri="{FF2B5EF4-FFF2-40B4-BE49-F238E27FC236}">
                <a16:creationId xmlns:a16="http://schemas.microsoft.com/office/drawing/2014/main" id="{0651EBC4-A946-6749-6062-4F89E1889510}"/>
              </a:ext>
            </a:extLst>
          </p:cNvPr>
          <p:cNvSpPr/>
          <p:nvPr/>
        </p:nvSpPr>
        <p:spPr>
          <a:xfrm rot="16200000">
            <a:off x="6997627" y="1054497"/>
            <a:ext cx="942337" cy="2476896"/>
          </a:xfrm>
          <a:prstGeom prst="roundRect">
            <a:avLst>
              <a:gd name="adj" fmla="val 4087"/>
            </a:avLst>
          </a:prstGeom>
          <a:gradFill rotWithShape="1">
            <a:gsLst>
              <a:gs pos="0">
                <a:srgbClr val="115E59"/>
              </a:gs>
              <a:gs pos="4043">
                <a:srgbClr val="115E59"/>
              </a:gs>
              <a:gs pos="4044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4" name="Shape 4">
            <a:extLst>
              <a:ext uri="{FF2B5EF4-FFF2-40B4-BE49-F238E27FC236}">
                <a16:creationId xmlns:a16="http://schemas.microsoft.com/office/drawing/2014/main" id="{7AC3CB11-0921-E1EF-D328-12BE1DD12694}"/>
              </a:ext>
            </a:extLst>
          </p:cNvPr>
          <p:cNvSpPr/>
          <p:nvPr/>
        </p:nvSpPr>
        <p:spPr>
          <a:xfrm>
            <a:off x="3516299" y="1933119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41" name="그래픽 40">
            <a:extLst>
              <a:ext uri="{FF2B5EF4-FFF2-40B4-BE49-F238E27FC236}">
                <a16:creationId xmlns:a16="http://schemas.microsoft.com/office/drawing/2014/main" id="{49A4B01D-1E16-0FBD-D226-FF95ADEE6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9216" y="1954955"/>
            <a:ext cx="201973" cy="201973"/>
          </a:xfrm>
          <a:prstGeom prst="rect">
            <a:avLst/>
          </a:prstGeom>
        </p:spPr>
      </p:pic>
      <p:pic>
        <p:nvPicPr>
          <p:cNvPr id="308" name="그래픽 307">
            <a:extLst>
              <a:ext uri="{FF2B5EF4-FFF2-40B4-BE49-F238E27FC236}">
                <a16:creationId xmlns:a16="http://schemas.microsoft.com/office/drawing/2014/main" id="{4F32E98E-2A72-0F14-62A2-D19D2480D5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338" y="3846850"/>
            <a:ext cx="228600" cy="228600"/>
          </a:xfrm>
          <a:prstGeom prst="rect">
            <a:avLst/>
          </a:prstGeom>
        </p:spPr>
      </p:pic>
      <p:sp>
        <p:nvSpPr>
          <p:cNvPr id="309" name="TextBox 308">
            <a:extLst>
              <a:ext uri="{FF2B5EF4-FFF2-40B4-BE49-F238E27FC236}">
                <a16:creationId xmlns:a16="http://schemas.microsoft.com/office/drawing/2014/main" id="{DB6C3B6A-0DDB-7599-EAC3-9C1B3B2B4A48}"/>
              </a:ext>
            </a:extLst>
          </p:cNvPr>
          <p:cNvSpPr txBox="1"/>
          <p:nvPr/>
        </p:nvSpPr>
        <p:spPr>
          <a:xfrm>
            <a:off x="3836304" y="1954955"/>
            <a:ext cx="1997395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/>
            <a:r>
              <a:rPr lang="en-US" altLang="ko-KR" sz="1050" dirty="0">
                <a:sym typeface="Urbanist"/>
              </a:rPr>
              <a:t>AI </a:t>
            </a:r>
            <a:r>
              <a:rPr lang="ko-KR" altLang="en-US" sz="1050" dirty="0">
                <a:sym typeface="Urbanist"/>
              </a:rPr>
              <a:t>지식 자산 </a:t>
            </a:r>
            <a:r>
              <a:rPr lang="en-US" altLang="ko-KR" sz="1050" dirty="0">
                <a:sym typeface="Urbanist"/>
              </a:rPr>
              <a:t>Wiki (Vector DB)</a:t>
            </a:r>
            <a:endParaRPr lang="en-US" altLang="ko-KR" sz="1050" dirty="0"/>
          </a:p>
        </p:txBody>
      </p:sp>
      <p:sp>
        <p:nvSpPr>
          <p:cNvPr id="310" name="Shape 4">
            <a:extLst>
              <a:ext uri="{FF2B5EF4-FFF2-40B4-BE49-F238E27FC236}">
                <a16:creationId xmlns:a16="http://schemas.microsoft.com/office/drawing/2014/main" id="{A1F1CA98-8756-DF04-FFF3-1B6B2D3D62A5}"/>
              </a:ext>
            </a:extLst>
          </p:cNvPr>
          <p:cNvSpPr/>
          <p:nvPr/>
        </p:nvSpPr>
        <p:spPr>
          <a:xfrm>
            <a:off x="6305962" y="1933119"/>
            <a:ext cx="301865" cy="261611"/>
          </a:xfrm>
          <a:prstGeom prst="roundRect">
            <a:avLst>
              <a:gd name="adj" fmla="val 14302"/>
            </a:avLst>
          </a:prstGeom>
          <a:solidFill>
            <a:srgbClr val="F8FAFC"/>
          </a:solidFill>
          <a:ln>
            <a:solidFill>
              <a:srgbClr val="EBEFF5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E2EC1B47-5D25-99E2-6B00-1FDE881B5728}"/>
              </a:ext>
            </a:extLst>
          </p:cNvPr>
          <p:cNvSpPr txBox="1"/>
          <p:nvPr/>
        </p:nvSpPr>
        <p:spPr>
          <a:xfrm>
            <a:off x="6625967" y="1954955"/>
            <a:ext cx="2081277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/>
            <a:r>
              <a:rPr lang="ko-KR" altLang="en-US" sz="1050" dirty="0">
                <a:sym typeface="Urbanist"/>
              </a:rPr>
              <a:t>실시간 데이터망 </a:t>
            </a:r>
            <a:r>
              <a:rPr lang="en-US" altLang="ko-KR" sz="1050" dirty="0">
                <a:sym typeface="Urbanist"/>
              </a:rPr>
              <a:t>(DB Query)</a:t>
            </a:r>
            <a:endParaRPr lang="en-US" altLang="ko-KR" sz="1050" dirty="0"/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EBCE31F0-B9F0-E69C-E166-B1394572A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42594" y="1954955"/>
            <a:ext cx="228600" cy="228600"/>
          </a:xfrm>
          <a:prstGeom prst="rect">
            <a:avLst/>
          </a:prstGeom>
        </p:spPr>
      </p:pic>
      <p:sp>
        <p:nvSpPr>
          <p:cNvPr id="314" name="TextBox 313">
            <a:extLst>
              <a:ext uri="{FF2B5EF4-FFF2-40B4-BE49-F238E27FC236}">
                <a16:creationId xmlns:a16="http://schemas.microsoft.com/office/drawing/2014/main" id="{58A51EE0-1FA6-4CB7-AE94-839C7D890C4D}"/>
              </a:ext>
            </a:extLst>
          </p:cNvPr>
          <p:cNvSpPr txBox="1"/>
          <p:nvPr/>
        </p:nvSpPr>
        <p:spPr>
          <a:xfrm>
            <a:off x="3444052" y="2255886"/>
            <a:ext cx="2309047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E-204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코드 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=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과열 경보 추출</a:t>
            </a:r>
          </a:p>
          <a:p>
            <a:pPr marL="88900" indent="-88900" algn="l" latinLnBrk="0">
              <a:lnSpc>
                <a:spcPct val="13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매뉴얼 상 대응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: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부하 하향 및 냉각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5A01073-BFC3-9BB9-B7B0-0FD00E2C0366}"/>
              </a:ext>
            </a:extLst>
          </p:cNvPr>
          <p:cNvSpPr txBox="1"/>
          <p:nvPr/>
        </p:nvSpPr>
        <p:spPr>
          <a:xfrm>
            <a:off x="6302152" y="2239044"/>
            <a:ext cx="2307297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설비 데이터 실시간 다이렉트 쿼리</a:t>
            </a:r>
          </a:p>
          <a:p>
            <a:pPr marL="88900" indent="-88900" algn="l" latinLnBrk="0">
              <a:lnSpc>
                <a:spcPct val="130000"/>
              </a:lnSpc>
              <a:buClr>
                <a:srgbClr val="106458"/>
              </a:buClr>
              <a:buFont typeface="Arial" panose="020B0604020202020204" pitchFamily="34" charset="0"/>
              <a:buChar char="•"/>
            </a:pP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 2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호기 온도 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92℃ (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임계치 초과</a:t>
            </a:r>
            <a:r>
              <a:rPr lang="en-US" altLang="ko-KR" sz="1000" i="0" dirty="0">
                <a:effectLst/>
                <a:latin typeface="SUIT" pitchFamily="2" charset="-127"/>
                <a:ea typeface="SUIT" pitchFamily="2" charset="-127"/>
              </a:rPr>
              <a:t>) </a:t>
            </a:r>
            <a:r>
              <a:rPr lang="ko-KR" altLang="en-US" sz="1000" i="0" dirty="0">
                <a:effectLst/>
                <a:latin typeface="SUIT" pitchFamily="2" charset="-127"/>
                <a:ea typeface="SUIT" pitchFamily="2" charset="-127"/>
              </a:rPr>
              <a:t>식별</a:t>
            </a:r>
          </a:p>
        </p:txBody>
      </p:sp>
      <p:pic>
        <p:nvPicPr>
          <p:cNvPr id="318" name="그래픽 317">
            <a:extLst>
              <a:ext uri="{FF2B5EF4-FFF2-40B4-BE49-F238E27FC236}">
                <a16:creationId xmlns:a16="http://schemas.microsoft.com/office/drawing/2014/main" id="{52B70D5C-3DF2-1DAC-EDD0-B4AC576F1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03967" y="2868831"/>
            <a:ext cx="419100" cy="419100"/>
          </a:xfrm>
          <a:prstGeom prst="rect">
            <a:avLst/>
          </a:prstGeom>
        </p:spPr>
      </p:pic>
      <p:pic>
        <p:nvPicPr>
          <p:cNvPr id="319" name="그래픽 318">
            <a:extLst>
              <a:ext uri="{FF2B5EF4-FFF2-40B4-BE49-F238E27FC236}">
                <a16:creationId xmlns:a16="http://schemas.microsoft.com/office/drawing/2014/main" id="{DED465E9-3C5C-1FF9-DA09-09877D533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666" y="3085866"/>
            <a:ext cx="228600" cy="228600"/>
          </a:xfrm>
          <a:prstGeom prst="rect">
            <a:avLst/>
          </a:prstGeom>
        </p:spPr>
      </p:pic>
      <p:sp>
        <p:nvSpPr>
          <p:cNvPr id="320" name="TextBox 319">
            <a:extLst>
              <a:ext uri="{FF2B5EF4-FFF2-40B4-BE49-F238E27FC236}">
                <a16:creationId xmlns:a16="http://schemas.microsoft.com/office/drawing/2014/main" id="{1BB77C1A-2FF4-8D38-6763-28F5F9AE136A}"/>
              </a:ext>
            </a:extLst>
          </p:cNvPr>
          <p:cNvSpPr txBox="1"/>
          <p:nvPr/>
        </p:nvSpPr>
        <p:spPr>
          <a:xfrm>
            <a:off x="5530555" y="2880023"/>
            <a:ext cx="2081277" cy="201973"/>
          </a:xfrm>
          <a:prstGeom prst="rect">
            <a:avLst/>
          </a:prstGeom>
          <a:noFill/>
        </p:spPr>
        <p:txBody>
          <a:bodyPr wrap="square" lIns="60000" tIns="20000" rIns="60000" bIns="20000">
            <a:spAutoFit/>
          </a:bodyPr>
          <a:lstStyle/>
          <a:p>
            <a:pPr lvl="0"/>
            <a:r>
              <a:rPr lang="ko-KR" altLang="en-US" sz="1050" dirty="0">
                <a:sym typeface="Urbanist"/>
              </a:rPr>
              <a:t>실시간 맥락 결합 연산</a:t>
            </a:r>
          </a:p>
        </p:txBody>
      </p:sp>
      <p:sp>
        <p:nvSpPr>
          <p:cNvPr id="322" name="사각형: 둥근 모서리 321">
            <a:extLst>
              <a:ext uri="{FF2B5EF4-FFF2-40B4-BE49-F238E27FC236}">
                <a16:creationId xmlns:a16="http://schemas.microsoft.com/office/drawing/2014/main" id="{ABAC6AB4-ABF6-8667-AC8C-F66EEDB860D0}"/>
              </a:ext>
            </a:extLst>
          </p:cNvPr>
          <p:cNvSpPr/>
          <p:nvPr/>
        </p:nvSpPr>
        <p:spPr>
          <a:xfrm>
            <a:off x="3390214" y="3410897"/>
            <a:ext cx="5270318" cy="1125081"/>
          </a:xfrm>
          <a:prstGeom prst="roundRect">
            <a:avLst/>
          </a:prstGeom>
          <a:solidFill>
            <a:srgbClr val="F8FAFC"/>
          </a:solidFill>
          <a:ln w="635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36000" tIns="10800" rIns="36000" bIns="108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UIT" pitchFamily="2" charset="-127"/>
              <a:ea typeface="SUIT" pitchFamily="2" charset="-127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78192BD-FCFE-17B8-4DEB-869EAA5EC9C3}"/>
              </a:ext>
            </a:extLst>
          </p:cNvPr>
          <p:cNvSpPr txBox="1"/>
          <p:nvPr/>
        </p:nvSpPr>
        <p:spPr>
          <a:xfrm>
            <a:off x="3812407" y="3459728"/>
            <a:ext cx="2404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E-204</a:t>
            </a:r>
            <a:r>
              <a:rPr lang="ko-KR" altLang="en-US" sz="120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는 설비 과열 경보입니다</a:t>
            </a:r>
            <a:endParaRPr lang="ko-KR" altLang="en-US" sz="12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58AD1150-EDB0-4FE0-4972-E7BDC7E96930}"/>
              </a:ext>
            </a:extLst>
          </p:cNvPr>
          <p:cNvSpPr txBox="1"/>
          <p:nvPr/>
        </p:nvSpPr>
        <p:spPr>
          <a:xfrm>
            <a:off x="3566945" y="3735068"/>
            <a:ext cx="51480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 algn="l" latinLnBrk="0">
              <a:lnSpc>
                <a:spcPct val="15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현재 </a:t>
            </a:r>
            <a:r>
              <a:rPr lang="en-US" altLang="ko-KR" sz="1200" i="0" dirty="0">
                <a:effectLst/>
                <a:latin typeface="SUIT" pitchFamily="2" charset="-127"/>
                <a:ea typeface="SUIT" pitchFamily="2" charset="-127"/>
              </a:rPr>
              <a:t>2</a:t>
            </a: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호기 온도가 </a:t>
            </a:r>
            <a:r>
              <a:rPr lang="en-US" altLang="ko-KR" sz="1200" i="0" dirty="0">
                <a:effectLst/>
                <a:latin typeface="SUIT" pitchFamily="2" charset="-127"/>
                <a:ea typeface="SUIT" pitchFamily="2" charset="-127"/>
              </a:rPr>
              <a:t>92℃</a:t>
            </a: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로 위험 임계치를 초과한 상태입니다</a:t>
            </a:r>
            <a:r>
              <a:rPr lang="en-US" altLang="ko-KR" sz="1200" i="0" dirty="0">
                <a:effectLst/>
                <a:latin typeface="SUIT" pitchFamily="2" charset="-127"/>
                <a:ea typeface="SUIT" pitchFamily="2" charset="-127"/>
              </a:rPr>
              <a:t>.</a:t>
            </a:r>
          </a:p>
          <a:p>
            <a:pPr marL="88900" indent="-88900" algn="l" latinLnBrk="0">
              <a:lnSpc>
                <a:spcPct val="150000"/>
              </a:lnSpc>
              <a:buClr>
                <a:srgbClr val="37B2AC"/>
              </a:buClr>
              <a:buFont typeface="Arial" panose="020B0604020202020204" pitchFamily="34" charset="0"/>
              <a:buChar char="•"/>
            </a:pPr>
            <a:r>
              <a:rPr lang="ko-KR" altLang="en-US" sz="1200" i="0" dirty="0">
                <a:effectLst/>
                <a:latin typeface="SUIT" pitchFamily="2" charset="-127"/>
                <a:ea typeface="SUIT" pitchFamily="2" charset="-127"/>
              </a:rPr>
              <a:t>매뉴얼 절차에 따라</a:t>
            </a:r>
          </a:p>
        </p:txBody>
      </p:sp>
      <p:sp>
        <p:nvSpPr>
          <p:cNvPr id="332" name="Shape 4">
            <a:extLst>
              <a:ext uri="{FF2B5EF4-FFF2-40B4-BE49-F238E27FC236}">
                <a16:creationId xmlns:a16="http://schemas.microsoft.com/office/drawing/2014/main" id="{4FA16D8A-FA74-B98F-94A7-F46E7229F7BE}"/>
              </a:ext>
            </a:extLst>
          </p:cNvPr>
          <p:cNvSpPr/>
          <p:nvPr/>
        </p:nvSpPr>
        <p:spPr>
          <a:xfrm>
            <a:off x="4929515" y="4082240"/>
            <a:ext cx="3560120" cy="290346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solidFill>
              <a:srgbClr val="E8A7B1"/>
            </a:solidFill>
          </a:ln>
        </p:spPr>
        <p:txBody>
          <a:bodyPr wrap="square" lIns="36000" tIns="10800" rIns="36000" bIns="10800">
            <a:spAutoFit/>
          </a:bodyPr>
          <a:lstStyle/>
          <a:p>
            <a:r>
              <a:rPr lang="ko-KR" altLang="en-US" sz="1200" dirty="0">
                <a:solidFill>
                  <a:srgbClr val="E11D48"/>
                </a:solidFill>
                <a:latin typeface="+mj-ea"/>
                <a:ea typeface="+mj-ea"/>
              </a:rPr>
              <a:t>즉시 냉각 가동 후 설비 부하를 </a:t>
            </a:r>
            <a:r>
              <a:rPr lang="en-US" altLang="ko-KR" sz="1200" dirty="0">
                <a:solidFill>
                  <a:srgbClr val="E11D48"/>
                </a:solidFill>
                <a:latin typeface="+mj-ea"/>
                <a:ea typeface="+mj-ea"/>
              </a:rPr>
              <a:t>70%</a:t>
            </a:r>
            <a:r>
              <a:rPr lang="ko-KR" altLang="en-US" sz="1200" dirty="0">
                <a:solidFill>
                  <a:srgbClr val="E11D48"/>
                </a:solidFill>
                <a:latin typeface="+mj-ea"/>
                <a:ea typeface="+mj-ea"/>
              </a:rPr>
              <a:t>로 하향 조정 권고</a:t>
            </a: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D3BE0EC4-F143-4FE5-FF42-03D84733F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50026" y="3481776"/>
            <a:ext cx="228600" cy="228600"/>
          </a:xfrm>
          <a:prstGeom prst="rect">
            <a:avLst/>
          </a:prstGeom>
        </p:spPr>
      </p:pic>
      <p:pic>
        <p:nvPicPr>
          <p:cNvPr id="336" name="그래픽 335">
            <a:extLst>
              <a:ext uri="{FF2B5EF4-FFF2-40B4-BE49-F238E27FC236}">
                <a16:creationId xmlns:a16="http://schemas.microsoft.com/office/drawing/2014/main" id="{19C19A56-31EB-BBD0-BAAF-AFEC075FE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99206" y="1248697"/>
            <a:ext cx="246220" cy="2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4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5947-4474-B9EC-8978-7163A689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423A07C8-54B1-0BCD-2BB0-E32FB5E8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의 모든 판단을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추적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하고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solidFill>
                  <a:srgbClr val="115E59"/>
                </a:solidFill>
                <a:latin typeface="SUIT ExtraBold" pitchFamily="2" charset="-127"/>
                <a:ea typeface="SUIT ExtraBold" pitchFamily="2" charset="-127"/>
              </a:rPr>
              <a:t>신뢰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'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한다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803C376D-A71D-9FE9-D475-CCE9398D1E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03 ·  Use Cases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14" name="그래픽 215">
            <a:extLst>
              <a:ext uri="{FF2B5EF4-FFF2-40B4-BE49-F238E27FC236}">
                <a16:creationId xmlns:a16="http://schemas.microsoft.com/office/drawing/2014/main" id="{CCDE82D1-B916-EC59-8A2D-E50274BE7D09}"/>
              </a:ext>
            </a:extLst>
          </p:cNvPr>
          <p:cNvSpPr/>
          <p:nvPr/>
        </p:nvSpPr>
        <p:spPr>
          <a:xfrm>
            <a:off x="5679551" y="1096753"/>
            <a:ext cx="3062132" cy="1780543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852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5E60E822-516A-E8AA-AC19-23572C5D70EA}"/>
              </a:ext>
            </a:extLst>
          </p:cNvPr>
          <p:cNvGrpSpPr/>
          <p:nvPr/>
        </p:nvGrpSpPr>
        <p:grpSpPr>
          <a:xfrm>
            <a:off x="290995" y="1190422"/>
            <a:ext cx="230529" cy="3699237"/>
            <a:chOff x="290995" y="1190422"/>
            <a:chExt cx="230529" cy="3699237"/>
          </a:xfrm>
        </p:grpSpPr>
        <p:pic>
          <p:nvPicPr>
            <p:cNvPr id="236" name="그래픽 235">
              <a:extLst>
                <a:ext uri="{FF2B5EF4-FFF2-40B4-BE49-F238E27FC236}">
                  <a16:creationId xmlns:a16="http://schemas.microsoft.com/office/drawing/2014/main" id="{D49C13CA-740C-A366-B431-4B874246A0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6001" y="1364213"/>
              <a:ext cx="17626" cy="3525446"/>
            </a:xfrm>
            <a:prstGeom prst="rect">
              <a:avLst/>
            </a:prstGeom>
          </p:spPr>
        </p:pic>
        <p:sp>
          <p:nvSpPr>
            <p:cNvPr id="237" name="타원 236">
              <a:extLst>
                <a:ext uri="{FF2B5EF4-FFF2-40B4-BE49-F238E27FC236}">
                  <a16:creationId xmlns:a16="http://schemas.microsoft.com/office/drawing/2014/main" id="{2A8E76F8-5E25-FAF8-0CB1-F3E40229BDEC}"/>
                </a:ext>
              </a:extLst>
            </p:cNvPr>
            <p:cNvSpPr/>
            <p:nvPr/>
          </p:nvSpPr>
          <p:spPr>
            <a:xfrm>
              <a:off x="296075" y="1190422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rgbClr val="FF0000"/>
                  </a:solidFill>
                </a:rPr>
                <a:t>!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B95C2BB4-4432-B8FE-A776-D4B49473CEAA}"/>
                </a:ext>
              </a:extLst>
            </p:cNvPr>
            <p:cNvSpPr/>
            <p:nvPr/>
          </p:nvSpPr>
          <p:spPr>
            <a:xfrm>
              <a:off x="290995" y="1957860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B82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33F40D93-64DA-E540-1D6A-5087C48A2C3F}"/>
                </a:ext>
              </a:extLst>
            </p:cNvPr>
            <p:cNvSpPr/>
            <p:nvPr/>
          </p:nvSpPr>
          <p:spPr>
            <a:xfrm>
              <a:off x="290995" y="2958700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A47F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F14424A8-6B97-D919-D507-396725182A91}"/>
                </a:ext>
              </a:extLst>
            </p:cNvPr>
            <p:cNvSpPr/>
            <p:nvPr/>
          </p:nvSpPr>
          <p:spPr>
            <a:xfrm>
              <a:off x="294813" y="3988496"/>
              <a:ext cx="225449" cy="225449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5966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7" name="그래픽 196">
              <a:extLst>
                <a:ext uri="{FF2B5EF4-FFF2-40B4-BE49-F238E27FC236}">
                  <a16:creationId xmlns:a16="http://schemas.microsoft.com/office/drawing/2014/main" id="{49FCB91A-7EA4-61B2-4E77-FF880BE442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08" y="1994044"/>
              <a:ext cx="144000" cy="144000"/>
            </a:xfrm>
            <a:prstGeom prst="rect">
              <a:avLst/>
            </a:prstGeom>
          </p:spPr>
        </p:pic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D7249EC-ADC5-D7E0-AFB2-86DADAD1FC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4446" y="3001916"/>
              <a:ext cx="144000" cy="144000"/>
            </a:xfrm>
            <a:prstGeom prst="rect">
              <a:avLst/>
            </a:prstGeom>
          </p:spPr>
        </p:pic>
        <p:pic>
          <p:nvPicPr>
            <p:cNvPr id="202" name="그래픽 201">
              <a:extLst>
                <a:ext uri="{FF2B5EF4-FFF2-40B4-BE49-F238E27FC236}">
                  <a16:creationId xmlns:a16="http://schemas.microsoft.com/office/drawing/2014/main" id="{AFC4EA82-CBDB-B982-CBC3-A809505143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5239" y="4028187"/>
              <a:ext cx="144000" cy="144000"/>
            </a:xfrm>
            <a:prstGeom prst="rect">
              <a:avLst/>
            </a:prstGeom>
          </p:spPr>
        </p:pic>
      </p:grpSp>
      <p:sp>
        <p:nvSpPr>
          <p:cNvPr id="242" name="그래픽 240">
            <a:extLst>
              <a:ext uri="{FF2B5EF4-FFF2-40B4-BE49-F238E27FC236}">
                <a16:creationId xmlns:a16="http://schemas.microsoft.com/office/drawing/2014/main" id="{DA651983-74F6-D6D9-B0A3-10E28AAD5811}"/>
              </a:ext>
            </a:extLst>
          </p:cNvPr>
          <p:cNvSpPr/>
          <p:nvPr/>
        </p:nvSpPr>
        <p:spPr>
          <a:xfrm>
            <a:off x="599577" y="1099405"/>
            <a:ext cx="4978192" cy="62429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45" name="그래픽 240">
            <a:extLst>
              <a:ext uri="{FF2B5EF4-FFF2-40B4-BE49-F238E27FC236}">
                <a16:creationId xmlns:a16="http://schemas.microsoft.com/office/drawing/2014/main" id="{CD3B4B15-6292-35ED-DED3-4E16B78A5ABF}"/>
              </a:ext>
            </a:extLst>
          </p:cNvPr>
          <p:cNvSpPr/>
          <p:nvPr/>
        </p:nvSpPr>
        <p:spPr>
          <a:xfrm>
            <a:off x="599577" y="1822726"/>
            <a:ext cx="4978192" cy="941729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46" name="그래픽 240">
            <a:extLst>
              <a:ext uri="{FF2B5EF4-FFF2-40B4-BE49-F238E27FC236}">
                <a16:creationId xmlns:a16="http://schemas.microsoft.com/office/drawing/2014/main" id="{0C9D29B6-6EAE-D24C-6F97-17E3177E5112}"/>
              </a:ext>
            </a:extLst>
          </p:cNvPr>
          <p:cNvSpPr/>
          <p:nvPr/>
        </p:nvSpPr>
        <p:spPr>
          <a:xfrm>
            <a:off x="599577" y="2866267"/>
            <a:ext cx="4978192" cy="936678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47" name="그래픽 240">
            <a:extLst>
              <a:ext uri="{FF2B5EF4-FFF2-40B4-BE49-F238E27FC236}">
                <a16:creationId xmlns:a16="http://schemas.microsoft.com/office/drawing/2014/main" id="{1F1212FF-16EA-0200-BCCF-0C0732165410}"/>
              </a:ext>
            </a:extLst>
          </p:cNvPr>
          <p:cNvSpPr/>
          <p:nvPr/>
        </p:nvSpPr>
        <p:spPr>
          <a:xfrm>
            <a:off x="599577" y="3908907"/>
            <a:ext cx="4978192" cy="909545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 cap="flat">
            <a:solidFill>
              <a:srgbClr val="2DD4BF"/>
            </a:solidFill>
            <a:prstDash val="solid"/>
            <a:miter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315" name="그래픽 248">
            <a:extLst>
              <a:ext uri="{FF2B5EF4-FFF2-40B4-BE49-F238E27FC236}">
                <a16:creationId xmlns:a16="http://schemas.microsoft.com/office/drawing/2014/main" id="{68580A5C-1E1E-5F66-B320-50A42A846390}"/>
              </a:ext>
            </a:extLst>
          </p:cNvPr>
          <p:cNvSpPr/>
          <p:nvPr/>
        </p:nvSpPr>
        <p:spPr>
          <a:xfrm>
            <a:off x="5679540" y="3017019"/>
            <a:ext cx="3054204" cy="1797822"/>
          </a:xfrm>
          <a:prstGeom prst="roundRect">
            <a:avLst>
              <a:gd name="adj" fmla="val 2839"/>
            </a:avLst>
          </a:prstGeom>
          <a:solidFill>
            <a:srgbClr val="FFFFFF"/>
          </a:solidFill>
          <a:ln w="8493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49D858EC-AE52-9A08-4825-B526CC8C7FF6}"/>
              </a:ext>
            </a:extLst>
          </p:cNvPr>
          <p:cNvGrpSpPr/>
          <p:nvPr/>
        </p:nvGrpSpPr>
        <p:grpSpPr>
          <a:xfrm>
            <a:off x="335240" y="711428"/>
            <a:ext cx="244785" cy="205428"/>
            <a:chOff x="4530467" y="3324225"/>
            <a:chExt cx="485774" cy="407669"/>
          </a:xfrm>
          <a:solidFill>
            <a:srgbClr val="2DD4BF"/>
          </a:solidFill>
        </p:grpSpPr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6C6847F7-CD35-2FDC-E71F-728731B27A1F}"/>
                </a:ext>
              </a:extLst>
            </p:cNvPr>
            <p:cNvSpPr/>
            <p:nvPr/>
          </p:nvSpPr>
          <p:spPr>
            <a:xfrm>
              <a:off x="4849554" y="3324225"/>
              <a:ext cx="166687" cy="198119"/>
            </a:xfrm>
            <a:custGeom>
              <a:avLst/>
              <a:gdLst>
                <a:gd name="csX0" fmla="*/ 122873 w 166687"/>
                <a:gd name="csY0" fmla="*/ 0 h 198119"/>
                <a:gd name="csX1" fmla="*/ 122873 w 166687"/>
                <a:gd name="csY1" fmla="*/ 0 h 198119"/>
                <a:gd name="csX2" fmla="*/ 166688 w 166687"/>
                <a:gd name="csY2" fmla="*/ 132398 h 198119"/>
                <a:gd name="csX3" fmla="*/ 166688 w 166687"/>
                <a:gd name="csY3" fmla="*/ 132398 h 198119"/>
                <a:gd name="csX4" fmla="*/ 43815 w 166687"/>
                <a:gd name="csY4" fmla="*/ 198120 h 198119"/>
                <a:gd name="csX5" fmla="*/ 43815 w 166687"/>
                <a:gd name="csY5" fmla="*/ 198120 h 198119"/>
                <a:gd name="csX6" fmla="*/ 0 w 166687"/>
                <a:gd name="csY6" fmla="*/ 65723 h 198119"/>
                <a:gd name="csX7" fmla="*/ 0 w 166687"/>
                <a:gd name="csY7" fmla="*/ 65723 h 198119"/>
                <a:gd name="csX8" fmla="*/ 122873 w 166687"/>
                <a:gd name="csY8" fmla="*/ 0 h 198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6687" h="198119">
                  <a:moveTo>
                    <a:pt x="122873" y="0"/>
                  </a:moveTo>
                  <a:lnTo>
                    <a:pt x="122873" y="0"/>
                  </a:lnTo>
                  <a:cubicBezTo>
                    <a:pt x="118110" y="48578"/>
                    <a:pt x="133350" y="97155"/>
                    <a:pt x="166688" y="132398"/>
                  </a:cubicBezTo>
                  <a:lnTo>
                    <a:pt x="166688" y="132398"/>
                  </a:lnTo>
                  <a:cubicBezTo>
                    <a:pt x="118110" y="135255"/>
                    <a:pt x="73342" y="159068"/>
                    <a:pt x="43815" y="198120"/>
                  </a:cubicBezTo>
                  <a:lnTo>
                    <a:pt x="43815" y="198120"/>
                  </a:lnTo>
                  <a:cubicBezTo>
                    <a:pt x="48577" y="149543"/>
                    <a:pt x="33338" y="100965"/>
                    <a:pt x="0" y="65723"/>
                  </a:cubicBezTo>
                  <a:lnTo>
                    <a:pt x="0" y="65723"/>
                  </a:lnTo>
                  <a:cubicBezTo>
                    <a:pt x="48577" y="61913"/>
                    <a:pt x="93345" y="38100"/>
                    <a:pt x="12287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EB3BE283-99D0-5A65-94AD-A30B77E16AC6}"/>
                </a:ext>
              </a:extLst>
            </p:cNvPr>
            <p:cNvSpPr/>
            <p:nvPr/>
          </p:nvSpPr>
          <p:spPr>
            <a:xfrm>
              <a:off x="4530467" y="3350895"/>
              <a:ext cx="200025" cy="236219"/>
            </a:xfrm>
            <a:custGeom>
              <a:avLst/>
              <a:gdLst>
                <a:gd name="csX0" fmla="*/ 147638 w 200025"/>
                <a:gd name="csY0" fmla="*/ 0 h 236219"/>
                <a:gd name="csX1" fmla="*/ 200025 w 200025"/>
                <a:gd name="csY1" fmla="*/ 158115 h 236219"/>
                <a:gd name="csX2" fmla="*/ 200025 w 200025"/>
                <a:gd name="csY2" fmla="*/ 158115 h 236219"/>
                <a:gd name="csX3" fmla="*/ 52388 w 200025"/>
                <a:gd name="csY3" fmla="*/ 236220 h 236219"/>
                <a:gd name="csX4" fmla="*/ 52388 w 200025"/>
                <a:gd name="csY4" fmla="*/ 236220 h 236219"/>
                <a:gd name="csX5" fmla="*/ 0 w 200025"/>
                <a:gd name="csY5" fmla="*/ 78105 h 236219"/>
                <a:gd name="csX6" fmla="*/ 0 w 200025"/>
                <a:gd name="csY6" fmla="*/ 78105 h 236219"/>
                <a:gd name="csX7" fmla="*/ 147638 w 200025"/>
                <a:gd name="csY7" fmla="*/ 0 h 236219"/>
                <a:gd name="csX8" fmla="*/ 147638 w 200025"/>
                <a:gd name="csY8" fmla="*/ 0 h 236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025" h="236219">
                  <a:moveTo>
                    <a:pt x="147638" y="0"/>
                  </a:moveTo>
                  <a:cubicBezTo>
                    <a:pt x="142875" y="61912"/>
                    <a:pt x="161925" y="119062"/>
                    <a:pt x="200025" y="158115"/>
                  </a:cubicBezTo>
                  <a:lnTo>
                    <a:pt x="200025" y="158115"/>
                  </a:lnTo>
                  <a:cubicBezTo>
                    <a:pt x="145733" y="160020"/>
                    <a:pt x="91440" y="188595"/>
                    <a:pt x="52388" y="236220"/>
                  </a:cubicBezTo>
                  <a:lnTo>
                    <a:pt x="52388" y="236220"/>
                  </a:lnTo>
                  <a:cubicBezTo>
                    <a:pt x="57150" y="175260"/>
                    <a:pt x="38100" y="117158"/>
                    <a:pt x="0" y="78105"/>
                  </a:cubicBezTo>
                  <a:lnTo>
                    <a:pt x="0" y="78105"/>
                  </a:lnTo>
                  <a:cubicBezTo>
                    <a:pt x="54293" y="76200"/>
                    <a:pt x="108585" y="47625"/>
                    <a:pt x="147638" y="0"/>
                  </a:cubicBezTo>
                  <a:lnTo>
                    <a:pt x="14763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6C88F858-0C97-0D9F-DF51-B40F7AD2C77B}"/>
                </a:ext>
              </a:extLst>
            </p:cNvPr>
            <p:cNvSpPr/>
            <p:nvPr/>
          </p:nvSpPr>
          <p:spPr>
            <a:xfrm>
              <a:off x="4878129" y="3592830"/>
              <a:ext cx="117157" cy="139064"/>
            </a:xfrm>
            <a:custGeom>
              <a:avLst/>
              <a:gdLst>
                <a:gd name="csX0" fmla="*/ 86677 w 117157"/>
                <a:gd name="csY0" fmla="*/ 0 h 139064"/>
                <a:gd name="csX1" fmla="*/ 86677 w 117157"/>
                <a:gd name="csY1" fmla="*/ 0 h 139064"/>
                <a:gd name="csX2" fmla="*/ 117158 w 117157"/>
                <a:gd name="csY2" fmla="*/ 93345 h 139064"/>
                <a:gd name="csX3" fmla="*/ 117158 w 117157"/>
                <a:gd name="csY3" fmla="*/ 93345 h 139064"/>
                <a:gd name="csX4" fmla="*/ 30480 w 117157"/>
                <a:gd name="csY4" fmla="*/ 139065 h 139064"/>
                <a:gd name="csX5" fmla="*/ 30480 w 117157"/>
                <a:gd name="csY5" fmla="*/ 139065 h 139064"/>
                <a:gd name="csX6" fmla="*/ 0 w 117157"/>
                <a:gd name="csY6" fmla="*/ 45720 h 139064"/>
                <a:gd name="csX7" fmla="*/ 0 w 117157"/>
                <a:gd name="csY7" fmla="*/ 45720 h 139064"/>
                <a:gd name="csX8" fmla="*/ 86677 w 117157"/>
                <a:gd name="csY8" fmla="*/ 0 h 139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7157" h="139064">
                  <a:moveTo>
                    <a:pt x="86677" y="0"/>
                  </a:moveTo>
                  <a:lnTo>
                    <a:pt x="86677" y="0"/>
                  </a:lnTo>
                  <a:cubicBezTo>
                    <a:pt x="82867" y="34290"/>
                    <a:pt x="94298" y="67627"/>
                    <a:pt x="117158" y="93345"/>
                  </a:cubicBezTo>
                  <a:lnTo>
                    <a:pt x="117158" y="93345"/>
                  </a:lnTo>
                  <a:cubicBezTo>
                    <a:pt x="82867" y="95250"/>
                    <a:pt x="51435" y="112395"/>
                    <a:pt x="30480" y="139065"/>
                  </a:cubicBezTo>
                  <a:lnTo>
                    <a:pt x="30480" y="139065"/>
                  </a:lnTo>
                  <a:cubicBezTo>
                    <a:pt x="34290" y="104775"/>
                    <a:pt x="22860" y="71438"/>
                    <a:pt x="0" y="45720"/>
                  </a:cubicBezTo>
                  <a:lnTo>
                    <a:pt x="0" y="45720"/>
                  </a:lnTo>
                  <a:cubicBezTo>
                    <a:pt x="34290" y="43815"/>
                    <a:pt x="65723" y="26670"/>
                    <a:pt x="8667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CBC78CA5-849D-BA51-A788-81F533044AD0}"/>
              </a:ext>
            </a:extLst>
          </p:cNvPr>
          <p:cNvSpPr txBox="1"/>
          <p:nvPr/>
        </p:nvSpPr>
        <p:spPr>
          <a:xfrm>
            <a:off x="569466" y="683432"/>
            <a:ext cx="40025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실제 사례 추적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]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반도체 식각 공정 </a:t>
            </a:r>
            <a:r>
              <a:rPr kumimoji="0" lang="ko-KR" alt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수율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UIT" pitchFamily="2" charset="-127"/>
                <a:ea typeface="SUIT" pitchFamily="2" charset="-127"/>
              </a:rPr>
              <a:t> 하락 원인 분석 로그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3D028B7-A775-EB81-5D42-AB113B99853F}"/>
              </a:ext>
            </a:extLst>
          </p:cNvPr>
          <p:cNvSpPr txBox="1"/>
          <p:nvPr/>
        </p:nvSpPr>
        <p:spPr>
          <a:xfrm>
            <a:off x="617203" y="1430378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단순 텍스트 검색을 넘어, AI 엔진이 기계적으로 맥락을 추론할 수 있는 정제된 자산 형태로 전환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5BD7D32-F234-49C3-00EB-E705D44684EF}"/>
              </a:ext>
            </a:extLst>
          </p:cNvPr>
          <p:cNvSpPr txBox="1"/>
          <p:nvPr/>
        </p:nvSpPr>
        <p:spPr>
          <a:xfrm>
            <a:off x="634829" y="1173826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C00000"/>
                </a:solidFill>
                <a:effectLst/>
                <a:latin typeface="SUIT" pitchFamily="2" charset="-127"/>
                <a:ea typeface="SUIT" pitchFamily="2" charset="-127"/>
              </a:rPr>
              <a:t>1. </a:t>
            </a:r>
            <a:r>
              <a:rPr lang="ko-KR" altLang="en-US" sz="1000" b="0" i="0" dirty="0">
                <a:solidFill>
                  <a:srgbClr val="C00000"/>
                </a:solidFill>
                <a:effectLst/>
                <a:latin typeface="SUIT" pitchFamily="2" charset="-127"/>
                <a:ea typeface="SUIT" pitchFamily="2" charset="-127"/>
              </a:rPr>
              <a:t>문제 발생 및 질의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649F75A1-A35A-FCD1-347D-DEAA94E16B9A}"/>
              </a:ext>
            </a:extLst>
          </p:cNvPr>
          <p:cNvSpPr txBox="1"/>
          <p:nvPr/>
        </p:nvSpPr>
        <p:spPr>
          <a:xfrm>
            <a:off x="4017264" y="1173826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10:15:02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347709F-5AB4-055D-CFC0-A0B545139EED}"/>
              </a:ext>
            </a:extLst>
          </p:cNvPr>
          <p:cNvSpPr txBox="1"/>
          <p:nvPr/>
        </p:nvSpPr>
        <p:spPr>
          <a:xfrm>
            <a:off x="613962" y="2192375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현장의 정량 센서 데이터와 생산 이력 테이블 동시 참조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B9296FA-B44F-25FA-6CE3-36619523D1A8}"/>
              </a:ext>
            </a:extLst>
          </p:cNvPr>
          <p:cNvSpPr txBox="1"/>
          <p:nvPr/>
        </p:nvSpPr>
        <p:spPr>
          <a:xfrm>
            <a:off x="631588" y="1935823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2. </a:t>
            </a:r>
            <a:r>
              <a:rPr lang="ko-KR" altLang="en-US" sz="1000" b="0" i="0" dirty="0">
                <a:effectLst/>
                <a:latin typeface="SUIT" pitchFamily="2" charset="-127"/>
                <a:ea typeface="SUIT" pitchFamily="2" charset="-127"/>
              </a:rPr>
              <a:t>데이터 출처 추적 </a:t>
            </a:r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(Data Source)</a:t>
            </a:r>
            <a:endParaRPr lang="ko-KR" altLang="en-US" sz="10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67D3E9E-CBFD-B61B-5CE8-DA7838693F7F}"/>
              </a:ext>
            </a:extLst>
          </p:cNvPr>
          <p:cNvSpPr txBox="1"/>
          <p:nvPr/>
        </p:nvSpPr>
        <p:spPr>
          <a:xfrm>
            <a:off x="4014023" y="1935823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10:15:07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9F92522-4628-E692-3419-92C3853F0125}"/>
              </a:ext>
            </a:extLst>
          </p:cNvPr>
          <p:cNvSpPr txBox="1"/>
          <p:nvPr/>
        </p:nvSpPr>
        <p:spPr>
          <a:xfrm>
            <a:off x="599577" y="3218200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RF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파워 센서 이상 진동 감지 및 과거 정성 문서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(RAG)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맵핑 수행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481D0F4-7F29-6746-9524-1640164E68F5}"/>
              </a:ext>
            </a:extLst>
          </p:cNvPr>
          <p:cNvSpPr txBox="1"/>
          <p:nvPr/>
        </p:nvSpPr>
        <p:spPr>
          <a:xfrm>
            <a:off x="617203" y="2961648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3. </a:t>
            </a:r>
            <a:r>
              <a:rPr lang="ko-KR" altLang="en-US" sz="1000" b="0" i="0" dirty="0">
                <a:effectLst/>
                <a:latin typeface="SUIT" pitchFamily="2" charset="-127"/>
                <a:ea typeface="SUIT" pitchFamily="2" charset="-127"/>
              </a:rPr>
              <a:t>분석 로직 소명 </a:t>
            </a:r>
            <a:r>
              <a:rPr lang="en-US" altLang="ko-KR" sz="1000" b="0" i="0" dirty="0">
                <a:effectLst/>
                <a:latin typeface="SUIT" pitchFamily="2" charset="-127"/>
                <a:ea typeface="SUIT" pitchFamily="2" charset="-127"/>
              </a:rPr>
              <a:t>(Algorithm Logic)</a:t>
            </a:r>
            <a:endParaRPr lang="ko-KR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C97AAEDD-6A6B-0D6C-2532-92702309F98B}"/>
              </a:ext>
            </a:extLst>
          </p:cNvPr>
          <p:cNvSpPr txBox="1"/>
          <p:nvPr/>
        </p:nvSpPr>
        <p:spPr>
          <a:xfrm>
            <a:off x="3999638" y="2961648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10:15:08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69404659-A859-7818-512C-D22530F57440}"/>
              </a:ext>
            </a:extLst>
          </p:cNvPr>
          <p:cNvSpPr txBox="1"/>
          <p:nvPr/>
        </p:nvSpPr>
        <p:spPr>
          <a:xfrm>
            <a:off x="613962" y="4253586"/>
            <a:ext cx="49605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"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챔버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B RF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매칭 네트워크 노후화가 원인입니다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 </a:t>
            </a:r>
            <a:r>
              <a:rPr lang="ko-KR" altLang="en-US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부품 교체를 권고합니다</a:t>
            </a:r>
            <a:r>
              <a:rPr lang="en-US" altLang="ko-KR" sz="9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."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E0115C3-C9E8-4BDC-A082-7B120929D9DA}"/>
              </a:ext>
            </a:extLst>
          </p:cNvPr>
          <p:cNvSpPr txBox="1"/>
          <p:nvPr/>
        </p:nvSpPr>
        <p:spPr>
          <a:xfrm>
            <a:off x="631588" y="3997034"/>
            <a:ext cx="266310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115E59"/>
                </a:solidFill>
                <a:effectLst/>
                <a:latin typeface="SUIT" pitchFamily="2" charset="-127"/>
                <a:ea typeface="SUIT" pitchFamily="2" charset="-127"/>
              </a:rPr>
              <a:t>4. </a:t>
            </a:r>
            <a:r>
              <a:rPr lang="ko-KR" altLang="en-US" sz="1000" b="0" i="0" dirty="0">
                <a:solidFill>
                  <a:srgbClr val="115E59"/>
                </a:solidFill>
                <a:effectLst/>
                <a:latin typeface="SUIT" pitchFamily="2" charset="-127"/>
                <a:ea typeface="SUIT" pitchFamily="2" charset="-127"/>
              </a:rPr>
              <a:t>검증된 해결책 도출</a:t>
            </a:r>
            <a:endParaRPr lang="ko-KR" altLang="en-US" sz="1000" dirty="0">
              <a:solidFill>
                <a:srgbClr val="115E59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B215F4F3-E479-A8CF-AB72-945548787E73}"/>
              </a:ext>
            </a:extLst>
          </p:cNvPr>
          <p:cNvSpPr txBox="1"/>
          <p:nvPr/>
        </p:nvSpPr>
        <p:spPr>
          <a:xfrm>
            <a:off x="4014023" y="3997034"/>
            <a:ext cx="15605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UIT" pitchFamily="2" charset="-127"/>
                <a:ea typeface="SUIT" pitchFamily="2" charset="-127"/>
              </a:rPr>
              <a:t>10:15:10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9" name="Shape 4">
            <a:extLst>
              <a:ext uri="{FF2B5EF4-FFF2-40B4-BE49-F238E27FC236}">
                <a16:creationId xmlns:a16="http://schemas.microsoft.com/office/drawing/2014/main" id="{E938D93F-A15C-98A5-93BD-3FB0199C101B}"/>
              </a:ext>
            </a:extLst>
          </p:cNvPr>
          <p:cNvSpPr/>
          <p:nvPr/>
        </p:nvSpPr>
        <p:spPr>
          <a:xfrm>
            <a:off x="706829" y="2463366"/>
            <a:ext cx="1097206" cy="178233"/>
          </a:xfrm>
          <a:prstGeom prst="roundRect">
            <a:avLst>
              <a:gd name="adj" fmla="val 24404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[DB]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fdc_sensor_log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2" name="Shape 4">
            <a:extLst>
              <a:ext uri="{FF2B5EF4-FFF2-40B4-BE49-F238E27FC236}">
                <a16:creationId xmlns:a16="http://schemas.microsoft.com/office/drawing/2014/main" id="{610706BB-E7B2-5578-8C68-EE231C8766F6}"/>
              </a:ext>
            </a:extLst>
          </p:cNvPr>
          <p:cNvSpPr/>
          <p:nvPr/>
        </p:nvSpPr>
        <p:spPr>
          <a:xfrm>
            <a:off x="1849829" y="2459986"/>
            <a:ext cx="1097206" cy="178233"/>
          </a:xfrm>
          <a:prstGeom prst="roundRect">
            <a:avLst>
              <a:gd name="adj" fmla="val 24404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[DB]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mes_lot_history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3" name="Shape 4">
            <a:extLst>
              <a:ext uri="{FF2B5EF4-FFF2-40B4-BE49-F238E27FC236}">
                <a16:creationId xmlns:a16="http://schemas.microsoft.com/office/drawing/2014/main" id="{F2A9E987-4ADF-B362-8431-E99A68D098CB}"/>
              </a:ext>
            </a:extLst>
          </p:cNvPr>
          <p:cNvSpPr/>
          <p:nvPr/>
        </p:nvSpPr>
        <p:spPr>
          <a:xfrm>
            <a:off x="2992829" y="2463366"/>
            <a:ext cx="1097206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조회 데이터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14,200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건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4" name="Shape 4">
            <a:extLst>
              <a:ext uri="{FF2B5EF4-FFF2-40B4-BE49-F238E27FC236}">
                <a16:creationId xmlns:a16="http://schemas.microsoft.com/office/drawing/2014/main" id="{C5B783DF-C804-8F65-59F3-4F1B8973D825}"/>
              </a:ext>
            </a:extLst>
          </p:cNvPr>
          <p:cNvSpPr/>
          <p:nvPr/>
        </p:nvSpPr>
        <p:spPr>
          <a:xfrm>
            <a:off x="685809" y="3520733"/>
            <a:ext cx="1799888" cy="178233"/>
          </a:xfrm>
          <a:prstGeom prst="roundRect">
            <a:avLst>
              <a:gd name="adj" fmla="val 24404"/>
            </a:avLst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[Logic]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RF_Power_Deviation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 &gt; 2%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295" name="Shape 4">
            <a:extLst>
              <a:ext uri="{FF2B5EF4-FFF2-40B4-BE49-F238E27FC236}">
                <a16:creationId xmlns:a16="http://schemas.microsoft.com/office/drawing/2014/main" id="{28392FDC-5703-3BCF-C49E-DCD2A141AB32}"/>
              </a:ext>
            </a:extLst>
          </p:cNvPr>
          <p:cNvSpPr/>
          <p:nvPr/>
        </p:nvSpPr>
        <p:spPr>
          <a:xfrm>
            <a:off x="2568830" y="3524526"/>
            <a:ext cx="1799888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[RAG]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유지보수 매뉴얼 벡터 검색 매칭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9561537A-F646-47E3-6162-576572DA6B39}"/>
              </a:ext>
            </a:extLst>
          </p:cNvPr>
          <p:cNvSpPr txBox="1"/>
          <p:nvPr/>
        </p:nvSpPr>
        <p:spPr>
          <a:xfrm>
            <a:off x="5958840" y="1986110"/>
            <a:ext cx="2559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AI가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도출한 결과의 근거가 되는 데이터(DB)와 로직(SQL)을 </a:t>
            </a:r>
            <a:r>
              <a:rPr lang="ko-KR" altLang="ko-KR" sz="9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언제든 역추적하고 소명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할 수 있습니다.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1B93FC90-3A25-A444-EC14-7B49237E6506}"/>
              </a:ext>
            </a:extLst>
          </p:cNvPr>
          <p:cNvSpPr txBox="1"/>
          <p:nvPr/>
        </p:nvSpPr>
        <p:spPr>
          <a:xfrm>
            <a:off x="6395720" y="1460680"/>
            <a:ext cx="2113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/>
              <a:t>블랙박스 해소 (</a:t>
            </a:r>
            <a:r>
              <a:rPr lang="ko-KR" altLang="ko-KR" sz="1400" dirty="0" err="1"/>
              <a:t>Explainable</a:t>
            </a:r>
            <a:r>
              <a:rPr lang="ko-KR" altLang="ko-KR" sz="1400" dirty="0"/>
              <a:t> AI)</a:t>
            </a:r>
            <a:endParaRPr lang="ko-KR" altLang="en-US" sz="800" dirty="0"/>
          </a:p>
        </p:txBody>
      </p:sp>
      <p:pic>
        <p:nvPicPr>
          <p:cNvPr id="305" name="그래픽 304">
            <a:extLst>
              <a:ext uri="{FF2B5EF4-FFF2-40B4-BE49-F238E27FC236}">
                <a16:creationId xmlns:a16="http://schemas.microsoft.com/office/drawing/2014/main" id="{6A46D30D-0A93-C07F-B5B7-89F2742CC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9320" y="1535620"/>
            <a:ext cx="370135" cy="370135"/>
          </a:xfrm>
          <a:prstGeom prst="rect">
            <a:avLst/>
          </a:prstGeom>
        </p:spPr>
      </p:pic>
      <p:pic>
        <p:nvPicPr>
          <p:cNvPr id="301" name="그래픽 300">
            <a:extLst>
              <a:ext uri="{FF2B5EF4-FFF2-40B4-BE49-F238E27FC236}">
                <a16:creationId xmlns:a16="http://schemas.microsoft.com/office/drawing/2014/main" id="{E8B63ABB-8043-B328-9D56-BEFAB998A8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4090" y="1586149"/>
            <a:ext cx="255825" cy="255825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E43F4895-A5FD-7D01-252D-7677265CEB41}"/>
              </a:ext>
            </a:extLst>
          </p:cNvPr>
          <p:cNvSpPr txBox="1"/>
          <p:nvPr/>
        </p:nvSpPr>
        <p:spPr>
          <a:xfrm>
            <a:off x="5950028" y="3959362"/>
            <a:ext cx="25591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b="0" i="0" dirty="0" err="1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추측성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 데이터(환각)가 개입할 수 없는 아키텍처로, 불량 원인 분석 시 </a:t>
            </a:r>
            <a:r>
              <a:rPr lang="ko-KR" altLang="ko-KR" sz="900" b="0" i="0" dirty="0">
                <a:solidFill>
                  <a:srgbClr val="0F6E56"/>
                </a:solidFill>
                <a:effectLst/>
                <a:latin typeface="SUIT" pitchFamily="2" charset="-127"/>
                <a:ea typeface="SUIT" pitchFamily="2" charset="-127"/>
              </a:rPr>
              <a:t>100% 팩트 기반의 대응</a:t>
            </a:r>
            <a:r>
              <a:rPr lang="ko-KR" altLang="ko-KR" sz="900" b="0" i="0" dirty="0">
                <a:solidFill>
                  <a:srgbClr val="64748B"/>
                </a:solidFill>
                <a:effectLst/>
                <a:latin typeface="SUIT" pitchFamily="2" charset="-127"/>
                <a:ea typeface="SUIT" pitchFamily="2" charset="-127"/>
              </a:rPr>
              <a:t>이 가능합니다.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306C1B3-0F1B-0543-4E27-8C0A37BB22F7}"/>
              </a:ext>
            </a:extLst>
          </p:cNvPr>
          <p:cNvSpPr txBox="1"/>
          <p:nvPr/>
        </p:nvSpPr>
        <p:spPr>
          <a:xfrm>
            <a:off x="6386908" y="3433932"/>
            <a:ext cx="2113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품질 감사</a:t>
            </a:r>
            <a:r>
              <a:rPr lang="en-US" altLang="ko-KR" sz="1400" dirty="0"/>
              <a:t>(Audit) </a:t>
            </a:r>
          </a:p>
          <a:p>
            <a:r>
              <a:rPr lang="ko-KR" altLang="en-US" sz="1400" dirty="0"/>
              <a:t>즉각 대응</a:t>
            </a:r>
            <a:endParaRPr lang="ko-KR" altLang="en-US" sz="800" dirty="0"/>
          </a:p>
        </p:txBody>
      </p:sp>
      <p:pic>
        <p:nvPicPr>
          <p:cNvPr id="310" name="그래픽 309">
            <a:extLst>
              <a:ext uri="{FF2B5EF4-FFF2-40B4-BE49-F238E27FC236}">
                <a16:creationId xmlns:a16="http://schemas.microsoft.com/office/drawing/2014/main" id="{DFABB90E-2A06-1D29-AB9D-2471852CD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0508" y="3508872"/>
            <a:ext cx="370135" cy="370135"/>
          </a:xfrm>
          <a:prstGeom prst="rect">
            <a:avLst/>
          </a:prstGeom>
        </p:spPr>
      </p:pic>
      <p:pic>
        <p:nvPicPr>
          <p:cNvPr id="307" name="그래픽 306">
            <a:extLst>
              <a:ext uri="{FF2B5EF4-FFF2-40B4-BE49-F238E27FC236}">
                <a16:creationId xmlns:a16="http://schemas.microsoft.com/office/drawing/2014/main" id="{221531DF-E333-C32B-073B-1E6F438B4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4967" y="3569425"/>
            <a:ext cx="267375" cy="267375"/>
          </a:xfrm>
          <a:prstGeom prst="rect">
            <a:avLst/>
          </a:prstGeom>
        </p:spPr>
      </p:pic>
      <p:sp>
        <p:nvSpPr>
          <p:cNvPr id="312" name="Shape 4">
            <a:extLst>
              <a:ext uri="{FF2B5EF4-FFF2-40B4-BE49-F238E27FC236}">
                <a16:creationId xmlns:a16="http://schemas.microsoft.com/office/drawing/2014/main" id="{3609CD0C-81B7-265B-1D0C-20E649313E8D}"/>
              </a:ext>
            </a:extLst>
          </p:cNvPr>
          <p:cNvSpPr/>
          <p:nvPr/>
        </p:nvSpPr>
        <p:spPr>
          <a:xfrm>
            <a:off x="706829" y="4528064"/>
            <a:ext cx="1508051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참고 자료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- [DB] SQL …………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SUIT Light" pitchFamily="50" charset="-127"/>
              <a:ea typeface="SUIT Light" pitchFamily="50" charset="-127"/>
            </a:endParaRPr>
          </a:p>
        </p:txBody>
      </p:sp>
      <p:sp>
        <p:nvSpPr>
          <p:cNvPr id="313" name="Shape 4">
            <a:extLst>
              <a:ext uri="{FF2B5EF4-FFF2-40B4-BE49-F238E27FC236}">
                <a16:creationId xmlns:a16="http://schemas.microsoft.com/office/drawing/2014/main" id="{15CB4C8D-B0CB-6E46-13BB-CCB23CF45223}"/>
              </a:ext>
            </a:extLst>
          </p:cNvPr>
          <p:cNvSpPr/>
          <p:nvPr/>
        </p:nvSpPr>
        <p:spPr>
          <a:xfrm>
            <a:off x="2294195" y="4528064"/>
            <a:ext cx="2364165" cy="178233"/>
          </a:xfrm>
          <a:prstGeom prst="roundRect">
            <a:avLst>
              <a:gd name="adj" fmla="val 24404"/>
            </a:avLst>
          </a:prstGeom>
          <a:solidFill>
            <a:srgbClr val="E6FFFA"/>
          </a:solidFill>
          <a:ln>
            <a:solidFill>
              <a:srgbClr val="2DD4BF"/>
            </a:solidFill>
          </a:ln>
        </p:spPr>
        <p:txBody>
          <a:bodyPr lIns="36000" tIns="0" rIns="36000" bIns="0" anchor="ctr" anchorCtr="0"/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참고 자료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- [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매뉴얼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] RF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SUIT Light" pitchFamily="50" charset="-127"/>
                <a:ea typeface="SUIT Light" pitchFamily="50" charset="-127"/>
              </a:rPr>
              <a:t>파워 센서 관련 메뉴얼</a:t>
            </a:r>
          </a:p>
        </p:txBody>
      </p:sp>
    </p:spTree>
    <p:extLst>
      <p:ext uri="{BB962C8B-B14F-4D97-AF65-F5344CB8AC3E}">
        <p14:creationId xmlns:p14="http://schemas.microsoft.com/office/powerpoint/2010/main" val="259724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73" y="553955"/>
            <a:ext cx="854942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7173" y="318383"/>
            <a:ext cx="63092" cy="6275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297172" y="1020471"/>
            <a:ext cx="2758676" cy="3154508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8844" y="1140314"/>
            <a:ext cx="216707" cy="21705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2426757" y="1171689"/>
            <a:ext cx="497421" cy="154305"/>
          </a:xfrm>
          <a:prstGeom prst="roundRect">
            <a:avLst>
              <a:gd name="adj" fmla="val 2592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8843" y="3872026"/>
            <a:ext cx="249533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193005" y="1020471"/>
            <a:ext cx="2758676" cy="3154508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3761" y="1140314"/>
            <a:ext cx="216707" cy="2170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364651" y="1171689"/>
            <a:ext cx="455360" cy="154305"/>
          </a:xfrm>
          <a:prstGeom prst="roundRect">
            <a:avLst>
              <a:gd name="adj" fmla="val 2592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3761" y="3752183"/>
            <a:ext cx="249533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087923" y="1020471"/>
            <a:ext cx="2758676" cy="3154508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9594" y="1140314"/>
            <a:ext cx="216707" cy="21705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0251" y="1171689"/>
            <a:ext cx="494678" cy="154305"/>
          </a:xfrm>
          <a:prstGeom prst="roundRect">
            <a:avLst>
              <a:gd name="adj" fmla="val 25925"/>
            </a:avLst>
          </a:prstGeom>
          <a:solidFill>
            <a:srgbClr val="F0FDFA"/>
          </a:solidFill>
          <a:ln w="7620">
            <a:solidFill>
              <a:srgbClr val="CCFB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9593" y="3872026"/>
            <a:ext cx="2495336" cy="686"/>
          </a:xfrm>
          <a:prstGeom prst="line">
            <a:avLst/>
          </a:prstGeom>
          <a:noFill/>
          <a:ln w="7620">
            <a:solidFill>
              <a:srgbClr val="E2E8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97173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6932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605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77363" y="4312310"/>
            <a:ext cx="2069236" cy="534410"/>
          </a:xfrm>
          <a:prstGeom prst="roundRect">
            <a:avLst>
              <a:gd name="adj" fmla="val 14971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997" y="1929970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997" y="2144455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997" y="235893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9916" y="1929970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9916" y="2144455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9916" y="235893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5748" y="1929970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5748" y="2144455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5748" y="2358938"/>
            <a:ext cx="64616" cy="44555"/>
          </a:xfrm>
          <a:custGeom>
            <a:avLst/>
            <a:gdLst/>
            <a:ahLst/>
            <a:cxnLst/>
            <a:rect l="l" t="t" r="r" b="b"/>
            <a:pathLst>
              <a:path w="86155" h="59407">
                <a:moveTo>
                  <a:pt x="86155" y="0"/>
                </a:moveTo>
                <a:lnTo>
                  <a:pt x="26923" y="59407"/>
                </a:lnTo>
                <a:lnTo>
                  <a:pt x="0" y="32404"/>
                </a:lnTo>
              </a:path>
            </a:pathLst>
          </a:custGeom>
          <a:ln w="8628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3622" y="4412866"/>
            <a:ext cx="95248" cy="47578"/>
          </a:xfrm>
          <a:custGeom>
            <a:avLst/>
            <a:gdLst/>
            <a:ahLst/>
            <a:cxnLst/>
            <a:rect l="l" t="t" r="r" b="b"/>
            <a:pathLst>
              <a:path w="126997" h="63437">
                <a:moveTo>
                  <a:pt x="63498" y="0"/>
                </a:moveTo>
                <a:lnTo>
                  <a:pt x="0" y="31718"/>
                </a:lnTo>
                <a:lnTo>
                  <a:pt x="63498" y="63437"/>
                </a:lnTo>
                <a:lnTo>
                  <a:pt x="126997" y="31718"/>
                </a:lnTo>
                <a:lnTo>
                  <a:pt x="63498" y="0"/>
                </a:ln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3622" y="4484232"/>
            <a:ext cx="95248" cy="23789"/>
          </a:xfrm>
          <a:custGeom>
            <a:avLst/>
            <a:gdLst/>
            <a:ahLst/>
            <a:cxnLst/>
            <a:rect l="l" t="t" r="r" b="b"/>
            <a:pathLst>
              <a:path w="126997" h="31718">
                <a:moveTo>
                  <a:pt x="0" y="0"/>
                </a:moveTo>
                <a:lnTo>
                  <a:pt x="63498" y="31718"/>
                </a:lnTo>
                <a:lnTo>
                  <a:pt x="126997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3622" y="4460443"/>
            <a:ext cx="95248" cy="23789"/>
          </a:xfrm>
          <a:custGeom>
            <a:avLst/>
            <a:gdLst/>
            <a:ahLst/>
            <a:cxnLst/>
            <a:rect l="l" t="t" r="r" b="b"/>
            <a:pathLst>
              <a:path w="126997" h="31718">
                <a:moveTo>
                  <a:pt x="0" y="0"/>
                </a:moveTo>
                <a:lnTo>
                  <a:pt x="63498" y="31718"/>
                </a:lnTo>
                <a:lnTo>
                  <a:pt x="126997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11918" y="4417624"/>
            <a:ext cx="2744" cy="85640"/>
          </a:xfrm>
          <a:custGeom>
            <a:avLst/>
            <a:gdLst/>
            <a:ahLst/>
            <a:cxnLst/>
            <a:rect l="l" t="t" r="r" b="b"/>
            <a:pathLst>
              <a:path w="3658" h="114186">
                <a:moveTo>
                  <a:pt x="0" y="0"/>
                </a:moveTo>
                <a:lnTo>
                  <a:pt x="0" y="114186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8582" y="4436654"/>
            <a:ext cx="66674" cy="2744"/>
          </a:xfrm>
          <a:custGeom>
            <a:avLst/>
            <a:gdLst/>
            <a:ahLst/>
            <a:cxnLst/>
            <a:rect l="l" t="t" r="r" b="b"/>
            <a:pathLst>
              <a:path w="88898" h="3658">
                <a:moveTo>
                  <a:pt x="0" y="0"/>
                </a:moveTo>
                <a:lnTo>
                  <a:pt x="88898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9057" y="4436655"/>
            <a:ext cx="19049" cy="38062"/>
          </a:xfrm>
          <a:custGeom>
            <a:avLst/>
            <a:gdLst/>
            <a:ahLst/>
            <a:cxnLst/>
            <a:rect l="l" t="t" r="r" b="b"/>
            <a:pathLst>
              <a:path w="25399" h="50749">
                <a:moveTo>
                  <a:pt x="0" y="38062"/>
                </a:moveTo>
                <a:lnTo>
                  <a:pt x="12700" y="0"/>
                </a:lnTo>
                <a:lnTo>
                  <a:pt x="25399" y="38062"/>
                </a:lnTo>
                <a:cubicBezTo>
                  <a:pt x="25399" y="45069"/>
                  <a:pt x="19714" y="50749"/>
                  <a:pt x="12700" y="50749"/>
                </a:cubicBezTo>
                <a:cubicBezTo>
                  <a:pt x="5686" y="50749"/>
                  <a:pt x="0" y="45069"/>
                  <a:pt x="0" y="38062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35731" y="4436655"/>
            <a:ext cx="19049" cy="38062"/>
          </a:xfrm>
          <a:custGeom>
            <a:avLst/>
            <a:gdLst/>
            <a:ahLst/>
            <a:cxnLst/>
            <a:rect l="l" t="t" r="r" b="b"/>
            <a:pathLst>
              <a:path w="25399" h="50749">
                <a:moveTo>
                  <a:pt x="0" y="38062"/>
                </a:moveTo>
                <a:lnTo>
                  <a:pt x="12700" y="0"/>
                </a:lnTo>
                <a:lnTo>
                  <a:pt x="25399" y="38062"/>
                </a:lnTo>
                <a:cubicBezTo>
                  <a:pt x="25399" y="45069"/>
                  <a:pt x="19714" y="50749"/>
                  <a:pt x="12700" y="50749"/>
                </a:cubicBezTo>
                <a:cubicBezTo>
                  <a:pt x="5686" y="50749"/>
                  <a:pt x="0" y="45069"/>
                  <a:pt x="0" y="38062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5959" y="4417624"/>
            <a:ext cx="71436" cy="85640"/>
          </a:xfrm>
          <a:custGeom>
            <a:avLst/>
            <a:gdLst/>
            <a:ahLst/>
            <a:cxnLst/>
            <a:rect l="l" t="t" r="r" b="b"/>
            <a:pathLst>
              <a:path w="95248" h="114186">
                <a:moveTo>
                  <a:pt x="47624" y="0"/>
                </a:moveTo>
                <a:lnTo>
                  <a:pt x="95248" y="19031"/>
                </a:lnTo>
                <a:lnTo>
                  <a:pt x="95248" y="53921"/>
                </a:lnTo>
                <a:cubicBezTo>
                  <a:pt x="95248" y="82467"/>
                  <a:pt x="74928" y="104670"/>
                  <a:pt x="47624" y="114186"/>
                </a:cubicBezTo>
                <a:cubicBezTo>
                  <a:pt x="20319" y="104670"/>
                  <a:pt x="0" y="82467"/>
                  <a:pt x="0" y="53921"/>
                </a:cubicBezTo>
                <a:lnTo>
                  <a:pt x="0" y="19031"/>
                </a:ln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89489" y="4441413"/>
            <a:ext cx="85723" cy="19031"/>
          </a:xfrm>
          <a:prstGeom prst="roundRect">
            <a:avLst>
              <a:gd name="adj" fmla="val 25012"/>
            </a:avLst>
          </a:prstGeom>
          <a:ln w="10155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99014" y="4460444"/>
            <a:ext cx="66674" cy="38062"/>
          </a:xfrm>
          <a:custGeom>
            <a:avLst/>
            <a:gdLst/>
            <a:ahLst/>
            <a:cxnLst/>
            <a:rect l="l" t="t" r="r" b="b"/>
            <a:pathLst>
              <a:path w="88898" h="50749">
                <a:moveTo>
                  <a:pt x="0" y="0"/>
                </a:moveTo>
                <a:lnTo>
                  <a:pt x="0" y="50749"/>
                </a:lnTo>
                <a:lnTo>
                  <a:pt x="88898" y="50749"/>
                </a:lnTo>
                <a:lnTo>
                  <a:pt x="88898" y="0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2350" y="4441412"/>
            <a:ext cx="2744" cy="57093"/>
          </a:xfrm>
          <a:custGeom>
            <a:avLst/>
            <a:gdLst/>
            <a:ahLst/>
            <a:cxnLst/>
            <a:rect l="l" t="t" r="r" b="b"/>
            <a:pathLst>
              <a:path w="3658" h="76124">
                <a:moveTo>
                  <a:pt x="0" y="0"/>
                </a:moveTo>
                <a:lnTo>
                  <a:pt x="0" y="76124"/>
                </a:lnTo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77" y="4422381"/>
            <a:ext cx="28574" cy="23789"/>
          </a:xfrm>
          <a:custGeom>
            <a:avLst/>
            <a:gdLst/>
            <a:ahLst/>
            <a:cxnLst/>
            <a:rect l="l" t="t" r="r" b="b"/>
            <a:pathLst>
              <a:path w="38099" h="31718">
                <a:moveTo>
                  <a:pt x="38099" y="25375"/>
                </a:moveTo>
                <a:cubicBezTo>
                  <a:pt x="25399" y="0"/>
                  <a:pt x="0" y="6344"/>
                  <a:pt x="6350" y="19031"/>
                </a:cubicBezTo>
                <a:cubicBezTo>
                  <a:pt x="12700" y="31718"/>
                  <a:pt x="38099" y="25375"/>
                  <a:pt x="38099" y="25375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32351" y="4422381"/>
            <a:ext cx="28574" cy="23789"/>
          </a:xfrm>
          <a:custGeom>
            <a:avLst/>
            <a:gdLst/>
            <a:ahLst/>
            <a:cxnLst/>
            <a:rect l="l" t="t" r="r" b="b"/>
            <a:pathLst>
              <a:path w="38099" h="31718">
                <a:moveTo>
                  <a:pt x="0" y="25375"/>
                </a:moveTo>
                <a:cubicBezTo>
                  <a:pt x="12700" y="0"/>
                  <a:pt x="38099" y="6344"/>
                  <a:pt x="31749" y="19031"/>
                </a:cubicBezTo>
                <a:cubicBezTo>
                  <a:pt x="25399" y="31718"/>
                  <a:pt x="0" y="25375"/>
                  <a:pt x="0" y="25375"/>
                </a:cubicBezTo>
                <a:close/>
              </a:path>
            </a:pathLst>
          </a:custGeom>
          <a:ln w="10155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5302" y="167678"/>
            <a:ext cx="4144963" cy="303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10" kern="0" spc="-35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도입은 가볍게 시작합니다,</a:t>
            </a:r>
            <a:r>
              <a:rPr lang="en-US" sz="1710" kern="0" spc="-3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진단에서 확산까지</a:t>
            </a:r>
            <a:endParaRPr lang="en-US" sz="1710" dirty="0"/>
          </a:p>
        </p:txBody>
      </p:sp>
      <p:sp>
        <p:nvSpPr>
          <p:cNvPr id="43" name="Text 41"/>
          <p:cNvSpPr txBox="1"/>
          <p:nvPr/>
        </p:nvSpPr>
        <p:spPr>
          <a:xfrm>
            <a:off x="8020916" y="241745"/>
            <a:ext cx="962843" cy="156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85" kern="0" spc="3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03 · Use Cases</a:t>
            </a:r>
            <a:endParaRPr lang="en-US" sz="885" dirty="0"/>
          </a:p>
        </p:txBody>
      </p:sp>
      <p:sp>
        <p:nvSpPr>
          <p:cNvPr id="44" name="Text 42"/>
          <p:cNvSpPr txBox="1"/>
          <p:nvPr/>
        </p:nvSpPr>
        <p:spPr>
          <a:xfrm>
            <a:off x="297172" y="677913"/>
            <a:ext cx="7278077" cy="203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전사를 한 번에 바꾸는 방식이 아닙니다.</a:t>
            </a:r>
            <a:r>
              <a:rPr lang="en-US" sz="975" dirty="0">
                <a:solidFill>
                  <a:srgbClr val="0D9488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PoC로 실제 효과를 먼저 확인</a:t>
            </a:r>
            <a:r>
              <a:rPr lang="en-US" sz="97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하고 검증된 곳부터 넓혀갑니다. 앞의 사례 세 건 모두 이 경로입니다.</a:t>
            </a:r>
            <a:endParaRPr lang="en-US" sz="975" dirty="0"/>
          </a:p>
        </p:txBody>
      </p:sp>
      <p:sp>
        <p:nvSpPr>
          <p:cNvPr id="45" name="Text 43"/>
          <p:cNvSpPr txBox="1"/>
          <p:nvPr/>
        </p:nvSpPr>
        <p:spPr>
          <a:xfrm>
            <a:off x="714128" y="1152659"/>
            <a:ext cx="759851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진단과 기획</a:t>
            </a:r>
            <a:endParaRPr lang="en-US" sz="1080" dirty="0"/>
          </a:p>
        </p:txBody>
      </p:sp>
      <p:sp>
        <p:nvSpPr>
          <p:cNvPr id="46" name="Text 44"/>
          <p:cNvSpPr txBox="1"/>
          <p:nvPr/>
        </p:nvSpPr>
        <p:spPr>
          <a:xfrm>
            <a:off x="3609961" y="1152659"/>
            <a:ext cx="662012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검증</a:t>
            </a:r>
            <a:endParaRPr lang="en-US" sz="1080" dirty="0"/>
          </a:p>
        </p:txBody>
      </p:sp>
      <p:sp>
        <p:nvSpPr>
          <p:cNvPr id="47" name="Text 45"/>
          <p:cNvSpPr txBox="1"/>
          <p:nvPr/>
        </p:nvSpPr>
        <p:spPr>
          <a:xfrm>
            <a:off x="6504879" y="1152659"/>
            <a:ext cx="759851" cy="191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kern="0" spc="-11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단계적 확산</a:t>
            </a:r>
            <a:endParaRPr lang="en-US" sz="1080" dirty="0"/>
          </a:p>
        </p:txBody>
      </p:sp>
      <p:sp>
        <p:nvSpPr>
          <p:cNvPr id="48" name="Text 46"/>
          <p:cNvSpPr txBox="1"/>
          <p:nvPr/>
        </p:nvSpPr>
        <p:spPr>
          <a:xfrm>
            <a:off x="514794" y="1180948"/>
            <a:ext cx="181050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</a:t>
            </a:r>
            <a:endParaRPr lang="en-US" sz="765" dirty="0"/>
          </a:p>
        </p:txBody>
      </p:sp>
      <p:sp>
        <p:nvSpPr>
          <p:cNvPr id="49" name="Text 47"/>
          <p:cNvSpPr txBox="1"/>
          <p:nvPr/>
        </p:nvSpPr>
        <p:spPr>
          <a:xfrm>
            <a:off x="3404226" y="1180948"/>
            <a:ext cx="193852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</a:t>
            </a:r>
            <a:endParaRPr lang="en-US" sz="765" dirty="0"/>
          </a:p>
        </p:txBody>
      </p:sp>
      <p:sp>
        <p:nvSpPr>
          <p:cNvPr id="50" name="Text 48"/>
          <p:cNvSpPr txBox="1"/>
          <p:nvPr/>
        </p:nvSpPr>
        <p:spPr>
          <a:xfrm>
            <a:off x="6299145" y="1180948"/>
            <a:ext cx="195680" cy="13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6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3</a:t>
            </a:r>
            <a:endParaRPr lang="en-US" sz="765" dirty="0"/>
          </a:p>
        </p:txBody>
      </p:sp>
      <p:sp>
        <p:nvSpPr>
          <p:cNvPr id="51" name="Text 49"/>
          <p:cNvSpPr txBox="1"/>
          <p:nvPr/>
        </p:nvSpPr>
        <p:spPr>
          <a:xfrm>
            <a:off x="2489849" y="1186606"/>
            <a:ext cx="50931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1개월 이내</a:t>
            </a:r>
            <a:endParaRPr lang="en-US" sz="705" dirty="0"/>
          </a:p>
        </p:txBody>
      </p:sp>
      <p:sp>
        <p:nvSpPr>
          <p:cNvPr id="52" name="Text 50"/>
          <p:cNvSpPr txBox="1"/>
          <p:nvPr/>
        </p:nvSpPr>
        <p:spPr>
          <a:xfrm>
            <a:off x="5427743" y="1186606"/>
            <a:ext cx="46633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2~3개월</a:t>
            </a:r>
            <a:endParaRPr lang="en-US" sz="705" dirty="0"/>
          </a:p>
        </p:txBody>
      </p:sp>
      <p:sp>
        <p:nvSpPr>
          <p:cNvPr id="53" name="Text 51"/>
          <p:cNvSpPr txBox="1"/>
          <p:nvPr/>
        </p:nvSpPr>
        <p:spPr>
          <a:xfrm>
            <a:off x="8283343" y="1186606"/>
            <a:ext cx="506568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0F766E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4~12개월</a:t>
            </a:r>
            <a:endParaRPr lang="en-US" sz="705" dirty="0"/>
          </a:p>
        </p:txBody>
      </p:sp>
      <p:sp>
        <p:nvSpPr>
          <p:cNvPr id="54" name="Text 52"/>
          <p:cNvSpPr txBox="1"/>
          <p:nvPr/>
        </p:nvSpPr>
        <p:spPr>
          <a:xfrm>
            <a:off x="428843" y="1417549"/>
            <a:ext cx="2653340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환경과 업무를 함께 살펴보고, 효과가 가장 빠른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323761" y="1417549"/>
            <a:ext cx="2647305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핵심 업무 한두 개에 귀사의 실제 데이터로 적용해 효과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219594" y="1417549"/>
            <a:ext cx="2709665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번에 전사를 열지 않습니다. 부서 단위로 나눠 열고 정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28843" y="1600143"/>
            <a:ext cx="892436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영역을 정합니다.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3323761" y="1600143"/>
            <a:ext cx="1018619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를 직접 확인합니다.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219594" y="1600143"/>
            <a:ext cx="1018619" cy="18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착시킨 뒤 넓힙니다.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82459" y="1878407"/>
            <a:ext cx="1357853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업무 흐름 · 데이터 현황 진단</a:t>
            </a:r>
            <a:endParaRPr lang="en-US" sz="855" dirty="0"/>
          </a:p>
        </p:txBody>
      </p:sp>
      <p:sp>
        <p:nvSpPr>
          <p:cNvPr id="61" name="Text 59"/>
          <p:cNvSpPr txBox="1"/>
          <p:nvPr/>
        </p:nvSpPr>
        <p:spPr>
          <a:xfrm>
            <a:off x="3478291" y="1878407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실데이터 연결과 지표 기준 등록</a:t>
            </a:r>
            <a:endParaRPr lang="en-US" sz="855" dirty="0"/>
          </a:p>
        </p:txBody>
      </p:sp>
      <p:sp>
        <p:nvSpPr>
          <p:cNvPr id="62" name="Text 60"/>
          <p:cNvSpPr txBox="1"/>
          <p:nvPr/>
        </p:nvSpPr>
        <p:spPr>
          <a:xfrm>
            <a:off x="6374123" y="1878407"/>
            <a:ext cx="1350539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부서별 온보딩과 사용자 교육</a:t>
            </a:r>
            <a:endParaRPr lang="en-US" sz="855" dirty="0"/>
          </a:p>
        </p:txBody>
      </p:sp>
      <p:sp>
        <p:nvSpPr>
          <p:cNvPr id="63" name="Text 61"/>
          <p:cNvSpPr txBox="1"/>
          <p:nvPr/>
        </p:nvSpPr>
        <p:spPr>
          <a:xfrm>
            <a:off x="582459" y="2092891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적용 우선순위와 목표 지표 합의</a:t>
            </a:r>
            <a:endParaRPr lang="en-US" sz="855" dirty="0"/>
          </a:p>
        </p:txBody>
      </p:sp>
      <p:sp>
        <p:nvSpPr>
          <p:cNvPr id="64" name="Text 62"/>
          <p:cNvSpPr txBox="1"/>
          <p:nvPr/>
        </p:nvSpPr>
        <p:spPr>
          <a:xfrm>
            <a:off x="3478291" y="2092891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현업 시나리오로 답변 품질 검증</a:t>
            </a:r>
            <a:endParaRPr lang="en-US" sz="855" dirty="0"/>
          </a:p>
        </p:txBody>
      </p:sp>
      <p:sp>
        <p:nvSpPr>
          <p:cNvPr id="65" name="Text 63"/>
          <p:cNvSpPr txBox="1"/>
          <p:nvPr/>
        </p:nvSpPr>
        <p:spPr>
          <a:xfrm>
            <a:off x="6374124" y="2092891"/>
            <a:ext cx="1470322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운영 이관과 지표 거버넌스 정착</a:t>
            </a:r>
            <a:endParaRPr lang="en-US" sz="855" dirty="0"/>
          </a:p>
        </p:txBody>
      </p:sp>
      <p:sp>
        <p:nvSpPr>
          <p:cNvPr id="66" name="Text 64"/>
          <p:cNvSpPr txBox="1"/>
          <p:nvPr/>
        </p:nvSpPr>
        <p:spPr>
          <a:xfrm>
            <a:off x="582458" y="2307375"/>
            <a:ext cx="1262759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필요 사양 · 접근 권한 확정</a:t>
            </a:r>
            <a:endParaRPr lang="en-US" sz="855" dirty="0"/>
          </a:p>
        </p:txBody>
      </p:sp>
      <p:sp>
        <p:nvSpPr>
          <p:cNvPr id="67" name="Text 65"/>
          <p:cNvSpPr txBox="1"/>
          <p:nvPr/>
        </p:nvSpPr>
        <p:spPr>
          <a:xfrm>
            <a:off x="3478291" y="2307375"/>
            <a:ext cx="1571083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판단 기준은 킥오프에서 함께 확정</a:t>
            </a:r>
            <a:endParaRPr lang="en-US" sz="855" dirty="0"/>
          </a:p>
        </p:txBody>
      </p:sp>
      <p:sp>
        <p:nvSpPr>
          <p:cNvPr id="68" name="Text 66"/>
          <p:cNvSpPr txBox="1"/>
          <p:nvPr/>
        </p:nvSpPr>
        <p:spPr>
          <a:xfrm>
            <a:off x="6374124" y="2307375"/>
            <a:ext cx="1610309" cy="157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2차 · 3차 과업으로 적용 영역 확대</a:t>
            </a:r>
            <a:endParaRPr lang="en-US" sz="855" dirty="0"/>
          </a:p>
        </p:txBody>
      </p:sp>
      <p:sp>
        <p:nvSpPr>
          <p:cNvPr id="69" name="Text 67"/>
          <p:cNvSpPr txBox="1"/>
          <p:nvPr/>
        </p:nvSpPr>
        <p:spPr>
          <a:xfrm>
            <a:off x="3323761" y="3817506"/>
            <a:ext cx="2656357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 ·</a:t>
            </a:r>
            <a:r>
              <a:rPr lang="en-US" sz="773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PoC 결과 · 효과 측정 리포트</a:t>
            </a:r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- 본 구축 여부와 무관하</a:t>
            </a:r>
            <a:endParaRPr lang="en-US" sz="773" dirty="0"/>
          </a:p>
        </p:txBody>
      </p:sp>
      <p:sp>
        <p:nvSpPr>
          <p:cNvPr id="70" name="Text 68"/>
          <p:cNvSpPr txBox="1"/>
          <p:nvPr/>
        </p:nvSpPr>
        <p:spPr>
          <a:xfrm>
            <a:off x="428843" y="3937864"/>
            <a:ext cx="1444719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 ·</a:t>
            </a:r>
            <a:r>
              <a:rPr lang="en-US" sz="773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진단 리포트, 적용 설계안</a:t>
            </a:r>
            <a:endParaRPr lang="en-US" sz="773" dirty="0"/>
          </a:p>
        </p:txBody>
      </p:sp>
      <p:sp>
        <p:nvSpPr>
          <p:cNvPr id="71" name="Text 69"/>
          <p:cNvSpPr txBox="1"/>
          <p:nvPr/>
        </p:nvSpPr>
        <p:spPr>
          <a:xfrm>
            <a:off x="3323761" y="3937864"/>
            <a:ext cx="416960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게 제공</a:t>
            </a:r>
            <a:endParaRPr lang="en-US" sz="773" dirty="0"/>
          </a:p>
        </p:txBody>
      </p:sp>
      <p:sp>
        <p:nvSpPr>
          <p:cNvPr id="72" name="Text 70"/>
          <p:cNvSpPr txBox="1"/>
          <p:nvPr/>
        </p:nvSpPr>
        <p:spPr>
          <a:xfrm>
            <a:off x="6219593" y="3937864"/>
            <a:ext cx="1444719" cy="137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7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산출물 ·</a:t>
            </a:r>
            <a:r>
              <a:rPr lang="en-US" sz="773" dirty="0">
                <a:solidFill>
                  <a:srgbClr val="1E293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 확산 로드맵, 운영 가이드</a:t>
            </a:r>
            <a:endParaRPr lang="en-US" sz="773" dirty="0"/>
          </a:p>
        </p:txBody>
      </p:sp>
      <p:sp>
        <p:nvSpPr>
          <p:cNvPr id="73" name="Text 71"/>
          <p:cNvSpPr txBox="1"/>
          <p:nvPr/>
        </p:nvSpPr>
        <p:spPr>
          <a:xfrm>
            <a:off x="576972" y="4380205"/>
            <a:ext cx="140540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기존 BI 자산은 버리지 않습니다</a:t>
            </a:r>
            <a:endParaRPr lang="en-US" sz="810" dirty="0"/>
          </a:p>
        </p:txBody>
      </p:sp>
      <p:sp>
        <p:nvSpPr>
          <p:cNvPr id="74" name="Text 72"/>
          <p:cNvSpPr txBox="1"/>
          <p:nvPr/>
        </p:nvSpPr>
        <p:spPr>
          <a:xfrm>
            <a:off x="2736731" y="4380205"/>
            <a:ext cx="83757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병행 운영 뒤 전환</a:t>
            </a:r>
            <a:endParaRPr lang="en-US" sz="810" dirty="0"/>
          </a:p>
        </p:txBody>
      </p:sp>
      <p:sp>
        <p:nvSpPr>
          <p:cNvPr id="75" name="Text 73"/>
          <p:cNvSpPr txBox="1"/>
          <p:nvPr/>
        </p:nvSpPr>
        <p:spPr>
          <a:xfrm>
            <a:off x="4897405" y="4380205"/>
            <a:ext cx="99301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통제된 데이터 안에서</a:t>
            </a:r>
            <a:endParaRPr lang="en-US" sz="810" dirty="0"/>
          </a:p>
        </p:txBody>
      </p:sp>
      <p:sp>
        <p:nvSpPr>
          <p:cNvPr id="76" name="Text 74"/>
          <p:cNvSpPr txBox="1"/>
          <p:nvPr/>
        </p:nvSpPr>
        <p:spPr>
          <a:xfrm>
            <a:off x="7057162" y="4380205"/>
            <a:ext cx="1100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10" dirty="0">
                <a:solidFill>
                  <a:srgbClr val="0F172A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PoC 산출물은 남깁니다</a:t>
            </a:r>
            <a:endParaRPr lang="en-US" sz="810" dirty="0"/>
          </a:p>
        </p:txBody>
      </p:sp>
      <p:sp>
        <p:nvSpPr>
          <p:cNvPr id="77" name="Text 75"/>
          <p:cNvSpPr txBox="1"/>
          <p:nvPr/>
        </p:nvSpPr>
        <p:spPr>
          <a:xfrm>
            <a:off x="576973" y="4528338"/>
            <a:ext cx="1787333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쓰던 화면은 그대로 둔 채 위에 얹고, 이관이 필요</a:t>
            </a:r>
            <a:endParaRPr lang="en-US" sz="683" dirty="0"/>
          </a:p>
        </p:txBody>
      </p:sp>
      <p:sp>
        <p:nvSpPr>
          <p:cNvPr id="78" name="Text 76"/>
          <p:cNvSpPr txBox="1"/>
          <p:nvPr/>
        </p:nvSpPr>
        <p:spPr>
          <a:xfrm>
            <a:off x="2736731" y="4528338"/>
            <a:ext cx="1822537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두 화면의 숫자가 같다는 것을 증명한 뒤에만 전환</a:t>
            </a:r>
            <a:endParaRPr lang="en-US" sz="683" dirty="0"/>
          </a:p>
        </p:txBody>
      </p:sp>
      <p:sp>
        <p:nvSpPr>
          <p:cNvPr id="79" name="Text 77"/>
          <p:cNvSpPr txBox="1"/>
          <p:nvPr/>
        </p:nvSpPr>
        <p:spPr>
          <a:xfrm>
            <a:off x="4897404" y="4528338"/>
            <a:ext cx="1801415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사내 데이터를 밖으로 내보내지 않는 환경으로 구</a:t>
            </a:r>
            <a:endParaRPr lang="en-US" sz="683" dirty="0"/>
          </a:p>
        </p:txBody>
      </p:sp>
      <p:sp>
        <p:nvSpPr>
          <p:cNvPr id="80" name="Text 78"/>
          <p:cNvSpPr txBox="1"/>
          <p:nvPr/>
        </p:nvSpPr>
        <p:spPr>
          <a:xfrm>
            <a:off x="7057163" y="4528338"/>
            <a:ext cx="1822537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재현 화면과 측정 결과는 본 구축 여부와 무관하게</a:t>
            </a:r>
            <a:endParaRPr lang="en-US" sz="683" dirty="0"/>
          </a:p>
        </p:txBody>
      </p:sp>
      <p:sp>
        <p:nvSpPr>
          <p:cNvPr id="81" name="Text 79"/>
          <p:cNvSpPr txBox="1"/>
          <p:nvPr/>
        </p:nvSpPr>
        <p:spPr>
          <a:xfrm>
            <a:off x="576972" y="4649724"/>
            <a:ext cx="1203324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한 것만 단순한 것부터 옮깁니다</a:t>
            </a:r>
            <a:endParaRPr lang="en-US" sz="683" dirty="0"/>
          </a:p>
        </p:txBody>
      </p:sp>
      <p:sp>
        <p:nvSpPr>
          <p:cNvPr id="82" name="Text 80"/>
          <p:cNvSpPr txBox="1"/>
          <p:nvPr/>
        </p:nvSpPr>
        <p:spPr>
          <a:xfrm>
            <a:off x="2736731" y="4649724"/>
            <a:ext cx="364840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합니다</a:t>
            </a:r>
            <a:endParaRPr lang="en-US" sz="683" dirty="0"/>
          </a:p>
        </p:txBody>
      </p:sp>
      <p:sp>
        <p:nvSpPr>
          <p:cNvPr id="83" name="Text 81"/>
          <p:cNvSpPr txBox="1"/>
          <p:nvPr/>
        </p:nvSpPr>
        <p:spPr>
          <a:xfrm>
            <a:off x="4897404" y="4649724"/>
            <a:ext cx="1378884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축하고, 권한은 기존 체계를 따릅니다</a:t>
            </a:r>
            <a:endParaRPr lang="en-US" sz="683" dirty="0"/>
          </a:p>
        </p:txBody>
      </p:sp>
      <p:sp>
        <p:nvSpPr>
          <p:cNvPr id="84" name="Text 82"/>
          <p:cNvSpPr txBox="1"/>
          <p:nvPr/>
        </p:nvSpPr>
        <p:spPr>
          <a:xfrm>
            <a:off x="7057163" y="4649724"/>
            <a:ext cx="860432" cy="121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683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검토 자료로 드립니다</a:t>
            </a:r>
            <a:endParaRPr lang="en-US" sz="683" dirty="0"/>
          </a:p>
        </p:txBody>
      </p:sp>
      <p:sp>
        <p:nvSpPr>
          <p:cNvPr id="85" name="Text 83"/>
          <p:cNvSpPr txBox="1"/>
          <p:nvPr/>
        </p:nvSpPr>
        <p:spPr>
          <a:xfrm>
            <a:off x="4448445" y="4923873"/>
            <a:ext cx="38404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- 34 -</a:t>
            </a:r>
            <a:endParaRPr lang="en-US" sz="705" dirty="0"/>
          </a:p>
        </p:txBody>
      </p:sp>
      <p:sp>
        <p:nvSpPr>
          <p:cNvPr id="86" name="Text 84"/>
          <p:cNvSpPr txBox="1"/>
          <p:nvPr/>
        </p:nvSpPr>
        <p:spPr>
          <a:xfrm>
            <a:off x="8053834" y="4923873"/>
            <a:ext cx="92992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</a:t>
            </a:r>
            <a:endParaRPr lang="en-US" sz="70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2E11A-777E-1927-D439-594BD799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B7C01D-FDF0-3708-5508-DA70C2E6B3C9}"/>
              </a:ext>
            </a:extLst>
          </p:cNvPr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-400" dirty="0">
                <a:solidFill>
                  <a:srgbClr val="41C0C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04.</a:t>
            </a:r>
            <a:endParaRPr lang="en-US" sz="1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4B84C0-4264-C620-95C3-05B10C43BF4C}"/>
              </a:ext>
            </a:extLst>
          </p:cNvPr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3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Appendix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01F05F-8B06-E993-B01D-9EADB1DCEFB2}"/>
              </a:ext>
            </a:extLst>
          </p:cNvPr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E5E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601425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9463-D839-E890-4B1D-30B870B1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A5558206-40B7-F244-E14D-ED1BA4E4B960}"/>
              </a:ext>
            </a:extLst>
          </p:cNvPr>
          <p:cNvSpPr/>
          <p:nvPr/>
        </p:nvSpPr>
        <p:spPr>
          <a:xfrm>
            <a:off x="6800850" y="1120359"/>
            <a:ext cx="2164646" cy="1257081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9525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>
              <a:latin typeface="+mn-ea"/>
            </a:endParaRPr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C9BDCE47-06C5-F365-FC70-53A353C68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기업 확인서 및 </a:t>
            </a:r>
            <a:r>
              <a:rPr lang="en-US" altLang="ko-KR" b="0" dirty="0">
                <a:latin typeface="SUIT ExtraBold" pitchFamily="2" charset="-127"/>
                <a:ea typeface="SUIT ExtraBold" pitchFamily="2" charset="-127"/>
              </a:rPr>
              <a:t>AI 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관련 특허 증빙 자료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22D916BF-BBD5-AFBA-1EF4-6BEE47EB8F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04 ·  Appendix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0DB6C-A0B1-930B-7250-40F183C86252}"/>
              </a:ext>
            </a:extLst>
          </p:cNvPr>
          <p:cNvSpPr txBox="1"/>
          <p:nvPr/>
        </p:nvSpPr>
        <p:spPr>
          <a:xfrm>
            <a:off x="284844" y="717889"/>
            <a:ext cx="3172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u="sng" dirty="0">
                <a:latin typeface="SUIT" pitchFamily="2" charset="-127"/>
                <a:ea typeface="SUIT" pitchFamily="2" charset="-127"/>
              </a:rPr>
              <a:t>벤처기업 확인서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15B7B-C9AA-EFC3-67F8-18F2B99E0EA3}"/>
              </a:ext>
            </a:extLst>
          </p:cNvPr>
          <p:cNvSpPr txBox="1"/>
          <p:nvPr/>
        </p:nvSpPr>
        <p:spPr>
          <a:xfrm>
            <a:off x="6800850" y="1199347"/>
            <a:ext cx="2164645" cy="1039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04619">
              <a:lnSpc>
                <a:spcPts val="1452"/>
              </a:lnSpc>
              <a:spcBef>
                <a:spcPct val="20000"/>
              </a:spcBef>
              <a:buClr>
                <a:srgbClr val="000000"/>
              </a:buClr>
              <a:buSzPts val="1050"/>
            </a:pPr>
            <a:r>
              <a:rPr lang="en-US" altLang="ko-KR" sz="1050" dirty="0">
                <a:latin typeface="SUIT" pitchFamily="2" charset="-127"/>
                <a:ea typeface="SUIT" pitchFamily="2" charset="-127"/>
              </a:rPr>
              <a:t>RAG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와 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NLP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를 활용해 자연어 질의를 정확한 데이터 분석과 인사이트로 연결하고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,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기존 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BI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자산까지 통합 활용하는 </a:t>
            </a:r>
            <a:r>
              <a:rPr lang="en-US" altLang="ko-KR" sz="1050" dirty="0">
                <a:latin typeface="SUIT" pitchFamily="2" charset="-127"/>
                <a:ea typeface="SUIT" pitchFamily="2" charset="-127"/>
              </a:rPr>
              <a:t>AI </a:t>
            </a:r>
            <a:r>
              <a:rPr lang="ko-KR" altLang="en-US" sz="1050" dirty="0">
                <a:latin typeface="SUIT" pitchFamily="2" charset="-127"/>
                <a:ea typeface="SUIT" pitchFamily="2" charset="-127"/>
              </a:rPr>
              <a:t>기반 지능형 분석 플랫폼 기술에 관한 특허입니다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614CA-D326-A5FB-3A33-210304025871}"/>
              </a:ext>
            </a:extLst>
          </p:cNvPr>
          <p:cNvSpPr txBox="1"/>
          <p:nvPr/>
        </p:nvSpPr>
        <p:spPr>
          <a:xfrm>
            <a:off x="3026237" y="717889"/>
            <a:ext cx="3021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u="sng" dirty="0">
                <a:latin typeface="SUIT" pitchFamily="2" charset="-127"/>
                <a:ea typeface="SUIT" pitchFamily="2" charset="-127"/>
              </a:rPr>
              <a:t>특허 출원서</a:t>
            </a:r>
          </a:p>
        </p:txBody>
      </p:sp>
      <p:pic>
        <p:nvPicPr>
          <p:cNvPr id="11" name="그림 10" descr="텍스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7972FA-8AF7-C1C7-B600-613CCDE0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69" y="1101749"/>
            <a:ext cx="2705931" cy="3512801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88D7F5-3BF5-938B-C45E-7710774946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086"/>
          <a:stretch>
            <a:fillRect/>
          </a:stretch>
        </p:blipFill>
        <p:spPr>
          <a:xfrm>
            <a:off x="2857500" y="1056443"/>
            <a:ext cx="3779095" cy="3512801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342DC2C8-B245-2D02-1C60-9E11E4F05EC3}"/>
              </a:ext>
            </a:extLst>
          </p:cNvPr>
          <p:cNvSpPr/>
          <p:nvPr/>
        </p:nvSpPr>
        <p:spPr>
          <a:xfrm>
            <a:off x="6222313" y="1481132"/>
            <a:ext cx="496409" cy="595325"/>
          </a:xfrm>
          <a:prstGeom prst="rightArrow">
            <a:avLst/>
          </a:prstGeom>
          <a:solidFill>
            <a:srgbClr val="C8E5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2" dirty="0">
              <a:latin typeface="SUIT" pitchFamily="2" charset="-127"/>
              <a:ea typeface="SUI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31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1683-0862-F5AB-F671-A53138A7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21">
            <a:extLst>
              <a:ext uri="{FF2B5EF4-FFF2-40B4-BE49-F238E27FC236}">
                <a16:creationId xmlns:a16="http://schemas.microsoft.com/office/drawing/2014/main" id="{B0B03F48-1204-6B21-4C48-87481988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SUIT ExtraBold" pitchFamily="2" charset="-127"/>
                <a:ea typeface="SUIT ExtraBold" pitchFamily="2" charset="-127"/>
              </a:rPr>
              <a:t>세일링스톤</a:t>
            </a:r>
            <a:r>
              <a:rPr lang="ko-KR" altLang="en-US" b="0" dirty="0">
                <a:latin typeface="SUIT ExtraBold" pitchFamily="2" charset="-127"/>
                <a:ea typeface="SUIT ExtraBold" pitchFamily="2" charset="-127"/>
              </a:rPr>
              <a:t> 신용도 및 기술역량 평가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5715DA62-E54F-F082-453D-D360B3993E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defRPr/>
            </a:pPr>
            <a:r>
              <a:rPr lang="en-US" altLang="ko-KR" dirty="0">
                <a:solidFill>
                  <a:srgbClr val="98A2A3"/>
                </a:solidFill>
                <a:latin typeface="SUIT" pitchFamily="2" charset="-127"/>
                <a:ea typeface="SUIT" pitchFamily="2" charset="-127"/>
              </a:rPr>
              <a:t>04 ·  Appendix</a:t>
            </a: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  <a:p>
            <a:pPr marL="0" indent="0">
              <a:spcBef>
                <a:spcPts val="0"/>
              </a:spcBef>
              <a:defRPr/>
            </a:pPr>
            <a:endParaRPr lang="en-US" altLang="ko-KR" dirty="0">
              <a:solidFill>
                <a:srgbClr val="98A2A3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958F7-0B4B-A794-F218-A4FCB5470D23}"/>
              </a:ext>
            </a:extLst>
          </p:cNvPr>
          <p:cNvSpPr txBox="1"/>
          <p:nvPr/>
        </p:nvSpPr>
        <p:spPr>
          <a:xfrm>
            <a:off x="460763" y="672615"/>
            <a:ext cx="3172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>
                <a:latin typeface="SUIT" pitchFamily="2" charset="-127"/>
                <a:ea typeface="SUIT" pitchFamily="2" charset="-127"/>
              </a:rPr>
              <a:t>신용평가 보고서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EADDE-A994-7DF1-351F-93C8698DAF14}"/>
              </a:ext>
            </a:extLst>
          </p:cNvPr>
          <p:cNvSpPr txBox="1"/>
          <p:nvPr/>
        </p:nvSpPr>
        <p:spPr>
          <a:xfrm>
            <a:off x="3312387" y="672615"/>
            <a:ext cx="31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u="sng" dirty="0">
                <a:latin typeface="SUIT" pitchFamily="2" charset="-127"/>
                <a:ea typeface="SUIT" pitchFamily="2" charset="-127"/>
              </a:rPr>
              <a:t>기술신용평가서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758A10-22A2-A748-EC2B-576AAD8CC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87" y="1024877"/>
            <a:ext cx="2697201" cy="3848782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A329AD-0D76-0640-5A7D-8CD1F6564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3" y="980394"/>
            <a:ext cx="2673651" cy="38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70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32" y="217057"/>
            <a:ext cx="3141800" cy="239687"/>
          </a:xfrm>
          <a:prstGeom prst="roundRect">
            <a:avLst>
              <a:gd name="adj" fmla="val 50000"/>
            </a:avLst>
          </a:prstGeom>
          <a:ln w="762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20032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821439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01895" y="3123134"/>
            <a:ext cx="686" cy="29112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435" y="1618145"/>
            <a:ext cx="1600160" cy="19072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47851" y="260776"/>
            <a:ext cx="1313049" cy="15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55" kern="0" spc="26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Intelligence with Data</a:t>
            </a:r>
            <a:endParaRPr lang="en-US" sz="855" dirty="0"/>
          </a:p>
        </p:txBody>
      </p:sp>
      <p:sp>
        <p:nvSpPr>
          <p:cNvPr id="8" name="Text 5"/>
          <p:cNvSpPr txBox="1"/>
          <p:nvPr/>
        </p:nvSpPr>
        <p:spPr>
          <a:xfrm>
            <a:off x="508394" y="271577"/>
            <a:ext cx="304057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48" dirty="0">
                <a:solidFill>
                  <a:srgbClr val="2DD4BF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SAILINGSTONE · CORPORATE INTRODUCTION</a:t>
            </a:r>
            <a:endParaRPr lang="en-US" sz="735" dirty="0"/>
          </a:p>
        </p:txBody>
      </p:sp>
      <p:sp>
        <p:nvSpPr>
          <p:cNvPr id="9" name="Text 6"/>
          <p:cNvSpPr txBox="1"/>
          <p:nvPr/>
        </p:nvSpPr>
        <p:spPr>
          <a:xfrm>
            <a:off x="320032" y="1403147"/>
            <a:ext cx="3897533" cy="485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060" kern="0" spc="-92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비즈니스 바다로의 항해,</a:t>
            </a:r>
            <a:endParaRPr lang="en-US" sz="3060" dirty="0"/>
          </a:p>
        </p:txBody>
      </p:sp>
      <p:sp>
        <p:nvSpPr>
          <p:cNvPr id="10" name="Text 7"/>
          <p:cNvSpPr txBox="1"/>
          <p:nvPr/>
        </p:nvSpPr>
        <p:spPr>
          <a:xfrm>
            <a:off x="320032" y="1854232"/>
            <a:ext cx="2720729" cy="485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060" kern="0" spc="-9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함께 하겠습니다.</a:t>
            </a:r>
            <a:endParaRPr lang="en-US" sz="3060" dirty="0"/>
          </a:p>
        </p:txBody>
      </p:sp>
      <p:sp>
        <p:nvSpPr>
          <p:cNvPr id="11" name="Text 8"/>
          <p:cNvSpPr txBox="1"/>
          <p:nvPr/>
        </p:nvSpPr>
        <p:spPr>
          <a:xfrm>
            <a:off x="320032" y="2471966"/>
            <a:ext cx="5097470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데이터 기반 구축부터 AI 에이전트 운영까지, 전 과정을 직접 수행하는 팀이 함께합니다.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320032" y="2697766"/>
            <a:ext cx="3577684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필요하신 자료나 사전 검토가 있으시면 편하게 요청해 주세요.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445302" y="3114904"/>
            <a:ext cx="758022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HOMEPAGE</a:t>
            </a:r>
            <a:endParaRPr lang="en-US" sz="705" dirty="0"/>
          </a:p>
        </p:txBody>
      </p:sp>
      <p:sp>
        <p:nvSpPr>
          <p:cNvPr id="14" name="Text 11"/>
          <p:cNvSpPr txBox="1"/>
          <p:nvPr/>
        </p:nvSpPr>
        <p:spPr>
          <a:xfrm>
            <a:off x="1946709" y="3114904"/>
            <a:ext cx="541315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OFFICE</a:t>
            </a:r>
            <a:endParaRPr lang="en-US" sz="705" dirty="0"/>
          </a:p>
        </p:txBody>
      </p:sp>
      <p:sp>
        <p:nvSpPr>
          <p:cNvPr id="15" name="Text 12"/>
          <p:cNvSpPr txBox="1"/>
          <p:nvPr/>
        </p:nvSpPr>
        <p:spPr>
          <a:xfrm>
            <a:off x="4227166" y="3114904"/>
            <a:ext cx="708646" cy="124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05" kern="0" spc="98" dirty="0">
                <a:solidFill>
                  <a:srgbClr val="64748B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SOLUTION</a:t>
            </a:r>
            <a:endParaRPr lang="en-US" sz="705" dirty="0"/>
          </a:p>
        </p:txBody>
      </p:sp>
      <p:sp>
        <p:nvSpPr>
          <p:cNvPr id="16" name="Text 13"/>
          <p:cNvSpPr txBox="1"/>
          <p:nvPr/>
        </p:nvSpPr>
        <p:spPr>
          <a:xfrm>
            <a:off x="445303" y="3256350"/>
            <a:ext cx="1261844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www.sailingstone.io</a:t>
            </a:r>
            <a:endParaRPr lang="en-US" sz="945" dirty="0"/>
          </a:p>
        </p:txBody>
      </p:sp>
      <p:sp>
        <p:nvSpPr>
          <p:cNvPr id="17" name="Text 14"/>
          <p:cNvSpPr txBox="1"/>
          <p:nvPr/>
        </p:nvSpPr>
        <p:spPr>
          <a:xfrm>
            <a:off x="1946709" y="3256350"/>
            <a:ext cx="2093101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서울특별시 강서구 마곡중앙5로 22, 9층</a:t>
            </a:r>
            <a:endParaRPr lang="en-US" sz="945" dirty="0"/>
          </a:p>
        </p:txBody>
      </p:sp>
      <p:sp>
        <p:nvSpPr>
          <p:cNvPr id="18" name="Text 15"/>
          <p:cNvSpPr txBox="1"/>
          <p:nvPr/>
        </p:nvSpPr>
        <p:spPr>
          <a:xfrm>
            <a:off x="4227166" y="3256350"/>
            <a:ext cx="2946032" cy="168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5" dirty="0">
                <a:solidFill>
                  <a:srgbClr val="FFFFF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aisight · Apps</a:t>
            </a:r>
            <a:r>
              <a:rPr lang="en-US" sz="825" dirty="0">
                <a:solidFill>
                  <a:srgbClr val="94A3B8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 · Insight Mate · bibidi 연말정산 · Tableau</a:t>
            </a:r>
            <a:endParaRPr lang="en-US" sz="945" dirty="0"/>
          </a:p>
        </p:txBody>
      </p:sp>
      <p:sp>
        <p:nvSpPr>
          <p:cNvPr id="19" name="Text 16"/>
          <p:cNvSpPr txBox="1"/>
          <p:nvPr/>
        </p:nvSpPr>
        <p:spPr>
          <a:xfrm>
            <a:off x="320032" y="3577819"/>
            <a:ext cx="3929719" cy="147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25" kern="0" spc="182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MAKE DATA SMARTER, MAKE DECISIONS FASTER.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320032" y="4849292"/>
            <a:ext cx="1336823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2DD4BF"/>
                </a:solidFill>
                <a:latin typeface="SUIT ExtraBold" pitchFamily="34" charset="0"/>
                <a:ea typeface="SUIT ExtraBold" pitchFamily="34" charset="-122"/>
                <a:cs typeface="SUIT ExtraBold" pitchFamily="34" charset="-120"/>
              </a:rPr>
              <a:t>AI · BI · ANALYTICS</a:t>
            </a:r>
            <a:endParaRPr lang="en-US" sz="735" dirty="0"/>
          </a:p>
        </p:txBody>
      </p:sp>
      <p:sp>
        <p:nvSpPr>
          <p:cNvPr id="21" name="Text 18"/>
          <p:cNvSpPr txBox="1"/>
          <p:nvPr/>
        </p:nvSpPr>
        <p:spPr>
          <a:xfrm>
            <a:off x="1623020" y="4849292"/>
            <a:ext cx="180136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475569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|</a:t>
            </a:r>
            <a:endParaRPr lang="en-US" sz="735" dirty="0"/>
          </a:p>
        </p:txBody>
      </p:sp>
      <p:sp>
        <p:nvSpPr>
          <p:cNvPr id="22" name="Text 19"/>
          <p:cNvSpPr txBox="1"/>
          <p:nvPr/>
        </p:nvSpPr>
        <p:spPr>
          <a:xfrm>
            <a:off x="1768406" y="4849292"/>
            <a:ext cx="146117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735" kern="0" spc="118" dirty="0">
                <a:solidFill>
                  <a:srgbClr val="64748B"/>
                </a:solidFill>
                <a:latin typeface="SUIT Medium" pitchFamily="34" charset="0"/>
                <a:ea typeface="SUIT Medium" pitchFamily="34" charset="-122"/>
                <a:cs typeface="SUIT Medium" pitchFamily="34" charset="-120"/>
              </a:rPr>
              <a:t>© 2026 SAILINGSTONE</a:t>
            </a:r>
            <a:endParaRPr lang="en-US" sz="7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772137325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UIT" panose="020F03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ajorFont>
      <a:minorFont>
        <a:latin typeface="SUIT" panose="020F0502020204030204"/>
        <a:ea typeface="SUIT"/>
        <a:cs typeface="SUIT"/>
        <a:font script="Jpan" typeface="SUIT"/>
        <a:font script="Hang" typeface="SUIT"/>
        <a:font script="Hans" typeface="SUIT"/>
        <a:font script="Hant" typeface="SUIT"/>
        <a:font script="Arab" typeface="SUIT"/>
        <a:font script="Hebr" typeface="SUIT"/>
        <a:font script="Thai" typeface="SUIT"/>
        <a:font script="Ethi" typeface="SUIT"/>
        <a:font script="Beng" typeface="SUIT"/>
        <a:font script="Gujr" typeface="SUIT"/>
        <a:font script="Khmr" typeface="SUIT"/>
        <a:font script="Knda" typeface="SUIT"/>
        <a:font script="Guru" typeface="SUIT"/>
        <a:font script="Cans" typeface="SUIT"/>
        <a:font script="Cher" typeface="SUIT"/>
        <a:font script="Yiii" typeface="SUIT"/>
        <a:font script="Tibt" typeface="SUIT"/>
        <a:font script="Thaa" typeface="SUIT"/>
        <a:font script="Deva" typeface="SUIT"/>
        <a:font script="Telu" typeface="SUIT"/>
        <a:font script="Taml" typeface="SUIT"/>
        <a:font script="Syrc" typeface="SUIT"/>
        <a:font script="Orya" typeface="SUIT"/>
        <a:font script="Mlym" typeface="SUIT"/>
        <a:font script="Laoo" typeface="SUIT"/>
        <a:font script="Sinh" typeface="SUIT"/>
        <a:font script="Mong" typeface="SUIT"/>
        <a:font script="Viet" typeface="SUIT"/>
        <a:font script="Uigh" typeface="SUIT"/>
        <a:font script="Geor" typeface="SUIT"/>
        <a:font script="Armn" typeface="SUIT"/>
        <a:font script="Bugi" typeface="SUIT"/>
        <a:font script="Bopo" typeface="SUIT"/>
        <a:font script="Java" typeface="SUIT"/>
        <a:font script="Lisu" typeface="SUIT"/>
        <a:font script="Mymr" typeface="SUIT"/>
        <a:font script="Nkoo" typeface="SUIT"/>
        <a:font script="Olck" typeface="SUIT"/>
        <a:font script="Osma" typeface="SUIT"/>
        <a:font script="Phag" typeface="SUIT"/>
        <a:font script="Syrn" typeface="SUIT"/>
        <a:font script="Syrj" typeface="SUIT"/>
        <a:font script="Syre" typeface="SUIT"/>
        <a:font script="Sora" typeface="SUIT"/>
        <a:font script="Tale" typeface="SUIT"/>
        <a:font script="Talu" typeface="SUIT"/>
        <a:font script="Tfng" typeface="SU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4BB92A4-AF75-4F5F-8B72-79CB1FBE9B3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c389c9-ab2d-4a97-b7bf-b9bfd61821d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E78EC0-DC14-48FE-AD0D-BA7B8E1EEA52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3e2c9e3a-b71e-40a2-b08c-f5fdbc76d23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23296</TotalTime>
  <Words>7056</Words>
  <Application>Microsoft Office PowerPoint</Application>
  <PresentationFormat>화면 슬라이드 쇼(16:9)</PresentationFormat>
  <Paragraphs>1268</Paragraphs>
  <Slides>38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Noto Sans KR</vt:lpstr>
      <vt:lpstr>SUIT ExtraBold</vt:lpstr>
      <vt:lpstr>SUIT Light</vt:lpstr>
      <vt:lpstr>Urbanist</vt:lpstr>
      <vt:lpstr>SUIT</vt:lpstr>
      <vt:lpstr>Wingdings</vt:lpstr>
      <vt:lpstr>Arial</vt:lpstr>
      <vt:lpstr>SUIT Medium</vt:lpstr>
      <vt:lpstr>Office Theme [1781772137325]</vt:lpstr>
      <vt:lpstr>PowerPoint 프레젠테이션</vt:lpstr>
      <vt:lpstr>PowerPoint 프레젠테이션</vt:lpstr>
      <vt:lpstr>PowerPoint 프레젠테이션</vt:lpstr>
      <vt:lpstr>세일링스톤 기업 개요</vt:lpstr>
      <vt:lpstr>핵심 역량, 주요 사업 영역</vt:lpstr>
      <vt:lpstr>세일링스톤 비즈니스 하이라이트 (Business Highlights)</vt:lpstr>
      <vt:lpstr>설립은 7년, 팀워크는 약 10년</vt:lpstr>
      <vt:lpstr>유기적 협업 인프라, 조직 및 인력구성</vt:lpstr>
      <vt:lpstr>진화하는 파트너십, 다양한 프로젝트 레퍼런스</vt:lpstr>
      <vt:lpstr>PowerPoint 프레젠테이션</vt:lpstr>
      <vt:lpstr>왜 세일링스톤인가, AI 혁신 파트너의 조건</vt:lpstr>
      <vt:lpstr>PowerPoint 프레젠테이션</vt:lpstr>
      <vt:lpstr>aisight 솔루션 개요</vt:lpstr>
      <vt:lpstr>aisight - 차세대 AI 기반 BI 아키텍처</vt:lpstr>
      <vt:lpstr>aisight Work Space - 인텔리전스 자산화 및 전사 협업 포털</vt:lpstr>
      <vt:lpstr>aisight Ops - 전사 AI 통합 관제 사령탑</vt:lpstr>
      <vt:lpstr>지능형 LLM 위키(Wiki) 및 전사 지식 자산화 파이프라인</vt:lpstr>
      <vt:lpstr>PowerPoint 프레젠테이션</vt:lpstr>
      <vt:lpstr>PowerPoint 프레젠테이션</vt:lpstr>
      <vt:lpstr>PowerPoint 프레젠테이션</vt:lpstr>
      <vt:lpstr>Insight Mate (Excel - Plug In)</vt:lpstr>
      <vt:lpstr>Tableau Extension 지원 아키텍처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현장이 '말로 묻고' 검증된 답을 얻는다</vt:lpstr>
      <vt:lpstr>흩어진 현장 노하우가 'AI 지식 자산'이 된다</vt:lpstr>
      <vt:lpstr>AI의 모든 판단을 '추적'하고 '신뢰'한다</vt:lpstr>
      <vt:lpstr>PowerPoint 프레젠테이션</vt:lpstr>
      <vt:lpstr>PowerPoint 프레젠테이션</vt:lpstr>
      <vt:lpstr>기업 확인서 및 AI 관련 특허 증빙 자료</vt:lpstr>
      <vt:lpstr>세일링스톤 신용도 및 기술역량 평가</vt:lpstr>
      <vt:lpstr>PowerPoint 프레젠테이션</vt:lpstr>
    </vt:vector>
  </TitlesOfParts>
  <Company>SailingStone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세일링스톤 회사소개서</dc:title>
  <dc:subject>PptxGenJS Presentation</dc:subject>
  <dc:creator>SailingStone</dc:creator>
  <cp:lastModifiedBy>준홍 민</cp:lastModifiedBy>
  <cp:revision>106</cp:revision>
  <dcterms:created xsi:type="dcterms:W3CDTF">2026-05-21T10:23:19Z</dcterms:created>
  <dcterms:modified xsi:type="dcterms:W3CDTF">2026-10-08T07:53:33Z</dcterms:modified>
</cp:coreProperties>
</file>