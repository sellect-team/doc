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06.svg" ContentType="image/svg+xml"/>
  <Override PartName="/ppt/media/image107.svg" ContentType="image/svg+xml"/>
  <Override PartName="/ppt/media/image108.svg" ContentType="image/svg+xml"/>
  <Override PartName="/ppt/media/image109.svg" ContentType="image/svg+xml"/>
  <Override PartName="/ppt/media/image11.svg" ContentType="image/svg+xml"/>
  <Override PartName="/ppt/media/image110.svg" ContentType="image/svg+xml"/>
  <Override PartName="/ppt/media/image111.svg" ContentType="image/svg+xml"/>
  <Override PartName="/ppt/media/image112.svg" ContentType="image/svg+xml"/>
  <Override PartName="/ppt/media/image113.svg" ContentType="image/svg+xml"/>
  <Override PartName="/ppt/media/image114.svg" ContentType="image/svg+xml"/>
  <Override PartName="/ppt/media/image115.svg" ContentType="image/svg+xml"/>
  <Override PartName="/ppt/media/image116.svg" ContentType="image/svg+xml"/>
  <Override PartName="/ppt/media/image118.svg" ContentType="image/svg+xml"/>
  <Override PartName="/ppt/media/image119.svg" ContentType="image/svg+xml"/>
  <Override PartName="/ppt/media/image12.svg" ContentType="image/svg+xml"/>
  <Override PartName="/ppt/media/image120.svg" ContentType="image/svg+xml"/>
  <Override PartName="/ppt/media/image121.svg" ContentType="image/svg+xml"/>
  <Override PartName="/ppt/media/image122.svg" ContentType="image/svg+xml"/>
  <Override PartName="/ppt/media/image123.svg" ContentType="image/svg+xml"/>
  <Override PartName="/ppt/media/image124.svg" ContentType="image/svg+xml"/>
  <Override PartName="/ppt/media/image125.svg" ContentType="image/svg+xml"/>
  <Override PartName="/ppt/media/image126.svg" ContentType="image/svg+xml"/>
  <Override PartName="/ppt/media/image127.svg" ContentType="image/svg+xml"/>
  <Override PartName="/ppt/media/image128.svg" ContentType="image/svg+xml"/>
  <Override PartName="/ppt/media/image129.svg" ContentType="image/svg+xml"/>
  <Override PartName="/ppt/media/image13.svg" ContentType="image/svg+xml"/>
  <Override PartName="/ppt/media/image130.svg" ContentType="image/svg+xml"/>
  <Override PartName="/ppt/media/image131.svg" ContentType="image/svg+xml"/>
  <Override PartName="/ppt/media/image132.svg" ContentType="image/svg+xml"/>
  <Override PartName="/ppt/media/image133.svg" ContentType="image/svg+xml"/>
  <Override PartName="/ppt/media/image134.svg" ContentType="image/svg+xml"/>
  <Override PartName="/ppt/media/image135.svg" ContentType="image/svg+xml"/>
  <Override PartName="/ppt/media/image136.svg" ContentType="image/svg+xml"/>
  <Override PartName="/ppt/media/image137.svg" ContentType="image/svg+xml"/>
  <Override PartName="/ppt/media/image138.svg" ContentType="image/svg+xml"/>
  <Override PartName="/ppt/media/image139.svg" ContentType="image/svg+xml"/>
  <Override PartName="/ppt/media/image14.svg" ContentType="image/svg+xml"/>
  <Override PartName="/ppt/media/image140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5.svg" ContentType="image/svg+xml"/>
  <Override PartName="/ppt/media/image96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7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34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256" r:id="rId19"/>
    <p:sldId id="257" r:id="rId20"/>
    <p:sldId id="258" r:id="rId21"/>
    <p:sldId id="623" r:id="rId22"/>
    <p:sldId id="635" r:id="rId23"/>
    <p:sldId id="625" r:id="rId24"/>
    <p:sldId id="597" r:id="rId25"/>
    <p:sldId id="624" r:id="rId26"/>
    <p:sldId id="259" r:id="rId27"/>
    <p:sldId id="260" r:id="rId28"/>
    <p:sldId id="261" r:id="rId29"/>
    <p:sldId id="617" r:id="rId30"/>
    <p:sldId id="626" r:id="rId31"/>
    <p:sldId id="627" r:id="rId32"/>
    <p:sldId id="628" r:id="rId33"/>
    <p:sldId id="629" r:id="rId34"/>
    <p:sldId id="630" r:id="rId35"/>
    <p:sldId id="264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34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256"/>
            <p14:sldId id="257"/>
            <p14:sldId id="258"/>
            <p14:sldId id="623"/>
            <p14:sldId id="635"/>
            <p14:sldId id="625"/>
            <p14:sldId id="597"/>
            <p14:sldId id="624"/>
            <p14:sldId id="259"/>
            <p14:sldId id="260"/>
            <p14:sldId id="26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7.emf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svg"/><Relationship Id="rId4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svg"/><Relationship Id="rId4" Type="http://schemas.openxmlformats.org/officeDocument/2006/relationships/image" Target="../media/image12.svg"/><Relationship Id="rId5" Type="http://schemas.openxmlformats.org/officeDocument/2006/relationships/image" Target="../media/image13.svg"/><Relationship Id="rId6" Type="http://schemas.openxmlformats.org/officeDocument/2006/relationships/image" Target="../media/image14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svg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image" Target="../media/image23.svg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25.svg"/><Relationship Id="rId11" Type="http://schemas.openxmlformats.org/officeDocument/2006/relationships/image" Target="../media/image26.svg"/><Relationship Id="rId12" Type="http://schemas.openxmlformats.org/officeDocument/2006/relationships/image" Target="../media/image34.svg"/><Relationship Id="rId13" Type="http://schemas.openxmlformats.org/officeDocument/2006/relationships/image" Target="../media/image35.svg"/><Relationship Id="rId14" Type="http://schemas.openxmlformats.org/officeDocument/2006/relationships/image" Target="../media/image36.svg"/><Relationship Id="rId15" Type="http://schemas.openxmlformats.org/officeDocument/2006/relationships/image" Target="../media/image37.svg"/><Relationship Id="rId16" Type="http://schemas.openxmlformats.org/officeDocument/2006/relationships/image" Target="../media/image38.svg"/><Relationship Id="rId17" Type="http://schemas.openxmlformats.org/officeDocument/2006/relationships/image" Target="../media/image3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0.svg"/><Relationship Id="rId4" Type="http://schemas.openxmlformats.org/officeDocument/2006/relationships/image" Target="../media/image41.svg"/><Relationship Id="rId5" Type="http://schemas.openxmlformats.org/officeDocument/2006/relationships/image" Target="../media/image42.svg"/><Relationship Id="rId6" Type="http://schemas.openxmlformats.org/officeDocument/2006/relationships/image" Target="../media/image43.svg"/><Relationship Id="rId7" Type="http://schemas.openxmlformats.org/officeDocument/2006/relationships/image" Target="../media/image44.svg"/><Relationship Id="rId8" Type="http://schemas.openxmlformats.org/officeDocument/2006/relationships/image" Target="../media/image45.svg"/><Relationship Id="rId9" Type="http://schemas.openxmlformats.org/officeDocument/2006/relationships/image" Target="../media/image46.svg"/><Relationship Id="rId10" Type="http://schemas.openxmlformats.org/officeDocument/2006/relationships/image" Target="../media/image47.svg"/><Relationship Id="rId11" Type="http://schemas.openxmlformats.org/officeDocument/2006/relationships/image" Target="../media/image48.svg"/><Relationship Id="rId12" Type="http://schemas.openxmlformats.org/officeDocument/2006/relationships/image" Target="../media/image49.svg"/><Relationship Id="rId13" Type="http://schemas.openxmlformats.org/officeDocument/2006/relationships/image" Target="../media/image50.svg"/><Relationship Id="rId14" Type="http://schemas.openxmlformats.org/officeDocument/2006/relationships/image" Target="../media/image51.svg"/><Relationship Id="rId15" Type="http://schemas.openxmlformats.org/officeDocument/2006/relationships/image" Target="../media/image52.svg"/><Relationship Id="rId16" Type="http://schemas.openxmlformats.org/officeDocument/2006/relationships/image" Target="../media/image53.svg"/><Relationship Id="rId17" Type="http://schemas.openxmlformats.org/officeDocument/2006/relationships/image" Target="../media/image54.svg"/><Relationship Id="rId18" Type="http://schemas.openxmlformats.org/officeDocument/2006/relationships/image" Target="../media/image55.svg"/><Relationship Id="rId19" Type="http://schemas.openxmlformats.org/officeDocument/2006/relationships/image" Target="../media/image56.svg"/><Relationship Id="rId20" Type="http://schemas.openxmlformats.org/officeDocument/2006/relationships/image" Target="../media/image57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svg"/><Relationship Id="rId4" Type="http://schemas.openxmlformats.org/officeDocument/2006/relationships/image" Target="../media/image58.svg"/><Relationship Id="rId5" Type="http://schemas.openxmlformats.org/officeDocument/2006/relationships/image" Target="../media/image39.svg"/><Relationship Id="rId6" Type="http://schemas.openxmlformats.org/officeDocument/2006/relationships/image" Target="../media/image59.svg"/><Relationship Id="rId7" Type="http://schemas.openxmlformats.org/officeDocument/2006/relationships/image" Target="../media/image60.svg"/><Relationship Id="rId8" Type="http://schemas.openxmlformats.org/officeDocument/2006/relationships/image" Target="../media/image61.svg"/><Relationship Id="rId9" Type="http://schemas.openxmlformats.org/officeDocument/2006/relationships/image" Target="../media/image62.svg"/><Relationship Id="rId10" Type="http://schemas.openxmlformats.org/officeDocument/2006/relationships/image" Target="../media/image63.svg"/><Relationship Id="rId11" Type="http://schemas.openxmlformats.org/officeDocument/2006/relationships/image" Target="../media/image64.svg"/><Relationship Id="rId12" Type="http://schemas.openxmlformats.org/officeDocument/2006/relationships/image" Target="../media/image65.svg"/><Relationship Id="rId13" Type="http://schemas.openxmlformats.org/officeDocument/2006/relationships/image" Target="../media/image66.svg"/><Relationship Id="rId14" Type="http://schemas.openxmlformats.org/officeDocument/2006/relationships/image" Target="../media/image67.svg"/><Relationship Id="rId15" Type="http://schemas.openxmlformats.org/officeDocument/2006/relationships/image" Target="../media/image55.svg"/><Relationship Id="rId16" Type="http://schemas.openxmlformats.org/officeDocument/2006/relationships/image" Target="../media/image68.svg"/><Relationship Id="rId17" Type="http://schemas.openxmlformats.org/officeDocument/2006/relationships/image" Target="../media/image69.svg"/><Relationship Id="rId18" Type="http://schemas.openxmlformats.org/officeDocument/2006/relationships/image" Target="../media/image70.svg"/><Relationship Id="rId19" Type="http://schemas.openxmlformats.org/officeDocument/2006/relationships/image" Target="../media/image71.svg"/><Relationship Id="rId20" Type="http://schemas.openxmlformats.org/officeDocument/2006/relationships/image" Target="../media/image72.svg"/><Relationship Id="rId21" Type="http://schemas.openxmlformats.org/officeDocument/2006/relationships/image" Target="../media/image73.svg"/><Relationship Id="rId22" Type="http://schemas.openxmlformats.org/officeDocument/2006/relationships/image" Target="../media/image74.svg"/><Relationship Id="rId23" Type="http://schemas.openxmlformats.org/officeDocument/2006/relationships/image" Target="../media/image75.svg"/><Relationship Id="rId24" Type="http://schemas.openxmlformats.org/officeDocument/2006/relationships/image" Target="../media/image76.svg"/><Relationship Id="rId25" Type="http://schemas.openxmlformats.org/officeDocument/2006/relationships/image" Target="../media/image77.svg"/><Relationship Id="rId26" Type="http://schemas.openxmlformats.org/officeDocument/2006/relationships/image" Target="../media/image78.svg"/><Relationship Id="rId27" Type="http://schemas.openxmlformats.org/officeDocument/2006/relationships/image" Target="../media/image7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Relationship Id="rId9" Type="http://schemas.openxmlformats.org/officeDocument/2006/relationships/image" Target="../media/image87.svg"/><Relationship Id="rId10" Type="http://schemas.openxmlformats.org/officeDocument/2006/relationships/image" Target="../media/image88.svg"/><Relationship Id="rId11" Type="http://schemas.openxmlformats.org/officeDocument/2006/relationships/image" Target="../media/image89.svg"/><Relationship Id="rId12" Type="http://schemas.openxmlformats.org/officeDocument/2006/relationships/image" Target="../media/image90.svg"/><Relationship Id="rId13" Type="http://schemas.openxmlformats.org/officeDocument/2006/relationships/image" Target="../media/image91.svg"/><Relationship Id="rId14" Type="http://schemas.openxmlformats.org/officeDocument/2006/relationships/image" Target="../media/image92.svg"/><Relationship Id="rId15" Type="http://schemas.openxmlformats.org/officeDocument/2006/relationships/image" Target="../media/image4.png"/><Relationship Id="rId16" Type="http://schemas.openxmlformats.org/officeDocument/2006/relationships/image" Target="../media/image93.png"/><Relationship Id="rId17" Type="http://schemas.openxmlformats.org/officeDocument/2006/relationships/image" Target="../media/image94.png"/><Relationship Id="rId18" Type="http://schemas.openxmlformats.org/officeDocument/2006/relationships/image" Target="../media/image95.svg"/><Relationship Id="rId19" Type="http://schemas.openxmlformats.org/officeDocument/2006/relationships/image" Target="../media/image96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7.png"/><Relationship Id="rId4" Type="http://schemas.openxmlformats.org/officeDocument/2006/relationships/image" Target="../media/image98.jpeg"/><Relationship Id="rId5" Type="http://schemas.openxmlformats.org/officeDocument/2006/relationships/image" Target="../media/image99.svg"/><Relationship Id="rId6" Type="http://schemas.openxmlformats.org/officeDocument/2006/relationships/image" Target="../media/image100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svg"/><Relationship Id="rId7" Type="http://schemas.openxmlformats.org/officeDocument/2006/relationships/image" Target="../media/image107.svg"/><Relationship Id="rId8" Type="http://schemas.openxmlformats.org/officeDocument/2006/relationships/image" Target="../media/image108.svg"/><Relationship Id="rId9" Type="http://schemas.openxmlformats.org/officeDocument/2006/relationships/image" Target="../media/image109.svg"/><Relationship Id="rId10" Type="http://schemas.openxmlformats.org/officeDocument/2006/relationships/image" Target="../media/image110.svg"/><Relationship Id="rId11" Type="http://schemas.openxmlformats.org/officeDocument/2006/relationships/image" Target="../media/image111.svg"/><Relationship Id="rId12" Type="http://schemas.openxmlformats.org/officeDocument/2006/relationships/image" Target="../media/image112.svg"/><Relationship Id="rId13" Type="http://schemas.openxmlformats.org/officeDocument/2006/relationships/image" Target="../media/image113.svg"/><Relationship Id="rId14" Type="http://schemas.openxmlformats.org/officeDocument/2006/relationships/image" Target="../media/image114.svg"/><Relationship Id="rId15" Type="http://schemas.openxmlformats.org/officeDocument/2006/relationships/image" Target="../media/image115.svg"/><Relationship Id="rId16" Type="http://schemas.openxmlformats.org/officeDocument/2006/relationships/image" Target="../media/image116.svg"/><Relationship Id="rId17" Type="http://schemas.openxmlformats.org/officeDocument/2006/relationships/image" Target="../media/image1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8.svg"/><Relationship Id="rId4" Type="http://schemas.openxmlformats.org/officeDocument/2006/relationships/image" Target="../media/image119.svg"/><Relationship Id="rId5" Type="http://schemas.openxmlformats.org/officeDocument/2006/relationships/image" Target="../media/image120.svg"/><Relationship Id="rId6" Type="http://schemas.openxmlformats.org/officeDocument/2006/relationships/image" Target="../media/image121.svg"/><Relationship Id="rId7" Type="http://schemas.openxmlformats.org/officeDocument/2006/relationships/image" Target="../media/image122.svg"/><Relationship Id="rId8" Type="http://schemas.openxmlformats.org/officeDocument/2006/relationships/image" Target="../media/image123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4.svg"/><Relationship Id="rId4" Type="http://schemas.openxmlformats.org/officeDocument/2006/relationships/image" Target="../media/image125.svg"/><Relationship Id="rId5" Type="http://schemas.openxmlformats.org/officeDocument/2006/relationships/image" Target="../media/image126.svg"/><Relationship Id="rId6" Type="http://schemas.openxmlformats.org/officeDocument/2006/relationships/image" Target="../media/image127.svg"/><Relationship Id="rId7" Type="http://schemas.openxmlformats.org/officeDocument/2006/relationships/image" Target="../media/image128.svg"/><Relationship Id="rId8" Type="http://schemas.openxmlformats.org/officeDocument/2006/relationships/image" Target="../media/image129.svg"/><Relationship Id="rId9" Type="http://schemas.openxmlformats.org/officeDocument/2006/relationships/image" Target="../media/image130.svg"/><Relationship Id="rId10" Type="http://schemas.openxmlformats.org/officeDocument/2006/relationships/image" Target="../media/image131.svg"/><Relationship Id="rId11" Type="http://schemas.openxmlformats.org/officeDocument/2006/relationships/image" Target="../media/image132.svg"/><Relationship Id="rId12" Type="http://schemas.openxmlformats.org/officeDocument/2006/relationships/image" Target="../media/image118.svg"/><Relationship Id="rId13" Type="http://schemas.openxmlformats.org/officeDocument/2006/relationships/image" Target="../media/image133.svg"/><Relationship Id="rId14" Type="http://schemas.openxmlformats.org/officeDocument/2006/relationships/image" Target="../media/image119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4.svg"/><Relationship Id="rId4" Type="http://schemas.openxmlformats.org/officeDocument/2006/relationships/image" Target="../media/image135.svg"/><Relationship Id="rId5" Type="http://schemas.openxmlformats.org/officeDocument/2006/relationships/image" Target="../media/image136.svg"/><Relationship Id="rId6" Type="http://schemas.openxmlformats.org/officeDocument/2006/relationships/image" Target="../media/image137.svg"/><Relationship Id="rId7" Type="http://schemas.openxmlformats.org/officeDocument/2006/relationships/image" Target="../media/image138.svg"/><Relationship Id="rId8" Type="http://schemas.openxmlformats.org/officeDocument/2006/relationships/image" Target="../media/image139.svg"/><Relationship Id="rId9" Type="http://schemas.openxmlformats.org/officeDocument/2006/relationships/image" Target="../media/image140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0726" y="1324966"/>
            <a:ext cx="73067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83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1739146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4795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3181119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9929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3091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31902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65064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3875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507037" y="1521961"/>
            <a:ext cx="1339562" cy="910400"/>
          </a:xfrm>
          <a:prstGeom prst="roundRect">
            <a:avLst>
              <a:gd name="adj" fmla="val 1004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15847" y="161866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5133" y="2623700"/>
            <a:ext cx="780146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173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30" y="2940540"/>
            <a:ext cx="422442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30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30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30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30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039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195" y="2940540"/>
            <a:ext cx="611718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196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196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196" y="4002673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Shape 29"/>
          <p:cNvSpPr/>
          <p:nvPr/>
        </p:nvSpPr>
        <p:spPr>
          <a:xfrm>
            <a:off x="3383196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194905" y="2820696"/>
            <a:ext cx="2651694" cy="1575454"/>
          </a:xfrm>
          <a:prstGeom prst="roundRect">
            <a:avLst>
              <a:gd name="adj" fmla="val 652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2062" y="2940540"/>
            <a:ext cx="600746" cy="166649"/>
          </a:xfrm>
          <a:prstGeom prst="roundRect">
            <a:avLst>
              <a:gd name="adj" fmla="val 24005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2062" y="3393167"/>
            <a:ext cx="237738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32062" y="3661144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6332062" y="3851968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32062" y="4193496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20" y="1692115"/>
            <a:ext cx="38404" cy="3825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162" y="1741300"/>
            <a:ext cx="71321" cy="35522"/>
          </a:xfrm>
          <a:custGeom>
            <a:avLst/>
            <a:gdLst/>
            <a:ahLst/>
            <a:cxnLst/>
            <a:rect l="l" t="t" r="r" b="b"/>
            <a:pathLst>
              <a:path w="95095" h="47363">
                <a:moveTo>
                  <a:pt x="0" y="47363"/>
                </a:moveTo>
                <a:cubicBezTo>
                  <a:pt x="0" y="21205"/>
                  <a:pt x="21288" y="0"/>
                  <a:pt x="47548" y="0"/>
                </a:cubicBezTo>
                <a:cubicBezTo>
                  <a:pt x="73807" y="0"/>
                  <a:pt x="95095" y="21205"/>
                  <a:pt x="95095" y="47363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3997" y="1703046"/>
            <a:ext cx="27431" cy="2732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2226" y="1751467"/>
            <a:ext cx="30175" cy="25355"/>
          </a:xfrm>
          <a:custGeom>
            <a:avLst/>
            <a:gdLst/>
            <a:ahLst/>
            <a:cxnLst/>
            <a:rect l="l" t="t" r="r" b="b"/>
            <a:pathLst>
              <a:path w="40233" h="33806">
                <a:moveTo>
                  <a:pt x="0" y="1016"/>
                </a:moveTo>
                <a:cubicBezTo>
                  <a:pt x="9710" y="0"/>
                  <a:pt x="19425" y="2893"/>
                  <a:pt x="26982" y="9052"/>
                </a:cubicBezTo>
                <a:cubicBezTo>
                  <a:pt x="34539" y="15211"/>
                  <a:pt x="39310" y="24124"/>
                  <a:pt x="40233" y="33806"/>
                </a:cubicBez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18364" y="170577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0" y="0"/>
                </a:moveTo>
                <a:lnTo>
                  <a:pt x="95095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73226" y="1689383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0" y="0"/>
                </a:moveTo>
                <a:lnTo>
                  <a:pt x="21945" y="2186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34823" y="1760427"/>
            <a:ext cx="71321" cy="2744"/>
          </a:xfrm>
          <a:custGeom>
            <a:avLst/>
            <a:gdLst/>
            <a:ahLst/>
            <a:cxnLst/>
            <a:rect l="l" t="t" r="r" b="b"/>
            <a:pathLst>
              <a:path w="95095" h="3658">
                <a:moveTo>
                  <a:pt x="95095" y="0"/>
                </a:moveTo>
                <a:lnTo>
                  <a:pt x="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34823" y="1744032"/>
            <a:ext cx="16459" cy="32790"/>
          </a:xfrm>
          <a:custGeom>
            <a:avLst/>
            <a:gdLst/>
            <a:ahLst/>
            <a:cxnLst/>
            <a:rect l="l" t="t" r="r" b="b"/>
            <a:pathLst>
              <a:path w="21945" h="43720">
                <a:moveTo>
                  <a:pt x="21945" y="0"/>
                </a:moveTo>
                <a:lnTo>
                  <a:pt x="0" y="21860"/>
                </a:lnTo>
                <a:lnTo>
                  <a:pt x="21945" y="4372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4850" y="1694848"/>
            <a:ext cx="98753" cy="76510"/>
          </a:xfrm>
          <a:custGeom>
            <a:avLst/>
            <a:gdLst/>
            <a:ahLst/>
            <a:cxnLst/>
            <a:rect l="l" t="t" r="r" b="b"/>
            <a:pathLst>
              <a:path w="131670" h="102013">
                <a:moveTo>
                  <a:pt x="0" y="0"/>
                </a:moveTo>
                <a:lnTo>
                  <a:pt x="131670" y="0"/>
                </a:lnTo>
                <a:lnTo>
                  <a:pt x="80465" y="58293"/>
                </a:lnTo>
                <a:lnTo>
                  <a:pt x="80465" y="102013"/>
                </a:lnTo>
                <a:lnTo>
                  <a:pt x="51205" y="87439"/>
                </a:lnTo>
                <a:lnTo>
                  <a:pt x="51205" y="58293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99566" y="1686651"/>
            <a:ext cx="93266" cy="9290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1511" y="1708510"/>
            <a:ext cx="49376" cy="49185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0712" y="1727637"/>
            <a:ext cx="10973" cy="10930"/>
          </a:xfrm>
          <a:prstGeom prst="ellipse">
            <a:avLst/>
          </a:prstGeom>
          <a:ln w="11681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44282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0" y="0"/>
                </a:moveTo>
                <a:lnTo>
                  <a:pt x="43890" y="0"/>
                </a:lnTo>
                <a:cubicBezTo>
                  <a:pt x="56010" y="0"/>
                  <a:pt x="65835" y="9787"/>
                  <a:pt x="65835" y="21860"/>
                </a:cubicBezTo>
                <a:lnTo>
                  <a:pt x="65835" y="109299"/>
                </a:lnTo>
                <a:cubicBezTo>
                  <a:pt x="65835" y="101251"/>
                  <a:pt x="59285" y="94726"/>
                  <a:pt x="51205" y="94726"/>
                </a:cubicBezTo>
                <a:lnTo>
                  <a:pt x="0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82686" y="1694848"/>
            <a:ext cx="49376" cy="81974"/>
          </a:xfrm>
          <a:custGeom>
            <a:avLst/>
            <a:gdLst/>
            <a:ahLst/>
            <a:cxnLst/>
            <a:rect l="l" t="t" r="r" b="b"/>
            <a:pathLst>
              <a:path w="65835" h="109299">
                <a:moveTo>
                  <a:pt x="65835" y="0"/>
                </a:moveTo>
                <a:lnTo>
                  <a:pt x="21945" y="0"/>
                </a:lnTo>
                <a:cubicBezTo>
                  <a:pt x="9825" y="0"/>
                  <a:pt x="0" y="9787"/>
                  <a:pt x="0" y="21860"/>
                </a:cubicBezTo>
                <a:lnTo>
                  <a:pt x="0" y="109299"/>
                </a:lnTo>
                <a:cubicBezTo>
                  <a:pt x="0" y="101251"/>
                  <a:pt x="6550" y="94726"/>
                  <a:pt x="14630" y="94726"/>
                </a:cubicBezTo>
                <a:lnTo>
                  <a:pt x="65835" y="94726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688997" y="168391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13685" y="1722172"/>
            <a:ext cx="32918" cy="21860"/>
          </a:xfrm>
          <a:custGeom>
            <a:avLst/>
            <a:gdLst/>
            <a:ahLst/>
            <a:cxnLst/>
            <a:rect l="l" t="t" r="r" b="b"/>
            <a:pathLst>
              <a:path w="43890" h="29146">
                <a:moveTo>
                  <a:pt x="0" y="14573"/>
                </a:moveTo>
                <a:lnTo>
                  <a:pt x="14630" y="29146"/>
                </a:lnTo>
                <a:lnTo>
                  <a:pt x="43890" y="0"/>
                </a:lnTo>
              </a:path>
            </a:pathLst>
          </a:custGeom>
          <a:ln w="11681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1877" y="4639888"/>
            <a:ext cx="82294" cy="98369"/>
          </a:xfrm>
          <a:custGeom>
            <a:avLst/>
            <a:gdLst/>
            <a:ahLst/>
            <a:cxnLst/>
            <a:rect l="l" t="t" r="r" b="b"/>
            <a:pathLst>
              <a:path w="109725" h="131159">
                <a:moveTo>
                  <a:pt x="54863" y="0"/>
                </a:moveTo>
                <a:lnTo>
                  <a:pt x="109725" y="21860"/>
                </a:lnTo>
                <a:lnTo>
                  <a:pt x="109725" y="61936"/>
                </a:lnTo>
                <a:cubicBezTo>
                  <a:pt x="109725" y="94726"/>
                  <a:pt x="86317" y="120229"/>
                  <a:pt x="54863" y="131159"/>
                </a:cubicBezTo>
                <a:cubicBezTo>
                  <a:pt x="23408" y="120229"/>
                  <a:pt x="0" y="94726"/>
                  <a:pt x="0" y="61936"/>
                </a:cubicBezTo>
                <a:lnTo>
                  <a:pt x="0" y="2186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57" name="Text 55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58" name="Text 56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데이터를 Tableau 대시보드와 포털로 구축했습니다. 인력 현황부터 발령 추적, 권한별 열람 제한까지 같은 모듈 구성을 세</a:t>
            </a:r>
            <a:endParaRPr lang="en-US" sz="990" dirty="0"/>
          </a:p>
        </p:txBody>
      </p:sp>
      <p:sp>
        <p:nvSpPr>
          <p:cNvPr id="59" name="Text 57"/>
          <p:cNvSpPr txBox="1"/>
          <p:nvPr/>
        </p:nvSpPr>
        <p:spPr>
          <a:xfrm>
            <a:off x="297173" y="843020"/>
            <a:ext cx="4226434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곳에서 반복 수행했고, 구축 이후 유지보수와 단계 확장으로 이어지고 있습니다.</a:t>
            </a:r>
            <a:endParaRPr lang="en-US" sz="990" dirty="0"/>
          </a:p>
        </p:txBody>
      </p:sp>
      <p:sp>
        <p:nvSpPr>
          <p:cNvPr id="60" name="Text 58"/>
          <p:cNvSpPr txBox="1"/>
          <p:nvPr/>
        </p:nvSpPr>
        <p:spPr>
          <a:xfrm>
            <a:off x="297173" y="1263758"/>
            <a:ext cx="130024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모듈 - 세 곳 모두 적용</a:t>
            </a:r>
            <a:endParaRPr lang="en-US" sz="720" dirty="0"/>
          </a:p>
        </p:txBody>
      </p:sp>
      <p:sp>
        <p:nvSpPr>
          <p:cNvPr id="61" name="Text 59"/>
          <p:cNvSpPr txBox="1"/>
          <p:nvPr/>
        </p:nvSpPr>
        <p:spPr>
          <a:xfrm>
            <a:off x="405983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인력 현황</a:t>
            </a:r>
            <a:endParaRPr lang="en-US" sz="885" dirty="0"/>
          </a:p>
        </p:txBody>
      </p:sp>
      <p:sp>
        <p:nvSpPr>
          <p:cNvPr id="62" name="Text 60"/>
          <p:cNvSpPr txBox="1"/>
          <p:nvPr/>
        </p:nvSpPr>
        <p:spPr>
          <a:xfrm>
            <a:off x="1847957" y="1900524"/>
            <a:ext cx="629095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발령 · 이동</a:t>
            </a:r>
            <a:endParaRPr lang="en-US" sz="885" dirty="0"/>
          </a:p>
        </p:txBody>
      </p:sp>
      <p:sp>
        <p:nvSpPr>
          <p:cNvPr id="63" name="Text 61"/>
          <p:cNvSpPr txBox="1"/>
          <p:nvPr/>
        </p:nvSpPr>
        <p:spPr>
          <a:xfrm>
            <a:off x="3289929" y="1900524"/>
            <a:ext cx="54863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조건 추출</a:t>
            </a:r>
            <a:endParaRPr lang="en-US" sz="885" dirty="0"/>
          </a:p>
        </p:txBody>
      </p:sp>
      <p:sp>
        <p:nvSpPr>
          <p:cNvPr id="64" name="Text 62"/>
          <p:cNvSpPr txBox="1"/>
          <p:nvPr/>
        </p:nvSpPr>
        <p:spPr>
          <a:xfrm>
            <a:off x="4731902" y="1900524"/>
            <a:ext cx="76716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핵심 인력 추적</a:t>
            </a:r>
            <a:endParaRPr lang="en-US" sz="885" dirty="0"/>
          </a:p>
        </p:txBody>
      </p:sp>
      <p:sp>
        <p:nvSpPr>
          <p:cNvPr id="65" name="Text 63"/>
          <p:cNvSpPr txBox="1"/>
          <p:nvPr/>
        </p:nvSpPr>
        <p:spPr>
          <a:xfrm>
            <a:off x="6173875" y="1900524"/>
            <a:ext cx="94364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교육 · 복지 활용도</a:t>
            </a:r>
            <a:endParaRPr lang="en-US" sz="885" dirty="0"/>
          </a:p>
        </p:txBody>
      </p:sp>
      <p:sp>
        <p:nvSpPr>
          <p:cNvPr id="66" name="Text 64"/>
          <p:cNvSpPr txBox="1"/>
          <p:nvPr/>
        </p:nvSpPr>
        <p:spPr>
          <a:xfrm>
            <a:off x="7615848" y="1900524"/>
            <a:ext cx="8631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권한별 열람 제한</a:t>
            </a:r>
            <a:endParaRPr lang="en-US" sz="885" dirty="0"/>
          </a:p>
        </p:txBody>
      </p:sp>
      <p:sp>
        <p:nvSpPr>
          <p:cNvPr id="67" name="Text 65"/>
          <p:cNvSpPr txBox="1"/>
          <p:nvPr/>
        </p:nvSpPr>
        <p:spPr>
          <a:xfrm>
            <a:off x="405983" y="2072316"/>
            <a:ext cx="125087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 등 재직 인원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1847957" y="2072316"/>
            <a:ext cx="121521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 발령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3289929" y="2072316"/>
            <a:ext cx="12591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원하는 조건의 인원만 골라 목록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4731902" y="2072316"/>
            <a:ext cx="122344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관리직의 이동과 해</a:t>
            </a:r>
            <a:endParaRPr lang="en-US" sz="720" dirty="0"/>
          </a:p>
        </p:txBody>
      </p:sp>
      <p:sp>
        <p:nvSpPr>
          <p:cNvPr id="71" name="Text 69"/>
          <p:cNvSpPr txBox="1"/>
          <p:nvPr/>
        </p:nvSpPr>
        <p:spPr>
          <a:xfrm>
            <a:off x="6173875" y="2072316"/>
            <a:ext cx="1210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교육, 휴가 · 복지 제도 이</a:t>
            </a:r>
            <a:endParaRPr lang="en-US" sz="720" dirty="0"/>
          </a:p>
        </p:txBody>
      </p:sp>
      <p:sp>
        <p:nvSpPr>
          <p:cNvPr id="72" name="Text 70"/>
          <p:cNvSpPr txBox="1"/>
          <p:nvPr/>
        </p:nvSpPr>
        <p:spPr>
          <a:xfrm>
            <a:off x="7615848" y="2072316"/>
            <a:ext cx="124538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 · 역할에 따라 조회 인원을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405984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구성</a:t>
            </a:r>
            <a:endParaRPr lang="en-US" sz="720" dirty="0"/>
          </a:p>
        </p:txBody>
      </p:sp>
      <p:sp>
        <p:nvSpPr>
          <p:cNvPr id="74" name="Text 72"/>
          <p:cNvSpPr txBox="1"/>
          <p:nvPr/>
        </p:nvSpPr>
        <p:spPr>
          <a:xfrm>
            <a:off x="1847957" y="2205019"/>
            <a:ext cx="297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이력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3289929" y="2205019"/>
            <a:ext cx="45627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다운로드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4731902" y="2205019"/>
            <a:ext cx="5788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외 발령 관리</a:t>
            </a:r>
            <a:endParaRPr lang="en-US" sz="720" dirty="0"/>
          </a:p>
        </p:txBody>
      </p:sp>
      <p:sp>
        <p:nvSpPr>
          <p:cNvPr id="77" name="Text 75"/>
          <p:cNvSpPr txBox="1"/>
          <p:nvPr/>
        </p:nvSpPr>
        <p:spPr>
          <a:xfrm>
            <a:off x="6173875" y="2205019"/>
            <a:ext cx="39775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용 측정</a:t>
            </a:r>
            <a:endParaRPr lang="en-US" sz="720" dirty="0"/>
          </a:p>
        </p:txBody>
      </p:sp>
      <p:sp>
        <p:nvSpPr>
          <p:cNvPr id="78" name="Text 76"/>
          <p:cNvSpPr txBox="1"/>
          <p:nvPr/>
        </p:nvSpPr>
        <p:spPr>
          <a:xfrm>
            <a:off x="7615848" y="2205019"/>
            <a:ext cx="64463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제한하는 RLS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297172" y="2562492"/>
            <a:ext cx="80465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고객별 프로젝트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502908" y="2960084"/>
            <a:ext cx="4224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451774" y="2960084"/>
            <a:ext cx="6126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6400641" y="2960084"/>
            <a:ext cx="60074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720" dirty="0"/>
          </a:p>
        </p:txBody>
      </p:sp>
      <p:sp>
        <p:nvSpPr>
          <p:cNvPr id="83" name="Text 81"/>
          <p:cNvSpPr txBox="1"/>
          <p:nvPr/>
        </p:nvSpPr>
        <p:spPr>
          <a:xfrm>
            <a:off x="1847042" y="2961627"/>
            <a:ext cx="11018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4" name="Text 82"/>
          <p:cNvSpPr txBox="1"/>
          <p:nvPr/>
        </p:nvSpPr>
        <p:spPr>
          <a:xfrm>
            <a:off x="4508794" y="2961627"/>
            <a:ext cx="13889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구축 · 이후 유지보수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7345192" y="2961627"/>
            <a:ext cx="15014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4차 진행 중 · 단계별 확장</a:t>
            </a:r>
            <a:endParaRPr lang="en-US" sz="705" dirty="0"/>
          </a:p>
        </p:txBody>
      </p:sp>
      <p:sp>
        <p:nvSpPr>
          <p:cNvPr id="86" name="Text 84"/>
          <p:cNvSpPr txBox="1"/>
          <p:nvPr/>
        </p:nvSpPr>
        <p:spPr>
          <a:xfrm>
            <a:off x="434330" y="3152966"/>
            <a:ext cx="1850699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Index 대시보드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7" name="Text 85"/>
          <p:cNvSpPr txBox="1"/>
          <p:nvPr/>
        </p:nvSpPr>
        <p:spPr>
          <a:xfrm>
            <a:off x="3383196" y="3152966"/>
            <a:ext cx="1518781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DataLab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8" name="Text 86"/>
          <p:cNvSpPr txBox="1"/>
          <p:nvPr/>
        </p:nvSpPr>
        <p:spPr>
          <a:xfrm>
            <a:off x="6332062" y="3152966"/>
            <a:ext cx="160226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6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HR 분석 플랫폼</a:t>
            </a:r>
            <a:r>
              <a:rPr lang="en-US" sz="720" kern="0" spc="-11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대시보드 + 포털</a:t>
            </a:r>
            <a:endParaRPr lang="en-US" sz="1065" dirty="0"/>
          </a:p>
        </p:txBody>
      </p:sp>
      <p:sp>
        <p:nvSpPr>
          <p:cNvPr id="89" name="Text 87"/>
          <p:cNvSpPr txBox="1"/>
          <p:nvPr/>
        </p:nvSpPr>
        <p:spPr>
          <a:xfrm>
            <a:off x="434330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0" name="Text 88"/>
          <p:cNvSpPr txBox="1"/>
          <p:nvPr/>
        </p:nvSpPr>
        <p:spPr>
          <a:xfrm>
            <a:off x="3383196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1" name="Text 89"/>
          <p:cNvSpPr txBox="1"/>
          <p:nvPr/>
        </p:nvSpPr>
        <p:spPr>
          <a:xfrm>
            <a:off x="6332062" y="3449232"/>
            <a:ext cx="9555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 프로젝트의 특화 항목</a:t>
            </a:r>
            <a:endParaRPr lang="en-US" sz="683" dirty="0"/>
          </a:p>
        </p:txBody>
      </p:sp>
      <p:sp>
        <p:nvSpPr>
          <p:cNvPr id="92" name="Text 90"/>
          <p:cNvSpPr txBox="1"/>
          <p:nvPr/>
        </p:nvSpPr>
        <p:spPr>
          <a:xfrm>
            <a:off x="531253" y="3597364"/>
            <a:ext cx="134871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현황과 관리 대시보드</a:t>
            </a:r>
            <a:endParaRPr lang="en-US" sz="795" dirty="0"/>
          </a:p>
        </p:txBody>
      </p:sp>
      <p:sp>
        <p:nvSpPr>
          <p:cNvPr id="93" name="Text 91"/>
          <p:cNvSpPr txBox="1"/>
          <p:nvPr/>
        </p:nvSpPr>
        <p:spPr>
          <a:xfrm>
            <a:off x="3480119" y="3597364"/>
            <a:ext cx="250548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출생 연 · 월 기준으로 피크임금 도달 시기와 정년퇴직 시기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6428986" y="3597364"/>
            <a:ext cx="211120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 이동을 추적해 특정 인원의 전체 경력을 확인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3480120" y="3748069"/>
            <a:ext cx="4242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산출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531253" y="3788188"/>
            <a:ext cx="243407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· 팀장 등 관리직의 인사 이동과 해외 발령 인원 추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6428986" y="3788188"/>
            <a:ext cx="245217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부서장 평가 등 평가 요소로 활용할 항목을 한 화면에서 확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531253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적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3480119" y="3938893"/>
            <a:ext cx="1866792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도래가 임박한 인원 목록을 추출해 다운로드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6428986" y="3938893"/>
            <a:ext cx="22494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531253" y="4129717"/>
            <a:ext cx="1316707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2차 프로젝트로 포털까지 확장</a:t>
            </a:r>
            <a:endParaRPr lang="en-US" sz="795" dirty="0"/>
          </a:p>
        </p:txBody>
      </p:sp>
      <p:sp>
        <p:nvSpPr>
          <p:cNvPr id="102" name="Text 100"/>
          <p:cNvSpPr txBox="1"/>
          <p:nvPr/>
        </p:nvSpPr>
        <p:spPr>
          <a:xfrm>
            <a:off x="3480120" y="4129717"/>
            <a:ext cx="126824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활용도 파악 · 측정</a:t>
            </a:r>
            <a:endParaRPr lang="en-US" sz="795" dirty="0"/>
          </a:p>
        </p:txBody>
      </p:sp>
      <p:sp>
        <p:nvSpPr>
          <p:cNvPr id="103" name="Text 101"/>
          <p:cNvSpPr txBox="1"/>
          <p:nvPr/>
        </p:nvSpPr>
        <p:spPr>
          <a:xfrm>
            <a:off x="6428986" y="4129717"/>
            <a:ext cx="1760176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사용 · 복지 제도 활용도 파악 · 측정</a:t>
            </a:r>
            <a:endParaRPr lang="en-US" sz="795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4609605"/>
            <a:ext cx="700550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 권한에 따라 조회 가능한 인원을 제한하는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반영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포함해 수행했습니다.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06" name="Text 10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270445"/>
            <a:ext cx="506564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4195554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26344" y="4195554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926921" y="4195554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659994" y="1270445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91665" y="1378973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59994" y="2354180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791665" y="2462708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59994" y="3437401"/>
            <a:ext cx="318660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791665" y="3545929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773330" y="1856995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30117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45536" y="2082879"/>
            <a:ext cx="361307" cy="112942"/>
          </a:xfrm>
          <a:custGeom>
            <a:avLst/>
            <a:gdLst/>
            <a:ahLst/>
            <a:cxnLst/>
            <a:rect l="l" t="t" r="r" b="b"/>
            <a:pathLst>
              <a:path w="481742" h="150589">
                <a:moveTo>
                  <a:pt x="481742" y="0"/>
                </a:moveTo>
                <a:lnTo>
                  <a:pt x="0" y="150589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95672" y="1772288"/>
            <a:ext cx="111171" cy="310590"/>
          </a:xfrm>
          <a:custGeom>
            <a:avLst/>
            <a:gdLst/>
            <a:ahLst/>
            <a:cxnLst/>
            <a:rect l="l" t="t" r="r" b="b"/>
            <a:pathLst>
              <a:path w="148228" h="414120">
                <a:moveTo>
                  <a:pt x="148228" y="414120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56816" y="203205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45536" y="1828759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17743" y="216758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67879" y="1744053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64323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0" y="263531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664323" y="2026408"/>
            <a:ext cx="305721" cy="197648"/>
          </a:xfrm>
          <a:custGeom>
            <a:avLst/>
            <a:gdLst/>
            <a:ahLst/>
            <a:cxnLst/>
            <a:rect l="l" t="t" r="r" b="b"/>
            <a:pathLst>
              <a:path w="407628" h="263531">
                <a:moveTo>
                  <a:pt x="0" y="0"/>
                </a:moveTo>
                <a:lnTo>
                  <a:pt x="407628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330809" y="1828760"/>
            <a:ext cx="333514" cy="197648"/>
          </a:xfrm>
          <a:custGeom>
            <a:avLst/>
            <a:gdLst/>
            <a:ahLst/>
            <a:cxnLst/>
            <a:rect l="l" t="t" r="r" b="b"/>
            <a:pathLst>
              <a:path w="444685" h="263531">
                <a:moveTo>
                  <a:pt x="444685" y="263531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4614296" y="1975584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970044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942251" y="2195820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303016" y="180052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831080" y="3494650"/>
            <a:ext cx="250136" cy="225884"/>
          </a:xfrm>
          <a:custGeom>
            <a:avLst/>
            <a:gdLst/>
            <a:ahLst/>
            <a:cxnLst/>
            <a:rect l="l" t="t" r="r" b="b"/>
            <a:pathLst>
              <a:path w="333514" h="301178">
                <a:moveTo>
                  <a:pt x="0" y="30117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1081" y="3720533"/>
            <a:ext cx="277928" cy="197648"/>
          </a:xfrm>
          <a:custGeom>
            <a:avLst/>
            <a:gdLst/>
            <a:ahLst/>
            <a:cxnLst/>
            <a:rect l="l" t="t" r="r" b="b"/>
            <a:pathLst>
              <a:path w="370571" h="263531">
                <a:moveTo>
                  <a:pt x="0" y="0"/>
                </a:moveTo>
                <a:lnTo>
                  <a:pt x="370571" y="263531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497567" y="3720532"/>
            <a:ext cx="333514" cy="225884"/>
          </a:xfrm>
          <a:custGeom>
            <a:avLst/>
            <a:gdLst/>
            <a:ahLst/>
            <a:cxnLst/>
            <a:rect l="l" t="t" r="r" b="b"/>
            <a:pathLst>
              <a:path w="444685" h="301178">
                <a:moveTo>
                  <a:pt x="444685" y="0"/>
                </a:moveTo>
                <a:lnTo>
                  <a:pt x="0" y="301178"/>
                </a:lnTo>
              </a:path>
            </a:pathLst>
          </a:custGeom>
          <a:solidFill>
            <a:srgbClr val="737373"/>
          </a:solidFill>
          <a:ln w="7470">
            <a:solidFill>
              <a:srgbClr val="E2E8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781053" y="3669709"/>
            <a:ext cx="100054" cy="10164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5053422" y="3466414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81215" y="3889945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469773" y="3918181"/>
            <a:ext cx="55586" cy="56471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44193" y="2277228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501673" y="2249434"/>
            <a:ext cx="236862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40" name="Text 38"/>
          <p:cNvSpPr txBox="1"/>
          <p:nvPr/>
        </p:nvSpPr>
        <p:spPr>
          <a:xfrm>
            <a:off x="4668430" y="3500192"/>
            <a:ext cx="236861" cy="857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1" name="Shape 39"/>
          <p:cNvSpPr/>
          <p:nvPr/>
        </p:nvSpPr>
        <p:spPr>
          <a:xfrm>
            <a:off x="1440357" y="2421704"/>
            <a:ext cx="667028" cy="480002"/>
          </a:xfrm>
          <a:custGeom>
            <a:avLst/>
            <a:gdLst/>
            <a:ahLst/>
            <a:cxnLst/>
            <a:rect l="l" t="t" r="r" b="b"/>
            <a:pathLst>
              <a:path w="889370" h="640003">
                <a:moveTo>
                  <a:pt x="0" y="640003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1440357" y="3042883"/>
            <a:ext cx="667028" cy="451767"/>
          </a:xfrm>
          <a:custGeom>
            <a:avLst/>
            <a:gdLst/>
            <a:ahLst/>
            <a:cxnLst/>
            <a:rect l="l" t="t" r="r" b="b"/>
            <a:pathLst>
              <a:path w="889370" h="602356">
                <a:moveTo>
                  <a:pt x="0" y="0"/>
                </a:moveTo>
                <a:lnTo>
                  <a:pt x="889370" y="602356"/>
                </a:lnTo>
              </a:path>
            </a:pathLst>
          </a:custGeom>
          <a:solidFill>
            <a:srgbClr val="000000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357520" y="2139349"/>
            <a:ext cx="694820" cy="214589"/>
          </a:xfrm>
          <a:custGeom>
            <a:avLst/>
            <a:gdLst/>
            <a:ahLst/>
            <a:cxnLst/>
            <a:rect l="l" t="t" r="r" b="b"/>
            <a:pathLst>
              <a:path w="926427" h="286119">
                <a:moveTo>
                  <a:pt x="0" y="286119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2357520" y="2478174"/>
            <a:ext cx="694820" cy="254119"/>
          </a:xfrm>
          <a:custGeom>
            <a:avLst/>
            <a:gdLst/>
            <a:ahLst/>
            <a:cxnLst/>
            <a:rect l="l" t="t" r="r" b="b"/>
            <a:pathLst>
              <a:path w="926427" h="338825">
                <a:moveTo>
                  <a:pt x="0" y="0"/>
                </a:moveTo>
                <a:lnTo>
                  <a:pt x="926427" y="338825"/>
                </a:lnTo>
              </a:path>
            </a:pathLst>
          </a:custGeom>
          <a:solidFill>
            <a:srgbClr val="000000"/>
          </a:solidFill>
          <a:ln w="11953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2357520" y="3381709"/>
            <a:ext cx="694820" cy="169412"/>
          </a:xfrm>
          <a:custGeom>
            <a:avLst/>
            <a:gdLst/>
            <a:ahLst/>
            <a:cxnLst/>
            <a:rect l="l" t="t" r="r" b="b"/>
            <a:pathLst>
              <a:path w="926427" h="225883">
                <a:moveTo>
                  <a:pt x="0" y="225883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1953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3274682" y="2139349"/>
            <a:ext cx="722613" cy="395296"/>
          </a:xfrm>
          <a:custGeom>
            <a:avLst/>
            <a:gdLst/>
            <a:ahLst/>
            <a:cxnLst/>
            <a:rect l="l" t="t" r="r" b="b"/>
            <a:pathLst>
              <a:path w="963484" h="527061">
                <a:moveTo>
                  <a:pt x="0" y="0"/>
                </a:moveTo>
                <a:lnTo>
                  <a:pt x="963484" y="527061"/>
                </a:lnTo>
              </a:path>
            </a:pathLst>
          </a:custGeom>
          <a:solidFill>
            <a:srgbClr val="000000"/>
          </a:solidFill>
          <a:ln w="10459">
            <a:solidFill>
              <a:srgbClr val="2563E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3346944" y="3398649"/>
            <a:ext cx="661469" cy="163766"/>
          </a:xfrm>
          <a:custGeom>
            <a:avLst/>
            <a:gdLst/>
            <a:ahLst/>
            <a:cxnLst/>
            <a:rect l="l" t="t" r="r" b="b"/>
            <a:pathLst>
              <a:path w="881959" h="218354">
                <a:moveTo>
                  <a:pt x="0" y="0"/>
                </a:moveTo>
                <a:lnTo>
                  <a:pt x="881959" y="218354"/>
                </a:lnTo>
              </a:path>
            </a:pathLst>
          </a:custGeom>
          <a:solidFill>
            <a:srgbClr val="000000"/>
          </a:solidFill>
          <a:ln w="10459">
            <a:solidFill>
              <a:srgbClr val="F59E0B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2507601" y="2173232"/>
            <a:ext cx="422451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2565607" y="2216549"/>
            <a:ext cx="31014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50" name="Shape 48"/>
          <p:cNvSpPr/>
          <p:nvPr/>
        </p:nvSpPr>
        <p:spPr>
          <a:xfrm>
            <a:off x="2440898" y="3336531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2497226" y="3361688"/>
            <a:ext cx="424698" cy="62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2" name="Shape 50"/>
          <p:cNvSpPr/>
          <p:nvPr/>
        </p:nvSpPr>
        <p:spPr>
          <a:xfrm>
            <a:off x="3419205" y="2263585"/>
            <a:ext cx="533622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471702" y="2299777"/>
            <a:ext cx="428628" cy="68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4" name="Shape 52"/>
          <p:cNvSpPr/>
          <p:nvPr/>
        </p:nvSpPr>
        <p:spPr>
          <a:xfrm>
            <a:off x="3369178" y="3398649"/>
            <a:ext cx="600325" cy="124236"/>
          </a:xfrm>
          <a:prstGeom prst="roundRect">
            <a:avLst>
              <a:gd name="adj" fmla="val 49608"/>
            </a:avLst>
          </a:prstGeom>
          <a:solidFill>
            <a:srgbClr val="FFFFFF"/>
          </a:solidFill>
          <a:ln w="747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 txBox="1"/>
          <p:nvPr/>
        </p:nvSpPr>
        <p:spPr>
          <a:xfrm>
            <a:off x="3414005" y="3422836"/>
            <a:ext cx="510671" cy="57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6" name="Shape 54"/>
          <p:cNvSpPr/>
          <p:nvPr/>
        </p:nvSpPr>
        <p:spPr>
          <a:xfrm>
            <a:off x="539870" y="2704057"/>
            <a:ext cx="944956" cy="508238"/>
          </a:xfrm>
          <a:prstGeom prst="roundRect">
            <a:avLst>
              <a:gd name="adj" fmla="val 1322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7" name="Text 55"/>
          <p:cNvSpPr txBox="1"/>
          <p:nvPr/>
        </p:nvSpPr>
        <p:spPr>
          <a:xfrm>
            <a:off x="812440" y="2816444"/>
            <a:ext cx="40198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8" name="Text 56"/>
          <p:cNvSpPr txBox="1"/>
          <p:nvPr/>
        </p:nvSpPr>
        <p:spPr>
          <a:xfrm>
            <a:off x="577714" y="2927466"/>
            <a:ext cx="872222" cy="9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9" name="Text 57"/>
          <p:cNvSpPr txBox="1"/>
          <p:nvPr/>
        </p:nvSpPr>
        <p:spPr>
          <a:xfrm>
            <a:off x="551349" y="3033086"/>
            <a:ext cx="921997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60" name="Shape 58"/>
          <p:cNvSpPr/>
          <p:nvPr/>
        </p:nvSpPr>
        <p:spPr>
          <a:xfrm>
            <a:off x="2040682" y="2218408"/>
            <a:ext cx="377982" cy="38400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Text 59"/>
          <p:cNvSpPr txBox="1"/>
          <p:nvPr/>
        </p:nvSpPr>
        <p:spPr>
          <a:xfrm>
            <a:off x="2018141" y="2321544"/>
            <a:ext cx="423135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2" name="Text 60"/>
          <p:cNvSpPr txBox="1"/>
          <p:nvPr/>
        </p:nvSpPr>
        <p:spPr>
          <a:xfrm>
            <a:off x="2155699" y="2427476"/>
            <a:ext cx="147948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3" name="Shape 61"/>
          <p:cNvSpPr/>
          <p:nvPr/>
        </p:nvSpPr>
        <p:spPr>
          <a:xfrm>
            <a:off x="2040682" y="3359119"/>
            <a:ext cx="377982" cy="38400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 txBox="1"/>
          <p:nvPr/>
        </p:nvSpPr>
        <p:spPr>
          <a:xfrm>
            <a:off x="2100669" y="3444446"/>
            <a:ext cx="263116" cy="91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5" name="Text 63"/>
          <p:cNvSpPr txBox="1"/>
          <p:nvPr/>
        </p:nvSpPr>
        <p:spPr>
          <a:xfrm>
            <a:off x="2155699" y="3550379"/>
            <a:ext cx="151694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6" name="Shape 64"/>
          <p:cNvSpPr/>
          <p:nvPr/>
        </p:nvSpPr>
        <p:spPr>
          <a:xfrm>
            <a:off x="3018989" y="1936054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 txBox="1"/>
          <p:nvPr/>
        </p:nvSpPr>
        <p:spPr>
          <a:xfrm>
            <a:off x="3060830" y="2021518"/>
            <a:ext cx="227597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8" name="Text 66"/>
          <p:cNvSpPr txBox="1"/>
          <p:nvPr/>
        </p:nvSpPr>
        <p:spPr>
          <a:xfrm>
            <a:off x="3103021" y="2116333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9" name="Shape 67"/>
          <p:cNvSpPr/>
          <p:nvPr/>
        </p:nvSpPr>
        <p:spPr>
          <a:xfrm>
            <a:off x="3018989" y="2613705"/>
            <a:ext cx="311279" cy="316237"/>
          </a:xfrm>
          <a:prstGeom prst="ellipse">
            <a:avLst/>
          </a:prstGeom>
          <a:solidFill>
            <a:srgbClr val="FFFFFF"/>
          </a:solidFill>
          <a:ln w="14941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3060559" y="2688589"/>
            <a:ext cx="23030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1" name="Text 69"/>
          <p:cNvSpPr txBox="1"/>
          <p:nvPr/>
        </p:nvSpPr>
        <p:spPr>
          <a:xfrm>
            <a:off x="3100252" y="2783404"/>
            <a:ext cx="149660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2" name="Shape 70"/>
          <p:cNvSpPr/>
          <p:nvPr/>
        </p:nvSpPr>
        <p:spPr>
          <a:xfrm>
            <a:off x="3002313" y="3206648"/>
            <a:ext cx="344631" cy="350120"/>
          </a:xfrm>
          <a:prstGeom prst="ellipse">
            <a:avLst/>
          </a:prstGeom>
          <a:solidFill>
            <a:srgbClr val="FFFFFF"/>
          </a:solidFill>
          <a:ln w="14941">
            <a:solidFill>
              <a:srgbClr val="7C6F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2991122" y="3288953"/>
            <a:ext cx="367013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4" name="Text 72"/>
          <p:cNvSpPr txBox="1"/>
          <p:nvPr/>
        </p:nvSpPr>
        <p:spPr>
          <a:xfrm>
            <a:off x="2983470" y="338376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5" name="Shape 73"/>
          <p:cNvSpPr/>
          <p:nvPr/>
        </p:nvSpPr>
        <p:spPr>
          <a:xfrm>
            <a:off x="3997296" y="2421704"/>
            <a:ext cx="311279" cy="31623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6" name="Text 74"/>
          <p:cNvSpPr txBox="1"/>
          <p:nvPr/>
        </p:nvSpPr>
        <p:spPr>
          <a:xfrm>
            <a:off x="4051636" y="2499585"/>
            <a:ext cx="202598" cy="8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7" name="Text 75"/>
          <p:cNvSpPr txBox="1"/>
          <p:nvPr/>
        </p:nvSpPr>
        <p:spPr>
          <a:xfrm>
            <a:off x="4081327" y="2594401"/>
            <a:ext cx="143582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8" name="Shape 76"/>
          <p:cNvSpPr/>
          <p:nvPr/>
        </p:nvSpPr>
        <p:spPr>
          <a:xfrm>
            <a:off x="3997296" y="3415590"/>
            <a:ext cx="355748" cy="361414"/>
          </a:xfrm>
          <a:prstGeom prst="ellipse">
            <a:avLst/>
          </a:prstGeom>
          <a:solidFill>
            <a:srgbClr val="FFFFFF"/>
          </a:solidFill>
          <a:ln w="14941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7"/>
          <p:cNvSpPr txBox="1"/>
          <p:nvPr/>
        </p:nvSpPr>
        <p:spPr>
          <a:xfrm>
            <a:off x="3991284" y="3505907"/>
            <a:ext cx="369025" cy="80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80" name="Text 78"/>
          <p:cNvSpPr txBox="1"/>
          <p:nvPr/>
        </p:nvSpPr>
        <p:spPr>
          <a:xfrm>
            <a:off x="3984011" y="3595007"/>
            <a:ext cx="383706" cy="7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1" name="Shape 79"/>
          <p:cNvSpPr/>
          <p:nvPr/>
        </p:nvSpPr>
        <p:spPr>
          <a:xfrm>
            <a:off x="3246890" y="193040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3246890" y="2608057"/>
            <a:ext cx="100054" cy="10164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Shape 81"/>
          <p:cNvSpPr/>
          <p:nvPr/>
        </p:nvSpPr>
        <p:spPr>
          <a:xfrm>
            <a:off x="3246890" y="3217942"/>
            <a:ext cx="100054" cy="101648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4225197" y="2416056"/>
            <a:ext cx="100054" cy="1016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3277462" y="196429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Shape 84"/>
          <p:cNvSpPr/>
          <p:nvPr/>
        </p:nvSpPr>
        <p:spPr>
          <a:xfrm>
            <a:off x="3277462" y="2641940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Shape 85"/>
          <p:cNvSpPr/>
          <p:nvPr/>
        </p:nvSpPr>
        <p:spPr>
          <a:xfrm>
            <a:off x="3277462" y="3251825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Shape 86"/>
          <p:cNvSpPr/>
          <p:nvPr/>
        </p:nvSpPr>
        <p:spPr>
          <a:xfrm>
            <a:off x="4255769" y="2449939"/>
            <a:ext cx="44468" cy="33883"/>
          </a:xfrm>
          <a:custGeom>
            <a:avLst/>
            <a:gdLst/>
            <a:ahLst/>
            <a:cxnLst/>
            <a:rect l="l" t="t" r="r" b="b"/>
            <a:pathLst>
              <a:path w="59291" h="45177">
                <a:moveTo>
                  <a:pt x="0" y="22588"/>
                </a:moveTo>
                <a:lnTo>
                  <a:pt x="22234" y="45177"/>
                </a:lnTo>
                <a:lnTo>
                  <a:pt x="59291" y="0"/>
                </a:lnTo>
              </a:path>
            </a:pathLst>
          </a:custGeom>
          <a:ln w="11953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9" name="Shape 87"/>
          <p:cNvSpPr/>
          <p:nvPr/>
        </p:nvSpPr>
        <p:spPr>
          <a:xfrm>
            <a:off x="472550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Shape 88"/>
          <p:cNvSpPr/>
          <p:nvPr/>
        </p:nvSpPr>
        <p:spPr>
          <a:xfrm>
            <a:off x="549358" y="464425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Shape 89"/>
          <p:cNvSpPr/>
          <p:nvPr/>
        </p:nvSpPr>
        <p:spPr>
          <a:xfrm>
            <a:off x="510954" y="4709839"/>
            <a:ext cx="24140" cy="24046"/>
          </a:xfrm>
          <a:prstGeom prst="ellipse">
            <a:avLst/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494495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0" y="0"/>
                </a:moveTo>
                <a:lnTo>
                  <a:pt x="27066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Shape 91"/>
          <p:cNvSpPr/>
          <p:nvPr/>
        </p:nvSpPr>
        <p:spPr>
          <a:xfrm>
            <a:off x="531253" y="4663933"/>
            <a:ext cx="20300" cy="48092"/>
          </a:xfrm>
          <a:custGeom>
            <a:avLst/>
            <a:gdLst/>
            <a:ahLst/>
            <a:cxnLst/>
            <a:rect l="l" t="t" r="r" b="b"/>
            <a:pathLst>
              <a:path w="27066" h="64122">
                <a:moveTo>
                  <a:pt x="27066" y="0"/>
                </a:moveTo>
                <a:lnTo>
                  <a:pt x="0" y="64122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Shape 92"/>
          <p:cNvSpPr/>
          <p:nvPr/>
        </p:nvSpPr>
        <p:spPr>
          <a:xfrm>
            <a:off x="496690" y="4656282"/>
            <a:ext cx="52668" cy="2744"/>
          </a:xfrm>
          <a:custGeom>
            <a:avLst/>
            <a:gdLst/>
            <a:ahLst/>
            <a:cxnLst/>
            <a:rect l="l" t="t" r="r" b="b"/>
            <a:pathLst>
              <a:path w="70224" h="3658">
                <a:moveTo>
                  <a:pt x="0" y="0"/>
                </a:moveTo>
                <a:lnTo>
                  <a:pt x="70224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96" name="Text 9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7" name="Text 9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그래프로 먼저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</a:t>
            </a:r>
            <a:endParaRPr lang="en-US" sz="990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843020"/>
            <a:ext cx="143649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분석에 집중시킵니다.</a:t>
            </a:r>
            <a:endParaRPr lang="en-US" sz="990" dirty="0"/>
          </a:p>
        </p:txBody>
      </p:sp>
      <p:sp>
        <p:nvSpPr>
          <p:cNvPr id="99" name="Text 97"/>
          <p:cNvSpPr txBox="1"/>
          <p:nvPr/>
        </p:nvSpPr>
        <p:spPr>
          <a:xfrm>
            <a:off x="6145529" y="1369200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439816" y="1382573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101" name="Text 99"/>
          <p:cNvSpPr txBox="1"/>
          <p:nvPr/>
        </p:nvSpPr>
        <p:spPr>
          <a:xfrm>
            <a:off x="5884018" y="1414977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102" name="Text 100"/>
          <p:cNvSpPr txBox="1"/>
          <p:nvPr/>
        </p:nvSpPr>
        <p:spPr>
          <a:xfrm>
            <a:off x="439816" y="1525048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6145528" y="1563110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1731303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2452935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106" name="Text 104"/>
          <p:cNvSpPr txBox="1"/>
          <p:nvPr/>
        </p:nvSpPr>
        <p:spPr>
          <a:xfrm>
            <a:off x="5875787" y="2498199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7" name="Text 105"/>
          <p:cNvSpPr txBox="1"/>
          <p:nvPr/>
        </p:nvSpPr>
        <p:spPr>
          <a:xfrm>
            <a:off x="6145529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2815038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3536156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10" name="Text 108"/>
          <p:cNvSpPr txBox="1"/>
          <p:nvPr/>
        </p:nvSpPr>
        <p:spPr>
          <a:xfrm>
            <a:off x="5874873" y="3581934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11" name="Text 109"/>
          <p:cNvSpPr txBox="1"/>
          <p:nvPr/>
        </p:nvSpPr>
        <p:spPr>
          <a:xfrm>
            <a:off x="6145529" y="3730581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6145529" y="3898773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71486" y="4170350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4" name="Text 112"/>
          <p:cNvSpPr txBox="1"/>
          <p:nvPr/>
        </p:nvSpPr>
        <p:spPr>
          <a:xfrm>
            <a:off x="1857100" y="4170350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5" name="Text 113"/>
          <p:cNvSpPr txBox="1"/>
          <p:nvPr/>
        </p:nvSpPr>
        <p:spPr>
          <a:xfrm>
            <a:off x="3058591" y="4170350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6" name="Text 114"/>
          <p:cNvSpPr txBox="1"/>
          <p:nvPr/>
        </p:nvSpPr>
        <p:spPr>
          <a:xfrm>
            <a:off x="679382" y="4609605"/>
            <a:ext cx="646739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인식합니다.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검증은 지식 그래프가, 분석은 AI가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각자 잘하는 일에 집중합니다.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4460332" y="4923873"/>
            <a:ext cx="36118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497164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697156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898062" y="1270445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2232279"/>
            <a:ext cx="8549426" cy="2613927"/>
          </a:xfrm>
          <a:prstGeom prst="roundRect">
            <a:avLst>
              <a:gd name="adj" fmla="val 4373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9816" y="2129409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1703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1703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43590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51703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1702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2550198" y="2409730"/>
            <a:ext cx="1985113" cy="1023042"/>
          </a:xfrm>
          <a:prstGeom prst="roundRect">
            <a:avLst>
              <a:gd name="adj" fmla="val 78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550198" y="2409730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35311" y="2409730"/>
            <a:ext cx="686" cy="1023042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550198" y="343225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550198" y="2409730"/>
            <a:ext cx="686" cy="102304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51703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51703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43590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51702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50198" y="3546443"/>
            <a:ext cx="1985113" cy="1168604"/>
          </a:xfrm>
          <a:prstGeom prst="roundRect">
            <a:avLst>
              <a:gd name="adj" fmla="val 6846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550198" y="3546443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4535311" y="3546443"/>
            <a:ext cx="686" cy="1168604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550198" y="3546443"/>
            <a:ext cx="686" cy="116860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4832484" y="2409730"/>
            <a:ext cx="3859586" cy="2305831"/>
          </a:xfrm>
          <a:prstGeom prst="roundRect">
            <a:avLst>
              <a:gd name="adj" fmla="val 4213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21147" y="1395111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625976" y="1395111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625976" y="1424299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655008" y="1424299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4830808" y="1390246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4879193" y="1390246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7025959" y="1390246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7025959" y="1438895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7025959" y="1404841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063821" y="3304956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072355" y="3341131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038219" y="3160252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6" name="Text 4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레이아웃, 복잡한 표(Table)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2" y="843020"/>
            <a:ext cx="1549961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구조의 맥락까지 파싱합니다.</a:t>
            </a:r>
            <a:endParaRPr lang="en-US" sz="990" dirty="0"/>
          </a:p>
        </p:txBody>
      </p:sp>
      <p:sp>
        <p:nvSpPr>
          <p:cNvPr id="49" name="Text 47"/>
          <p:cNvSpPr txBox="1"/>
          <p:nvPr/>
        </p:nvSpPr>
        <p:spPr>
          <a:xfrm>
            <a:off x="585202" y="1357370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2785193" y="1357370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985184" y="1357370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2" name="Text 50"/>
          <p:cNvSpPr txBox="1"/>
          <p:nvPr/>
        </p:nvSpPr>
        <p:spPr>
          <a:xfrm>
            <a:off x="7185175" y="1357370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3" name="Text 51"/>
          <p:cNvSpPr txBox="1"/>
          <p:nvPr/>
        </p:nvSpPr>
        <p:spPr>
          <a:xfrm>
            <a:off x="411470" y="1553852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2611461" y="1553852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4811453" y="1553852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6" name="Text 54"/>
          <p:cNvSpPr txBox="1"/>
          <p:nvPr/>
        </p:nvSpPr>
        <p:spPr>
          <a:xfrm>
            <a:off x="7011444" y="1553852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7" name="Text 55"/>
          <p:cNvSpPr txBox="1"/>
          <p:nvPr/>
        </p:nvSpPr>
        <p:spPr>
          <a:xfrm>
            <a:off x="2353607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553599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53590" y="1608373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11470" y="1700956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2611462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811453" y="1700956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7011445" y="1700956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11470" y="1848574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2611461" y="1848574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4811452" y="1848574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7011445" y="1848574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8" name="Text 66"/>
          <p:cNvSpPr txBox="1"/>
          <p:nvPr/>
        </p:nvSpPr>
        <p:spPr>
          <a:xfrm>
            <a:off x="565086" y="2160785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493055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493055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676678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676678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76972" y="2822239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4" name="Text 72"/>
          <p:cNvSpPr txBox="1"/>
          <p:nvPr/>
        </p:nvSpPr>
        <p:spPr>
          <a:xfrm>
            <a:off x="2676382" y="2822239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5" name="Text 73"/>
          <p:cNvSpPr txBox="1"/>
          <p:nvPr/>
        </p:nvSpPr>
        <p:spPr>
          <a:xfrm>
            <a:off x="5271384" y="3040838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6" name="Text 74"/>
          <p:cNvSpPr txBox="1"/>
          <p:nvPr/>
        </p:nvSpPr>
        <p:spPr>
          <a:xfrm>
            <a:off x="5271385" y="3245549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7" name="Text 75"/>
          <p:cNvSpPr txBox="1"/>
          <p:nvPr/>
        </p:nvSpPr>
        <p:spPr>
          <a:xfrm>
            <a:off x="4987013" y="3523297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8" name="Text 76"/>
          <p:cNvSpPr txBox="1"/>
          <p:nvPr/>
        </p:nvSpPr>
        <p:spPr>
          <a:xfrm>
            <a:off x="576972" y="3630282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9" name="Text 77"/>
          <p:cNvSpPr txBox="1"/>
          <p:nvPr/>
        </p:nvSpPr>
        <p:spPr>
          <a:xfrm>
            <a:off x="2676382" y="3630282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80" name="Text 78"/>
          <p:cNvSpPr txBox="1"/>
          <p:nvPr/>
        </p:nvSpPr>
        <p:spPr>
          <a:xfrm>
            <a:off x="4987013" y="3707949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81" name="Text 79"/>
          <p:cNvSpPr txBox="1"/>
          <p:nvPr/>
        </p:nvSpPr>
        <p:spPr>
          <a:xfrm>
            <a:off x="576972" y="3813391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2" name="Text 80"/>
          <p:cNvSpPr txBox="1"/>
          <p:nvPr/>
        </p:nvSpPr>
        <p:spPr>
          <a:xfrm>
            <a:off x="2676382" y="3813391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4987013" y="3892600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3959466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3959466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576972" y="4105028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7" name="Text 85"/>
          <p:cNvSpPr txBox="1"/>
          <p:nvPr/>
        </p:nvSpPr>
        <p:spPr>
          <a:xfrm>
            <a:off x="2676382" y="4105028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8" name="Text 86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9" name="Text 87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2" y="1270445"/>
            <a:ext cx="5000729" cy="3124676"/>
          </a:xfrm>
          <a:prstGeom prst="roundRect">
            <a:avLst>
              <a:gd name="adj" fmla="val 3658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439816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041805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643793" y="1852175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39816" y="2551690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804395" y="2620099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571557" y="2620099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64656" y="2620099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9816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39816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1950367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39816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39816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1253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31253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86365" y="3905459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86364" y="3905459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041805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041805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552355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041805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041804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133241" y="3533585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2133242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388354" y="3905459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388353" y="3905459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3643793" y="3459518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3643793" y="3459518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155258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643793" y="4041248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3643793" y="3459518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3735231" y="3533585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3735231" y="3756298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3990342" y="3905459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3990343" y="3905459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5595074" y="1270445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5725830" y="1378973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5595074" y="2354180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5725830" y="2462708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5595074" y="3437401"/>
            <a:ext cx="3251525" cy="957720"/>
          </a:xfrm>
          <a:prstGeom prst="roundRect">
            <a:avLst>
              <a:gd name="adj" fmla="val 10144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5725830" y="3545929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51027" y="1996063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551027" y="2024610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579601" y="2024610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153016" y="1990891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2154301" y="2014905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2195877" y="2038883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3760681" y="199130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808305" y="1991306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3784493" y="2053156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01661" y="2702910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25434" y="2702910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556310" y="2647372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12709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12709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34883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2214697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2214697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2236871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3816686" y="3577004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3816686" y="3614080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3838860" y="3577005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5846527" y="1521447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5869387" y="1521447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5802922" y="1468309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5812238" y="2553876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5846527" y="2656489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5869387" y="2633687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5817954" y="3683218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5840812" y="3631911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468161" y="4634422"/>
            <a:ext cx="109725" cy="54650"/>
          </a:xfrm>
          <a:custGeom>
            <a:avLst/>
            <a:gdLst/>
            <a:ahLst/>
            <a:cxnLst/>
            <a:rect l="l" t="t" r="r" b="b"/>
            <a:pathLst>
              <a:path w="146300" h="72866">
                <a:moveTo>
                  <a:pt x="73150" y="0"/>
                </a:moveTo>
                <a:lnTo>
                  <a:pt x="0" y="36433"/>
                </a:lnTo>
                <a:lnTo>
                  <a:pt x="73150" y="72866"/>
                </a:lnTo>
                <a:lnTo>
                  <a:pt x="146300" y="36433"/>
                </a:lnTo>
                <a:lnTo>
                  <a:pt x="73150" y="0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6"/>
          <p:cNvSpPr/>
          <p:nvPr/>
        </p:nvSpPr>
        <p:spPr>
          <a:xfrm>
            <a:off x="468161" y="4716397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Shape 77"/>
          <p:cNvSpPr/>
          <p:nvPr/>
        </p:nvSpPr>
        <p:spPr>
          <a:xfrm>
            <a:off x="468161" y="4689072"/>
            <a:ext cx="109725" cy="27325"/>
          </a:xfrm>
          <a:custGeom>
            <a:avLst/>
            <a:gdLst/>
            <a:ahLst/>
            <a:cxnLst/>
            <a:rect l="l" t="t" r="r" b="b"/>
            <a:pathLst>
              <a:path w="146300" h="36433">
                <a:moveTo>
                  <a:pt x="0" y="0"/>
                </a:moveTo>
                <a:lnTo>
                  <a:pt x="73150" y="36433"/>
                </a:lnTo>
                <a:lnTo>
                  <a:pt x="146300" y="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81" name="Text 7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세일링스톤 자체 배포 플랫폼입</a:t>
            </a:r>
            <a:endParaRPr lang="en-US" sz="990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843020"/>
            <a:ext cx="390443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990" dirty="0"/>
          </a:p>
        </p:txBody>
      </p:sp>
      <p:sp>
        <p:nvSpPr>
          <p:cNvPr id="84" name="Text 82"/>
          <p:cNvSpPr txBox="1"/>
          <p:nvPr/>
        </p:nvSpPr>
        <p:spPr>
          <a:xfrm>
            <a:off x="6126328" y="1369200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439816" y="1382573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6126327" y="1563110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439816" y="1627404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6126328" y="1731303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9" name="Text 87"/>
          <p:cNvSpPr txBox="1"/>
          <p:nvPr/>
        </p:nvSpPr>
        <p:spPr>
          <a:xfrm>
            <a:off x="6126328" y="1900009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191955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91" name="Text 89"/>
          <p:cNvSpPr txBox="1"/>
          <p:nvPr/>
        </p:nvSpPr>
        <p:spPr>
          <a:xfrm>
            <a:off x="2316117" y="191955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191955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3" name="Text 91"/>
          <p:cNvSpPr txBox="1"/>
          <p:nvPr/>
        </p:nvSpPr>
        <p:spPr>
          <a:xfrm>
            <a:off x="714128" y="204814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4" name="Text 92"/>
          <p:cNvSpPr txBox="1"/>
          <p:nvPr/>
        </p:nvSpPr>
        <p:spPr>
          <a:xfrm>
            <a:off x="2316118" y="204814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5" name="Text 93"/>
          <p:cNvSpPr txBox="1"/>
          <p:nvPr/>
        </p:nvSpPr>
        <p:spPr>
          <a:xfrm>
            <a:off x="3918106" y="204814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6" name="Text 94"/>
          <p:cNvSpPr txBox="1"/>
          <p:nvPr/>
        </p:nvSpPr>
        <p:spPr>
          <a:xfrm>
            <a:off x="11832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2754104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8" name="Text 96"/>
          <p:cNvSpPr txBox="1"/>
          <p:nvPr/>
        </p:nvSpPr>
        <p:spPr>
          <a:xfrm>
            <a:off x="4325918" y="2314061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9" name="Text 97"/>
          <p:cNvSpPr txBox="1"/>
          <p:nvPr/>
        </p:nvSpPr>
        <p:spPr>
          <a:xfrm>
            <a:off x="6126327" y="2452935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100" name="Text 98"/>
          <p:cNvSpPr txBox="1"/>
          <p:nvPr/>
        </p:nvSpPr>
        <p:spPr>
          <a:xfrm>
            <a:off x="754362" y="2616499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1" name="Text 99"/>
          <p:cNvSpPr txBox="1"/>
          <p:nvPr/>
        </p:nvSpPr>
        <p:spPr>
          <a:xfrm>
            <a:off x="2883946" y="2643759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3651108" y="2643759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4344206" y="2643759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6126327" y="264684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26327" y="2815038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11832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2754104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8" name="Text 106"/>
          <p:cNvSpPr txBox="1"/>
          <p:nvPr/>
        </p:nvSpPr>
        <p:spPr>
          <a:xfrm>
            <a:off x="4325918" y="294208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8" y="2983230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439816" y="3234747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536156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552102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552102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552102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3727495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3727495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3727495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6126327" y="3730581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9" name="Text 117"/>
          <p:cNvSpPr txBox="1"/>
          <p:nvPr/>
        </p:nvSpPr>
        <p:spPr>
          <a:xfrm>
            <a:off x="531253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1687940" y="3869455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2133242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293587" y="3869455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3735231" y="3869455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4907462" y="3869455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5" name="Text 123"/>
          <p:cNvSpPr txBox="1"/>
          <p:nvPr/>
        </p:nvSpPr>
        <p:spPr>
          <a:xfrm>
            <a:off x="6126327" y="3898773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26" name="Text 124"/>
          <p:cNvSpPr txBox="1"/>
          <p:nvPr/>
        </p:nvSpPr>
        <p:spPr>
          <a:xfrm>
            <a:off x="6126327" y="4066966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27" name="Text 125"/>
          <p:cNvSpPr txBox="1"/>
          <p:nvPr/>
        </p:nvSpPr>
        <p:spPr>
          <a:xfrm>
            <a:off x="839399" y="41652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79382" y="4609605"/>
            <a:ext cx="5741192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사람은 늘어나도, 관리는 한곳에서 이루어집니다.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5961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1144943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4151" y="1324966"/>
            <a:ext cx="1418199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297173" y="1464868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83" y="1550251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9" name="Shape 7"/>
          <p:cNvSpPr/>
          <p:nvPr/>
        </p:nvSpPr>
        <p:spPr>
          <a:xfrm>
            <a:off x="297173" y="2217363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9583" y="2302745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297173" y="2969857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9583" y="3055754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297173" y="3722865"/>
            <a:ext cx="2626091" cy="672770"/>
          </a:xfrm>
          <a:prstGeom prst="roundRect">
            <a:avLst>
              <a:gd name="adj" fmla="val 1359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9583" y="3808247"/>
            <a:ext cx="193848" cy="194424"/>
          </a:xfrm>
          <a:prstGeom prst="ellipse">
            <a:avLst/>
          </a:prstGeom>
          <a:solidFill>
            <a:srgbClr val="F0FD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155844" y="1324966"/>
            <a:ext cx="2041805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3071393" y="1464869"/>
            <a:ext cx="3126256" cy="2930766"/>
          </a:xfrm>
          <a:prstGeom prst="roundRect">
            <a:avLst>
              <a:gd name="adj" fmla="val 351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91177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24508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6923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0254" y="1778623"/>
            <a:ext cx="687611" cy="342557"/>
          </a:xfrm>
          <a:prstGeom prst="roundRect">
            <a:avLst>
              <a:gd name="adj" fmla="val 16683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91177" y="2694165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7128" y="2750744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91177" y="3013577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77128" y="3070670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5" name="Shape 23"/>
          <p:cNvSpPr/>
          <p:nvPr/>
        </p:nvSpPr>
        <p:spPr>
          <a:xfrm>
            <a:off x="3191177" y="3333503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77128" y="3390081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7" name="Shape 25"/>
          <p:cNvSpPr/>
          <p:nvPr/>
        </p:nvSpPr>
        <p:spPr>
          <a:xfrm>
            <a:off x="3191177" y="3652914"/>
            <a:ext cx="2885774" cy="262833"/>
          </a:xfrm>
          <a:prstGeom prst="roundRect">
            <a:avLst>
              <a:gd name="adj" fmla="val 2609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77128" y="3710006"/>
            <a:ext cx="148129" cy="148647"/>
          </a:xfrm>
          <a:prstGeom prst="roundRect">
            <a:avLst>
              <a:gd name="adj" fmla="val 27006"/>
            </a:avLst>
          </a:prstGeom>
          <a:solidFill>
            <a:srgbClr val="0F172A"/>
          </a:solidFill>
          <a:ln/>
        </p:spPr>
      </p:sp>
      <p:sp>
        <p:nvSpPr>
          <p:cNvPr id="29" name="Shape 27"/>
          <p:cNvSpPr/>
          <p:nvPr/>
        </p:nvSpPr>
        <p:spPr>
          <a:xfrm>
            <a:off x="3191177" y="4023760"/>
            <a:ext cx="2885774" cy="268491"/>
          </a:xfrm>
          <a:prstGeom prst="roundRect">
            <a:avLst>
              <a:gd name="adj" fmla="val 25542"/>
            </a:avLst>
          </a:prstGeom>
          <a:solidFill>
            <a:srgbClr val="0F172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11777" y="1324966"/>
            <a:ext cx="1934822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45777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2248" y="1464869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45777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2248" y="1915954"/>
            <a:ext cx="1224351" cy="399650"/>
          </a:xfrm>
          <a:prstGeom prst="roundRect">
            <a:avLst>
              <a:gd name="adj" fmla="val 171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45777" y="2395842"/>
            <a:ext cx="2500822" cy="1999793"/>
          </a:xfrm>
          <a:prstGeom prst="roundRect">
            <a:avLst>
              <a:gd name="adj" fmla="val 4572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37" name="Shape 35"/>
          <p:cNvSpPr/>
          <p:nvPr/>
        </p:nvSpPr>
        <p:spPr>
          <a:xfrm>
            <a:off x="6467904" y="2507714"/>
            <a:ext cx="65721" cy="78695"/>
          </a:xfrm>
          <a:custGeom>
            <a:avLst/>
            <a:gdLst/>
            <a:ahLst/>
            <a:cxnLst/>
            <a:rect l="l" t="t" r="r" b="b"/>
            <a:pathLst>
              <a:path w="87628" h="104927">
                <a:moveTo>
                  <a:pt x="43814" y="0"/>
                </a:moveTo>
                <a:lnTo>
                  <a:pt x="87628" y="17488"/>
                </a:lnTo>
                <a:lnTo>
                  <a:pt x="87628" y="49549"/>
                </a:lnTo>
                <a:cubicBezTo>
                  <a:pt x="87628" y="75781"/>
                  <a:pt x="68934" y="96183"/>
                  <a:pt x="43814" y="104927"/>
                </a:cubicBezTo>
                <a:cubicBezTo>
                  <a:pt x="18694" y="96183"/>
                  <a:pt x="0" y="75781"/>
                  <a:pt x="0" y="49549"/>
                </a:cubicBezTo>
                <a:lnTo>
                  <a:pt x="0" y="17488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342" y="269738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64342" y="3005991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64342" y="3314086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342" y="348639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20" y="4639887"/>
            <a:ext cx="76808" cy="76510"/>
          </a:xfrm>
          <a:custGeom>
            <a:avLst/>
            <a:gdLst/>
            <a:ahLst/>
            <a:cxnLst/>
            <a:rect l="l" t="t" r="r" b="b"/>
            <a:pathLst>
              <a:path w="102410" h="102013">
                <a:moveTo>
                  <a:pt x="51205" y="0"/>
                </a:moveTo>
                <a:lnTo>
                  <a:pt x="65104" y="37162"/>
                </a:lnTo>
                <a:lnTo>
                  <a:pt x="102410" y="51006"/>
                </a:lnTo>
                <a:lnTo>
                  <a:pt x="65104" y="64851"/>
                </a:lnTo>
                <a:lnTo>
                  <a:pt x="51205" y="102013"/>
                </a:lnTo>
                <a:lnTo>
                  <a:pt x="37307" y="64851"/>
                </a:lnTo>
                <a:lnTo>
                  <a:pt x="0" y="51006"/>
                </a:lnTo>
                <a:lnTo>
                  <a:pt x="37307" y="37162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4969" y="4710932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21945" y="0"/>
                </a:moveTo>
                <a:lnTo>
                  <a:pt x="27797" y="16031"/>
                </a:lnTo>
                <a:lnTo>
                  <a:pt x="43890" y="21860"/>
                </a:lnTo>
                <a:lnTo>
                  <a:pt x="27797" y="27689"/>
                </a:lnTo>
                <a:lnTo>
                  <a:pt x="21945" y="43720"/>
                </a:lnTo>
                <a:lnTo>
                  <a:pt x="16093" y="27689"/>
                </a:lnTo>
                <a:lnTo>
                  <a:pt x="0" y="21860"/>
                </a:lnTo>
                <a:lnTo>
                  <a:pt x="16093" y="16031"/>
                </a:lnTo>
                <a:close/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5303" y="167678"/>
            <a:ext cx="370542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 마법처럼 끝 -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45" name="Text 43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641909"/>
            <a:ext cx="8846599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더홍시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세일링스톤이 함께 세운 합작법인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bibidi(비비디바비디부)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의 연말정산 프로그램입니다. 세무 실무 노하우에 세일링스톤이 설계</a:t>
            </a:r>
            <a:endParaRPr lang="en-US" sz="990" dirty="0"/>
          </a:p>
        </p:txBody>
      </p:sp>
      <p:sp>
        <p:nvSpPr>
          <p:cNvPr id="47" name="Text 45"/>
          <p:cNvSpPr txBox="1"/>
          <p:nvPr/>
        </p:nvSpPr>
        <p:spPr>
          <a:xfrm>
            <a:off x="297173" y="843020"/>
            <a:ext cx="4715260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계산과 AI 기능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더해, 담당자의 가산세 리스크는 줄이고 정산은 쉽게 만듭니다.</a:t>
            </a:r>
            <a:endParaRPr lang="en-US" sz="990" dirty="0"/>
          </a:p>
        </p:txBody>
      </p:sp>
      <p:sp>
        <p:nvSpPr>
          <p:cNvPr id="48" name="Text 46"/>
          <p:cNvSpPr txBox="1"/>
          <p:nvPr/>
        </p:nvSpPr>
        <p:spPr>
          <a:xfrm>
            <a:off x="297173" y="1263758"/>
            <a:ext cx="126458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안심하고 맡길 수 있는 이유</a:t>
            </a:r>
            <a:endParaRPr lang="en-US" sz="720" dirty="0"/>
          </a:p>
        </p:txBody>
      </p:sp>
      <p:sp>
        <p:nvSpPr>
          <p:cNvPr id="49" name="Text 47"/>
          <p:cNvSpPr txBox="1"/>
          <p:nvPr/>
        </p:nvSpPr>
        <p:spPr>
          <a:xfrm>
            <a:off x="3071393" y="1263758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화면으로 보는 진행 흐름</a:t>
            </a:r>
            <a:endParaRPr lang="en-US" sz="720" dirty="0"/>
          </a:p>
        </p:txBody>
      </p:sp>
      <p:sp>
        <p:nvSpPr>
          <p:cNvPr id="50" name="Text 48"/>
          <p:cNvSpPr txBox="1"/>
          <p:nvPr/>
        </p:nvSpPr>
        <p:spPr>
          <a:xfrm>
            <a:off x="6345777" y="1263758"/>
            <a:ext cx="62360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연동과 보안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431729" y="1520933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52" name="Text 50"/>
          <p:cNvSpPr txBox="1"/>
          <p:nvPr/>
        </p:nvSpPr>
        <p:spPr>
          <a:xfrm>
            <a:off x="7707285" y="1520933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679382" y="1542021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63" dirty="0"/>
          </a:p>
        </p:txBody>
      </p:sp>
      <p:sp>
        <p:nvSpPr>
          <p:cNvPr id="54" name="Text 52"/>
          <p:cNvSpPr txBox="1"/>
          <p:nvPr/>
        </p:nvSpPr>
        <p:spPr>
          <a:xfrm>
            <a:off x="3191177" y="1561053"/>
            <a:ext cx="1492267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관리자 - 전사 대상자 관리</a:t>
            </a:r>
            <a:endParaRPr lang="en-US" sz="645" dirty="0"/>
          </a:p>
        </p:txBody>
      </p:sp>
      <p:sp>
        <p:nvSpPr>
          <p:cNvPr id="55" name="Text 53"/>
          <p:cNvSpPr txBox="1"/>
          <p:nvPr/>
        </p:nvSpPr>
        <p:spPr>
          <a:xfrm>
            <a:off x="446217" y="1583169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56" name="Text 54"/>
          <p:cNvSpPr txBox="1"/>
          <p:nvPr/>
        </p:nvSpPr>
        <p:spPr>
          <a:xfrm>
            <a:off x="6431729" y="1687069"/>
            <a:ext cx="7177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45" dirty="0"/>
          </a:p>
        </p:txBody>
      </p:sp>
      <p:sp>
        <p:nvSpPr>
          <p:cNvPr id="57" name="Text 55"/>
          <p:cNvSpPr txBox="1"/>
          <p:nvPr/>
        </p:nvSpPr>
        <p:spPr>
          <a:xfrm>
            <a:off x="7707285" y="1687069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58" name="Text 56"/>
          <p:cNvSpPr txBox="1"/>
          <p:nvPr/>
        </p:nvSpPr>
        <p:spPr>
          <a:xfrm>
            <a:off x="679382" y="1706613"/>
            <a:ext cx="227716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436230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</a:t>
            </a:r>
            <a:endParaRPr lang="en-US" sz="593" dirty="0"/>
          </a:p>
        </p:txBody>
      </p:sp>
      <p:sp>
        <p:nvSpPr>
          <p:cNvPr id="60" name="Text 58"/>
          <p:cNvSpPr txBox="1"/>
          <p:nvPr/>
        </p:nvSpPr>
        <p:spPr>
          <a:xfrm>
            <a:off x="4168646" y="1822857"/>
            <a:ext cx="334666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입력중</a:t>
            </a:r>
            <a:endParaRPr lang="en-US" sz="593" dirty="0"/>
          </a:p>
        </p:txBody>
      </p:sp>
      <p:sp>
        <p:nvSpPr>
          <p:cNvPr id="61" name="Text 59"/>
          <p:cNvSpPr txBox="1"/>
          <p:nvPr/>
        </p:nvSpPr>
        <p:spPr>
          <a:xfrm>
            <a:off x="4869059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입력완료</a:t>
            </a:r>
            <a:endParaRPr lang="en-US" sz="593" dirty="0"/>
          </a:p>
        </p:txBody>
      </p:sp>
      <p:sp>
        <p:nvSpPr>
          <p:cNvPr id="62" name="Text 60"/>
          <p:cNvSpPr txBox="1"/>
          <p:nvPr/>
        </p:nvSpPr>
        <p:spPr>
          <a:xfrm>
            <a:off x="5601474" y="1822857"/>
            <a:ext cx="400501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검토완료</a:t>
            </a:r>
            <a:endParaRPr lang="en-US" sz="593" dirty="0"/>
          </a:p>
        </p:txBody>
      </p:sp>
      <p:sp>
        <p:nvSpPr>
          <p:cNvPr id="63" name="Text 61"/>
          <p:cNvSpPr txBox="1"/>
          <p:nvPr/>
        </p:nvSpPr>
        <p:spPr>
          <a:xfrm>
            <a:off x="679383" y="1839316"/>
            <a:ext cx="15861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이드에 맞춘 설문으로 사전에 걸러냅니다</a:t>
            </a:r>
            <a:endParaRPr lang="en-US" sz="720" dirty="0"/>
          </a:p>
        </p:txBody>
      </p:sp>
      <p:sp>
        <p:nvSpPr>
          <p:cNvPr id="64" name="Text 62"/>
          <p:cNvSpPr txBox="1"/>
          <p:nvPr/>
        </p:nvSpPr>
        <p:spPr>
          <a:xfrm>
            <a:off x="3368566" y="1911840"/>
            <a:ext cx="46907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2,860</a:t>
            </a:r>
            <a:endParaRPr lang="en-US" sz="945" dirty="0"/>
          </a:p>
        </p:txBody>
      </p:sp>
      <p:sp>
        <p:nvSpPr>
          <p:cNvPr id="65" name="Text 63"/>
          <p:cNvSpPr txBox="1"/>
          <p:nvPr/>
        </p:nvSpPr>
        <p:spPr>
          <a:xfrm>
            <a:off x="4233566" y="1911840"/>
            <a:ext cx="20573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7</a:t>
            </a:r>
            <a:endParaRPr lang="en-US" sz="945" dirty="0"/>
          </a:p>
        </p:txBody>
      </p:sp>
      <p:sp>
        <p:nvSpPr>
          <p:cNvPr id="66" name="Text 64"/>
          <p:cNvSpPr txBox="1"/>
          <p:nvPr/>
        </p:nvSpPr>
        <p:spPr>
          <a:xfrm>
            <a:off x="4944952" y="1911840"/>
            <a:ext cx="2496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11</a:t>
            </a:r>
            <a:endParaRPr lang="en-US" sz="945" dirty="0"/>
          </a:p>
        </p:txBody>
      </p:sp>
      <p:sp>
        <p:nvSpPr>
          <p:cNvPr id="67" name="Text 65"/>
          <p:cNvSpPr txBox="1"/>
          <p:nvPr/>
        </p:nvSpPr>
        <p:spPr>
          <a:xfrm>
            <a:off x="5698398" y="1911840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68" name="Text 66"/>
          <p:cNvSpPr txBox="1"/>
          <p:nvPr/>
        </p:nvSpPr>
        <p:spPr>
          <a:xfrm>
            <a:off x="6431729" y="1972532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707285" y="1972532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6431729" y="2138154"/>
            <a:ext cx="84123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45" dirty="0"/>
          </a:p>
        </p:txBody>
      </p:sp>
      <p:sp>
        <p:nvSpPr>
          <p:cNvPr id="71" name="Text 69"/>
          <p:cNvSpPr txBox="1"/>
          <p:nvPr/>
        </p:nvSpPr>
        <p:spPr>
          <a:xfrm>
            <a:off x="7707285" y="2138154"/>
            <a:ext cx="89335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45" dirty="0"/>
          </a:p>
        </p:txBody>
      </p:sp>
      <p:sp>
        <p:nvSpPr>
          <p:cNvPr id="72" name="Text 70"/>
          <p:cNvSpPr txBox="1"/>
          <p:nvPr/>
        </p:nvSpPr>
        <p:spPr>
          <a:xfrm>
            <a:off x="3191176" y="2229193"/>
            <a:ext cx="29490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상태별 인원을 클릭하면 해당 대상자만 걸러 리마인드를 보낼 수 있습니다</a:t>
            </a:r>
            <a:endParaRPr lang="en-US" sz="683" dirty="0"/>
          </a:p>
        </p:txBody>
      </p:sp>
      <p:sp>
        <p:nvSpPr>
          <p:cNvPr id="73" name="Text 71"/>
          <p:cNvSpPr txBox="1"/>
          <p:nvPr/>
        </p:nvSpPr>
        <p:spPr>
          <a:xfrm>
            <a:off x="679383" y="2294515"/>
            <a:ext cx="1393514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63" dirty="0"/>
          </a:p>
        </p:txBody>
      </p:sp>
      <p:sp>
        <p:nvSpPr>
          <p:cNvPr id="74" name="Text 72"/>
          <p:cNvSpPr txBox="1"/>
          <p:nvPr/>
        </p:nvSpPr>
        <p:spPr>
          <a:xfrm>
            <a:off x="439816" y="2336178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75" name="Text 73"/>
          <p:cNvSpPr txBox="1"/>
          <p:nvPr/>
        </p:nvSpPr>
        <p:spPr>
          <a:xfrm>
            <a:off x="679383" y="2459622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담당자가 한 번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6605461" y="2473510"/>
            <a:ext cx="1520792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고객사 데이터를 지키는 이중 잠금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3191177" y="2476596"/>
            <a:ext cx="1470322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r>
              <a:rPr lang="en-US" sz="645" kern="0" spc="78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사용자 - 입력부터 결과까지</a:t>
            </a:r>
            <a:endParaRPr lang="en-US" sz="645" dirty="0"/>
          </a:p>
        </p:txBody>
      </p:sp>
      <p:sp>
        <p:nvSpPr>
          <p:cNvPr id="78" name="Text 76"/>
          <p:cNvSpPr txBox="1"/>
          <p:nvPr/>
        </p:nvSpPr>
        <p:spPr>
          <a:xfrm>
            <a:off x="679382" y="2591810"/>
            <a:ext cx="12380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더 확인하는 수고를 덜어줍니다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602717" y="2647360"/>
            <a:ext cx="231840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 - 다른 고객사는 구조적으로 접</a:t>
            </a:r>
            <a:endParaRPr lang="en-US" sz="735" dirty="0"/>
          </a:p>
        </p:txBody>
      </p:sp>
      <p:sp>
        <p:nvSpPr>
          <p:cNvPr id="80" name="Text 78"/>
          <p:cNvSpPr txBox="1"/>
          <p:nvPr/>
        </p:nvSpPr>
        <p:spPr>
          <a:xfrm>
            <a:off x="3493835" y="2756401"/>
            <a:ext cx="111097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· 부양가족 설문</a:t>
            </a:r>
            <a:endParaRPr lang="en-US" sz="773" dirty="0"/>
          </a:p>
        </p:txBody>
      </p:sp>
      <p:sp>
        <p:nvSpPr>
          <p:cNvPr id="81" name="Text 79"/>
          <p:cNvSpPr txBox="1"/>
          <p:nvPr/>
        </p:nvSpPr>
        <p:spPr>
          <a:xfrm>
            <a:off x="5324419" y="2764117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공제 요건 즉시 판단</a:t>
            </a:r>
            <a:endParaRPr lang="en-US" sz="683" dirty="0"/>
          </a:p>
        </p:txBody>
      </p:sp>
      <p:sp>
        <p:nvSpPr>
          <p:cNvPr id="82" name="Text 80"/>
          <p:cNvSpPr txBox="1"/>
          <p:nvPr/>
        </p:nvSpPr>
        <p:spPr>
          <a:xfrm>
            <a:off x="3333819" y="2770804"/>
            <a:ext cx="17190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615" dirty="0"/>
          </a:p>
        </p:txBody>
      </p:sp>
      <p:sp>
        <p:nvSpPr>
          <p:cNvPr id="83" name="Text 81"/>
          <p:cNvSpPr txBox="1"/>
          <p:nvPr/>
        </p:nvSpPr>
        <p:spPr>
          <a:xfrm>
            <a:off x="6602718" y="2783663"/>
            <a:ext cx="40415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 불가</a:t>
            </a:r>
            <a:endParaRPr lang="en-US" sz="735" dirty="0"/>
          </a:p>
        </p:txBody>
      </p:sp>
      <p:sp>
        <p:nvSpPr>
          <p:cNvPr id="84" name="Text 82"/>
          <p:cNvSpPr txBox="1"/>
          <p:nvPr/>
        </p:nvSpPr>
        <p:spPr>
          <a:xfrm>
            <a:off x="6602718" y="2955970"/>
            <a:ext cx="22892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고객사마다 다른 전용 암호화 키를 자동 발급하고, 그 키를</a:t>
            </a:r>
            <a:endParaRPr lang="en-US" sz="735" dirty="0"/>
          </a:p>
        </p:txBody>
      </p:sp>
      <p:sp>
        <p:nvSpPr>
          <p:cNvPr id="85" name="Text 83"/>
          <p:cNvSpPr txBox="1"/>
          <p:nvPr/>
        </p:nvSpPr>
        <p:spPr>
          <a:xfrm>
            <a:off x="679382" y="3047524"/>
            <a:ext cx="1251786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3493835" y="3075813"/>
            <a:ext cx="1161263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국세청 간소화 PDF 업로드</a:t>
            </a:r>
            <a:endParaRPr lang="en-US" sz="773" dirty="0"/>
          </a:p>
        </p:txBody>
      </p:sp>
      <p:sp>
        <p:nvSpPr>
          <p:cNvPr id="87" name="Text 85"/>
          <p:cNvSpPr txBox="1"/>
          <p:nvPr/>
        </p:nvSpPr>
        <p:spPr>
          <a:xfrm>
            <a:off x="5015359" y="3084043"/>
            <a:ext cx="111371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자동 인식 · 안분 계산</a:t>
            </a:r>
            <a:endParaRPr lang="en-US" sz="683" dirty="0"/>
          </a:p>
        </p:txBody>
      </p:sp>
      <p:sp>
        <p:nvSpPr>
          <p:cNvPr id="88" name="Text 86"/>
          <p:cNvSpPr txBox="1"/>
          <p:nvPr/>
        </p:nvSpPr>
        <p:spPr>
          <a:xfrm>
            <a:off x="439816" y="3088672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3328333" y="3090214"/>
            <a:ext cx="18287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615" dirty="0"/>
          </a:p>
        </p:txBody>
      </p:sp>
      <p:sp>
        <p:nvSpPr>
          <p:cNvPr id="90" name="Text 88"/>
          <p:cNvSpPr txBox="1"/>
          <p:nvPr/>
        </p:nvSpPr>
        <p:spPr>
          <a:xfrm>
            <a:off x="6602717" y="3091759"/>
            <a:ext cx="114571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번 더 잠그는 이중 암호화</a:t>
            </a:r>
            <a:endParaRPr lang="en-US" sz="735" dirty="0"/>
          </a:p>
        </p:txBody>
      </p:sp>
      <p:sp>
        <p:nvSpPr>
          <p:cNvPr id="91" name="Text 89"/>
          <p:cNvSpPr txBox="1"/>
          <p:nvPr/>
        </p:nvSpPr>
        <p:spPr>
          <a:xfrm>
            <a:off x="679382" y="3212116"/>
            <a:ext cx="232142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602717" y="3264066"/>
            <a:ext cx="189395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서버가 통째로 유출되어도 읽히는 개인정보 0건</a:t>
            </a:r>
            <a:endParaRPr lang="en-US" sz="735" dirty="0"/>
          </a:p>
        </p:txBody>
      </p:sp>
      <p:sp>
        <p:nvSpPr>
          <p:cNvPr id="93" name="Text 91"/>
          <p:cNvSpPr txBox="1"/>
          <p:nvPr/>
        </p:nvSpPr>
        <p:spPr>
          <a:xfrm>
            <a:off x="679382" y="3344818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끝까지 갑니다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493836" y="3395739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제출서류 자동 안내</a:t>
            </a:r>
            <a:endParaRPr lang="en-US" sz="773" dirty="0"/>
          </a:p>
        </p:txBody>
      </p:sp>
      <p:sp>
        <p:nvSpPr>
          <p:cNvPr id="95" name="Text 93"/>
          <p:cNvSpPr txBox="1"/>
          <p:nvPr/>
        </p:nvSpPr>
        <p:spPr>
          <a:xfrm>
            <a:off x="5268642" y="3403968"/>
            <a:ext cx="860432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미제출 항목만 재요청</a:t>
            </a:r>
            <a:endParaRPr lang="en-US" sz="683" dirty="0"/>
          </a:p>
        </p:txBody>
      </p:sp>
      <p:sp>
        <p:nvSpPr>
          <p:cNvPr id="96" name="Text 94"/>
          <p:cNvSpPr txBox="1"/>
          <p:nvPr/>
        </p:nvSpPr>
        <p:spPr>
          <a:xfrm>
            <a:off x="3327418" y="3410140"/>
            <a:ext cx="183794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615" dirty="0"/>
          </a:p>
        </p:txBody>
      </p:sp>
      <p:sp>
        <p:nvSpPr>
          <p:cNvPr id="97" name="Text 95"/>
          <p:cNvSpPr txBox="1"/>
          <p:nvPr/>
        </p:nvSpPr>
        <p:spPr>
          <a:xfrm>
            <a:off x="6602718" y="3436888"/>
            <a:ext cx="227615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공개 표준 시험 12개 항목 통과 · 계약 종료 시 키 삭</a:t>
            </a:r>
            <a:endParaRPr lang="en-US" sz="735" dirty="0"/>
          </a:p>
        </p:txBody>
      </p:sp>
      <p:sp>
        <p:nvSpPr>
          <p:cNvPr id="98" name="Text 96"/>
          <p:cNvSpPr txBox="1"/>
          <p:nvPr/>
        </p:nvSpPr>
        <p:spPr>
          <a:xfrm>
            <a:off x="6602717" y="3572676"/>
            <a:ext cx="834830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제만으로 영구 파기</a:t>
            </a:r>
            <a:endParaRPr lang="en-US" sz="735" dirty="0"/>
          </a:p>
        </p:txBody>
      </p:sp>
      <p:sp>
        <p:nvSpPr>
          <p:cNvPr id="99" name="Text 97"/>
          <p:cNvSpPr txBox="1"/>
          <p:nvPr/>
        </p:nvSpPr>
        <p:spPr>
          <a:xfrm>
            <a:off x="3493836" y="3715664"/>
            <a:ext cx="11493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결과 실시간 확인</a:t>
            </a:r>
            <a:endParaRPr lang="en-US" sz="773" dirty="0"/>
          </a:p>
        </p:txBody>
      </p:sp>
      <p:sp>
        <p:nvSpPr>
          <p:cNvPr id="100" name="Text 98"/>
          <p:cNvSpPr txBox="1"/>
          <p:nvPr/>
        </p:nvSpPr>
        <p:spPr>
          <a:xfrm>
            <a:off x="5400311" y="3723380"/>
            <a:ext cx="72784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 전 미리 확인</a:t>
            </a:r>
            <a:endParaRPr lang="en-US" sz="683" dirty="0"/>
          </a:p>
        </p:txBody>
      </p:sp>
      <p:sp>
        <p:nvSpPr>
          <p:cNvPr id="101" name="Text 99"/>
          <p:cNvSpPr txBox="1"/>
          <p:nvPr/>
        </p:nvSpPr>
        <p:spPr>
          <a:xfrm>
            <a:off x="3327419" y="3730066"/>
            <a:ext cx="185622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615" dirty="0"/>
          </a:p>
        </p:txBody>
      </p:sp>
      <p:sp>
        <p:nvSpPr>
          <p:cNvPr id="102" name="Text 100"/>
          <p:cNvSpPr txBox="1"/>
          <p:nvPr/>
        </p:nvSpPr>
        <p:spPr>
          <a:xfrm>
            <a:off x="679382" y="3800017"/>
            <a:ext cx="1322193" cy="1537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63" kern="0" spc="-9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63" dirty="0"/>
          </a:p>
        </p:txBody>
      </p:sp>
      <p:sp>
        <p:nvSpPr>
          <p:cNvPr id="103" name="Text 101"/>
          <p:cNvSpPr txBox="1"/>
          <p:nvPr/>
        </p:nvSpPr>
        <p:spPr>
          <a:xfrm>
            <a:off x="438901" y="3841166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104" name="Text 102"/>
          <p:cNvSpPr txBox="1"/>
          <p:nvPr/>
        </p:nvSpPr>
        <p:spPr>
          <a:xfrm>
            <a:off x="679383" y="3964610"/>
            <a:ext cx="2293258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</a:t>
            </a:r>
            <a:endParaRPr lang="en-US" sz="720" dirty="0"/>
          </a:p>
        </p:txBody>
      </p:sp>
      <p:sp>
        <p:nvSpPr>
          <p:cNvPr id="105" name="Text 103"/>
          <p:cNvSpPr txBox="1"/>
          <p:nvPr/>
        </p:nvSpPr>
        <p:spPr>
          <a:xfrm>
            <a:off x="5334476" y="4078281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제출 즉시 계산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3282614" y="4094226"/>
            <a:ext cx="120332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679382" y="4097312"/>
            <a:ext cx="637325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대응합니다</a:t>
            </a:r>
            <a:endParaRPr lang="en-US" sz="720" dirty="0"/>
          </a:p>
        </p:txBody>
      </p:sp>
      <p:sp>
        <p:nvSpPr>
          <p:cNvPr id="108" name="Text 106"/>
          <p:cNvSpPr txBox="1"/>
          <p:nvPr/>
        </p:nvSpPr>
        <p:spPr>
          <a:xfrm>
            <a:off x="679383" y="4609605"/>
            <a:ext cx="702762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인식이 전면 도입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 국내 연말정산 자료 DB에 근거해서만 답하고, 계산 근거와 출처를 함께 보여줍니다.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110" name="Text 108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28" name="Text 26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2" name="Text 30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36" name="Text 34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37" name="Text 35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38" name="Text 36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39" name="Text 37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40" name="Text 38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34330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45" name="Text 43"/>
          <p:cNvSpPr txBox="1"/>
          <p:nvPr/>
        </p:nvSpPr>
        <p:spPr>
          <a:xfrm>
            <a:off x="2646208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46" name="Text 44"/>
          <p:cNvSpPr txBox="1"/>
          <p:nvPr/>
        </p:nvSpPr>
        <p:spPr>
          <a:xfrm>
            <a:off x="4857172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0" name="Text 48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52" name="Text 50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6" name="Text 64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7" name="Text 65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82" name="Text 80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83" name="Text 81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84" name="Text 82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85" name="Text 83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86" name="Text 84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87" name="Text 85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88" name="Text 86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89" name="Text 87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548112" y="1695298"/>
            <a:ext cx="3394168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39888"/>
            <a:ext cx="98753" cy="98369"/>
          </a:xfrm>
          <a:custGeom>
            <a:avLst/>
            <a:gdLst/>
            <a:ahLst/>
            <a:cxnLst/>
            <a:rect l="l" t="t" r="r" b="b"/>
            <a:pathLst>
              <a:path w="131670" h="131159">
                <a:moveTo>
                  <a:pt x="131670" y="65580"/>
                </a:moveTo>
                <a:cubicBezTo>
                  <a:pt x="131670" y="101798"/>
                  <a:pt x="102195" y="131159"/>
                  <a:pt x="65835" y="131159"/>
                </a:cubicBezTo>
                <a:cubicBezTo>
                  <a:pt x="29475" y="131159"/>
                  <a:pt x="0" y="101798"/>
                  <a:pt x="0" y="65580"/>
                </a:cubicBezTo>
                <a:cubicBezTo>
                  <a:pt x="0" y="29361"/>
                  <a:pt x="29475" y="0"/>
                  <a:pt x="65835" y="0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39482" y="4639887"/>
            <a:ext cx="32918" cy="32790"/>
          </a:xfrm>
          <a:custGeom>
            <a:avLst/>
            <a:gdLst/>
            <a:ahLst/>
            <a:cxnLst/>
            <a:rect l="l" t="t" r="r" b="b"/>
            <a:pathLst>
              <a:path w="43890" h="43720">
                <a:moveTo>
                  <a:pt x="43890" y="0"/>
                </a:moveTo>
                <a:lnTo>
                  <a:pt x="43890" y="43720"/>
                </a:lnTo>
                <a:lnTo>
                  <a:pt x="0" y="4372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235046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영역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3" y="1262730"/>
            <a:ext cx="1794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D2C 해외영업 조직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3" y="1262730"/>
            <a:ext cx="850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이커머스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5751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해외 법인 전체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70888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매출 GMV · 손익 · 트래픽 · 상품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2242053" y="1739018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 · 4개월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810867" y="1739018"/>
            <a:ext cx="10049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구축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경과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4422842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8033717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40" name="Text 38"/>
          <p:cNvSpPr txBox="1"/>
          <p:nvPr/>
        </p:nvSpPr>
        <p:spPr>
          <a:xfrm>
            <a:off x="8192819" y="1746218"/>
            <a:ext cx="659270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고도화</a:t>
            </a:r>
            <a:endParaRPr lang="en-US" sz="773" dirty="0"/>
          </a:p>
        </p:txBody>
      </p:sp>
      <p:sp>
        <p:nvSpPr>
          <p:cNvPr id="41" name="Text 39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1587359" y="2260054"/>
            <a:ext cx="62452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인사이트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3876045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조회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생성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8329976" y="2260054"/>
            <a:ext cx="516626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문서 RAG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434330" y="2408701"/>
            <a:ext cx="6492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2408701"/>
            <a:ext cx="1451120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4857171" y="2408701"/>
            <a:ext cx="129293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7069051" y="2408701"/>
            <a:ext cx="153587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1095" dirty="0"/>
          </a:p>
        </p:txBody>
      </p:sp>
      <p:sp>
        <p:nvSpPr>
          <p:cNvPr id="53" name="Text 51"/>
          <p:cNvSpPr txBox="1"/>
          <p:nvPr/>
        </p:nvSpPr>
        <p:spPr>
          <a:xfrm>
            <a:off x="434330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4" name="Text 52"/>
          <p:cNvSpPr txBox="1"/>
          <p:nvPr/>
        </p:nvSpPr>
        <p:spPr>
          <a:xfrm>
            <a:off x="2646208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5" name="Text 53"/>
          <p:cNvSpPr txBox="1"/>
          <p:nvPr/>
        </p:nvSpPr>
        <p:spPr>
          <a:xfrm>
            <a:off x="4857172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6" name="Text 54"/>
          <p:cNvSpPr txBox="1"/>
          <p:nvPr/>
        </p:nvSpPr>
        <p:spPr>
          <a:xfrm>
            <a:off x="7069051" y="2720912"/>
            <a:ext cx="46907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 기능</a:t>
            </a:r>
            <a:endParaRPr lang="en-US" sz="705" dirty="0"/>
          </a:p>
        </p:txBody>
      </p:sp>
      <p:sp>
        <p:nvSpPr>
          <p:cNvPr id="57" name="Text 55"/>
          <p:cNvSpPr txBox="1"/>
          <p:nvPr/>
        </p:nvSpPr>
        <p:spPr>
          <a:xfrm>
            <a:off x="434330" y="2853614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2646208" y="2853614"/>
            <a:ext cx="178532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 형태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4857171" y="2853614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보고서에 쓸 수 있는 차트로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7069050" y="2853614"/>
            <a:ext cx="170686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434330" y="3007919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줄로 확인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2646208" y="3007919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로 즉시 제공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4857172" y="3007919"/>
            <a:ext cx="10762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 (GenChart)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7069050" y="3007919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식화해 답변에 활용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434330" y="3224975"/>
            <a:ext cx="174508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지역-법인, 사업부-제품군 등 단계별 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2646208" y="3224975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필요한 기초 데이터를 그대로 내려받아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4857172" y="3224975"/>
            <a:ext cx="179537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프롬프트만으로 분석 내용을 PPT 문서로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7069050" y="3224975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정해진 문답 매칭이 아니라 질문 의도를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434330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릴다운 분석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2646208" y="3379280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후속 작업에 활용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4857171" y="3379280"/>
            <a:ext cx="52028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생성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7069051" y="3379280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해석해 응답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34329" y="3596336"/>
            <a:ext cx="131030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연관 질의를 눌러 이어서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646208" y="3596336"/>
            <a:ext cx="118046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 · 차원을 조합해 탐색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4857171" y="3596336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생성한 문서를 메일로 발송해 필요한 사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7069050" y="3596336"/>
            <a:ext cx="171994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한글 · 영문 질의에 각각 대응해 해외 법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4857171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람에게 바로 공유</a:t>
            </a:r>
            <a:endParaRPr lang="en-US" sz="810" dirty="0"/>
          </a:p>
        </p:txBody>
      </p:sp>
      <p:sp>
        <p:nvSpPr>
          <p:cNvPr id="78" name="Text 76"/>
          <p:cNvSpPr txBox="1"/>
          <p:nvPr/>
        </p:nvSpPr>
        <p:spPr>
          <a:xfrm>
            <a:off x="7069050" y="3750641"/>
            <a:ext cx="81379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 확산까지 고려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679382" y="4609605"/>
            <a:ext cx="4249568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수집해 재학습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구축했습니다.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- 27 -</a:t>
            </a:r>
            <a:endParaRPr lang="en-US" sz="705" dirty="0"/>
          </a:p>
        </p:txBody>
      </p:sp>
      <p:sp>
        <p:nvSpPr>
          <p:cNvPr id="81" name="Text 7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6323</Words>
  <Application>Microsoft Office PowerPoint</Application>
  <PresentationFormat>화면 슬라이드 쇼(16:9)</PresentationFormat>
  <Paragraphs>1128</Paragraphs>
  <Slides>35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4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95</cp:revision>
  <dcterms:created xsi:type="dcterms:W3CDTF">2026-05-21T10:23:19Z</dcterms:created>
  <dcterms:modified xsi:type="dcterms:W3CDTF">2026-09-16T08:35:11Z</dcterms:modified>
</cp:coreProperties>
</file>