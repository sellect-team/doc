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7" r:id="rId4"/>
    <p:sldId id="271" r:id="rId5"/>
    <p:sldId id="272" r:id="rId6"/>
    <p:sldId id="273" r:id="rId7"/>
    <p:sldId id="274" r:id="rId8"/>
    <p:sldId id="27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243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NHN Cloud 영업 담당자 요청에 대한 회신 자료입니다. 고객사 보안 정책상 실제 데이터와 구축 화면은 포함하지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다섯 건 모두 '통제된 사내 데이터로 기존 BI를 AI 기반 BI로 전환'이라는 같은 과제 유형입니다. 제품 고도화 버전이 4월 출시라 누적 사례는 많지 않지만, 대신 전부 최근 사례이고 현재 진행형입니다.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결제 유사성을 묻는 요청에 대해 가장 가까운 사례입니다. 결제는 아니지만 개통·정산은 거래 건 단위 데이터라 스키마 구조와 분석 패턴이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다섯 건 중 유일하게 PoC를 완주하고 본 구축까지 이어진 사례입니다. 레퍼런스로서 가장 중요한 지점이니 진행 경과 띠를 먼저 짚어 주세요. PoC 4개월 뒤 바로 본 구축으로 넘어갔습니다.</a:t>
            </a:r>
          </a:p>
          <a:p>
            <a:endParaRPr/>
          </a:p>
          <a:p>
            <a:r>
              <a:t>PoC 단계에서 확인한 것은 세 가지였습니다. 업무 현장에서 쓰는 표현을 표준 질의로 인식할 수 있는가, 기존 대시보드와 연계해 분석을 확장할 수 있는가, 데이터 제공을 넘어 보고서 작성까지 지원할 수 있는가.</a:t>
            </a:r>
          </a:p>
          <a:p>
            <a:endParaRPr/>
          </a:p>
          <a:p>
            <a:r>
              <a:t>④는 11p Document Parser와 같은 기술입니다. 온보딩 문서를 파싱해 지식화하고, 지표 정의나 사용법을 물으면 정해진 답을 꺼내는 게 아니라 질문 의도를 해석해 답합니다. 사례 하나로 정량 분석과 정성 문서 활용을 함께 보여줄 수 있습니다.</a:t>
            </a:r>
          </a:p>
          <a:p>
            <a:endParaRPr/>
          </a:p>
          <a:p>
            <a:r>
              <a:t>한글 · 영문 대응은 해외 법인 확산을 전제로 설계한 부분입니다.</a:t>
            </a:r>
          </a:p>
          <a:p>
            <a:endParaRPr/>
          </a:p>
          <a:p>
            <a:r>
              <a:t>8월 중 해외 판매 법인 전체를 대상으로 오픈합니다. 규모를 짚어 주되, 오픈 전이므로 성과 수치는 언급하지 않습니다.</a:t>
            </a:r>
          </a:p>
          <a:p>
            <a:endParaRPr/>
          </a:p>
          <a:p>
            <a:r>
              <a:t>③의 PPT 자동 생성과 메일 발송은 분석에서 보고까지 한 흐름으로 끝난다는 뜻입니다. 정기 보고가 많은 고객에게 특히 반응이 좋은 소재입니다.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1차 과업(경영실적 · 품질실적)에 이어 2차 과업(개발실적)으로 범위가 확대된 건입니다. 연속 수주 자체가 레퍼런스로서 의미가 있으니 과업 단계 띠를 짚어 주세요.</a:t>
            </a:r>
          </a:p>
          <a:p>
            <a:endParaRPr/>
          </a:p>
          <a:p>
            <a:r>
              <a:t>7가지 질의유형과 멀티모달 문서 분석은 제품 기능이 실제 과업 범위로 정의된 사례라 기능 소개보다 설득력이 있습니다.</a:t>
            </a:r>
          </a:p>
          <a:p>
            <a:endParaRPr/>
          </a:p>
          <a:p>
            <a:r>
              <a:t>12월 오픈 예정이므로 성과 수치는 언급하지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증권사 건이 요청하신 금융 · 데이터 통제 영역에 직접 해당하는 건입니다.</a:t>
            </a:r>
          </a:p>
          <a:p>
            <a:endParaRPr/>
          </a:p>
          <a:p>
            <a:r>
              <a:t>이 고객은 사내 BIZ 메타(용어 · 지표 표준 체계)를 이미 구축해 둔 상태이고, 그 위에 AI를 얹는 구조입니다. 지표 정의와 데이터 정합성이 먼저 확보돼야 한다는 전제가 이미 충족된 환경이라 검증 조건이 좋습니다.</a:t>
            </a:r>
          </a:p>
          <a:p>
            <a:endParaRPr/>
          </a:p>
          <a:p>
            <a:r>
              <a:t>우리 제품의 스킬 기능이 '회사가 계산 기준을 먼저 정한다'는 개념인데, 고객이 구축한 메타 표준과 정확히 맞물립니다.</a:t>
            </a:r>
          </a:p>
          <a:p>
            <a:endParaRPr/>
          </a:p>
          <a:p>
            <a:r>
              <a:t>PoC 2건 모두 고객사 실명 대신 업종으로 표기했습니다.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금융권 전용 항목이 아니라, 사내 데이터를 다루는 모든 고객이 도입 검토에서 확인하는 항목들입니다. 앞의 세 건도 전부 같은 조건에서 구축했습니다.</a:t>
            </a:r>
          </a:p>
          <a:p>
            <a:endParaRPr/>
          </a:p>
          <a:p>
            <a:r>
              <a:t>금융 · 공공처럼 규제가 있는 업종에서는 이 장이 특히 먼저 확인됩니다.</a:t>
            </a:r>
          </a:p>
          <a:p>
            <a:endParaRPr/>
          </a:p>
          <a:p>
            <a:r>
              <a:t>각 항목은 다음 장 화면으로 실제 확인됩니다.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고객사 구축 화면은 보안 정책상 넣을 수 없지만, 시연 환경 화면은 제약이 없습니다. 앞 장의 통제 항목을 말이 아니라 화면으로 증명하는 자리입니다.
캡션에 '시연 환경 화면'을 반드시 유지하세요. 고객사 화면으로 오해되면 그 자체가 문제가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80960" y="-1463040"/>
            <a:ext cx="6583680" cy="6583680"/>
          </a:xfrm>
          <a:prstGeom prst="ellipse">
            <a:avLst/>
          </a:prstGeom>
          <a:solidFill>
            <a:srgbClr val="0D2A4A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9144000" y="2926080"/>
            <a:ext cx="4572000" cy="4572000"/>
          </a:xfrm>
          <a:prstGeom prst="ellipse">
            <a:avLst/>
          </a:prstGeom>
          <a:solidFill>
            <a:srgbClr val="0A3B45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1207008" y="1152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D9D5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aisight 구축 및</a:t>
            </a:r>
            <a:endParaRPr lang="en-US" sz="40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PoC 레퍼런스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38404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5E0B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통제된 사내 데이터 </a:t>
            </a:r>
            <a:r>
              <a:rPr lang="en-US" sz="1500" dirty="0" err="1">
                <a:solidFill>
                  <a:srgbClr val="45E0B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기반의</a:t>
            </a:r>
            <a:r>
              <a:rPr lang="en-US" sz="1500">
                <a:solidFill>
                  <a:srgbClr val="45E0B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Gen </a:t>
            </a:r>
            <a:r>
              <a:rPr lang="en-US" sz="1500" dirty="0">
                <a:solidFill>
                  <a:srgbClr val="45E0B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BI 전환 사례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4480560"/>
            <a:ext cx="3291840" cy="10973"/>
          </a:xfrm>
          <a:prstGeom prst="rect">
            <a:avLst/>
          </a:prstGeom>
          <a:solidFill>
            <a:srgbClr val="2A467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772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 err="1">
                <a:solidFill>
                  <a:srgbClr val="9DB2CE"/>
                </a:solidFill>
                <a:latin typeface="SUIT" pitchFamily="34" charset="0"/>
                <a:ea typeface="SUIT" pitchFamily="34" charset="-122"/>
              </a:rPr>
              <a:t>세일링스톤</a:t>
            </a:r>
            <a:r>
              <a:rPr lang="ko-KR" altLang="en-US" sz="1200">
                <a:solidFill>
                  <a:srgbClr val="9DB2CE"/>
                </a:solidFill>
                <a:latin typeface="SUIT" pitchFamily="34" charset="0"/>
                <a:ea typeface="SUIT" pitchFamily="34" charset="-122"/>
              </a:rPr>
              <a:t> 자체 구축 레퍼런스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5257800"/>
            <a:ext cx="6035040" cy="658368"/>
          </a:xfrm>
          <a:prstGeom prst="roundRect">
            <a:avLst>
              <a:gd name="adj" fmla="val 9722"/>
            </a:avLst>
          </a:prstGeom>
          <a:solidFill>
            <a:srgbClr val="0C1B33"/>
          </a:solidFill>
          <a:ln w="9525">
            <a:solidFill>
              <a:srgbClr val="1E35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960120" y="525780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고객사 보안 정책에 따라 실제 데이터와 구축 화면은 포함하지 않았습니다.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과제 배경 · 적용 범위 · 기대 효과 중심으로 정리한 자료입니다.</a:t>
            </a:r>
            <a:endParaRPr lang="en-US" sz="950" dirty="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78992"/>
            <a:ext cx="310896" cy="310896"/>
          </a:xfrm>
          <a:prstGeom prst="rect">
            <a:avLst/>
          </a:prstGeom>
        </p:spPr>
      </p:pic>
      <p:pic>
        <p:nvPicPr>
          <p:cNvPr id="13" name="Picture 12" descr="s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167" y="6236208"/>
            <a:ext cx="984625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9D5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5303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현재 진행 현황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제품 고도화 버전 출시 이후 착수한 건들입니다. 한 곳은 파일럿으로 현업이 사용 중이며, 나머지는 하반기에 순차 오픈합니다.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6384" y="15544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0869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고객 · 조직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529584" y="15544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0869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조직 성격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47104" y="15544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0869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업종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84464" y="1554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0869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단계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387584" y="155448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0869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주요 데이터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" y="1828800"/>
            <a:ext cx="11055096" cy="9144"/>
          </a:xfrm>
          <a:prstGeom prst="rect">
            <a:avLst/>
          </a:prstGeom>
          <a:solidFill>
            <a:srgbClr val="24406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66928" y="1938528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0203A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86384" y="1938528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</a:rPr>
              <a:t>국내 통신 유통사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529584" y="1938528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이동통신 단말 도소매 직영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47104" y="193852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유통 · 통신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69314" y="193852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45E0B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구축 완료 · 파일럿 사용 중</a:t>
            </a:r>
            <a:r>
              <a:rPr lang="en-US" altLang="ko-KR" sz="1000" b="1" dirty="0">
                <a:solidFill>
                  <a:srgbClr val="45E0B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중 · </a:t>
            </a:r>
            <a:r>
              <a:rPr lang="ko-KR" altLang="en-US" sz="1000" b="1" dirty="0">
                <a:solidFill>
                  <a:srgbClr val="45E0B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일부 오픈</a:t>
            </a:r>
            <a:r>
              <a:rPr lang="ko-KR" altLang="en-US" sz="1000" b="1" dirty="0">
                <a:solidFill>
                  <a:srgbClr val="45E0B0"/>
                </a:solidFill>
                <a:latin typeface="SUIT" pitchFamily="34" charset="0"/>
                <a:ea typeface="SUIT" pitchFamily="34" charset="-122"/>
              </a:rPr>
              <a:t> 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919058" y="1938528"/>
            <a:ext cx="1812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판매 · 재고 · </a:t>
            </a: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정산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" y="2596896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0C1B33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86384" y="2596896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글로벌 제조사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529584" y="2596896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D2C 해외영업 조직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547104" y="259689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제조 · 이커머스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078274" y="2596896"/>
            <a:ext cx="1716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E0B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PoC 후 구축 · 8월 해외 법인 오픈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919058" y="2596896"/>
            <a:ext cx="1716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00"/>
              </a:lnSpc>
            </a:pPr>
            <a:r>
              <a:rPr lang="ko-KR" altLang="en-US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온라인 매출</a:t>
            </a:r>
            <a:r>
              <a:rPr lang="en-US" altLang="ko-KR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· </a:t>
            </a:r>
            <a:r>
              <a:rPr lang="ko-KR" altLang="en-US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트래픽 </a:t>
            </a:r>
            <a:endParaRPr lang="en-US" altLang="ko-KR" sz="1000" dirty="0">
              <a:solidFill>
                <a:srgbClr val="C8D8E8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  <a:p>
            <a:pPr>
              <a:lnSpc>
                <a:spcPts val="1100"/>
              </a:lnSpc>
            </a:pPr>
            <a:r>
              <a:rPr lang="ko-KR" altLang="en-US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손익</a:t>
            </a:r>
            <a:r>
              <a:rPr lang="en-US" altLang="ko-KR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(</a:t>
            </a:r>
            <a:r>
              <a:rPr lang="ko-KR" altLang="en-US" sz="850" dirty="0" err="1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가마감</a:t>
            </a:r>
            <a:r>
              <a:rPr lang="en-US" altLang="ko-KR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) </a:t>
            </a:r>
            <a:r>
              <a:rPr lang="en-US" altLang="ko-KR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· </a:t>
            </a:r>
            <a:r>
              <a:rPr lang="ko-KR" altLang="en-US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경쟁사 매출</a:t>
            </a:r>
            <a:endParaRPr lang="en-US" altLang="ko-KR" sz="1000" dirty="0">
              <a:solidFill>
                <a:srgbClr val="C8D8E8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  <a:p>
            <a:pPr>
              <a:lnSpc>
                <a:spcPts val="1100"/>
              </a:lnSpc>
            </a:pPr>
            <a:r>
              <a:rPr lang="ko-KR" altLang="en-US" sz="850" dirty="0" err="1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상품카테고리</a:t>
            </a:r>
            <a:r>
              <a:rPr lang="ko-KR" altLang="en-US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en-US" altLang="ko-KR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· </a:t>
            </a:r>
            <a:r>
              <a:rPr lang="ko-KR" altLang="en-US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상품 리뷰</a:t>
            </a:r>
            <a:r>
              <a:rPr lang="en-US" altLang="ko-KR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/</a:t>
            </a:r>
            <a:r>
              <a:rPr lang="ko-KR" altLang="en-US" sz="850" dirty="0" err="1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멘션</a:t>
            </a:r>
            <a:r>
              <a:rPr lang="en-US" altLang="ko-KR" sz="8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 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66928" y="3255264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0203A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86384" y="3255264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글로벌 제조사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529584" y="3255264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냉난방 제품 개발 연구소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47104" y="325526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제조 · R&amp;D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87241" y="3255264"/>
            <a:ext cx="16097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E0B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구축 중 · 12월 오픈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919059" y="3255264"/>
            <a:ext cx="17029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경영 · 품질 · </a:t>
            </a:r>
            <a:r>
              <a:rPr lang="en-US" sz="1000" dirty="0" err="1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개발</a:t>
            </a: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en-US" sz="1000" dirty="0" err="1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실적</a:t>
            </a:r>
            <a:endParaRPr lang="en-US" sz="1000" dirty="0">
              <a:solidFill>
                <a:srgbClr val="C8D8E8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  <a:p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경쟁사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정보</a:t>
            </a:r>
            <a:r>
              <a:rPr lang="en-US" altLang="ko-KR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(</a:t>
            </a: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시장 규모</a:t>
            </a:r>
            <a:r>
              <a:rPr lang="en-US" altLang="ko-KR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, </a:t>
            </a: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매출</a:t>
            </a:r>
            <a:r>
              <a:rPr lang="en-US" altLang="ko-KR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)</a:t>
            </a:r>
            <a:endParaRPr lang="en-US" sz="1000" dirty="0">
              <a:solidFill>
                <a:srgbClr val="C8D8E8"/>
              </a:solidFill>
              <a:latin typeface="SUIT" pitchFamily="34" charset="0"/>
              <a:ea typeface="SUIT" pitchFamily="34" charset="-122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66928" y="3913632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0C1B33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786384" y="391363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 err="1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국내</a:t>
            </a:r>
            <a:r>
              <a:rPr lang="en-US" altLang="ko-KR" sz="1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완성차</a:t>
            </a:r>
            <a:r>
              <a:rPr lang="en-US" altLang="ko-KR" sz="1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그룹</a:t>
            </a:r>
            <a:endParaRPr lang="en-US" altLang="ko-KR" sz="1200" dirty="0"/>
          </a:p>
        </p:txBody>
      </p:sp>
      <p:sp>
        <p:nvSpPr>
          <p:cNvPr id="32" name="Text 29"/>
          <p:cNvSpPr/>
          <p:nvPr/>
        </p:nvSpPr>
        <p:spPr>
          <a:xfrm>
            <a:off x="3529584" y="3913632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글로벌 디지털 기획 조직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547104" y="3913632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제조 · 모빌리티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096204" y="3913632"/>
            <a:ext cx="16989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B94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PoC 예정 · 12월까지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9919058" y="3913632"/>
            <a:ext cx="1812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온라인</a:t>
            </a: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매출</a:t>
            </a: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· </a:t>
            </a: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마케팅</a:t>
            </a:r>
            <a:r>
              <a:rPr lang="en-US" altLang="ko-KR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/</a:t>
            </a: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캠페인</a:t>
            </a:r>
            <a:endParaRPr lang="en-US" altLang="ko-KR" sz="1000" dirty="0">
              <a:solidFill>
                <a:srgbClr val="C8D8E8"/>
              </a:solidFill>
              <a:latin typeface="SUIT" pitchFamily="34" charset="0"/>
              <a:ea typeface="SUIT" pitchFamily="34" charset="-122"/>
              <a:cs typeface="SUIT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CRM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66928" y="4572000"/>
            <a:ext cx="11055096" cy="566928"/>
          </a:xfrm>
          <a:prstGeom prst="roundRect">
            <a:avLst>
              <a:gd name="adj" fmla="val 14516"/>
            </a:avLst>
          </a:prstGeom>
          <a:solidFill>
            <a:srgbClr val="10203A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786384" y="457200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 err="1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국내</a:t>
            </a:r>
            <a:r>
              <a:rPr lang="en-US" altLang="ko-KR" sz="1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대형</a:t>
            </a:r>
            <a:r>
              <a:rPr lang="en-US" altLang="ko-KR" sz="12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en-US" altLang="ko-KR" sz="1200" b="1" dirty="0" err="1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증권사</a:t>
            </a:r>
            <a:endParaRPr lang="en-US" altLang="ko-KR" sz="1200" dirty="0"/>
          </a:p>
        </p:txBody>
      </p:sp>
      <p:sp>
        <p:nvSpPr>
          <p:cNvPr id="38" name="Text 35"/>
          <p:cNvSpPr/>
          <p:nvPr/>
        </p:nvSpPr>
        <p:spPr>
          <a:xfrm>
            <a:off x="3529584" y="4572000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 Data </a:t>
            </a: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거버넌스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547104" y="45720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금융 · 증권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114133" y="4572000"/>
            <a:ext cx="16989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D5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PoC 진행 · 9월까지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9939346" y="4572000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BIZ 메타 · 업무 데이터셋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66928" y="5349240"/>
            <a:ext cx="11055096" cy="877824"/>
          </a:xfrm>
          <a:prstGeom prst="roundRect">
            <a:avLst>
              <a:gd name="adj" fmla="val 9375"/>
            </a:avLst>
          </a:prstGeom>
          <a:solidFill>
            <a:srgbClr val="0C1B33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914400" y="55046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5E0B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공통 과제 유형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14400" y="576072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기존 BI로는 화면에 미리 만들어 둔 것만 볼 수 있습니다. 다섯 곳 모두 "화면에 없는 질문"을 현업이 직접 던지고, 그 답이 통제된 범위 안에서 나오게 하는 것이 과제입니다. 데이터는 전부 사내에 두고 처리합니다. 국내 통신 유통사 건은 8월 구축을 완료하고 일부 조직이 파일럿으로 사용 중이며, 나머지는 오픈 준비 단계입니다.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859536" y="64282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87A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aisight  |  구축 및 PoC 레퍼런스  |  대외 제공용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4587A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02</a:t>
            </a:r>
            <a:endParaRPr lang="en-US" sz="850" dirty="0"/>
          </a:p>
        </p:txBody>
      </p:sp>
      <p:pic>
        <p:nvPicPr>
          <p:cNvPr id="47" name="Picture 46" descr="ai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91656"/>
            <a:ext cx="219456" cy="219456"/>
          </a:xfrm>
          <a:prstGeom prst="rect">
            <a:avLst/>
          </a:prstGeom>
        </p:spPr>
      </p:pic>
      <p:pic>
        <p:nvPicPr>
          <p:cNvPr id="48" name="Picture 47" descr="ss_m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790" y="6441948"/>
            <a:ext cx="591433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200">
                <a:solidFill>
                  <a:srgbClr val="00D9D5"/>
                </a:solidFill>
                <a:latin typeface="SUIT"/>
              </a:rPr>
              <a:t>CASE A  ·  8월 구축 완료 · 파일럿 사용 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789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UIT"/>
              </a:rPr>
              <a:t>실적 조회부터 외부 시스템 연동까지, 네 가지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DB2CE"/>
                </a:solidFill>
                <a:latin typeface="SUIT"/>
              </a:rPr>
              <a:t>하나의 프로젝트 안에서 사내 데이터 · 사내 문서 · 산출물 공유 · 외부 시스템 연동까지 순차 적용했습니다.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55096" cy="603504"/>
          </a:xfrm>
          <a:prstGeom prst="round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고객 · 조직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SUIT"/>
              </a:rPr>
              <a:t>국내 통신 유통사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72768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업종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7393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SUIT"/>
              </a:rPr>
              <a:t>유통 · 통신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572768"/>
            <a:ext cx="283463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773936"/>
            <a:ext cx="2834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SUIT"/>
              </a:rPr>
              <a:t>8월 구축 완료 · 파일럿 사용 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572768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주요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77393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SUIT"/>
              </a:rPr>
              <a:t>실적 · 사내 문서 · 대시보드 · 도매 거래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1296" y="1591056"/>
            <a:ext cx="7315" cy="347472"/>
          </a:xfrm>
          <a:prstGeom prst="rect">
            <a:avLst/>
          </a:prstGeom>
          <a:solidFill>
            <a:srgbClr val="24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48656" y="1591056"/>
            <a:ext cx="7315" cy="347472"/>
          </a:xfrm>
          <a:prstGeom prst="rect">
            <a:avLst/>
          </a:prstGeom>
          <a:solidFill>
            <a:srgbClr val="24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66175" y="1591056"/>
            <a:ext cx="7315" cy="347472"/>
          </a:xfrm>
          <a:prstGeom prst="rect">
            <a:avLst/>
          </a:prstGeom>
          <a:solidFill>
            <a:srgbClr val="24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2231136"/>
            <a:ext cx="2688336" cy="3602736"/>
          </a:xfrm>
          <a:prstGeom prst="roundRect">
            <a:avLst>
              <a:gd name="adj" fmla="val 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6928" y="2231136"/>
            <a:ext cx="64008" cy="3602736"/>
          </a:xfrm>
          <a:prstGeom prst="roundRect">
            <a:avLst/>
          </a:prstGeom>
          <a:solidFill>
            <a:srgbClr val="00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3957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D9D5"/>
                </a:solidFill>
                <a:latin typeface="SUIT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6543" y="243230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사내 데이터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743200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>
                <a:solidFill>
                  <a:srgbClr val="FFFFFF"/>
                </a:solidFill>
                <a:latin typeface="SUIT"/>
              </a:rPr>
              <a:t>실적 셀프 조회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346704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49300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D9D5"/>
                </a:solidFill>
                <a:latin typeface="SUIT"/>
              </a:rPr>
              <a:t>과제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75887"/>
            <a:ext cx="21762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실적이 시스템별로 흩어져 있고, 조회 요청이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본사 담당자에게 집중되어 대기가 발생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7939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D9D5"/>
                </a:solidFill>
                <a:latin typeface="SUIT"/>
              </a:rPr>
              <a:t>적용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62272"/>
            <a:ext cx="21762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 dirty="0" err="1">
                <a:solidFill>
                  <a:srgbClr val="C8D8E8"/>
                </a:solidFill>
                <a:latin typeface="SUIT"/>
              </a:rPr>
              <a:t>무선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·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유선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상품군별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실적을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대화형으로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조회하고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,</a:t>
            </a:r>
            <a:r>
              <a:rPr lang="en-US"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팀장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이상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관리자용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현황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요약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뷰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제공</a:t>
            </a:r>
            <a:endParaRPr sz="900" b="0" dirty="0">
              <a:solidFill>
                <a:srgbClr val="C8D8E8"/>
              </a:solidFill>
              <a:latin typeface="SUI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506577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D9D5"/>
                </a:solidFill>
                <a:latin typeface="SUIT"/>
              </a:rPr>
              <a:t>효과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48656"/>
            <a:ext cx="21762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요청 대기열 감소 · 관리자 현황 파악 시점 단축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조회 이력 전건 기록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5848" y="2231136"/>
            <a:ext cx="2688336" cy="3602736"/>
          </a:xfrm>
          <a:prstGeom prst="roundRect">
            <a:avLst>
              <a:gd name="adj" fmla="val 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355848" y="2231136"/>
            <a:ext cx="64008" cy="3602736"/>
          </a:xfrm>
          <a:prstGeom prst="roundRect">
            <a:avLst/>
          </a:prstGeom>
          <a:solidFill>
            <a:srgbClr val="45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11880" y="23957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5E0B0"/>
                </a:solidFill>
                <a:latin typeface="SUIT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5464" y="243230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사내 문서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2743200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>
                <a:solidFill>
                  <a:srgbClr val="FFFFFF"/>
                </a:solidFill>
                <a:latin typeface="SUIT"/>
              </a:rPr>
              <a:t>사내 문서 챗봇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11880" y="3346704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11880" y="349300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45E0B0"/>
                </a:solidFill>
                <a:latin typeface="SUIT"/>
              </a:rPr>
              <a:t>과제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675887"/>
            <a:ext cx="21762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 dirty="0" err="1">
                <a:solidFill>
                  <a:srgbClr val="C8D8E8"/>
                </a:solidFill>
                <a:latin typeface="SUIT"/>
              </a:rPr>
              <a:t>사내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문서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2,000여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건이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쌓여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탐색에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시간이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들고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,</a:t>
            </a:r>
            <a:r>
              <a:rPr lang="en-US" sz="90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열람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권한이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달라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통합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검색이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어려움</a:t>
            </a:r>
            <a:endParaRPr sz="900" b="0" dirty="0">
              <a:solidFill>
                <a:srgbClr val="C8D8E8"/>
              </a:solidFill>
              <a:latin typeface="SUI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611880" y="427939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45E0B0"/>
                </a:solidFill>
                <a:latin typeface="SUIT"/>
              </a:rPr>
              <a:t>적용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4462272"/>
            <a:ext cx="21762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사내 문서 시스템을 API로 연동하고,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권한 범위 내 문서만 답변에 활용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506577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45E0B0"/>
                </a:solidFill>
                <a:latin typeface="SUIT"/>
              </a:rPr>
              <a:t>효과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5248656"/>
            <a:ext cx="21762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문서 탐색 시간 단축 · 권한 밖 노출 없음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답변 근거를 원문으로 확인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2231136"/>
            <a:ext cx="2688336" cy="3602736"/>
          </a:xfrm>
          <a:prstGeom prst="roundRect">
            <a:avLst>
              <a:gd name="adj" fmla="val 519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144768" y="2231136"/>
            <a:ext cx="64008" cy="3602736"/>
          </a:xfrm>
          <a:prstGeom prst="roundRect">
            <a:avLst/>
          </a:prstGeom>
          <a:solidFill>
            <a:srgbClr val="4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23957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A8CF7"/>
                </a:solidFill>
                <a:latin typeface="SUIT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44383" y="243230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산출물 공유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743200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>
                <a:solidFill>
                  <a:srgbClr val="FFFFFF"/>
                </a:solidFill>
                <a:latin typeface="SUIT"/>
              </a:rPr>
              <a:t>대시보드 공유 · SDK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346704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349300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4A8CF7"/>
                </a:solidFill>
                <a:latin typeface="SUIT"/>
              </a:rPr>
              <a:t>과제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675887"/>
            <a:ext cx="21762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개인이 만든 분석 결과물이 파일로 흩어지고,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공유 시 열람 범위를 통제할 수단이 없음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27939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4A8CF7"/>
                </a:solidFill>
                <a:latin typeface="SUIT"/>
              </a:rPr>
              <a:t>적용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462272"/>
            <a:ext cx="21762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HTML 산출물을 플랫폼에 등록하고,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권한 관리 기반으로 링크 공유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06577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4A8CF7"/>
                </a:solidFill>
                <a:latin typeface="SUIT"/>
              </a:rPr>
              <a:t>효과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248656"/>
            <a:ext cx="21762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분석 결과물이 조직 자산으로 축적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중복 제작 감소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33687" y="2231136"/>
            <a:ext cx="2688336" cy="3602736"/>
          </a:xfrm>
          <a:prstGeom prst="roundRect">
            <a:avLst>
              <a:gd name="adj" fmla="val 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933687" y="2231136"/>
            <a:ext cx="64008" cy="3602736"/>
          </a:xfrm>
          <a:prstGeom prst="round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89719" y="23957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B942"/>
                </a:solidFill>
                <a:latin typeface="SUIT"/>
              </a:rPr>
              <a:t>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33303" y="2432304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외부 시스템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19" y="2743200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>
                <a:solidFill>
                  <a:srgbClr val="FFFFFF"/>
                </a:solidFill>
                <a:latin typeface="SUIT"/>
              </a:rPr>
              <a:t>도매 에이전트 연동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19" y="3346704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89719" y="349300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5B942"/>
                </a:solidFill>
                <a:latin typeface="SUIT"/>
              </a:rPr>
              <a:t>과제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9719" y="3675887"/>
            <a:ext cx="2176272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 dirty="0" err="1">
                <a:solidFill>
                  <a:srgbClr val="C8D8E8"/>
                </a:solidFill>
                <a:latin typeface="SUIT"/>
              </a:rPr>
              <a:t>도매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업무가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별도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시스템이라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분석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도구와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분리되고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,</a:t>
            </a:r>
            <a:r>
              <a:rPr lang="en-US"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확인한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내용이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액션으로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이어지지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않음</a:t>
            </a:r>
            <a:endParaRPr sz="900" b="0" dirty="0">
              <a:solidFill>
                <a:srgbClr val="C8D8E8"/>
              </a:solidFill>
              <a:latin typeface="SUIT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189719" y="4279392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5B942"/>
                </a:solidFill>
                <a:latin typeface="SUIT"/>
              </a:rPr>
              <a:t>적용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9719" y="4462272"/>
            <a:ext cx="21762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aisight AI 기능을 API로 제공해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고객사 도매 에이전트 시스템에 탑재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9719" y="5065776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5B942"/>
                </a:solidFill>
                <a:latin typeface="SUIT"/>
              </a:rPr>
              <a:t>효과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9719" y="5248656"/>
            <a:ext cx="217627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업무 화면에서 바로 인사이트 확보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분석 이후 액션까지 연결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8" y="5943600"/>
            <a:ext cx="11055096" cy="329184"/>
          </a:xfrm>
          <a:prstGeom prst="roundRect">
            <a:avLst/>
          </a:prstGeom>
          <a:solidFill>
            <a:srgbClr val="0C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13232" y="6042789"/>
            <a:ext cx="1078992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dirty="0">
                <a:solidFill>
                  <a:srgbClr val="70869F"/>
                </a:solidFill>
                <a:latin typeface="SUIT"/>
              </a:rPr>
              <a:t>※ 8월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구축을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완료하고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일부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조직이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파일럿으로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사용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중입니다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.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문서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접근은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사내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문서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시스템의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기존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권한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체계를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그대로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따릅니다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.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6" y="64282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587A"/>
                </a:solidFill>
                <a:latin typeface="SUIT"/>
              </a:rPr>
              <a:t>aisight  |  구축 및 PoC 레퍼런스  |  대외 제공용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44587A"/>
                </a:solidFill>
                <a:latin typeface="SUIT"/>
              </a:rPr>
              <a:t>03</a:t>
            </a:r>
          </a:p>
        </p:txBody>
      </p:sp>
      <p:pic>
        <p:nvPicPr>
          <p:cNvPr id="69" name="Picture 68" descr="ai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91656"/>
            <a:ext cx="219456" cy="219456"/>
          </a:xfrm>
          <a:prstGeom prst="rect">
            <a:avLst/>
          </a:prstGeom>
        </p:spPr>
      </p:pic>
      <p:pic>
        <p:nvPicPr>
          <p:cNvPr id="70" name="Picture 69" descr="ss_m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790" y="6441948"/>
            <a:ext cx="591433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757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200">
                <a:solidFill>
                  <a:srgbClr val="00D9D5"/>
                </a:solidFill>
                <a:latin typeface="SUIT"/>
              </a:rPr>
              <a:t>CASE B  ·  PoC 검증 후 본 구축 · 8월 오픈 예정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789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UIT"/>
              </a:rPr>
              <a:t>글로벌 D2C 채널의 BI Agent 구축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DB2CE"/>
                </a:solidFill>
                <a:latin typeface="SUIT"/>
              </a:rPr>
              <a:t>PoC로 가능성을 검증한 뒤 본 구축으로 이어진 건입니다. 8월 중 해외 판매 법인 전체를 대상으로 오픈합니다.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55096" cy="566928"/>
          </a:xfrm>
          <a:prstGeom prst="round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7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고객 · 조직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SUIT"/>
              </a:rPr>
              <a:t>글로벌 제조사 · D2C 해외영업 조직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55448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업종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3736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SUIT"/>
              </a:rPr>
              <a:t>제조 · 이커머스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5544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73736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SUIT"/>
              </a:rPr>
              <a:t>8월 중 해외 법인 전체 오픈 예정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55448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데이터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73736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SUIT"/>
              </a:rPr>
              <a:t>매출 GMV · 손익 · 트래픽 · 상품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77056" y="1572768"/>
            <a:ext cx="7315" cy="329184"/>
          </a:xfrm>
          <a:prstGeom prst="rect">
            <a:avLst/>
          </a:prstGeom>
          <a:solidFill>
            <a:srgbClr val="24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14416" y="1572768"/>
            <a:ext cx="7315" cy="329184"/>
          </a:xfrm>
          <a:prstGeom prst="rect">
            <a:avLst/>
          </a:prstGeom>
          <a:solidFill>
            <a:srgbClr val="24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57616" y="1572768"/>
            <a:ext cx="7315" cy="329184"/>
          </a:xfrm>
          <a:prstGeom prst="rect">
            <a:avLst/>
          </a:prstGeom>
          <a:solidFill>
            <a:srgbClr val="24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6928" y="2779776"/>
            <a:ext cx="2688336" cy="3035808"/>
          </a:xfrm>
          <a:prstGeom prst="roundRect">
            <a:avLst>
              <a:gd name="adj" fmla="val 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66928" y="2779776"/>
            <a:ext cx="64008" cy="3035808"/>
          </a:xfrm>
          <a:prstGeom prst="roundRect">
            <a:avLst/>
          </a:prstGeom>
          <a:solidFill>
            <a:srgbClr val="00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29443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D9D5"/>
                </a:solidFill>
                <a:latin typeface="SUIT"/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57984" y="298094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분석 인사이트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291840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>
                <a:solidFill>
                  <a:srgbClr val="FFFFFF"/>
                </a:solidFill>
                <a:latin typeface="SUIT"/>
              </a:rPr>
              <a:t>현황 분석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3858768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41247" y="4078224"/>
            <a:ext cx="82296" cy="82296"/>
          </a:xfrm>
          <a:prstGeom prst="ellipse">
            <a:avLst/>
          </a:prstGeom>
          <a:solidFill>
            <a:srgbClr val="00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24128" y="4023360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주요 지표의 현황 · 증감 · 원인을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질문 한 줄로 확인</a:t>
            </a:r>
          </a:p>
        </p:txBody>
      </p:sp>
      <p:sp>
        <p:nvSpPr>
          <p:cNvPr id="36" name="Oval 35"/>
          <p:cNvSpPr/>
          <p:nvPr/>
        </p:nvSpPr>
        <p:spPr>
          <a:xfrm>
            <a:off x="841247" y="4645152"/>
            <a:ext cx="82296" cy="82296"/>
          </a:xfrm>
          <a:prstGeom prst="ellipse">
            <a:avLst/>
          </a:prstGeom>
          <a:solidFill>
            <a:srgbClr val="00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4128" y="4590288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지역-법인, 사업부-제품군 등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단계별 드릴다운 분석</a:t>
            </a:r>
          </a:p>
        </p:txBody>
      </p:sp>
      <p:sp>
        <p:nvSpPr>
          <p:cNvPr id="38" name="Oval 37"/>
          <p:cNvSpPr/>
          <p:nvPr/>
        </p:nvSpPr>
        <p:spPr>
          <a:xfrm>
            <a:off x="841247" y="5212080"/>
            <a:ext cx="82296" cy="82296"/>
          </a:xfrm>
          <a:prstGeom prst="ellipse">
            <a:avLst/>
          </a:prstGeom>
          <a:solidFill>
            <a:srgbClr val="00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4128" y="5157216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연관 질의를 눌러 이어서 분석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55848" y="2779776"/>
            <a:ext cx="2688336" cy="3035808"/>
          </a:xfrm>
          <a:prstGeom prst="roundRect">
            <a:avLst>
              <a:gd name="adj" fmla="val 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355848" y="2779776"/>
            <a:ext cx="64008" cy="3035808"/>
          </a:xfrm>
          <a:prstGeom prst="roundRect">
            <a:avLst/>
          </a:prstGeom>
          <a:solidFill>
            <a:srgbClr val="45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11880" y="29443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5E0B0"/>
                </a:solidFill>
                <a:latin typeface="SUIT"/>
              </a:rPr>
              <a:t>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46903" y="298094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데이터 조회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1880" y="3291840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>
                <a:solidFill>
                  <a:srgbClr val="FFFFFF"/>
                </a:solidFill>
                <a:latin typeface="SUIT"/>
              </a:rPr>
              <a:t>데이터 탐색 · GenSQL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1880" y="3858768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630168" y="4078224"/>
            <a:ext cx="82296" cy="82296"/>
          </a:xfrm>
          <a:prstGeom prst="ellipse">
            <a:avLst/>
          </a:prstGeom>
          <a:solidFill>
            <a:srgbClr val="45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13048" y="4023360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자연어 질의로 DB를 직접 조회해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표 형태로 즉시 제공</a:t>
            </a:r>
          </a:p>
        </p:txBody>
      </p:sp>
      <p:sp>
        <p:nvSpPr>
          <p:cNvPr id="48" name="Oval 47"/>
          <p:cNvSpPr/>
          <p:nvPr/>
        </p:nvSpPr>
        <p:spPr>
          <a:xfrm>
            <a:off x="3630168" y="4645152"/>
            <a:ext cx="82296" cy="82296"/>
          </a:xfrm>
          <a:prstGeom prst="ellipse">
            <a:avLst/>
          </a:prstGeom>
          <a:solidFill>
            <a:srgbClr val="45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813048" y="4590288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필요한 기초 데이터를 그대로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내려받아 후속 작업에 활용</a:t>
            </a:r>
          </a:p>
        </p:txBody>
      </p:sp>
      <p:sp>
        <p:nvSpPr>
          <p:cNvPr id="50" name="Oval 49"/>
          <p:cNvSpPr/>
          <p:nvPr/>
        </p:nvSpPr>
        <p:spPr>
          <a:xfrm>
            <a:off x="3630168" y="5212080"/>
            <a:ext cx="82296" cy="82296"/>
          </a:xfrm>
          <a:prstGeom prst="ellipse">
            <a:avLst/>
          </a:prstGeom>
          <a:solidFill>
            <a:srgbClr val="45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13048" y="5157216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지표 · 차원을 조합해 탐색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2779776"/>
            <a:ext cx="2688336" cy="3035808"/>
          </a:xfrm>
          <a:prstGeom prst="roundRect">
            <a:avLst>
              <a:gd name="adj" fmla="val 519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144768" y="2779776"/>
            <a:ext cx="64008" cy="3035808"/>
          </a:xfrm>
          <a:prstGeom prst="roundRect">
            <a:avLst/>
          </a:prstGeom>
          <a:solidFill>
            <a:srgbClr val="4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29443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A8CF7"/>
                </a:solidFill>
                <a:latin typeface="SUIT"/>
              </a:rPr>
              <a:t>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35824" y="298094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산출물 생성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291840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>
                <a:solidFill>
                  <a:srgbClr val="FFFFFF"/>
                </a:solidFill>
                <a:latin typeface="SUIT"/>
              </a:rPr>
              <a:t>차트 · 문서 자동 생성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3858768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419088" y="4078224"/>
            <a:ext cx="82296" cy="82296"/>
          </a:xfrm>
          <a:prstGeom prst="ellipse">
            <a:avLst/>
          </a:prstGeom>
          <a:solidFill>
            <a:srgbClr val="4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01968" y="4023360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탐색 결과를 보고서에 쓸 수 있는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차트로 자동 변환 (GenChart)</a:t>
            </a:r>
          </a:p>
        </p:txBody>
      </p:sp>
      <p:sp>
        <p:nvSpPr>
          <p:cNvPr id="60" name="Oval 59"/>
          <p:cNvSpPr/>
          <p:nvPr/>
        </p:nvSpPr>
        <p:spPr>
          <a:xfrm>
            <a:off x="6419088" y="4645152"/>
            <a:ext cx="82296" cy="82296"/>
          </a:xfrm>
          <a:prstGeom prst="ellipse">
            <a:avLst/>
          </a:prstGeom>
          <a:solidFill>
            <a:srgbClr val="4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601968" y="4590288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프롬프트만으로 분석 내용을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PPT 문서로 자동 생성</a:t>
            </a:r>
          </a:p>
        </p:txBody>
      </p:sp>
      <p:sp>
        <p:nvSpPr>
          <p:cNvPr id="62" name="Oval 61"/>
          <p:cNvSpPr/>
          <p:nvPr/>
        </p:nvSpPr>
        <p:spPr>
          <a:xfrm>
            <a:off x="6419088" y="5212080"/>
            <a:ext cx="82296" cy="82296"/>
          </a:xfrm>
          <a:prstGeom prst="ellipse">
            <a:avLst/>
          </a:prstGeom>
          <a:solidFill>
            <a:srgbClr val="4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01968" y="5157216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 dirty="0" err="1">
                <a:solidFill>
                  <a:srgbClr val="C8D8E8"/>
                </a:solidFill>
                <a:latin typeface="SUIT"/>
              </a:rPr>
              <a:t>생성한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문서를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메일로</a:t>
            </a:r>
            <a:r>
              <a:rPr sz="90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900" b="0" dirty="0" err="1">
                <a:solidFill>
                  <a:srgbClr val="C8D8E8"/>
                </a:solidFill>
                <a:latin typeface="SUIT"/>
              </a:rPr>
              <a:t>발송해</a:t>
            </a:r>
            <a:endParaRPr sz="900" b="0" dirty="0">
              <a:solidFill>
                <a:srgbClr val="C8D8E8"/>
              </a:solidFill>
              <a:latin typeface="SUIT"/>
            </a:endParaRPr>
          </a:p>
          <a:p>
            <a:pPr algn="l">
              <a:lnSpc>
                <a:spcPts val="1250"/>
              </a:lnSpc>
            </a:pPr>
            <a:r>
              <a:rPr sz="900" b="0" dirty="0" err="1">
                <a:solidFill>
                  <a:srgbClr val="C8D8E8"/>
                </a:solidFill>
                <a:latin typeface="SUIT"/>
              </a:rPr>
              <a:t>필요한 사람에게 바로 공유</a:t>
            </a:r>
            <a:endParaRPr sz="900" b="0" dirty="0">
              <a:solidFill>
                <a:srgbClr val="C8D8E8"/>
              </a:solidFill>
              <a:latin typeface="SUIT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933687" y="2779776"/>
            <a:ext cx="2688336" cy="3035808"/>
          </a:xfrm>
          <a:prstGeom prst="roundRect">
            <a:avLst>
              <a:gd name="adj" fmla="val 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933687" y="2779776"/>
            <a:ext cx="64008" cy="3035808"/>
          </a:xfrm>
          <a:prstGeom prst="round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189719" y="29443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B942"/>
                </a:solidFill>
                <a:latin typeface="SUIT"/>
              </a:rPr>
              <a:t>④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24743" y="298094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문서 RAG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89719" y="3291840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>
                <a:solidFill>
                  <a:srgbClr val="FFFFFF"/>
                </a:solidFill>
                <a:latin typeface="SUIT"/>
              </a:rPr>
              <a:t>궁금해요 · 문서 기반 응답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89719" y="3858768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9208007" y="4078224"/>
            <a:ext cx="82296" cy="82296"/>
          </a:xfrm>
          <a:prstGeom prst="ellipse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390887" y="4023360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온보딩 문서를 Document Parser로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지식화해 답변에 활용</a:t>
            </a:r>
          </a:p>
        </p:txBody>
      </p:sp>
      <p:sp>
        <p:nvSpPr>
          <p:cNvPr id="72" name="Oval 71"/>
          <p:cNvSpPr/>
          <p:nvPr/>
        </p:nvSpPr>
        <p:spPr>
          <a:xfrm>
            <a:off x="9208007" y="4645152"/>
            <a:ext cx="82296" cy="82296"/>
          </a:xfrm>
          <a:prstGeom prst="ellipse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390887" y="4590288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정해진 문답 매칭이 아니라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질문 의도를 해석해 응답</a:t>
            </a:r>
          </a:p>
        </p:txBody>
      </p:sp>
      <p:sp>
        <p:nvSpPr>
          <p:cNvPr id="74" name="Oval 73"/>
          <p:cNvSpPr/>
          <p:nvPr/>
        </p:nvSpPr>
        <p:spPr>
          <a:xfrm>
            <a:off x="9208007" y="5212080"/>
            <a:ext cx="82296" cy="82296"/>
          </a:xfrm>
          <a:prstGeom prst="ellipse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390887" y="5157216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한글 · 영문 질의에 각각 대응해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해외 법인 확산까지 고려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6928" y="5925312"/>
            <a:ext cx="11055096" cy="347472"/>
          </a:xfrm>
          <a:prstGeom prst="roundRect">
            <a:avLst/>
          </a:prstGeom>
          <a:solidFill>
            <a:srgbClr val="0C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13232" y="6033645"/>
            <a:ext cx="1078992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dirty="0">
                <a:solidFill>
                  <a:srgbClr val="70869F"/>
                </a:solidFill>
                <a:latin typeface="SUIT"/>
              </a:rPr>
              <a:t>※ 사용 현황과 오류 질의를 AI Ops로 수집해 재학습하는 운영 체계를 함께 구축했습니다. 8월 중 해외 판매 법인 전체를 대상으로 오픈 예정입니다.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9536" y="64282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587A"/>
                </a:solidFill>
                <a:latin typeface="SUIT"/>
              </a:rPr>
              <a:t>aisight  |  구축 및 PoC 레퍼런스  |  대외 제공용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44587A"/>
                </a:solidFill>
                <a:latin typeface="SUIT"/>
              </a:rPr>
              <a:t>04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6928" y="2139696"/>
            <a:ext cx="11055096" cy="512064"/>
          </a:xfrm>
          <a:prstGeom prst="roundRect">
            <a:avLst/>
          </a:prstGeom>
          <a:solidFill>
            <a:srgbClr val="0C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59536" y="2249424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45E0B0"/>
                </a:solidFill>
                <a:latin typeface="SUIT"/>
              </a:rPr>
              <a:t>진행 경과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920240" y="2231136"/>
            <a:ext cx="4023360" cy="329184"/>
          </a:xfrm>
          <a:prstGeom prst="roundRect">
            <a:avLst/>
          </a:prstGeom>
          <a:solidFill>
            <a:srgbClr val="0A1830"/>
          </a:solidFill>
          <a:ln w="9525">
            <a:solidFill>
              <a:srgbClr val="45E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920240" y="2231136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45E0B0"/>
                </a:solidFill>
                <a:latin typeface="SUIT"/>
              </a:rPr>
              <a:t>PoC 검증  ·  4개월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35040" y="2231136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3B5B8C"/>
                </a:solidFill>
                <a:latin typeface="SUIT"/>
              </a:rPr>
              <a:t>›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0" y="2231136"/>
            <a:ext cx="4023360" cy="329184"/>
          </a:xfrm>
          <a:prstGeom prst="roundRect">
            <a:avLst/>
          </a:prstGeom>
          <a:solidFill>
            <a:srgbClr val="0A1830"/>
          </a:solidFill>
          <a:ln w="9525">
            <a:solidFill>
              <a:srgbClr val="00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400800" y="2231136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00D9D5"/>
                </a:solidFill>
                <a:latin typeface="SUIT"/>
              </a:rPr>
              <a:t>D2C 사업 영역 구축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2231136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70869F"/>
                </a:solidFill>
                <a:latin typeface="SUIT"/>
              </a:rPr>
              <a:t>운영 · 고도화</a:t>
            </a:r>
          </a:p>
        </p:txBody>
      </p:sp>
      <p:pic>
        <p:nvPicPr>
          <p:cNvPr id="88" name="Picture 87" descr="ai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91656"/>
            <a:ext cx="219456" cy="219456"/>
          </a:xfrm>
          <a:prstGeom prst="rect">
            <a:avLst/>
          </a:prstGeom>
        </p:spPr>
      </p:pic>
      <p:pic>
        <p:nvPicPr>
          <p:cNvPr id="89" name="Picture 88" descr="ss_m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790" y="6441948"/>
            <a:ext cx="591433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0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200">
                <a:solidFill>
                  <a:srgbClr val="00D9D5"/>
                </a:solidFill>
                <a:latin typeface="SUIT"/>
              </a:rPr>
              <a:t>CASE C  ·  구축 중 · 12월 오픈 예정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789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UIT"/>
              </a:rPr>
              <a:t>실적 대시보드와 AI 의사결정 지원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DB2CE"/>
                </a:solidFill>
                <a:latin typeface="SUIT"/>
              </a:rPr>
              <a:t>경영 · 품질 · 개발 실적을 하나의 포털에서 보고, 정량 지표와 문서 근거를 함께 확인하는 구조입니다.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55096" cy="566928"/>
          </a:xfrm>
          <a:prstGeom prst="roundRect">
            <a:avLst/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7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고객 · 조직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7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SUIT"/>
              </a:rPr>
              <a:t>글로벌 제조사 · 냉난방 제품 개발 연구소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55448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업종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3736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SUIT"/>
              </a:rPr>
              <a:t>제조 · R&amp;D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55448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737360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C8D8E8"/>
                </a:solidFill>
                <a:latin typeface="SUIT"/>
              </a:rPr>
              <a:t>구축 중 · 12월 오픈 예정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0869F"/>
                </a:solidFill>
                <a:latin typeface="SUIT"/>
              </a:rPr>
              <a:t>주요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dirty="0" err="1">
                <a:solidFill>
                  <a:srgbClr val="C8D8E8"/>
                </a:solidFill>
                <a:latin typeface="SUIT"/>
              </a:rPr>
              <a:t>경영</a:t>
            </a:r>
            <a:r>
              <a:rPr sz="1050" b="0" dirty="0">
                <a:solidFill>
                  <a:srgbClr val="C8D8E8"/>
                </a:solidFill>
                <a:latin typeface="SUIT"/>
              </a:rPr>
              <a:t> · </a:t>
            </a:r>
            <a:r>
              <a:rPr sz="1050" b="0" dirty="0" err="1">
                <a:solidFill>
                  <a:srgbClr val="C8D8E8"/>
                </a:solidFill>
                <a:latin typeface="SUIT"/>
              </a:rPr>
              <a:t>품질</a:t>
            </a:r>
            <a:r>
              <a:rPr sz="1050" b="0" dirty="0">
                <a:solidFill>
                  <a:srgbClr val="C8D8E8"/>
                </a:solidFill>
                <a:latin typeface="SUIT"/>
              </a:rPr>
              <a:t> · </a:t>
            </a:r>
            <a:r>
              <a:rPr sz="1050" b="0" dirty="0" err="1">
                <a:solidFill>
                  <a:srgbClr val="C8D8E8"/>
                </a:solidFill>
                <a:latin typeface="SUIT"/>
              </a:rPr>
              <a:t>개발</a:t>
            </a:r>
            <a:r>
              <a:rPr sz="1050" b="0" dirty="0">
                <a:solidFill>
                  <a:srgbClr val="C8D8E8"/>
                </a:solidFill>
                <a:latin typeface="SUIT"/>
              </a:rPr>
              <a:t> </a:t>
            </a:r>
            <a:r>
              <a:rPr sz="1050" b="0" dirty="0" err="1">
                <a:solidFill>
                  <a:srgbClr val="C8D8E8"/>
                </a:solidFill>
                <a:latin typeface="SUIT"/>
              </a:rPr>
              <a:t>실적</a:t>
            </a:r>
            <a:r>
              <a:rPr sz="1050" b="0" dirty="0">
                <a:solidFill>
                  <a:srgbClr val="C8D8E8"/>
                </a:solidFill>
                <a:latin typeface="SUIT"/>
              </a:rPr>
              <a:t> · </a:t>
            </a:r>
            <a:r>
              <a:rPr lang="ko-KR" alt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경쟁사</a:t>
            </a:r>
            <a:r>
              <a:rPr lang="ko-KR" altLang="en-US" sz="1050" dirty="0">
                <a:solidFill>
                  <a:schemeClr val="bg1"/>
                </a:solidFill>
              </a:rPr>
              <a:t> </a:t>
            </a:r>
            <a:r>
              <a:rPr lang="ko-KR" alt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정보</a:t>
            </a:r>
            <a:r>
              <a:rPr lang="en-US" altLang="ko-KR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(</a:t>
            </a:r>
            <a:r>
              <a:rPr lang="ko-KR" alt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시장 규모</a:t>
            </a:r>
            <a:r>
              <a:rPr lang="en-US" altLang="ko-KR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, </a:t>
            </a:r>
            <a:r>
              <a:rPr lang="ko-KR" alt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매출</a:t>
            </a:r>
            <a:r>
              <a:rPr lang="en-US" altLang="ko-KR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77056" y="1572768"/>
            <a:ext cx="7315" cy="329184"/>
          </a:xfrm>
          <a:prstGeom prst="rect">
            <a:avLst/>
          </a:prstGeom>
          <a:solidFill>
            <a:srgbClr val="24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31536" y="1572768"/>
            <a:ext cx="7315" cy="329184"/>
          </a:xfrm>
          <a:prstGeom prst="rect">
            <a:avLst/>
          </a:prstGeom>
          <a:solidFill>
            <a:srgbClr val="24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66175" y="1572768"/>
            <a:ext cx="7315" cy="329184"/>
          </a:xfrm>
          <a:prstGeom prst="rect">
            <a:avLst/>
          </a:prstGeom>
          <a:solidFill>
            <a:srgbClr val="244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2139696"/>
            <a:ext cx="11055096" cy="512064"/>
          </a:xfrm>
          <a:prstGeom prst="roundRect">
            <a:avLst/>
          </a:prstGeom>
          <a:solidFill>
            <a:srgbClr val="0C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2249424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45E0B0"/>
                </a:solidFill>
                <a:latin typeface="SUIT"/>
              </a:rPr>
              <a:t>과업 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231136"/>
            <a:ext cx="3931920" cy="329184"/>
          </a:xfrm>
          <a:prstGeom prst="roundRect">
            <a:avLst/>
          </a:prstGeom>
          <a:solidFill>
            <a:srgbClr val="0A1830"/>
          </a:solidFill>
          <a:ln w="9525">
            <a:solidFill>
              <a:srgbClr val="45E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20240" y="2231136"/>
            <a:ext cx="39319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45E0B0"/>
                </a:solidFill>
                <a:latin typeface="SUIT"/>
              </a:rPr>
              <a:t>1차  경영실적 · 품질실적 · 콘텐츠 영역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231136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3B5B8C"/>
                </a:solidFill>
                <a:latin typeface="SUIT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2231136"/>
            <a:ext cx="3017520" cy="329184"/>
          </a:xfrm>
          <a:prstGeom prst="roundRect">
            <a:avLst/>
          </a:prstGeom>
          <a:solidFill>
            <a:srgbClr val="0A1830"/>
          </a:solidFill>
          <a:ln w="9525">
            <a:solidFill>
              <a:srgbClr val="00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91072" y="2231136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>
                <a:solidFill>
                  <a:srgbClr val="00D9D5"/>
                </a:solidFill>
                <a:latin typeface="SUIT"/>
              </a:rPr>
              <a:t>2차  개발실적 영역 확대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231136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100"/>
              </a:lnSpc>
            </a:pPr>
            <a:r>
              <a:rPr sz="850" b="0">
                <a:solidFill>
                  <a:srgbClr val="70869F"/>
                </a:solidFill>
                <a:latin typeface="SUIT"/>
              </a:rPr>
              <a:t>1차 과업에 이어 2차 과업으로 적용 영역이 확대된 건입니다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779776"/>
            <a:ext cx="2688336" cy="3035808"/>
          </a:xfrm>
          <a:prstGeom prst="roundRect">
            <a:avLst>
              <a:gd name="adj" fmla="val 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66928" y="2779776"/>
            <a:ext cx="64008" cy="3035808"/>
          </a:xfrm>
          <a:prstGeom prst="roundRect">
            <a:avLst/>
          </a:prstGeom>
          <a:solidFill>
            <a:srgbClr val="00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29443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D9D5"/>
                </a:solidFill>
                <a:latin typeface="SUIT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7984" y="298094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데이터 기반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291840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>
                <a:solidFill>
                  <a:srgbClr val="FFFFFF"/>
                </a:solidFill>
                <a:latin typeface="SUIT"/>
              </a:rPr>
              <a:t>AI 전용 데이터 마트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858768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41247" y="4078224"/>
            <a:ext cx="82296" cy="82296"/>
          </a:xfrm>
          <a:prstGeom prst="ellipse">
            <a:avLst/>
          </a:prstGeom>
          <a:solidFill>
            <a:srgbClr val="00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" y="4023360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경영 · 품질 · 개발 실적 영역별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특성을 반영한 전용 마트 설계</a:t>
            </a:r>
          </a:p>
        </p:txBody>
      </p:sp>
      <p:sp>
        <p:nvSpPr>
          <p:cNvPr id="33" name="Oval 32"/>
          <p:cNvSpPr/>
          <p:nvPr/>
        </p:nvSpPr>
        <p:spPr>
          <a:xfrm>
            <a:off x="841247" y="4645152"/>
            <a:ext cx="82296" cy="82296"/>
          </a:xfrm>
          <a:prstGeom prst="ellipse">
            <a:avLst/>
          </a:prstGeom>
          <a:solidFill>
            <a:srgbClr val="00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" y="4590288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웹 대시보드와 AI 분석이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같은 데이터를 바라보는 구조</a:t>
            </a:r>
          </a:p>
        </p:txBody>
      </p:sp>
      <p:sp>
        <p:nvSpPr>
          <p:cNvPr id="35" name="Oval 34"/>
          <p:cNvSpPr/>
          <p:nvPr/>
        </p:nvSpPr>
        <p:spPr>
          <a:xfrm>
            <a:off x="841247" y="5212080"/>
            <a:ext cx="82296" cy="82296"/>
          </a:xfrm>
          <a:prstGeom prst="ellipse">
            <a:avLst/>
          </a:prstGeom>
          <a:solidFill>
            <a:srgbClr val="00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4128" y="5157216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영역이 늘어나도 같은 방식으로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마트를 추가해 확장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55848" y="2779776"/>
            <a:ext cx="2688336" cy="3035808"/>
          </a:xfrm>
          <a:prstGeom prst="roundRect">
            <a:avLst>
              <a:gd name="adj" fmla="val 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355848" y="2779776"/>
            <a:ext cx="64008" cy="3035808"/>
          </a:xfrm>
          <a:prstGeom prst="roundRect">
            <a:avLst/>
          </a:prstGeom>
          <a:solidFill>
            <a:srgbClr val="45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11880" y="29443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5E0B0"/>
                </a:solidFill>
                <a:latin typeface="SUIT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46903" y="298094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정량 분석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3291840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>
                <a:solidFill>
                  <a:srgbClr val="FFFFFF"/>
                </a:solidFill>
                <a:latin typeface="SUIT"/>
              </a:rPr>
              <a:t>AI 인사이트 분석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11880" y="3858768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630168" y="4078224"/>
            <a:ext cx="82296" cy="82296"/>
          </a:xfrm>
          <a:prstGeom prst="ellipse">
            <a:avLst/>
          </a:prstGeom>
          <a:solidFill>
            <a:srgbClr val="45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13048" y="4023360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현황 · 비교 · 증감 · 원인분석 ·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트렌드 · 순위 · 누적 7개 질의유형</a:t>
            </a:r>
          </a:p>
        </p:txBody>
      </p:sp>
      <p:sp>
        <p:nvSpPr>
          <p:cNvPr id="45" name="Oval 44"/>
          <p:cNvSpPr/>
          <p:nvPr/>
        </p:nvSpPr>
        <p:spPr>
          <a:xfrm>
            <a:off x="3630168" y="4645152"/>
            <a:ext cx="82296" cy="82296"/>
          </a:xfrm>
          <a:prstGeom prst="ellipse">
            <a:avLst/>
          </a:prstGeom>
          <a:solidFill>
            <a:srgbClr val="45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13048" y="4590288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자연어 질의로 데이터를 탐색하고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세부 내역 조회 · 다운로드</a:t>
            </a:r>
          </a:p>
        </p:txBody>
      </p:sp>
      <p:sp>
        <p:nvSpPr>
          <p:cNvPr id="47" name="Oval 46"/>
          <p:cNvSpPr/>
          <p:nvPr/>
        </p:nvSpPr>
        <p:spPr>
          <a:xfrm>
            <a:off x="3630168" y="5212080"/>
            <a:ext cx="82296" cy="82296"/>
          </a:xfrm>
          <a:prstGeom prst="ellipse">
            <a:avLst/>
          </a:prstGeom>
          <a:solidFill>
            <a:srgbClr val="45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13048" y="5157216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웹 대시보드와 인사이트를 연계해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화면에서 바로 분석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44768" y="2779776"/>
            <a:ext cx="2688336" cy="3035808"/>
          </a:xfrm>
          <a:prstGeom prst="roundRect">
            <a:avLst>
              <a:gd name="adj" fmla="val 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144768" y="2779776"/>
            <a:ext cx="64008" cy="3035808"/>
          </a:xfrm>
          <a:prstGeom prst="roundRect">
            <a:avLst/>
          </a:prstGeom>
          <a:solidFill>
            <a:srgbClr val="4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29443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A8CF7"/>
                </a:solidFill>
                <a:latin typeface="SUIT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35824" y="298094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정성 데이터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3291840"/>
            <a:ext cx="2231136" cy="216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 dirty="0">
                <a:solidFill>
                  <a:srgbClr val="FFFFFF"/>
                </a:solidFill>
                <a:latin typeface="SUIT"/>
              </a:rPr>
              <a:t> </a:t>
            </a:r>
            <a:r>
              <a:rPr lang="ko-KR" altLang="en-US" sz="1350" b="1" dirty="0">
                <a:solidFill>
                  <a:srgbClr val="FFFFFF"/>
                </a:solidFill>
                <a:latin typeface="SUIT"/>
              </a:rPr>
              <a:t>사내 </a:t>
            </a:r>
            <a:r>
              <a:rPr sz="1350" b="1" dirty="0" err="1">
                <a:solidFill>
                  <a:srgbClr val="FFFFFF"/>
                </a:solidFill>
                <a:latin typeface="SUIT"/>
              </a:rPr>
              <a:t>문서</a:t>
            </a:r>
            <a:r>
              <a:rPr sz="1350" b="1" dirty="0">
                <a:solidFill>
                  <a:srgbClr val="FFFFFF"/>
                </a:solidFill>
                <a:latin typeface="SUIT"/>
              </a:rPr>
              <a:t> </a:t>
            </a:r>
            <a:r>
              <a:rPr lang="en-US" sz="1350" b="1" dirty="0">
                <a:solidFill>
                  <a:srgbClr val="FFFFFF"/>
                </a:solidFill>
                <a:latin typeface="SUIT"/>
              </a:rPr>
              <a:t>AI </a:t>
            </a:r>
            <a:r>
              <a:rPr sz="1350" b="1" dirty="0" err="1">
                <a:solidFill>
                  <a:srgbClr val="FFFFFF"/>
                </a:solidFill>
                <a:latin typeface="SUIT"/>
              </a:rPr>
              <a:t>분석</a:t>
            </a:r>
            <a:endParaRPr sz="1350" b="1" dirty="0">
              <a:solidFill>
                <a:srgbClr val="FFFFFF"/>
              </a:solidFill>
              <a:latin typeface="SUIT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400800" y="3858768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419088" y="4078224"/>
            <a:ext cx="82296" cy="82296"/>
          </a:xfrm>
          <a:prstGeom prst="ellipse">
            <a:avLst/>
          </a:prstGeom>
          <a:solidFill>
            <a:srgbClr val="4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01968" y="4023360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문서 내 텍스트 · 표 · 이미지를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함께 처리하는 멀티모달 방식</a:t>
            </a:r>
          </a:p>
        </p:txBody>
      </p:sp>
      <p:sp>
        <p:nvSpPr>
          <p:cNvPr id="57" name="Oval 56"/>
          <p:cNvSpPr/>
          <p:nvPr/>
        </p:nvSpPr>
        <p:spPr>
          <a:xfrm>
            <a:off x="6419088" y="4645152"/>
            <a:ext cx="82296" cy="82296"/>
          </a:xfrm>
          <a:prstGeom prst="ellipse">
            <a:avLst/>
          </a:prstGeom>
          <a:solidFill>
            <a:srgbClr val="4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01968" y="4590288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답변에 근거 문서와 출처를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함께 제시</a:t>
            </a:r>
          </a:p>
        </p:txBody>
      </p:sp>
      <p:sp>
        <p:nvSpPr>
          <p:cNvPr id="59" name="Oval 58"/>
          <p:cNvSpPr/>
          <p:nvPr/>
        </p:nvSpPr>
        <p:spPr>
          <a:xfrm>
            <a:off x="6419088" y="5212080"/>
            <a:ext cx="82296" cy="82296"/>
          </a:xfrm>
          <a:prstGeom prst="ellipse">
            <a:avLst/>
          </a:prstGeom>
          <a:solidFill>
            <a:srgbClr val="4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01968" y="5157216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대시보드와 연계해 정량 지표와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정성 근거를 한 흐름에서 확인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33687" y="2779776"/>
            <a:ext cx="2688336" cy="3035808"/>
          </a:xfrm>
          <a:prstGeom prst="roundRect">
            <a:avLst>
              <a:gd name="adj" fmla="val 0"/>
            </a:avLst>
          </a:prstGeom>
          <a:solidFill>
            <a:srgbClr val="10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933687" y="2779776"/>
            <a:ext cx="64008" cy="3035808"/>
          </a:xfrm>
          <a:prstGeom prst="round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189719" y="29443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B942"/>
                </a:solidFill>
                <a:latin typeface="SUIT"/>
              </a:rPr>
              <a:t>④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24743" y="298094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70869F"/>
                </a:solidFill>
                <a:latin typeface="SUIT"/>
              </a:rPr>
              <a:t>운영 · 통제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19" y="3291840"/>
            <a:ext cx="223113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350" b="1">
                <a:solidFill>
                  <a:srgbClr val="FFFFFF"/>
                </a:solidFill>
                <a:latin typeface="SUIT"/>
              </a:rPr>
              <a:t>AI Ops · 문서 자동화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9719" y="3858768"/>
            <a:ext cx="2176272" cy="7315"/>
          </a:xfrm>
          <a:prstGeom prst="rect">
            <a:avLst/>
          </a:prstGeom>
          <a:solidFill>
            <a:srgbClr val="1E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208007" y="4078224"/>
            <a:ext cx="82296" cy="82296"/>
          </a:xfrm>
          <a:prstGeom prst="ellipse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390887" y="4023360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사용량 · 로그 · 통계 모니터링</a:t>
            </a:r>
          </a:p>
        </p:txBody>
      </p:sp>
      <p:sp>
        <p:nvSpPr>
          <p:cNvPr id="69" name="Oval 68"/>
          <p:cNvSpPr/>
          <p:nvPr/>
        </p:nvSpPr>
        <p:spPr>
          <a:xfrm>
            <a:off x="9208007" y="4645152"/>
            <a:ext cx="82296" cy="82296"/>
          </a:xfrm>
          <a:prstGeom prst="ellipse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390887" y="4590288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질문에서 답변까지 도출 과정을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단계별로 추적</a:t>
            </a:r>
          </a:p>
        </p:txBody>
      </p:sp>
      <p:sp>
        <p:nvSpPr>
          <p:cNvPr id="71" name="Oval 70"/>
          <p:cNvSpPr/>
          <p:nvPr/>
        </p:nvSpPr>
        <p:spPr>
          <a:xfrm>
            <a:off x="9208007" y="5212080"/>
            <a:ext cx="82296" cy="82296"/>
          </a:xfrm>
          <a:prstGeom prst="ellipse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390887" y="5157216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인사이트 기반 문서 자동 생성과</a:t>
            </a:r>
          </a:p>
          <a:p>
            <a:pPr algn="l">
              <a:lnSpc>
                <a:spcPts val="1250"/>
              </a:lnSpc>
            </a:pPr>
            <a:r>
              <a:rPr sz="900" b="0">
                <a:solidFill>
                  <a:srgbClr val="C8D8E8"/>
                </a:solidFill>
                <a:latin typeface="SUIT"/>
              </a:rPr>
              <a:t>정기 구독 발송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6928" y="5925312"/>
            <a:ext cx="11055096" cy="347472"/>
          </a:xfrm>
          <a:prstGeom prst="roundRect">
            <a:avLst/>
          </a:prstGeom>
          <a:solidFill>
            <a:srgbClr val="0C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13232" y="6033645"/>
            <a:ext cx="1078992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dirty="0">
                <a:solidFill>
                  <a:srgbClr val="70869F"/>
                </a:solidFill>
                <a:latin typeface="SUIT"/>
              </a:rPr>
              <a:t>※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포털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사용자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·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메뉴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권한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관리를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포함해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고객사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환경에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맞춰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구성했습니다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. 12월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오픈</a:t>
            </a:r>
            <a:r>
              <a:rPr sz="850" b="0" dirty="0">
                <a:solidFill>
                  <a:srgbClr val="70869F"/>
                </a:solidFill>
                <a:latin typeface="SUIT"/>
              </a:rPr>
              <a:t> </a:t>
            </a:r>
            <a:r>
              <a:rPr sz="850" b="0" dirty="0" err="1">
                <a:solidFill>
                  <a:srgbClr val="70869F"/>
                </a:solidFill>
                <a:latin typeface="SUIT"/>
              </a:rPr>
              <a:t>예정</a:t>
            </a:r>
            <a:endParaRPr sz="850" b="0" dirty="0">
              <a:solidFill>
                <a:srgbClr val="70869F"/>
              </a:solidFill>
              <a:latin typeface="SUIT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59536" y="642823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44587A"/>
                </a:solidFill>
                <a:latin typeface="SUIT"/>
              </a:rPr>
              <a:t>aisight  |  구축 및 PoC 레퍼런스  |  대외 제공용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44587A"/>
                </a:solidFill>
                <a:latin typeface="SUIT"/>
              </a:rPr>
              <a:t>05</a:t>
            </a:r>
          </a:p>
        </p:txBody>
      </p:sp>
      <p:pic>
        <p:nvPicPr>
          <p:cNvPr id="77" name="Picture 76" descr="ai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91656"/>
            <a:ext cx="219456" cy="219456"/>
          </a:xfrm>
          <a:prstGeom prst="rect">
            <a:avLst/>
          </a:prstGeom>
        </p:spPr>
      </p:pic>
      <p:pic>
        <p:nvPicPr>
          <p:cNvPr id="78" name="Picture 77" descr="ss_m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790" y="6441948"/>
            <a:ext cx="591433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79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9D5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5303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PoC 진행 · 예정 2건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검증이 진행 중인 단계라 업종 기준으로 표기했습니다. 두 건 모두 통제 요건과 검증 방식이 사전에 정의된 과제입니다.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1517904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10203A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77824" y="1755648"/>
            <a:ext cx="530352" cy="530352"/>
          </a:xfrm>
          <a:prstGeom prst="roundRect">
            <a:avLst>
              <a:gd name="adj" fmla="val 86207"/>
            </a:avLst>
          </a:prstGeom>
          <a:solidFill>
            <a:srgbClr val="16294A"/>
          </a:solidFill>
          <a:ln w="11430">
            <a:solidFill>
              <a:srgbClr val="00D9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08" y="1882932"/>
            <a:ext cx="275783" cy="27578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21608" y="1810512"/>
            <a:ext cx="1883664" cy="292608"/>
          </a:xfrm>
          <a:prstGeom prst="roundRect">
            <a:avLst>
              <a:gd name="adj" fmla="val 18750"/>
            </a:avLst>
          </a:prstGeom>
          <a:solidFill>
            <a:srgbClr val="0A1830"/>
          </a:solidFill>
          <a:ln w="9525">
            <a:solidFill>
              <a:srgbClr val="00D9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3721608" y="181051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9D5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PoC 진행 · 9월까지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77824" y="2432304"/>
            <a:ext cx="4727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국내 대형 증권사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 Data </a:t>
            </a:r>
            <a:r>
              <a:rPr lang="ko-KR" altLang="en-US" sz="16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거버넌스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77824" y="3072384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869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금융 · 증권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77824" y="3401568"/>
            <a:ext cx="4727448" cy="7315"/>
          </a:xfrm>
          <a:prstGeom prst="rect">
            <a:avLst/>
          </a:prstGeom>
          <a:solidFill>
            <a:srgbClr val="1E35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877824" y="3529584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D5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검증 과제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77824" y="374904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구축된 사내 BIZ 메타(용어 · 지표 표준) 체계를 기반으로, 지정된 업무 데이터셋에 대해 자연어 분석이 실제 업무 수준으로 동작하는지 검증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77824" y="4297680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D5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주요 검증 항목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96112" y="4608576"/>
            <a:ext cx="82296" cy="82296"/>
          </a:xfrm>
          <a:prstGeom prst="ellipse">
            <a:avLst/>
          </a:prstGeom>
          <a:solidFill>
            <a:srgbClr val="00D9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1078992" y="452628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자연어 질의 기반 SQL 생성 · 조회 정확도와 응답 속도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96112" y="4882896"/>
            <a:ext cx="82296" cy="82296"/>
          </a:xfrm>
          <a:prstGeom prst="ellipse">
            <a:avLst/>
          </a:prstGeom>
          <a:solidFill>
            <a:srgbClr val="00D9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1078992" y="480060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자연어 · 이미지 기반 대시보드 초안 생성과 수정 편의성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96112" y="5157216"/>
            <a:ext cx="82296" cy="82296"/>
          </a:xfrm>
          <a:prstGeom prst="ellipse">
            <a:avLst/>
          </a:prstGeom>
          <a:solidFill>
            <a:srgbClr val="00D9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1078992" y="507492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기존 · 생성 대시보드 대상 컨텍스트 질의응답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896112" y="5431536"/>
            <a:ext cx="82296" cy="82296"/>
          </a:xfrm>
          <a:prstGeom prst="ellipse">
            <a:avLst/>
          </a:prstGeom>
          <a:solidFill>
            <a:srgbClr val="00D9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1078992" y="534924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메타 프로파일링 활용과 Semantic Layer 연계 방향성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77824" y="5669280"/>
            <a:ext cx="4727448" cy="256032"/>
          </a:xfrm>
          <a:prstGeom prst="roundRect">
            <a:avLst>
              <a:gd name="adj" fmla="val 17857"/>
            </a:avLst>
          </a:prstGeom>
          <a:solidFill>
            <a:srgbClr val="0F24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877824" y="5669280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9D5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구축된 사내 메타 표준을 그대로 활용하는 검증 건입니다.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272784" y="1517904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10203A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6583680" y="1755648"/>
            <a:ext cx="530352" cy="530352"/>
          </a:xfrm>
          <a:prstGeom prst="roundRect">
            <a:avLst>
              <a:gd name="adj" fmla="val 86207"/>
            </a:avLst>
          </a:prstGeom>
          <a:solidFill>
            <a:srgbClr val="16294A"/>
          </a:solidFill>
          <a:ln w="1143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964" y="1882932"/>
            <a:ext cx="275783" cy="275783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9427464" y="1810512"/>
            <a:ext cx="1883664" cy="292608"/>
          </a:xfrm>
          <a:prstGeom prst="roundRect">
            <a:avLst>
              <a:gd name="adj" fmla="val 18750"/>
            </a:avLst>
          </a:prstGeom>
          <a:solidFill>
            <a:srgbClr val="0A1830"/>
          </a:solidFill>
          <a:ln w="952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9427464" y="181051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B94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계약 완료 · 12월까지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583680" y="2432304"/>
            <a:ext cx="4727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국내 완성차 그룹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글로벌 디지털 기획 조직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6583680" y="3072384"/>
            <a:ext cx="4727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869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제조 · 모빌리티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583680" y="3401568"/>
            <a:ext cx="4727448" cy="7315"/>
          </a:xfrm>
          <a:prstGeom prst="rect">
            <a:avLst/>
          </a:prstGeom>
          <a:solidFill>
            <a:srgbClr val="1E355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6583680" y="3529584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B94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검증 과제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583680" y="3749040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CRM · 웹 분석 · 광고 매체 데이터를 통합한 마케팅 퍼널 KPI 대시보드 환경에서, 기존 BI를 AI 기반 Gen BI로 전환할 수 있는지 검증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6583680" y="4297680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B94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주요 검증 항목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6601968" y="4608576"/>
            <a:ext cx="82296" cy="82296"/>
          </a:xfrm>
          <a:prstGeom prst="ellipse">
            <a:avLst/>
          </a:prstGeom>
          <a:solidFill>
            <a:srgbClr val="F5B9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/>
          <p:nvPr/>
        </p:nvSpPr>
        <p:spPr>
          <a:xfrm>
            <a:off x="6784848" y="452628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2개 KPI 영역으로 범위를 제한해 검증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6601968" y="4882896"/>
            <a:ext cx="82296" cy="82296"/>
          </a:xfrm>
          <a:prstGeom prst="ellipse">
            <a:avLst/>
          </a:prstGeom>
          <a:solidFill>
            <a:srgbClr val="F5B9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/>
          <p:nvPr/>
        </p:nvSpPr>
        <p:spPr>
          <a:xfrm>
            <a:off x="6784848" y="480060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동일 데이터 · 동일 질문 · 동일 사용자 기준 비교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6601968" y="5157216"/>
            <a:ext cx="82296" cy="82296"/>
          </a:xfrm>
          <a:prstGeom prst="ellipse">
            <a:avLst/>
          </a:prstGeom>
          <a:solidFill>
            <a:srgbClr val="F5B9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6784848" y="507492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사용자 · 운영자 · 비용 3개 관점으로 평가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601968" y="5431536"/>
            <a:ext cx="82296" cy="82296"/>
          </a:xfrm>
          <a:prstGeom prst="ellipse">
            <a:avLst/>
          </a:prstGeom>
          <a:solidFill>
            <a:srgbClr val="F5B9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/>
          <p:nvPr/>
        </p:nvSpPr>
        <p:spPr>
          <a:xfrm>
            <a:off x="6784848" y="534924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KPI 정의와 데이터 정합성 확인을 선행 조건으로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583680" y="5669280"/>
            <a:ext cx="4727448" cy="256032"/>
          </a:xfrm>
          <a:prstGeom prst="roundRect">
            <a:avLst>
              <a:gd name="adj" fmla="val 17857"/>
            </a:avLst>
          </a:prstGeom>
          <a:solidFill>
            <a:srgbClr val="0F24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/>
          <p:nvPr/>
        </p:nvSpPr>
        <p:spPr>
          <a:xfrm>
            <a:off x="6583680" y="5669280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B942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업무 성격에 따른 병행 운영 가능성까지 함께 검토합니다.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566928" y="6089904"/>
            <a:ext cx="11055096" cy="274320"/>
          </a:xfrm>
          <a:prstGeom prst="roundRect">
            <a:avLst>
              <a:gd name="adj" fmla="val 23333"/>
            </a:avLst>
          </a:prstGeom>
          <a:solidFill>
            <a:srgbClr val="0C1B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4"/>
          <p:cNvSpPr/>
          <p:nvPr/>
        </p:nvSpPr>
        <p:spPr>
          <a:xfrm>
            <a:off x="713232" y="60899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869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※ PoC 단계 건은 고객사 동의 절차가 완료된 후 실명 자료로 제공드릴 수 있습니다.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59536" y="64282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87A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aisight  |  구축 및 PoC 레퍼런스  |  대외 제공용</a:t>
            </a:r>
            <a:endParaRPr lang="en-US" sz="850" dirty="0"/>
          </a:p>
        </p:txBody>
      </p:sp>
      <p:sp>
        <p:nvSpPr>
          <p:cNvPr id="51" name="Text 46"/>
          <p:cNvSpPr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4587A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06</a:t>
            </a:r>
            <a:endParaRPr lang="en-US" sz="850" dirty="0"/>
          </a:p>
        </p:txBody>
      </p:sp>
      <p:pic>
        <p:nvPicPr>
          <p:cNvPr id="52" name="Picture 51" descr="ai_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391656"/>
            <a:ext cx="219456" cy="219456"/>
          </a:xfrm>
          <a:prstGeom prst="rect">
            <a:avLst/>
          </a:prstGeom>
        </p:spPr>
      </p:pic>
      <p:pic>
        <p:nvPicPr>
          <p:cNvPr id="53" name="Picture 52" descr="ss_m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4790" y="6441948"/>
            <a:ext cx="591433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31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9D5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SECURITY &amp; CONTROL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5303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통제된 데이터 안에서 동작합니다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앞의 세 건 모두 사내 데이터를 밖으로 내보내지 않는 환경에서 구축했습니다. 도입 검토에서 확인하는 항목들을 정리했습니다.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1554480"/>
            <a:ext cx="11055096" cy="530352"/>
          </a:xfrm>
          <a:prstGeom prst="roundRect">
            <a:avLst>
              <a:gd name="adj" fmla="val 15517"/>
            </a:avLst>
          </a:prstGeom>
          <a:solidFill>
            <a:srgbClr val="10203A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66928" y="1554480"/>
            <a:ext cx="64008" cy="530352"/>
          </a:xfrm>
          <a:prstGeom prst="roundRect">
            <a:avLst>
              <a:gd name="adj" fmla="val 42857"/>
            </a:avLst>
          </a:prstGeom>
          <a:solidFill>
            <a:srgbClr val="00D9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59536" y="15544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데이터 국외 · 외부 이전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749040" y="155448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사내 GPU에서 구동되는 모델로 처리합니다. 민감 데이터는 사내 환경을 벗어나지 않습니다.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" y="2176272"/>
            <a:ext cx="11055096" cy="530352"/>
          </a:xfrm>
          <a:prstGeom prst="roundRect">
            <a:avLst>
              <a:gd name="adj" fmla="val 15517"/>
            </a:avLst>
          </a:prstGeom>
          <a:solidFill>
            <a:srgbClr val="0C1B33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66928" y="2176272"/>
            <a:ext cx="64008" cy="530352"/>
          </a:xfrm>
          <a:prstGeom prst="roundRect">
            <a:avLst>
              <a:gd name="adj" fmla="val 42857"/>
            </a:avLst>
          </a:prstGeom>
          <a:solidFill>
            <a:srgbClr val="00D9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59536" y="21762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최소 권한 원칙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749040" y="217627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스킬 단위로 조회 가능한 데이터소스를 지정합니다. 지정하지 않은 데이터는 접근되지 않습니다.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2798064"/>
            <a:ext cx="11055096" cy="530352"/>
          </a:xfrm>
          <a:prstGeom prst="roundRect">
            <a:avLst>
              <a:gd name="adj" fmla="val 15517"/>
            </a:avLst>
          </a:prstGeom>
          <a:solidFill>
            <a:srgbClr val="10203A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66928" y="2798064"/>
            <a:ext cx="64008" cy="530352"/>
          </a:xfrm>
          <a:prstGeom prst="roundRect">
            <a:avLst>
              <a:gd name="adj" fmla="val 42857"/>
            </a:avLst>
          </a:prstGeom>
          <a:solidFill>
            <a:srgbClr val="45E0B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59536" y="279806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접근 이력 관리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749040" y="279806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질의의 모든 과정이</a:t>
            </a:r>
            <a:r>
              <a:rPr 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en-US" sz="1050" dirty="0" err="1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세션</a:t>
            </a:r>
            <a:r>
              <a:rPr 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ko-KR" alt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및 턴 단위로 </a:t>
            </a:r>
            <a:r>
              <a:rPr lang="en-US" sz="1050" dirty="0" err="1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기록</a:t>
            </a:r>
            <a:r>
              <a:rPr 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en-US" sz="1050" dirty="0" err="1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됩니다</a:t>
            </a:r>
            <a:r>
              <a:rPr 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3419856"/>
            <a:ext cx="11055096" cy="530352"/>
          </a:xfrm>
          <a:prstGeom prst="roundRect">
            <a:avLst>
              <a:gd name="adj" fmla="val 15517"/>
            </a:avLst>
          </a:prstGeom>
          <a:solidFill>
            <a:srgbClr val="0C1B33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566928" y="3419856"/>
            <a:ext cx="64008" cy="530352"/>
          </a:xfrm>
          <a:prstGeom prst="roundRect">
            <a:avLst>
              <a:gd name="adj" fmla="val 42857"/>
            </a:avLst>
          </a:prstGeom>
          <a:solidFill>
            <a:srgbClr val="45E0B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59536" y="34198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데이터 접근 소명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749040" y="3419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AI가 생성해 실행한 SQL 원문과 소유자 · 데이터소스 · 생성 시각이 함께 남습니다.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66928" y="4041648"/>
            <a:ext cx="11055096" cy="530352"/>
          </a:xfrm>
          <a:prstGeom prst="roundRect">
            <a:avLst>
              <a:gd name="adj" fmla="val 15517"/>
            </a:avLst>
          </a:prstGeom>
          <a:solidFill>
            <a:srgbClr val="10203A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566928" y="4041648"/>
            <a:ext cx="64008" cy="530352"/>
          </a:xfrm>
          <a:prstGeom prst="roundRect">
            <a:avLst>
              <a:gd name="adj" fmla="val 42857"/>
            </a:avLst>
          </a:prstGeom>
          <a:solidFill>
            <a:srgbClr val="4A8C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859536" y="40416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원본 무결성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749040" y="40416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읽기 전용으로 동작하며, 데이터를 변경하거나 삭제하는 실행은 차단됩니다.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66928" y="4663440"/>
            <a:ext cx="11055096" cy="530352"/>
          </a:xfrm>
          <a:prstGeom prst="roundRect">
            <a:avLst>
              <a:gd name="adj" fmla="val 15517"/>
            </a:avLst>
          </a:prstGeom>
          <a:solidFill>
            <a:srgbClr val="0C1B33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66928" y="4663440"/>
            <a:ext cx="64008" cy="530352"/>
          </a:xfrm>
          <a:prstGeom prst="roundRect">
            <a:avLst>
              <a:gd name="adj" fmla="val 42857"/>
            </a:avLst>
          </a:prstGeom>
          <a:solidFill>
            <a:srgbClr val="4A8C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859536" y="46634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개인정보 보호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749040" y="46634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처리 전 단계에서 개인 식별 정보를 마스킹합니다.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66928" y="5285232"/>
            <a:ext cx="11055096" cy="530352"/>
          </a:xfrm>
          <a:prstGeom prst="roundRect">
            <a:avLst>
              <a:gd name="adj" fmla="val 15517"/>
            </a:avLst>
          </a:prstGeom>
          <a:solidFill>
            <a:srgbClr val="10203A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566928" y="5285232"/>
            <a:ext cx="64008" cy="530352"/>
          </a:xfrm>
          <a:prstGeom prst="roundRect">
            <a:avLst>
              <a:gd name="adj" fmla="val 42857"/>
            </a:avLst>
          </a:prstGeom>
          <a:solidFill>
            <a:srgbClr val="F5B9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859536" y="528523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산출물 통제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3749040" y="52852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생성된 분석과 문서는 권한이 있는 사용자에게만 열립니다.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66928" y="5943600"/>
            <a:ext cx="11055096" cy="384048"/>
          </a:xfrm>
          <a:prstGeom prst="roundRect">
            <a:avLst>
              <a:gd name="adj" fmla="val 16667"/>
            </a:avLst>
          </a:prstGeom>
          <a:solidFill>
            <a:srgbClr val="1A1526"/>
          </a:solidFill>
          <a:ln w="9525">
            <a:solidFill>
              <a:srgbClr val="5A2B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566928" y="594360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C3CB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※ 위 대응 내용은 제품 기능 기준이며, 금융 · 공공 등 개별 규정 적합성 판단은 고객사 보안 검토 기준에 따릅니다. 상세 검토 자료는 요청 시 별도 제공드립니다.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59536" y="64282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87A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aisight  |  구축 및 PoC 레퍼런스  |  대외 제공용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4587A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07</a:t>
            </a:r>
            <a:endParaRPr lang="en-US" sz="850" dirty="0"/>
          </a:p>
        </p:txBody>
      </p:sp>
      <p:pic>
        <p:nvPicPr>
          <p:cNvPr id="38" name="Picture 37" descr="ai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91656"/>
            <a:ext cx="219456" cy="219456"/>
          </a:xfrm>
          <a:prstGeom prst="rect">
            <a:avLst/>
          </a:prstGeom>
        </p:spPr>
      </p:pic>
      <p:pic>
        <p:nvPicPr>
          <p:cNvPr id="39" name="Picture 38" descr="ss_m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4790" y="6441948"/>
            <a:ext cx="591433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40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9D5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EVIDENCE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53035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통제 기능은 화면으로 확인됩니다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66928" y="104241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고객사 구축 화면은 포함할 수 없어, 동일 기능의 시연 환경 화면으로 대신합니다.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366" y="2011680"/>
            <a:ext cx="3640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9D5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①  세션 단위 조회 이력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76646" y="2240280"/>
            <a:ext cx="3732215" cy="2011680"/>
          </a:xfrm>
          <a:prstGeom prst="roundRect">
            <a:avLst>
              <a:gd name="adj" fmla="val 2273"/>
            </a:avLst>
          </a:prstGeom>
          <a:solidFill>
            <a:srgbClr val="1B3357"/>
          </a:solidFill>
          <a:ln w="11430">
            <a:solidFill>
              <a:srgbClr val="3A5F8F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shot_au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66" y="2286000"/>
            <a:ext cx="3640775" cy="1920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366" y="4407408"/>
            <a:ext cx="3640775" cy="1097280"/>
          </a:xfrm>
          <a:prstGeom prst="roundRect">
            <a:avLst>
              <a:gd name="adj" fmla="val 7500"/>
            </a:avLst>
          </a:prstGeom>
          <a:solidFill>
            <a:srgbClr val="0C1B33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/>
          <p:nvPr/>
        </p:nvSpPr>
        <p:spPr>
          <a:xfrm>
            <a:off x="1041822" y="4572000"/>
            <a:ext cx="320186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사용자</a:t>
            </a: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가 </a:t>
            </a: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질의한 내역이</a:t>
            </a: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en-US" sz="1000" dirty="0" err="1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순서대로</a:t>
            </a: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 </a:t>
            </a:r>
            <a:r>
              <a:rPr lang="ko-KR" alt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기록됩니다</a:t>
            </a:r>
            <a:r>
              <a:rPr lang="en-US" altLang="ko-KR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691741" y="2011680"/>
            <a:ext cx="23234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5E0B0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②  실행된 SQL 원문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46021" y="2240280"/>
            <a:ext cx="2414930" cy="2011680"/>
          </a:xfrm>
          <a:prstGeom prst="roundRect">
            <a:avLst>
              <a:gd name="adj" fmla="val 2273"/>
            </a:avLst>
          </a:prstGeom>
          <a:solidFill>
            <a:srgbClr val="1B3357"/>
          </a:solidFill>
          <a:ln w="11430">
            <a:solidFill>
              <a:srgbClr val="3A5F8F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home/claude/shot_au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741" y="2286000"/>
            <a:ext cx="232349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691741" y="4407408"/>
            <a:ext cx="2323490" cy="1097280"/>
          </a:xfrm>
          <a:prstGeom prst="roundRect">
            <a:avLst>
              <a:gd name="adj" fmla="val 7500"/>
            </a:avLst>
          </a:prstGeom>
          <a:solidFill>
            <a:srgbClr val="0C1B33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4911197" y="4572000"/>
            <a:ext cx="188457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AI가 생성해 실행한 쿼리 원문과 소유자 · 데이터소스 · 생성 시각이 함께 기록됩니다.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243831" y="2011680"/>
            <a:ext cx="41227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8CF7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③  데이터소스 접근 범위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198111" y="2240280"/>
            <a:ext cx="4214195" cy="2011680"/>
          </a:xfrm>
          <a:prstGeom prst="roundRect">
            <a:avLst>
              <a:gd name="adj" fmla="val 2273"/>
            </a:avLst>
          </a:prstGeom>
          <a:solidFill>
            <a:srgbClr val="1B3357"/>
          </a:solidFill>
          <a:ln w="11430">
            <a:solidFill>
              <a:srgbClr val="3A5F8F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/home/claude/shot_skill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831" y="2286000"/>
            <a:ext cx="4122755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243831" y="4407408"/>
            <a:ext cx="4122755" cy="1097280"/>
          </a:xfrm>
          <a:prstGeom prst="roundRect">
            <a:avLst>
              <a:gd name="adj" fmla="val 7500"/>
            </a:avLst>
          </a:prstGeom>
          <a:solidFill>
            <a:srgbClr val="0C1B33"/>
          </a:solidFill>
          <a:ln w="9525">
            <a:solidFill>
              <a:srgbClr val="1E3557"/>
            </a:solidFill>
            <a:prstDash val="solid"/>
          </a:ln>
          <a:effectLst>
            <a:outerShdw blurRad="1778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/>
          <p:nvPr/>
        </p:nvSpPr>
        <p:spPr>
          <a:xfrm>
            <a:off x="7463287" y="4572000"/>
            <a:ext cx="36838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C8D8E8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스킬 단위로 조회 가능한 데이터소스를 지정합니다. 지정하지 않은 데이터는 접근되지 않습니다.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66928" y="5815584"/>
            <a:ext cx="11055096" cy="420624"/>
          </a:xfrm>
          <a:prstGeom prst="roundRect">
            <a:avLst>
              <a:gd name="adj" fmla="val 15217"/>
            </a:avLst>
          </a:prstGeom>
          <a:solidFill>
            <a:srgbClr val="1A1526"/>
          </a:solidFill>
          <a:ln w="9525">
            <a:solidFill>
              <a:srgbClr val="5A2B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/>
          <p:nvPr/>
        </p:nvSpPr>
        <p:spPr>
          <a:xfrm>
            <a:off x="566928" y="581558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C3CB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※ 위 화면은 모두 시연 환경의 샘플 데이터 기준입니다. 고객사 실제 데이터와 구축 화면은 보안 정책상 포함하지 않았습니다.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59536" y="64282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587A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aisight  |  구축 및 PoC 레퍼런스  |  대외 제공용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11064240" y="64282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4587A"/>
                </a:solidFill>
                <a:latin typeface="SUIT" pitchFamily="34" charset="0"/>
                <a:ea typeface="SUIT" pitchFamily="34" charset="-122"/>
                <a:cs typeface="SUIT" pitchFamily="34" charset="-120"/>
              </a:rPr>
              <a:t>08</a:t>
            </a:r>
            <a:endParaRPr lang="en-US" sz="850" dirty="0"/>
          </a:p>
        </p:txBody>
      </p:sp>
      <p:pic>
        <p:nvPicPr>
          <p:cNvPr id="25" name="Picture 24" descr="ai_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391656"/>
            <a:ext cx="219456" cy="219456"/>
          </a:xfrm>
          <a:prstGeom prst="rect">
            <a:avLst/>
          </a:prstGeom>
        </p:spPr>
      </p:pic>
      <p:pic>
        <p:nvPicPr>
          <p:cNvPr id="26" name="Picture 25" descr="ss_mu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4790" y="6441948"/>
            <a:ext cx="591433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55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C0C458-2977-4A43-9DF4-CE4DBE36D48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d65352e-a0ea-47e1-bf69-ea7da3890e9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2047</Words>
  <Application>Microsoft Office PowerPoint</Application>
  <PresentationFormat>와이드스크린</PresentationFormat>
  <Paragraphs>316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SUIT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aisight 구축 및 PoC 레퍼런스</dc:title>
  <dc:subject>PptxGenJS Presentation</dc:subject>
  <dc:creator>Sailingstone</dc:creator>
  <cp:lastModifiedBy>김유민</cp:lastModifiedBy>
  <cp:revision>13</cp:revision>
  <dcterms:created xsi:type="dcterms:W3CDTF">2026-08-11T06:31:15Z</dcterms:created>
  <dcterms:modified xsi:type="dcterms:W3CDTF">2026-08-14T04:34:54Z</dcterms:modified>
</cp:coreProperties>
</file>