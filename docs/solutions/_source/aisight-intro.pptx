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5" r:id="rId1"/>
    <p:sldMasterId id="2147483683" r:id="rId2"/>
  </p:sldMasterIdLst>
  <p:notesMasterIdLst>
    <p:notesMasterId r:id="rId46"/>
  </p:notesMasterIdLst>
  <p:sldIdLst>
    <p:sldId id="656" r:id="rId3"/>
    <p:sldId id="618" r:id="rId4"/>
    <p:sldId id="263" r:id="rId5"/>
    <p:sldId id="619" r:id="rId6"/>
    <p:sldId id="620" r:id="rId7"/>
    <p:sldId id="302" r:id="rId8"/>
    <p:sldId id="621" r:id="rId9"/>
    <p:sldId id="650" r:id="rId10"/>
    <p:sldId id="623" r:id="rId11"/>
    <p:sldId id="624" r:id="rId12"/>
    <p:sldId id="625" r:id="rId13"/>
    <p:sldId id="626" r:id="rId14"/>
    <p:sldId id="542" r:id="rId15"/>
    <p:sldId id="543" r:id="rId16"/>
    <p:sldId id="627" r:id="rId17"/>
    <p:sldId id="545" r:id="rId18"/>
    <p:sldId id="546" r:id="rId19"/>
    <p:sldId id="547" r:id="rId20"/>
    <p:sldId id="614" r:id="rId21"/>
    <p:sldId id="652" r:id="rId22"/>
    <p:sldId id="548" r:id="rId23"/>
    <p:sldId id="628" r:id="rId24"/>
    <p:sldId id="629" r:id="rId25"/>
    <p:sldId id="630" r:id="rId26"/>
    <p:sldId id="653" r:id="rId27"/>
    <p:sldId id="269" r:id="rId28"/>
    <p:sldId id="632" r:id="rId29"/>
    <p:sldId id="633" r:id="rId30"/>
    <p:sldId id="634" r:id="rId31"/>
    <p:sldId id="576" r:id="rId32"/>
    <p:sldId id="579" r:id="rId33"/>
    <p:sldId id="580" r:id="rId34"/>
    <p:sldId id="635" r:id="rId35"/>
    <p:sldId id="636" r:id="rId36"/>
    <p:sldId id="637" r:id="rId37"/>
    <p:sldId id="425" r:id="rId38"/>
    <p:sldId id="638" r:id="rId39"/>
    <p:sldId id="639" r:id="rId40"/>
    <p:sldId id="640" r:id="rId41"/>
    <p:sldId id="609" r:id="rId42"/>
    <p:sldId id="654" r:id="rId43"/>
    <p:sldId id="447" r:id="rId44"/>
    <p:sldId id="256" r:id="rId45"/>
  </p:sldIdLst>
  <p:sldSz cx="9144000" cy="5143500" type="screen16x9"/>
  <p:notesSz cx="5143500" cy="9144000"/>
  <p:embeddedFontLst>
    <p:embeddedFont>
      <p:font typeface="Noto Sans KR" panose="020B0200000000000000" pitchFamily="50" charset="-127"/>
      <p:regular r:id="rId47"/>
      <p:bold r:id="rId48"/>
    </p:embeddedFont>
    <p:embeddedFont>
      <p:font typeface="Noto Sans KR Black" panose="020B0200000000000000" pitchFamily="50" charset="-127"/>
      <p:bold r:id="rId49"/>
    </p:embeddedFont>
    <p:embeddedFont>
      <p:font typeface="SUIT" pitchFamily="2" charset="-127"/>
      <p:regular r:id="rId50"/>
      <p:bold r:id="rId51"/>
    </p:embeddedFont>
    <p:embeddedFont>
      <p:font typeface="SUIT ExtraBold" pitchFamily="50" charset="-127"/>
      <p:bold r:id="rId52"/>
    </p:embeddedFont>
    <p:embeddedFont>
      <p:font typeface="SUIT Light" pitchFamily="50" charset="-127"/>
      <p:regular r:id="rId53"/>
    </p:embeddedFont>
    <p:embeddedFont>
      <p:font typeface="SUIT Medium" pitchFamily="50" charset="-127"/>
      <p:regular r:id="rId54"/>
    </p:embeddedFont>
    <p:embeddedFont>
      <p:font typeface="SUIT SemiBold" pitchFamily="50" charset="-127"/>
      <p:bold r:id="rId5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BC77A59-FFCA-42F0-964B-D807862F11F4}">
          <p14:sldIdLst>
            <p14:sldId id="656"/>
            <p14:sldId id="618"/>
            <p14:sldId id="263"/>
            <p14:sldId id="619"/>
            <p14:sldId id="620"/>
            <p14:sldId id="302"/>
            <p14:sldId id="621"/>
            <p14:sldId id="650"/>
            <p14:sldId id="623"/>
            <p14:sldId id="624"/>
            <p14:sldId id="625"/>
            <p14:sldId id="626"/>
            <p14:sldId id="542"/>
            <p14:sldId id="543"/>
            <p14:sldId id="627"/>
            <p14:sldId id="545"/>
            <p14:sldId id="546"/>
            <p14:sldId id="547"/>
            <p14:sldId id="614"/>
            <p14:sldId id="652"/>
            <p14:sldId id="548"/>
            <p14:sldId id="628"/>
            <p14:sldId id="629"/>
            <p14:sldId id="630"/>
            <p14:sldId id="653"/>
            <p14:sldId id="269"/>
            <p14:sldId id="632"/>
            <p14:sldId id="633"/>
            <p14:sldId id="634"/>
            <p14:sldId id="576"/>
            <p14:sldId id="579"/>
            <p14:sldId id="580"/>
            <p14:sldId id="635"/>
            <p14:sldId id="636"/>
            <p14:sldId id="637"/>
            <p14:sldId id="425"/>
            <p14:sldId id="638"/>
            <p14:sldId id="639"/>
            <p14:sldId id="640"/>
            <p14:sldId id="609"/>
            <p14:sldId id="654"/>
            <p14:sldId id="447"/>
            <p14:sldId id="256"/>
          </p14:sldIdLst>
        </p14:section>
        <p14:section name="백업" id="{9497C601-61BC-4BB6-8B90-1C1EEF22BD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DF7"/>
    <a:srgbClr val="D3F2E9"/>
    <a:srgbClr val="0F6E56"/>
    <a:srgbClr val="F6FCFA"/>
    <a:srgbClr val="2C806A"/>
    <a:srgbClr val="38B2AC"/>
    <a:srgbClr val="959FA0"/>
    <a:srgbClr val="0F172A"/>
    <a:srgbClr val="0C2D2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64" autoAdjust="0"/>
    <p:restoredTop sz="96242" autoAdjust="0"/>
  </p:normalViewPr>
  <p:slideViewPr>
    <p:cSldViewPr snapToGrid="0" snapToObjects="1">
      <p:cViewPr>
        <p:scale>
          <a:sx n="300" d="100"/>
          <a:sy n="300" d="100"/>
        </p:scale>
        <p:origin x="1794" y="55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 snapToObjects="1">
      <p:cViewPr varScale="1">
        <p:scale>
          <a:sx n="105" d="100"/>
          <a:sy n="105" d="100"/>
        </p:scale>
        <p:origin x="323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7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2.fntdata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3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1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8129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D683E42-8E67-BCE1-D8BB-66A00EDD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257E917-557E-36F6-AAC6-08D33FE4C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22E46DB-6F8B-540A-7F55-C819A5D05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5174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7C7D6CE-71E5-450E-AB38-055A713B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3757E9F-A10D-4086-12AC-CD19C04D8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2FD8926-3C2B-70AA-04DE-C55824DDF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9144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8337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20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DC4F3-4A5C-DB5E-9517-3B27CF31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F5F99E-6073-9EF4-947F-BE850538F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EDD645-0C60-54AF-4B29-C3E886476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4352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8006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258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2203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EE48-A6CC-2D6B-AED3-FAD6EFD4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91635F-C568-0850-9AEA-D20F94393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A9C57B-9AD4-2E84-2CEB-3D521B816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093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0201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DD8C2-6350-32ED-B258-DDA1E444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B235AF-A9AC-C10E-CDC8-AA745DEC7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E1FC7D-8736-8C63-EE34-AE0564366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5137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AE0CF-4CD8-6573-115F-6B65532E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1A21F9-91D7-F096-0641-4F31479EC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90035F-B825-A170-4BC1-56837118E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717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72C8-4294-A0B8-9BAC-3D134208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345B94-D4A4-E89F-0A72-22CEB8D5C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03AF04-1929-AF03-BC5E-C21ACE811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637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A074-8718-E25F-3701-4C5E6742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A3EA6C-FECE-27A2-8DC6-3E88D0A45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721724-80F0-521A-7F8A-F29B7E5C7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2982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_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 userDrawn="1"/>
        </p:nvSpPr>
        <p:spPr>
          <a:xfrm>
            <a:off x="8093964" y="286020"/>
            <a:ext cx="4572" cy="1828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77" y="558794"/>
            <a:ext cx="9135446" cy="603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3A75850F-4756-DC69-BE42-B0C98B04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FC5F9CE5-D3E3-C132-4F80-52DBB46DBA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45046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A2D5E77-EEE6-2CDB-35E3-2B285004D8D5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03E80073-E54F-071D-2D18-BC7CF1A36F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B6EF9CA-F549-9261-8C67-25A7C275C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3987"/>
          <a:stretch>
            <a:fillRect/>
          </a:stretch>
        </p:blipFill>
        <p:spPr>
          <a:xfrm>
            <a:off x="8132575" y="275775"/>
            <a:ext cx="203915" cy="2020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87C03A-EA26-1A6E-7B11-BE68B8CC1FF8}"/>
              </a:ext>
            </a:extLst>
          </p:cNvPr>
          <p:cNvSpPr txBox="1"/>
          <p:nvPr userDrawn="1"/>
        </p:nvSpPr>
        <p:spPr>
          <a:xfrm>
            <a:off x="8331546" y="239937"/>
            <a:ext cx="7710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dirty="0" err="1">
                <a:solidFill>
                  <a:srgbClr val="959FA0"/>
                </a:solidFill>
                <a:latin typeface="SUIT" pitchFamily="2" charset="-127"/>
                <a:ea typeface="SUIT" pitchFamily="2" charset="-127"/>
              </a:rPr>
              <a:t>aisight</a:t>
            </a:r>
            <a:endParaRPr lang="ko-KR" altLang="en-US" dirty="0">
              <a:solidFill>
                <a:srgbClr val="959FA0"/>
              </a:solidFill>
              <a:latin typeface="SUIT" pitchFamily="2" charset="-127"/>
              <a:ea typeface="SUIT" pitchFamily="2" charset="-12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_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6A0A6276-21C3-2000-9C1A-39AAAD74B03B}"/>
              </a:ext>
            </a:extLst>
          </p:cNvPr>
          <p:cNvSpPr/>
          <p:nvPr userDrawn="1"/>
        </p:nvSpPr>
        <p:spPr>
          <a:xfrm>
            <a:off x="0" y="563349"/>
            <a:ext cx="9144000" cy="4580151"/>
          </a:xfrm>
          <a:prstGeom prst="roundRect">
            <a:avLst>
              <a:gd name="adj" fmla="val 2742"/>
            </a:avLst>
          </a:prstGeom>
          <a:solidFill>
            <a:srgbClr val="F2F6F9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" name="Shape 0"/>
          <p:cNvSpPr/>
          <p:nvPr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 userDrawn="1"/>
        </p:nvSpPr>
        <p:spPr>
          <a:xfrm>
            <a:off x="8100142" y="286020"/>
            <a:ext cx="4572" cy="1828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77" y="558794"/>
            <a:ext cx="9135446" cy="603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3A75850F-4756-DC69-BE42-B0C98B04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FC5F9CE5-D3E3-C132-4F80-52DBB46DBA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45046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A2D5E77-EEE6-2CDB-35E3-2B285004D8D5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03E80073-E54F-071D-2D18-BC7CF1A36F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FA8B41-5FF0-39DB-4C76-6F636367C7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3987"/>
          <a:stretch>
            <a:fillRect/>
          </a:stretch>
        </p:blipFill>
        <p:spPr>
          <a:xfrm>
            <a:off x="8135664" y="275775"/>
            <a:ext cx="203915" cy="202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FDE6CC-F43C-E0FD-CEBD-693AA7371625}"/>
              </a:ext>
            </a:extLst>
          </p:cNvPr>
          <p:cNvSpPr txBox="1"/>
          <p:nvPr userDrawn="1"/>
        </p:nvSpPr>
        <p:spPr>
          <a:xfrm>
            <a:off x="8334635" y="239937"/>
            <a:ext cx="7710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dirty="0" err="1">
                <a:solidFill>
                  <a:srgbClr val="959FA0"/>
                </a:solidFill>
                <a:latin typeface="SUIT" pitchFamily="2" charset="-127"/>
                <a:ea typeface="SUIT" pitchFamily="2" charset="-127"/>
              </a:rPr>
              <a:t>aisight</a:t>
            </a:r>
            <a:endParaRPr lang="ko-KR" altLang="en-US" dirty="0">
              <a:solidFill>
                <a:srgbClr val="959FA0"/>
              </a:solidFill>
              <a:latin typeface="SUIT" pitchFamily="2" charset="-127"/>
              <a:ea typeface="SUI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454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_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" cy="5143500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FE2617-34B9-9D13-5BE5-66847A121DD2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4EBEB1F3-E93D-966F-6374-80A8578568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6C6FECC5-1C28-8E8B-9A24-A5923EE4CCE8}"/>
              </a:ext>
            </a:extLst>
          </p:cNvPr>
          <p:cNvSpPr/>
          <p:nvPr userDrawn="1"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58B3C6DC-87F0-0BB3-391B-3A0016B89D8B}"/>
              </a:ext>
            </a:extLst>
          </p:cNvPr>
          <p:cNvSpPr/>
          <p:nvPr userDrawn="1"/>
        </p:nvSpPr>
        <p:spPr>
          <a:xfrm>
            <a:off x="8093964" y="286020"/>
            <a:ext cx="4572" cy="1828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제목 14">
            <a:extLst>
              <a:ext uri="{FF2B5EF4-FFF2-40B4-BE49-F238E27FC236}">
                <a16:creationId xmlns:a16="http://schemas.microsoft.com/office/drawing/2014/main" id="{F6E45013-223D-7E9E-F548-331C93D8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텍스트 개체 틀 17">
            <a:extLst>
              <a:ext uri="{FF2B5EF4-FFF2-40B4-BE49-F238E27FC236}">
                <a16:creationId xmlns:a16="http://schemas.microsoft.com/office/drawing/2014/main" id="{A2C5F104-9DF0-2BA3-4353-E6AF2DB46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45046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0D2C4B-582C-C611-302F-C323AC04D5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3987"/>
          <a:stretch>
            <a:fillRect/>
          </a:stretch>
        </p:blipFill>
        <p:spPr>
          <a:xfrm>
            <a:off x="8135664" y="275775"/>
            <a:ext cx="203915" cy="202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9C7BC2-0F88-5D06-976D-6294D92480D7}"/>
              </a:ext>
            </a:extLst>
          </p:cNvPr>
          <p:cNvSpPr txBox="1"/>
          <p:nvPr userDrawn="1"/>
        </p:nvSpPr>
        <p:spPr>
          <a:xfrm>
            <a:off x="8334635" y="239937"/>
            <a:ext cx="7710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dirty="0" err="1">
                <a:solidFill>
                  <a:srgbClr val="959FA0"/>
                </a:solidFill>
                <a:latin typeface="SUIT" pitchFamily="2" charset="-127"/>
                <a:ea typeface="SUIT" pitchFamily="2" charset="-127"/>
              </a:rPr>
              <a:t>aisight</a:t>
            </a:r>
            <a:endParaRPr lang="ko-KR" altLang="en-US" dirty="0">
              <a:solidFill>
                <a:srgbClr val="959FA0"/>
              </a:solidFill>
              <a:latin typeface="SUIT" pitchFamily="2" charset="-127"/>
              <a:ea typeface="SUIT" pitchFamily="2" charset="-12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-1828800"/>
            <a:ext cx="54864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900" dirty="0"/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0B0112E5-79DC-7331-C4E8-A389E2EBE9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896421"/>
            <a:ext cx="91440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ct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ct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F0A8928-BBE5-C2CC-38DB-B76C983E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3146" y="337871"/>
            <a:ext cx="783908" cy="2020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-171450"/>
            <a:ext cx="54864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9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7E085E-AB14-1C2D-C3DF-5708543B97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3146" y="337871"/>
            <a:ext cx="783908" cy="20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1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82296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© 2026 SAILINGSTONE Co., Ltd. All Rights Reserved.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B20F67A-1A9F-BEAA-61F7-998414CD02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9687" y="2737782"/>
            <a:ext cx="1212906" cy="1445598"/>
          </a:xfrm>
          <a:prstGeom prst="rect">
            <a:avLst/>
          </a:prstGeom>
        </p:spPr>
      </p:pic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878840"/>
            <a:ext cx="5486400" cy="5486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3600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Intelligence with Data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_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 userDrawn="1"/>
        </p:nvSpPr>
        <p:spPr>
          <a:xfrm>
            <a:off x="8093964" y="286020"/>
            <a:ext cx="4572" cy="1828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77" y="558794"/>
            <a:ext cx="9135446" cy="603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3A75850F-4756-DC69-BE42-B0C98B04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FC5F9CE5-D3E3-C132-4F80-52DBB46DBA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45046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A2D5E77-EEE6-2CDB-35E3-2B285004D8D5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03E80073-E54F-071D-2D18-BC7CF1A36F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B6EF9CA-F549-9261-8C67-25A7C275C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3987"/>
          <a:stretch>
            <a:fillRect/>
          </a:stretch>
        </p:blipFill>
        <p:spPr>
          <a:xfrm>
            <a:off x="8132575" y="275775"/>
            <a:ext cx="203915" cy="2020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87C03A-EA26-1A6E-7B11-BE68B8CC1FF8}"/>
              </a:ext>
            </a:extLst>
          </p:cNvPr>
          <p:cNvSpPr txBox="1"/>
          <p:nvPr userDrawn="1"/>
        </p:nvSpPr>
        <p:spPr>
          <a:xfrm>
            <a:off x="8331546" y="239937"/>
            <a:ext cx="7710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dirty="0" err="1">
                <a:solidFill>
                  <a:srgbClr val="959FA0"/>
                </a:solidFill>
                <a:latin typeface="SUIT" pitchFamily="2" charset="-127"/>
                <a:ea typeface="SUIT" pitchFamily="2" charset="-127"/>
              </a:rPr>
              <a:t>aisight</a:t>
            </a:r>
            <a:endParaRPr lang="ko-KR" altLang="en-US" dirty="0">
              <a:solidFill>
                <a:srgbClr val="959FA0"/>
              </a:solidFill>
              <a:latin typeface="SUIT" pitchFamily="2" charset="-127"/>
              <a:ea typeface="SUIT" pitchFamily="2" charset="-127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_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6A0A6276-21C3-2000-9C1A-39AAAD74B03B}"/>
              </a:ext>
            </a:extLst>
          </p:cNvPr>
          <p:cNvSpPr/>
          <p:nvPr userDrawn="1"/>
        </p:nvSpPr>
        <p:spPr>
          <a:xfrm>
            <a:off x="0" y="563349"/>
            <a:ext cx="9144000" cy="4580151"/>
          </a:xfrm>
          <a:prstGeom prst="roundRect">
            <a:avLst>
              <a:gd name="adj" fmla="val 2742"/>
            </a:avLst>
          </a:prstGeom>
          <a:solidFill>
            <a:srgbClr val="F2F6F9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" name="Shape 0"/>
          <p:cNvSpPr/>
          <p:nvPr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 userDrawn="1"/>
        </p:nvSpPr>
        <p:spPr>
          <a:xfrm>
            <a:off x="8100142" y="286020"/>
            <a:ext cx="4572" cy="1828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77" y="558794"/>
            <a:ext cx="9135446" cy="603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3A75850F-4756-DC69-BE42-B0C98B04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FC5F9CE5-D3E3-C132-4F80-52DBB46DBA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45046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A2D5E77-EEE6-2CDB-35E3-2B285004D8D5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03E80073-E54F-071D-2D18-BC7CF1A36F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FA8B41-5FF0-39DB-4C76-6F636367C7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3987"/>
          <a:stretch>
            <a:fillRect/>
          </a:stretch>
        </p:blipFill>
        <p:spPr>
          <a:xfrm>
            <a:off x="8135664" y="275775"/>
            <a:ext cx="203915" cy="202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FDE6CC-F43C-E0FD-CEBD-693AA7371625}"/>
              </a:ext>
            </a:extLst>
          </p:cNvPr>
          <p:cNvSpPr txBox="1"/>
          <p:nvPr userDrawn="1"/>
        </p:nvSpPr>
        <p:spPr>
          <a:xfrm>
            <a:off x="8334635" y="239937"/>
            <a:ext cx="7710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dirty="0" err="1">
                <a:solidFill>
                  <a:srgbClr val="959FA0"/>
                </a:solidFill>
                <a:latin typeface="SUIT" pitchFamily="2" charset="-127"/>
                <a:ea typeface="SUIT" pitchFamily="2" charset="-127"/>
              </a:rPr>
              <a:t>aisight</a:t>
            </a:r>
            <a:endParaRPr lang="ko-KR" altLang="en-US" dirty="0">
              <a:solidFill>
                <a:srgbClr val="959FA0"/>
              </a:solidFill>
              <a:latin typeface="SUIT" pitchFamily="2" charset="-127"/>
              <a:ea typeface="SUI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4546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_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" cy="5143500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FE2617-34B9-9D13-5BE5-66847A121DD2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4EBEB1F3-E93D-966F-6374-80A8578568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6C6FECC5-1C28-8E8B-9A24-A5923EE4CCE8}"/>
              </a:ext>
            </a:extLst>
          </p:cNvPr>
          <p:cNvSpPr/>
          <p:nvPr userDrawn="1"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58B3C6DC-87F0-0BB3-391B-3A0016B89D8B}"/>
              </a:ext>
            </a:extLst>
          </p:cNvPr>
          <p:cNvSpPr/>
          <p:nvPr userDrawn="1"/>
        </p:nvSpPr>
        <p:spPr>
          <a:xfrm>
            <a:off x="8093964" y="286020"/>
            <a:ext cx="4572" cy="1828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제목 14">
            <a:extLst>
              <a:ext uri="{FF2B5EF4-FFF2-40B4-BE49-F238E27FC236}">
                <a16:creationId xmlns:a16="http://schemas.microsoft.com/office/drawing/2014/main" id="{F6E45013-223D-7E9E-F548-331C93D8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텍스트 개체 틀 17">
            <a:extLst>
              <a:ext uri="{FF2B5EF4-FFF2-40B4-BE49-F238E27FC236}">
                <a16:creationId xmlns:a16="http://schemas.microsoft.com/office/drawing/2014/main" id="{A2C5F104-9DF0-2BA3-4353-E6AF2DB46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45046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0D2C4B-582C-C611-302F-C323AC04D5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3987"/>
          <a:stretch>
            <a:fillRect/>
          </a:stretch>
        </p:blipFill>
        <p:spPr>
          <a:xfrm>
            <a:off x="8135664" y="275775"/>
            <a:ext cx="203915" cy="202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9C7BC2-0F88-5D06-976D-6294D92480D7}"/>
              </a:ext>
            </a:extLst>
          </p:cNvPr>
          <p:cNvSpPr txBox="1"/>
          <p:nvPr userDrawn="1"/>
        </p:nvSpPr>
        <p:spPr>
          <a:xfrm>
            <a:off x="8334635" y="239937"/>
            <a:ext cx="7710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dirty="0" err="1">
                <a:solidFill>
                  <a:srgbClr val="959FA0"/>
                </a:solidFill>
                <a:latin typeface="SUIT" pitchFamily="2" charset="-127"/>
                <a:ea typeface="SUIT" pitchFamily="2" charset="-127"/>
              </a:rPr>
              <a:t>aisight</a:t>
            </a:r>
            <a:endParaRPr lang="ko-KR" altLang="en-US" dirty="0">
              <a:solidFill>
                <a:srgbClr val="959FA0"/>
              </a:solidFill>
              <a:latin typeface="SUIT" pitchFamily="2" charset="-127"/>
              <a:ea typeface="SUIT" pitchFamily="2" charset="-127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-1828800"/>
            <a:ext cx="54864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900" dirty="0"/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0B0112E5-79DC-7331-C4E8-A389E2EBE9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896421"/>
            <a:ext cx="91440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ct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ct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F0A8928-BBE5-C2CC-38DB-B76C983E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73987"/>
          <a:stretch>
            <a:fillRect/>
          </a:stretch>
        </p:blipFill>
        <p:spPr>
          <a:xfrm>
            <a:off x="373146" y="337871"/>
            <a:ext cx="203915" cy="202082"/>
          </a:xfrm>
          <a:prstGeom prst="rect">
            <a:avLst/>
          </a:prstGeom>
        </p:spPr>
      </p:pic>
      <p:sp>
        <p:nvSpPr>
          <p:cNvPr id="90" name="aisight wordmark"/>
          <p:cNvSpPr txBox="1"/>
          <p:nvPr userDrawn="1"/>
        </p:nvSpPr>
        <p:spPr>
          <a:xfrm>
            <a:off x="572117" y="302033"/>
            <a:ext cx="7710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800" dirty="0">
                <a:solidFill>
                  <a:srgbClr val="959FA0"/>
                </a:solidFill>
                <a:latin typeface="SUIT" pitchFamily="2" charset="-127"/>
                <a:ea typeface="SUIT" pitchFamily="2" charset="-127"/>
              </a:rPr>
              <a:t>aisight</a:t>
            </a:r>
            <a:endParaRPr lang="ko-KR" altLang="en-US" sz="1800" dirty="0">
              <a:solidFill>
                <a:srgbClr val="959FA0"/>
              </a:solidFill>
              <a:latin typeface="SUIT" pitchFamily="2" charset="-127"/>
              <a:ea typeface="SUIT" pitchFamily="2" charset="-127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82296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© 2026 SAILINGSTONE Co., Ltd. All Rights Reserved.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7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SUIT"/>
          <a:ea typeface="SUIT"/>
          <a:cs typeface="SUIT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SUIT"/>
          <a:ea typeface="SUIT"/>
          <a:cs typeface="SUIT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SUIT"/>
          <a:ea typeface="SUIT"/>
          <a:cs typeface="SUIT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UIT"/>
          <a:ea typeface="SUIT"/>
          <a:cs typeface="SUIT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UIT"/>
          <a:ea typeface="SUIT"/>
          <a:cs typeface="SUIT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UIT"/>
          <a:ea typeface="SUIT"/>
          <a:cs typeface="SUIT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1" r:id="rId7"/>
    <p:sldLayoutId id="2147483692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SUIT"/>
          <a:ea typeface="SUIT"/>
          <a:cs typeface="SUIT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SUIT"/>
          <a:ea typeface="SUIT"/>
          <a:cs typeface="SUIT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SUIT"/>
          <a:ea typeface="SUIT"/>
          <a:cs typeface="SUIT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UIT"/>
          <a:ea typeface="SUIT"/>
          <a:cs typeface="SUIT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UIT"/>
          <a:ea typeface="SUIT"/>
          <a:cs typeface="SUIT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UIT"/>
          <a:ea typeface="SUIT"/>
          <a:cs typeface="SUIT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openxmlformats.org/officeDocument/2006/relationships/image" Target="../media/image16.svg"/><Relationship Id="rId12" Type="http://schemas.openxmlformats.org/officeDocument/2006/relationships/image" Target="../media/image19.svg"/><Relationship Id="rId17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svg"/><Relationship Id="rId11" Type="http://schemas.openxmlformats.org/officeDocument/2006/relationships/image" Target="../media/image11.svg"/><Relationship Id="rId5" Type="http://schemas.openxmlformats.org/officeDocument/2006/relationships/image" Target="../media/image14.png"/><Relationship Id="rId15" Type="http://schemas.openxmlformats.org/officeDocument/2006/relationships/image" Target="../media/image22.svg"/><Relationship Id="rId10" Type="http://schemas.openxmlformats.org/officeDocument/2006/relationships/image" Target="../media/image10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svg"/><Relationship Id="rId18" Type="http://schemas.openxmlformats.org/officeDocument/2006/relationships/image" Target="../media/image4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12" Type="http://schemas.openxmlformats.org/officeDocument/2006/relationships/image" Target="../media/image34.svg"/><Relationship Id="rId17" Type="http://schemas.openxmlformats.org/officeDocument/2006/relationships/image" Target="../media/image39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sv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5" Type="http://schemas.openxmlformats.org/officeDocument/2006/relationships/image" Target="../media/image37.svg"/><Relationship Id="rId10" Type="http://schemas.openxmlformats.org/officeDocument/2006/relationships/image" Target="../media/image32.svg"/><Relationship Id="rId19" Type="http://schemas.openxmlformats.org/officeDocument/2006/relationships/image" Target="../media/image41.svg"/><Relationship Id="rId4" Type="http://schemas.openxmlformats.org/officeDocument/2006/relationships/image" Target="../media/image26.svg"/><Relationship Id="rId9" Type="http://schemas.openxmlformats.org/officeDocument/2006/relationships/image" Target="../media/image31.svg"/><Relationship Id="rId14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sv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svg"/><Relationship Id="rId9" Type="http://schemas.openxmlformats.org/officeDocument/2006/relationships/image" Target="../media/image4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svg"/><Relationship Id="rId18" Type="http://schemas.openxmlformats.org/officeDocument/2006/relationships/image" Target="../media/image65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12" Type="http://schemas.openxmlformats.org/officeDocument/2006/relationships/image" Target="../media/image59.svg"/><Relationship Id="rId17" Type="http://schemas.openxmlformats.org/officeDocument/2006/relationships/image" Target="../media/image64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3.svg"/><Relationship Id="rId20" Type="http://schemas.openxmlformats.org/officeDocument/2006/relationships/image" Target="../media/image67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3.sv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10" Type="http://schemas.openxmlformats.org/officeDocument/2006/relationships/image" Target="../media/image57.svg"/><Relationship Id="rId19" Type="http://schemas.openxmlformats.org/officeDocument/2006/relationships/image" Target="../media/image66.svg"/><Relationship Id="rId4" Type="http://schemas.openxmlformats.org/officeDocument/2006/relationships/image" Target="../media/image51.svg"/><Relationship Id="rId9" Type="http://schemas.openxmlformats.org/officeDocument/2006/relationships/image" Target="../media/image56.svg"/><Relationship Id="rId14" Type="http://schemas.openxmlformats.org/officeDocument/2006/relationships/image" Target="../media/image6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13" Type="http://schemas.openxmlformats.org/officeDocument/2006/relationships/image" Target="../media/image76.svg"/><Relationship Id="rId18" Type="http://schemas.openxmlformats.org/officeDocument/2006/relationships/image" Target="../media/image80.svg"/><Relationship Id="rId26" Type="http://schemas.openxmlformats.org/officeDocument/2006/relationships/image" Target="../media/image88.svg"/><Relationship Id="rId3" Type="http://schemas.openxmlformats.org/officeDocument/2006/relationships/image" Target="../media/image23.svg"/><Relationship Id="rId21" Type="http://schemas.openxmlformats.org/officeDocument/2006/relationships/image" Target="../media/image83.svg"/><Relationship Id="rId7" Type="http://schemas.openxmlformats.org/officeDocument/2006/relationships/image" Target="../media/image70.svg"/><Relationship Id="rId12" Type="http://schemas.openxmlformats.org/officeDocument/2006/relationships/image" Target="../media/image75.svg"/><Relationship Id="rId17" Type="http://schemas.openxmlformats.org/officeDocument/2006/relationships/image" Target="../media/image79.svg"/><Relationship Id="rId25" Type="http://schemas.openxmlformats.org/officeDocument/2006/relationships/image" Target="../media/image87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8.svg"/><Relationship Id="rId20" Type="http://schemas.openxmlformats.org/officeDocument/2006/relationships/image" Target="../media/image82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9.svg"/><Relationship Id="rId11" Type="http://schemas.openxmlformats.org/officeDocument/2006/relationships/image" Target="../media/image74.svg"/><Relationship Id="rId24" Type="http://schemas.openxmlformats.org/officeDocument/2006/relationships/image" Target="../media/image86.svg"/><Relationship Id="rId5" Type="http://schemas.openxmlformats.org/officeDocument/2006/relationships/image" Target="../media/image24.svg"/><Relationship Id="rId15" Type="http://schemas.openxmlformats.org/officeDocument/2006/relationships/image" Target="../media/image65.svg"/><Relationship Id="rId23" Type="http://schemas.openxmlformats.org/officeDocument/2006/relationships/image" Target="../media/image85.svg"/><Relationship Id="rId10" Type="http://schemas.openxmlformats.org/officeDocument/2006/relationships/image" Target="../media/image73.svg"/><Relationship Id="rId19" Type="http://schemas.openxmlformats.org/officeDocument/2006/relationships/image" Target="../media/image81.svg"/><Relationship Id="rId4" Type="http://schemas.openxmlformats.org/officeDocument/2006/relationships/image" Target="../media/image68.svg"/><Relationship Id="rId9" Type="http://schemas.openxmlformats.org/officeDocument/2006/relationships/image" Target="../media/image72.svg"/><Relationship Id="rId14" Type="http://schemas.openxmlformats.org/officeDocument/2006/relationships/image" Target="../media/image77.svg"/><Relationship Id="rId22" Type="http://schemas.openxmlformats.org/officeDocument/2006/relationships/image" Target="../media/image84.svg"/><Relationship Id="rId27" Type="http://schemas.openxmlformats.org/officeDocument/2006/relationships/image" Target="../media/image8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2" Type="http://schemas.openxmlformats.org/officeDocument/2006/relationships/image" Target="../media/image90.sv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svg"/><Relationship Id="rId3" Type="http://schemas.openxmlformats.org/officeDocument/2006/relationships/image" Target="../media/image93.svg"/><Relationship Id="rId7" Type="http://schemas.openxmlformats.org/officeDocument/2006/relationships/image" Target="../media/image9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6.svg"/><Relationship Id="rId5" Type="http://schemas.openxmlformats.org/officeDocument/2006/relationships/image" Target="../media/image95.svg"/><Relationship Id="rId4" Type="http://schemas.openxmlformats.org/officeDocument/2006/relationships/image" Target="../media/image94.svg"/><Relationship Id="rId9" Type="http://schemas.openxmlformats.org/officeDocument/2006/relationships/image" Target="../media/image9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00.png"/><Relationship Id="rId7" Type="http://schemas.openxmlformats.org/officeDocument/2006/relationships/image" Target="../media/image19.svg"/><Relationship Id="rId12" Type="http://schemas.openxmlformats.org/officeDocument/2006/relationships/image" Target="../media/image10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3.svg"/><Relationship Id="rId11" Type="http://schemas.openxmlformats.org/officeDocument/2006/relationships/image" Target="../media/image106.svg"/><Relationship Id="rId5" Type="http://schemas.openxmlformats.org/officeDocument/2006/relationships/image" Target="../media/image102.svg"/><Relationship Id="rId10" Type="http://schemas.openxmlformats.org/officeDocument/2006/relationships/image" Target="../media/image16.svg"/><Relationship Id="rId4" Type="http://schemas.openxmlformats.org/officeDocument/2006/relationships/image" Target="../media/image101.svg"/><Relationship Id="rId9" Type="http://schemas.openxmlformats.org/officeDocument/2006/relationships/image" Target="../media/image105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svg"/><Relationship Id="rId3" Type="http://schemas.openxmlformats.org/officeDocument/2006/relationships/image" Target="../media/image110.svg"/><Relationship Id="rId7" Type="http://schemas.openxmlformats.org/officeDocument/2006/relationships/image" Target="../media/image113.svg"/><Relationship Id="rId2" Type="http://schemas.openxmlformats.org/officeDocument/2006/relationships/image" Target="../media/image109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112.svg"/><Relationship Id="rId4" Type="http://schemas.openxmlformats.org/officeDocument/2006/relationships/image" Target="../media/image11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svg"/><Relationship Id="rId2" Type="http://schemas.openxmlformats.org/officeDocument/2006/relationships/image" Target="../media/image115.sv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svg"/><Relationship Id="rId18" Type="http://schemas.openxmlformats.org/officeDocument/2006/relationships/image" Target="../media/image132.sv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127.svg"/><Relationship Id="rId17" Type="http://schemas.openxmlformats.org/officeDocument/2006/relationships/image" Target="../media/image131.png"/><Relationship Id="rId2" Type="http://schemas.openxmlformats.org/officeDocument/2006/relationships/image" Target="../media/image117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1.png"/><Relationship Id="rId11" Type="http://schemas.openxmlformats.org/officeDocument/2006/relationships/image" Target="../media/image126.svg"/><Relationship Id="rId5" Type="http://schemas.openxmlformats.org/officeDocument/2006/relationships/image" Target="../media/image120.png"/><Relationship Id="rId15" Type="http://schemas.openxmlformats.org/officeDocument/2006/relationships/image" Target="../media/image3.png"/><Relationship Id="rId10" Type="http://schemas.openxmlformats.org/officeDocument/2006/relationships/image" Target="../media/image125.svg"/><Relationship Id="rId19" Type="http://schemas.openxmlformats.org/officeDocument/2006/relationships/image" Target="../media/image42.svg"/><Relationship Id="rId4" Type="http://schemas.openxmlformats.org/officeDocument/2006/relationships/image" Target="../media/image119.png"/><Relationship Id="rId9" Type="http://schemas.openxmlformats.org/officeDocument/2006/relationships/image" Target="../media/image124.svg"/><Relationship Id="rId14" Type="http://schemas.openxmlformats.org/officeDocument/2006/relationships/image" Target="../media/image12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svg"/><Relationship Id="rId2" Type="http://schemas.openxmlformats.org/officeDocument/2006/relationships/image" Target="../media/image133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6.svg"/><Relationship Id="rId5" Type="http://schemas.openxmlformats.org/officeDocument/2006/relationships/image" Target="../media/image135.svg"/><Relationship Id="rId4" Type="http://schemas.openxmlformats.org/officeDocument/2006/relationships/image" Target="../media/image13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svg"/><Relationship Id="rId13" Type="http://schemas.openxmlformats.org/officeDocument/2006/relationships/image" Target="../media/image97.svg"/><Relationship Id="rId3" Type="http://schemas.openxmlformats.org/officeDocument/2006/relationships/image" Target="../media/image45.png"/><Relationship Id="rId7" Type="http://schemas.openxmlformats.org/officeDocument/2006/relationships/image" Target="../media/image140.svg"/><Relationship Id="rId12" Type="http://schemas.openxmlformats.org/officeDocument/2006/relationships/image" Target="../media/image94.svg"/><Relationship Id="rId17" Type="http://schemas.openxmlformats.org/officeDocument/2006/relationships/image" Target="../media/image144.png"/><Relationship Id="rId2" Type="http://schemas.openxmlformats.org/officeDocument/2006/relationships/image" Target="../media/image137.png"/><Relationship Id="rId16" Type="http://schemas.openxmlformats.org/officeDocument/2006/relationships/image" Target="../media/image93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9.svg"/><Relationship Id="rId11" Type="http://schemas.openxmlformats.org/officeDocument/2006/relationships/image" Target="../media/image143.svg"/><Relationship Id="rId5" Type="http://schemas.openxmlformats.org/officeDocument/2006/relationships/image" Target="../media/image138.png"/><Relationship Id="rId15" Type="http://schemas.openxmlformats.org/officeDocument/2006/relationships/image" Target="../media/image95.svg"/><Relationship Id="rId10" Type="http://schemas.openxmlformats.org/officeDocument/2006/relationships/image" Target="../media/image115.svg"/><Relationship Id="rId4" Type="http://schemas.openxmlformats.org/officeDocument/2006/relationships/image" Target="../media/image44.png"/><Relationship Id="rId9" Type="http://schemas.openxmlformats.org/officeDocument/2006/relationships/image" Target="../media/image142.svg"/><Relationship Id="rId14" Type="http://schemas.openxmlformats.org/officeDocument/2006/relationships/image" Target="../media/image98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svg"/><Relationship Id="rId3" Type="http://schemas.openxmlformats.org/officeDocument/2006/relationships/image" Target="../media/image146.svg"/><Relationship Id="rId7" Type="http://schemas.openxmlformats.org/officeDocument/2006/relationships/image" Target="../media/image150.svg"/><Relationship Id="rId2" Type="http://schemas.openxmlformats.org/officeDocument/2006/relationships/image" Target="../media/image145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9.svg"/><Relationship Id="rId5" Type="http://schemas.openxmlformats.org/officeDocument/2006/relationships/image" Target="../media/image148.svg"/><Relationship Id="rId4" Type="http://schemas.openxmlformats.org/officeDocument/2006/relationships/image" Target="../media/image147.svg"/><Relationship Id="rId9" Type="http://schemas.openxmlformats.org/officeDocument/2006/relationships/image" Target="../media/image152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svg"/><Relationship Id="rId3" Type="http://schemas.openxmlformats.org/officeDocument/2006/relationships/image" Target="../media/image89.svg"/><Relationship Id="rId7" Type="http://schemas.openxmlformats.org/officeDocument/2006/relationships/image" Target="../media/image156.svg"/><Relationship Id="rId2" Type="http://schemas.openxmlformats.org/officeDocument/2006/relationships/image" Target="../media/image88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5.svg"/><Relationship Id="rId5" Type="http://schemas.openxmlformats.org/officeDocument/2006/relationships/image" Target="../media/image154.svg"/><Relationship Id="rId4" Type="http://schemas.openxmlformats.org/officeDocument/2006/relationships/image" Target="../media/image153.svg"/><Relationship Id="rId9" Type="http://schemas.openxmlformats.org/officeDocument/2006/relationships/image" Target="../media/image15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44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115.svg"/><Relationship Id="rId4" Type="http://schemas.openxmlformats.org/officeDocument/2006/relationships/image" Target="../media/image93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svg"/><Relationship Id="rId3" Type="http://schemas.openxmlformats.org/officeDocument/2006/relationships/image" Target="../media/image168.svg"/><Relationship Id="rId7" Type="http://schemas.openxmlformats.org/officeDocument/2006/relationships/image" Target="../media/image172.svg"/><Relationship Id="rId2" Type="http://schemas.openxmlformats.org/officeDocument/2006/relationships/image" Target="../media/image167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1.svg"/><Relationship Id="rId11" Type="http://schemas.openxmlformats.org/officeDocument/2006/relationships/image" Target="../media/image176.svg"/><Relationship Id="rId5" Type="http://schemas.openxmlformats.org/officeDocument/2006/relationships/image" Target="../media/image170.svg"/><Relationship Id="rId10" Type="http://schemas.openxmlformats.org/officeDocument/2006/relationships/image" Target="../media/image175.svg"/><Relationship Id="rId4" Type="http://schemas.openxmlformats.org/officeDocument/2006/relationships/image" Target="../media/image169.svg"/><Relationship Id="rId9" Type="http://schemas.openxmlformats.org/officeDocument/2006/relationships/image" Target="../media/image174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svg"/><Relationship Id="rId13" Type="http://schemas.openxmlformats.org/officeDocument/2006/relationships/image" Target="../media/image187.svg"/><Relationship Id="rId18" Type="http://schemas.openxmlformats.org/officeDocument/2006/relationships/image" Target="../media/image192.svg"/><Relationship Id="rId3" Type="http://schemas.openxmlformats.org/officeDocument/2006/relationships/image" Target="../media/image177.svg"/><Relationship Id="rId7" Type="http://schemas.openxmlformats.org/officeDocument/2006/relationships/image" Target="../media/image181.svg"/><Relationship Id="rId12" Type="http://schemas.openxmlformats.org/officeDocument/2006/relationships/image" Target="../media/image186.svg"/><Relationship Id="rId17" Type="http://schemas.openxmlformats.org/officeDocument/2006/relationships/image" Target="../media/image191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90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0.svg"/><Relationship Id="rId11" Type="http://schemas.openxmlformats.org/officeDocument/2006/relationships/image" Target="../media/image185.svg"/><Relationship Id="rId5" Type="http://schemas.openxmlformats.org/officeDocument/2006/relationships/image" Target="../media/image179.svg"/><Relationship Id="rId15" Type="http://schemas.openxmlformats.org/officeDocument/2006/relationships/image" Target="../media/image189.svg"/><Relationship Id="rId10" Type="http://schemas.openxmlformats.org/officeDocument/2006/relationships/image" Target="../media/image184.svg"/><Relationship Id="rId4" Type="http://schemas.openxmlformats.org/officeDocument/2006/relationships/image" Target="../media/image178.svg"/><Relationship Id="rId9" Type="http://schemas.openxmlformats.org/officeDocument/2006/relationships/image" Target="../media/image183.png"/><Relationship Id="rId14" Type="http://schemas.openxmlformats.org/officeDocument/2006/relationships/image" Target="../media/image188.sv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6.svg"/><Relationship Id="rId5" Type="http://schemas.openxmlformats.org/officeDocument/2006/relationships/image" Target="../media/image195.svg"/><Relationship Id="rId4" Type="http://schemas.openxmlformats.org/officeDocument/2006/relationships/image" Target="../media/image194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svg"/><Relationship Id="rId3" Type="http://schemas.openxmlformats.org/officeDocument/2006/relationships/image" Target="../media/image197.svg"/><Relationship Id="rId7" Type="http://schemas.openxmlformats.org/officeDocument/2006/relationships/image" Target="../media/image20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0.svg"/><Relationship Id="rId5" Type="http://schemas.openxmlformats.org/officeDocument/2006/relationships/image" Target="../media/image199.svg"/><Relationship Id="rId4" Type="http://schemas.openxmlformats.org/officeDocument/2006/relationships/image" Target="../media/image198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4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svg"/><Relationship Id="rId13" Type="http://schemas.openxmlformats.org/officeDocument/2006/relationships/image" Target="../media/image215.svg"/><Relationship Id="rId3" Type="http://schemas.openxmlformats.org/officeDocument/2006/relationships/image" Target="../media/image205.png"/><Relationship Id="rId7" Type="http://schemas.openxmlformats.org/officeDocument/2006/relationships/image" Target="../media/image209.svg"/><Relationship Id="rId12" Type="http://schemas.openxmlformats.org/officeDocument/2006/relationships/image" Target="../media/image21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8.svg"/><Relationship Id="rId11" Type="http://schemas.openxmlformats.org/officeDocument/2006/relationships/image" Target="../media/image213.svg"/><Relationship Id="rId5" Type="http://schemas.openxmlformats.org/officeDocument/2006/relationships/image" Target="../media/image207.svg"/><Relationship Id="rId10" Type="http://schemas.openxmlformats.org/officeDocument/2006/relationships/image" Target="../media/image212.svg"/><Relationship Id="rId4" Type="http://schemas.openxmlformats.org/officeDocument/2006/relationships/image" Target="../media/image206.svg"/><Relationship Id="rId9" Type="http://schemas.openxmlformats.org/officeDocument/2006/relationships/image" Target="../media/image211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svg"/><Relationship Id="rId7" Type="http://schemas.openxmlformats.org/officeDocument/2006/relationships/image" Target="../media/image22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9.svg"/><Relationship Id="rId5" Type="http://schemas.openxmlformats.org/officeDocument/2006/relationships/image" Target="../media/image218.svg"/><Relationship Id="rId4" Type="http://schemas.openxmlformats.org/officeDocument/2006/relationships/image" Target="../media/image217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9800"/>
            <a:ext cx="3053080" cy="27432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 w="6350">
            <a:solidFill>
              <a:srgbClr val="41C0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939800"/>
            <a:ext cx="305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 - BI</a:t>
            </a:r>
            <a:r>
              <a:rPr lang="ko-KR" altLang="en-US" sz="900" b="1" kern="0" spc="2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sz="900" b="1" kern="0" spc="2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SOLUTION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442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8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Make data smarter,</a:t>
            </a:r>
            <a:endParaRPr lang="en-US" altLang="ko-KR" sz="3800" dirty="0"/>
          </a:p>
          <a:p>
            <a:r>
              <a:rPr lang="en-US" altLang="ko-KR" sz="38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Make decisions </a:t>
            </a:r>
            <a:r>
              <a:rPr lang="en-US" altLang="ko-KR" sz="3800" b="1" kern="0" spc="-1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faster.</a:t>
            </a:r>
            <a:endParaRPr lang="en-US" altLang="ko-KR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9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기존 BI의 한계를 넘어, 생성형 AI와 대화하는 차세대 데이터 생태계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 · BI · ANALYTICS</a:t>
            </a:r>
            <a:r>
              <a:rPr lang="en-US" sz="90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    |     </a:t>
            </a:r>
            <a:r>
              <a:rPr lang="en-US" sz="900" dirty="0">
                <a:solidFill>
                  <a:srgbClr val="6B728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© 2026 SAILINGSTONE</a:t>
            </a:r>
            <a:endParaRPr lang="en-US" sz="900" dirty="0"/>
          </a:p>
        </p:txBody>
      </p:sp>
      <p:sp>
        <p:nvSpPr>
          <p:cNvPr id="7" name="Text 0"/>
          <p:cNvSpPr/>
          <p:nvPr/>
        </p:nvSpPr>
        <p:spPr>
          <a:xfrm>
            <a:off x="6520180" y="4229100"/>
            <a:ext cx="146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8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aisight</a:t>
            </a:r>
          </a:p>
        </p:txBody>
      </p:sp>
    </p:spTree>
    <p:extLst>
      <p:ext uri="{BB962C8B-B14F-4D97-AF65-F5344CB8AC3E}">
        <p14:creationId xmlns:p14="http://schemas.microsoft.com/office/powerpoint/2010/main" val="1397854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768096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" y="822959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3584" y="80467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 err="1">
                <a:solidFill>
                  <a:srgbClr val="0F172A"/>
                </a:solidFill>
                <a:latin typeface="SUIT ExtraBold"/>
              </a:rPr>
              <a:t>솔루션</a:t>
            </a:r>
            <a:r>
              <a:rPr sz="1500" b="1" dirty="0">
                <a:solidFill>
                  <a:srgbClr val="0F172A"/>
                </a:solidFill>
                <a:latin typeface="SUIT ExtraBold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SUIT ExtraBold"/>
              </a:rPr>
              <a:t>개요</a:t>
            </a:r>
            <a:endParaRPr sz="15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3584" y="111556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D9488"/>
                </a:solidFill>
                <a:latin typeface="SUIT Light"/>
              </a:rPr>
              <a:t>Solution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1335024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dirty="0" err="1">
                <a:solidFill>
                  <a:srgbClr val="64748B"/>
                </a:solidFill>
                <a:latin typeface="SUIT Light"/>
              </a:rPr>
              <a:t>데이터</a:t>
            </a:r>
            <a:r>
              <a:rPr sz="80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 Light"/>
              </a:rPr>
              <a:t>분석이</a:t>
            </a:r>
            <a:r>
              <a:rPr sz="80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 Light"/>
              </a:rPr>
              <a:t>멈춘</a:t>
            </a:r>
            <a:r>
              <a:rPr sz="80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 Light"/>
              </a:rPr>
              <a:t>곳에서</a:t>
            </a:r>
            <a:r>
              <a:rPr sz="80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 Light"/>
              </a:rPr>
              <a:t>aisight가</a:t>
            </a:r>
            <a:r>
              <a:rPr sz="80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 Light"/>
              </a:rPr>
              <a:t>시작됩니다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36592" y="768096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14416" y="822959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24144" y="804672"/>
            <a:ext cx="3108960" cy="24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 b="1" dirty="0">
                <a:solidFill>
                  <a:srgbClr val="0F172A"/>
                </a:solidFill>
                <a:latin typeface="SUIT ExtraBold"/>
              </a:rPr>
              <a:t>솔루션 딥 </a:t>
            </a:r>
            <a:r>
              <a:rPr lang="ko-KR" altLang="en-US" sz="1500" b="1" dirty="0" err="1">
                <a:solidFill>
                  <a:srgbClr val="0F172A"/>
                </a:solidFill>
                <a:latin typeface="SUIT ExtraBold"/>
              </a:rPr>
              <a:t>다이브</a:t>
            </a:r>
            <a:endParaRPr sz="15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24144" y="1115568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 Solution Deep Dive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4144" y="1335024"/>
            <a:ext cx="3108960" cy="140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800" b="0" dirty="0">
                <a:solidFill>
                  <a:srgbClr val="64748B"/>
                </a:solidFill>
                <a:latin typeface="SUIT Light"/>
              </a:rPr>
              <a:t>Inside aisight. </a:t>
            </a:r>
            <a:r>
              <a:rPr lang="ko-KR" altLang="en-US" sz="800" b="0" dirty="0">
                <a:solidFill>
                  <a:srgbClr val="64748B"/>
                </a:solidFill>
                <a:latin typeface="SUIT Light"/>
              </a:rPr>
              <a:t>솔루션의 내부 구조를 풀어냅니다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032" y="217627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3856" y="2231136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3584" y="2212848"/>
            <a:ext cx="3108960" cy="24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 b="1" dirty="0">
                <a:solidFill>
                  <a:srgbClr val="0F172A"/>
                </a:solidFill>
                <a:latin typeface="SUIT ExtraBold"/>
              </a:rPr>
              <a:t>활용 시나리오 및 기대 효과</a:t>
            </a:r>
            <a:endParaRPr sz="15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43584" y="2523744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Business Scenarios &amp; Value</a:t>
            </a:r>
            <a:endParaRPr sz="850" b="0" dirty="0">
              <a:solidFill>
                <a:srgbClr val="0D9488"/>
              </a:solidFill>
              <a:latin typeface="SUIT Ligh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3584" y="2743200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800" b="0" dirty="0">
                <a:solidFill>
                  <a:srgbClr val="64748B"/>
                </a:solidFill>
                <a:latin typeface="SUIT Light"/>
              </a:rPr>
              <a:t>-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36592" y="217627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14416" y="2231136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144" y="2212848"/>
            <a:ext cx="3108960" cy="24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500" b="1" dirty="0">
                <a:solidFill>
                  <a:srgbClr val="0F172A"/>
                </a:solidFill>
                <a:latin typeface="SUIT ExtraBold"/>
              </a:rPr>
              <a:t>성공적인 도입 및 실행 전략</a:t>
            </a:r>
            <a:endParaRPr sz="15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24144" y="2523744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Execution Strategy </a:t>
            </a:r>
            <a:endParaRPr sz="850" b="0" dirty="0">
              <a:solidFill>
                <a:srgbClr val="0D9488"/>
              </a:solidFill>
              <a:latin typeface="SUIT Ligh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24144" y="2743200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800" b="0" dirty="0">
                <a:solidFill>
                  <a:srgbClr val="64748B"/>
                </a:solidFill>
                <a:latin typeface="SUIT Light"/>
              </a:rPr>
              <a:t>-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6032" y="358444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3856" y="3639312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43584" y="3621024"/>
            <a:ext cx="3108960" cy="24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 b="1" dirty="0">
                <a:solidFill>
                  <a:srgbClr val="0F172A"/>
                </a:solidFill>
                <a:latin typeface="SUIT ExtraBold"/>
              </a:rPr>
              <a:t>시연</a:t>
            </a:r>
            <a:endParaRPr sz="15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43584" y="3931920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Demo</a:t>
            </a:r>
            <a:endParaRPr sz="850" b="0" dirty="0">
              <a:solidFill>
                <a:srgbClr val="0D9488"/>
              </a:solidFill>
              <a:latin typeface="SUIT Ligh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43584" y="4151376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800" b="0" dirty="0">
                <a:solidFill>
                  <a:srgbClr val="64748B"/>
                </a:solidFill>
                <a:latin typeface="SUIT Light"/>
              </a:rPr>
              <a:t>-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C25BD6D8-0E00-969B-4AE1-8A937E2A5CCE}"/>
              </a:ext>
            </a:extLst>
          </p:cNvPr>
          <p:cNvSpPr/>
          <p:nvPr/>
        </p:nvSpPr>
        <p:spPr>
          <a:xfrm>
            <a:off x="5614416" y="3559959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5040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01.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솔루션</a:t>
            </a:r>
            <a:r>
              <a:rPr lang="en-US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Solution Overview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75052-411A-45C9-76FF-330891344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99DAD7E-5707-AAAB-4D5F-505539C0C2D3}"/>
              </a:ext>
            </a:extLst>
          </p:cNvPr>
          <p:cNvSpPr/>
          <p:nvPr/>
        </p:nvSpPr>
        <p:spPr>
          <a:xfrm>
            <a:off x="4471164" y="4765566"/>
            <a:ext cx="448564" cy="358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547323-50A0-A5D0-A1DD-BB443C53E99E}"/>
              </a:ext>
            </a:extLst>
          </p:cNvPr>
          <p:cNvSpPr/>
          <p:nvPr/>
        </p:nvSpPr>
        <p:spPr>
          <a:xfrm>
            <a:off x="0" y="0"/>
            <a:ext cx="443484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4FC606-A71D-44CA-CF04-250C07CC86A7}"/>
              </a:ext>
            </a:extLst>
          </p:cNvPr>
          <p:cNvSpPr/>
          <p:nvPr/>
        </p:nvSpPr>
        <p:spPr>
          <a:xfrm>
            <a:off x="4434840" y="0"/>
            <a:ext cx="13716" cy="5143500"/>
          </a:xfrm>
          <a:prstGeom prst="rect">
            <a:avLst/>
          </a:prstGeom>
          <a:solidFill>
            <a:srgbClr val="41C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9BFF23-3A6D-FE2C-3291-06D0ABD817EB}"/>
              </a:ext>
            </a:extLst>
          </p:cNvPr>
          <p:cNvSpPr txBox="1"/>
          <p:nvPr/>
        </p:nvSpPr>
        <p:spPr>
          <a:xfrm>
            <a:off x="274320" y="365760"/>
            <a:ext cx="3931920" cy="21945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sz="800" b="1" dirty="0">
                <a:solidFill>
                  <a:srgbClr val="41C0C2"/>
                </a:solidFill>
                <a:latin typeface="SUIT"/>
              </a:rPr>
              <a:t>THE CHALLENGE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34C068-3FA3-6A85-0086-6A769F73AD05}"/>
              </a:ext>
            </a:extLst>
          </p:cNvPr>
          <p:cNvSpPr txBox="1"/>
          <p:nvPr/>
        </p:nvSpPr>
        <p:spPr>
          <a:xfrm>
            <a:off x="274320" y="576072"/>
            <a:ext cx="3931920" cy="10817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sz="1800" b="1" dirty="0" err="1">
                <a:solidFill>
                  <a:srgbClr val="FFFFFF"/>
                </a:solidFill>
                <a:latin typeface="SUIT"/>
              </a:rPr>
              <a:t>멈춰버린</a:t>
            </a:r>
            <a:r>
              <a:rPr sz="180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SUIT"/>
              </a:rPr>
              <a:t>기업의</a:t>
            </a:r>
            <a:r>
              <a:rPr sz="180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SUIT"/>
              </a:rPr>
              <a:t>데이터</a:t>
            </a:r>
            <a:r>
              <a:rPr sz="180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SUIT"/>
              </a:rPr>
              <a:t>여정</a:t>
            </a:r>
            <a:endParaRPr sz="1800" b="1" dirty="0">
              <a:solidFill>
                <a:srgbClr val="FFFFFF"/>
              </a:solidFill>
              <a:latin typeface="SUIT"/>
            </a:endParaRPr>
          </a:p>
          <a:p>
            <a:r>
              <a:rPr sz="1200" b="0" dirty="0">
                <a:solidFill>
                  <a:srgbClr val="A0B0C0"/>
                </a:solidFill>
                <a:latin typeface="SUIT"/>
              </a:rPr>
              <a:t>AI </a:t>
            </a:r>
            <a:r>
              <a:rPr sz="1200" b="0" dirty="0" err="1">
                <a:solidFill>
                  <a:srgbClr val="A0B0C0"/>
                </a:solidFill>
                <a:latin typeface="SUIT"/>
              </a:rPr>
              <a:t>도입의</a:t>
            </a:r>
            <a:r>
              <a:rPr sz="12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200" b="0" dirty="0" err="1">
                <a:solidFill>
                  <a:srgbClr val="A0B0C0"/>
                </a:solidFill>
                <a:latin typeface="SUIT"/>
              </a:rPr>
              <a:t>현실적</a:t>
            </a:r>
            <a:r>
              <a:rPr sz="12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200" b="0" dirty="0" err="1">
                <a:solidFill>
                  <a:srgbClr val="A0B0C0"/>
                </a:solidFill>
                <a:latin typeface="SUIT"/>
              </a:rPr>
              <a:t>장벽</a:t>
            </a:r>
            <a:r>
              <a:rPr lang="en-US" sz="1200" b="0" dirty="0">
                <a:solidFill>
                  <a:srgbClr val="A0B0C0"/>
                </a:solidFill>
                <a:latin typeface="SUIT"/>
              </a:rPr>
              <a:t> - </a:t>
            </a:r>
            <a:r>
              <a:rPr lang="ko-KR" altLang="en-US" sz="1200" b="0" dirty="0">
                <a:solidFill>
                  <a:srgbClr val="A0B0C0"/>
                </a:solidFill>
                <a:latin typeface="SUIT"/>
              </a:rPr>
              <a:t>모두 시도하고 있지만</a:t>
            </a:r>
            <a:r>
              <a:rPr lang="en-US" altLang="ko-KR" sz="1200" b="0" dirty="0">
                <a:solidFill>
                  <a:srgbClr val="A0B0C0"/>
                </a:solidFill>
                <a:latin typeface="SUIT"/>
              </a:rPr>
              <a:t>, </a:t>
            </a:r>
          </a:p>
          <a:p>
            <a:r>
              <a:rPr lang="en-US" altLang="ko-KR" sz="1200" b="0" dirty="0">
                <a:solidFill>
                  <a:srgbClr val="A0B0C0"/>
                </a:solidFill>
                <a:latin typeface="SUIT"/>
              </a:rPr>
              <a:t>99%</a:t>
            </a:r>
            <a:r>
              <a:rPr lang="ko-KR" altLang="en-US" sz="1200" b="0" dirty="0">
                <a:solidFill>
                  <a:srgbClr val="A0B0C0"/>
                </a:solidFill>
                <a:latin typeface="SUIT"/>
              </a:rPr>
              <a:t>가 </a:t>
            </a:r>
            <a:r>
              <a:rPr lang="en-US" altLang="ko-KR" sz="1200" b="0" dirty="0">
                <a:solidFill>
                  <a:srgbClr val="A0B0C0"/>
                </a:solidFill>
                <a:latin typeface="SUIT"/>
              </a:rPr>
              <a:t>PoC </a:t>
            </a:r>
            <a:r>
              <a:rPr lang="ko-KR" altLang="en-US" sz="1200" b="0" dirty="0">
                <a:solidFill>
                  <a:srgbClr val="A0B0C0"/>
                </a:solidFill>
                <a:latin typeface="SUIT"/>
              </a:rPr>
              <a:t>또는 준비에서 멈춥니다</a:t>
            </a:r>
            <a:r>
              <a:rPr lang="en-US" altLang="ko-KR" sz="1200" b="0" dirty="0">
                <a:solidFill>
                  <a:srgbClr val="A0B0C0"/>
                </a:solidFill>
                <a:latin typeface="SUIT"/>
              </a:rPr>
              <a:t>. </a:t>
            </a:r>
          </a:p>
          <a:p>
            <a:r>
              <a:rPr lang="ko-KR" altLang="en-US" sz="1200" b="0" dirty="0">
                <a:solidFill>
                  <a:srgbClr val="A0B0C0"/>
                </a:solidFill>
                <a:latin typeface="SUIT"/>
              </a:rPr>
              <a:t>그 사이에 </a:t>
            </a:r>
            <a:r>
              <a:rPr lang="en-US" altLang="ko-KR" sz="1200" b="0" dirty="0">
                <a:solidFill>
                  <a:srgbClr val="A0B0C0"/>
                </a:solidFill>
                <a:latin typeface="SUIT"/>
              </a:rPr>
              <a:t>5</a:t>
            </a:r>
            <a:r>
              <a:rPr lang="ko-KR" altLang="en-US" sz="1200" b="0" dirty="0">
                <a:solidFill>
                  <a:srgbClr val="A0B0C0"/>
                </a:solidFill>
                <a:latin typeface="SUIT"/>
              </a:rPr>
              <a:t>개의 구조적 장벽이 있습니다</a:t>
            </a:r>
            <a:r>
              <a:rPr lang="en-US" altLang="ko-KR" sz="1200" b="0" dirty="0">
                <a:solidFill>
                  <a:srgbClr val="A0B0C0"/>
                </a:solidFill>
                <a:latin typeface="SUIT"/>
              </a:rPr>
              <a:t>.</a:t>
            </a:r>
          </a:p>
          <a:p>
            <a:endParaRPr sz="1200" b="0" dirty="0">
              <a:solidFill>
                <a:srgbClr val="A0B0C0"/>
              </a:solidFill>
              <a:latin typeface="SUI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9C9DA8-D877-5881-7CBA-58C2EE89DB7A}"/>
              </a:ext>
            </a:extLst>
          </p:cNvPr>
          <p:cNvSpPr/>
          <p:nvPr/>
        </p:nvSpPr>
        <p:spPr>
          <a:xfrm>
            <a:off x="274320" y="1508760"/>
            <a:ext cx="3840480" cy="3657"/>
          </a:xfrm>
          <a:prstGeom prst="rect">
            <a:avLst/>
          </a:prstGeom>
          <a:solidFill>
            <a:srgbClr val="1E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6D835B-F7E1-762E-2393-3B86A9F68912}"/>
              </a:ext>
            </a:extLst>
          </p:cNvPr>
          <p:cNvSpPr txBox="1"/>
          <p:nvPr/>
        </p:nvSpPr>
        <p:spPr>
          <a:xfrm>
            <a:off x="274320" y="1662002"/>
            <a:ext cx="4023360" cy="38151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150"/>
              </a:spcAft>
            </a:pPr>
            <a:r>
              <a:rPr sz="1050" b="1" dirty="0">
                <a:solidFill>
                  <a:srgbClr val="C00000"/>
                </a:solidFill>
                <a:latin typeface="SUIT"/>
              </a:rPr>
              <a:t>▸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AI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환각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,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결과를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어떻게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믿을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것인가</a:t>
            </a:r>
            <a:endParaRPr sz="1050" b="1" dirty="0">
              <a:solidFill>
                <a:srgbClr val="FFFFFF"/>
              </a:solidFill>
              <a:latin typeface="SUIT"/>
            </a:endParaRPr>
          </a:p>
          <a:p>
            <a:r>
              <a:rPr sz="1000" b="0" dirty="0">
                <a:solidFill>
                  <a:srgbClr val="A0B0C0"/>
                </a:solidFill>
                <a:latin typeface="SUIT"/>
              </a:rPr>
              <a:t>99번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맞아도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1번이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치명적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.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산출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경로를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역추적할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수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없으면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신뢰는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불가능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1C9F59-7DF5-33A6-0BEA-8AE5AFDBA0B0}"/>
              </a:ext>
            </a:extLst>
          </p:cNvPr>
          <p:cNvSpPr txBox="1"/>
          <p:nvPr/>
        </p:nvSpPr>
        <p:spPr>
          <a:xfrm>
            <a:off x="274320" y="2226653"/>
            <a:ext cx="4023360" cy="53539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150"/>
              </a:spcAft>
            </a:pPr>
            <a:r>
              <a:rPr sz="1050" b="1" dirty="0">
                <a:solidFill>
                  <a:srgbClr val="C00000"/>
                </a:solidFill>
                <a:latin typeface="SUIT"/>
              </a:rPr>
              <a:t>▸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권한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통제와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데이터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보안의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공백</a:t>
            </a:r>
            <a:endParaRPr sz="1050" b="1" dirty="0">
              <a:solidFill>
                <a:srgbClr val="FFFFFF"/>
              </a:solidFill>
              <a:latin typeface="SUIT"/>
            </a:endParaRPr>
          </a:p>
          <a:p>
            <a:r>
              <a:rPr sz="1000" b="0" dirty="0" err="1">
                <a:solidFill>
                  <a:srgbClr val="A0B0C0"/>
                </a:solidFill>
                <a:latin typeface="SUIT"/>
              </a:rPr>
              <a:t>외부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LLM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노출도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문제지만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,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권한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없는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사용자에게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민감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데이터가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닿는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거버넌스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부재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D21C33-AE85-7F0A-9EC6-5609964BB998}"/>
              </a:ext>
            </a:extLst>
          </p:cNvPr>
          <p:cNvSpPr txBox="1"/>
          <p:nvPr/>
        </p:nvSpPr>
        <p:spPr>
          <a:xfrm>
            <a:off x="274320" y="2945192"/>
            <a:ext cx="4023360" cy="38151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150"/>
              </a:spcAft>
            </a:pPr>
            <a:r>
              <a:rPr sz="1050" b="1" dirty="0">
                <a:solidFill>
                  <a:srgbClr val="C00000"/>
                </a:solidFill>
                <a:latin typeface="SUIT"/>
              </a:rPr>
              <a:t>▸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부서마다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다른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비즈니스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맥락</a:t>
            </a:r>
            <a:endParaRPr sz="1050" b="1" dirty="0">
              <a:solidFill>
                <a:srgbClr val="FFFFFF"/>
              </a:solidFill>
              <a:latin typeface="SUIT"/>
            </a:endParaRPr>
          </a:p>
          <a:p>
            <a:r>
              <a:rPr sz="1000" b="0" dirty="0">
                <a:solidFill>
                  <a:srgbClr val="A0B0C0"/>
                </a:solidFill>
                <a:latin typeface="SUIT"/>
              </a:rPr>
              <a:t>'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이익률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'·'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활성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고객'조차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부서마다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다른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사내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KPI를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일반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AI가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학습하기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어려움</a:t>
            </a:r>
            <a:endParaRPr sz="1000" b="0" dirty="0">
              <a:solidFill>
                <a:srgbClr val="A0B0C0"/>
              </a:solidFill>
              <a:latin typeface="SUI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DAF2FF-869A-7643-DFBF-8340C83E6687}"/>
              </a:ext>
            </a:extLst>
          </p:cNvPr>
          <p:cNvSpPr txBox="1"/>
          <p:nvPr/>
        </p:nvSpPr>
        <p:spPr>
          <a:xfrm>
            <a:off x="274320" y="3509844"/>
            <a:ext cx="4023360" cy="53539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150"/>
              </a:spcAft>
            </a:pPr>
            <a:r>
              <a:rPr sz="1050" b="1" dirty="0">
                <a:solidFill>
                  <a:srgbClr val="C00000"/>
                </a:solidFill>
                <a:latin typeface="SUIT"/>
              </a:rPr>
              <a:t>▸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불명확한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ROI</a:t>
            </a:r>
          </a:p>
          <a:p>
            <a:r>
              <a:rPr sz="1000" b="0" dirty="0">
                <a:solidFill>
                  <a:srgbClr val="A0B0C0"/>
                </a:solidFill>
                <a:latin typeface="SUIT"/>
              </a:rPr>
              <a:t>'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질의가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편해졌다'는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체감을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넘어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,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리포팅·분석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시간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단축과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endParaRPr lang="en-US" sz="1000" b="0" dirty="0">
              <a:solidFill>
                <a:srgbClr val="A0B0C0"/>
              </a:solidFill>
              <a:latin typeface="SUIT"/>
            </a:endParaRPr>
          </a:p>
          <a:p>
            <a:r>
              <a:rPr lang="en-US" sz="100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새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비즈니스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기회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창출까지</a:t>
            </a:r>
            <a:r>
              <a:rPr lang="en-US" sz="1000" dirty="0">
                <a:solidFill>
                  <a:srgbClr val="A0B0C0"/>
                </a:solidFill>
                <a:latin typeface="SUIT"/>
              </a:rPr>
              <a:t>,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투자에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걸맞은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정량적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효과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입증이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어려움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1C40B0-25C5-3842-354D-F78A23B1BACA}"/>
              </a:ext>
            </a:extLst>
          </p:cNvPr>
          <p:cNvSpPr txBox="1"/>
          <p:nvPr/>
        </p:nvSpPr>
        <p:spPr>
          <a:xfrm>
            <a:off x="4709160" y="274320"/>
            <a:ext cx="4297680" cy="219456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sz="800" b="1" dirty="0">
                <a:solidFill>
                  <a:srgbClr val="41C0C2"/>
                </a:solidFill>
                <a:latin typeface="SUIT"/>
              </a:rPr>
              <a:t>THE SOLUTION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F3DA7B-9F5D-5127-684C-8E774633960A}"/>
              </a:ext>
            </a:extLst>
          </p:cNvPr>
          <p:cNvSpPr txBox="1"/>
          <p:nvPr/>
        </p:nvSpPr>
        <p:spPr>
          <a:xfrm>
            <a:off x="4658360" y="655320"/>
            <a:ext cx="4297680" cy="291903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sz="1700" b="1" dirty="0" err="1">
                <a:solidFill>
                  <a:srgbClr val="0F2847"/>
                </a:solidFill>
                <a:latin typeface="SUIT"/>
              </a:rPr>
              <a:t>당신의</a:t>
            </a:r>
            <a:r>
              <a:rPr sz="1700" b="1" dirty="0">
                <a:solidFill>
                  <a:srgbClr val="0F2847"/>
                </a:solidFill>
                <a:latin typeface="SUIT"/>
              </a:rPr>
              <a:t> </a:t>
            </a:r>
            <a:r>
              <a:rPr sz="1700" b="1" dirty="0" err="1">
                <a:solidFill>
                  <a:srgbClr val="0F2847"/>
                </a:solidFill>
                <a:latin typeface="SUIT"/>
              </a:rPr>
              <a:t>BI가</a:t>
            </a:r>
            <a:r>
              <a:rPr sz="1700" b="1" dirty="0">
                <a:solidFill>
                  <a:srgbClr val="0F2847"/>
                </a:solidFill>
                <a:latin typeface="SUIT"/>
              </a:rPr>
              <a:t> </a:t>
            </a:r>
            <a:r>
              <a:rPr sz="1700" b="1" dirty="0" err="1">
                <a:solidFill>
                  <a:srgbClr val="0F2847"/>
                </a:solidFill>
                <a:latin typeface="SUIT"/>
              </a:rPr>
              <a:t>멈춘</a:t>
            </a:r>
            <a:r>
              <a:rPr sz="1700" b="1" dirty="0">
                <a:solidFill>
                  <a:srgbClr val="0F2847"/>
                </a:solidFill>
                <a:latin typeface="SUIT"/>
              </a:rPr>
              <a:t> </a:t>
            </a:r>
            <a:r>
              <a:rPr sz="1700" b="1" dirty="0" err="1">
                <a:solidFill>
                  <a:srgbClr val="0F2847"/>
                </a:solidFill>
                <a:latin typeface="SUIT"/>
              </a:rPr>
              <a:t>곳에서</a:t>
            </a:r>
            <a:r>
              <a:rPr sz="1700" b="1" dirty="0">
                <a:solidFill>
                  <a:srgbClr val="0F2847"/>
                </a:solidFill>
                <a:latin typeface="SUIT"/>
              </a:rPr>
              <a:t>, </a:t>
            </a:r>
            <a:r>
              <a:rPr sz="1700" b="1" dirty="0" err="1">
                <a:solidFill>
                  <a:srgbClr val="41C0C2"/>
                </a:solidFill>
                <a:latin typeface="SUIT"/>
              </a:rPr>
              <a:t>aisight</a:t>
            </a:r>
            <a:r>
              <a:rPr sz="1700" b="1" dirty="0" err="1">
                <a:solidFill>
                  <a:srgbClr val="0F2847"/>
                </a:solidFill>
                <a:latin typeface="SUIT"/>
              </a:rPr>
              <a:t>가</a:t>
            </a:r>
            <a:r>
              <a:rPr sz="1700" b="1" dirty="0">
                <a:solidFill>
                  <a:srgbClr val="0F2847"/>
                </a:solidFill>
                <a:latin typeface="SUIT"/>
              </a:rPr>
              <a:t> </a:t>
            </a:r>
            <a:r>
              <a:rPr sz="1700" b="1" dirty="0" err="1">
                <a:solidFill>
                  <a:srgbClr val="0F2847"/>
                </a:solidFill>
                <a:latin typeface="SUIT"/>
              </a:rPr>
              <a:t>시작됩니다</a:t>
            </a:r>
            <a:r>
              <a:rPr sz="1700" b="1" dirty="0">
                <a:solidFill>
                  <a:srgbClr val="0F2847"/>
                </a:solidFill>
                <a:latin typeface="SUIT"/>
              </a:rPr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D3D1FA-D1A2-480B-2ADD-8B4A0EC15A53}"/>
              </a:ext>
            </a:extLst>
          </p:cNvPr>
          <p:cNvSpPr txBox="1"/>
          <p:nvPr/>
        </p:nvSpPr>
        <p:spPr>
          <a:xfrm>
            <a:off x="4658360" y="1018540"/>
            <a:ext cx="4297680" cy="17648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sz="950" b="0" dirty="0">
                <a:solidFill>
                  <a:srgbClr val="64748B"/>
                </a:solidFill>
                <a:latin typeface="SUIT"/>
              </a:rPr>
              <a:t>AI 도입의 모든 고민에 답하는, 그리고 BI를 다시 정의하는, aisight.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FC40959-DF67-00D5-A3CA-3F0709643C1C}"/>
              </a:ext>
            </a:extLst>
          </p:cNvPr>
          <p:cNvSpPr/>
          <p:nvPr/>
        </p:nvSpPr>
        <p:spPr>
          <a:xfrm>
            <a:off x="4612640" y="1353312"/>
            <a:ext cx="4343400" cy="1188720"/>
          </a:xfrm>
          <a:prstGeom prst="roundRect">
            <a:avLst>
              <a:gd name="adj" fmla="val 4000"/>
            </a:avLst>
          </a:prstGeom>
          <a:solidFill>
            <a:srgbClr val="F0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3397A7-57C6-3C38-94C0-3E01D6C016F3}"/>
              </a:ext>
            </a:extLst>
          </p:cNvPr>
          <p:cNvSpPr/>
          <p:nvPr/>
        </p:nvSpPr>
        <p:spPr>
          <a:xfrm>
            <a:off x="4612640" y="1353312"/>
            <a:ext cx="4343400" cy="32004"/>
          </a:xfrm>
          <a:prstGeom prst="rect">
            <a:avLst/>
          </a:prstGeom>
          <a:solidFill>
            <a:srgbClr val="41C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9E5795-71F2-800E-F691-35896CB5CC7F}"/>
              </a:ext>
            </a:extLst>
          </p:cNvPr>
          <p:cNvSpPr txBox="1"/>
          <p:nvPr/>
        </p:nvSpPr>
        <p:spPr>
          <a:xfrm>
            <a:off x="4897120" y="1444752"/>
            <a:ext cx="3784600" cy="222653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sz="1250" b="1" dirty="0">
                <a:solidFill>
                  <a:srgbClr val="0F2847"/>
                </a:solidFill>
                <a:latin typeface="SUIT"/>
              </a:rPr>
              <a:t>aisight Agent</a:t>
            </a:r>
            <a:r>
              <a:rPr sz="900" b="0" dirty="0">
                <a:solidFill>
                  <a:srgbClr val="94A3B8"/>
                </a:solidFill>
                <a:latin typeface="SUIT"/>
              </a:rPr>
              <a:t>  ｜ 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분석의</a:t>
            </a:r>
            <a:r>
              <a:rPr sz="950" b="1" dirty="0">
                <a:solidFill>
                  <a:srgbClr val="2A9B9D"/>
                </a:solidFill>
                <a:latin typeface="SUIT"/>
              </a:rPr>
              <a:t>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장벽을</a:t>
            </a:r>
            <a:r>
              <a:rPr sz="950" b="1" dirty="0">
                <a:solidFill>
                  <a:srgbClr val="2A9B9D"/>
                </a:solidFill>
                <a:latin typeface="SUIT"/>
              </a:rPr>
              <a:t>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무너뜨리는</a:t>
            </a:r>
            <a:r>
              <a:rPr sz="950" b="1" dirty="0">
                <a:solidFill>
                  <a:srgbClr val="2A9B9D"/>
                </a:solidFill>
                <a:latin typeface="SUIT"/>
              </a:rPr>
              <a:t>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지능형</a:t>
            </a:r>
            <a:r>
              <a:rPr sz="950" b="1" dirty="0">
                <a:solidFill>
                  <a:srgbClr val="2A9B9D"/>
                </a:solidFill>
                <a:latin typeface="SUIT"/>
              </a:rPr>
              <a:t>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어시스턴트</a:t>
            </a:r>
            <a:endParaRPr sz="950" b="1" dirty="0">
              <a:solidFill>
                <a:srgbClr val="2A9B9D"/>
              </a:solidFill>
              <a:latin typeface="SUI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F74100-2734-367A-F2B6-172A155D1D8C}"/>
              </a:ext>
            </a:extLst>
          </p:cNvPr>
          <p:cNvSpPr txBox="1"/>
          <p:nvPr/>
        </p:nvSpPr>
        <p:spPr>
          <a:xfrm>
            <a:off x="4886959" y="1737360"/>
            <a:ext cx="3840480" cy="633022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5000"/>
              </a:lnSpc>
            </a:pPr>
            <a:r>
              <a:rPr sz="800" b="0" dirty="0" err="1">
                <a:solidFill>
                  <a:srgbClr val="64748B"/>
                </a:solidFill>
                <a:latin typeface="SUIT"/>
              </a:rPr>
              <a:t>복잡한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툴이나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SQL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지식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없이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,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자연어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질의만으로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필요한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데이터를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즉각적으로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분석·요약·추출합니다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.</a:t>
            </a:r>
          </a:p>
          <a:p>
            <a:pPr>
              <a:lnSpc>
                <a:spcPct val="125000"/>
              </a:lnSpc>
            </a:pPr>
            <a:r>
              <a:rPr sz="800" b="0" dirty="0" err="1">
                <a:solidFill>
                  <a:srgbClr val="64748B"/>
                </a:solidFill>
                <a:latin typeface="SUIT"/>
              </a:rPr>
              <a:t>소수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전문가에게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갇혀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있던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분석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환경을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전사적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일상으로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전환하여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,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분석과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리포팅에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드는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업무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공수를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획기적으로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단축합니다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B2EEF312-B3B7-F215-54CE-8F018B2957E7}"/>
              </a:ext>
            </a:extLst>
          </p:cNvPr>
          <p:cNvSpPr/>
          <p:nvPr/>
        </p:nvSpPr>
        <p:spPr>
          <a:xfrm>
            <a:off x="4612640" y="2615184"/>
            <a:ext cx="4343400" cy="1188720"/>
          </a:xfrm>
          <a:prstGeom prst="roundRect">
            <a:avLst>
              <a:gd name="adj" fmla="val 4000"/>
            </a:avLst>
          </a:prstGeom>
          <a:solidFill>
            <a:srgbClr val="F0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A961320-BD76-8E8D-42E0-3A1FC28FE314}"/>
              </a:ext>
            </a:extLst>
          </p:cNvPr>
          <p:cNvSpPr/>
          <p:nvPr/>
        </p:nvSpPr>
        <p:spPr>
          <a:xfrm>
            <a:off x="4612640" y="2615184"/>
            <a:ext cx="4343400" cy="32004"/>
          </a:xfrm>
          <a:prstGeom prst="rect">
            <a:avLst/>
          </a:prstGeom>
          <a:solidFill>
            <a:srgbClr val="41C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9A4F77-F9DF-7804-771D-0E7262D31B12}"/>
              </a:ext>
            </a:extLst>
          </p:cNvPr>
          <p:cNvSpPr txBox="1"/>
          <p:nvPr/>
        </p:nvSpPr>
        <p:spPr>
          <a:xfrm>
            <a:off x="4912360" y="2706624"/>
            <a:ext cx="3784600" cy="222653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solidFill>
                  <a:srgbClr val="0F2847"/>
                </a:solidFill>
                <a:effectLst/>
                <a:uLnTx/>
                <a:uFillTx/>
                <a:latin typeface="SUIT"/>
                <a:ea typeface="SUIT"/>
              </a:rPr>
              <a:t>aisight Space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SUIT"/>
                <a:ea typeface="SUIT"/>
              </a:rPr>
              <a:t>  ｜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"/>
                <a:ea typeface="SUIT" pitchFamily="2" charset="-127"/>
              </a:rPr>
              <a:t>BI </a:t>
            </a:r>
            <a:r>
              <a:rPr kumimoji="0" lang="ko-KR" altLang="en-US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"/>
                <a:ea typeface="SUIT"/>
              </a:rPr>
              <a:t>레거시를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"/>
                <a:ea typeface="SUIT"/>
              </a:rPr>
              <a:t> 포용하는 통합 대시보드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"/>
                <a:ea typeface="SUIT" pitchFamily="2" charset="-127"/>
              </a:rPr>
              <a:t>환경</a:t>
            </a:r>
            <a:endParaRPr kumimoji="0" lang="ko-KR" altLang="en-US" sz="950" b="1" i="0" u="none" strike="noStrike" kern="1200" cap="none" spc="0" normalizeH="0" baseline="0" noProof="0" dirty="0">
              <a:ln>
                <a:noFill/>
              </a:ln>
              <a:solidFill>
                <a:srgbClr val="2A9B9D"/>
              </a:solidFill>
              <a:effectLst/>
              <a:uLnTx/>
              <a:uFillTx/>
              <a:latin typeface="SUIT"/>
              <a:ea typeface="SUIT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92BB87-C5BC-A9FC-ED45-CDFDA166ACBC}"/>
              </a:ext>
            </a:extLst>
          </p:cNvPr>
          <p:cNvSpPr txBox="1"/>
          <p:nvPr/>
        </p:nvSpPr>
        <p:spPr>
          <a:xfrm>
            <a:off x="4886959" y="2999232"/>
            <a:ext cx="3840480" cy="633022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800" b="0" dirty="0">
                <a:solidFill>
                  <a:srgbClr val="64748B"/>
                </a:solidFill>
                <a:latin typeface="SUIT"/>
              </a:rPr>
              <a:t>AI</a:t>
            </a:r>
            <a:r>
              <a:rPr lang="ko-KR" altLang="en-US" sz="800" b="0" dirty="0">
                <a:solidFill>
                  <a:srgbClr val="64748B"/>
                </a:solidFill>
                <a:latin typeface="SUIT"/>
              </a:rPr>
              <a:t>와의 대화를 통해 분석 결과를 손쉽게 생성</a:t>
            </a:r>
            <a:r>
              <a:rPr lang="en-US" altLang="ko-KR" sz="800" b="0" dirty="0">
                <a:solidFill>
                  <a:srgbClr val="64748B"/>
                </a:solidFill>
                <a:latin typeface="SUIT"/>
              </a:rPr>
              <a:t>·</a:t>
            </a:r>
            <a:r>
              <a:rPr lang="ko-KR" altLang="en-US" sz="800" b="0" dirty="0">
                <a:solidFill>
                  <a:srgbClr val="64748B"/>
                </a:solidFill>
                <a:latin typeface="SUIT"/>
              </a:rPr>
              <a:t>유지 관리하며</a:t>
            </a:r>
            <a:r>
              <a:rPr lang="en-US" altLang="ko-KR" sz="800" b="0" dirty="0">
                <a:solidFill>
                  <a:srgbClr val="64748B"/>
                </a:solidFill>
                <a:latin typeface="SUIT"/>
              </a:rPr>
              <a:t>, </a:t>
            </a:r>
            <a:r>
              <a:rPr lang="ko-KR" altLang="en-US" sz="800" b="0" dirty="0">
                <a:solidFill>
                  <a:srgbClr val="64748B"/>
                </a:solidFill>
                <a:latin typeface="SUIT"/>
              </a:rPr>
              <a:t>포털 내 정기 구독과 권한별 조회를 운영합니다</a:t>
            </a:r>
            <a:r>
              <a:rPr lang="en-US" altLang="ko-KR" sz="800" b="0" dirty="0">
                <a:solidFill>
                  <a:srgbClr val="64748B"/>
                </a:solidFill>
                <a:latin typeface="SUIT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ko-KR" altLang="en-US" sz="800" b="0" dirty="0">
                <a:solidFill>
                  <a:srgbClr val="64748B"/>
                </a:solidFill>
                <a:latin typeface="SUIT"/>
              </a:rPr>
              <a:t>기존 </a:t>
            </a:r>
            <a:r>
              <a:rPr lang="en-US" altLang="ko-KR" sz="800" b="0" dirty="0">
                <a:solidFill>
                  <a:srgbClr val="64748B"/>
                </a:solidFill>
                <a:latin typeface="SUIT"/>
              </a:rPr>
              <a:t>BI</a:t>
            </a:r>
            <a:r>
              <a:rPr lang="ko-KR" altLang="en-US" sz="800" b="0" dirty="0">
                <a:solidFill>
                  <a:srgbClr val="64748B"/>
                </a:solidFill>
                <a:latin typeface="SUIT"/>
              </a:rPr>
              <a:t>를 강제로 폐기할 필요 없이 화면 그대로 </a:t>
            </a:r>
            <a:r>
              <a:rPr lang="ko-KR" altLang="en-US" sz="800" b="0" dirty="0" err="1">
                <a:solidFill>
                  <a:srgbClr val="64748B"/>
                </a:solidFill>
                <a:latin typeface="SUIT"/>
              </a:rPr>
              <a:t>임베드하여</a:t>
            </a:r>
            <a:r>
              <a:rPr lang="ko-KR" altLang="en-US" sz="800" b="0" dirty="0">
                <a:solidFill>
                  <a:srgbClr val="64748B"/>
                </a:solidFill>
                <a:latin typeface="SUIT"/>
              </a:rPr>
              <a:t> 이중 운영을 막고</a:t>
            </a:r>
            <a:r>
              <a:rPr lang="en-US" altLang="ko-KR" sz="800" b="0" dirty="0">
                <a:solidFill>
                  <a:srgbClr val="64748B"/>
                </a:solidFill>
                <a:latin typeface="SUIT"/>
              </a:rPr>
              <a:t>, </a:t>
            </a:r>
            <a:r>
              <a:rPr lang="ko-KR" altLang="en-US" sz="800" b="0" dirty="0">
                <a:solidFill>
                  <a:srgbClr val="64748B"/>
                </a:solidFill>
                <a:latin typeface="SUIT"/>
              </a:rPr>
              <a:t>기업 상황에 맞춰 점진 마이그레이션하는 유연한 </a:t>
            </a:r>
            <a:r>
              <a:rPr lang="ko-KR" altLang="en-US" sz="800" b="0" dirty="0" err="1">
                <a:solidFill>
                  <a:srgbClr val="64748B"/>
                </a:solidFill>
                <a:latin typeface="SUIT"/>
              </a:rPr>
              <a:t>투트랙</a:t>
            </a:r>
            <a:r>
              <a:rPr lang="en-US" altLang="ko-KR" sz="800" b="0" dirty="0">
                <a:solidFill>
                  <a:srgbClr val="64748B"/>
                </a:solidFill>
                <a:latin typeface="SUIT"/>
              </a:rPr>
              <a:t>(Two-track) </a:t>
            </a:r>
            <a:r>
              <a:rPr lang="ko-KR" altLang="en-US" sz="800" b="0" dirty="0">
                <a:solidFill>
                  <a:srgbClr val="64748B"/>
                </a:solidFill>
                <a:latin typeface="SUIT"/>
              </a:rPr>
              <a:t>전략을 제시합니다</a:t>
            </a:r>
            <a:r>
              <a:rPr lang="en-US" altLang="ko-KR" sz="800" b="0" dirty="0">
                <a:solidFill>
                  <a:srgbClr val="64748B"/>
                </a:solidFill>
                <a:latin typeface="SUIT"/>
              </a:rPr>
              <a:t>.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9BBCA32F-3497-7004-DE1D-2B7C3DFA8E6B}"/>
              </a:ext>
            </a:extLst>
          </p:cNvPr>
          <p:cNvSpPr/>
          <p:nvPr/>
        </p:nvSpPr>
        <p:spPr>
          <a:xfrm>
            <a:off x="4612640" y="3877056"/>
            <a:ext cx="4343400" cy="1188720"/>
          </a:xfrm>
          <a:prstGeom prst="roundRect">
            <a:avLst>
              <a:gd name="adj" fmla="val 4000"/>
            </a:avLst>
          </a:prstGeom>
          <a:solidFill>
            <a:srgbClr val="F0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6FA77DE-F16B-8FA9-FF80-1162A93B20B4}"/>
              </a:ext>
            </a:extLst>
          </p:cNvPr>
          <p:cNvSpPr/>
          <p:nvPr/>
        </p:nvSpPr>
        <p:spPr>
          <a:xfrm>
            <a:off x="4612640" y="3877056"/>
            <a:ext cx="4343400" cy="32004"/>
          </a:xfrm>
          <a:prstGeom prst="rect">
            <a:avLst/>
          </a:prstGeom>
          <a:solidFill>
            <a:srgbClr val="41C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6B70449-E293-A5BA-8373-896829A75ECB}"/>
              </a:ext>
            </a:extLst>
          </p:cNvPr>
          <p:cNvSpPr txBox="1"/>
          <p:nvPr/>
        </p:nvSpPr>
        <p:spPr>
          <a:xfrm>
            <a:off x="4912360" y="3968496"/>
            <a:ext cx="3784600" cy="222653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sz="1250" b="1" dirty="0">
                <a:solidFill>
                  <a:srgbClr val="0F2847"/>
                </a:solidFill>
                <a:latin typeface="SUIT"/>
              </a:rPr>
              <a:t>aisight Ops</a:t>
            </a:r>
            <a:r>
              <a:rPr sz="900" b="0" dirty="0">
                <a:solidFill>
                  <a:srgbClr val="94A3B8"/>
                </a:solidFill>
                <a:latin typeface="SUIT"/>
              </a:rPr>
              <a:t>  ｜ 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통제와</a:t>
            </a:r>
            <a:r>
              <a:rPr sz="950" b="1" dirty="0">
                <a:solidFill>
                  <a:srgbClr val="2A9B9D"/>
                </a:solidFill>
                <a:latin typeface="SUIT"/>
              </a:rPr>
              <a:t>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신뢰를</a:t>
            </a:r>
            <a:r>
              <a:rPr sz="950" b="1" dirty="0">
                <a:solidFill>
                  <a:srgbClr val="2A9B9D"/>
                </a:solidFill>
                <a:latin typeface="SUIT"/>
              </a:rPr>
              <a:t>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보장하는</a:t>
            </a:r>
            <a:r>
              <a:rPr sz="950" b="1" dirty="0">
                <a:solidFill>
                  <a:srgbClr val="2A9B9D"/>
                </a:solidFill>
                <a:latin typeface="SUIT"/>
              </a:rPr>
              <a:t>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코어</a:t>
            </a:r>
            <a:r>
              <a:rPr sz="950" b="1" dirty="0">
                <a:solidFill>
                  <a:srgbClr val="2A9B9D"/>
                </a:solidFill>
                <a:latin typeface="SUIT"/>
              </a:rPr>
              <a:t> </a:t>
            </a:r>
            <a:r>
              <a:rPr sz="950" b="1" dirty="0" err="1">
                <a:solidFill>
                  <a:srgbClr val="2A9B9D"/>
                </a:solidFill>
                <a:latin typeface="SUIT"/>
              </a:rPr>
              <a:t>인프라</a:t>
            </a:r>
            <a:endParaRPr sz="950" b="1" dirty="0">
              <a:solidFill>
                <a:srgbClr val="2A9B9D"/>
              </a:solidFill>
              <a:latin typeface="SUI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D6D3AD-146F-B7B2-8309-79957E291164}"/>
              </a:ext>
            </a:extLst>
          </p:cNvPr>
          <p:cNvSpPr txBox="1"/>
          <p:nvPr/>
        </p:nvSpPr>
        <p:spPr>
          <a:xfrm>
            <a:off x="4886959" y="4261104"/>
            <a:ext cx="3840480" cy="713232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5000"/>
              </a:lnSpc>
            </a:pPr>
            <a:r>
              <a:rPr sz="800" b="0" dirty="0" err="1">
                <a:solidFill>
                  <a:srgbClr val="64748B"/>
                </a:solidFill>
                <a:latin typeface="SUIT"/>
              </a:rPr>
              <a:t>전사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데이터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연동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,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기존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보안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체계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,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멀티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LLM 및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사내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문서를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중앙에서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완벽하게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통제하고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자산화합니다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.</a:t>
            </a:r>
          </a:p>
          <a:p>
            <a:pPr>
              <a:lnSpc>
                <a:spcPct val="125000"/>
              </a:lnSpc>
            </a:pPr>
            <a:r>
              <a:rPr sz="800" b="0" dirty="0" err="1">
                <a:solidFill>
                  <a:srgbClr val="64748B"/>
                </a:solidFill>
                <a:latin typeface="SUIT"/>
              </a:rPr>
              <a:t>사내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권한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체계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100%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연동으로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데이터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유출을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원천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차단합니다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.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산출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경로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역추적과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부서별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맞춤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KPI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스킬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학습으로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환각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없는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100%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신뢰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가능한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분석을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</a:rPr>
              <a:t>제공합니다</a:t>
            </a:r>
            <a:r>
              <a:rPr sz="800" b="0" dirty="0">
                <a:solidFill>
                  <a:srgbClr val="64748B"/>
                </a:solidFill>
                <a:latin typeface="SUIT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76501E-8475-9026-2BFC-481F47ED60DA}"/>
              </a:ext>
            </a:extLst>
          </p:cNvPr>
          <p:cNvSpPr txBox="1"/>
          <p:nvPr/>
        </p:nvSpPr>
        <p:spPr>
          <a:xfrm>
            <a:off x="282866" y="4185134"/>
            <a:ext cx="4023360" cy="38151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150"/>
              </a:spcAft>
            </a:pPr>
            <a:r>
              <a:rPr sz="1050" b="1" dirty="0">
                <a:solidFill>
                  <a:srgbClr val="C00000"/>
                </a:solidFill>
                <a:latin typeface="SUIT"/>
              </a:rPr>
              <a:t>▸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기존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BI,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폐기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vs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유지의</a:t>
            </a:r>
            <a:r>
              <a:rPr sz="1050" b="1" dirty="0">
                <a:solidFill>
                  <a:srgbClr val="FFFFFF"/>
                </a:solidFill>
                <a:latin typeface="SUIT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SUIT"/>
              </a:rPr>
              <a:t>딜레마</a:t>
            </a:r>
            <a:endParaRPr sz="1050" b="1" dirty="0">
              <a:solidFill>
                <a:srgbClr val="FFFFFF"/>
              </a:solidFill>
              <a:latin typeface="SUIT"/>
            </a:endParaRPr>
          </a:p>
          <a:p>
            <a:r>
              <a:rPr sz="1000" b="0" dirty="0" err="1">
                <a:solidFill>
                  <a:srgbClr val="A0B0C0"/>
                </a:solidFill>
                <a:latin typeface="SUIT"/>
              </a:rPr>
              <a:t>이중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운영의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비효율과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전면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마이그레이션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리스크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어느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쪽도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정답이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 </a:t>
            </a:r>
            <a:r>
              <a:rPr sz="1000" b="0" dirty="0" err="1">
                <a:solidFill>
                  <a:srgbClr val="A0B0C0"/>
                </a:solidFill>
                <a:latin typeface="SUIT"/>
              </a:rPr>
              <a:t>아니다</a:t>
            </a:r>
            <a:r>
              <a:rPr sz="1000" b="0" dirty="0">
                <a:solidFill>
                  <a:srgbClr val="A0B0C0"/>
                </a:solidFill>
                <a:latin typeface="SUI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2233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4D41-C952-2EC6-8DA8-931D4521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4">
            <a:extLst>
              <a:ext uri="{FF2B5EF4-FFF2-40B4-BE49-F238E27FC236}">
                <a16:creationId xmlns:a16="http://schemas.microsoft.com/office/drawing/2014/main" id="{44E4443E-8A9B-8AA9-C020-7D66D278546D}"/>
              </a:ext>
            </a:extLst>
          </p:cNvPr>
          <p:cNvSpPr/>
          <p:nvPr/>
        </p:nvSpPr>
        <p:spPr>
          <a:xfrm>
            <a:off x="368298" y="1453917"/>
            <a:ext cx="8590284" cy="3474055"/>
          </a:xfrm>
          <a:prstGeom prst="roundRect">
            <a:avLst>
              <a:gd name="adj" fmla="val 2742"/>
            </a:avLst>
          </a:prstGeom>
          <a:solidFill>
            <a:srgbClr val="FAFBFC"/>
          </a:solidFill>
          <a:ln w="12700">
            <a:solidFill>
              <a:srgbClr val="C5CFD4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4FE0E8E0-3570-D33F-CFEC-86DEB83725E4}"/>
              </a:ext>
            </a:extLst>
          </p:cNvPr>
          <p:cNvSpPr/>
          <p:nvPr/>
        </p:nvSpPr>
        <p:spPr>
          <a:xfrm>
            <a:off x="2841102" y="3052154"/>
            <a:ext cx="1664230" cy="19699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C5CFD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8C13DC02-A8C8-A842-B4E8-63D6EA5F0D7A}"/>
              </a:ext>
            </a:extLst>
          </p:cNvPr>
          <p:cNvSpPr/>
          <p:nvPr/>
        </p:nvSpPr>
        <p:spPr>
          <a:xfrm>
            <a:off x="4700746" y="3058548"/>
            <a:ext cx="2083144" cy="19699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EDE7E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F2C89CDA-D05D-1DB8-13F9-C24CC6538D87}"/>
              </a:ext>
            </a:extLst>
          </p:cNvPr>
          <p:cNvSpPr/>
          <p:nvPr/>
        </p:nvSpPr>
        <p:spPr>
          <a:xfrm rot="16200000">
            <a:off x="3853515" y="-28697"/>
            <a:ext cx="1526789" cy="8177180"/>
          </a:xfrm>
          <a:prstGeom prst="roundRect">
            <a:avLst>
              <a:gd name="adj" fmla="val 4806"/>
            </a:avLst>
          </a:prstGeom>
          <a:solidFill>
            <a:srgbClr val="0B1A30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61FE74DB-7879-C6A5-548B-3A9749F37A65}"/>
              </a:ext>
            </a:extLst>
          </p:cNvPr>
          <p:cNvSpPr/>
          <p:nvPr/>
        </p:nvSpPr>
        <p:spPr>
          <a:xfrm rot="16200000">
            <a:off x="3927474" y="-1770571"/>
            <a:ext cx="1352458" cy="8160927"/>
          </a:xfrm>
          <a:prstGeom prst="roundRect">
            <a:avLst>
              <a:gd name="adj" fmla="val 4806"/>
            </a:avLst>
          </a:prstGeom>
          <a:gradFill rotWithShape="1">
            <a:gsLst>
              <a:gs pos="0">
                <a:srgbClr val="00D4C5"/>
              </a:gs>
              <a:gs pos="2817">
                <a:srgbClr val="00D4C5"/>
              </a:gs>
              <a:gs pos="2818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4" name="Shape 4">
            <a:extLst>
              <a:ext uri="{FF2B5EF4-FFF2-40B4-BE49-F238E27FC236}">
                <a16:creationId xmlns:a16="http://schemas.microsoft.com/office/drawing/2014/main" id="{E95ABD79-BF8D-CD99-783B-FC9E7662FA1D}"/>
              </a:ext>
            </a:extLst>
          </p:cNvPr>
          <p:cNvSpPr/>
          <p:nvPr/>
        </p:nvSpPr>
        <p:spPr>
          <a:xfrm>
            <a:off x="3065291" y="3865227"/>
            <a:ext cx="5432400" cy="392400"/>
          </a:xfrm>
          <a:prstGeom prst="roundRect">
            <a:avLst>
              <a:gd name="adj" fmla="val 17269"/>
            </a:avLst>
          </a:prstGeom>
          <a:solidFill>
            <a:srgbClr val="17263B"/>
          </a:solidFill>
          <a:ln>
            <a:solidFill>
              <a:srgbClr val="222F4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6C1327C4-F4A9-8CB3-67A0-D1AE205E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솔루션 개요</a:t>
            </a:r>
          </a:p>
        </p:txBody>
      </p:sp>
      <p:sp>
        <p:nvSpPr>
          <p:cNvPr id="6" name="텍스트 개체 틀 22">
            <a:extLst>
              <a:ext uri="{FF2B5EF4-FFF2-40B4-BE49-F238E27FC236}">
                <a16:creationId xmlns:a16="http://schemas.microsoft.com/office/drawing/2014/main" id="{85DD4F35-433C-05D4-43A9-D67A6811C8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  <a:cs typeface="+mn-cs"/>
              </a:rPr>
              <a:t>01 · Solution Overview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2AE66F-50C8-B42E-29AA-377C5A831505}"/>
              </a:ext>
            </a:extLst>
          </p:cNvPr>
          <p:cNvSpPr txBox="1"/>
          <p:nvPr/>
        </p:nvSpPr>
        <p:spPr>
          <a:xfrm>
            <a:off x="412750" y="633984"/>
            <a:ext cx="8229600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ctr"/>
            <a:r>
              <a:rPr lang="ko-KR" altLang="en-US" sz="1400" b="1" dirty="0">
                <a:latin typeface="+mn-ea"/>
                <a:ea typeface="+mn-ea"/>
              </a:rPr>
              <a:t>데이터 지능의 중앙 통제부터 소비까지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en-US" altLang="ko-KR" sz="1400" b="1" dirty="0" err="1">
                <a:solidFill>
                  <a:srgbClr val="0D9488"/>
                </a:solidFill>
                <a:latin typeface="+mn-ea"/>
                <a:ea typeface="+mn-ea"/>
              </a:rPr>
              <a:t>aisight</a:t>
            </a:r>
            <a:r>
              <a:rPr lang="en-US" altLang="ko-KR" sz="1400" b="1" dirty="0">
                <a:solidFill>
                  <a:srgbClr val="0D9488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>
                <a:solidFill>
                  <a:srgbClr val="0D9488"/>
                </a:solidFill>
                <a:latin typeface="+mn-ea"/>
                <a:ea typeface="+mn-ea"/>
              </a:rPr>
              <a:t>통합 제품군</a:t>
            </a:r>
            <a:r>
              <a:rPr lang="en-US" altLang="ko-KR" sz="1400" b="1" dirty="0">
                <a:solidFill>
                  <a:srgbClr val="0D9488"/>
                </a:solidFill>
                <a:latin typeface="+mn-ea"/>
                <a:ea typeface="+mn-ea"/>
              </a:rPr>
              <a:t>(Product Suite)</a:t>
            </a:r>
            <a:endParaRPr lang="ko-KR" altLang="en-US" sz="2400" b="1" dirty="0">
              <a:solidFill>
                <a:srgbClr val="0D9488"/>
              </a:solidFill>
              <a:latin typeface="+mn-ea"/>
              <a:ea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9A5256-82FE-EC63-0C3A-754212DD2E00}"/>
              </a:ext>
            </a:extLst>
          </p:cNvPr>
          <p:cNvSpPr txBox="1"/>
          <p:nvPr/>
        </p:nvSpPr>
        <p:spPr>
          <a:xfrm>
            <a:off x="224119" y="924058"/>
            <a:ext cx="8695761" cy="412449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00" b="0" dirty="0" err="1">
                <a:latin typeface="+mn-ea"/>
                <a:ea typeface="+mn-ea"/>
              </a:rPr>
              <a:t>aisight</a:t>
            </a:r>
            <a:r>
              <a:rPr lang="ko-KR" altLang="en-US" sz="1000" b="0" dirty="0">
                <a:latin typeface="+mn-ea"/>
                <a:ea typeface="+mn-ea"/>
              </a:rPr>
              <a:t>는 </a:t>
            </a:r>
            <a:r>
              <a:rPr lang="ko-KR" altLang="en-US" sz="1000" b="0" dirty="0">
                <a:solidFill>
                  <a:srgbClr val="0D9488"/>
                </a:solidFill>
                <a:latin typeface="+mn-ea"/>
                <a:ea typeface="+mn-ea"/>
              </a:rPr>
              <a:t>강력한 거버넌스 코어</a:t>
            </a:r>
            <a:r>
              <a:rPr lang="en-US" altLang="ko-KR" sz="1000" b="0" dirty="0">
                <a:solidFill>
                  <a:srgbClr val="0D9488"/>
                </a:solidFill>
                <a:latin typeface="+mn-ea"/>
                <a:ea typeface="+mn-ea"/>
              </a:rPr>
              <a:t>(Ops) </a:t>
            </a:r>
            <a:r>
              <a:rPr lang="ko-KR" altLang="en-US" sz="1000" b="0" dirty="0">
                <a:latin typeface="+mn-ea"/>
                <a:ea typeface="+mn-ea"/>
              </a:rPr>
              <a:t>위에서</a:t>
            </a:r>
            <a:r>
              <a:rPr lang="en-US" altLang="ko-KR" sz="1000" b="0" dirty="0">
                <a:latin typeface="+mn-ea"/>
                <a:ea typeface="+mn-ea"/>
              </a:rPr>
              <a:t>, </a:t>
            </a:r>
            <a:r>
              <a:rPr lang="ko-KR" altLang="en-US" sz="1000" b="0" dirty="0">
                <a:latin typeface="+mn-ea"/>
                <a:ea typeface="+mn-ea"/>
              </a:rPr>
              <a:t>지능형 대화부터 시각화 및 문서 생성까지 모두 품은 통합 </a:t>
            </a:r>
            <a:r>
              <a:rPr lang="ko-KR" altLang="en-US" sz="1000" b="0" dirty="0" err="1">
                <a:solidFill>
                  <a:srgbClr val="0D9488"/>
                </a:solidFill>
                <a:latin typeface="+mn-ea"/>
                <a:ea typeface="+mn-ea"/>
              </a:rPr>
              <a:t>프론트엔드</a:t>
            </a:r>
            <a:r>
              <a:rPr lang="ko-KR" altLang="en-US" sz="1000" b="0" dirty="0">
                <a:solidFill>
                  <a:srgbClr val="0D9488"/>
                </a:solidFill>
                <a:latin typeface="+mn-ea"/>
                <a:ea typeface="+mn-ea"/>
              </a:rPr>
              <a:t> 생태계</a:t>
            </a:r>
            <a:r>
              <a:rPr lang="en-US" altLang="ko-KR" sz="1000" b="0" dirty="0">
                <a:solidFill>
                  <a:srgbClr val="0D9488"/>
                </a:solidFill>
                <a:latin typeface="+mn-ea"/>
                <a:ea typeface="+mn-ea"/>
              </a:rPr>
              <a:t>(Work Space)</a:t>
            </a:r>
            <a:r>
              <a:rPr lang="ko-KR" altLang="en-US" sz="1000" b="0" dirty="0">
                <a:latin typeface="+mn-ea"/>
                <a:ea typeface="+mn-ea"/>
              </a:rPr>
              <a:t>를 제공합니다</a:t>
            </a:r>
            <a:r>
              <a:rPr lang="en-US" altLang="ko-KR" sz="1000" b="0" dirty="0">
                <a:latin typeface="+mn-ea"/>
                <a:ea typeface="+mn-ea"/>
              </a:rPr>
              <a:t>. </a:t>
            </a:r>
          </a:p>
          <a:p>
            <a:pPr algn="ctr">
              <a:lnSpc>
                <a:spcPct val="130000"/>
              </a:lnSpc>
            </a:pPr>
            <a:r>
              <a:rPr lang="ko-KR" altLang="en-US" sz="1000" b="0" dirty="0">
                <a:latin typeface="+mn-ea"/>
                <a:ea typeface="+mn-ea"/>
              </a:rPr>
              <a:t>모든 구성원이 데이터의 혜택을 누리는 끊김 없는 선순환 구조를 경험하세요</a:t>
            </a:r>
            <a:r>
              <a:rPr lang="en-US" altLang="ko-KR" sz="1000" b="0" dirty="0">
                <a:latin typeface="+mn-ea"/>
                <a:ea typeface="+mn-ea"/>
              </a:rPr>
              <a:t>.</a:t>
            </a:r>
          </a:p>
        </p:txBody>
      </p:sp>
      <p:sp>
        <p:nvSpPr>
          <p:cNvPr id="19" name="Google Shape;186;p13">
            <a:extLst>
              <a:ext uri="{FF2B5EF4-FFF2-40B4-BE49-F238E27FC236}">
                <a16:creationId xmlns:a16="http://schemas.microsoft.com/office/drawing/2014/main" id="{897573A5-FA5B-FD81-45F6-A47D8350BB9A}"/>
              </a:ext>
            </a:extLst>
          </p:cNvPr>
          <p:cNvSpPr txBox="1"/>
          <p:nvPr/>
        </p:nvSpPr>
        <p:spPr>
          <a:xfrm>
            <a:off x="3060692" y="3097436"/>
            <a:ext cx="1337483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dirty="0">
                <a:solidFill>
                  <a:srgbClr val="64748B"/>
                </a:solidFill>
                <a:latin typeface="+mn-ea"/>
                <a:cs typeface="SUIT"/>
                <a:sym typeface="SUIT"/>
              </a:rPr>
              <a:t> 중앙 통제형 스킬 및 분석 모델 활용</a:t>
            </a:r>
            <a:endParaRPr dirty="0">
              <a:latin typeface="+mn-ea"/>
            </a:endParaRPr>
          </a:p>
        </p:txBody>
      </p:sp>
      <p:sp>
        <p:nvSpPr>
          <p:cNvPr id="36" name="Google Shape;186;p13">
            <a:extLst>
              <a:ext uri="{FF2B5EF4-FFF2-40B4-BE49-F238E27FC236}">
                <a16:creationId xmlns:a16="http://schemas.microsoft.com/office/drawing/2014/main" id="{209CB344-E70B-0174-1249-02E2432A075D}"/>
              </a:ext>
            </a:extLst>
          </p:cNvPr>
          <p:cNvSpPr txBox="1"/>
          <p:nvPr/>
        </p:nvSpPr>
        <p:spPr>
          <a:xfrm>
            <a:off x="4911167" y="3105179"/>
            <a:ext cx="180252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dirty="0">
                <a:solidFill>
                  <a:srgbClr val="64748B"/>
                </a:solidFill>
                <a:latin typeface="+mn-ea"/>
                <a:sym typeface="SUIT"/>
              </a:rPr>
              <a:t>비즈니스 질의 등 사용자 로그 및 활용 </a:t>
            </a:r>
            <a:r>
              <a:rPr lang="en-US" altLang="ko-KR" sz="700" dirty="0">
                <a:solidFill>
                  <a:srgbClr val="64748B"/>
                </a:solidFill>
                <a:latin typeface="+mn-ea"/>
                <a:sym typeface="SUIT"/>
              </a:rPr>
              <a:t>SQL </a:t>
            </a:r>
            <a:r>
              <a:rPr lang="ko-KR" altLang="en-US" sz="700" dirty="0">
                <a:solidFill>
                  <a:srgbClr val="64748B"/>
                </a:solidFill>
                <a:latin typeface="+mn-ea"/>
                <a:sym typeface="SUIT"/>
              </a:rPr>
              <a:t>등 적재 </a:t>
            </a:r>
            <a:endParaRPr sz="700" dirty="0">
              <a:solidFill>
                <a:srgbClr val="64748B"/>
              </a:solidFill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45D6B6-ABA2-14AF-6752-D08F0FACDCE7}"/>
              </a:ext>
            </a:extLst>
          </p:cNvPr>
          <p:cNvSpPr txBox="1"/>
          <p:nvPr/>
        </p:nvSpPr>
        <p:spPr>
          <a:xfrm>
            <a:off x="718481" y="2316314"/>
            <a:ext cx="2384008" cy="52273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dirty="0" err="1">
                <a:latin typeface="+mj-lt"/>
                <a:ea typeface="SUIT Light" pitchFamily="50" charset="-127"/>
              </a:rPr>
              <a:t>aisight</a:t>
            </a:r>
            <a:r>
              <a:rPr lang="en-US" altLang="ko-KR" sz="800" dirty="0">
                <a:latin typeface="+mj-lt"/>
                <a:ea typeface="SUIT Light" pitchFamily="50" charset="-127"/>
              </a:rPr>
              <a:t> Work Space </a:t>
            </a:r>
            <a:r>
              <a:rPr lang="ko-KR" altLang="en-US" sz="800" dirty="0">
                <a:latin typeface="+mj-lt"/>
                <a:ea typeface="SUIT Light" pitchFamily="50" charset="-127"/>
              </a:rPr>
              <a:t>안에서 누구나 에이전트와 대화하며 자신만의 대시보드를 기획하고</a:t>
            </a:r>
            <a:r>
              <a:rPr lang="en-US" altLang="ko-KR" sz="800" dirty="0">
                <a:latin typeface="+mj-lt"/>
                <a:ea typeface="SUIT Light" pitchFamily="50" charset="-127"/>
              </a:rPr>
              <a:t>, </a:t>
            </a:r>
            <a:r>
              <a:rPr lang="ko-KR" altLang="en-US" sz="800" dirty="0">
                <a:latin typeface="+mj-lt"/>
                <a:ea typeface="SUIT Light" pitchFamily="50" charset="-127"/>
              </a:rPr>
              <a:t>리포트를 생성해 전사로 공유할 수 있습니다</a:t>
            </a:r>
            <a:r>
              <a:rPr lang="en-US" altLang="ko-KR" sz="800" dirty="0">
                <a:latin typeface="+mj-lt"/>
                <a:ea typeface="SUIT Light" pitchFamily="50" charset="-127"/>
              </a:rPr>
              <a:t>. </a:t>
            </a:r>
            <a:r>
              <a:rPr lang="ko-KR" altLang="en-US" sz="800" dirty="0">
                <a:latin typeface="+mj-lt"/>
                <a:ea typeface="SUIT Light" pitchFamily="50" charset="-127"/>
              </a:rPr>
              <a:t>개인의 데이터 분석이 조직의 지식 자산으로 전환되는 완벽한 지식 생태계입니다</a:t>
            </a:r>
            <a:r>
              <a:rPr lang="en-US" altLang="ko-KR" sz="800" dirty="0">
                <a:latin typeface="+mj-lt"/>
                <a:ea typeface="SUIT Light" pitchFamily="50" charset="-127"/>
              </a:rPr>
              <a:t>.</a:t>
            </a:r>
            <a:endParaRPr lang="ko-KR" altLang="en-US" sz="800" dirty="0">
              <a:latin typeface="+mj-lt"/>
              <a:ea typeface="SUIT Light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AB4673-34BA-95A1-E774-DFA65F80AF3A}"/>
              </a:ext>
            </a:extLst>
          </p:cNvPr>
          <p:cNvSpPr txBox="1"/>
          <p:nvPr/>
        </p:nvSpPr>
        <p:spPr>
          <a:xfrm>
            <a:off x="718481" y="3622613"/>
            <a:ext cx="1616710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sz="16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aisight </a:t>
            </a:r>
            <a:r>
              <a:rPr lang="en-US" altLang="ko-KR" sz="16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Ops</a:t>
            </a:r>
            <a:endParaRPr lang="ko-KR" sz="1600" b="1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890BA7-DC64-6A1F-F8F0-C533BB6BBFCD}"/>
              </a:ext>
            </a:extLst>
          </p:cNvPr>
          <p:cNvSpPr txBox="1"/>
          <p:nvPr/>
        </p:nvSpPr>
        <p:spPr>
          <a:xfrm>
            <a:off x="718481" y="3458898"/>
            <a:ext cx="1865630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b="1" dirty="0">
                <a:solidFill>
                  <a:srgbClr val="00E2FE"/>
                </a:solidFill>
                <a:latin typeface="SUIT ExtraBold" pitchFamily="50" charset="-127"/>
                <a:ea typeface="SUIT ExtraBold" pitchFamily="50" charset="-127"/>
              </a:rPr>
              <a:t>Control &amp; Governance Tower</a:t>
            </a:r>
            <a:endParaRPr lang="ko-KR" sz="8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44E071-0396-0165-8DC5-1654E1399086}"/>
              </a:ext>
            </a:extLst>
          </p:cNvPr>
          <p:cNvSpPr txBox="1"/>
          <p:nvPr/>
        </p:nvSpPr>
        <p:spPr>
          <a:xfrm>
            <a:off x="687009" y="3912062"/>
            <a:ext cx="2318177" cy="757672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사내외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Multi-LLM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모델의 통합 오케스트레이션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을 기반으로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검증된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고정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KPI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수식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·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가드레일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·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접근 권한을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'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분석 스킬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'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형태로 중앙 통제 및 실시간 연결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하며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사내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정성 문서의 자산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Wiki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마이그레이션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과 분석 로그 기반의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적합성 검사 및 상시 모니터링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을 수행합니다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74" name="Shape 4">
            <a:extLst>
              <a:ext uri="{FF2B5EF4-FFF2-40B4-BE49-F238E27FC236}">
                <a16:creationId xmlns:a16="http://schemas.microsoft.com/office/drawing/2014/main" id="{B31D288E-638C-3A98-F9F5-89460BEA4E0D}"/>
              </a:ext>
            </a:extLst>
          </p:cNvPr>
          <p:cNvSpPr/>
          <p:nvPr/>
        </p:nvSpPr>
        <p:spPr>
          <a:xfrm>
            <a:off x="3069967" y="3445766"/>
            <a:ext cx="5432745" cy="390556"/>
          </a:xfrm>
          <a:prstGeom prst="roundRect">
            <a:avLst>
              <a:gd name="adj" fmla="val 19388"/>
            </a:avLst>
          </a:prstGeom>
          <a:solidFill>
            <a:srgbClr val="17263B"/>
          </a:solidFill>
          <a:ln>
            <a:solidFill>
              <a:srgbClr val="222F4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5" name="Shape 4">
            <a:extLst>
              <a:ext uri="{FF2B5EF4-FFF2-40B4-BE49-F238E27FC236}">
                <a16:creationId xmlns:a16="http://schemas.microsoft.com/office/drawing/2014/main" id="{C11F88A9-4488-D6EC-0B92-CF36B3C17892}"/>
              </a:ext>
            </a:extLst>
          </p:cNvPr>
          <p:cNvSpPr/>
          <p:nvPr/>
        </p:nvSpPr>
        <p:spPr>
          <a:xfrm>
            <a:off x="3069967" y="4299231"/>
            <a:ext cx="5432745" cy="390556"/>
          </a:xfrm>
          <a:prstGeom prst="roundRect">
            <a:avLst>
              <a:gd name="adj" fmla="val 19388"/>
            </a:avLst>
          </a:prstGeom>
          <a:solidFill>
            <a:srgbClr val="17263B"/>
          </a:solidFill>
          <a:ln>
            <a:solidFill>
              <a:srgbClr val="222F4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624257-4811-634B-C33C-496E57734E24}"/>
              </a:ext>
            </a:extLst>
          </p:cNvPr>
          <p:cNvSpPr txBox="1"/>
          <p:nvPr/>
        </p:nvSpPr>
        <p:spPr>
          <a:xfrm>
            <a:off x="3106335" y="3563108"/>
            <a:ext cx="845819" cy="13801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LLM </a:t>
            </a:r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오케스트레이션</a:t>
            </a:r>
            <a:endParaRPr lang="ko-KR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25B1ECA-E923-9903-76EA-27F1466CFA10}"/>
              </a:ext>
            </a:extLst>
          </p:cNvPr>
          <p:cNvSpPr txBox="1"/>
          <p:nvPr/>
        </p:nvSpPr>
        <p:spPr>
          <a:xfrm>
            <a:off x="3116439" y="3993298"/>
            <a:ext cx="845819" cy="13801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r"/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데이터 스킬 시스템</a:t>
            </a:r>
            <a:endParaRPr lang="ko-KR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F8EDC7B-319B-8DDC-7F3E-FFEAAD30880C}"/>
              </a:ext>
            </a:extLst>
          </p:cNvPr>
          <p:cNvSpPr txBox="1"/>
          <p:nvPr/>
        </p:nvSpPr>
        <p:spPr>
          <a:xfrm>
            <a:off x="4060147" y="3518724"/>
            <a:ext cx="4379035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사내 보안용 자체 로컬 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GPU 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인프라부터 외부 상용 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API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까지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, 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서로 다른 기종의 다양한 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LLM 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모델들을 </a:t>
            </a:r>
            <a:endParaRPr lang="en-US" altLang="ko-KR" sz="800" dirty="0">
              <a:solidFill>
                <a:srgbClr val="A1C0DA"/>
              </a:solidFill>
              <a:latin typeface="+mn-ea"/>
            </a:endParaRPr>
          </a:p>
          <a:p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하나의 허브에 유연하게 연동하고 최적화하여 지휘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·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통제합니다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.</a:t>
            </a:r>
            <a:endParaRPr lang="ko-KR" altLang="en-US" sz="800" dirty="0">
              <a:solidFill>
                <a:srgbClr val="A1C0DA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A4C88B2-32B3-AB05-8F2C-B1039FAD6B73}"/>
              </a:ext>
            </a:extLst>
          </p:cNvPr>
          <p:cNvSpPr txBox="1"/>
          <p:nvPr/>
        </p:nvSpPr>
        <p:spPr>
          <a:xfrm>
            <a:off x="4060147" y="3924049"/>
            <a:ext cx="4379035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800" dirty="0">
                <a:solidFill>
                  <a:srgbClr val="A1C0DA"/>
                </a:solidFill>
              </a:rPr>
              <a:t>사전 검증한 </a:t>
            </a:r>
            <a:r>
              <a:rPr lang="en-US" altLang="ko-KR" sz="800" b="1" dirty="0">
                <a:solidFill>
                  <a:srgbClr val="A1C0DA"/>
                </a:solidFill>
              </a:rPr>
              <a:t>KPI, SQL </a:t>
            </a:r>
            <a:r>
              <a:rPr lang="ko-KR" altLang="en-US" sz="800" b="1" dirty="0">
                <a:solidFill>
                  <a:srgbClr val="A1C0DA"/>
                </a:solidFill>
              </a:rPr>
              <a:t>연산 수식과 프롬프트 가드레일</a:t>
            </a:r>
            <a:r>
              <a:rPr lang="en-US" altLang="ko-KR" sz="800" b="1" dirty="0">
                <a:solidFill>
                  <a:srgbClr val="A1C0DA"/>
                </a:solidFill>
              </a:rPr>
              <a:t>, </a:t>
            </a:r>
            <a:r>
              <a:rPr lang="ko-KR" altLang="en-US" sz="800" b="1" dirty="0">
                <a:solidFill>
                  <a:srgbClr val="A1C0DA"/>
                </a:solidFill>
              </a:rPr>
              <a:t>부서</a:t>
            </a:r>
            <a:r>
              <a:rPr lang="en-US" altLang="ko-KR" sz="800" b="1" dirty="0">
                <a:solidFill>
                  <a:srgbClr val="A1C0DA"/>
                </a:solidFill>
              </a:rPr>
              <a:t>·</a:t>
            </a:r>
            <a:r>
              <a:rPr lang="ko-KR" altLang="en-US" sz="800" b="1" dirty="0">
                <a:solidFill>
                  <a:srgbClr val="A1C0DA"/>
                </a:solidFill>
              </a:rPr>
              <a:t>직급별 데이터 접근 권한을 단일 </a:t>
            </a:r>
            <a:r>
              <a:rPr lang="en-US" altLang="ko-KR" sz="800" b="1" dirty="0">
                <a:solidFill>
                  <a:srgbClr val="A1C0DA"/>
                </a:solidFill>
              </a:rPr>
              <a:t>'</a:t>
            </a:r>
            <a:r>
              <a:rPr lang="ko-KR" altLang="en-US" sz="800" b="1" dirty="0">
                <a:solidFill>
                  <a:srgbClr val="A1C0DA"/>
                </a:solidFill>
              </a:rPr>
              <a:t>분석 스킬</a:t>
            </a:r>
            <a:r>
              <a:rPr lang="en-US" altLang="ko-KR" sz="800" b="1" dirty="0">
                <a:solidFill>
                  <a:srgbClr val="A1C0DA"/>
                </a:solidFill>
              </a:rPr>
              <a:t>' </a:t>
            </a:r>
            <a:r>
              <a:rPr lang="ko-KR" altLang="en-US" sz="800" b="1" dirty="0">
                <a:solidFill>
                  <a:srgbClr val="A1C0DA"/>
                </a:solidFill>
              </a:rPr>
              <a:t>패키지로 등록</a:t>
            </a:r>
            <a:r>
              <a:rPr lang="ko-KR" altLang="en-US" sz="800" dirty="0">
                <a:solidFill>
                  <a:srgbClr val="A1C0DA"/>
                </a:solidFill>
              </a:rPr>
              <a:t>하여 상단 엔진에 실시간 공급</a:t>
            </a:r>
            <a:r>
              <a:rPr lang="en-US" altLang="ko-KR" sz="800" dirty="0">
                <a:solidFill>
                  <a:srgbClr val="A1C0DA"/>
                </a:solidFill>
              </a:rPr>
              <a:t>(Feeding)</a:t>
            </a:r>
            <a:r>
              <a:rPr lang="ko-KR" altLang="en-US" sz="800" dirty="0">
                <a:solidFill>
                  <a:srgbClr val="A1C0DA"/>
                </a:solidFill>
              </a:rPr>
              <a:t>함으로써 </a:t>
            </a:r>
            <a:r>
              <a:rPr lang="en-US" altLang="ko-KR" sz="800" dirty="0">
                <a:solidFill>
                  <a:srgbClr val="A1C0DA"/>
                </a:solidFill>
              </a:rPr>
              <a:t>LLM</a:t>
            </a:r>
            <a:r>
              <a:rPr lang="ko-KR" altLang="en-US" sz="800" dirty="0">
                <a:solidFill>
                  <a:srgbClr val="A1C0DA"/>
                </a:solidFill>
              </a:rPr>
              <a:t>의 수치 환각을 원천 차단합니다</a:t>
            </a:r>
            <a:r>
              <a:rPr lang="en-US" altLang="ko-KR" sz="800" dirty="0">
                <a:solidFill>
                  <a:srgbClr val="A1C0DA"/>
                </a:solidFill>
              </a:rPr>
              <a:t>.</a:t>
            </a:r>
            <a:endParaRPr lang="ko-KR" altLang="en-US" sz="800" dirty="0">
              <a:solidFill>
                <a:srgbClr val="A1C0DA"/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CE66002-AE3C-1690-C35D-BC22B1E7BAC5}"/>
              </a:ext>
            </a:extLst>
          </p:cNvPr>
          <p:cNvSpPr txBox="1"/>
          <p:nvPr/>
        </p:nvSpPr>
        <p:spPr>
          <a:xfrm>
            <a:off x="3069967" y="4413358"/>
            <a:ext cx="892291" cy="13801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r"/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정성</a:t>
            </a:r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·</a:t>
            </a:r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정량 데이터 통합</a:t>
            </a:r>
            <a:endParaRPr lang="ko-KR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5FA35C0-7BC5-8C92-C495-6446282D6D95}"/>
              </a:ext>
            </a:extLst>
          </p:cNvPr>
          <p:cNvSpPr txBox="1"/>
          <p:nvPr/>
        </p:nvSpPr>
        <p:spPr>
          <a:xfrm>
            <a:off x="4070252" y="4368974"/>
            <a:ext cx="4432460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800" b="1" dirty="0">
                <a:solidFill>
                  <a:srgbClr val="A1C0DA"/>
                </a:solidFill>
              </a:rPr>
              <a:t>사내 기존 문서와 업무 매뉴얼</a:t>
            </a:r>
            <a:r>
              <a:rPr lang="ko-KR" altLang="en-US" sz="800" dirty="0">
                <a:solidFill>
                  <a:srgbClr val="A1C0DA"/>
                </a:solidFill>
              </a:rPr>
              <a:t>을 마크다운 규격으로 </a:t>
            </a:r>
            <a:r>
              <a:rPr lang="ko-KR" altLang="en-US" sz="800" b="1" dirty="0">
                <a:solidFill>
                  <a:srgbClr val="A1C0DA"/>
                </a:solidFill>
              </a:rPr>
              <a:t>자동 마이그레이션</a:t>
            </a:r>
            <a:r>
              <a:rPr lang="ko-KR" altLang="en-US" sz="800" dirty="0">
                <a:solidFill>
                  <a:srgbClr val="A1C0DA"/>
                </a:solidFill>
              </a:rPr>
              <a:t>하여 </a:t>
            </a:r>
            <a:r>
              <a:rPr lang="en-US" altLang="ko-KR" sz="800" dirty="0">
                <a:solidFill>
                  <a:srgbClr val="A1C0DA"/>
                </a:solidFill>
              </a:rPr>
              <a:t>Ops</a:t>
            </a:r>
            <a:r>
              <a:rPr lang="ko-KR" altLang="en-US" sz="800" dirty="0">
                <a:solidFill>
                  <a:srgbClr val="A1C0DA"/>
                </a:solidFill>
              </a:rPr>
              <a:t>에서 관리 가능한 상태로 만들고</a:t>
            </a:r>
            <a:r>
              <a:rPr lang="en-US" altLang="ko-KR" sz="800" dirty="0">
                <a:solidFill>
                  <a:srgbClr val="A1C0DA"/>
                </a:solidFill>
              </a:rPr>
              <a:t> AI</a:t>
            </a:r>
            <a:r>
              <a:rPr lang="ko-KR" altLang="en-US" sz="800" dirty="0">
                <a:solidFill>
                  <a:srgbClr val="A1C0DA"/>
                </a:solidFill>
              </a:rPr>
              <a:t>가 즉시 이해하고 맥락을 추론할 수 있는 </a:t>
            </a:r>
            <a:r>
              <a:rPr lang="ko-KR" altLang="en-US" sz="800" b="1" dirty="0">
                <a:solidFill>
                  <a:srgbClr val="A1C0DA"/>
                </a:solidFill>
              </a:rPr>
              <a:t>핵심 지식 자산 </a:t>
            </a:r>
            <a:r>
              <a:rPr lang="en-US" altLang="ko-KR" sz="800" b="1" dirty="0">
                <a:solidFill>
                  <a:srgbClr val="A1C0DA"/>
                </a:solidFill>
              </a:rPr>
              <a:t>Wiki</a:t>
            </a:r>
            <a:r>
              <a:rPr lang="ko-KR" altLang="en-US" sz="800" dirty="0">
                <a:solidFill>
                  <a:srgbClr val="A1C0DA"/>
                </a:solidFill>
              </a:rPr>
              <a:t>로 활용합니다</a:t>
            </a:r>
            <a:r>
              <a:rPr lang="en-US" altLang="ko-KR" sz="800" dirty="0">
                <a:solidFill>
                  <a:srgbClr val="A1C0DA"/>
                </a:solidFill>
              </a:rPr>
              <a:t>.</a:t>
            </a:r>
            <a:endParaRPr lang="ko-KR" altLang="en-US" sz="800" dirty="0">
              <a:solidFill>
                <a:srgbClr val="A1C0DA"/>
              </a:solidFill>
              <a:latin typeface="SUIT Light" pitchFamily="50" charset="-127"/>
              <a:ea typeface="SUIT Light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2EDB8CD-903C-C5B3-51DE-99B8A2D14595}"/>
              </a:ext>
            </a:extLst>
          </p:cNvPr>
          <p:cNvGrpSpPr/>
          <p:nvPr/>
        </p:nvGrpSpPr>
        <p:grpSpPr>
          <a:xfrm>
            <a:off x="3906434" y="1316732"/>
            <a:ext cx="1395657" cy="283636"/>
            <a:chOff x="3301100" y="1473305"/>
            <a:chExt cx="1395657" cy="2836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2279715-4EAB-4C0E-D011-2052328D283E}"/>
                </a:ext>
              </a:extLst>
            </p:cNvPr>
            <p:cNvSpPr/>
            <p:nvPr/>
          </p:nvSpPr>
          <p:spPr>
            <a:xfrm>
              <a:off x="3301100" y="1494617"/>
              <a:ext cx="1395657" cy="223773"/>
            </a:xfrm>
            <a:prstGeom prst="roundRect">
              <a:avLst>
                <a:gd name="adj" fmla="val 4051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Google Shape;154;p13">
              <a:extLst>
                <a:ext uri="{FF2B5EF4-FFF2-40B4-BE49-F238E27FC236}">
                  <a16:creationId xmlns:a16="http://schemas.microsoft.com/office/drawing/2014/main" id="{DDBB92ED-04D1-2907-3D9D-89D0E1F201A8}"/>
                </a:ext>
              </a:extLst>
            </p:cNvPr>
            <p:cNvSpPr txBox="1"/>
            <p:nvPr/>
          </p:nvSpPr>
          <p:spPr>
            <a:xfrm>
              <a:off x="3552353" y="1533848"/>
              <a:ext cx="11444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050" b="1" dirty="0" err="1">
                  <a:latin typeface="SUIT ExtraBold" pitchFamily="50" charset="-127"/>
                  <a:ea typeface="SUIT ExtraBold" pitchFamily="50" charset="-127"/>
                  <a:cs typeface="SUIT"/>
                  <a:sym typeface="SUIT"/>
                </a:rPr>
                <a:t>aisight</a:t>
              </a:r>
              <a:r>
                <a:rPr lang="en-US" sz="1050" b="1" dirty="0">
                  <a:latin typeface="SUIT ExtraBold" pitchFamily="50" charset="-127"/>
                  <a:ea typeface="SUIT ExtraBold" pitchFamily="50" charset="-127"/>
                  <a:cs typeface="SUIT"/>
                  <a:sym typeface="SUIT"/>
                </a:rPr>
                <a:t> Products</a:t>
              </a:r>
              <a:endParaRPr sz="2400" dirty="0">
                <a:latin typeface="SUIT ExtraBold" pitchFamily="50" charset="-127"/>
                <a:ea typeface="SUIT ExtraBold" pitchFamily="50" charset="-127"/>
              </a:endParaRPr>
            </a:p>
          </p:txBody>
        </p: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25A970CC-0D2C-1538-A4F5-622185ADE3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1204" y="1473305"/>
              <a:ext cx="260350" cy="283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" name="그래픽 47" descr="위쪽 화살표 단색으로 채워진">
            <a:extLst>
              <a:ext uri="{FF2B5EF4-FFF2-40B4-BE49-F238E27FC236}">
                <a16:creationId xmlns:a16="http://schemas.microsoft.com/office/drawing/2014/main" id="{52BD6CBF-F5DE-9143-404D-2DF8B9CB1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7481" y="3074459"/>
            <a:ext cx="206379" cy="144000"/>
          </a:xfrm>
          <a:prstGeom prst="rect">
            <a:avLst/>
          </a:prstGeom>
        </p:spPr>
      </p:pic>
      <p:pic>
        <p:nvPicPr>
          <p:cNvPr id="65" name="그래픽 64" descr="위쪽 화살표 단색으로 채워진">
            <a:extLst>
              <a:ext uri="{FF2B5EF4-FFF2-40B4-BE49-F238E27FC236}">
                <a16:creationId xmlns:a16="http://schemas.microsoft.com/office/drawing/2014/main" id="{9AC6A1AE-6687-B89D-B947-51345F020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739113" y="3081207"/>
            <a:ext cx="206379" cy="1440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70ABE05-43B6-06D9-C25A-3145D15DA369}"/>
              </a:ext>
            </a:extLst>
          </p:cNvPr>
          <p:cNvSpPr txBox="1"/>
          <p:nvPr/>
        </p:nvSpPr>
        <p:spPr>
          <a:xfrm>
            <a:off x="730801" y="1817974"/>
            <a:ext cx="2399473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ko-KR" sz="1400" b="1" dirty="0" err="1"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ko-KR" altLang="ko-KR" sz="1400" b="1" dirty="0"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en-US" altLang="ko-KR" sz="1400" b="1" dirty="0">
                <a:latin typeface="SUIT ExtraBold" pitchFamily="50" charset="-127"/>
                <a:ea typeface="SUIT ExtraBold" pitchFamily="50" charset="-127"/>
              </a:rPr>
              <a:t>Work Space</a:t>
            </a:r>
            <a:endParaRPr lang="ko-KR" altLang="ko-KR" sz="1400" b="1" dirty="0"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1DB9B8-1741-3217-F7ED-2533E4B6BB44}"/>
              </a:ext>
            </a:extLst>
          </p:cNvPr>
          <p:cNvSpPr txBox="1"/>
          <p:nvPr/>
        </p:nvSpPr>
        <p:spPr>
          <a:xfrm>
            <a:off x="735007" y="2057408"/>
            <a:ext cx="1865630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b="1" dirty="0">
                <a:solidFill>
                  <a:srgbClr val="696C8A"/>
                </a:solidFill>
                <a:latin typeface="SUIT Light" pitchFamily="50" charset="-127"/>
                <a:ea typeface="SUIT Light" pitchFamily="50" charset="-127"/>
              </a:rPr>
              <a:t>Collaboration Experience Portal</a:t>
            </a:r>
            <a:endParaRPr lang="ko-KR" altLang="ko-KR" sz="800" b="1" dirty="0">
              <a:solidFill>
                <a:srgbClr val="696C8A"/>
              </a:solidFill>
              <a:latin typeface="SUIT Light" pitchFamily="50" charset="-127"/>
              <a:ea typeface="SUIT Light" pitchFamily="50" charset="-127"/>
            </a:endParaRPr>
          </a:p>
        </p:txBody>
      </p:sp>
      <p:cxnSp>
        <p:nvCxnSpPr>
          <p:cNvPr id="102" name="Connector 32">
            <a:extLst>
              <a:ext uri="{FF2B5EF4-FFF2-40B4-BE49-F238E27FC236}">
                <a16:creationId xmlns:a16="http://schemas.microsoft.com/office/drawing/2014/main" id="{7B343370-F174-EE2C-18DB-1087FDD61377}"/>
              </a:ext>
            </a:extLst>
          </p:cNvPr>
          <p:cNvCxnSpPr>
            <a:cxnSpLocks/>
          </p:cNvCxnSpPr>
          <p:nvPr/>
        </p:nvCxnSpPr>
        <p:spPr>
          <a:xfrm>
            <a:off x="718481" y="2275360"/>
            <a:ext cx="2342211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hape 4">
            <a:extLst>
              <a:ext uri="{FF2B5EF4-FFF2-40B4-BE49-F238E27FC236}">
                <a16:creationId xmlns:a16="http://schemas.microsoft.com/office/drawing/2014/main" id="{2F52C316-CFAB-F35D-50D5-72DBDBF10ABE}"/>
              </a:ext>
            </a:extLst>
          </p:cNvPr>
          <p:cNvSpPr/>
          <p:nvPr/>
        </p:nvSpPr>
        <p:spPr>
          <a:xfrm rot="10800000">
            <a:off x="3202177" y="1735285"/>
            <a:ext cx="2651992" cy="746567"/>
          </a:xfrm>
          <a:prstGeom prst="roundRect">
            <a:avLst>
              <a:gd name="adj" fmla="val 7775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4628542C-FC34-DFDA-359A-92561E4F16D8}"/>
              </a:ext>
            </a:extLst>
          </p:cNvPr>
          <p:cNvSpPr/>
          <p:nvPr/>
        </p:nvSpPr>
        <p:spPr>
          <a:xfrm rot="10800000">
            <a:off x="3193387" y="2544343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pic>
        <p:nvPicPr>
          <p:cNvPr id="53" name="그래픽 52" descr="자막 단색으로 채워진">
            <a:extLst>
              <a:ext uri="{FF2B5EF4-FFF2-40B4-BE49-F238E27FC236}">
                <a16:creationId xmlns:a16="http://schemas.microsoft.com/office/drawing/2014/main" id="{7C0E7C50-D740-AB49-9602-D42081707E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7669" y="1802513"/>
            <a:ext cx="245151" cy="21467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2DA75207-A26A-11F4-49CE-CECB856DB060}"/>
              </a:ext>
            </a:extLst>
          </p:cNvPr>
          <p:cNvSpPr txBox="1"/>
          <p:nvPr/>
        </p:nvSpPr>
        <p:spPr>
          <a:xfrm>
            <a:off x="3528700" y="1800096"/>
            <a:ext cx="1600379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1000" b="1" dirty="0">
                <a:latin typeface="+mn-ea"/>
              </a:rPr>
              <a:t>대화형 </a:t>
            </a:r>
            <a:r>
              <a:rPr lang="ko-KR" altLang="en-US" sz="1000" b="1" dirty="0" err="1">
                <a:latin typeface="+mn-ea"/>
              </a:rPr>
              <a:t>챗봇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- </a:t>
            </a:r>
            <a:r>
              <a:rPr lang="ko-KR" sz="1000" b="1" dirty="0" err="1">
                <a:latin typeface="+mn-ea"/>
              </a:rPr>
              <a:t>Agent</a:t>
            </a:r>
            <a:endParaRPr lang="ko-KR" sz="1000" b="1" dirty="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6CDCE4-52DA-E70A-AEC8-CB558526FA3F}"/>
              </a:ext>
            </a:extLst>
          </p:cNvPr>
          <p:cNvSpPr txBox="1"/>
          <p:nvPr/>
        </p:nvSpPr>
        <p:spPr>
          <a:xfrm>
            <a:off x="3267668" y="2035661"/>
            <a:ext cx="2554959" cy="39962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질의와 현재 질문에 연관된 대시보드를 인식해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최적 스킬을 자동 선택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연속 시나리오 분석과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BYOD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데이터 업로드 분석 및 외부 소스 연계 추론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을 지원합니다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anose="020F0302020204030204"/>
              <a:ea typeface="SUIT Light" pitchFamily="50" charset="-127"/>
            </a:endParaRPr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38852DAF-BCBD-E278-5CBD-59474EF3291B}"/>
              </a:ext>
            </a:extLst>
          </p:cNvPr>
          <p:cNvSpPr/>
          <p:nvPr/>
        </p:nvSpPr>
        <p:spPr>
          <a:xfrm rot="10800000">
            <a:off x="5900625" y="1735285"/>
            <a:ext cx="2659954" cy="746567"/>
          </a:xfrm>
          <a:prstGeom prst="roundRect">
            <a:avLst>
              <a:gd name="adj" fmla="val 7775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669915-9604-3BBE-DC61-BA5D2FE46B68}"/>
              </a:ext>
            </a:extLst>
          </p:cNvPr>
          <p:cNvSpPr txBox="1"/>
          <p:nvPr/>
        </p:nvSpPr>
        <p:spPr>
          <a:xfrm>
            <a:off x="6227149" y="1800096"/>
            <a:ext cx="2045123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1000" b="1" dirty="0">
                <a:latin typeface="+mn-ea"/>
              </a:rPr>
              <a:t>지능형 자산 생성</a:t>
            </a:r>
          </a:p>
        </p:txBody>
      </p:sp>
      <p:pic>
        <p:nvPicPr>
          <p:cNvPr id="73" name="그래픽 72" descr="마법 지팡이 자동 단색으로 채워진">
            <a:extLst>
              <a:ext uri="{FF2B5EF4-FFF2-40B4-BE49-F238E27FC236}">
                <a16:creationId xmlns:a16="http://schemas.microsoft.com/office/drawing/2014/main" id="{D8BDB0DA-A7B2-AA62-9AC6-6CA14F141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1194" y="1802513"/>
            <a:ext cx="215955" cy="215955"/>
          </a:xfrm>
          <a:prstGeom prst="rect">
            <a:avLst/>
          </a:prstGeom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FF92267A-D9CC-E5CE-ECF5-291CCFBCF14A}"/>
              </a:ext>
            </a:extLst>
          </p:cNvPr>
          <p:cNvSpPr/>
          <p:nvPr/>
        </p:nvSpPr>
        <p:spPr>
          <a:xfrm rot="10800000">
            <a:off x="5983144" y="2111936"/>
            <a:ext cx="1228236" cy="257094"/>
          </a:xfrm>
          <a:prstGeom prst="roundRect">
            <a:avLst>
              <a:gd name="adj" fmla="val 1754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3B8BEA-1BD0-6298-33E0-E5D9F3B46E36}"/>
              </a:ext>
            </a:extLst>
          </p:cNvPr>
          <p:cNvSpPr txBox="1"/>
          <p:nvPr/>
        </p:nvSpPr>
        <p:spPr>
          <a:xfrm>
            <a:off x="6233848" y="2161578"/>
            <a:ext cx="960702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dirty="0">
                <a:latin typeface="+mn-ea"/>
              </a:rPr>
              <a:t>Dashboard Maker</a:t>
            </a:r>
            <a:endParaRPr lang="ko-KR" sz="800" dirty="0">
              <a:latin typeface="+mn-ea"/>
            </a:endParaRPr>
          </a:p>
        </p:txBody>
      </p:sp>
      <p:pic>
        <p:nvPicPr>
          <p:cNvPr id="44" name="그래픽 43" descr="신호 단색으로 채워진">
            <a:extLst>
              <a:ext uri="{FF2B5EF4-FFF2-40B4-BE49-F238E27FC236}">
                <a16:creationId xmlns:a16="http://schemas.microsoft.com/office/drawing/2014/main" id="{7D59A010-8295-F734-9C6A-8D16166E0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0061" y="2152225"/>
            <a:ext cx="166005" cy="166005"/>
          </a:xfrm>
          <a:prstGeom prst="rect">
            <a:avLst/>
          </a:prstGeom>
        </p:spPr>
      </p:pic>
      <p:sp>
        <p:nvSpPr>
          <p:cNvPr id="88" name="Shape 4">
            <a:extLst>
              <a:ext uri="{FF2B5EF4-FFF2-40B4-BE49-F238E27FC236}">
                <a16:creationId xmlns:a16="http://schemas.microsoft.com/office/drawing/2014/main" id="{994C4A8C-2E66-989C-03A3-BCDD1EC102F3}"/>
              </a:ext>
            </a:extLst>
          </p:cNvPr>
          <p:cNvSpPr/>
          <p:nvPr/>
        </p:nvSpPr>
        <p:spPr>
          <a:xfrm rot="10800000">
            <a:off x="7257836" y="2107865"/>
            <a:ext cx="1228236" cy="257094"/>
          </a:xfrm>
          <a:prstGeom prst="roundRect">
            <a:avLst>
              <a:gd name="adj" fmla="val 1754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C1FEC48-F66C-D9F9-38D0-91BAB8DC2A6A}"/>
              </a:ext>
            </a:extLst>
          </p:cNvPr>
          <p:cNvSpPr txBox="1"/>
          <p:nvPr/>
        </p:nvSpPr>
        <p:spPr>
          <a:xfrm>
            <a:off x="7525370" y="2157507"/>
            <a:ext cx="960702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dirty="0">
                <a:latin typeface="+mn-ea"/>
              </a:rPr>
              <a:t>DOC Automation</a:t>
            </a:r>
            <a:endParaRPr lang="ko-KR" sz="800" dirty="0">
              <a:latin typeface="+mn-ea"/>
            </a:endParaRPr>
          </a:p>
        </p:txBody>
      </p:sp>
      <p:pic>
        <p:nvPicPr>
          <p:cNvPr id="32" name="그래픽 31" descr="신문 단색으로 채워진">
            <a:extLst>
              <a:ext uri="{FF2B5EF4-FFF2-40B4-BE49-F238E27FC236}">
                <a16:creationId xmlns:a16="http://schemas.microsoft.com/office/drawing/2014/main" id="{4B402A9D-585B-3A8C-F90B-66D7205AE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4788" y="2152225"/>
            <a:ext cx="180582" cy="180582"/>
          </a:xfrm>
          <a:prstGeom prst="rect">
            <a:avLst/>
          </a:prstGeom>
        </p:spPr>
      </p:pic>
      <p:sp>
        <p:nvSpPr>
          <p:cNvPr id="105" name="Google Shape;204;p13">
            <a:extLst>
              <a:ext uri="{FF2B5EF4-FFF2-40B4-BE49-F238E27FC236}">
                <a16:creationId xmlns:a16="http://schemas.microsoft.com/office/drawing/2014/main" id="{E613F33F-F290-6A1D-BC59-25A97D5BAAF5}"/>
              </a:ext>
            </a:extLst>
          </p:cNvPr>
          <p:cNvSpPr txBox="1"/>
          <p:nvPr/>
        </p:nvSpPr>
        <p:spPr>
          <a:xfrm>
            <a:off x="3556911" y="2638581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sym typeface="SUIT"/>
              </a:rPr>
              <a:t>WIKI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sym typeface="SUIT"/>
              </a:rPr>
              <a:t>분석 </a:t>
            </a:r>
            <a:r>
              <a:rPr lang="ko-KR" altLang="en-US" sz="1000" b="1" dirty="0">
                <a:solidFill>
                  <a:prstClr val="black"/>
                </a:solidFill>
                <a:latin typeface="SUIT" pitchFamily="2" charset="-127"/>
                <a:ea typeface="SUIT" pitchFamily="2" charset="-127"/>
                <a:sym typeface="SUIT"/>
              </a:rPr>
              <a:t>조회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/>
              <a:ea typeface="SUIT"/>
            </a:endParaRPr>
          </a:p>
        </p:txBody>
      </p:sp>
      <p:sp>
        <p:nvSpPr>
          <p:cNvPr id="124" name="Shape 4">
            <a:extLst>
              <a:ext uri="{FF2B5EF4-FFF2-40B4-BE49-F238E27FC236}">
                <a16:creationId xmlns:a16="http://schemas.microsoft.com/office/drawing/2014/main" id="{3D43F7A6-7933-558E-38FD-619810BDB798}"/>
              </a:ext>
            </a:extLst>
          </p:cNvPr>
          <p:cNvSpPr/>
          <p:nvPr/>
        </p:nvSpPr>
        <p:spPr>
          <a:xfrm rot="10800000">
            <a:off x="4549952" y="2546198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9" name="Google Shape;204;p13">
            <a:extLst>
              <a:ext uri="{FF2B5EF4-FFF2-40B4-BE49-F238E27FC236}">
                <a16:creationId xmlns:a16="http://schemas.microsoft.com/office/drawing/2014/main" id="{EB0386E3-9184-ECDD-4C59-2FE9898DF043}"/>
              </a:ext>
            </a:extLst>
          </p:cNvPr>
          <p:cNvSpPr txBox="1"/>
          <p:nvPr/>
        </p:nvSpPr>
        <p:spPr>
          <a:xfrm>
            <a:off x="4913476" y="2640436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sym typeface="SUIT"/>
              </a:rPr>
              <a:t> 외부소스 연동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/>
              <a:ea typeface="SUIT"/>
            </a:endParaRPr>
          </a:p>
        </p:txBody>
      </p:sp>
      <p:sp>
        <p:nvSpPr>
          <p:cNvPr id="130" name="Shape 4">
            <a:extLst>
              <a:ext uri="{FF2B5EF4-FFF2-40B4-BE49-F238E27FC236}">
                <a16:creationId xmlns:a16="http://schemas.microsoft.com/office/drawing/2014/main" id="{DA98F56A-F696-9661-ECA3-798A5972B21F}"/>
              </a:ext>
            </a:extLst>
          </p:cNvPr>
          <p:cNvSpPr/>
          <p:nvPr/>
        </p:nvSpPr>
        <p:spPr>
          <a:xfrm rot="10800000">
            <a:off x="5902805" y="2540243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389379DD-2CE0-4C8A-E088-0D6E2616DCA2}"/>
              </a:ext>
            </a:extLst>
          </p:cNvPr>
          <p:cNvGrpSpPr/>
          <p:nvPr/>
        </p:nvGrpSpPr>
        <p:grpSpPr>
          <a:xfrm>
            <a:off x="6019749" y="2638259"/>
            <a:ext cx="188547" cy="156065"/>
            <a:chOff x="5185735" y="-401107"/>
            <a:chExt cx="875937" cy="773695"/>
          </a:xfrm>
          <a:solidFill>
            <a:srgbClr val="13CEC4"/>
          </a:solidFill>
        </p:grpSpPr>
        <p:sp>
          <p:nvSpPr>
            <p:cNvPr id="132" name="자유형: 도형 131">
              <a:extLst>
                <a:ext uri="{FF2B5EF4-FFF2-40B4-BE49-F238E27FC236}">
                  <a16:creationId xmlns:a16="http://schemas.microsoft.com/office/drawing/2014/main" id="{FA94256A-BEDB-7A33-FD09-FA6DDF8262BE}"/>
                </a:ext>
              </a:extLst>
            </p:cNvPr>
            <p:cNvSpPr/>
            <p:nvPr/>
          </p:nvSpPr>
          <p:spPr>
            <a:xfrm>
              <a:off x="5186094" y="-89596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89239911-C65A-822A-2AA0-387641FEFC1C}"/>
                </a:ext>
              </a:extLst>
            </p:cNvPr>
            <p:cNvSpPr/>
            <p:nvPr/>
          </p:nvSpPr>
          <p:spPr>
            <a:xfrm>
              <a:off x="5186096" y="-401107"/>
              <a:ext cx="875576" cy="371475"/>
            </a:xfrm>
            <a:custGeom>
              <a:avLst/>
              <a:gdLst>
                <a:gd name="csX0" fmla="*/ 437788 w 875576"/>
                <a:gd name="csY0" fmla="*/ 0 h 371475"/>
                <a:gd name="csX1" fmla="*/ 0 w 875576"/>
                <a:gd name="csY1" fmla="*/ 185738 h 371475"/>
                <a:gd name="csX2" fmla="*/ 437788 w 875576"/>
                <a:gd name="csY2" fmla="*/ 371475 h 371475"/>
                <a:gd name="csX3" fmla="*/ 875576 w 875576"/>
                <a:gd name="csY3" fmla="*/ 185738 h 371475"/>
                <a:gd name="csX4" fmla="*/ 437788 w 875576"/>
                <a:gd name="csY4" fmla="*/ 0 h 37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5576" h="371475">
                  <a:moveTo>
                    <a:pt x="437788" y="0"/>
                  </a:moveTo>
                  <a:lnTo>
                    <a:pt x="0" y="185738"/>
                  </a:lnTo>
                  <a:lnTo>
                    <a:pt x="437788" y="371475"/>
                  </a:lnTo>
                  <a:lnTo>
                    <a:pt x="875576" y="185738"/>
                  </a:lnTo>
                  <a:lnTo>
                    <a:pt x="43778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6396FCBA-EDFD-6E07-CB2D-2EDBBA8B590E}"/>
                </a:ext>
              </a:extLst>
            </p:cNvPr>
            <p:cNvSpPr/>
            <p:nvPr/>
          </p:nvSpPr>
          <p:spPr>
            <a:xfrm>
              <a:off x="5185735" y="107532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5" name="Google Shape;204;p13">
            <a:extLst>
              <a:ext uri="{FF2B5EF4-FFF2-40B4-BE49-F238E27FC236}">
                <a16:creationId xmlns:a16="http://schemas.microsoft.com/office/drawing/2014/main" id="{FE44F6B8-3DB9-7F25-A541-071866606932}"/>
              </a:ext>
            </a:extLst>
          </p:cNvPr>
          <p:cNvSpPr txBox="1"/>
          <p:nvPr/>
        </p:nvSpPr>
        <p:spPr>
          <a:xfrm>
            <a:off x="6266329" y="2634481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000" b="1" dirty="0">
                <a:latin typeface="+mj-ea"/>
                <a:ea typeface="+mj-ea"/>
                <a:sym typeface="SUIT"/>
              </a:rPr>
              <a:t>중앙 저장 및 협업</a:t>
            </a:r>
            <a:endParaRPr sz="1000" b="1" dirty="0">
              <a:latin typeface="+mj-ea"/>
              <a:ea typeface="+mj-ea"/>
            </a:endParaRPr>
          </a:p>
        </p:txBody>
      </p:sp>
      <p:sp>
        <p:nvSpPr>
          <p:cNvPr id="136" name="Shape 4">
            <a:extLst>
              <a:ext uri="{FF2B5EF4-FFF2-40B4-BE49-F238E27FC236}">
                <a16:creationId xmlns:a16="http://schemas.microsoft.com/office/drawing/2014/main" id="{88B61969-3990-E881-2EE5-C1A144846254}"/>
              </a:ext>
            </a:extLst>
          </p:cNvPr>
          <p:cNvSpPr/>
          <p:nvPr/>
        </p:nvSpPr>
        <p:spPr>
          <a:xfrm rot="10800000">
            <a:off x="7255658" y="2540243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41" name="Google Shape;204;p13">
            <a:extLst>
              <a:ext uri="{FF2B5EF4-FFF2-40B4-BE49-F238E27FC236}">
                <a16:creationId xmlns:a16="http://schemas.microsoft.com/office/drawing/2014/main" id="{90FD9CAA-5EBE-4F89-CEFA-8FF0F7658440}"/>
              </a:ext>
            </a:extLst>
          </p:cNvPr>
          <p:cNvSpPr txBox="1"/>
          <p:nvPr/>
        </p:nvSpPr>
        <p:spPr>
          <a:xfrm>
            <a:off x="7558222" y="2634481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000" b="1" dirty="0">
                <a:solidFill>
                  <a:srgbClr val="0F172A"/>
                </a:solidFill>
                <a:ea typeface="SUIT"/>
                <a:sym typeface="SUIT"/>
              </a:rPr>
              <a:t>직접 접근 및 구독</a:t>
            </a:r>
            <a:endParaRPr lang="ko-KR" altLang="en-US" sz="2000" dirty="0"/>
          </a:p>
        </p:txBody>
      </p:sp>
      <p:sp>
        <p:nvSpPr>
          <p:cNvPr id="143" name="그래픽 190" descr="보내다 단색으로 채워진">
            <a:extLst>
              <a:ext uri="{FF2B5EF4-FFF2-40B4-BE49-F238E27FC236}">
                <a16:creationId xmlns:a16="http://schemas.microsoft.com/office/drawing/2014/main" id="{60E9D842-699C-5A9C-0328-221D8908E8BB}"/>
              </a:ext>
            </a:extLst>
          </p:cNvPr>
          <p:cNvSpPr/>
          <p:nvPr/>
        </p:nvSpPr>
        <p:spPr>
          <a:xfrm>
            <a:off x="7343970" y="2653045"/>
            <a:ext cx="174430" cy="115322"/>
          </a:xfrm>
          <a:custGeom>
            <a:avLst/>
            <a:gdLst>
              <a:gd name="csX0" fmla="*/ 632460 w 763098"/>
              <a:gd name="csY0" fmla="*/ 593298 h 705470"/>
              <a:gd name="csX1" fmla="*/ 461010 w 763098"/>
              <a:gd name="csY1" fmla="*/ 534243 h 705470"/>
              <a:gd name="csX2" fmla="*/ 460058 w 763098"/>
              <a:gd name="csY2" fmla="*/ 534243 h 705470"/>
              <a:gd name="csX3" fmla="*/ 391478 w 763098"/>
              <a:gd name="csY3" fmla="*/ 510431 h 705470"/>
              <a:gd name="csX4" fmla="*/ 712470 w 763098"/>
              <a:gd name="csY4" fmla="*/ 86568 h 705470"/>
              <a:gd name="csX5" fmla="*/ 632460 w 763098"/>
              <a:gd name="csY5" fmla="*/ 593298 h 705470"/>
              <a:gd name="csX6" fmla="*/ 418148 w 763098"/>
              <a:gd name="csY6" fmla="*/ 560913 h 705470"/>
              <a:gd name="csX7" fmla="*/ 355283 w 763098"/>
              <a:gd name="csY7" fmla="*/ 623778 h 705470"/>
              <a:gd name="csX8" fmla="*/ 372428 w 763098"/>
              <a:gd name="csY8" fmla="*/ 545673 h 705470"/>
              <a:gd name="csX9" fmla="*/ 418148 w 763098"/>
              <a:gd name="csY9" fmla="*/ 560913 h 705470"/>
              <a:gd name="csX10" fmla="*/ 418148 w 763098"/>
              <a:gd name="csY10" fmla="*/ 560913 h 705470"/>
              <a:gd name="csX11" fmla="*/ 341948 w 763098"/>
              <a:gd name="csY11" fmla="*/ 512336 h 705470"/>
              <a:gd name="csX12" fmla="*/ 338138 w 763098"/>
              <a:gd name="csY12" fmla="*/ 519956 h 705470"/>
              <a:gd name="csX13" fmla="*/ 335280 w 763098"/>
              <a:gd name="csY13" fmla="*/ 532338 h 705470"/>
              <a:gd name="csX14" fmla="*/ 316230 w 763098"/>
              <a:gd name="csY14" fmla="*/ 619016 h 705470"/>
              <a:gd name="csX15" fmla="*/ 270510 w 763098"/>
              <a:gd name="csY15" fmla="*/ 485666 h 705470"/>
              <a:gd name="csX16" fmla="*/ 626745 w 763098"/>
              <a:gd name="csY16" fmla="*/ 142766 h 705470"/>
              <a:gd name="csX17" fmla="*/ 353378 w 763098"/>
              <a:gd name="csY17" fmla="*/ 498048 h 705470"/>
              <a:gd name="csX18" fmla="*/ 341948 w 763098"/>
              <a:gd name="csY18" fmla="*/ 512336 h 705470"/>
              <a:gd name="csX19" fmla="*/ 66675 w 763098"/>
              <a:gd name="csY19" fmla="*/ 399941 h 705470"/>
              <a:gd name="csX20" fmla="*/ 624840 w 763098"/>
              <a:gd name="csY20" fmla="*/ 102761 h 705470"/>
              <a:gd name="csX21" fmla="*/ 242888 w 763098"/>
              <a:gd name="csY21" fmla="*/ 459948 h 705470"/>
              <a:gd name="csX22" fmla="*/ 66675 w 763098"/>
              <a:gd name="csY22" fmla="*/ 399941 h 705470"/>
              <a:gd name="csX23" fmla="*/ 754380 w 763098"/>
              <a:gd name="csY23" fmla="*/ 3701 h 705470"/>
              <a:gd name="csX24" fmla="*/ 733425 w 763098"/>
              <a:gd name="csY24" fmla="*/ 2748 h 705470"/>
              <a:gd name="csX25" fmla="*/ 10478 w 763098"/>
              <a:gd name="csY25" fmla="*/ 386606 h 705470"/>
              <a:gd name="csX26" fmla="*/ 0 w 763098"/>
              <a:gd name="csY26" fmla="*/ 404703 h 705470"/>
              <a:gd name="csX27" fmla="*/ 12383 w 763098"/>
              <a:gd name="csY27" fmla="*/ 420896 h 705470"/>
              <a:gd name="csX28" fmla="*/ 210503 w 763098"/>
              <a:gd name="csY28" fmla="*/ 488523 h 705470"/>
              <a:gd name="csX29" fmla="*/ 235268 w 763098"/>
              <a:gd name="csY29" fmla="*/ 497096 h 705470"/>
              <a:gd name="csX30" fmla="*/ 240983 w 763098"/>
              <a:gd name="csY30" fmla="*/ 513288 h 705470"/>
              <a:gd name="csX31" fmla="*/ 300038 w 763098"/>
              <a:gd name="csY31" fmla="*/ 690453 h 705470"/>
              <a:gd name="csX32" fmla="*/ 300038 w 763098"/>
              <a:gd name="csY32" fmla="*/ 691406 h 705470"/>
              <a:gd name="csX33" fmla="*/ 300038 w 763098"/>
              <a:gd name="csY33" fmla="*/ 692358 h 705470"/>
              <a:gd name="csX34" fmla="*/ 314325 w 763098"/>
              <a:gd name="csY34" fmla="*/ 704741 h 705470"/>
              <a:gd name="csX35" fmla="*/ 332423 w 763098"/>
              <a:gd name="csY35" fmla="*/ 699978 h 705470"/>
              <a:gd name="csX36" fmla="*/ 333375 w 763098"/>
              <a:gd name="csY36" fmla="*/ 699026 h 705470"/>
              <a:gd name="csX37" fmla="*/ 339090 w 763098"/>
              <a:gd name="csY37" fmla="*/ 693311 h 705470"/>
              <a:gd name="csX38" fmla="*/ 459105 w 763098"/>
              <a:gd name="csY38" fmla="*/ 575201 h 705470"/>
              <a:gd name="csX39" fmla="*/ 641985 w 763098"/>
              <a:gd name="csY39" fmla="*/ 638066 h 705470"/>
              <a:gd name="csX40" fmla="*/ 658178 w 763098"/>
              <a:gd name="csY40" fmla="*/ 636161 h 705470"/>
              <a:gd name="csX41" fmla="*/ 667703 w 763098"/>
              <a:gd name="csY41" fmla="*/ 622826 h 705470"/>
              <a:gd name="csX42" fmla="*/ 762953 w 763098"/>
              <a:gd name="csY42" fmla="*/ 22751 h 705470"/>
              <a:gd name="csX43" fmla="*/ 754380 w 763098"/>
              <a:gd name="csY43" fmla="*/ 3701 h 705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763098" h="705470">
                <a:moveTo>
                  <a:pt x="632460" y="593298"/>
                </a:moveTo>
                <a:lnTo>
                  <a:pt x="461010" y="534243"/>
                </a:lnTo>
                <a:lnTo>
                  <a:pt x="460058" y="534243"/>
                </a:lnTo>
                <a:lnTo>
                  <a:pt x="391478" y="510431"/>
                </a:lnTo>
                <a:lnTo>
                  <a:pt x="712470" y="86568"/>
                </a:lnTo>
                <a:lnTo>
                  <a:pt x="632460" y="593298"/>
                </a:lnTo>
                <a:close/>
                <a:moveTo>
                  <a:pt x="418148" y="560913"/>
                </a:moveTo>
                <a:lnTo>
                  <a:pt x="355283" y="623778"/>
                </a:lnTo>
                <a:lnTo>
                  <a:pt x="372428" y="545673"/>
                </a:lnTo>
                <a:lnTo>
                  <a:pt x="418148" y="560913"/>
                </a:lnTo>
                <a:lnTo>
                  <a:pt x="418148" y="560913"/>
                </a:lnTo>
                <a:close/>
                <a:moveTo>
                  <a:pt x="341948" y="512336"/>
                </a:moveTo>
                <a:cubicBezTo>
                  <a:pt x="340043" y="514241"/>
                  <a:pt x="339090" y="517098"/>
                  <a:pt x="338138" y="519956"/>
                </a:cubicBezTo>
                <a:lnTo>
                  <a:pt x="335280" y="532338"/>
                </a:lnTo>
                <a:lnTo>
                  <a:pt x="316230" y="619016"/>
                </a:lnTo>
                <a:lnTo>
                  <a:pt x="270510" y="485666"/>
                </a:lnTo>
                <a:lnTo>
                  <a:pt x="626745" y="142766"/>
                </a:lnTo>
                <a:lnTo>
                  <a:pt x="353378" y="498048"/>
                </a:lnTo>
                <a:lnTo>
                  <a:pt x="341948" y="512336"/>
                </a:lnTo>
                <a:close/>
                <a:moveTo>
                  <a:pt x="66675" y="399941"/>
                </a:moveTo>
                <a:lnTo>
                  <a:pt x="624840" y="102761"/>
                </a:lnTo>
                <a:lnTo>
                  <a:pt x="242888" y="459948"/>
                </a:lnTo>
                <a:lnTo>
                  <a:pt x="66675" y="399941"/>
                </a:lnTo>
                <a:close/>
                <a:moveTo>
                  <a:pt x="754380" y="3701"/>
                </a:moveTo>
                <a:cubicBezTo>
                  <a:pt x="748665" y="-1062"/>
                  <a:pt x="740093" y="-1062"/>
                  <a:pt x="733425" y="2748"/>
                </a:cubicBezTo>
                <a:lnTo>
                  <a:pt x="10478" y="386606"/>
                </a:lnTo>
                <a:cubicBezTo>
                  <a:pt x="3810" y="390416"/>
                  <a:pt x="0" y="397083"/>
                  <a:pt x="0" y="404703"/>
                </a:cubicBezTo>
                <a:cubicBezTo>
                  <a:pt x="0" y="412323"/>
                  <a:pt x="5715" y="418991"/>
                  <a:pt x="12383" y="420896"/>
                </a:cubicBezTo>
                <a:lnTo>
                  <a:pt x="210503" y="488523"/>
                </a:lnTo>
                <a:lnTo>
                  <a:pt x="235268" y="497096"/>
                </a:lnTo>
                <a:lnTo>
                  <a:pt x="240983" y="513288"/>
                </a:lnTo>
                <a:lnTo>
                  <a:pt x="300038" y="690453"/>
                </a:lnTo>
                <a:lnTo>
                  <a:pt x="300038" y="691406"/>
                </a:lnTo>
                <a:lnTo>
                  <a:pt x="300038" y="692358"/>
                </a:lnTo>
                <a:cubicBezTo>
                  <a:pt x="301943" y="698073"/>
                  <a:pt x="307658" y="702836"/>
                  <a:pt x="314325" y="704741"/>
                </a:cubicBezTo>
                <a:cubicBezTo>
                  <a:pt x="320993" y="706646"/>
                  <a:pt x="327660" y="704741"/>
                  <a:pt x="332423" y="699978"/>
                </a:cubicBezTo>
                <a:lnTo>
                  <a:pt x="333375" y="699026"/>
                </a:lnTo>
                <a:lnTo>
                  <a:pt x="339090" y="693311"/>
                </a:lnTo>
                <a:lnTo>
                  <a:pt x="459105" y="575201"/>
                </a:lnTo>
                <a:lnTo>
                  <a:pt x="641985" y="638066"/>
                </a:lnTo>
                <a:cubicBezTo>
                  <a:pt x="647700" y="639971"/>
                  <a:pt x="653415" y="639018"/>
                  <a:pt x="658178" y="636161"/>
                </a:cubicBezTo>
                <a:cubicBezTo>
                  <a:pt x="662940" y="633303"/>
                  <a:pt x="666750" y="628541"/>
                  <a:pt x="667703" y="622826"/>
                </a:cubicBezTo>
                <a:lnTo>
                  <a:pt x="762953" y="22751"/>
                </a:lnTo>
                <a:cubicBezTo>
                  <a:pt x="763905" y="14178"/>
                  <a:pt x="760095" y="7511"/>
                  <a:pt x="754380" y="3701"/>
                </a:cubicBezTo>
                <a:close/>
              </a:path>
            </a:pathLst>
          </a:custGeom>
          <a:solidFill>
            <a:srgbClr val="13CEC4"/>
          </a:solidFill>
          <a:ln w="9525" cap="flat">
            <a:solidFill>
              <a:srgbClr val="13CEC4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E7D3AA05-DB2C-94B5-E587-A8679B6AA114}"/>
              </a:ext>
            </a:extLst>
          </p:cNvPr>
          <p:cNvGrpSpPr/>
          <p:nvPr/>
        </p:nvGrpSpPr>
        <p:grpSpPr>
          <a:xfrm>
            <a:off x="4707743" y="2641467"/>
            <a:ext cx="152181" cy="152373"/>
            <a:chOff x="1005585" y="2172863"/>
            <a:chExt cx="235386" cy="235683"/>
          </a:xfrm>
          <a:solidFill>
            <a:srgbClr val="13CEC4"/>
          </a:solidFill>
        </p:grpSpPr>
        <p:sp>
          <p:nvSpPr>
            <p:cNvPr id="145" name="자유형: 도형 144">
              <a:extLst>
                <a:ext uri="{FF2B5EF4-FFF2-40B4-BE49-F238E27FC236}">
                  <a16:creationId xmlns:a16="http://schemas.microsoft.com/office/drawing/2014/main" id="{845E0EF5-DF48-6B8F-4F07-06BD7C04A2E0}"/>
                </a:ext>
              </a:extLst>
            </p:cNvPr>
            <p:cNvSpPr/>
            <p:nvPr/>
          </p:nvSpPr>
          <p:spPr>
            <a:xfrm>
              <a:off x="1005585" y="2172863"/>
              <a:ext cx="235386" cy="235683"/>
            </a:xfrm>
            <a:custGeom>
              <a:avLst/>
              <a:gdLst>
                <a:gd name="csX0" fmla="*/ 192474 w 235386"/>
                <a:gd name="csY0" fmla="*/ 163023 h 235683"/>
                <a:gd name="csX1" fmla="*/ 174030 w 235386"/>
                <a:gd name="csY1" fmla="*/ 157371 h 235683"/>
                <a:gd name="csX2" fmla="*/ 160643 w 235386"/>
                <a:gd name="csY2" fmla="*/ 144282 h 235683"/>
                <a:gd name="csX3" fmla="*/ 179087 w 235386"/>
                <a:gd name="csY3" fmla="*/ 90139 h 235683"/>
                <a:gd name="csX4" fmla="*/ 89842 w 235386"/>
                <a:gd name="csY4" fmla="*/ 2 h 235683"/>
                <a:gd name="csX5" fmla="*/ 2 w 235386"/>
                <a:gd name="csY5" fmla="*/ 89247 h 235683"/>
                <a:gd name="csX6" fmla="*/ 89247 w 235386"/>
                <a:gd name="csY6" fmla="*/ 179087 h 235683"/>
                <a:gd name="csX7" fmla="*/ 143984 w 235386"/>
                <a:gd name="csY7" fmla="*/ 160643 h 235683"/>
                <a:gd name="csX8" fmla="*/ 157073 w 235386"/>
                <a:gd name="csY8" fmla="*/ 173733 h 235683"/>
                <a:gd name="csX9" fmla="*/ 162726 w 235386"/>
                <a:gd name="csY9" fmla="*/ 192474 h 235683"/>
                <a:gd name="csX10" fmla="*/ 199911 w 235386"/>
                <a:gd name="csY10" fmla="*/ 229660 h 235683"/>
                <a:gd name="csX11" fmla="*/ 229362 w 235386"/>
                <a:gd name="csY11" fmla="*/ 229660 h 235683"/>
                <a:gd name="csX12" fmla="*/ 229362 w 235386"/>
                <a:gd name="csY12" fmla="*/ 200209 h 235683"/>
                <a:gd name="csX13" fmla="*/ 192474 w 235386"/>
                <a:gd name="csY13" fmla="*/ 163023 h 235683"/>
                <a:gd name="csX14" fmla="*/ 89842 w 235386"/>
                <a:gd name="csY14" fmla="*/ 161238 h 235683"/>
                <a:gd name="csX15" fmla="*/ 18446 w 235386"/>
                <a:gd name="csY15" fmla="*/ 89842 h 235683"/>
                <a:gd name="csX16" fmla="*/ 89842 w 235386"/>
                <a:gd name="csY16" fmla="*/ 18446 h 235683"/>
                <a:gd name="csX17" fmla="*/ 161238 w 235386"/>
                <a:gd name="csY17" fmla="*/ 89842 h 235683"/>
                <a:gd name="csX18" fmla="*/ 89842 w 235386"/>
                <a:gd name="csY18" fmla="*/ 161238 h 235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35386" h="235683">
                  <a:moveTo>
                    <a:pt x="192474" y="163023"/>
                  </a:moveTo>
                  <a:cubicBezTo>
                    <a:pt x="187714" y="158263"/>
                    <a:pt x="180575" y="155883"/>
                    <a:pt x="174030" y="157371"/>
                  </a:cubicBezTo>
                  <a:lnTo>
                    <a:pt x="160643" y="144282"/>
                  </a:lnTo>
                  <a:cubicBezTo>
                    <a:pt x="172543" y="128812"/>
                    <a:pt x="179087" y="109773"/>
                    <a:pt x="179087" y="90139"/>
                  </a:cubicBezTo>
                  <a:cubicBezTo>
                    <a:pt x="179385" y="40460"/>
                    <a:pt x="139224" y="299"/>
                    <a:pt x="89842" y="2"/>
                  </a:cubicBezTo>
                  <a:cubicBezTo>
                    <a:pt x="40460" y="-296"/>
                    <a:pt x="299" y="39865"/>
                    <a:pt x="2" y="89247"/>
                  </a:cubicBezTo>
                  <a:cubicBezTo>
                    <a:pt x="-296" y="138629"/>
                    <a:pt x="39865" y="178790"/>
                    <a:pt x="89247" y="179087"/>
                  </a:cubicBezTo>
                  <a:cubicBezTo>
                    <a:pt x="108881" y="179087"/>
                    <a:pt x="128217" y="172543"/>
                    <a:pt x="143984" y="160643"/>
                  </a:cubicBezTo>
                  <a:lnTo>
                    <a:pt x="157073" y="173733"/>
                  </a:lnTo>
                  <a:cubicBezTo>
                    <a:pt x="155883" y="180575"/>
                    <a:pt x="157966" y="187417"/>
                    <a:pt x="162726" y="192474"/>
                  </a:cubicBezTo>
                  <a:lnTo>
                    <a:pt x="199911" y="229660"/>
                  </a:lnTo>
                  <a:cubicBezTo>
                    <a:pt x="207943" y="237692"/>
                    <a:pt x="221330" y="237692"/>
                    <a:pt x="229362" y="229660"/>
                  </a:cubicBezTo>
                  <a:cubicBezTo>
                    <a:pt x="237394" y="221628"/>
                    <a:pt x="237394" y="208241"/>
                    <a:pt x="229362" y="200209"/>
                  </a:cubicBezTo>
                  <a:lnTo>
                    <a:pt x="192474" y="163023"/>
                  </a:lnTo>
                  <a:close/>
                  <a:moveTo>
                    <a:pt x="89842" y="161238"/>
                  </a:moveTo>
                  <a:cubicBezTo>
                    <a:pt x="50277" y="161238"/>
                    <a:pt x="18446" y="129407"/>
                    <a:pt x="18446" y="89842"/>
                  </a:cubicBezTo>
                  <a:cubicBezTo>
                    <a:pt x="18446" y="50277"/>
                    <a:pt x="50277" y="18446"/>
                    <a:pt x="89842" y="18446"/>
                  </a:cubicBezTo>
                  <a:cubicBezTo>
                    <a:pt x="129407" y="18446"/>
                    <a:pt x="161238" y="50277"/>
                    <a:pt x="161238" y="89842"/>
                  </a:cubicBezTo>
                  <a:cubicBezTo>
                    <a:pt x="161238" y="129110"/>
                    <a:pt x="129110" y="161238"/>
                    <a:pt x="89842" y="161238"/>
                  </a:cubicBezTo>
                  <a:close/>
                </a:path>
              </a:pathLst>
            </a:custGeom>
            <a:grpFill/>
            <a:ln w="2877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681C7DD6-3721-814B-221A-1FA1C11EAD9B}"/>
                </a:ext>
              </a:extLst>
            </p:cNvPr>
            <p:cNvSpPr/>
            <p:nvPr/>
          </p:nvSpPr>
          <p:spPr>
            <a:xfrm>
              <a:off x="1072881" y="2258604"/>
              <a:ext cx="15755" cy="36012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5E22B0C2-DD68-1DC1-A527-2A0EAD21D9F8}"/>
                </a:ext>
              </a:extLst>
            </p:cNvPr>
            <p:cNvSpPr/>
            <p:nvPr/>
          </p:nvSpPr>
          <p:spPr>
            <a:xfrm>
              <a:off x="1093137" y="2238348"/>
              <a:ext cx="15755" cy="56268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B5FD040F-7B29-58CA-8285-4E26DF034D70}"/>
                </a:ext>
              </a:extLst>
            </p:cNvPr>
            <p:cNvSpPr/>
            <p:nvPr/>
          </p:nvSpPr>
          <p:spPr>
            <a:xfrm>
              <a:off x="1113394" y="2218091"/>
              <a:ext cx="15755" cy="76525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D89699A1-61E9-BB24-0AE9-CD05A0FB87AB}"/>
                </a:ext>
              </a:extLst>
            </p:cNvPr>
            <p:cNvSpPr/>
            <p:nvPr/>
          </p:nvSpPr>
          <p:spPr>
            <a:xfrm>
              <a:off x="1052624" y="2278861"/>
              <a:ext cx="15755" cy="15755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51" name="그래픽 150" descr="네트워크 단색으로 채워진">
            <a:extLst>
              <a:ext uri="{FF2B5EF4-FFF2-40B4-BE49-F238E27FC236}">
                <a16:creationId xmlns:a16="http://schemas.microsoft.com/office/drawing/2014/main" id="{24CA40CA-5CDC-8F91-DCE5-9625C0B41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3713" r="-6817" b="-1"/>
          <a:stretch>
            <a:fillRect/>
          </a:stretch>
        </p:blipFill>
        <p:spPr>
          <a:xfrm>
            <a:off x="3289783" y="2602514"/>
            <a:ext cx="218397" cy="2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89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02.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솔루션 딥 </a:t>
            </a:r>
            <a:r>
              <a:rPr lang="ko-KR" altLang="en-US" sz="3200" b="1" dirty="0" err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다이브</a:t>
            </a:r>
            <a:endParaRPr lang="ko-KR" altLang="en-US" sz="3200" b="1" dirty="0">
              <a:solidFill>
                <a:srgbClr val="FFFFFF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Solution Deep Dive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4BDD2286-CECF-902A-A14A-3D5188BC9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4">
            <a:extLst>
              <a:ext uri="{FF2B5EF4-FFF2-40B4-BE49-F238E27FC236}">
                <a16:creationId xmlns:a16="http://schemas.microsoft.com/office/drawing/2014/main" id="{58D8D09A-9DF1-F368-4DF4-7C893FF9CDCF}"/>
              </a:ext>
            </a:extLst>
          </p:cNvPr>
          <p:cNvSpPr/>
          <p:nvPr/>
        </p:nvSpPr>
        <p:spPr>
          <a:xfrm>
            <a:off x="1770169" y="1108808"/>
            <a:ext cx="5881462" cy="3785204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C5CFD4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700B525-8AFA-9C6C-97E2-F3671F3C56A2}"/>
              </a:ext>
            </a:extLst>
          </p:cNvPr>
          <p:cNvGrpSpPr/>
          <p:nvPr/>
        </p:nvGrpSpPr>
        <p:grpSpPr>
          <a:xfrm>
            <a:off x="4281243" y="938445"/>
            <a:ext cx="931859" cy="283636"/>
            <a:chOff x="3301100" y="1473305"/>
            <a:chExt cx="931859" cy="283636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7D39D2A5-FC93-E459-9ED5-1A2665AAEFAC}"/>
                </a:ext>
              </a:extLst>
            </p:cNvPr>
            <p:cNvSpPr/>
            <p:nvPr/>
          </p:nvSpPr>
          <p:spPr>
            <a:xfrm>
              <a:off x="3301100" y="1494617"/>
              <a:ext cx="931859" cy="223773"/>
            </a:xfrm>
            <a:prstGeom prst="roundRect">
              <a:avLst>
                <a:gd name="adj" fmla="val 4051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Google Shape;154;p13">
              <a:extLst>
                <a:ext uri="{FF2B5EF4-FFF2-40B4-BE49-F238E27FC236}">
                  <a16:creationId xmlns:a16="http://schemas.microsoft.com/office/drawing/2014/main" id="{42DECB4A-1718-DEFB-D036-DE2129D2FB58}"/>
                </a:ext>
              </a:extLst>
            </p:cNvPr>
            <p:cNvSpPr txBox="1"/>
            <p:nvPr/>
          </p:nvSpPr>
          <p:spPr>
            <a:xfrm>
              <a:off x="3552352" y="1516592"/>
              <a:ext cx="667522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200" b="1" dirty="0" err="1">
                  <a:latin typeface="SUIT ExtraBold" pitchFamily="50" charset="-127"/>
                  <a:ea typeface="SUIT ExtraBold" pitchFamily="50" charset="-127"/>
                  <a:cs typeface="SUIT"/>
                  <a:sym typeface="SUIT"/>
                </a:rPr>
                <a:t>aisight</a:t>
              </a:r>
              <a:endParaRPr sz="3200" dirty="0">
                <a:latin typeface="SUIT ExtraBold" pitchFamily="50" charset="-127"/>
                <a:ea typeface="SUIT ExtraBold" pitchFamily="50" charset="-127"/>
              </a:endParaRPr>
            </a:p>
          </p:txBody>
        </p:sp>
        <p:pic>
          <p:nvPicPr>
            <p:cNvPr id="130" name="Picture 2">
              <a:extLst>
                <a:ext uri="{FF2B5EF4-FFF2-40B4-BE49-F238E27FC236}">
                  <a16:creationId xmlns:a16="http://schemas.microsoft.com/office/drawing/2014/main" id="{124E6520-94D7-9E8F-E193-FD7247D2EE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1204" y="1473305"/>
              <a:ext cx="260350" cy="283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Shape 4">
            <a:extLst>
              <a:ext uri="{FF2B5EF4-FFF2-40B4-BE49-F238E27FC236}">
                <a16:creationId xmlns:a16="http://schemas.microsoft.com/office/drawing/2014/main" id="{57232D23-137B-3FD7-6133-C808ADF099FA}"/>
              </a:ext>
            </a:extLst>
          </p:cNvPr>
          <p:cNvSpPr/>
          <p:nvPr/>
        </p:nvSpPr>
        <p:spPr>
          <a:xfrm rot="16200000">
            <a:off x="3917797" y="-746307"/>
            <a:ext cx="1584000" cy="5582751"/>
          </a:xfrm>
          <a:prstGeom prst="roundRect">
            <a:avLst>
              <a:gd name="adj" fmla="val 2742"/>
            </a:avLst>
          </a:prstGeom>
          <a:gradFill rotWithShape="1">
            <a:gsLst>
              <a:gs pos="0">
                <a:srgbClr val="00D4C5"/>
              </a:gs>
              <a:gs pos="2405">
                <a:srgbClr val="00D4C5"/>
              </a:gs>
              <a:gs pos="2406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B6B12126-0985-87A0-6465-033108512A6E}"/>
              </a:ext>
            </a:extLst>
          </p:cNvPr>
          <p:cNvSpPr/>
          <p:nvPr/>
        </p:nvSpPr>
        <p:spPr>
          <a:xfrm>
            <a:off x="1918421" y="3059509"/>
            <a:ext cx="5582751" cy="1750231"/>
          </a:xfrm>
          <a:prstGeom prst="roundRect">
            <a:avLst>
              <a:gd name="adj" fmla="val 2742"/>
            </a:avLst>
          </a:prstGeom>
          <a:solidFill>
            <a:srgbClr val="0F172A"/>
          </a:solidFill>
          <a:ln>
            <a:solidFill>
              <a:srgbClr val="6EE6DE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B89E77E2-7932-8311-CF0B-1025B70317F0}"/>
              </a:ext>
            </a:extLst>
          </p:cNvPr>
          <p:cNvSpPr/>
          <p:nvPr/>
        </p:nvSpPr>
        <p:spPr>
          <a:xfrm>
            <a:off x="7797672" y="2540339"/>
            <a:ext cx="1160687" cy="952627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/>
          </a:p>
        </p:txBody>
      </p:sp>
      <p:sp>
        <p:nvSpPr>
          <p:cNvPr id="154" name="Google Shape;154;p13">
            <a:extLst>
              <a:ext uri="{FF2B5EF4-FFF2-40B4-BE49-F238E27FC236}">
                <a16:creationId xmlns:a16="http://schemas.microsoft.com/office/drawing/2014/main" id="{C3F5D6FE-89E4-6721-0584-B731D7DA0711}"/>
              </a:ext>
            </a:extLst>
          </p:cNvPr>
          <p:cNvSpPr txBox="1"/>
          <p:nvPr/>
        </p:nvSpPr>
        <p:spPr>
          <a:xfrm>
            <a:off x="2232217" y="3165076"/>
            <a:ext cx="482354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OPS  </a:t>
            </a:r>
            <a:r>
              <a:rPr lang="ko-KR" altLang="en-US" sz="800" b="1" dirty="0">
                <a:solidFill>
                  <a:srgbClr val="C5CFD4"/>
                </a:solidFill>
                <a:latin typeface="SUIT"/>
                <a:ea typeface="SUIT"/>
                <a:cs typeface="SUIT"/>
                <a:sym typeface="SUIT"/>
              </a:rPr>
              <a:t>중앙 관리 및 관제</a:t>
            </a:r>
            <a:endParaRPr sz="800" dirty="0">
              <a:solidFill>
                <a:srgbClr val="C5CFD4"/>
              </a:solidFill>
            </a:endParaRPr>
          </a:p>
        </p:txBody>
      </p:sp>
      <p:sp>
        <p:nvSpPr>
          <p:cNvPr id="183" name="Google Shape;183;p13">
            <a:extLst>
              <a:ext uri="{FF2B5EF4-FFF2-40B4-BE49-F238E27FC236}">
                <a16:creationId xmlns:a16="http://schemas.microsoft.com/office/drawing/2014/main" id="{51B9FF57-73C1-A61D-6416-58AABFE9D88B}"/>
              </a:ext>
            </a:extLst>
          </p:cNvPr>
          <p:cNvSpPr txBox="1"/>
          <p:nvPr/>
        </p:nvSpPr>
        <p:spPr>
          <a:xfrm>
            <a:off x="2212145" y="1384502"/>
            <a:ext cx="520719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100" b="1" dirty="0">
                <a:latin typeface="SUIT"/>
                <a:ea typeface="SUIT"/>
                <a:cs typeface="SUIT"/>
                <a:sym typeface="SUIT"/>
              </a:rPr>
              <a:t>WORK SPACE  </a:t>
            </a:r>
            <a:r>
              <a:rPr lang="ko-KR" altLang="en-US" sz="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  <a:sym typeface="SUIT"/>
              </a:rPr>
              <a:t>인텔리전스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  <a:sym typeface="SUIT"/>
              </a:rPr>
              <a:t> 자산화 및 전사 협업 포털</a:t>
            </a: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85" name="Google Shape;185;p13" descr="image.png">
            <a:extLst>
              <a:ext uri="{FF2B5EF4-FFF2-40B4-BE49-F238E27FC236}">
                <a16:creationId xmlns:a16="http://schemas.microsoft.com/office/drawing/2014/main" id="{5505A6B5-6827-A1BD-8E57-34E42CEF70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5296" y="2862471"/>
            <a:ext cx="7143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>
            <a:extLst>
              <a:ext uri="{FF2B5EF4-FFF2-40B4-BE49-F238E27FC236}">
                <a16:creationId xmlns:a16="http://schemas.microsoft.com/office/drawing/2014/main" id="{139B9D59-A16E-161A-9AA2-BD7F39BDF864}"/>
              </a:ext>
            </a:extLst>
          </p:cNvPr>
          <p:cNvSpPr txBox="1"/>
          <p:nvPr/>
        </p:nvSpPr>
        <p:spPr>
          <a:xfrm>
            <a:off x="3890404" y="2946792"/>
            <a:ext cx="577751" cy="7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" b="1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RESOURCE FETCH</a:t>
            </a:r>
            <a:endParaRPr sz="1400" dirty="0"/>
          </a:p>
        </p:txBody>
      </p:sp>
      <p:pic>
        <p:nvPicPr>
          <p:cNvPr id="187" name="Google Shape;187;p13" descr="image.png">
            <a:extLst>
              <a:ext uri="{FF2B5EF4-FFF2-40B4-BE49-F238E27FC236}">
                <a16:creationId xmlns:a16="http://schemas.microsoft.com/office/drawing/2014/main" id="{2A885B66-57A8-E5B7-7E76-1F32C3998A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30908" y="2851295"/>
            <a:ext cx="7143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70D9B1DE-8B82-8984-3CFF-A04C37887BB6}"/>
              </a:ext>
            </a:extLst>
          </p:cNvPr>
          <p:cNvSpPr txBox="1"/>
          <p:nvPr/>
        </p:nvSpPr>
        <p:spPr>
          <a:xfrm>
            <a:off x="4863221" y="2943773"/>
            <a:ext cx="619309" cy="7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500" b="1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ACTIVITY LOG</a:t>
            </a:r>
            <a:endParaRPr sz="1400" dirty="0"/>
          </a:p>
        </p:txBody>
      </p:sp>
      <p:sp>
        <p:nvSpPr>
          <p:cNvPr id="204" name="Google Shape;204;p13">
            <a:extLst>
              <a:ext uri="{FF2B5EF4-FFF2-40B4-BE49-F238E27FC236}">
                <a16:creationId xmlns:a16="http://schemas.microsoft.com/office/drawing/2014/main" id="{2E8FD4AF-1E6B-AFD7-90E1-4C44C3A0B11D}"/>
              </a:ext>
            </a:extLst>
          </p:cNvPr>
          <p:cNvSpPr txBox="1"/>
          <p:nvPr/>
        </p:nvSpPr>
        <p:spPr>
          <a:xfrm>
            <a:off x="7901146" y="2911570"/>
            <a:ext cx="95804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700" b="1" dirty="0">
                <a:solidFill>
                  <a:srgbClr val="0F172A"/>
                </a:solidFill>
                <a:ea typeface="SUIT"/>
                <a:sym typeface="SUIT"/>
              </a:rPr>
              <a:t>BUSINESS END-USERS</a:t>
            </a:r>
            <a:endParaRPr lang="en-US" sz="700" b="1" dirty="0">
              <a:solidFill>
                <a:srgbClr val="0F172A"/>
              </a:solidFill>
              <a:latin typeface="SUIT"/>
              <a:ea typeface="SUIT"/>
              <a:cs typeface="SUIT"/>
              <a:sym typeface="SUIT"/>
            </a:endParaRPr>
          </a:p>
          <a:p>
            <a:pPr algn="ctr"/>
            <a:r>
              <a:rPr lang="en-US" sz="700" b="1" dirty="0" err="1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비즈니스</a:t>
            </a:r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700" b="1" dirty="0" err="1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사용자</a:t>
            </a:r>
            <a:endParaRPr sz="1400" dirty="0"/>
          </a:p>
        </p:txBody>
      </p:sp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CD0A3833-15A3-41C3-DAA8-867FAF7FECB9}"/>
              </a:ext>
            </a:extLst>
          </p:cNvPr>
          <p:cNvSpPr txBox="1"/>
          <p:nvPr/>
        </p:nvSpPr>
        <p:spPr>
          <a:xfrm>
            <a:off x="7923957" y="3274256"/>
            <a:ext cx="912425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94"/>
              </a:lnSpc>
            </a:pP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현업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실무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부서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의사결정권자</a:t>
            </a:r>
            <a:endParaRPr sz="14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894E254-1702-D296-C6CB-F1A444F7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aisight: </a:t>
            </a:r>
            <a:r>
              <a:rPr lang="en-US" altLang="ko-KR" b="0" dirty="0" err="1">
                <a:latin typeface="SUIT ExtraBold" pitchFamily="2" charset="-127"/>
                <a:ea typeface="SUIT ExtraBold" pitchFamily="2" charset="-127"/>
              </a:rPr>
              <a:t>aisight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서비스 아키텍처</a:t>
            </a:r>
          </a:p>
        </p:txBody>
      </p:sp>
      <p:sp>
        <p:nvSpPr>
          <p:cNvPr id="7" name="텍스트 개체 틀 22">
            <a:extLst>
              <a:ext uri="{FF2B5EF4-FFF2-40B4-BE49-F238E27FC236}">
                <a16:creationId xmlns:a16="http://schemas.microsoft.com/office/drawing/2014/main" id="{38475A26-8F51-9CB6-A6D2-D1EDAD7044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3AB0E6A-49AF-AB68-0AFD-F78A57250826}"/>
              </a:ext>
            </a:extLst>
          </p:cNvPr>
          <p:cNvCxnSpPr>
            <a:cxnSpLocks/>
          </p:cNvCxnSpPr>
          <p:nvPr/>
        </p:nvCxnSpPr>
        <p:spPr>
          <a:xfrm>
            <a:off x="2047990" y="4423468"/>
            <a:ext cx="5302770" cy="0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83B7DCC-C8DA-7BAD-9654-F0B639AD38FA}"/>
              </a:ext>
            </a:extLst>
          </p:cNvPr>
          <p:cNvSpPr txBox="1"/>
          <p:nvPr/>
        </p:nvSpPr>
        <p:spPr>
          <a:xfrm>
            <a:off x="256032" y="666744"/>
            <a:ext cx="8595360" cy="2396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b="1" dirty="0">
                <a:latin typeface="+mn-ea"/>
                <a:ea typeface="+mn-ea"/>
              </a:rPr>
              <a:t>사용자의 의도를 비즈니스 통찰로 변환하는 </a:t>
            </a:r>
            <a:r>
              <a:rPr lang="en-US" altLang="ko-KR" sz="1400" b="1" dirty="0">
                <a:latin typeface="+mn-ea"/>
                <a:ea typeface="+mn-ea"/>
              </a:rPr>
              <a:t>AI </a:t>
            </a:r>
            <a:r>
              <a:rPr lang="ko-KR" altLang="en-US" sz="1400" b="1" dirty="0">
                <a:latin typeface="+mn-ea"/>
                <a:ea typeface="+mn-ea"/>
              </a:rPr>
              <a:t>데이터 생태계</a:t>
            </a:r>
            <a:endParaRPr sz="1400" b="1" dirty="0">
              <a:latin typeface="+mn-ea"/>
              <a:ea typeface="+mn-ea"/>
            </a:endParaRPr>
          </a:p>
        </p:txBody>
      </p: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E55B2A7B-C18A-A715-A7C2-A75DBF205EBB}"/>
              </a:ext>
            </a:extLst>
          </p:cNvPr>
          <p:cNvGrpSpPr/>
          <p:nvPr/>
        </p:nvGrpSpPr>
        <p:grpSpPr>
          <a:xfrm>
            <a:off x="2054617" y="4492792"/>
            <a:ext cx="1215152" cy="171442"/>
            <a:chOff x="2019057" y="4492792"/>
            <a:chExt cx="1215152" cy="171442"/>
          </a:xfrm>
        </p:grpSpPr>
        <p:sp>
          <p:nvSpPr>
            <p:cNvPr id="240" name="Google Shape;240;p13">
              <a:extLst>
                <a:ext uri="{FF2B5EF4-FFF2-40B4-BE49-F238E27FC236}">
                  <a16:creationId xmlns:a16="http://schemas.microsoft.com/office/drawing/2014/main" id="{FA7A8CFB-8C91-4AEF-65DD-A604EC26F844}"/>
                </a:ext>
              </a:extLst>
            </p:cNvPr>
            <p:cNvSpPr txBox="1"/>
            <p:nvPr/>
          </p:nvSpPr>
          <p:spPr>
            <a:xfrm>
              <a:off x="2019057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PostgreSQL &amp; </a:t>
              </a:r>
              <a:r>
                <a:rPr lang="en-US" sz="600" b="1" dirty="0" err="1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pgvector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1" name="Google Shape;241;p13">
              <a:extLst>
                <a:ext uri="{FF2B5EF4-FFF2-40B4-BE49-F238E27FC236}">
                  <a16:creationId xmlns:a16="http://schemas.microsoft.com/office/drawing/2014/main" id="{983E2D08-9AAA-FA6C-AEBC-3D79853367FD}"/>
                </a:ext>
              </a:extLst>
            </p:cNvPr>
            <p:cNvSpPr txBox="1"/>
            <p:nvPr/>
          </p:nvSpPr>
          <p:spPr>
            <a:xfrm>
              <a:off x="2047990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메타데이터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및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벡터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딕셔너리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EF9EF662-589F-4EAB-522B-84398F535501}"/>
              </a:ext>
            </a:extLst>
          </p:cNvPr>
          <p:cNvGrpSpPr/>
          <p:nvPr/>
        </p:nvGrpSpPr>
        <p:grpSpPr>
          <a:xfrm>
            <a:off x="3411549" y="4492792"/>
            <a:ext cx="1215152" cy="171442"/>
            <a:chOff x="3290645" y="4492792"/>
            <a:chExt cx="1215152" cy="171442"/>
          </a:xfrm>
        </p:grpSpPr>
        <p:sp>
          <p:nvSpPr>
            <p:cNvPr id="242" name="Google Shape;242;p13">
              <a:extLst>
                <a:ext uri="{FF2B5EF4-FFF2-40B4-BE49-F238E27FC236}">
                  <a16:creationId xmlns:a16="http://schemas.microsoft.com/office/drawing/2014/main" id="{468F5A3F-A561-7B5F-F538-7A4DE7A5CA37}"/>
                </a:ext>
              </a:extLst>
            </p:cNvPr>
            <p:cNvSpPr txBox="1"/>
            <p:nvPr/>
          </p:nvSpPr>
          <p:spPr>
            <a:xfrm>
              <a:off x="3290645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Graph DB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3" name="Google Shape;243;p13">
              <a:extLst>
                <a:ext uri="{FF2B5EF4-FFF2-40B4-BE49-F238E27FC236}">
                  <a16:creationId xmlns:a16="http://schemas.microsoft.com/office/drawing/2014/main" id="{407FDAB0-895B-3B31-6D95-348B9A3D4946}"/>
                </a:ext>
              </a:extLst>
            </p:cNvPr>
            <p:cNvSpPr txBox="1"/>
            <p:nvPr/>
          </p:nvSpPr>
          <p:spPr>
            <a:xfrm>
              <a:off x="3319577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데이터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계보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및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지식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문맥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매핑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A72F7FF0-710A-5EA5-E120-DD767051548A}"/>
              </a:ext>
            </a:extLst>
          </p:cNvPr>
          <p:cNvGrpSpPr/>
          <p:nvPr/>
        </p:nvGrpSpPr>
        <p:grpSpPr>
          <a:xfrm>
            <a:off x="4768481" y="4492792"/>
            <a:ext cx="1215152" cy="171442"/>
            <a:chOff x="4562232" y="4492792"/>
            <a:chExt cx="1215152" cy="171442"/>
          </a:xfrm>
        </p:grpSpPr>
        <p:sp>
          <p:nvSpPr>
            <p:cNvPr id="244" name="Google Shape;244;p13">
              <a:extLst>
                <a:ext uri="{FF2B5EF4-FFF2-40B4-BE49-F238E27FC236}">
                  <a16:creationId xmlns:a16="http://schemas.microsoft.com/office/drawing/2014/main" id="{D06F18A9-A616-F4CC-4BC3-CF59885098BB}"/>
                </a:ext>
              </a:extLst>
            </p:cNvPr>
            <p:cNvSpPr txBox="1"/>
            <p:nvPr/>
          </p:nvSpPr>
          <p:spPr>
            <a:xfrm>
              <a:off x="4562232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 err="1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DuckDB</a:t>
              </a:r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 Engine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5" name="Google Shape;245;p13">
              <a:extLst>
                <a:ext uri="{FF2B5EF4-FFF2-40B4-BE49-F238E27FC236}">
                  <a16:creationId xmlns:a16="http://schemas.microsoft.com/office/drawing/2014/main" id="{90D4D925-ED81-0B99-D38F-195AC80A956F}"/>
                </a:ext>
              </a:extLst>
            </p:cNvPr>
            <p:cNvSpPr txBox="1"/>
            <p:nvPr/>
          </p:nvSpPr>
          <p:spPr>
            <a:xfrm>
              <a:off x="4591165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BYOD/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레거시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추출셋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고속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OLAP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A21F9052-579F-2FFB-AE17-3EF270363BDE}"/>
              </a:ext>
            </a:extLst>
          </p:cNvPr>
          <p:cNvGrpSpPr/>
          <p:nvPr/>
        </p:nvGrpSpPr>
        <p:grpSpPr>
          <a:xfrm>
            <a:off x="6125412" y="4492792"/>
            <a:ext cx="1215152" cy="171442"/>
            <a:chOff x="5833820" y="4492792"/>
            <a:chExt cx="1215152" cy="171442"/>
          </a:xfrm>
        </p:grpSpPr>
        <p:sp>
          <p:nvSpPr>
            <p:cNvPr id="246" name="Google Shape;246;p13">
              <a:extLst>
                <a:ext uri="{FF2B5EF4-FFF2-40B4-BE49-F238E27FC236}">
                  <a16:creationId xmlns:a16="http://schemas.microsoft.com/office/drawing/2014/main" id="{0EA42736-A131-C8C4-7922-57523534043A}"/>
                </a:ext>
              </a:extLst>
            </p:cNvPr>
            <p:cNvSpPr txBox="1"/>
            <p:nvPr/>
          </p:nvSpPr>
          <p:spPr>
            <a:xfrm>
              <a:off x="5833820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External Storage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7" name="Google Shape;247;p13">
              <a:extLst>
                <a:ext uri="{FF2B5EF4-FFF2-40B4-BE49-F238E27FC236}">
                  <a16:creationId xmlns:a16="http://schemas.microsoft.com/office/drawing/2014/main" id="{595276F3-A97E-7858-047A-394558015965}"/>
                </a:ext>
              </a:extLst>
            </p:cNvPr>
            <p:cNvSpPr txBox="1"/>
            <p:nvPr/>
          </p:nvSpPr>
          <p:spPr>
            <a:xfrm>
              <a:off x="5862752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S3/Azure 등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외부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저장소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연결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57" name="Shape 4">
            <a:extLst>
              <a:ext uri="{FF2B5EF4-FFF2-40B4-BE49-F238E27FC236}">
                <a16:creationId xmlns:a16="http://schemas.microsoft.com/office/drawing/2014/main" id="{E1921770-0245-4BF0-F26E-4C415C01FEEC}"/>
              </a:ext>
            </a:extLst>
          </p:cNvPr>
          <p:cNvSpPr/>
          <p:nvPr/>
        </p:nvSpPr>
        <p:spPr>
          <a:xfrm>
            <a:off x="2032377" y="3403498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4" name="Google Shape;214;p13">
            <a:extLst>
              <a:ext uri="{FF2B5EF4-FFF2-40B4-BE49-F238E27FC236}">
                <a16:creationId xmlns:a16="http://schemas.microsoft.com/office/drawing/2014/main" id="{D61A9ED1-6F6A-89E4-C734-B70CBD959F8F}"/>
              </a:ext>
            </a:extLst>
          </p:cNvPr>
          <p:cNvSpPr txBox="1"/>
          <p:nvPr/>
        </p:nvSpPr>
        <p:spPr>
          <a:xfrm>
            <a:off x="2038641" y="3514819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인프라 실시간 연동</a:t>
            </a:r>
          </a:p>
        </p:txBody>
      </p:sp>
      <p:sp>
        <p:nvSpPr>
          <p:cNvPr id="215" name="Google Shape;215;p13">
            <a:extLst>
              <a:ext uri="{FF2B5EF4-FFF2-40B4-BE49-F238E27FC236}">
                <a16:creationId xmlns:a16="http://schemas.microsoft.com/office/drawing/2014/main" id="{07BA2287-46FC-9998-7F9D-4CB1E1D423F9}"/>
              </a:ext>
            </a:extLst>
          </p:cNvPr>
          <p:cNvSpPr txBox="1"/>
          <p:nvPr/>
        </p:nvSpPr>
        <p:spPr>
          <a:xfrm>
            <a:off x="2047989" y="3664078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Unified Connect</a:t>
            </a:r>
          </a:p>
        </p:txBody>
      </p:sp>
      <p:sp>
        <p:nvSpPr>
          <p:cNvPr id="51" name="Google Shape;255;p13">
            <a:extLst>
              <a:ext uri="{FF2B5EF4-FFF2-40B4-BE49-F238E27FC236}">
                <a16:creationId xmlns:a16="http://schemas.microsoft.com/office/drawing/2014/main" id="{7251CEE0-6021-19C4-46D2-29014201F6FC}"/>
              </a:ext>
            </a:extLst>
          </p:cNvPr>
          <p:cNvSpPr txBox="1"/>
          <p:nvPr/>
        </p:nvSpPr>
        <p:spPr>
          <a:xfrm>
            <a:off x="7011539" y="1719865"/>
            <a:ext cx="640092" cy="90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590" b="1" dirty="0">
                <a:solidFill>
                  <a:schemeClr val="bg1">
                    <a:lumMod val="95000"/>
                  </a:schemeClr>
                </a:solidFill>
                <a:latin typeface="SUIT"/>
                <a:ea typeface="SUIT"/>
                <a:cs typeface="SUIT"/>
                <a:sym typeface="SUIT"/>
              </a:rPr>
              <a:t>문서 변환</a:t>
            </a:r>
            <a:endParaRPr sz="135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8" name="그래픽 27" descr="그룹 단색으로 채워진">
            <a:extLst>
              <a:ext uri="{FF2B5EF4-FFF2-40B4-BE49-F238E27FC236}">
                <a16:creationId xmlns:a16="http://schemas.microsoft.com/office/drawing/2014/main" id="{21D67658-72AB-C855-C957-2F9412F111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2614" b="57460"/>
          <a:stretch>
            <a:fillRect/>
          </a:stretch>
        </p:blipFill>
        <p:spPr>
          <a:xfrm>
            <a:off x="8011947" y="2596925"/>
            <a:ext cx="769315" cy="230223"/>
          </a:xfrm>
          <a:prstGeom prst="rect">
            <a:avLst/>
          </a:prstGeom>
        </p:spPr>
      </p:pic>
      <p:sp>
        <p:nvSpPr>
          <p:cNvPr id="43" name="Shape 4">
            <a:extLst>
              <a:ext uri="{FF2B5EF4-FFF2-40B4-BE49-F238E27FC236}">
                <a16:creationId xmlns:a16="http://schemas.microsoft.com/office/drawing/2014/main" id="{27039D43-4562-F760-D274-6F45A11D3AC5}"/>
              </a:ext>
            </a:extLst>
          </p:cNvPr>
          <p:cNvSpPr/>
          <p:nvPr/>
        </p:nvSpPr>
        <p:spPr>
          <a:xfrm>
            <a:off x="7797672" y="3726841"/>
            <a:ext cx="1160687" cy="107781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/>
          </a:p>
        </p:txBody>
      </p:sp>
      <p:sp>
        <p:nvSpPr>
          <p:cNvPr id="45" name="Google Shape;204;p13">
            <a:extLst>
              <a:ext uri="{FF2B5EF4-FFF2-40B4-BE49-F238E27FC236}">
                <a16:creationId xmlns:a16="http://schemas.microsoft.com/office/drawing/2014/main" id="{CAF995A6-7415-2895-D9D9-C3CCC0442E3A}"/>
              </a:ext>
            </a:extLst>
          </p:cNvPr>
          <p:cNvSpPr txBox="1"/>
          <p:nvPr/>
        </p:nvSpPr>
        <p:spPr>
          <a:xfrm>
            <a:off x="7894146" y="4098071"/>
            <a:ext cx="95804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F172A"/>
                </a:solidFill>
                <a:ea typeface="SUIT"/>
                <a:sym typeface="SUIT"/>
              </a:rPr>
              <a:t>Core</a:t>
            </a:r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 </a:t>
            </a:r>
            <a:r>
              <a:rPr lang="en-US" altLang="ko-KR" sz="800" b="1" dirty="0">
                <a:solidFill>
                  <a:srgbClr val="0F172A"/>
                </a:solidFill>
                <a:ea typeface="SUIT"/>
                <a:sym typeface="SUIT"/>
              </a:rPr>
              <a:t>Admin</a:t>
            </a:r>
          </a:p>
          <a:p>
            <a:pPr algn="ctr"/>
            <a:r>
              <a:rPr lang="ko-KR" altLang="en-US" sz="700" b="1" dirty="0">
                <a:solidFill>
                  <a:srgbClr val="0F172A"/>
                </a:solidFill>
                <a:ea typeface="SUIT"/>
                <a:sym typeface="SUIT"/>
              </a:rPr>
              <a:t>거버넌스 관리자 </a:t>
            </a:r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/</a:t>
            </a:r>
          </a:p>
          <a:p>
            <a:pPr algn="ctr"/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UIT"/>
                <a:ea typeface="SUIT"/>
                <a:cs typeface="SUIT"/>
                <a:sym typeface="SUIT"/>
              </a:rPr>
              <a:t>Ops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UIT"/>
                <a:ea typeface="SUIT"/>
                <a:cs typeface="SUIT"/>
                <a:sym typeface="SUIT"/>
              </a:rPr>
              <a:t>운영자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anose="020F0502020204030204"/>
              <a:ea typeface="SUIT"/>
            </a:endParaRPr>
          </a:p>
        </p:txBody>
      </p:sp>
      <p:sp>
        <p:nvSpPr>
          <p:cNvPr id="46" name="Google Shape;205;p13">
            <a:extLst>
              <a:ext uri="{FF2B5EF4-FFF2-40B4-BE49-F238E27FC236}">
                <a16:creationId xmlns:a16="http://schemas.microsoft.com/office/drawing/2014/main" id="{5D99B72D-4316-C8FF-6DED-CFA8FA402AB8}"/>
              </a:ext>
            </a:extLst>
          </p:cNvPr>
          <p:cNvSpPr txBox="1"/>
          <p:nvPr/>
        </p:nvSpPr>
        <p:spPr>
          <a:xfrm>
            <a:off x="7797672" y="4430042"/>
            <a:ext cx="116068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94"/>
              </a:lnSpc>
            </a:pPr>
            <a:r>
              <a:rPr lang="en-US" altLang="ko-KR" sz="600" dirty="0">
                <a:solidFill>
                  <a:srgbClr val="64748B"/>
                </a:solidFill>
                <a:ea typeface="SUIT"/>
                <a:sym typeface="SUIT"/>
              </a:rPr>
              <a:t>DB 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소스 연동 및 보안 정책 통제</a:t>
            </a:r>
            <a:endParaRPr lang="en-US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  <a:p>
            <a:pPr algn="ctr"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실패 로그 추적 및 스킬 품질 </a:t>
            </a:r>
            <a:r>
              <a:rPr lang="ko-KR" altLang="en-US" sz="600" dirty="0" err="1">
                <a:solidFill>
                  <a:srgbClr val="64748B"/>
                </a:solidFill>
                <a:ea typeface="SUIT"/>
                <a:sym typeface="SUIT"/>
              </a:rPr>
              <a:t>검증인프라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 헬스 및 리소스 관리</a:t>
            </a:r>
          </a:p>
        </p:txBody>
      </p:sp>
      <p:pic>
        <p:nvPicPr>
          <p:cNvPr id="62" name="그래픽 61" descr="톱니바퀴 단색으로 채워진">
            <a:extLst>
              <a:ext uri="{FF2B5EF4-FFF2-40B4-BE49-F238E27FC236}">
                <a16:creationId xmlns:a16="http://schemas.microsoft.com/office/drawing/2014/main" id="{767AF449-96FD-EAE4-650A-530296550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0706" y="3836931"/>
            <a:ext cx="198818" cy="198818"/>
          </a:xfrm>
          <a:prstGeom prst="rect">
            <a:avLst/>
          </a:prstGeom>
        </p:spPr>
      </p:pic>
      <p:pic>
        <p:nvPicPr>
          <p:cNvPr id="65" name="그래픽 64" descr="단일 톱니바퀴 단색으로 채워진">
            <a:extLst>
              <a:ext uri="{FF2B5EF4-FFF2-40B4-BE49-F238E27FC236}">
                <a16:creationId xmlns:a16="http://schemas.microsoft.com/office/drawing/2014/main" id="{9A0CCD29-89F9-33A8-1697-B37FD0AA2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5867" y="3894583"/>
            <a:ext cx="185669" cy="185669"/>
          </a:xfrm>
          <a:prstGeom prst="rect">
            <a:avLst/>
          </a:prstGeom>
        </p:spPr>
      </p:pic>
      <p:pic>
        <p:nvPicPr>
          <p:cNvPr id="77" name="그래픽 76" descr="사용자 단색으로 채워진">
            <a:extLst>
              <a:ext uri="{FF2B5EF4-FFF2-40B4-BE49-F238E27FC236}">
                <a16:creationId xmlns:a16="http://schemas.microsoft.com/office/drawing/2014/main" id="{B2602B55-4ED9-0B99-F347-A3CB501A0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26236" y="3873021"/>
            <a:ext cx="222528" cy="222528"/>
          </a:xfrm>
          <a:prstGeom prst="rect">
            <a:avLst/>
          </a:prstGeom>
        </p:spPr>
      </p:pic>
      <p:pic>
        <p:nvPicPr>
          <p:cNvPr id="81" name="그래픽 80" descr="사용자 단색으로 채워진">
            <a:extLst>
              <a:ext uri="{FF2B5EF4-FFF2-40B4-BE49-F238E27FC236}">
                <a16:creationId xmlns:a16="http://schemas.microsoft.com/office/drawing/2014/main" id="{5A4ADA03-1DDC-50AA-E268-A2B23B56A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1536" y="3869687"/>
            <a:ext cx="222528" cy="222528"/>
          </a:xfrm>
          <a:prstGeom prst="rect">
            <a:avLst/>
          </a:prstGeom>
        </p:spPr>
      </p:pic>
      <p:pic>
        <p:nvPicPr>
          <p:cNvPr id="82" name="그래픽 81" descr="신호 단색으로 채워진">
            <a:extLst>
              <a:ext uri="{FF2B5EF4-FFF2-40B4-BE49-F238E27FC236}">
                <a16:creationId xmlns:a16="http://schemas.microsoft.com/office/drawing/2014/main" id="{5A8C33DB-9B43-3F83-4209-9AE302688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7232" y="1397254"/>
            <a:ext cx="192705" cy="164882"/>
          </a:xfrm>
          <a:prstGeom prst="rect">
            <a:avLst/>
          </a:prstGeom>
        </p:spPr>
      </p:pic>
      <p:pic>
        <p:nvPicPr>
          <p:cNvPr id="84" name="그래픽 83" descr="신문 단색으로 채워진">
            <a:extLst>
              <a:ext uri="{FF2B5EF4-FFF2-40B4-BE49-F238E27FC236}">
                <a16:creationId xmlns:a16="http://schemas.microsoft.com/office/drawing/2014/main" id="{8EA32335-4928-1626-F555-07B0C2F7A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6044" y="1377341"/>
            <a:ext cx="109574" cy="109574"/>
          </a:xfrm>
          <a:prstGeom prst="rect">
            <a:avLst/>
          </a:prstGeom>
        </p:spPr>
      </p:pic>
      <p:sp>
        <p:nvSpPr>
          <p:cNvPr id="44" name="Shape 4">
            <a:extLst>
              <a:ext uri="{FF2B5EF4-FFF2-40B4-BE49-F238E27FC236}">
                <a16:creationId xmlns:a16="http://schemas.microsoft.com/office/drawing/2014/main" id="{8430FFB0-D701-93EC-97D1-08E4BC1E917B}"/>
              </a:ext>
            </a:extLst>
          </p:cNvPr>
          <p:cNvSpPr/>
          <p:nvPr/>
        </p:nvSpPr>
        <p:spPr>
          <a:xfrm rot="10800000">
            <a:off x="161835" y="1664371"/>
            <a:ext cx="1457151" cy="84784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188056-1D92-A843-D834-5C52C20585F7}"/>
              </a:ext>
            </a:extLst>
          </p:cNvPr>
          <p:cNvSpPr txBox="1"/>
          <p:nvPr/>
        </p:nvSpPr>
        <p:spPr>
          <a:xfrm>
            <a:off x="390690" y="1750841"/>
            <a:ext cx="113177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700" b="1" i="0" cap="all" dirty="0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Data </a:t>
            </a:r>
            <a:r>
              <a:rPr lang="ko-KR" altLang="ko-KR" sz="700" b="1" i="0" cap="all" dirty="0" err="1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Sources</a:t>
            </a:r>
            <a:endParaRPr lang="ko-KR" altLang="en-US" sz="700" dirty="0"/>
          </a:p>
        </p:txBody>
      </p:sp>
      <p:pic>
        <p:nvPicPr>
          <p:cNvPr id="27" name="그래픽 26" descr="데이터베이스 단색으로 채워진">
            <a:extLst>
              <a:ext uri="{FF2B5EF4-FFF2-40B4-BE49-F238E27FC236}">
                <a16:creationId xmlns:a16="http://schemas.microsoft.com/office/drawing/2014/main" id="{F05479AF-C089-AF5B-8072-3ED7DEC62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1518" y="1783539"/>
            <a:ext cx="183184" cy="13484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C720B15-9667-D1AE-D1B9-12C245112B86}"/>
              </a:ext>
            </a:extLst>
          </p:cNvPr>
          <p:cNvSpPr txBox="1"/>
          <p:nvPr/>
        </p:nvSpPr>
        <p:spPr>
          <a:xfrm>
            <a:off x="241173" y="1913571"/>
            <a:ext cx="139812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Legacy</a:t>
            </a:r>
            <a:r>
              <a:rPr lang="ko-KR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RDBMS / Oracle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ERP / CRM Systems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정성적 지식 자료 (문서/회의록)</a:t>
            </a:r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9CA24D20-9017-AFBD-977A-0C937BAB2853}"/>
              </a:ext>
            </a:extLst>
          </p:cNvPr>
          <p:cNvSpPr/>
          <p:nvPr/>
        </p:nvSpPr>
        <p:spPr>
          <a:xfrm rot="10800000">
            <a:off x="162608" y="2837803"/>
            <a:ext cx="1457152" cy="84784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373E7ED-49D9-4487-3377-735AFF74F7C4}"/>
              </a:ext>
            </a:extLst>
          </p:cNvPr>
          <p:cNvSpPr txBox="1"/>
          <p:nvPr/>
        </p:nvSpPr>
        <p:spPr>
          <a:xfrm>
            <a:off x="391831" y="2932081"/>
            <a:ext cx="129688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i="0" cap="all" dirty="0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LLM Infrastructure</a:t>
            </a:r>
            <a:endParaRPr lang="ko-KR" altLang="en-US" sz="7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84F6B5-E627-1222-909F-8444A667D504}"/>
              </a:ext>
            </a:extLst>
          </p:cNvPr>
          <p:cNvSpPr txBox="1"/>
          <p:nvPr/>
        </p:nvSpPr>
        <p:spPr>
          <a:xfrm>
            <a:off x="223729" y="3109801"/>
            <a:ext cx="1354893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Enterprise Commercial API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사내 보안용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Local </a:t>
            </a:r>
            <a:r>
              <a:rPr lang="en-US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sLLM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Private GPU Cluster</a:t>
            </a:r>
            <a:endParaRPr lang="ko-KR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85AADD82-E906-D9D7-4AFE-36D08F26BE86}"/>
              </a:ext>
            </a:extLst>
          </p:cNvPr>
          <p:cNvGrpSpPr/>
          <p:nvPr/>
        </p:nvGrpSpPr>
        <p:grpSpPr>
          <a:xfrm>
            <a:off x="323263" y="2965654"/>
            <a:ext cx="130193" cy="114214"/>
            <a:chOff x="251594" y="2636470"/>
            <a:chExt cx="130193" cy="114214"/>
          </a:xfrm>
        </p:grpSpPr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6EA83310-3FBB-110D-34C2-079A1BDE7B84}"/>
                </a:ext>
              </a:extLst>
            </p:cNvPr>
            <p:cNvSpPr/>
            <p:nvPr/>
          </p:nvSpPr>
          <p:spPr>
            <a:xfrm>
              <a:off x="320162" y="2636474"/>
              <a:ext cx="61625" cy="114210"/>
            </a:xfrm>
            <a:custGeom>
              <a:avLst/>
              <a:gdLst>
                <a:gd name="csX0" fmla="*/ 61626 w 61625"/>
                <a:gd name="csY0" fmla="*/ 71943 h 114210"/>
                <a:gd name="csX1" fmla="*/ 55213 w 61625"/>
                <a:gd name="csY1" fmla="*/ 58492 h 114210"/>
                <a:gd name="csX2" fmla="*/ 48318 w 61625"/>
                <a:gd name="csY2" fmla="*/ 33885 h 114210"/>
                <a:gd name="csX3" fmla="*/ 46841 w 61625"/>
                <a:gd name="csY3" fmla="*/ 33169 h 114210"/>
                <a:gd name="csX4" fmla="*/ 35628 w 61625"/>
                <a:gd name="csY4" fmla="*/ 14721 h 114210"/>
                <a:gd name="csX5" fmla="*/ 35155 w 61625"/>
                <a:gd name="csY5" fmla="*/ 14603 h 114210"/>
                <a:gd name="csX6" fmla="*/ 16438 w 61625"/>
                <a:gd name="csY6" fmla="*/ 35 h 114210"/>
                <a:gd name="csX7" fmla="*/ 0 w 61625"/>
                <a:gd name="csY7" fmla="*/ 15643 h 114210"/>
                <a:gd name="csX8" fmla="*/ 0 w 61625"/>
                <a:gd name="csY8" fmla="*/ 102447 h 114210"/>
                <a:gd name="csX9" fmla="*/ 13159 w 61625"/>
                <a:gd name="csY9" fmla="*/ 114211 h 114210"/>
                <a:gd name="csX10" fmla="*/ 25809 w 61625"/>
                <a:gd name="csY10" fmla="*/ 105957 h 114210"/>
                <a:gd name="csX11" fmla="*/ 48849 w 61625"/>
                <a:gd name="csY11" fmla="*/ 92872 h 114210"/>
                <a:gd name="csX12" fmla="*/ 49301 w 61625"/>
                <a:gd name="csY12" fmla="*/ 89149 h 114210"/>
                <a:gd name="csX13" fmla="*/ 49301 w 61625"/>
                <a:gd name="csY13" fmla="*/ 88994 h 114210"/>
                <a:gd name="csX14" fmla="*/ 61626 w 61625"/>
                <a:gd name="csY14" fmla="*/ 71943 h 114210"/>
                <a:gd name="csX15" fmla="*/ 27009 w 61625"/>
                <a:gd name="csY15" fmla="*/ 72514 h 114210"/>
                <a:gd name="csX16" fmla="*/ 11427 w 61625"/>
                <a:gd name="csY16" fmla="*/ 53382 h 114210"/>
                <a:gd name="csX17" fmla="*/ 27009 w 61625"/>
                <a:gd name="csY17" fmla="*/ 51752 h 114210"/>
                <a:gd name="csX18" fmla="*/ 42591 w 61625"/>
                <a:gd name="csY18" fmla="*/ 53382 h 114210"/>
                <a:gd name="csX19" fmla="*/ 27009 w 61625"/>
                <a:gd name="csY19" fmla="*/ 72514 h 114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61625" h="114210">
                  <a:moveTo>
                    <a:pt x="61626" y="71943"/>
                  </a:moveTo>
                  <a:cubicBezTo>
                    <a:pt x="61630" y="66872"/>
                    <a:pt x="59315" y="62018"/>
                    <a:pt x="55213" y="58492"/>
                  </a:cubicBezTo>
                  <a:cubicBezTo>
                    <a:pt x="60958" y="50005"/>
                    <a:pt x="57871" y="38988"/>
                    <a:pt x="48318" y="33885"/>
                  </a:cubicBezTo>
                  <a:cubicBezTo>
                    <a:pt x="47837" y="33628"/>
                    <a:pt x="47344" y="33389"/>
                    <a:pt x="46841" y="33169"/>
                  </a:cubicBezTo>
                  <a:cubicBezTo>
                    <a:pt x="49479" y="25324"/>
                    <a:pt x="44459" y="17065"/>
                    <a:pt x="35628" y="14721"/>
                  </a:cubicBezTo>
                  <a:cubicBezTo>
                    <a:pt x="35471" y="14680"/>
                    <a:pt x="35313" y="14640"/>
                    <a:pt x="35155" y="14603"/>
                  </a:cubicBezTo>
                  <a:cubicBezTo>
                    <a:pt x="34515" y="5988"/>
                    <a:pt x="26135" y="-534"/>
                    <a:pt x="16438" y="35"/>
                  </a:cubicBezTo>
                  <a:cubicBezTo>
                    <a:pt x="7185" y="577"/>
                    <a:pt x="-6" y="7405"/>
                    <a:pt x="0" y="15643"/>
                  </a:cubicBezTo>
                  <a:lnTo>
                    <a:pt x="0" y="102447"/>
                  </a:lnTo>
                  <a:cubicBezTo>
                    <a:pt x="-23" y="108923"/>
                    <a:pt x="5868" y="114190"/>
                    <a:pt x="13159" y="114211"/>
                  </a:cubicBezTo>
                  <a:cubicBezTo>
                    <a:pt x="18959" y="114227"/>
                    <a:pt x="24091" y="110879"/>
                    <a:pt x="25809" y="105957"/>
                  </a:cubicBezTo>
                  <a:cubicBezTo>
                    <a:pt x="36239" y="107996"/>
                    <a:pt x="46554" y="102137"/>
                    <a:pt x="48849" y="92872"/>
                  </a:cubicBezTo>
                  <a:cubicBezTo>
                    <a:pt x="49152" y="91649"/>
                    <a:pt x="49303" y="90401"/>
                    <a:pt x="49301" y="89149"/>
                  </a:cubicBezTo>
                  <a:cubicBezTo>
                    <a:pt x="49301" y="89096"/>
                    <a:pt x="49301" y="89045"/>
                    <a:pt x="49301" y="88994"/>
                  </a:cubicBezTo>
                  <a:cubicBezTo>
                    <a:pt x="56809" y="85941"/>
                    <a:pt x="61625" y="79279"/>
                    <a:pt x="61626" y="71943"/>
                  </a:cubicBezTo>
                  <a:close/>
                  <a:moveTo>
                    <a:pt x="27009" y="72514"/>
                  </a:moveTo>
                  <a:cubicBezTo>
                    <a:pt x="27009" y="72514"/>
                    <a:pt x="11427" y="61929"/>
                    <a:pt x="11427" y="53382"/>
                  </a:cubicBezTo>
                  <a:cubicBezTo>
                    <a:pt x="11427" y="47682"/>
                    <a:pt x="21234" y="41575"/>
                    <a:pt x="27009" y="51752"/>
                  </a:cubicBezTo>
                  <a:cubicBezTo>
                    <a:pt x="32783" y="41569"/>
                    <a:pt x="42591" y="47682"/>
                    <a:pt x="42591" y="53382"/>
                  </a:cubicBezTo>
                  <a:cubicBezTo>
                    <a:pt x="42591" y="61929"/>
                    <a:pt x="27009" y="72514"/>
                    <a:pt x="27009" y="72514"/>
                  </a:cubicBezTo>
                  <a:close/>
                </a:path>
              </a:pathLst>
            </a:custGeom>
            <a:solidFill>
              <a:srgbClr val="000000"/>
            </a:solidFill>
            <a:ln w="168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80E619AC-6290-2947-9736-D3600B9BC1CB}"/>
                </a:ext>
              </a:extLst>
            </p:cNvPr>
            <p:cNvSpPr/>
            <p:nvPr/>
          </p:nvSpPr>
          <p:spPr>
            <a:xfrm>
              <a:off x="251594" y="2636470"/>
              <a:ext cx="61619" cy="114208"/>
            </a:xfrm>
            <a:custGeom>
              <a:avLst/>
              <a:gdLst>
                <a:gd name="csX0" fmla="*/ 44013 w 61619"/>
                <a:gd name="csY0" fmla="*/ 0 h 114208"/>
                <a:gd name="csX1" fmla="*/ 26470 w 61619"/>
                <a:gd name="csY1" fmla="*/ 14601 h 114208"/>
                <a:gd name="csX2" fmla="*/ 14642 w 61619"/>
                <a:gd name="csY2" fmla="*/ 32743 h 114208"/>
                <a:gd name="csX3" fmla="*/ 14779 w 61619"/>
                <a:gd name="csY3" fmla="*/ 33173 h 114208"/>
                <a:gd name="csX4" fmla="*/ 5594 w 61619"/>
                <a:gd name="csY4" fmla="*/ 57178 h 114208"/>
                <a:gd name="csX5" fmla="*/ 6408 w 61619"/>
                <a:gd name="csY5" fmla="*/ 58502 h 114208"/>
                <a:gd name="csX6" fmla="*/ 5951 w 61619"/>
                <a:gd name="csY6" fmla="*/ 84998 h 114208"/>
                <a:gd name="csX7" fmla="*/ 12330 w 61619"/>
                <a:gd name="csY7" fmla="*/ 88997 h 114208"/>
                <a:gd name="csX8" fmla="*/ 12330 w 61619"/>
                <a:gd name="csY8" fmla="*/ 89152 h 114208"/>
                <a:gd name="csX9" fmla="*/ 31636 w 61619"/>
                <a:gd name="csY9" fmla="*/ 106357 h 114208"/>
                <a:gd name="csX10" fmla="*/ 35813 w 61619"/>
                <a:gd name="csY10" fmla="*/ 105957 h 114208"/>
                <a:gd name="csX11" fmla="*/ 52335 w 61619"/>
                <a:gd name="csY11" fmla="*/ 113678 h 114208"/>
                <a:gd name="csX12" fmla="*/ 61620 w 61619"/>
                <a:gd name="csY12" fmla="*/ 102452 h 114208"/>
                <a:gd name="csX13" fmla="*/ 61620 w 61619"/>
                <a:gd name="csY13" fmla="*/ 15641 h 114208"/>
                <a:gd name="csX14" fmla="*/ 44016 w 61619"/>
                <a:gd name="csY14" fmla="*/ 0 h 114208"/>
                <a:gd name="csX15" fmla="*/ 44013 w 61619"/>
                <a:gd name="csY15" fmla="*/ 0 h 114208"/>
                <a:gd name="csX16" fmla="*/ 42569 w 61619"/>
                <a:gd name="csY16" fmla="*/ 74384 h 114208"/>
                <a:gd name="csX17" fmla="*/ 41074 w 61619"/>
                <a:gd name="csY17" fmla="*/ 76853 h 114208"/>
                <a:gd name="csX18" fmla="*/ 37972 w 61619"/>
                <a:gd name="csY18" fmla="*/ 76771 h 114208"/>
                <a:gd name="csX19" fmla="*/ 35887 w 61619"/>
                <a:gd name="csY19" fmla="*/ 78249 h 114208"/>
                <a:gd name="csX20" fmla="*/ 35366 w 61619"/>
                <a:gd name="csY20" fmla="*/ 80966 h 114208"/>
                <a:gd name="csX21" fmla="*/ 32358 w 61619"/>
                <a:gd name="csY21" fmla="*/ 81776 h 114208"/>
                <a:gd name="csX22" fmla="*/ 30232 w 61619"/>
                <a:gd name="csY22" fmla="*/ 79781 h 114208"/>
                <a:gd name="csX23" fmla="*/ 27590 w 61619"/>
                <a:gd name="csY23" fmla="*/ 79547 h 114208"/>
                <a:gd name="csX24" fmla="*/ 25035 w 61619"/>
                <a:gd name="csY24" fmla="*/ 81122 h 114208"/>
                <a:gd name="csX25" fmla="*/ 22270 w 61619"/>
                <a:gd name="csY25" fmla="*/ 79800 h 114208"/>
                <a:gd name="csX26" fmla="*/ 22341 w 61619"/>
                <a:gd name="csY26" fmla="*/ 77038 h 114208"/>
                <a:gd name="csX27" fmla="*/ 20681 w 61619"/>
                <a:gd name="csY27" fmla="*/ 75186 h 114208"/>
                <a:gd name="csX28" fmla="*/ 17617 w 61619"/>
                <a:gd name="csY28" fmla="*/ 74714 h 114208"/>
                <a:gd name="csX29" fmla="*/ 16712 w 61619"/>
                <a:gd name="csY29" fmla="*/ 72037 h 114208"/>
                <a:gd name="csX30" fmla="*/ 18982 w 61619"/>
                <a:gd name="csY30" fmla="*/ 70166 h 114208"/>
                <a:gd name="csX31" fmla="*/ 19223 w 61619"/>
                <a:gd name="csY31" fmla="*/ 67808 h 114208"/>
                <a:gd name="csX32" fmla="*/ 17443 w 61619"/>
                <a:gd name="csY32" fmla="*/ 65560 h 114208"/>
                <a:gd name="csX33" fmla="*/ 18939 w 61619"/>
                <a:gd name="csY33" fmla="*/ 63091 h 114208"/>
                <a:gd name="csX34" fmla="*/ 22053 w 61619"/>
                <a:gd name="csY34" fmla="*/ 63170 h 114208"/>
                <a:gd name="csX35" fmla="*/ 24111 w 61619"/>
                <a:gd name="csY35" fmla="*/ 61682 h 114208"/>
                <a:gd name="csX36" fmla="*/ 24632 w 61619"/>
                <a:gd name="csY36" fmla="*/ 58964 h 114208"/>
                <a:gd name="csX37" fmla="*/ 27646 w 61619"/>
                <a:gd name="csY37" fmla="*/ 58160 h 114208"/>
                <a:gd name="csX38" fmla="*/ 29775 w 61619"/>
                <a:gd name="csY38" fmla="*/ 60175 h 114208"/>
                <a:gd name="csX39" fmla="*/ 32434 w 61619"/>
                <a:gd name="csY39" fmla="*/ 60405 h 114208"/>
                <a:gd name="csX40" fmla="*/ 34972 w 61619"/>
                <a:gd name="csY40" fmla="*/ 58817 h 114208"/>
                <a:gd name="csX41" fmla="*/ 37751 w 61619"/>
                <a:gd name="csY41" fmla="*/ 60147 h 114208"/>
                <a:gd name="csX42" fmla="*/ 37659 w 61619"/>
                <a:gd name="csY42" fmla="*/ 62903 h 114208"/>
                <a:gd name="csX43" fmla="*/ 39340 w 61619"/>
                <a:gd name="csY43" fmla="*/ 64754 h 114208"/>
                <a:gd name="csX44" fmla="*/ 42399 w 61619"/>
                <a:gd name="csY44" fmla="*/ 65217 h 114208"/>
                <a:gd name="csX45" fmla="*/ 43304 w 61619"/>
                <a:gd name="csY45" fmla="*/ 67893 h 114208"/>
                <a:gd name="csX46" fmla="*/ 41046 w 61619"/>
                <a:gd name="csY46" fmla="*/ 69786 h 114208"/>
                <a:gd name="csX47" fmla="*/ 40782 w 61619"/>
                <a:gd name="csY47" fmla="*/ 72133 h 114208"/>
                <a:gd name="csX48" fmla="*/ 49553 w 61619"/>
                <a:gd name="csY48" fmla="*/ 50178 h 114208"/>
                <a:gd name="csX49" fmla="*/ 48058 w 61619"/>
                <a:gd name="csY49" fmla="*/ 52647 h 114208"/>
                <a:gd name="csX50" fmla="*/ 44956 w 61619"/>
                <a:gd name="csY50" fmla="*/ 52564 h 114208"/>
                <a:gd name="csX51" fmla="*/ 42898 w 61619"/>
                <a:gd name="csY51" fmla="*/ 54053 h 114208"/>
                <a:gd name="csX52" fmla="*/ 42364 w 61619"/>
                <a:gd name="csY52" fmla="*/ 56780 h 114208"/>
                <a:gd name="csX53" fmla="*/ 39353 w 61619"/>
                <a:gd name="csY53" fmla="*/ 57584 h 114208"/>
                <a:gd name="csX54" fmla="*/ 37221 w 61619"/>
                <a:gd name="csY54" fmla="*/ 55579 h 114208"/>
                <a:gd name="csX55" fmla="*/ 34579 w 61619"/>
                <a:gd name="csY55" fmla="*/ 55344 h 114208"/>
                <a:gd name="csX56" fmla="*/ 32042 w 61619"/>
                <a:gd name="csY56" fmla="*/ 56932 h 114208"/>
                <a:gd name="csX57" fmla="*/ 29263 w 61619"/>
                <a:gd name="csY57" fmla="*/ 55603 h 114208"/>
                <a:gd name="csX58" fmla="*/ 29379 w 61619"/>
                <a:gd name="csY58" fmla="*/ 52817 h 114208"/>
                <a:gd name="csX59" fmla="*/ 27703 w 61619"/>
                <a:gd name="csY59" fmla="*/ 50988 h 114208"/>
                <a:gd name="csX60" fmla="*/ 24643 w 61619"/>
                <a:gd name="csY60" fmla="*/ 50525 h 114208"/>
                <a:gd name="csX61" fmla="*/ 23739 w 61619"/>
                <a:gd name="csY61" fmla="*/ 47850 h 114208"/>
                <a:gd name="csX62" fmla="*/ 25997 w 61619"/>
                <a:gd name="csY62" fmla="*/ 45957 h 114208"/>
                <a:gd name="csX63" fmla="*/ 26254 w 61619"/>
                <a:gd name="csY63" fmla="*/ 43611 h 114208"/>
                <a:gd name="csX64" fmla="*/ 24439 w 61619"/>
                <a:gd name="csY64" fmla="*/ 41351 h 114208"/>
                <a:gd name="csX65" fmla="*/ 25959 w 61619"/>
                <a:gd name="csY65" fmla="*/ 38868 h 114208"/>
                <a:gd name="csX66" fmla="*/ 29061 w 61619"/>
                <a:gd name="csY66" fmla="*/ 38952 h 114208"/>
                <a:gd name="csX67" fmla="*/ 31137 w 61619"/>
                <a:gd name="csY67" fmla="*/ 37475 h 114208"/>
                <a:gd name="csX68" fmla="*/ 31668 w 61619"/>
                <a:gd name="csY68" fmla="*/ 34755 h 114208"/>
                <a:gd name="csX69" fmla="*/ 34687 w 61619"/>
                <a:gd name="csY69" fmla="*/ 33945 h 114208"/>
                <a:gd name="csX70" fmla="*/ 36813 w 61619"/>
                <a:gd name="csY70" fmla="*/ 35938 h 114208"/>
                <a:gd name="csX71" fmla="*/ 39453 w 61619"/>
                <a:gd name="csY71" fmla="*/ 36174 h 114208"/>
                <a:gd name="csX72" fmla="*/ 41993 w 61619"/>
                <a:gd name="csY72" fmla="*/ 34591 h 114208"/>
                <a:gd name="csX73" fmla="*/ 44772 w 61619"/>
                <a:gd name="csY73" fmla="*/ 35921 h 114208"/>
                <a:gd name="csX74" fmla="*/ 44676 w 61619"/>
                <a:gd name="csY74" fmla="*/ 38689 h 114208"/>
                <a:gd name="csX75" fmla="*/ 46352 w 61619"/>
                <a:gd name="csY75" fmla="*/ 40518 h 114208"/>
                <a:gd name="csX76" fmla="*/ 49413 w 61619"/>
                <a:gd name="csY76" fmla="*/ 40981 h 114208"/>
                <a:gd name="csX77" fmla="*/ 50318 w 61619"/>
                <a:gd name="csY77" fmla="*/ 43656 h 114208"/>
                <a:gd name="csX78" fmla="*/ 48060 w 61619"/>
                <a:gd name="csY78" fmla="*/ 45551 h 114208"/>
                <a:gd name="csX79" fmla="*/ 47771 w 61619"/>
                <a:gd name="csY79" fmla="*/ 47927 h 114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</a:cxnLst>
              <a:rect l="l" t="t" r="r" b="b"/>
              <a:pathLst>
                <a:path w="61619" h="114208">
                  <a:moveTo>
                    <a:pt x="44013" y="0"/>
                  </a:moveTo>
                  <a:cubicBezTo>
                    <a:pt x="34750" y="6"/>
                    <a:pt x="27080" y="6391"/>
                    <a:pt x="26470" y="14601"/>
                  </a:cubicBezTo>
                  <a:cubicBezTo>
                    <a:pt x="17564" y="16709"/>
                    <a:pt x="12268" y="24832"/>
                    <a:pt x="14642" y="32743"/>
                  </a:cubicBezTo>
                  <a:cubicBezTo>
                    <a:pt x="14685" y="32887"/>
                    <a:pt x="14731" y="33031"/>
                    <a:pt x="14779" y="33173"/>
                  </a:cubicBezTo>
                  <a:cubicBezTo>
                    <a:pt x="4780" y="37549"/>
                    <a:pt x="668" y="48296"/>
                    <a:pt x="5594" y="57178"/>
                  </a:cubicBezTo>
                  <a:cubicBezTo>
                    <a:pt x="5845" y="57630"/>
                    <a:pt x="6116" y="58071"/>
                    <a:pt x="6408" y="58502"/>
                  </a:cubicBezTo>
                  <a:cubicBezTo>
                    <a:pt x="-1954" y="65707"/>
                    <a:pt x="-2159" y="77569"/>
                    <a:pt x="5951" y="84998"/>
                  </a:cubicBezTo>
                  <a:cubicBezTo>
                    <a:pt x="7779" y="86672"/>
                    <a:pt x="9942" y="88028"/>
                    <a:pt x="12330" y="88997"/>
                  </a:cubicBezTo>
                  <a:cubicBezTo>
                    <a:pt x="12330" y="89050"/>
                    <a:pt x="12330" y="89101"/>
                    <a:pt x="12330" y="89152"/>
                  </a:cubicBezTo>
                  <a:cubicBezTo>
                    <a:pt x="12312" y="98638"/>
                    <a:pt x="20956" y="106342"/>
                    <a:pt x="31636" y="106357"/>
                  </a:cubicBezTo>
                  <a:cubicBezTo>
                    <a:pt x="33040" y="106359"/>
                    <a:pt x="34441" y="106225"/>
                    <a:pt x="35813" y="105957"/>
                  </a:cubicBezTo>
                  <a:cubicBezTo>
                    <a:pt x="37975" y="112142"/>
                    <a:pt x="45372" y="115599"/>
                    <a:pt x="52335" y="113678"/>
                  </a:cubicBezTo>
                  <a:cubicBezTo>
                    <a:pt x="57868" y="112151"/>
                    <a:pt x="61633" y="107598"/>
                    <a:pt x="61620" y="102452"/>
                  </a:cubicBezTo>
                  <a:lnTo>
                    <a:pt x="61620" y="15641"/>
                  </a:lnTo>
                  <a:cubicBezTo>
                    <a:pt x="61621" y="7003"/>
                    <a:pt x="53739" y="1"/>
                    <a:pt x="44016" y="0"/>
                  </a:cubicBezTo>
                  <a:cubicBezTo>
                    <a:pt x="44015" y="0"/>
                    <a:pt x="44014" y="0"/>
                    <a:pt x="44013" y="0"/>
                  </a:cubicBezTo>
                  <a:close/>
                  <a:moveTo>
                    <a:pt x="42569" y="74384"/>
                  </a:moveTo>
                  <a:lnTo>
                    <a:pt x="41074" y="76853"/>
                  </a:lnTo>
                  <a:lnTo>
                    <a:pt x="37972" y="76771"/>
                  </a:lnTo>
                  <a:cubicBezTo>
                    <a:pt x="37347" y="77337"/>
                    <a:pt x="36647" y="77833"/>
                    <a:pt x="35887" y="78249"/>
                  </a:cubicBezTo>
                  <a:lnTo>
                    <a:pt x="35366" y="80966"/>
                  </a:lnTo>
                  <a:lnTo>
                    <a:pt x="32358" y="81776"/>
                  </a:lnTo>
                  <a:lnTo>
                    <a:pt x="30232" y="79781"/>
                  </a:lnTo>
                  <a:cubicBezTo>
                    <a:pt x="29344" y="79799"/>
                    <a:pt x="28457" y="79720"/>
                    <a:pt x="27590" y="79547"/>
                  </a:cubicBezTo>
                  <a:lnTo>
                    <a:pt x="25035" y="81122"/>
                  </a:lnTo>
                  <a:lnTo>
                    <a:pt x="22270" y="79800"/>
                  </a:lnTo>
                  <a:lnTo>
                    <a:pt x="22341" y="77038"/>
                  </a:lnTo>
                  <a:cubicBezTo>
                    <a:pt x="21705" y="76483"/>
                    <a:pt x="21148" y="75861"/>
                    <a:pt x="20681" y="75186"/>
                  </a:cubicBezTo>
                  <a:lnTo>
                    <a:pt x="17617" y="74714"/>
                  </a:lnTo>
                  <a:lnTo>
                    <a:pt x="16712" y="72037"/>
                  </a:lnTo>
                  <a:lnTo>
                    <a:pt x="18982" y="70166"/>
                  </a:lnTo>
                  <a:cubicBezTo>
                    <a:pt x="18955" y="69374"/>
                    <a:pt x="19036" y="68582"/>
                    <a:pt x="19223" y="67808"/>
                  </a:cubicBezTo>
                  <a:lnTo>
                    <a:pt x="17443" y="65560"/>
                  </a:lnTo>
                  <a:lnTo>
                    <a:pt x="18939" y="63091"/>
                  </a:lnTo>
                  <a:lnTo>
                    <a:pt x="22053" y="63170"/>
                  </a:lnTo>
                  <a:cubicBezTo>
                    <a:pt x="22669" y="62602"/>
                    <a:pt x="23360" y="62103"/>
                    <a:pt x="24111" y="61682"/>
                  </a:cubicBezTo>
                  <a:lnTo>
                    <a:pt x="24632" y="58964"/>
                  </a:lnTo>
                  <a:lnTo>
                    <a:pt x="27646" y="58160"/>
                  </a:lnTo>
                  <a:lnTo>
                    <a:pt x="29775" y="60175"/>
                  </a:lnTo>
                  <a:cubicBezTo>
                    <a:pt x="30669" y="60155"/>
                    <a:pt x="31562" y="60232"/>
                    <a:pt x="32434" y="60405"/>
                  </a:cubicBezTo>
                  <a:lnTo>
                    <a:pt x="34972" y="58817"/>
                  </a:lnTo>
                  <a:lnTo>
                    <a:pt x="37751" y="60147"/>
                  </a:lnTo>
                  <a:lnTo>
                    <a:pt x="37659" y="62903"/>
                  </a:lnTo>
                  <a:cubicBezTo>
                    <a:pt x="38302" y="63457"/>
                    <a:pt x="38867" y="64079"/>
                    <a:pt x="39340" y="64754"/>
                  </a:cubicBezTo>
                  <a:lnTo>
                    <a:pt x="42399" y="65217"/>
                  </a:lnTo>
                  <a:lnTo>
                    <a:pt x="43304" y="67893"/>
                  </a:lnTo>
                  <a:lnTo>
                    <a:pt x="41046" y="69786"/>
                  </a:lnTo>
                  <a:cubicBezTo>
                    <a:pt x="41065" y="70575"/>
                    <a:pt x="40977" y="71363"/>
                    <a:pt x="40782" y="72133"/>
                  </a:cubicBezTo>
                  <a:close/>
                  <a:moveTo>
                    <a:pt x="49553" y="50178"/>
                  </a:moveTo>
                  <a:lnTo>
                    <a:pt x="48058" y="52647"/>
                  </a:lnTo>
                  <a:lnTo>
                    <a:pt x="44956" y="52564"/>
                  </a:lnTo>
                  <a:cubicBezTo>
                    <a:pt x="44340" y="53132"/>
                    <a:pt x="43649" y="53632"/>
                    <a:pt x="42898" y="54053"/>
                  </a:cubicBezTo>
                  <a:lnTo>
                    <a:pt x="42364" y="56780"/>
                  </a:lnTo>
                  <a:lnTo>
                    <a:pt x="39353" y="57584"/>
                  </a:lnTo>
                  <a:lnTo>
                    <a:pt x="37221" y="55579"/>
                  </a:lnTo>
                  <a:cubicBezTo>
                    <a:pt x="36333" y="55596"/>
                    <a:pt x="35446" y="55518"/>
                    <a:pt x="34579" y="55344"/>
                  </a:cubicBezTo>
                  <a:lnTo>
                    <a:pt x="32042" y="56932"/>
                  </a:lnTo>
                  <a:lnTo>
                    <a:pt x="29263" y="55603"/>
                  </a:lnTo>
                  <a:lnTo>
                    <a:pt x="29379" y="52817"/>
                  </a:lnTo>
                  <a:cubicBezTo>
                    <a:pt x="28738" y="52270"/>
                    <a:pt x="28175" y="51656"/>
                    <a:pt x="27703" y="50988"/>
                  </a:cubicBezTo>
                  <a:lnTo>
                    <a:pt x="24643" y="50525"/>
                  </a:lnTo>
                  <a:lnTo>
                    <a:pt x="23739" y="47850"/>
                  </a:lnTo>
                  <a:lnTo>
                    <a:pt x="25997" y="45957"/>
                  </a:lnTo>
                  <a:cubicBezTo>
                    <a:pt x="25975" y="45169"/>
                    <a:pt x="26061" y="44381"/>
                    <a:pt x="26254" y="43611"/>
                  </a:cubicBezTo>
                  <a:lnTo>
                    <a:pt x="24439" y="41351"/>
                  </a:lnTo>
                  <a:lnTo>
                    <a:pt x="25959" y="38868"/>
                  </a:lnTo>
                  <a:lnTo>
                    <a:pt x="29061" y="38952"/>
                  </a:lnTo>
                  <a:cubicBezTo>
                    <a:pt x="29683" y="38386"/>
                    <a:pt x="30380" y="37890"/>
                    <a:pt x="31137" y="37475"/>
                  </a:cubicBezTo>
                  <a:lnTo>
                    <a:pt x="31668" y="34755"/>
                  </a:lnTo>
                  <a:lnTo>
                    <a:pt x="34687" y="33945"/>
                  </a:lnTo>
                  <a:lnTo>
                    <a:pt x="36813" y="35938"/>
                  </a:lnTo>
                  <a:cubicBezTo>
                    <a:pt x="37701" y="35922"/>
                    <a:pt x="38587" y="36001"/>
                    <a:pt x="39453" y="36174"/>
                  </a:cubicBezTo>
                  <a:lnTo>
                    <a:pt x="41993" y="34591"/>
                  </a:lnTo>
                  <a:lnTo>
                    <a:pt x="44772" y="35921"/>
                  </a:lnTo>
                  <a:lnTo>
                    <a:pt x="44676" y="38689"/>
                  </a:lnTo>
                  <a:cubicBezTo>
                    <a:pt x="45317" y="39236"/>
                    <a:pt x="45880" y="39850"/>
                    <a:pt x="46352" y="40518"/>
                  </a:cubicBezTo>
                  <a:lnTo>
                    <a:pt x="49413" y="40981"/>
                  </a:lnTo>
                  <a:lnTo>
                    <a:pt x="50318" y="43656"/>
                  </a:lnTo>
                  <a:lnTo>
                    <a:pt x="48060" y="45551"/>
                  </a:lnTo>
                  <a:cubicBezTo>
                    <a:pt x="48073" y="46350"/>
                    <a:pt x="47977" y="47148"/>
                    <a:pt x="47771" y="47927"/>
                  </a:cubicBezTo>
                  <a:close/>
                </a:path>
              </a:pathLst>
            </a:custGeom>
            <a:solidFill>
              <a:srgbClr val="000000"/>
            </a:solidFill>
            <a:ln w="168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892603F-180F-7C0E-9674-CBAC6CE9690D}"/>
                </a:ext>
              </a:extLst>
            </p:cNvPr>
            <p:cNvSpPr/>
            <p:nvPr/>
          </p:nvSpPr>
          <p:spPr>
            <a:xfrm>
              <a:off x="268750" y="267580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FA19BC4F-18BF-F236-A2DD-679B8E4AAD31}"/>
                </a:ext>
              </a:extLst>
            </p:cNvPr>
            <p:cNvSpPr/>
            <p:nvPr/>
          </p:nvSpPr>
          <p:spPr>
            <a:xfrm>
              <a:off x="329586" y="267580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3" name="Shape 4">
            <a:extLst>
              <a:ext uri="{FF2B5EF4-FFF2-40B4-BE49-F238E27FC236}">
                <a16:creationId xmlns:a16="http://schemas.microsoft.com/office/drawing/2014/main" id="{5193A8A5-D72E-5B61-D3F9-A65ECC82D4CA}"/>
              </a:ext>
            </a:extLst>
          </p:cNvPr>
          <p:cNvSpPr/>
          <p:nvPr/>
        </p:nvSpPr>
        <p:spPr>
          <a:xfrm rot="10800000">
            <a:off x="161837" y="3854763"/>
            <a:ext cx="1457152" cy="1039248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39EC291-EA5D-1285-8D73-09B1288F4C1E}"/>
              </a:ext>
            </a:extLst>
          </p:cNvPr>
          <p:cNvSpPr txBox="1"/>
          <p:nvPr/>
        </p:nvSpPr>
        <p:spPr>
          <a:xfrm>
            <a:off x="354664" y="3928427"/>
            <a:ext cx="126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i="0" cap="all" dirty="0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Integration</a:t>
            </a:r>
            <a:endParaRPr lang="ko-KR" altLang="en-US" sz="7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E63A52C-BFB0-A11D-19FA-C7AFB6F1DBD1}"/>
              </a:ext>
            </a:extLst>
          </p:cNvPr>
          <p:cNvSpPr txBox="1"/>
          <p:nvPr/>
        </p:nvSpPr>
        <p:spPr>
          <a:xfrm>
            <a:off x="202698" y="4068672"/>
            <a:ext cx="1375924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</a:rPr>
              <a:t>  기존 레거시 </a:t>
            </a: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</a:rPr>
              <a:t>BI 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</a:rPr>
              <a:t>시스템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Agent/Skill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외부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API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연동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 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정성</a:t>
            </a: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·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정량 데이터 및 문서</a:t>
            </a:r>
            <a:endParaRPr lang="en-US" altLang="ko-KR" sz="700" dirty="0">
              <a:solidFill>
                <a:srgbClr val="475569"/>
              </a:solidFill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내부 문서관리 시스템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</a:rPr>
              <a:t> Slack / MS Teams 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</a:rPr>
              <a:t>연동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pic>
        <p:nvPicPr>
          <p:cNvPr id="11" name="그래픽 10" descr="순서도 단색으로 채워진">
            <a:extLst>
              <a:ext uri="{FF2B5EF4-FFF2-40B4-BE49-F238E27FC236}">
                <a16:creationId xmlns:a16="http://schemas.microsoft.com/office/drawing/2014/main" id="{D77FACB0-BDCD-76D3-3A82-F55AF1D39C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4592" y="3943667"/>
            <a:ext cx="139172" cy="151781"/>
          </a:xfrm>
          <a:prstGeom prst="rect">
            <a:avLst/>
          </a:prstGeom>
        </p:spPr>
      </p:pic>
      <p:sp>
        <p:nvSpPr>
          <p:cNvPr id="114" name="Shape 4">
            <a:extLst>
              <a:ext uri="{FF2B5EF4-FFF2-40B4-BE49-F238E27FC236}">
                <a16:creationId xmlns:a16="http://schemas.microsoft.com/office/drawing/2014/main" id="{1B4D5C9C-FBA2-6986-51C1-5DADE4D48A52}"/>
              </a:ext>
            </a:extLst>
          </p:cNvPr>
          <p:cNvSpPr/>
          <p:nvPr/>
        </p:nvSpPr>
        <p:spPr>
          <a:xfrm rot="10800000">
            <a:off x="4952123" y="1654730"/>
            <a:ext cx="2467216" cy="341129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1" name="Shape 4">
            <a:extLst>
              <a:ext uri="{FF2B5EF4-FFF2-40B4-BE49-F238E27FC236}">
                <a16:creationId xmlns:a16="http://schemas.microsoft.com/office/drawing/2014/main" id="{E254B802-7E87-FDF7-FF11-214C610F224B}"/>
              </a:ext>
            </a:extLst>
          </p:cNvPr>
          <p:cNvSpPr/>
          <p:nvPr/>
        </p:nvSpPr>
        <p:spPr>
          <a:xfrm rot="10800000">
            <a:off x="4952124" y="2037014"/>
            <a:ext cx="2467216" cy="341129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3" name="Shape 4">
            <a:extLst>
              <a:ext uri="{FF2B5EF4-FFF2-40B4-BE49-F238E27FC236}">
                <a16:creationId xmlns:a16="http://schemas.microsoft.com/office/drawing/2014/main" id="{6FE0DFA2-6031-BC92-3B3E-B517E5BE0C53}"/>
              </a:ext>
            </a:extLst>
          </p:cNvPr>
          <p:cNvSpPr/>
          <p:nvPr/>
        </p:nvSpPr>
        <p:spPr>
          <a:xfrm rot="10800000">
            <a:off x="4952123" y="2419298"/>
            <a:ext cx="2467216" cy="341129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E61A188A-9747-A82F-F1CD-856C20861F42}"/>
              </a:ext>
            </a:extLst>
          </p:cNvPr>
          <p:cNvSpPr/>
          <p:nvPr/>
        </p:nvSpPr>
        <p:spPr>
          <a:xfrm>
            <a:off x="1633290" y="2110585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1" name="화살표: 오른쪽 140">
            <a:extLst>
              <a:ext uri="{FF2B5EF4-FFF2-40B4-BE49-F238E27FC236}">
                <a16:creationId xmlns:a16="http://schemas.microsoft.com/office/drawing/2014/main" id="{021BA4D5-10FE-7850-D849-DE170B5926C2}"/>
              </a:ext>
            </a:extLst>
          </p:cNvPr>
          <p:cNvSpPr/>
          <p:nvPr/>
        </p:nvSpPr>
        <p:spPr>
          <a:xfrm>
            <a:off x="1630936" y="3221844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3" name="화살표: 왼쪽/오른쪽 142">
            <a:extLst>
              <a:ext uri="{FF2B5EF4-FFF2-40B4-BE49-F238E27FC236}">
                <a16:creationId xmlns:a16="http://schemas.microsoft.com/office/drawing/2014/main" id="{F1B2F51B-46E3-81AD-039D-B5652C509D05}"/>
              </a:ext>
            </a:extLst>
          </p:cNvPr>
          <p:cNvSpPr/>
          <p:nvPr/>
        </p:nvSpPr>
        <p:spPr>
          <a:xfrm>
            <a:off x="1618986" y="4372574"/>
            <a:ext cx="151183" cy="101187"/>
          </a:xfrm>
          <a:prstGeom prst="leftRightArrow">
            <a:avLst>
              <a:gd name="adj1" fmla="val 34938"/>
              <a:gd name="adj2" fmla="val 38705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45" name="그래픽 144" descr="마법 지팡이 자동 단색으로 채워진">
            <a:extLst>
              <a:ext uri="{FF2B5EF4-FFF2-40B4-BE49-F238E27FC236}">
                <a16:creationId xmlns:a16="http://schemas.microsoft.com/office/drawing/2014/main" id="{514C2018-39DA-56DC-70ED-2800A828D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22074" y="1734486"/>
            <a:ext cx="177943" cy="177943"/>
          </a:xfrm>
          <a:prstGeom prst="rect">
            <a:avLst/>
          </a:prstGeom>
        </p:spPr>
      </p:pic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E51D1E0D-C202-094F-4DCA-4F1F397FB021}"/>
              </a:ext>
            </a:extLst>
          </p:cNvPr>
          <p:cNvSpPr/>
          <p:nvPr/>
        </p:nvSpPr>
        <p:spPr>
          <a:xfrm rot="10800000">
            <a:off x="7681100" y="2642147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9" name="화살표: 오른쪽 148">
            <a:extLst>
              <a:ext uri="{FF2B5EF4-FFF2-40B4-BE49-F238E27FC236}">
                <a16:creationId xmlns:a16="http://schemas.microsoft.com/office/drawing/2014/main" id="{0BD85E33-353D-38AB-D71B-972F025A5945}"/>
              </a:ext>
            </a:extLst>
          </p:cNvPr>
          <p:cNvSpPr/>
          <p:nvPr/>
        </p:nvSpPr>
        <p:spPr>
          <a:xfrm rot="10800000">
            <a:off x="7681100" y="3959053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3" name="Google Shape;204;p13">
            <a:extLst>
              <a:ext uri="{FF2B5EF4-FFF2-40B4-BE49-F238E27FC236}">
                <a16:creationId xmlns:a16="http://schemas.microsoft.com/office/drawing/2014/main" id="{63F1F8D2-5972-F8AB-E3BD-34DEF471B213}"/>
              </a:ext>
            </a:extLst>
          </p:cNvPr>
          <p:cNvSpPr txBox="1"/>
          <p:nvPr/>
        </p:nvSpPr>
        <p:spPr>
          <a:xfrm>
            <a:off x="5252719" y="1715109"/>
            <a:ext cx="21312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지능형 자산 생성</a:t>
            </a:r>
            <a:endParaRPr sz="1600" dirty="0"/>
          </a:p>
        </p:txBody>
      </p:sp>
      <p:sp>
        <p:nvSpPr>
          <p:cNvPr id="155" name="Google Shape;205;p13">
            <a:extLst>
              <a:ext uri="{FF2B5EF4-FFF2-40B4-BE49-F238E27FC236}">
                <a16:creationId xmlns:a16="http://schemas.microsoft.com/office/drawing/2014/main" id="{A2EBBFF8-3DE0-3B27-AB31-5541C0AF031A}"/>
              </a:ext>
            </a:extLst>
          </p:cNvPr>
          <p:cNvSpPr txBox="1"/>
          <p:nvPr/>
        </p:nvSpPr>
        <p:spPr>
          <a:xfrm>
            <a:off x="5252718" y="1835996"/>
            <a:ext cx="2108201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대시보드 및 리포트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(</a:t>
            </a:r>
            <a:r>
              <a:rPr lang="en-US" altLang="ko-KR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PPT,Word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)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자동 생성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/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변환</a:t>
            </a:r>
            <a:endParaRPr sz="1400" dirty="0"/>
          </a:p>
        </p:txBody>
      </p:sp>
      <p:sp>
        <p:nvSpPr>
          <p:cNvPr id="156" name="Google Shape;204;p13">
            <a:extLst>
              <a:ext uri="{FF2B5EF4-FFF2-40B4-BE49-F238E27FC236}">
                <a16:creationId xmlns:a16="http://schemas.microsoft.com/office/drawing/2014/main" id="{290B2762-CC9B-87AA-DFAD-9BE66BDCFCAA}"/>
              </a:ext>
            </a:extLst>
          </p:cNvPr>
          <p:cNvSpPr txBox="1"/>
          <p:nvPr/>
        </p:nvSpPr>
        <p:spPr>
          <a:xfrm>
            <a:off x="5242560" y="2100751"/>
            <a:ext cx="21312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중앙 저장 및 협업</a:t>
            </a:r>
            <a:endParaRPr sz="1600" dirty="0"/>
          </a:p>
        </p:txBody>
      </p:sp>
      <p:sp>
        <p:nvSpPr>
          <p:cNvPr id="157" name="Google Shape;205;p13">
            <a:extLst>
              <a:ext uri="{FF2B5EF4-FFF2-40B4-BE49-F238E27FC236}">
                <a16:creationId xmlns:a16="http://schemas.microsoft.com/office/drawing/2014/main" id="{ACC50DBD-D7B2-FD48-80FE-07ADBA8EF94F}"/>
              </a:ext>
            </a:extLst>
          </p:cNvPr>
          <p:cNvSpPr txBox="1"/>
          <p:nvPr/>
        </p:nvSpPr>
        <p:spPr>
          <a:xfrm>
            <a:off x="5242559" y="2221638"/>
            <a:ext cx="2108201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워크스페이스 보존 및 실시간 뷰 공유</a:t>
            </a:r>
          </a:p>
        </p:txBody>
      </p:sp>
      <p:sp>
        <p:nvSpPr>
          <p:cNvPr id="158" name="Google Shape;204;p13">
            <a:extLst>
              <a:ext uri="{FF2B5EF4-FFF2-40B4-BE49-F238E27FC236}">
                <a16:creationId xmlns:a16="http://schemas.microsoft.com/office/drawing/2014/main" id="{07D8EDEB-5FAB-0C65-B95B-B74B23ED4D02}"/>
              </a:ext>
            </a:extLst>
          </p:cNvPr>
          <p:cNvSpPr txBox="1"/>
          <p:nvPr/>
        </p:nvSpPr>
        <p:spPr>
          <a:xfrm>
            <a:off x="5231655" y="2482186"/>
            <a:ext cx="21312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배포 및 라이브 접속</a:t>
            </a:r>
            <a:endParaRPr sz="1600" dirty="0"/>
          </a:p>
        </p:txBody>
      </p:sp>
      <p:sp>
        <p:nvSpPr>
          <p:cNvPr id="159" name="Google Shape;205;p13">
            <a:extLst>
              <a:ext uri="{FF2B5EF4-FFF2-40B4-BE49-F238E27FC236}">
                <a16:creationId xmlns:a16="http://schemas.microsoft.com/office/drawing/2014/main" id="{A4CE0E4C-0FE7-A260-DC30-CD8AE521BC5F}"/>
              </a:ext>
            </a:extLst>
          </p:cNvPr>
          <p:cNvSpPr txBox="1"/>
          <p:nvPr/>
        </p:nvSpPr>
        <p:spPr>
          <a:xfrm>
            <a:off x="5231654" y="2603073"/>
            <a:ext cx="2108201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94"/>
              </a:lnSpc>
            </a:pP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PPT/Word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추출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,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메일 구독 및 직접 분석</a:t>
            </a:r>
            <a:endParaRPr sz="1400" dirty="0"/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A9A9EFF1-BCD7-5E15-CE8C-FCC701656E02}"/>
              </a:ext>
            </a:extLst>
          </p:cNvPr>
          <p:cNvGrpSpPr/>
          <p:nvPr/>
        </p:nvGrpSpPr>
        <p:grpSpPr>
          <a:xfrm>
            <a:off x="5036358" y="2140811"/>
            <a:ext cx="160482" cy="121945"/>
            <a:chOff x="5185735" y="-401107"/>
            <a:chExt cx="875937" cy="773695"/>
          </a:xfrm>
          <a:solidFill>
            <a:srgbClr val="0D9488"/>
          </a:solidFill>
        </p:grpSpPr>
        <p:sp>
          <p:nvSpPr>
            <p:cNvPr id="169" name="자유형: 도형 168">
              <a:extLst>
                <a:ext uri="{FF2B5EF4-FFF2-40B4-BE49-F238E27FC236}">
                  <a16:creationId xmlns:a16="http://schemas.microsoft.com/office/drawing/2014/main" id="{D5174A72-446B-01EE-38B6-ED1379757874}"/>
                </a:ext>
              </a:extLst>
            </p:cNvPr>
            <p:cNvSpPr/>
            <p:nvPr/>
          </p:nvSpPr>
          <p:spPr>
            <a:xfrm>
              <a:off x="5186094" y="-89596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0" name="자유형: 도형 169">
              <a:extLst>
                <a:ext uri="{FF2B5EF4-FFF2-40B4-BE49-F238E27FC236}">
                  <a16:creationId xmlns:a16="http://schemas.microsoft.com/office/drawing/2014/main" id="{27A7B247-5A99-3214-D7AC-5659F38136F8}"/>
                </a:ext>
              </a:extLst>
            </p:cNvPr>
            <p:cNvSpPr/>
            <p:nvPr/>
          </p:nvSpPr>
          <p:spPr>
            <a:xfrm>
              <a:off x="5186096" y="-401107"/>
              <a:ext cx="875576" cy="371475"/>
            </a:xfrm>
            <a:custGeom>
              <a:avLst/>
              <a:gdLst>
                <a:gd name="csX0" fmla="*/ 437788 w 875576"/>
                <a:gd name="csY0" fmla="*/ 0 h 371475"/>
                <a:gd name="csX1" fmla="*/ 0 w 875576"/>
                <a:gd name="csY1" fmla="*/ 185738 h 371475"/>
                <a:gd name="csX2" fmla="*/ 437788 w 875576"/>
                <a:gd name="csY2" fmla="*/ 371475 h 371475"/>
                <a:gd name="csX3" fmla="*/ 875576 w 875576"/>
                <a:gd name="csY3" fmla="*/ 185738 h 371475"/>
                <a:gd name="csX4" fmla="*/ 437788 w 875576"/>
                <a:gd name="csY4" fmla="*/ 0 h 37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5576" h="371475">
                  <a:moveTo>
                    <a:pt x="437788" y="0"/>
                  </a:moveTo>
                  <a:lnTo>
                    <a:pt x="0" y="185738"/>
                  </a:lnTo>
                  <a:lnTo>
                    <a:pt x="437788" y="371475"/>
                  </a:lnTo>
                  <a:lnTo>
                    <a:pt x="875576" y="185738"/>
                  </a:lnTo>
                  <a:lnTo>
                    <a:pt x="43778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2" name="자유형: 도형 181">
              <a:extLst>
                <a:ext uri="{FF2B5EF4-FFF2-40B4-BE49-F238E27FC236}">
                  <a16:creationId xmlns:a16="http://schemas.microsoft.com/office/drawing/2014/main" id="{583ECE37-56CF-B537-21C8-8FDCFA6B639C}"/>
                </a:ext>
              </a:extLst>
            </p:cNvPr>
            <p:cNvSpPr/>
            <p:nvPr/>
          </p:nvSpPr>
          <p:spPr>
            <a:xfrm>
              <a:off x="5185735" y="107532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2" name="그래픽 190" descr="보내다 단색으로 채워진">
            <a:extLst>
              <a:ext uri="{FF2B5EF4-FFF2-40B4-BE49-F238E27FC236}">
                <a16:creationId xmlns:a16="http://schemas.microsoft.com/office/drawing/2014/main" id="{1ECF2294-EFFB-DE05-6985-E1DA0BE1FDF0}"/>
              </a:ext>
            </a:extLst>
          </p:cNvPr>
          <p:cNvSpPr/>
          <p:nvPr/>
        </p:nvSpPr>
        <p:spPr>
          <a:xfrm>
            <a:off x="5021581" y="2531366"/>
            <a:ext cx="142138" cy="131824"/>
          </a:xfrm>
          <a:custGeom>
            <a:avLst/>
            <a:gdLst>
              <a:gd name="csX0" fmla="*/ 632460 w 763098"/>
              <a:gd name="csY0" fmla="*/ 593298 h 705470"/>
              <a:gd name="csX1" fmla="*/ 461010 w 763098"/>
              <a:gd name="csY1" fmla="*/ 534243 h 705470"/>
              <a:gd name="csX2" fmla="*/ 460058 w 763098"/>
              <a:gd name="csY2" fmla="*/ 534243 h 705470"/>
              <a:gd name="csX3" fmla="*/ 391478 w 763098"/>
              <a:gd name="csY3" fmla="*/ 510431 h 705470"/>
              <a:gd name="csX4" fmla="*/ 712470 w 763098"/>
              <a:gd name="csY4" fmla="*/ 86568 h 705470"/>
              <a:gd name="csX5" fmla="*/ 632460 w 763098"/>
              <a:gd name="csY5" fmla="*/ 593298 h 705470"/>
              <a:gd name="csX6" fmla="*/ 418148 w 763098"/>
              <a:gd name="csY6" fmla="*/ 560913 h 705470"/>
              <a:gd name="csX7" fmla="*/ 355283 w 763098"/>
              <a:gd name="csY7" fmla="*/ 623778 h 705470"/>
              <a:gd name="csX8" fmla="*/ 372428 w 763098"/>
              <a:gd name="csY8" fmla="*/ 545673 h 705470"/>
              <a:gd name="csX9" fmla="*/ 418148 w 763098"/>
              <a:gd name="csY9" fmla="*/ 560913 h 705470"/>
              <a:gd name="csX10" fmla="*/ 418148 w 763098"/>
              <a:gd name="csY10" fmla="*/ 560913 h 705470"/>
              <a:gd name="csX11" fmla="*/ 341948 w 763098"/>
              <a:gd name="csY11" fmla="*/ 512336 h 705470"/>
              <a:gd name="csX12" fmla="*/ 338138 w 763098"/>
              <a:gd name="csY12" fmla="*/ 519956 h 705470"/>
              <a:gd name="csX13" fmla="*/ 335280 w 763098"/>
              <a:gd name="csY13" fmla="*/ 532338 h 705470"/>
              <a:gd name="csX14" fmla="*/ 316230 w 763098"/>
              <a:gd name="csY14" fmla="*/ 619016 h 705470"/>
              <a:gd name="csX15" fmla="*/ 270510 w 763098"/>
              <a:gd name="csY15" fmla="*/ 485666 h 705470"/>
              <a:gd name="csX16" fmla="*/ 626745 w 763098"/>
              <a:gd name="csY16" fmla="*/ 142766 h 705470"/>
              <a:gd name="csX17" fmla="*/ 353378 w 763098"/>
              <a:gd name="csY17" fmla="*/ 498048 h 705470"/>
              <a:gd name="csX18" fmla="*/ 341948 w 763098"/>
              <a:gd name="csY18" fmla="*/ 512336 h 705470"/>
              <a:gd name="csX19" fmla="*/ 66675 w 763098"/>
              <a:gd name="csY19" fmla="*/ 399941 h 705470"/>
              <a:gd name="csX20" fmla="*/ 624840 w 763098"/>
              <a:gd name="csY20" fmla="*/ 102761 h 705470"/>
              <a:gd name="csX21" fmla="*/ 242888 w 763098"/>
              <a:gd name="csY21" fmla="*/ 459948 h 705470"/>
              <a:gd name="csX22" fmla="*/ 66675 w 763098"/>
              <a:gd name="csY22" fmla="*/ 399941 h 705470"/>
              <a:gd name="csX23" fmla="*/ 754380 w 763098"/>
              <a:gd name="csY23" fmla="*/ 3701 h 705470"/>
              <a:gd name="csX24" fmla="*/ 733425 w 763098"/>
              <a:gd name="csY24" fmla="*/ 2748 h 705470"/>
              <a:gd name="csX25" fmla="*/ 10478 w 763098"/>
              <a:gd name="csY25" fmla="*/ 386606 h 705470"/>
              <a:gd name="csX26" fmla="*/ 0 w 763098"/>
              <a:gd name="csY26" fmla="*/ 404703 h 705470"/>
              <a:gd name="csX27" fmla="*/ 12383 w 763098"/>
              <a:gd name="csY27" fmla="*/ 420896 h 705470"/>
              <a:gd name="csX28" fmla="*/ 210503 w 763098"/>
              <a:gd name="csY28" fmla="*/ 488523 h 705470"/>
              <a:gd name="csX29" fmla="*/ 235268 w 763098"/>
              <a:gd name="csY29" fmla="*/ 497096 h 705470"/>
              <a:gd name="csX30" fmla="*/ 240983 w 763098"/>
              <a:gd name="csY30" fmla="*/ 513288 h 705470"/>
              <a:gd name="csX31" fmla="*/ 300038 w 763098"/>
              <a:gd name="csY31" fmla="*/ 690453 h 705470"/>
              <a:gd name="csX32" fmla="*/ 300038 w 763098"/>
              <a:gd name="csY32" fmla="*/ 691406 h 705470"/>
              <a:gd name="csX33" fmla="*/ 300038 w 763098"/>
              <a:gd name="csY33" fmla="*/ 692358 h 705470"/>
              <a:gd name="csX34" fmla="*/ 314325 w 763098"/>
              <a:gd name="csY34" fmla="*/ 704741 h 705470"/>
              <a:gd name="csX35" fmla="*/ 332423 w 763098"/>
              <a:gd name="csY35" fmla="*/ 699978 h 705470"/>
              <a:gd name="csX36" fmla="*/ 333375 w 763098"/>
              <a:gd name="csY36" fmla="*/ 699026 h 705470"/>
              <a:gd name="csX37" fmla="*/ 339090 w 763098"/>
              <a:gd name="csY37" fmla="*/ 693311 h 705470"/>
              <a:gd name="csX38" fmla="*/ 459105 w 763098"/>
              <a:gd name="csY38" fmla="*/ 575201 h 705470"/>
              <a:gd name="csX39" fmla="*/ 641985 w 763098"/>
              <a:gd name="csY39" fmla="*/ 638066 h 705470"/>
              <a:gd name="csX40" fmla="*/ 658178 w 763098"/>
              <a:gd name="csY40" fmla="*/ 636161 h 705470"/>
              <a:gd name="csX41" fmla="*/ 667703 w 763098"/>
              <a:gd name="csY41" fmla="*/ 622826 h 705470"/>
              <a:gd name="csX42" fmla="*/ 762953 w 763098"/>
              <a:gd name="csY42" fmla="*/ 22751 h 705470"/>
              <a:gd name="csX43" fmla="*/ 754380 w 763098"/>
              <a:gd name="csY43" fmla="*/ 3701 h 705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763098" h="705470">
                <a:moveTo>
                  <a:pt x="632460" y="593298"/>
                </a:moveTo>
                <a:lnTo>
                  <a:pt x="461010" y="534243"/>
                </a:lnTo>
                <a:lnTo>
                  <a:pt x="460058" y="534243"/>
                </a:lnTo>
                <a:lnTo>
                  <a:pt x="391478" y="510431"/>
                </a:lnTo>
                <a:lnTo>
                  <a:pt x="712470" y="86568"/>
                </a:lnTo>
                <a:lnTo>
                  <a:pt x="632460" y="593298"/>
                </a:lnTo>
                <a:close/>
                <a:moveTo>
                  <a:pt x="418148" y="560913"/>
                </a:moveTo>
                <a:lnTo>
                  <a:pt x="355283" y="623778"/>
                </a:lnTo>
                <a:lnTo>
                  <a:pt x="372428" y="545673"/>
                </a:lnTo>
                <a:lnTo>
                  <a:pt x="418148" y="560913"/>
                </a:lnTo>
                <a:lnTo>
                  <a:pt x="418148" y="560913"/>
                </a:lnTo>
                <a:close/>
                <a:moveTo>
                  <a:pt x="341948" y="512336"/>
                </a:moveTo>
                <a:cubicBezTo>
                  <a:pt x="340043" y="514241"/>
                  <a:pt x="339090" y="517098"/>
                  <a:pt x="338138" y="519956"/>
                </a:cubicBezTo>
                <a:lnTo>
                  <a:pt x="335280" y="532338"/>
                </a:lnTo>
                <a:lnTo>
                  <a:pt x="316230" y="619016"/>
                </a:lnTo>
                <a:lnTo>
                  <a:pt x="270510" y="485666"/>
                </a:lnTo>
                <a:lnTo>
                  <a:pt x="626745" y="142766"/>
                </a:lnTo>
                <a:lnTo>
                  <a:pt x="353378" y="498048"/>
                </a:lnTo>
                <a:lnTo>
                  <a:pt x="341948" y="512336"/>
                </a:lnTo>
                <a:close/>
                <a:moveTo>
                  <a:pt x="66675" y="399941"/>
                </a:moveTo>
                <a:lnTo>
                  <a:pt x="624840" y="102761"/>
                </a:lnTo>
                <a:lnTo>
                  <a:pt x="242888" y="459948"/>
                </a:lnTo>
                <a:lnTo>
                  <a:pt x="66675" y="399941"/>
                </a:lnTo>
                <a:close/>
                <a:moveTo>
                  <a:pt x="754380" y="3701"/>
                </a:moveTo>
                <a:cubicBezTo>
                  <a:pt x="748665" y="-1062"/>
                  <a:pt x="740093" y="-1062"/>
                  <a:pt x="733425" y="2748"/>
                </a:cubicBezTo>
                <a:lnTo>
                  <a:pt x="10478" y="386606"/>
                </a:lnTo>
                <a:cubicBezTo>
                  <a:pt x="3810" y="390416"/>
                  <a:pt x="0" y="397083"/>
                  <a:pt x="0" y="404703"/>
                </a:cubicBezTo>
                <a:cubicBezTo>
                  <a:pt x="0" y="412323"/>
                  <a:pt x="5715" y="418991"/>
                  <a:pt x="12383" y="420896"/>
                </a:cubicBezTo>
                <a:lnTo>
                  <a:pt x="210503" y="488523"/>
                </a:lnTo>
                <a:lnTo>
                  <a:pt x="235268" y="497096"/>
                </a:lnTo>
                <a:lnTo>
                  <a:pt x="240983" y="513288"/>
                </a:lnTo>
                <a:lnTo>
                  <a:pt x="300038" y="690453"/>
                </a:lnTo>
                <a:lnTo>
                  <a:pt x="300038" y="691406"/>
                </a:lnTo>
                <a:lnTo>
                  <a:pt x="300038" y="692358"/>
                </a:lnTo>
                <a:cubicBezTo>
                  <a:pt x="301943" y="698073"/>
                  <a:pt x="307658" y="702836"/>
                  <a:pt x="314325" y="704741"/>
                </a:cubicBezTo>
                <a:cubicBezTo>
                  <a:pt x="320993" y="706646"/>
                  <a:pt x="327660" y="704741"/>
                  <a:pt x="332423" y="699978"/>
                </a:cubicBezTo>
                <a:lnTo>
                  <a:pt x="333375" y="699026"/>
                </a:lnTo>
                <a:lnTo>
                  <a:pt x="339090" y="693311"/>
                </a:lnTo>
                <a:lnTo>
                  <a:pt x="459105" y="575201"/>
                </a:lnTo>
                <a:lnTo>
                  <a:pt x="641985" y="638066"/>
                </a:lnTo>
                <a:cubicBezTo>
                  <a:pt x="647700" y="639971"/>
                  <a:pt x="653415" y="639018"/>
                  <a:pt x="658178" y="636161"/>
                </a:cubicBezTo>
                <a:cubicBezTo>
                  <a:pt x="662940" y="633303"/>
                  <a:pt x="666750" y="628541"/>
                  <a:pt x="667703" y="622826"/>
                </a:cubicBezTo>
                <a:lnTo>
                  <a:pt x="762953" y="22751"/>
                </a:lnTo>
                <a:cubicBezTo>
                  <a:pt x="763905" y="14178"/>
                  <a:pt x="760095" y="7511"/>
                  <a:pt x="754380" y="3701"/>
                </a:cubicBezTo>
                <a:close/>
              </a:path>
            </a:pathLst>
          </a:custGeom>
          <a:solidFill>
            <a:srgbClr val="0D9488"/>
          </a:solidFill>
          <a:ln w="9525" cap="flat">
            <a:solidFill>
              <a:srgbClr val="0D9488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0" name="Shape 4">
            <a:extLst>
              <a:ext uri="{FF2B5EF4-FFF2-40B4-BE49-F238E27FC236}">
                <a16:creationId xmlns:a16="http://schemas.microsoft.com/office/drawing/2014/main" id="{17B43B37-C671-121E-7670-85968C08B692}"/>
              </a:ext>
            </a:extLst>
          </p:cNvPr>
          <p:cNvSpPr/>
          <p:nvPr/>
        </p:nvSpPr>
        <p:spPr>
          <a:xfrm>
            <a:off x="2034281" y="3904754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3" name="Google Shape;214;p13">
            <a:extLst>
              <a:ext uri="{FF2B5EF4-FFF2-40B4-BE49-F238E27FC236}">
                <a16:creationId xmlns:a16="http://schemas.microsoft.com/office/drawing/2014/main" id="{55454C9E-F732-30D3-8626-B845290326F5}"/>
              </a:ext>
            </a:extLst>
          </p:cNvPr>
          <p:cNvSpPr txBox="1"/>
          <p:nvPr/>
        </p:nvSpPr>
        <p:spPr>
          <a:xfrm>
            <a:off x="2038641" y="4004014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계정 및 권한</a:t>
            </a:r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통제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07" name="Google Shape;215;p13">
            <a:extLst>
              <a:ext uri="{FF2B5EF4-FFF2-40B4-BE49-F238E27FC236}">
                <a16:creationId xmlns:a16="http://schemas.microsoft.com/office/drawing/2014/main" id="{6548E349-9264-9C5A-184E-703CB1D134A2}"/>
              </a:ext>
            </a:extLst>
          </p:cNvPr>
          <p:cNvSpPr txBox="1"/>
          <p:nvPr/>
        </p:nvSpPr>
        <p:spPr>
          <a:xfrm>
            <a:off x="2047988" y="4153273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Auth &amp; SSO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2" name="Shape 4">
            <a:extLst>
              <a:ext uri="{FF2B5EF4-FFF2-40B4-BE49-F238E27FC236}">
                <a16:creationId xmlns:a16="http://schemas.microsoft.com/office/drawing/2014/main" id="{9805C07B-2365-820E-57F7-4C6EA2D30E0C}"/>
              </a:ext>
            </a:extLst>
          </p:cNvPr>
          <p:cNvSpPr/>
          <p:nvPr/>
        </p:nvSpPr>
        <p:spPr>
          <a:xfrm>
            <a:off x="3392315" y="3402437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3" name="Google Shape;214;p13">
            <a:extLst>
              <a:ext uri="{FF2B5EF4-FFF2-40B4-BE49-F238E27FC236}">
                <a16:creationId xmlns:a16="http://schemas.microsoft.com/office/drawing/2014/main" id="{16195E15-6646-FCB1-005C-9188E9C5C748}"/>
              </a:ext>
            </a:extLst>
          </p:cNvPr>
          <p:cNvSpPr txBox="1"/>
          <p:nvPr/>
        </p:nvSpPr>
        <p:spPr>
          <a:xfrm>
            <a:off x="3398579" y="3513758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스킬 기반 모델 관리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84" name="Google Shape;215;p13">
            <a:extLst>
              <a:ext uri="{FF2B5EF4-FFF2-40B4-BE49-F238E27FC236}">
                <a16:creationId xmlns:a16="http://schemas.microsoft.com/office/drawing/2014/main" id="{A4427A95-1A55-30C3-7A74-E740F481FC5E}"/>
              </a:ext>
            </a:extLst>
          </p:cNvPr>
          <p:cNvSpPr txBox="1"/>
          <p:nvPr/>
        </p:nvSpPr>
        <p:spPr>
          <a:xfrm>
            <a:off x="3407927" y="3663017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altLang="ko-KR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Skill Registry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5" name="Shape 4">
            <a:extLst>
              <a:ext uri="{FF2B5EF4-FFF2-40B4-BE49-F238E27FC236}">
                <a16:creationId xmlns:a16="http://schemas.microsoft.com/office/drawing/2014/main" id="{BE0973AD-5213-0ACA-5EE7-BF09F93929D4}"/>
              </a:ext>
            </a:extLst>
          </p:cNvPr>
          <p:cNvSpPr/>
          <p:nvPr/>
        </p:nvSpPr>
        <p:spPr>
          <a:xfrm>
            <a:off x="3394219" y="3903693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6" name="Google Shape;214;p13">
            <a:extLst>
              <a:ext uri="{FF2B5EF4-FFF2-40B4-BE49-F238E27FC236}">
                <a16:creationId xmlns:a16="http://schemas.microsoft.com/office/drawing/2014/main" id="{345E18EE-0F82-FC47-EE1C-F1FDB601BADD}"/>
              </a:ext>
            </a:extLst>
          </p:cNvPr>
          <p:cNvSpPr txBox="1"/>
          <p:nvPr/>
        </p:nvSpPr>
        <p:spPr>
          <a:xfrm>
            <a:off x="3398579" y="4002953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자동 최적화 텍스트 생성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87" name="Google Shape;215;p13">
            <a:extLst>
              <a:ext uri="{FF2B5EF4-FFF2-40B4-BE49-F238E27FC236}">
                <a16:creationId xmlns:a16="http://schemas.microsoft.com/office/drawing/2014/main" id="{6A942077-BE89-D1C9-69A4-A2B7F62D94E2}"/>
              </a:ext>
            </a:extLst>
          </p:cNvPr>
          <p:cNvSpPr txBox="1"/>
          <p:nvPr/>
        </p:nvSpPr>
        <p:spPr>
          <a:xfrm>
            <a:off x="3407926" y="4152212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Prompt Builder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8" name="Shape 4">
            <a:extLst>
              <a:ext uri="{FF2B5EF4-FFF2-40B4-BE49-F238E27FC236}">
                <a16:creationId xmlns:a16="http://schemas.microsoft.com/office/drawing/2014/main" id="{C320A240-C689-BA13-1BA2-B8B1EEF37C47}"/>
              </a:ext>
            </a:extLst>
          </p:cNvPr>
          <p:cNvSpPr/>
          <p:nvPr/>
        </p:nvSpPr>
        <p:spPr>
          <a:xfrm>
            <a:off x="4745535" y="3402437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9" name="Google Shape;214;p13">
            <a:extLst>
              <a:ext uri="{FF2B5EF4-FFF2-40B4-BE49-F238E27FC236}">
                <a16:creationId xmlns:a16="http://schemas.microsoft.com/office/drawing/2014/main" id="{A1DD2FF8-E769-7693-2CF0-097F51E938E1}"/>
              </a:ext>
            </a:extLst>
          </p:cNvPr>
          <p:cNvSpPr txBox="1"/>
          <p:nvPr/>
        </p:nvSpPr>
        <p:spPr>
          <a:xfrm>
            <a:off x="4751799" y="3513758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정성 지식 독립화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90" name="Google Shape;215;p13">
            <a:extLst>
              <a:ext uri="{FF2B5EF4-FFF2-40B4-BE49-F238E27FC236}">
                <a16:creationId xmlns:a16="http://schemas.microsoft.com/office/drawing/2014/main" id="{9D164F96-518A-0FA3-85FE-C05086B1B860}"/>
              </a:ext>
            </a:extLst>
          </p:cNvPr>
          <p:cNvSpPr txBox="1"/>
          <p:nvPr/>
        </p:nvSpPr>
        <p:spPr>
          <a:xfrm>
            <a:off x="4761147" y="3663017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altLang="ko-KR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Knowledge Wiki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1" name="Shape 4">
            <a:extLst>
              <a:ext uri="{FF2B5EF4-FFF2-40B4-BE49-F238E27FC236}">
                <a16:creationId xmlns:a16="http://schemas.microsoft.com/office/drawing/2014/main" id="{9453F244-7A20-E10E-F31E-A88F90F6B50A}"/>
              </a:ext>
            </a:extLst>
          </p:cNvPr>
          <p:cNvSpPr/>
          <p:nvPr/>
        </p:nvSpPr>
        <p:spPr>
          <a:xfrm>
            <a:off x="4747439" y="3903693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2" name="Google Shape;214;p13">
            <a:extLst>
              <a:ext uri="{FF2B5EF4-FFF2-40B4-BE49-F238E27FC236}">
                <a16:creationId xmlns:a16="http://schemas.microsoft.com/office/drawing/2014/main" id="{81F61CEE-1CAB-8552-9AD4-7A9EB09EA9A5}"/>
              </a:ext>
            </a:extLst>
          </p:cNvPr>
          <p:cNvSpPr txBox="1"/>
          <p:nvPr/>
        </p:nvSpPr>
        <p:spPr>
          <a:xfrm>
            <a:off x="4751799" y="4002953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SQL 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및 질의 성능 관제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93" name="Google Shape;215;p13">
            <a:extLst>
              <a:ext uri="{FF2B5EF4-FFF2-40B4-BE49-F238E27FC236}">
                <a16:creationId xmlns:a16="http://schemas.microsoft.com/office/drawing/2014/main" id="{323BB587-A530-D133-97BC-C9AE8333F3E3}"/>
              </a:ext>
            </a:extLst>
          </p:cNvPr>
          <p:cNvSpPr txBox="1"/>
          <p:nvPr/>
        </p:nvSpPr>
        <p:spPr>
          <a:xfrm>
            <a:off x="4761146" y="4152212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Perf. Monitor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1" name="Shape 4">
            <a:extLst>
              <a:ext uri="{FF2B5EF4-FFF2-40B4-BE49-F238E27FC236}">
                <a16:creationId xmlns:a16="http://schemas.microsoft.com/office/drawing/2014/main" id="{F905B99B-6B02-3FED-DE5A-FD1FEFD08017}"/>
              </a:ext>
            </a:extLst>
          </p:cNvPr>
          <p:cNvSpPr/>
          <p:nvPr/>
        </p:nvSpPr>
        <p:spPr>
          <a:xfrm>
            <a:off x="6086356" y="3404216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2" name="Google Shape;214;p13">
            <a:extLst>
              <a:ext uri="{FF2B5EF4-FFF2-40B4-BE49-F238E27FC236}">
                <a16:creationId xmlns:a16="http://schemas.microsoft.com/office/drawing/2014/main" id="{1F863B6F-F324-0EC1-BF1A-8AEBF8A0CB6E}"/>
              </a:ext>
            </a:extLst>
          </p:cNvPr>
          <p:cNvSpPr txBox="1"/>
          <p:nvPr/>
        </p:nvSpPr>
        <p:spPr>
          <a:xfrm>
            <a:off x="6092620" y="3515537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멀티 </a:t>
            </a:r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LLM 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라우팅 최적화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03" name="Google Shape;215;p13">
            <a:extLst>
              <a:ext uri="{FF2B5EF4-FFF2-40B4-BE49-F238E27FC236}">
                <a16:creationId xmlns:a16="http://schemas.microsoft.com/office/drawing/2014/main" id="{9D6F76B9-669B-FB1D-5326-A6007070590F}"/>
              </a:ext>
            </a:extLst>
          </p:cNvPr>
          <p:cNvSpPr txBox="1"/>
          <p:nvPr/>
        </p:nvSpPr>
        <p:spPr>
          <a:xfrm>
            <a:off x="6101968" y="3664796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Model Hub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4" name="Shape 4">
            <a:extLst>
              <a:ext uri="{FF2B5EF4-FFF2-40B4-BE49-F238E27FC236}">
                <a16:creationId xmlns:a16="http://schemas.microsoft.com/office/drawing/2014/main" id="{E0A3A3F3-6588-26E9-12AF-31F8179D943D}"/>
              </a:ext>
            </a:extLst>
          </p:cNvPr>
          <p:cNvSpPr/>
          <p:nvPr/>
        </p:nvSpPr>
        <p:spPr>
          <a:xfrm>
            <a:off x="6088260" y="3905472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5" name="Google Shape;214;p13">
            <a:extLst>
              <a:ext uri="{FF2B5EF4-FFF2-40B4-BE49-F238E27FC236}">
                <a16:creationId xmlns:a16="http://schemas.microsoft.com/office/drawing/2014/main" id="{77500AF1-891A-3006-372C-453ED8961276}"/>
              </a:ext>
            </a:extLst>
          </p:cNvPr>
          <p:cNvSpPr txBox="1"/>
          <p:nvPr/>
        </p:nvSpPr>
        <p:spPr>
          <a:xfrm>
            <a:off x="6092620" y="4004732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전수 보안</a:t>
            </a:r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실패 로그 감사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06" name="Google Shape;215;p13">
            <a:extLst>
              <a:ext uri="{FF2B5EF4-FFF2-40B4-BE49-F238E27FC236}">
                <a16:creationId xmlns:a16="http://schemas.microsoft.com/office/drawing/2014/main" id="{0A21EDA2-599F-DB07-3F0E-008B56E0FD7D}"/>
              </a:ext>
            </a:extLst>
          </p:cNvPr>
          <p:cNvSpPr txBox="1"/>
          <p:nvPr/>
        </p:nvSpPr>
        <p:spPr>
          <a:xfrm>
            <a:off x="6101967" y="4153991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Audit Logs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B9634B26-ED88-FF87-E60B-0C03ABBBC918}"/>
              </a:ext>
            </a:extLst>
          </p:cNvPr>
          <p:cNvSpPr/>
          <p:nvPr/>
        </p:nvSpPr>
        <p:spPr>
          <a:xfrm rot="16200000">
            <a:off x="2828724" y="875569"/>
            <a:ext cx="1095253" cy="2664000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74C23899-E47D-2756-1C35-39692B87D284}"/>
              </a:ext>
            </a:extLst>
          </p:cNvPr>
          <p:cNvSpPr/>
          <p:nvPr/>
        </p:nvSpPr>
        <p:spPr>
          <a:xfrm>
            <a:off x="2148306" y="1954532"/>
            <a:ext cx="2472235" cy="165369"/>
          </a:xfrm>
          <a:prstGeom prst="roundRect">
            <a:avLst>
              <a:gd name="adj" fmla="val 12570"/>
            </a:avLst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81" name="Google Shape;181;p13">
            <a:extLst>
              <a:ext uri="{FF2B5EF4-FFF2-40B4-BE49-F238E27FC236}">
                <a16:creationId xmlns:a16="http://schemas.microsoft.com/office/drawing/2014/main" id="{D8D759AB-8495-3CD4-8FDD-55C1B93441E9}"/>
              </a:ext>
            </a:extLst>
          </p:cNvPr>
          <p:cNvSpPr txBox="1"/>
          <p:nvPr/>
        </p:nvSpPr>
        <p:spPr>
          <a:xfrm>
            <a:off x="2429825" y="1743014"/>
            <a:ext cx="218865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800" b="1" dirty="0">
                <a:latin typeface="SUIT"/>
                <a:ea typeface="SUIT"/>
                <a:cs typeface="SUIT"/>
                <a:sym typeface="SUIT"/>
              </a:rPr>
              <a:t>AGENT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sym typeface="SUIT"/>
              </a:rPr>
              <a:t>대화를 통한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sym typeface="SUIT"/>
              </a:rPr>
              <a:t>지능형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sym typeface="SUIT"/>
              </a:rPr>
              <a:t>분석</a:t>
            </a:r>
            <a:endParaRPr sz="600" dirty="0">
              <a:solidFill>
                <a:srgbClr val="64748B"/>
              </a:solidFill>
              <a:latin typeface="SUIT"/>
              <a:ea typeface="SUIT"/>
            </a:endParaRPr>
          </a:p>
        </p:txBody>
      </p:sp>
      <p:sp>
        <p:nvSpPr>
          <p:cNvPr id="248" name="Google Shape;248;p13">
            <a:extLst>
              <a:ext uri="{FF2B5EF4-FFF2-40B4-BE49-F238E27FC236}">
                <a16:creationId xmlns:a16="http://schemas.microsoft.com/office/drawing/2014/main" id="{90589142-D450-F997-7890-7651BB1C13DE}"/>
              </a:ext>
            </a:extLst>
          </p:cNvPr>
          <p:cNvSpPr txBox="1"/>
          <p:nvPr/>
        </p:nvSpPr>
        <p:spPr>
          <a:xfrm>
            <a:off x="2144988" y="1991791"/>
            <a:ext cx="2464952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자연어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질의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분석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(NLQ)</a:t>
            </a:r>
            <a:endParaRPr sz="1200" dirty="0"/>
          </a:p>
        </p:txBody>
      </p:sp>
      <p:sp>
        <p:nvSpPr>
          <p:cNvPr id="261" name="Google Shape;261;p13">
            <a:extLst>
              <a:ext uri="{FF2B5EF4-FFF2-40B4-BE49-F238E27FC236}">
                <a16:creationId xmlns:a16="http://schemas.microsoft.com/office/drawing/2014/main" id="{4AC7D7C1-261A-2382-7416-E336CF8FCEB2}"/>
              </a:ext>
            </a:extLst>
          </p:cNvPr>
          <p:cNvSpPr txBox="1"/>
          <p:nvPr/>
        </p:nvSpPr>
        <p:spPr>
          <a:xfrm>
            <a:off x="2216532" y="2146059"/>
            <a:ext cx="292536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1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2" name="Google Shape;262;p13">
            <a:extLst>
              <a:ext uri="{FF2B5EF4-FFF2-40B4-BE49-F238E27FC236}">
                <a16:creationId xmlns:a16="http://schemas.microsoft.com/office/drawing/2014/main" id="{FC464F2A-823D-4E75-6154-E817288A6819}"/>
              </a:ext>
            </a:extLst>
          </p:cNvPr>
          <p:cNvSpPr txBox="1"/>
          <p:nvPr/>
        </p:nvSpPr>
        <p:spPr>
          <a:xfrm>
            <a:off x="2229904" y="2272901"/>
            <a:ext cx="252537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N.E.R</a:t>
            </a:r>
            <a:endParaRPr sz="1400" dirty="0"/>
          </a:p>
        </p:txBody>
      </p:sp>
      <p:sp>
        <p:nvSpPr>
          <p:cNvPr id="263" name="Google Shape;263;p13">
            <a:extLst>
              <a:ext uri="{FF2B5EF4-FFF2-40B4-BE49-F238E27FC236}">
                <a16:creationId xmlns:a16="http://schemas.microsoft.com/office/drawing/2014/main" id="{11FF495D-487F-AFF7-A7B5-8AD7E5339A73}"/>
              </a:ext>
            </a:extLst>
          </p:cNvPr>
          <p:cNvSpPr txBox="1"/>
          <p:nvPr/>
        </p:nvSpPr>
        <p:spPr>
          <a:xfrm>
            <a:off x="2674267" y="2146059"/>
            <a:ext cx="312398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2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4" name="Google Shape;264;p13">
            <a:extLst>
              <a:ext uri="{FF2B5EF4-FFF2-40B4-BE49-F238E27FC236}">
                <a16:creationId xmlns:a16="http://schemas.microsoft.com/office/drawing/2014/main" id="{190E538C-D7C4-3EA4-705D-895C6D240BF4}"/>
              </a:ext>
            </a:extLst>
          </p:cNvPr>
          <p:cNvSpPr txBox="1"/>
          <p:nvPr/>
        </p:nvSpPr>
        <p:spPr>
          <a:xfrm>
            <a:off x="2684464" y="2224641"/>
            <a:ext cx="299026" cy="20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의도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인지</a:t>
            </a:r>
            <a:br>
              <a:rPr lang="en-US" sz="600" b="1" dirty="0">
                <a:latin typeface="SUIT"/>
                <a:ea typeface="SUIT"/>
                <a:cs typeface="SUIT"/>
                <a:sym typeface="SUIT"/>
              </a:rPr>
            </a:b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스킬 선정</a:t>
            </a:r>
            <a:endParaRPr sz="1400" dirty="0"/>
          </a:p>
        </p:txBody>
      </p:sp>
      <p:sp>
        <p:nvSpPr>
          <p:cNvPr id="265" name="Google Shape;265;p13">
            <a:extLst>
              <a:ext uri="{FF2B5EF4-FFF2-40B4-BE49-F238E27FC236}">
                <a16:creationId xmlns:a16="http://schemas.microsoft.com/office/drawing/2014/main" id="{D45D5CD0-162F-A291-8ECB-D5DDF0E6078D}"/>
              </a:ext>
            </a:extLst>
          </p:cNvPr>
          <p:cNvSpPr txBox="1"/>
          <p:nvPr/>
        </p:nvSpPr>
        <p:spPr>
          <a:xfrm>
            <a:off x="3206299" y="2146059"/>
            <a:ext cx="316670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3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6" name="Google Shape;266;p13">
            <a:extLst>
              <a:ext uri="{FF2B5EF4-FFF2-40B4-BE49-F238E27FC236}">
                <a16:creationId xmlns:a16="http://schemas.microsoft.com/office/drawing/2014/main" id="{9C45A383-0180-4297-E3F0-2BA2994E5617}"/>
              </a:ext>
            </a:extLst>
          </p:cNvPr>
          <p:cNvSpPr txBox="1"/>
          <p:nvPr/>
        </p:nvSpPr>
        <p:spPr>
          <a:xfrm>
            <a:off x="3212322" y="2272901"/>
            <a:ext cx="311830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스킬 실행</a:t>
            </a:r>
            <a:endParaRPr sz="1400" dirty="0"/>
          </a:p>
        </p:txBody>
      </p:sp>
      <p:sp>
        <p:nvSpPr>
          <p:cNvPr id="267" name="Google Shape;267;p13">
            <a:extLst>
              <a:ext uri="{FF2B5EF4-FFF2-40B4-BE49-F238E27FC236}">
                <a16:creationId xmlns:a16="http://schemas.microsoft.com/office/drawing/2014/main" id="{3D6C4C7B-31E1-6347-5328-85E1CF4F86D6}"/>
              </a:ext>
            </a:extLst>
          </p:cNvPr>
          <p:cNvSpPr txBox="1"/>
          <p:nvPr/>
        </p:nvSpPr>
        <p:spPr>
          <a:xfrm>
            <a:off x="3723312" y="2148489"/>
            <a:ext cx="325202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4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8" name="Google Shape;268;p13">
            <a:extLst>
              <a:ext uri="{FF2B5EF4-FFF2-40B4-BE49-F238E27FC236}">
                <a16:creationId xmlns:a16="http://schemas.microsoft.com/office/drawing/2014/main" id="{9DAE4044-6D3F-DFDE-D920-6A6EB7AD619E}"/>
              </a:ext>
            </a:extLst>
          </p:cNvPr>
          <p:cNvSpPr txBox="1"/>
          <p:nvPr/>
        </p:nvSpPr>
        <p:spPr>
          <a:xfrm>
            <a:off x="3738589" y="2270954"/>
            <a:ext cx="306279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결과 통합</a:t>
            </a:r>
            <a:endParaRPr sz="1400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94EFE465-261B-FAD2-294C-4D61A555C539}"/>
              </a:ext>
            </a:extLst>
          </p:cNvPr>
          <p:cNvGrpSpPr/>
          <p:nvPr/>
        </p:nvGrpSpPr>
        <p:grpSpPr>
          <a:xfrm>
            <a:off x="2160212" y="2479166"/>
            <a:ext cx="577751" cy="204365"/>
            <a:chOff x="1899153" y="2214985"/>
            <a:chExt cx="577751" cy="185510"/>
          </a:xfrm>
        </p:grpSpPr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6310AC10-6513-196C-6F53-BA0C71156324}"/>
                </a:ext>
              </a:extLst>
            </p:cNvPr>
            <p:cNvSpPr/>
            <p:nvPr/>
          </p:nvSpPr>
          <p:spPr>
            <a:xfrm>
              <a:off x="1899153" y="2214985"/>
              <a:ext cx="577751" cy="185510"/>
            </a:xfrm>
            <a:prstGeom prst="roundRect">
              <a:avLst>
                <a:gd name="adj" fmla="val 9142"/>
              </a:avLst>
            </a:prstGeom>
            <a:solidFill>
              <a:srgbClr val="1D2537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pPr>
                <a:lnSpc>
                  <a:spcPct val="110000"/>
                </a:lnSpc>
              </a:pPr>
              <a:endParaRPr lang="ko-KR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5" name="Google Shape;262;p13">
              <a:extLst>
                <a:ext uri="{FF2B5EF4-FFF2-40B4-BE49-F238E27FC236}">
                  <a16:creationId xmlns:a16="http://schemas.microsoft.com/office/drawing/2014/main" id="{3180D0E8-B389-0AB9-ACAD-1BEA2B572BD6}"/>
                </a:ext>
              </a:extLst>
            </p:cNvPr>
            <p:cNvSpPr txBox="1"/>
            <p:nvPr/>
          </p:nvSpPr>
          <p:spPr>
            <a:xfrm>
              <a:off x="1906298" y="2262645"/>
              <a:ext cx="562548" cy="101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SUIT"/>
                  <a:ea typeface="SUIT"/>
                  <a:sym typeface="SUIT"/>
                </a:rPr>
                <a:t>데이터 추출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B60364E-6315-F6F5-2FF9-9B156000931F}"/>
              </a:ext>
            </a:extLst>
          </p:cNvPr>
          <p:cNvGrpSpPr/>
          <p:nvPr/>
        </p:nvGrpSpPr>
        <p:grpSpPr>
          <a:xfrm>
            <a:off x="2798613" y="2482095"/>
            <a:ext cx="570605" cy="205200"/>
            <a:chOff x="2512622" y="2217914"/>
            <a:chExt cx="570605" cy="205200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8E94CDAC-1C24-97FD-922A-A35320074BF2}"/>
                </a:ext>
              </a:extLst>
            </p:cNvPr>
            <p:cNvSpPr/>
            <p:nvPr/>
          </p:nvSpPr>
          <p:spPr>
            <a:xfrm>
              <a:off x="2512622" y="2217914"/>
              <a:ext cx="570605" cy="205200"/>
            </a:xfrm>
            <a:prstGeom prst="roundRect">
              <a:avLst>
                <a:gd name="adj" fmla="val 9142"/>
              </a:avLst>
            </a:prstGeom>
            <a:solidFill>
              <a:srgbClr val="1D2537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pPr>
                <a:lnSpc>
                  <a:spcPct val="110000"/>
                </a:lnSpc>
              </a:pPr>
              <a:endParaRPr lang="ko-KR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9" name="Google Shape;262;p13">
              <a:extLst>
                <a:ext uri="{FF2B5EF4-FFF2-40B4-BE49-F238E27FC236}">
                  <a16:creationId xmlns:a16="http://schemas.microsoft.com/office/drawing/2014/main" id="{7C2150D5-D402-F4E0-DC1D-46541C1CF507}"/>
                </a:ext>
              </a:extLst>
            </p:cNvPr>
            <p:cNvSpPr txBox="1"/>
            <p:nvPr/>
          </p:nvSpPr>
          <p:spPr>
            <a:xfrm>
              <a:off x="2512622" y="2267785"/>
              <a:ext cx="562548" cy="101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SUIT"/>
                  <a:ea typeface="SUIT"/>
                  <a:sym typeface="SUIT"/>
                </a:rPr>
                <a:t>개인 파일 분석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7CA0E54-8D92-AA7B-1CCC-474A9112368D}"/>
              </a:ext>
            </a:extLst>
          </p:cNvPr>
          <p:cNvGrpSpPr/>
          <p:nvPr/>
        </p:nvGrpSpPr>
        <p:grpSpPr>
          <a:xfrm>
            <a:off x="3429868" y="2484049"/>
            <a:ext cx="570605" cy="205200"/>
            <a:chOff x="3110892" y="2219868"/>
            <a:chExt cx="570605" cy="205200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1311F8BC-A215-7EF5-3DB0-F4C9AAD73DDA}"/>
                </a:ext>
              </a:extLst>
            </p:cNvPr>
            <p:cNvSpPr/>
            <p:nvPr/>
          </p:nvSpPr>
          <p:spPr>
            <a:xfrm>
              <a:off x="3110892" y="2219868"/>
              <a:ext cx="570605" cy="205200"/>
            </a:xfrm>
            <a:prstGeom prst="roundRect">
              <a:avLst>
                <a:gd name="adj" fmla="val 9142"/>
              </a:avLst>
            </a:prstGeom>
            <a:solidFill>
              <a:srgbClr val="1D2537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Google Shape;262;p13">
              <a:extLst>
                <a:ext uri="{FF2B5EF4-FFF2-40B4-BE49-F238E27FC236}">
                  <a16:creationId xmlns:a16="http://schemas.microsoft.com/office/drawing/2014/main" id="{3D8C491F-1C79-E6FF-35C9-5226A8EEE22D}"/>
                </a:ext>
              </a:extLst>
            </p:cNvPr>
            <p:cNvSpPr txBox="1"/>
            <p:nvPr/>
          </p:nvSpPr>
          <p:spPr>
            <a:xfrm>
              <a:off x="3119864" y="2269740"/>
              <a:ext cx="553575" cy="101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SUIT"/>
                  <a:ea typeface="SUIT"/>
                  <a:sym typeface="SUIT"/>
                </a:rPr>
                <a:t>분석 시나리오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F5645780-2ACE-D2EB-4825-A57E049C2866}"/>
              </a:ext>
            </a:extLst>
          </p:cNvPr>
          <p:cNvGrpSpPr/>
          <p:nvPr/>
        </p:nvGrpSpPr>
        <p:grpSpPr>
          <a:xfrm>
            <a:off x="4061123" y="2486739"/>
            <a:ext cx="570605" cy="205200"/>
            <a:chOff x="3933872" y="2217913"/>
            <a:chExt cx="570605" cy="205200"/>
          </a:xfrm>
          <a:solidFill>
            <a:schemeClr val="bg1"/>
          </a:solidFill>
        </p:grpSpPr>
        <p:sp>
          <p:nvSpPr>
            <p:cNvPr id="33" name="Shape 4">
              <a:extLst>
                <a:ext uri="{FF2B5EF4-FFF2-40B4-BE49-F238E27FC236}">
                  <a16:creationId xmlns:a16="http://schemas.microsoft.com/office/drawing/2014/main" id="{A54C5344-1886-AFF6-4A88-F7345023FF18}"/>
                </a:ext>
              </a:extLst>
            </p:cNvPr>
            <p:cNvSpPr/>
            <p:nvPr/>
          </p:nvSpPr>
          <p:spPr>
            <a:xfrm>
              <a:off x="3933872" y="2217913"/>
              <a:ext cx="570605" cy="205200"/>
            </a:xfrm>
            <a:prstGeom prst="roundRect">
              <a:avLst>
                <a:gd name="adj" fmla="val 9142"/>
              </a:avLst>
            </a:prstGeom>
            <a:grpFill/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" name="Google Shape;262;p13">
              <a:extLst>
                <a:ext uri="{FF2B5EF4-FFF2-40B4-BE49-F238E27FC236}">
                  <a16:creationId xmlns:a16="http://schemas.microsoft.com/office/drawing/2014/main" id="{6EE0799F-7074-6B7C-FCC7-A92AA3646C03}"/>
                </a:ext>
              </a:extLst>
            </p:cNvPr>
            <p:cNvSpPr txBox="1"/>
            <p:nvPr/>
          </p:nvSpPr>
          <p:spPr>
            <a:xfrm>
              <a:off x="3945822" y="2270643"/>
              <a:ext cx="553575" cy="10156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UIT"/>
                  <a:ea typeface="SUIT"/>
                  <a:sym typeface="SUIT"/>
                </a:rPr>
                <a:t>생성 </a:t>
              </a:r>
              <a:endParaRPr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B856A017-8951-16EC-F396-C2B2B89A4E73}"/>
              </a:ext>
            </a:extLst>
          </p:cNvPr>
          <p:cNvSpPr/>
          <p:nvPr/>
        </p:nvSpPr>
        <p:spPr>
          <a:xfrm>
            <a:off x="2507200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5252D62D-4C81-C6D6-FC13-0D46D92CB493}"/>
              </a:ext>
            </a:extLst>
          </p:cNvPr>
          <p:cNvSpPr/>
          <p:nvPr/>
        </p:nvSpPr>
        <p:spPr>
          <a:xfrm>
            <a:off x="3038223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79A59098-0581-E423-888B-C2618AA9A0D2}"/>
              </a:ext>
            </a:extLst>
          </p:cNvPr>
          <p:cNvSpPr/>
          <p:nvPr/>
        </p:nvSpPr>
        <p:spPr>
          <a:xfrm>
            <a:off x="3563044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DD93788C-9E61-9F5F-A130-EBC64AFD29FC}"/>
              </a:ext>
            </a:extLst>
          </p:cNvPr>
          <p:cNvSpPr/>
          <p:nvPr/>
        </p:nvSpPr>
        <p:spPr>
          <a:xfrm>
            <a:off x="4089283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9" name="Google Shape;267;p13">
            <a:extLst>
              <a:ext uri="{FF2B5EF4-FFF2-40B4-BE49-F238E27FC236}">
                <a16:creationId xmlns:a16="http://schemas.microsoft.com/office/drawing/2014/main" id="{49D47789-9D2B-5440-16F1-CE4F315C0B2B}"/>
              </a:ext>
            </a:extLst>
          </p:cNvPr>
          <p:cNvSpPr txBox="1"/>
          <p:nvPr/>
        </p:nvSpPr>
        <p:spPr>
          <a:xfrm>
            <a:off x="4241332" y="2151085"/>
            <a:ext cx="325202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5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50" name="Google Shape;268;p13">
            <a:extLst>
              <a:ext uri="{FF2B5EF4-FFF2-40B4-BE49-F238E27FC236}">
                <a16:creationId xmlns:a16="http://schemas.microsoft.com/office/drawing/2014/main" id="{2727E995-1D99-B3DB-D7D9-C8886CC746E3}"/>
              </a:ext>
            </a:extLst>
          </p:cNvPr>
          <p:cNvSpPr txBox="1"/>
          <p:nvPr/>
        </p:nvSpPr>
        <p:spPr>
          <a:xfrm>
            <a:off x="4256609" y="2273550"/>
            <a:ext cx="311830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응답 생성</a:t>
            </a:r>
          </a:p>
        </p:txBody>
      </p:sp>
      <p:pic>
        <p:nvPicPr>
          <p:cNvPr id="72" name="그래픽 71" descr="자막 단색으로 채워진">
            <a:extLst>
              <a:ext uri="{FF2B5EF4-FFF2-40B4-BE49-F238E27FC236}">
                <a16:creationId xmlns:a16="http://schemas.microsoft.com/office/drawing/2014/main" id="{BAB64283-143C-F261-22D7-B273B8ECC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60212" y="1710602"/>
            <a:ext cx="223854" cy="223854"/>
          </a:xfrm>
          <a:prstGeom prst="rect">
            <a:avLst/>
          </a:prstGeom>
        </p:spPr>
      </p:pic>
      <p:sp>
        <p:nvSpPr>
          <p:cNvPr id="314" name="화살표: 오른쪽 313">
            <a:extLst>
              <a:ext uri="{FF2B5EF4-FFF2-40B4-BE49-F238E27FC236}">
                <a16:creationId xmlns:a16="http://schemas.microsoft.com/office/drawing/2014/main" id="{1950B2D6-D52E-19D0-4298-CED2E3E071D4}"/>
              </a:ext>
            </a:extLst>
          </p:cNvPr>
          <p:cNvSpPr/>
          <p:nvPr/>
        </p:nvSpPr>
        <p:spPr>
          <a:xfrm>
            <a:off x="4645277" y="2534258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7" name="Shape 4">
            <a:extLst>
              <a:ext uri="{FF2B5EF4-FFF2-40B4-BE49-F238E27FC236}">
                <a16:creationId xmlns:a16="http://schemas.microsoft.com/office/drawing/2014/main" id="{40E13C7E-D63A-3467-93F3-A5CEA1A89D31}"/>
              </a:ext>
            </a:extLst>
          </p:cNvPr>
          <p:cNvSpPr/>
          <p:nvPr/>
        </p:nvSpPr>
        <p:spPr>
          <a:xfrm>
            <a:off x="7799882" y="1109405"/>
            <a:ext cx="1158477" cy="1268737"/>
          </a:xfrm>
          <a:prstGeom prst="roundRect">
            <a:avLst>
              <a:gd name="adj" fmla="val 2742"/>
            </a:avLst>
          </a:prstGeom>
          <a:solidFill>
            <a:srgbClr val="FAFEFE"/>
          </a:solidFill>
          <a:ln>
            <a:solidFill>
              <a:srgbClr val="6EE6DE"/>
            </a:solidFill>
            <a:prstDash val="sys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9" name="Google Shape;204;p13">
            <a:extLst>
              <a:ext uri="{FF2B5EF4-FFF2-40B4-BE49-F238E27FC236}">
                <a16:creationId xmlns:a16="http://schemas.microsoft.com/office/drawing/2014/main" id="{EF7EADE5-A304-9FEE-F51C-B9EF4FAAB5E2}"/>
              </a:ext>
            </a:extLst>
          </p:cNvPr>
          <p:cNvSpPr txBox="1"/>
          <p:nvPr/>
        </p:nvSpPr>
        <p:spPr>
          <a:xfrm>
            <a:off x="7871335" y="1564627"/>
            <a:ext cx="9580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700" b="1" dirty="0">
                <a:solidFill>
                  <a:srgbClr val="0F172A"/>
                </a:solidFill>
                <a:ea typeface="SUIT"/>
                <a:sym typeface="SUIT"/>
              </a:rPr>
              <a:t>EXTERNAL UI</a:t>
            </a:r>
            <a:endParaRPr sz="1400" dirty="0"/>
          </a:p>
        </p:txBody>
      </p:sp>
      <p:sp>
        <p:nvSpPr>
          <p:cNvPr id="341" name="Google Shape;205;p13">
            <a:extLst>
              <a:ext uri="{FF2B5EF4-FFF2-40B4-BE49-F238E27FC236}">
                <a16:creationId xmlns:a16="http://schemas.microsoft.com/office/drawing/2014/main" id="{2BEBA750-B79D-36E8-6450-441A0B4E0A44}"/>
              </a:ext>
            </a:extLst>
          </p:cNvPr>
          <p:cNvSpPr txBox="1"/>
          <p:nvPr/>
        </p:nvSpPr>
        <p:spPr>
          <a:xfrm>
            <a:off x="7799884" y="1726479"/>
            <a:ext cx="115847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94"/>
              </a:lnSpc>
            </a:pP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Modular Agent Embedding</a:t>
            </a:r>
          </a:p>
          <a:p>
            <a:pPr algn="ctr">
              <a:lnSpc>
                <a:spcPct val="120094"/>
              </a:lnSpc>
            </a:pP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Tableau </a:t>
            </a:r>
            <a:r>
              <a:rPr lang="ko-KR" alt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익스텐션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및 </a:t>
            </a:r>
            <a:endParaRPr lang="en-US" altLang="ko-KR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  <a:p>
            <a:pPr algn="ctr"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범용 웹 모듈 형태로</a:t>
            </a:r>
          </a:p>
          <a:p>
            <a:pPr algn="ctr">
              <a:lnSpc>
                <a:spcPct val="120094"/>
              </a:lnSpc>
            </a:pPr>
            <a:r>
              <a:rPr lang="ko-KR" alt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사내외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시스템에 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Agent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가 </a:t>
            </a:r>
            <a:endParaRPr lang="en-US" altLang="ko-KR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  <a:p>
            <a:pPr algn="ctr"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유연하게 이식</a:t>
            </a:r>
            <a:endParaRPr lang="en-US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</p:txBody>
      </p:sp>
      <p:pic>
        <p:nvPicPr>
          <p:cNvPr id="345" name="그래픽 344" descr="퍼즐 단색으로 채워진">
            <a:extLst>
              <a:ext uri="{FF2B5EF4-FFF2-40B4-BE49-F238E27FC236}">
                <a16:creationId xmlns:a16="http://schemas.microsoft.com/office/drawing/2014/main" id="{D51683BB-5515-3ACB-8768-6F6D98267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40180" y="1194778"/>
            <a:ext cx="432014" cy="343473"/>
          </a:xfrm>
          <a:prstGeom prst="rect">
            <a:avLst/>
          </a:prstGeom>
        </p:spPr>
      </p:pic>
      <p:sp>
        <p:nvSpPr>
          <p:cNvPr id="347" name="화살표: 오른쪽 346">
            <a:extLst>
              <a:ext uri="{FF2B5EF4-FFF2-40B4-BE49-F238E27FC236}">
                <a16:creationId xmlns:a16="http://schemas.microsoft.com/office/drawing/2014/main" id="{9EEB0A64-0A36-C073-02FF-E30F3B845224}"/>
              </a:ext>
            </a:extLst>
          </p:cNvPr>
          <p:cNvSpPr/>
          <p:nvPr/>
        </p:nvSpPr>
        <p:spPr>
          <a:xfrm>
            <a:off x="7671500" y="1787626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2" name="그래픽 11" descr="프로세서 단색으로 채워진">
            <a:extLst>
              <a:ext uri="{FF2B5EF4-FFF2-40B4-BE49-F238E27FC236}">
                <a16:creationId xmlns:a16="http://schemas.microsoft.com/office/drawing/2014/main" id="{1C0C8E00-D5BC-34AE-C18E-DE1649A67A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27507" y="3154961"/>
            <a:ext cx="190895" cy="19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62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5D1FD47-785B-9EF1-A6A9-1547AA1C1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82F976F-0F7A-1220-B41D-0D47DC35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aisight: </a:t>
            </a:r>
            <a:r>
              <a:rPr lang="en-US" altLang="ko-KR" b="0" dirty="0" err="1">
                <a:latin typeface="SUIT ExtraBold" pitchFamily="2" charset="-127"/>
                <a:ea typeface="SUIT ExtraBold" pitchFamily="2" charset="-127"/>
              </a:rPr>
              <a:t>aisight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배포 아키텍처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(Deployment Architecture)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7" name="텍스트 개체 틀 22">
            <a:extLst>
              <a:ext uri="{FF2B5EF4-FFF2-40B4-BE49-F238E27FC236}">
                <a16:creationId xmlns:a16="http://schemas.microsoft.com/office/drawing/2014/main" id="{4A5A0EAE-6BDD-6874-C71C-3CFF388BCB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055855-7A17-F6F2-4DEA-C9F8543701B4}"/>
              </a:ext>
            </a:extLst>
          </p:cNvPr>
          <p:cNvSpPr txBox="1"/>
          <p:nvPr/>
        </p:nvSpPr>
        <p:spPr>
          <a:xfrm>
            <a:off x="256032" y="666744"/>
            <a:ext cx="6154293" cy="2396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ko-KR" sz="1400" i="0" spc="-38" dirty="0">
                <a:solidFill>
                  <a:srgbClr val="334155"/>
                </a:solidFill>
                <a:effectLst/>
                <a:latin typeface="SUIT ExtraBold" pitchFamily="2" charset="-127"/>
                <a:ea typeface="SUIT ExtraBold" pitchFamily="2" charset="-127"/>
              </a:rPr>
              <a:t>외부 의존성 없이 고객사 인프라에 단독 설치되는 </a:t>
            </a:r>
            <a:r>
              <a:rPr lang="ko-KR" altLang="ko-KR" sz="1400" i="0" spc="-38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5-Tier </a:t>
            </a:r>
            <a:r>
              <a:rPr lang="ko-KR" altLang="ko-KR" sz="1400" i="0" spc="-38" dirty="0" err="1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온프레미스</a:t>
            </a:r>
            <a:r>
              <a:rPr lang="ko-KR" altLang="ko-KR" sz="1400" i="0" spc="-38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 구조</a:t>
            </a:r>
            <a:endParaRPr sz="1400" b="1" dirty="0">
              <a:latin typeface="+mn-ea"/>
              <a:ea typeface="+mn-e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D5F5F13-FDF9-D84F-0B40-02DDFCF7C582}"/>
              </a:ext>
            </a:extLst>
          </p:cNvPr>
          <p:cNvSpPr/>
          <p:nvPr/>
        </p:nvSpPr>
        <p:spPr>
          <a:xfrm rot="10800000">
            <a:off x="183543" y="1045610"/>
            <a:ext cx="694635" cy="474248"/>
          </a:xfrm>
          <a:prstGeom prst="roundRect">
            <a:avLst>
              <a:gd name="adj" fmla="val 14366"/>
            </a:avLst>
          </a:prstGeom>
          <a:gradFill rotWithShape="1">
            <a:gsLst>
              <a:gs pos="34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B1081C5-9BFA-15D2-75FB-4212ADB50A23}"/>
              </a:ext>
            </a:extLst>
          </p:cNvPr>
          <p:cNvSpPr/>
          <p:nvPr/>
        </p:nvSpPr>
        <p:spPr>
          <a:xfrm rot="10800000">
            <a:off x="183542" y="1634244"/>
            <a:ext cx="694635" cy="378160"/>
          </a:xfrm>
          <a:prstGeom prst="roundRect">
            <a:avLst>
              <a:gd name="adj" fmla="val 14366"/>
            </a:avLst>
          </a:prstGeom>
          <a:gradFill rotWithShape="1">
            <a:gsLst>
              <a:gs pos="34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089A590-866B-79B9-1326-C2AC8F94A023}"/>
              </a:ext>
            </a:extLst>
          </p:cNvPr>
          <p:cNvSpPr/>
          <p:nvPr/>
        </p:nvSpPr>
        <p:spPr>
          <a:xfrm rot="10800000">
            <a:off x="183542" y="2120439"/>
            <a:ext cx="694635" cy="1232641"/>
          </a:xfrm>
          <a:prstGeom prst="roundRect">
            <a:avLst>
              <a:gd name="adj" fmla="val 8565"/>
            </a:avLst>
          </a:prstGeom>
          <a:gradFill rotWithShape="1">
            <a:gsLst>
              <a:gs pos="34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09E54080-CD8C-43B5-1526-4C62D268114F}"/>
              </a:ext>
            </a:extLst>
          </p:cNvPr>
          <p:cNvSpPr/>
          <p:nvPr/>
        </p:nvSpPr>
        <p:spPr>
          <a:xfrm rot="10800000">
            <a:off x="183541" y="3470685"/>
            <a:ext cx="694635" cy="545542"/>
          </a:xfrm>
          <a:prstGeom prst="roundRect">
            <a:avLst>
              <a:gd name="adj" fmla="val 10350"/>
            </a:avLst>
          </a:prstGeom>
          <a:gradFill rotWithShape="1">
            <a:gsLst>
              <a:gs pos="34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54F91B8-5967-BFA2-7EB1-12497C7B533E}"/>
              </a:ext>
            </a:extLst>
          </p:cNvPr>
          <p:cNvSpPr/>
          <p:nvPr/>
        </p:nvSpPr>
        <p:spPr>
          <a:xfrm rot="10800000">
            <a:off x="183542" y="4117760"/>
            <a:ext cx="694635" cy="554841"/>
          </a:xfrm>
          <a:prstGeom prst="roundRect">
            <a:avLst>
              <a:gd name="adj" fmla="val 10350"/>
            </a:avLst>
          </a:prstGeom>
          <a:gradFill rotWithShape="1">
            <a:gsLst>
              <a:gs pos="34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0CB878-9106-1C10-4DB3-465DAEF6E38D}"/>
              </a:ext>
            </a:extLst>
          </p:cNvPr>
          <p:cNvSpPr txBox="1"/>
          <p:nvPr/>
        </p:nvSpPr>
        <p:spPr>
          <a:xfrm>
            <a:off x="195707" y="1092368"/>
            <a:ext cx="546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i="0" spc="-22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TIER 1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1A205A-FD6F-D739-7C77-8BA62C9A8C3D}"/>
              </a:ext>
            </a:extLst>
          </p:cNvPr>
          <p:cNvSpPr txBox="1"/>
          <p:nvPr/>
        </p:nvSpPr>
        <p:spPr>
          <a:xfrm>
            <a:off x="174549" y="1659688"/>
            <a:ext cx="546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i="0" spc="-22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TIER </a:t>
            </a:r>
            <a:r>
              <a:rPr lang="en-US" altLang="ko-KR" sz="800" i="0" spc="-22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2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A6AE06-ED45-1490-187A-083024DFE709}"/>
              </a:ext>
            </a:extLst>
          </p:cNvPr>
          <p:cNvSpPr txBox="1"/>
          <p:nvPr/>
        </p:nvSpPr>
        <p:spPr>
          <a:xfrm>
            <a:off x="192532" y="2499275"/>
            <a:ext cx="546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i="0" spc="-22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TIER </a:t>
            </a:r>
            <a:r>
              <a:rPr lang="en-US" altLang="ko-KR" sz="800" i="0" spc="-22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3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025DCC-3D93-4A8C-EA46-A6089EDD1669}"/>
              </a:ext>
            </a:extLst>
          </p:cNvPr>
          <p:cNvSpPr txBox="1"/>
          <p:nvPr/>
        </p:nvSpPr>
        <p:spPr>
          <a:xfrm>
            <a:off x="192532" y="3573394"/>
            <a:ext cx="546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i="0" spc="-22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TIER </a:t>
            </a:r>
            <a:r>
              <a:rPr lang="en-US" altLang="ko-KR" sz="800" i="0" spc="-22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4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F54A4F-AA96-B51E-C13B-254CC8E2BA59}"/>
              </a:ext>
            </a:extLst>
          </p:cNvPr>
          <p:cNvSpPr txBox="1"/>
          <p:nvPr/>
        </p:nvSpPr>
        <p:spPr>
          <a:xfrm>
            <a:off x="183541" y="4254734"/>
            <a:ext cx="546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i="0" spc="-22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TIER </a:t>
            </a:r>
            <a:r>
              <a:rPr lang="en-US" altLang="ko-KR" sz="800" i="0" spc="-22" dirty="0">
                <a:solidFill>
                  <a:srgbClr val="0F6E56"/>
                </a:solidFill>
                <a:effectLst/>
                <a:latin typeface="SUIT ExtraBold" pitchFamily="2" charset="-127"/>
                <a:ea typeface="SUIT ExtraBold" pitchFamily="2" charset="-127"/>
              </a:rPr>
              <a:t>5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ADFCFB-0A7B-A5D5-1B22-16CA774708F9}"/>
              </a:ext>
            </a:extLst>
          </p:cNvPr>
          <p:cNvSpPr txBox="1"/>
          <p:nvPr/>
        </p:nvSpPr>
        <p:spPr>
          <a:xfrm>
            <a:off x="195707" y="1250594"/>
            <a:ext cx="68564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00" i="0" cap="all" dirty="0">
                <a:solidFill>
                  <a:srgbClr val="64748B"/>
                </a:solidFill>
                <a:effectLst/>
                <a:latin typeface="SUIT ExtraBold" pitchFamily="2" charset="-127"/>
                <a:ea typeface="SUIT ExtraBold" pitchFamily="2" charset="-127"/>
              </a:rPr>
              <a:t>CLIENTS</a:t>
            </a:r>
            <a:endParaRPr lang="ko-KR" alt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430102-057B-1E11-9BD3-EC3DDBA92325}"/>
              </a:ext>
            </a:extLst>
          </p:cNvPr>
          <p:cNvSpPr txBox="1"/>
          <p:nvPr/>
        </p:nvSpPr>
        <p:spPr>
          <a:xfrm>
            <a:off x="183541" y="1802254"/>
            <a:ext cx="68564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00" i="0" cap="all" dirty="0">
                <a:solidFill>
                  <a:srgbClr val="64748B"/>
                </a:solidFill>
                <a:effectLst/>
                <a:latin typeface="SUIT ExtraBold" pitchFamily="2" charset="-127"/>
                <a:ea typeface="SUIT ExtraBold" pitchFamily="2" charset="-127"/>
              </a:rPr>
              <a:t>EDGE</a:t>
            </a:r>
            <a:endParaRPr lang="ko-KR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922DD0-EAA4-3AC9-BA89-F8377656A465}"/>
              </a:ext>
            </a:extLst>
          </p:cNvPr>
          <p:cNvSpPr txBox="1"/>
          <p:nvPr/>
        </p:nvSpPr>
        <p:spPr>
          <a:xfrm>
            <a:off x="183541" y="2671993"/>
            <a:ext cx="8039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00" i="0" cap="all" dirty="0">
                <a:solidFill>
                  <a:srgbClr val="64748B"/>
                </a:solidFill>
                <a:effectLst/>
                <a:latin typeface="SUIT ExtraBold" pitchFamily="2" charset="-127"/>
                <a:ea typeface="SUIT ExtraBold" pitchFamily="2" charset="-127"/>
              </a:rPr>
              <a:t>APPLICATION SERVER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191D5E-F6DF-EAE2-8C2B-4D916FE6313F}"/>
              </a:ext>
            </a:extLst>
          </p:cNvPr>
          <p:cNvSpPr txBox="1"/>
          <p:nvPr/>
        </p:nvSpPr>
        <p:spPr>
          <a:xfrm>
            <a:off x="201907" y="3739872"/>
            <a:ext cx="68564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00" i="0" cap="all" dirty="0">
                <a:solidFill>
                  <a:srgbClr val="64748B"/>
                </a:solidFill>
                <a:effectLst/>
                <a:latin typeface="SUIT ExtraBold" pitchFamily="2" charset="-127"/>
                <a:ea typeface="SUIT ExtraBold" pitchFamily="2" charset="-127"/>
              </a:rPr>
              <a:t>DATA LAYER</a:t>
            </a:r>
            <a:endParaRPr lang="ko-KR" alt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6C287-19C7-A643-156E-0FB5BAC371CE}"/>
              </a:ext>
            </a:extLst>
          </p:cNvPr>
          <p:cNvSpPr txBox="1"/>
          <p:nvPr/>
        </p:nvSpPr>
        <p:spPr>
          <a:xfrm>
            <a:off x="201907" y="4407603"/>
            <a:ext cx="6856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00" i="0" cap="all" dirty="0">
                <a:solidFill>
                  <a:srgbClr val="64748B"/>
                </a:solidFill>
                <a:effectLst/>
                <a:latin typeface="SUIT ExtraBold" pitchFamily="2" charset="-127"/>
                <a:ea typeface="SUIT ExtraBold" pitchFamily="2" charset="-127"/>
              </a:rPr>
              <a:t>EXTERNAL SERVICES</a:t>
            </a:r>
            <a:endParaRPr lang="ko-KR" altLang="en-US" sz="16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735B8369-704F-5DB0-6498-706178E9CEB7}"/>
              </a:ext>
            </a:extLst>
          </p:cNvPr>
          <p:cNvSpPr/>
          <p:nvPr/>
        </p:nvSpPr>
        <p:spPr>
          <a:xfrm>
            <a:off x="981762" y="1045610"/>
            <a:ext cx="1509919" cy="473069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F239D3B5-4391-A38A-E945-4DFD015EFDEC}"/>
              </a:ext>
            </a:extLst>
          </p:cNvPr>
          <p:cNvSpPr/>
          <p:nvPr/>
        </p:nvSpPr>
        <p:spPr>
          <a:xfrm>
            <a:off x="2587387" y="1045610"/>
            <a:ext cx="1509919" cy="473069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FE1B48ED-780B-B6FB-BB5D-D40E7A22F179}"/>
              </a:ext>
            </a:extLst>
          </p:cNvPr>
          <p:cNvSpPr/>
          <p:nvPr/>
        </p:nvSpPr>
        <p:spPr>
          <a:xfrm>
            <a:off x="4193012" y="1045609"/>
            <a:ext cx="1509919" cy="473069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31B21DAB-30C3-34B1-9876-82AB096E2897}"/>
              </a:ext>
            </a:extLst>
          </p:cNvPr>
          <p:cNvSpPr/>
          <p:nvPr/>
        </p:nvSpPr>
        <p:spPr>
          <a:xfrm>
            <a:off x="5798637" y="1045608"/>
            <a:ext cx="1509919" cy="473069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33F978D5-87D9-7FFD-6028-738FDEA41F63}"/>
              </a:ext>
            </a:extLst>
          </p:cNvPr>
          <p:cNvSpPr/>
          <p:nvPr/>
        </p:nvSpPr>
        <p:spPr>
          <a:xfrm>
            <a:off x="976841" y="1634245"/>
            <a:ext cx="3912365" cy="378160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450A3178-6C63-2933-426E-6C75F43FA59E}"/>
              </a:ext>
            </a:extLst>
          </p:cNvPr>
          <p:cNvSpPr/>
          <p:nvPr/>
        </p:nvSpPr>
        <p:spPr>
          <a:xfrm>
            <a:off x="4964641" y="1634245"/>
            <a:ext cx="2343915" cy="378160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FFF27D56-7E10-7541-D6AE-0144885DC5AC}"/>
              </a:ext>
            </a:extLst>
          </p:cNvPr>
          <p:cNvSpPr/>
          <p:nvPr/>
        </p:nvSpPr>
        <p:spPr>
          <a:xfrm>
            <a:off x="7427468" y="1045611"/>
            <a:ext cx="1524000" cy="3626990"/>
          </a:xfrm>
          <a:prstGeom prst="roundRect">
            <a:avLst>
              <a:gd name="adj" fmla="val 5554"/>
            </a:avLst>
          </a:prstGeom>
          <a:noFill/>
          <a:ln w="9525">
            <a:solidFill>
              <a:srgbClr val="38B2AC"/>
            </a:solidFill>
            <a:prstDash val="sys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B592B42-0D45-222C-1C48-F1F179A94F93}"/>
              </a:ext>
            </a:extLst>
          </p:cNvPr>
          <p:cNvSpPr/>
          <p:nvPr/>
        </p:nvSpPr>
        <p:spPr>
          <a:xfrm>
            <a:off x="976840" y="2120439"/>
            <a:ext cx="6341306" cy="1232640"/>
          </a:xfrm>
          <a:prstGeom prst="roundRect">
            <a:avLst>
              <a:gd name="adj" fmla="val 8431"/>
            </a:avLst>
          </a:prstGeom>
          <a:solidFill>
            <a:srgbClr val="F6FCFA"/>
          </a:solidFill>
          <a:ln w="9525" cap="flat" cmpd="sng" algn="ctr">
            <a:solidFill>
              <a:srgbClr val="2C80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87F07837-D3EF-326C-EAF5-32BF4A22178D}"/>
              </a:ext>
            </a:extLst>
          </p:cNvPr>
          <p:cNvSpPr/>
          <p:nvPr/>
        </p:nvSpPr>
        <p:spPr>
          <a:xfrm>
            <a:off x="1058151" y="2376826"/>
            <a:ext cx="3863097" cy="260392"/>
          </a:xfrm>
          <a:prstGeom prst="roundRect">
            <a:avLst>
              <a:gd name="adj" fmla="val 27753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A1C93316-8249-44C7-F8EF-0AA670D48707}"/>
              </a:ext>
            </a:extLst>
          </p:cNvPr>
          <p:cNvSpPr/>
          <p:nvPr/>
        </p:nvSpPr>
        <p:spPr>
          <a:xfrm>
            <a:off x="1058151" y="2689441"/>
            <a:ext cx="3863097" cy="260392"/>
          </a:xfrm>
          <a:prstGeom prst="roundRect">
            <a:avLst>
              <a:gd name="adj" fmla="val 27753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E8D1BCE8-17E0-5993-7C27-AC35913966E9}"/>
              </a:ext>
            </a:extLst>
          </p:cNvPr>
          <p:cNvSpPr/>
          <p:nvPr/>
        </p:nvSpPr>
        <p:spPr>
          <a:xfrm>
            <a:off x="1058150" y="3002056"/>
            <a:ext cx="3863097" cy="260392"/>
          </a:xfrm>
          <a:prstGeom prst="roundRect">
            <a:avLst>
              <a:gd name="adj" fmla="val 27753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2B254AB2-D4D7-4E40-47CD-6CE46A04954E}"/>
              </a:ext>
            </a:extLst>
          </p:cNvPr>
          <p:cNvSpPr/>
          <p:nvPr/>
        </p:nvSpPr>
        <p:spPr>
          <a:xfrm>
            <a:off x="5015441" y="2371712"/>
            <a:ext cx="2199747" cy="890736"/>
          </a:xfrm>
          <a:prstGeom prst="roundRect">
            <a:avLst>
              <a:gd name="adj" fmla="val 10060"/>
            </a:avLst>
          </a:prstGeom>
          <a:solidFill>
            <a:srgbClr val="ECFDF7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1C656B7E-45AC-80CF-005D-AC98A097024B}"/>
              </a:ext>
            </a:extLst>
          </p:cNvPr>
          <p:cNvSpPr/>
          <p:nvPr/>
        </p:nvSpPr>
        <p:spPr>
          <a:xfrm>
            <a:off x="976840" y="3479536"/>
            <a:ext cx="1509919" cy="535804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816CD40E-4654-83AE-AC7B-3304F7EEE4F1}"/>
              </a:ext>
            </a:extLst>
          </p:cNvPr>
          <p:cNvSpPr/>
          <p:nvPr/>
        </p:nvSpPr>
        <p:spPr>
          <a:xfrm>
            <a:off x="2582465" y="3479536"/>
            <a:ext cx="1509919" cy="535804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213A0C3D-11DA-A511-AC75-E1923C9CDEA8}"/>
              </a:ext>
            </a:extLst>
          </p:cNvPr>
          <p:cNvSpPr/>
          <p:nvPr/>
        </p:nvSpPr>
        <p:spPr>
          <a:xfrm>
            <a:off x="4188090" y="3479535"/>
            <a:ext cx="1509919" cy="535804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083C4033-93A5-7629-6810-E526D82B7E2B}"/>
              </a:ext>
            </a:extLst>
          </p:cNvPr>
          <p:cNvSpPr/>
          <p:nvPr/>
        </p:nvSpPr>
        <p:spPr>
          <a:xfrm>
            <a:off x="5793715" y="3479534"/>
            <a:ext cx="1509919" cy="535804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3D386730-9F6A-2A47-9B64-2FDB6CEACBE7}"/>
              </a:ext>
            </a:extLst>
          </p:cNvPr>
          <p:cNvSpPr/>
          <p:nvPr/>
        </p:nvSpPr>
        <p:spPr>
          <a:xfrm>
            <a:off x="976840" y="4120763"/>
            <a:ext cx="1509919" cy="551838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A11E458A-E59C-F6C5-1994-9EBB18B8DB54}"/>
              </a:ext>
            </a:extLst>
          </p:cNvPr>
          <p:cNvSpPr/>
          <p:nvPr/>
        </p:nvSpPr>
        <p:spPr>
          <a:xfrm>
            <a:off x="2582465" y="4120763"/>
            <a:ext cx="1509919" cy="551838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B74CC3CE-342F-5E40-5642-FB6D32215C31}"/>
              </a:ext>
            </a:extLst>
          </p:cNvPr>
          <p:cNvSpPr/>
          <p:nvPr/>
        </p:nvSpPr>
        <p:spPr>
          <a:xfrm>
            <a:off x="4188090" y="4120762"/>
            <a:ext cx="1509919" cy="551838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E64D19C2-C9ED-D76F-C643-5531B12C642D}"/>
              </a:ext>
            </a:extLst>
          </p:cNvPr>
          <p:cNvSpPr/>
          <p:nvPr/>
        </p:nvSpPr>
        <p:spPr>
          <a:xfrm>
            <a:off x="5793715" y="4120761"/>
            <a:ext cx="1509919" cy="551838"/>
          </a:xfrm>
          <a:prstGeom prst="roundRect">
            <a:avLst>
              <a:gd name="adj" fmla="val 17902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B401FEA6-75FB-65D1-2938-71640BD192DD}"/>
              </a:ext>
            </a:extLst>
          </p:cNvPr>
          <p:cNvSpPr/>
          <p:nvPr/>
        </p:nvSpPr>
        <p:spPr>
          <a:xfrm>
            <a:off x="5547675" y="2178125"/>
            <a:ext cx="1659894" cy="127878"/>
          </a:xfrm>
          <a:prstGeom prst="roundRect">
            <a:avLst>
              <a:gd name="adj" fmla="val 48236"/>
            </a:avLst>
          </a:prstGeom>
          <a:solidFill>
            <a:srgbClr val="0F6E56"/>
          </a:solidFill>
          <a:ln w="3175">
            <a:solidFill>
              <a:srgbClr val="0F6E56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156F0F70-5928-2B1C-E350-29950209BB7D}"/>
              </a:ext>
            </a:extLst>
          </p:cNvPr>
          <p:cNvSpPr/>
          <p:nvPr/>
        </p:nvSpPr>
        <p:spPr>
          <a:xfrm>
            <a:off x="7523156" y="1162964"/>
            <a:ext cx="1332624" cy="557212"/>
          </a:xfrm>
          <a:prstGeom prst="roundRect">
            <a:avLst>
              <a:gd name="adj" fmla="val 16642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490ED251-C116-C39B-2A77-3151F3A2F43D}"/>
              </a:ext>
            </a:extLst>
          </p:cNvPr>
          <p:cNvSpPr/>
          <p:nvPr/>
        </p:nvSpPr>
        <p:spPr>
          <a:xfrm>
            <a:off x="7534972" y="2001804"/>
            <a:ext cx="1332624" cy="557212"/>
          </a:xfrm>
          <a:prstGeom prst="roundRect">
            <a:avLst>
              <a:gd name="adj" fmla="val 16642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Shape 4">
            <a:extLst>
              <a:ext uri="{FF2B5EF4-FFF2-40B4-BE49-F238E27FC236}">
                <a16:creationId xmlns:a16="http://schemas.microsoft.com/office/drawing/2014/main" id="{9E3071A2-E7EE-50E9-427D-44B648BBCA03}"/>
              </a:ext>
            </a:extLst>
          </p:cNvPr>
          <p:cNvSpPr/>
          <p:nvPr/>
        </p:nvSpPr>
        <p:spPr>
          <a:xfrm>
            <a:off x="7523156" y="2840644"/>
            <a:ext cx="1332624" cy="557212"/>
          </a:xfrm>
          <a:prstGeom prst="roundRect">
            <a:avLst>
              <a:gd name="adj" fmla="val 16642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9" name="IconChip 419"/>
          <p:cNvSpPr/>
          <p:nvPr/>
        </p:nvSpPr>
        <p:spPr>
          <a:xfrm>
            <a:off x="7594600" y="296545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63" name="그래픽 62">
            <a:extLst>
              <a:ext uri="{FF2B5EF4-FFF2-40B4-BE49-F238E27FC236}">
                <a16:creationId xmlns:a16="http://schemas.microsoft.com/office/drawing/2014/main" id="{47C4A015-48C1-E2E5-70E1-F5D763F5F8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2700" y="3003550"/>
            <a:ext cx="243325" cy="243325"/>
          </a:xfrm>
          <a:prstGeom prst="rect">
            <a:avLst/>
          </a:prstGeom>
        </p:spPr>
      </p:pic>
      <p:sp>
        <p:nvSpPr>
          <p:cNvPr id="418" name="IconChip 418"/>
          <p:cNvSpPr/>
          <p:nvPr/>
        </p:nvSpPr>
        <p:spPr>
          <a:xfrm>
            <a:off x="7607300" y="212725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65" name="그래픽 64">
            <a:extLst>
              <a:ext uri="{FF2B5EF4-FFF2-40B4-BE49-F238E27FC236}">
                <a16:creationId xmlns:a16="http://schemas.microsoft.com/office/drawing/2014/main" id="{7568D651-AC49-D998-771A-9B0B161E8B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5400" y="2165350"/>
            <a:ext cx="243325" cy="243325"/>
          </a:xfrm>
          <a:prstGeom prst="rect">
            <a:avLst/>
          </a:prstGeom>
        </p:spPr>
      </p:pic>
      <p:sp>
        <p:nvSpPr>
          <p:cNvPr id="417" name="IconChip 417"/>
          <p:cNvSpPr/>
          <p:nvPr/>
        </p:nvSpPr>
        <p:spPr>
          <a:xfrm>
            <a:off x="7594600" y="128905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67" name="그래픽 66">
            <a:extLst>
              <a:ext uri="{FF2B5EF4-FFF2-40B4-BE49-F238E27FC236}">
                <a16:creationId xmlns:a16="http://schemas.microsoft.com/office/drawing/2014/main" id="{445F2326-32AA-F4A5-307A-46DD2BE0E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2700" y="1327150"/>
            <a:ext cx="243325" cy="243325"/>
          </a:xfrm>
          <a:prstGeom prst="rect">
            <a:avLst/>
          </a:prstGeom>
        </p:spPr>
      </p:pic>
      <p:sp>
        <p:nvSpPr>
          <p:cNvPr id="408" name="IconChip 408"/>
          <p:cNvSpPr/>
          <p:nvPr/>
        </p:nvSpPr>
        <p:spPr>
          <a:xfrm>
            <a:off x="1104900" y="3028950"/>
            <a:ext cx="203200" cy="203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71" name="그래픽 70">
            <a:extLst>
              <a:ext uri="{FF2B5EF4-FFF2-40B4-BE49-F238E27FC236}">
                <a16:creationId xmlns:a16="http://schemas.microsoft.com/office/drawing/2014/main" id="{2B439F9A-8B9B-A465-AD7D-B5463DCDA0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300" y="3054350"/>
            <a:ext cx="152400" cy="152400"/>
          </a:xfrm>
          <a:prstGeom prst="rect">
            <a:avLst/>
          </a:prstGeom>
        </p:spPr>
      </p:pic>
      <p:sp>
        <p:nvSpPr>
          <p:cNvPr id="407" name="IconChip 407"/>
          <p:cNvSpPr/>
          <p:nvPr/>
        </p:nvSpPr>
        <p:spPr>
          <a:xfrm>
            <a:off x="1104900" y="2724150"/>
            <a:ext cx="203200" cy="203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73" name="그래픽 72">
            <a:extLst>
              <a:ext uri="{FF2B5EF4-FFF2-40B4-BE49-F238E27FC236}">
                <a16:creationId xmlns:a16="http://schemas.microsoft.com/office/drawing/2014/main" id="{5AF4259B-9A76-D7D9-857E-381DD862E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0300" y="2749550"/>
            <a:ext cx="152400" cy="152400"/>
          </a:xfrm>
          <a:prstGeom prst="rect">
            <a:avLst/>
          </a:prstGeom>
        </p:spPr>
      </p:pic>
      <p:sp>
        <p:nvSpPr>
          <p:cNvPr id="406" name="IconChip 406"/>
          <p:cNvSpPr/>
          <p:nvPr/>
        </p:nvSpPr>
        <p:spPr>
          <a:xfrm>
            <a:off x="1104900" y="2406650"/>
            <a:ext cx="203200" cy="203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76CA84E6-A8AC-ADAF-7786-DDC3E9CED5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300" y="2432050"/>
            <a:ext cx="152400" cy="152400"/>
          </a:xfrm>
          <a:prstGeom prst="rect">
            <a:avLst/>
          </a:prstGeom>
        </p:spPr>
      </p:pic>
      <p:sp>
        <p:nvSpPr>
          <p:cNvPr id="405" name="IconChip 405"/>
          <p:cNvSpPr/>
          <p:nvPr/>
        </p:nvSpPr>
        <p:spPr>
          <a:xfrm>
            <a:off x="5041900" y="167005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79" name="그래픽 78">
            <a:extLst>
              <a:ext uri="{FF2B5EF4-FFF2-40B4-BE49-F238E27FC236}">
                <a16:creationId xmlns:a16="http://schemas.microsoft.com/office/drawing/2014/main" id="{F6EF4DFF-546F-FC93-D152-247DA09438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0000" y="1708150"/>
            <a:ext cx="243325" cy="243325"/>
          </a:xfrm>
          <a:prstGeom prst="rect">
            <a:avLst/>
          </a:prstGeom>
        </p:spPr>
      </p:pic>
      <p:sp>
        <p:nvSpPr>
          <p:cNvPr id="404" name="IconChip 404"/>
          <p:cNvSpPr/>
          <p:nvPr/>
        </p:nvSpPr>
        <p:spPr>
          <a:xfrm>
            <a:off x="1054100" y="167005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81" name="그래픽 80">
            <a:extLst>
              <a:ext uri="{FF2B5EF4-FFF2-40B4-BE49-F238E27FC236}">
                <a16:creationId xmlns:a16="http://schemas.microsoft.com/office/drawing/2014/main" id="{A69F000D-175C-3688-67C9-02DCEA34B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2200" y="1708150"/>
            <a:ext cx="243325" cy="243325"/>
          </a:xfrm>
          <a:prstGeom prst="rect">
            <a:avLst/>
          </a:prstGeom>
        </p:spPr>
      </p:pic>
      <p:sp>
        <p:nvSpPr>
          <p:cNvPr id="403" name="IconChip 403"/>
          <p:cNvSpPr/>
          <p:nvPr/>
        </p:nvSpPr>
        <p:spPr>
          <a:xfrm>
            <a:off x="5880100" y="111760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83" name="그래픽 82">
            <a:extLst>
              <a:ext uri="{FF2B5EF4-FFF2-40B4-BE49-F238E27FC236}">
                <a16:creationId xmlns:a16="http://schemas.microsoft.com/office/drawing/2014/main" id="{D30DAEA9-629B-5767-EB23-B9A848550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18200" y="1155700"/>
            <a:ext cx="243325" cy="243325"/>
          </a:xfrm>
          <a:prstGeom prst="rect">
            <a:avLst/>
          </a:prstGeom>
        </p:spPr>
      </p:pic>
      <p:sp>
        <p:nvSpPr>
          <p:cNvPr id="402" name="IconChip 402"/>
          <p:cNvSpPr/>
          <p:nvPr/>
        </p:nvSpPr>
        <p:spPr>
          <a:xfrm>
            <a:off x="4267200" y="111760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85" name="그래픽 84">
            <a:extLst>
              <a:ext uri="{FF2B5EF4-FFF2-40B4-BE49-F238E27FC236}">
                <a16:creationId xmlns:a16="http://schemas.microsoft.com/office/drawing/2014/main" id="{CD230F25-20A9-1897-A415-E33F93E77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5300" y="1155700"/>
            <a:ext cx="243325" cy="243325"/>
          </a:xfrm>
          <a:prstGeom prst="rect">
            <a:avLst/>
          </a:prstGeom>
        </p:spPr>
      </p:pic>
      <p:sp>
        <p:nvSpPr>
          <p:cNvPr id="401" name="IconChip 401"/>
          <p:cNvSpPr/>
          <p:nvPr/>
        </p:nvSpPr>
        <p:spPr>
          <a:xfrm>
            <a:off x="2667000" y="111760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87" name="그래픽 86">
            <a:extLst>
              <a:ext uri="{FF2B5EF4-FFF2-40B4-BE49-F238E27FC236}">
                <a16:creationId xmlns:a16="http://schemas.microsoft.com/office/drawing/2014/main" id="{F512FBF1-C359-3CC0-9849-566C519812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05100" y="1155700"/>
            <a:ext cx="243325" cy="243325"/>
          </a:xfrm>
          <a:prstGeom prst="rect">
            <a:avLst/>
          </a:prstGeom>
        </p:spPr>
      </p:pic>
      <p:sp>
        <p:nvSpPr>
          <p:cNvPr id="400" name="IconChip 400"/>
          <p:cNvSpPr/>
          <p:nvPr/>
        </p:nvSpPr>
        <p:spPr>
          <a:xfrm>
            <a:off x="1054100" y="111760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89" name="그래픽 88">
            <a:extLst>
              <a:ext uri="{FF2B5EF4-FFF2-40B4-BE49-F238E27FC236}">
                <a16:creationId xmlns:a16="http://schemas.microsoft.com/office/drawing/2014/main" id="{4E7D92A5-1B34-1ABB-A3A9-A9113E27C7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2200" y="1155700"/>
            <a:ext cx="243325" cy="243325"/>
          </a:xfrm>
          <a:prstGeom prst="rect">
            <a:avLst/>
          </a:prstGeom>
        </p:spPr>
      </p:pic>
      <p:sp>
        <p:nvSpPr>
          <p:cNvPr id="409" name="IconChip 409"/>
          <p:cNvSpPr/>
          <p:nvPr/>
        </p:nvSpPr>
        <p:spPr>
          <a:xfrm>
            <a:off x="1054100" y="358775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93" name="그래픽 92">
            <a:extLst>
              <a:ext uri="{FF2B5EF4-FFF2-40B4-BE49-F238E27FC236}">
                <a16:creationId xmlns:a16="http://schemas.microsoft.com/office/drawing/2014/main" id="{4DDCDBB1-E3EE-23C8-0081-713DC5C42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92200" y="3625850"/>
            <a:ext cx="244800" cy="244800"/>
          </a:xfrm>
          <a:prstGeom prst="rect">
            <a:avLst/>
          </a:prstGeom>
        </p:spPr>
      </p:pic>
      <p:sp>
        <p:nvSpPr>
          <p:cNvPr id="410" name="IconChip 410"/>
          <p:cNvSpPr/>
          <p:nvPr/>
        </p:nvSpPr>
        <p:spPr>
          <a:xfrm>
            <a:off x="2654300" y="358775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96" name="그래픽 95">
            <a:extLst>
              <a:ext uri="{FF2B5EF4-FFF2-40B4-BE49-F238E27FC236}">
                <a16:creationId xmlns:a16="http://schemas.microsoft.com/office/drawing/2014/main" id="{3A299D0E-CCCF-4B70-2918-A5F9A1FDE3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92400" y="3625850"/>
            <a:ext cx="244800" cy="244800"/>
          </a:xfrm>
          <a:prstGeom prst="rect">
            <a:avLst/>
          </a:prstGeom>
        </p:spPr>
      </p:pic>
      <p:sp>
        <p:nvSpPr>
          <p:cNvPr id="411" name="IconChip 411"/>
          <p:cNvSpPr/>
          <p:nvPr/>
        </p:nvSpPr>
        <p:spPr>
          <a:xfrm>
            <a:off x="4267200" y="358775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97" name="그래픽 96">
            <a:extLst>
              <a:ext uri="{FF2B5EF4-FFF2-40B4-BE49-F238E27FC236}">
                <a16:creationId xmlns:a16="http://schemas.microsoft.com/office/drawing/2014/main" id="{4C58DBB4-725F-C9A1-D81F-315CF8EB2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05300" y="3625850"/>
            <a:ext cx="244800" cy="244800"/>
          </a:xfrm>
          <a:prstGeom prst="rect">
            <a:avLst/>
          </a:prstGeom>
        </p:spPr>
      </p:pic>
      <p:sp>
        <p:nvSpPr>
          <p:cNvPr id="412" name="IconChip 412"/>
          <p:cNvSpPr/>
          <p:nvPr/>
        </p:nvSpPr>
        <p:spPr>
          <a:xfrm>
            <a:off x="5867400" y="358775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98" name="그래픽 97">
            <a:extLst>
              <a:ext uri="{FF2B5EF4-FFF2-40B4-BE49-F238E27FC236}">
                <a16:creationId xmlns:a16="http://schemas.microsoft.com/office/drawing/2014/main" id="{87F42597-F1CA-4FD6-3FBE-D0895F86E4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05500" y="3625850"/>
            <a:ext cx="244800" cy="244800"/>
          </a:xfrm>
          <a:prstGeom prst="rect">
            <a:avLst/>
          </a:prstGeom>
        </p:spPr>
      </p:pic>
      <p:sp>
        <p:nvSpPr>
          <p:cNvPr id="414" name="IconChip 414"/>
          <p:cNvSpPr/>
          <p:nvPr/>
        </p:nvSpPr>
        <p:spPr>
          <a:xfrm>
            <a:off x="2654300" y="422910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99" name="그래픽 98">
            <a:extLst>
              <a:ext uri="{FF2B5EF4-FFF2-40B4-BE49-F238E27FC236}">
                <a16:creationId xmlns:a16="http://schemas.microsoft.com/office/drawing/2014/main" id="{11C64744-D20C-6BAA-43DE-B2396F888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92400" y="4267200"/>
            <a:ext cx="244800" cy="244800"/>
          </a:xfrm>
          <a:prstGeom prst="rect">
            <a:avLst/>
          </a:prstGeom>
        </p:spPr>
      </p:pic>
      <p:sp>
        <p:nvSpPr>
          <p:cNvPr id="415" name="IconChip 415"/>
          <p:cNvSpPr/>
          <p:nvPr/>
        </p:nvSpPr>
        <p:spPr>
          <a:xfrm>
            <a:off x="4267200" y="422910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100" name="그래픽 99">
            <a:extLst>
              <a:ext uri="{FF2B5EF4-FFF2-40B4-BE49-F238E27FC236}">
                <a16:creationId xmlns:a16="http://schemas.microsoft.com/office/drawing/2014/main" id="{49D741D6-197C-2933-B7B1-971A49050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05300" y="4267200"/>
            <a:ext cx="243325" cy="243325"/>
          </a:xfrm>
          <a:prstGeom prst="rect">
            <a:avLst/>
          </a:prstGeom>
        </p:spPr>
      </p:pic>
      <p:sp>
        <p:nvSpPr>
          <p:cNvPr id="416" name="IconChip 416"/>
          <p:cNvSpPr/>
          <p:nvPr/>
        </p:nvSpPr>
        <p:spPr>
          <a:xfrm>
            <a:off x="5867400" y="422910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101" name="그래픽 100">
            <a:extLst>
              <a:ext uri="{FF2B5EF4-FFF2-40B4-BE49-F238E27FC236}">
                <a16:creationId xmlns:a16="http://schemas.microsoft.com/office/drawing/2014/main" id="{31DF660A-B2F2-8C6F-B413-ECD8EA2CB6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05500" y="4267200"/>
            <a:ext cx="243325" cy="243325"/>
          </a:xfrm>
          <a:prstGeom prst="rect">
            <a:avLst/>
          </a:prstGeom>
        </p:spPr>
      </p:pic>
      <p:sp>
        <p:nvSpPr>
          <p:cNvPr id="413" name="IconChip 413"/>
          <p:cNvSpPr/>
          <p:nvPr/>
        </p:nvSpPr>
        <p:spPr>
          <a:xfrm>
            <a:off x="1054100" y="4229100"/>
            <a:ext cx="317500" cy="3175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102" name="그래픽 101">
            <a:extLst>
              <a:ext uri="{FF2B5EF4-FFF2-40B4-BE49-F238E27FC236}">
                <a16:creationId xmlns:a16="http://schemas.microsoft.com/office/drawing/2014/main" id="{F1E7145A-1CC0-EB43-B0A3-BB9B7B0F3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2200" y="4267200"/>
            <a:ext cx="244800" cy="244800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AAECEFD7-757B-B6EC-9061-226BF1293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95277" y="2429870"/>
            <a:ext cx="244800" cy="244800"/>
          </a:xfrm>
          <a:prstGeom prst="rect">
            <a:avLst/>
          </a:prstGeom>
        </p:spPr>
      </p:pic>
      <p:sp>
        <p:nvSpPr>
          <p:cNvPr id="300" name="AnnoText 300"/>
          <p:cNvSpPr txBox="1"/>
          <p:nvPr/>
        </p:nvSpPr>
        <p:spPr>
          <a:xfrm>
            <a:off x="1422400" y="1117600"/>
            <a:ext cx="1016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70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Web Browser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(React SPA)</a:t>
            </a:r>
          </a:p>
        </p:txBody>
      </p:sp>
      <p:sp>
        <p:nvSpPr>
          <p:cNvPr id="301" name="AnnoText 301"/>
          <p:cNvSpPr txBox="1"/>
          <p:nvPr/>
        </p:nvSpPr>
        <p:spPr>
          <a:xfrm>
            <a:off x="3035300" y="1117600"/>
            <a:ext cx="1016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70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Mobile App</a:t>
            </a:r>
          </a:p>
        </p:txBody>
      </p:sp>
      <p:sp>
        <p:nvSpPr>
          <p:cNvPr id="302" name="AnnoText 302"/>
          <p:cNvSpPr txBox="1"/>
          <p:nvPr/>
        </p:nvSpPr>
        <p:spPr>
          <a:xfrm>
            <a:off x="4635500" y="1117600"/>
            <a:ext cx="1016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70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External AI Client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(MCP)</a:t>
            </a:r>
          </a:p>
        </p:txBody>
      </p:sp>
      <p:sp>
        <p:nvSpPr>
          <p:cNvPr id="303" name="AnnoText 303"/>
          <p:cNvSpPr txBox="1"/>
          <p:nvPr/>
        </p:nvSpPr>
        <p:spPr>
          <a:xfrm>
            <a:off x="6248400" y="1117600"/>
            <a:ext cx="1016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70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External System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(REST API)</a:t>
            </a:r>
          </a:p>
        </p:txBody>
      </p:sp>
      <p:sp>
        <p:nvSpPr>
          <p:cNvPr id="304" name="AnnoText 304"/>
          <p:cNvSpPr txBox="1"/>
          <p:nvPr/>
        </p:nvSpPr>
        <p:spPr>
          <a:xfrm>
            <a:off x="1435100" y="1663700"/>
            <a:ext cx="3340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70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Nginx — TLS 443 (Let's Encrypt)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SSE pass-through · buffering off</a:t>
            </a:r>
          </a:p>
        </p:txBody>
      </p:sp>
      <p:sp>
        <p:nvSpPr>
          <p:cNvPr id="305" name="AnnoText 305"/>
          <p:cNvSpPr txBox="1"/>
          <p:nvPr/>
        </p:nvSpPr>
        <p:spPr>
          <a:xfrm>
            <a:off x="5422900" y="1663700"/>
            <a:ext cx="17907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70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Firewall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22 / 80 / 443</a:t>
            </a:r>
          </a:p>
        </p:txBody>
      </p:sp>
      <p:sp>
        <p:nvSpPr>
          <p:cNvPr id="306" name="AnnoText 306"/>
          <p:cNvSpPr txBox="1"/>
          <p:nvPr/>
        </p:nvSpPr>
        <p:spPr>
          <a:xfrm>
            <a:off x="1054100" y="2159000"/>
            <a:ext cx="4445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b="1" dirty="0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APPLICATION SERVER</a:t>
            </a:r>
            <a:r>
              <a:rPr lang="en-US" altLang="ko-KR" sz="600" dirty="0">
                <a:solidFill>
                  <a:srgbClr val="64748B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en-US" altLang="ko-KR" sz="6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— /opt/innermate · systemd + PM2 cluster (8 workers) · port 3234</a:t>
            </a:r>
          </a:p>
        </p:txBody>
      </p:sp>
      <p:sp>
        <p:nvSpPr>
          <p:cNvPr id="307" name="AnnoText 307"/>
          <p:cNvSpPr txBox="1"/>
          <p:nvPr/>
        </p:nvSpPr>
        <p:spPr>
          <a:xfrm>
            <a:off x="5549900" y="2184400"/>
            <a:ext cx="16637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buNone/>
            </a:pPr>
            <a:r>
              <a:rPr lang="en-US" altLang="ko-KR" sz="500" dirty="0">
                <a:solidFill>
                  <a:srgbClr val="FFFFFF"/>
                </a:solidFill>
                <a:latin typeface="SUIT ExtraBold" pitchFamily="2" charset="-127"/>
                <a:ea typeface="SUIT ExtraBold" pitchFamily="2" charset="-127"/>
              </a:rPr>
              <a:t>NO REDIS — queue runs on Postgres LISTEN/NOTIFY</a:t>
            </a:r>
          </a:p>
        </p:txBody>
      </p:sp>
      <p:sp>
        <p:nvSpPr>
          <p:cNvPr id="308" name="AnnoText 308"/>
          <p:cNvSpPr txBox="1"/>
          <p:nvPr/>
        </p:nvSpPr>
        <p:spPr>
          <a:xfrm>
            <a:off x="1358900" y="2374900"/>
            <a:ext cx="34798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Fastify API</a:t>
            </a:r>
            <a:r>
              <a:rPr lang="en-US" altLang="ko-KR" sz="6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 — /api/chat (SSE), /api/admin, /api/files, /api/mcp</a:t>
            </a:r>
          </a:p>
        </p:txBody>
      </p:sp>
      <p:sp>
        <p:nvSpPr>
          <p:cNvPr id="309" name="AnnoText 309"/>
          <p:cNvSpPr txBox="1"/>
          <p:nvPr/>
        </p:nvSpPr>
        <p:spPr>
          <a:xfrm>
            <a:off x="1358900" y="2692400"/>
            <a:ext cx="34798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Static Web Assets</a:t>
            </a:r>
            <a:r>
              <a:rPr lang="en-US" altLang="ko-KR" sz="6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 (Vite build)</a:t>
            </a:r>
          </a:p>
        </p:txBody>
      </p:sp>
      <p:sp>
        <p:nvSpPr>
          <p:cNvPr id="310" name="AnnoText 310"/>
          <p:cNvSpPr txBox="1"/>
          <p:nvPr/>
        </p:nvSpPr>
        <p:spPr>
          <a:xfrm>
            <a:off x="1358900" y="2997200"/>
            <a:ext cx="34798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graphile-worker (in-process)</a:t>
            </a: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 — excel.ingest, wiki.ingest, dds.run, memory.embed, org.sync</a:t>
            </a:r>
          </a:p>
        </p:txBody>
      </p:sp>
      <p:sp>
        <p:nvSpPr>
          <p:cNvPr id="311" name="AnnoText 311"/>
          <p:cNvSpPr txBox="1"/>
          <p:nvPr/>
        </p:nvSpPr>
        <p:spPr>
          <a:xfrm>
            <a:off x="5359400" y="2413000"/>
            <a:ext cx="17780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Embedded Runtimes:</a:t>
            </a:r>
          </a:p>
        </p:txBody>
      </p:sp>
      <p:sp>
        <p:nvSpPr>
          <p:cNvPr id="312" name="AnnoText 312"/>
          <p:cNvSpPr txBox="1"/>
          <p:nvPr/>
        </p:nvSpPr>
        <p:spPr>
          <a:xfrm>
            <a:off x="5130800" y="2603500"/>
            <a:ext cx="19812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50800" indent="-50800">
              <a:lnSpc>
                <a:spcPct val="118000"/>
              </a:lnSpc>
              <a:buFont typeface="Arial"/>
              <a:buChar char="•"/>
            </a:pPr>
            <a:r>
              <a:rPr lang="en-US" altLang="ko-KR" sz="6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Java JRE 17</a:t>
            </a:r>
          </a:p>
          <a:p>
            <a:pPr marL="50800" indent="-50800">
              <a:lnSpc>
                <a:spcPct val="118000"/>
              </a:lnSpc>
              <a:buFont typeface="Arial"/>
              <a:buChar char="•"/>
            </a:pPr>
            <a:r>
              <a:rPr lang="en-US" altLang="ko-KR" sz="6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Python venv</a:t>
            </a:r>
          </a:p>
          <a:p>
            <a:pPr marL="50800" indent="-50800">
              <a:lnSpc>
                <a:spcPct val="118000"/>
              </a:lnSpc>
              <a:buFont typeface="Arial"/>
              <a:buChar char="•"/>
            </a:pPr>
            <a:r>
              <a:rPr lang="en-US" altLang="ko-KR" sz="6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Chromium (PDF/PPTX export)</a:t>
            </a:r>
          </a:p>
          <a:p>
            <a:pPr marL="50800" indent="-50800">
              <a:lnSpc>
                <a:spcPct val="118000"/>
              </a:lnSpc>
              <a:buFont typeface="Arial"/>
              <a:buChar char="•"/>
            </a:pPr>
            <a:r>
              <a:rPr lang="en-US" altLang="ko-KR" sz="6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DuckDB</a:t>
            </a:r>
          </a:p>
        </p:txBody>
      </p:sp>
      <p:sp>
        <p:nvSpPr>
          <p:cNvPr id="313" name="AnnoText 313"/>
          <p:cNvSpPr txBox="1"/>
          <p:nvPr/>
        </p:nvSpPr>
        <p:spPr>
          <a:xfrm>
            <a:off x="1422400" y="3530600"/>
            <a:ext cx="10160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PostgreSQL 16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 + pgvector : 4235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system DB · 184 / 300 conns</a:t>
            </a:r>
          </a:p>
        </p:txBody>
      </p:sp>
      <p:sp>
        <p:nvSpPr>
          <p:cNvPr id="314" name="AnnoText 314"/>
          <p:cNvSpPr txBox="1"/>
          <p:nvPr/>
        </p:nvSpPr>
        <p:spPr>
          <a:xfrm>
            <a:off x="3035300" y="3530600"/>
            <a:ext cx="10160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MinIO S3 : 9234 / console 9235</a:t>
            </a:r>
          </a:p>
        </p:txBody>
      </p:sp>
      <p:sp>
        <p:nvSpPr>
          <p:cNvPr id="315" name="AnnoText 315"/>
          <p:cNvSpPr txBox="1"/>
          <p:nvPr/>
        </p:nvSpPr>
        <p:spPr>
          <a:xfrm>
            <a:off x="4635500" y="3530600"/>
            <a:ext cx="10160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DuckDB files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(local, embedded)</a:t>
            </a:r>
          </a:p>
        </p:txBody>
      </p:sp>
      <p:sp>
        <p:nvSpPr>
          <p:cNvPr id="316" name="AnnoText 316"/>
          <p:cNvSpPr txBox="1"/>
          <p:nvPr/>
        </p:nvSpPr>
        <p:spPr>
          <a:xfrm>
            <a:off x="6235700" y="3530600"/>
            <a:ext cx="10160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Oracle 23ai : 4236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(dual support)</a:t>
            </a:r>
          </a:p>
        </p:txBody>
      </p:sp>
      <p:sp>
        <p:nvSpPr>
          <p:cNvPr id="317" name="AnnoText 317"/>
          <p:cNvSpPr txBox="1"/>
          <p:nvPr/>
        </p:nvSpPr>
        <p:spPr>
          <a:xfrm>
            <a:off x="1422400" y="41656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LLM Bonding Pool — </a:t>
            </a:r>
            <a:r>
              <a:rPr lang="en-US" altLang="ko-KR" sz="5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internal vLLM GPU nodes + OpenAI / Anthropic / Gemini</a:t>
            </a:r>
          </a:p>
        </p:txBody>
      </p:sp>
      <p:sp>
        <p:nvSpPr>
          <p:cNvPr id="318" name="AnnoText 318"/>
          <p:cNvSpPr txBox="1"/>
          <p:nvPr/>
        </p:nvSpPr>
        <p:spPr>
          <a:xfrm>
            <a:off x="3022600" y="41656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External Data Sources — </a:t>
            </a:r>
            <a:r>
              <a:rPr lang="en-US" altLang="ko-KR" sz="5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PostgreSQL, MySQL, MariaDB, MSSQL, Oracle, BigQuery</a:t>
            </a:r>
          </a:p>
        </p:txBody>
      </p:sp>
      <p:sp>
        <p:nvSpPr>
          <p:cNvPr id="319" name="AnnoText 319"/>
          <p:cNvSpPr txBox="1"/>
          <p:nvPr/>
        </p:nvSpPr>
        <p:spPr>
          <a:xfrm>
            <a:off x="4635500" y="41656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Tableau Server</a:t>
            </a:r>
          </a:p>
        </p:txBody>
      </p:sp>
      <p:sp>
        <p:nvSpPr>
          <p:cNvPr id="320" name="AnnoText 320"/>
          <p:cNvSpPr txBox="1"/>
          <p:nvPr/>
        </p:nvSpPr>
        <p:spPr>
          <a:xfrm>
            <a:off x="6235700" y="41656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5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Identity Providers — </a:t>
            </a:r>
            <a:r>
              <a:rPr lang="en-US" altLang="ko-KR" sz="50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LDAP, MS Entra ID, ISign+</a:t>
            </a:r>
          </a:p>
        </p:txBody>
      </p:sp>
      <p:sp>
        <p:nvSpPr>
          <p:cNvPr id="321" name="AnnoText 321"/>
          <p:cNvSpPr txBox="1"/>
          <p:nvPr/>
        </p:nvSpPr>
        <p:spPr>
          <a:xfrm>
            <a:off x="7429500" y="1054100"/>
            <a:ext cx="1524000" cy="114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buNone/>
            </a:pPr>
            <a:r>
              <a:rPr lang="en-US" altLang="ko-KR" sz="600" dirty="0">
                <a:solidFill>
                  <a:srgbClr val="0F6E56"/>
                </a:solidFill>
                <a:latin typeface="SUIT ExtraBold" pitchFamily="2" charset="-127"/>
                <a:ea typeface="SUIT ExtraBold" pitchFamily="2" charset="-127"/>
              </a:rPr>
              <a:t>RELEASE PIPELINE</a:t>
            </a:r>
          </a:p>
        </p:txBody>
      </p:sp>
      <p:sp>
        <p:nvSpPr>
          <p:cNvPr id="322" name="AnnoText 322"/>
          <p:cNvSpPr txBox="1"/>
          <p:nvPr/>
        </p:nvSpPr>
        <p:spPr>
          <a:xfrm>
            <a:off x="7962900" y="1219200"/>
            <a:ext cx="8509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0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.deb / .rpm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package</a:t>
            </a:r>
          </a:p>
        </p:txBody>
      </p:sp>
      <p:sp>
        <p:nvSpPr>
          <p:cNvPr id="323" name="AnnoText 323"/>
          <p:cNvSpPr txBox="1"/>
          <p:nvPr/>
        </p:nvSpPr>
        <p:spPr>
          <a:xfrm>
            <a:off x="7962900" y="2057400"/>
            <a:ext cx="8509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0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versions/&lt;ver&gt; +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atomic symlink swap</a:t>
            </a:r>
          </a:p>
        </p:txBody>
      </p:sp>
      <p:sp>
        <p:nvSpPr>
          <p:cNvPr id="324" name="AnnoText 324"/>
          <p:cNvSpPr txBox="1"/>
          <p:nvPr/>
        </p:nvSpPr>
        <p:spPr>
          <a:xfrm>
            <a:off x="7962900" y="2895600"/>
            <a:ext cx="8509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600" dirty="0">
                <a:solidFill>
                  <a:srgbClr val="1E293B"/>
                </a:solidFill>
                <a:latin typeface="SUIT ExtraBold" pitchFamily="2" charset="-127"/>
                <a:ea typeface="SUIT ExtraBold" pitchFamily="2" charset="-127"/>
              </a:rPr>
              <a:t>PM2 reload —</a:t>
            </a:r>
          </a:p>
          <a:p>
            <a:pPr algn="l">
              <a:lnSpc>
                <a:spcPct val="108000"/>
              </a:lnSpc>
              <a:buNone/>
            </a:pPr>
            <a:r>
              <a:rPr lang="en-US" altLang="ko-KR" sz="550" dirty="0">
                <a:solidFill>
                  <a:srgbClr val="64748B"/>
                </a:solidFill>
                <a:latin typeface="SUIT" pitchFamily="2" charset="-127"/>
                <a:ea typeface="SUIT" pitchFamily="2" charset="-127"/>
              </a:rPr>
              <a:t>zero downtime</a:t>
            </a:r>
          </a:p>
        </p:txBody>
      </p:sp>
      <p:sp>
        <p:nvSpPr>
          <p:cNvPr id="325" name="AnnoPill 325"/>
          <p:cNvSpPr/>
          <p:nvPr/>
        </p:nvSpPr>
        <p:spPr>
          <a:xfrm>
            <a:off x="7531100" y="4419600"/>
            <a:ext cx="1333500" cy="1778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0F6E56"/>
            </a:solidFill>
          </a:ln>
        </p:spPr>
        <p:txBody>
          <a:bodyPr lIns="0" tIns="0" rIns="0" bIns="0" anchor="ctr"/>
          <a:lstStyle/>
          <a:p>
            <a:pPr algn="ctr">
              <a:lnSpc>
                <a:spcPct val="108000"/>
              </a:lnSpc>
              <a:buNone/>
            </a:pPr>
            <a:r>
              <a:rPr lang="en-US" altLang="ko-KR" sz="500" dirty="0">
                <a:solidFill>
                  <a:srgbClr val="0F6E56"/>
                </a:solidFill>
                <a:latin typeface="SUIT ExtraBold" pitchFamily="2" charset="-127"/>
                <a:ea typeface="SUIT ExtraBold" pitchFamily="2" charset="-127"/>
              </a:rPr>
              <a:t>air-gapped install supported</a:t>
            </a:r>
          </a:p>
        </p:txBody>
      </p:sp>
      <p:sp>
        <p:nvSpPr>
          <p:cNvPr id="326" name="AnnoText 326"/>
          <p:cNvSpPr txBox="1"/>
          <p:nvPr/>
        </p:nvSpPr>
        <p:spPr>
          <a:xfrm>
            <a:off x="990600" y="1517650"/>
            <a:ext cx="660400" cy="114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500" dirty="0">
                <a:solidFill>
                  <a:srgbClr val="0F6E56"/>
                </a:solidFill>
                <a:latin typeface="SUIT ExtraBold" pitchFamily="2" charset="-127"/>
                <a:ea typeface="SUIT ExtraBold" pitchFamily="2" charset="-127"/>
              </a:rPr>
              <a:t>HTTPS / SSE</a:t>
            </a:r>
          </a:p>
        </p:txBody>
      </p:sp>
      <p:sp>
        <p:nvSpPr>
          <p:cNvPr id="327" name="AnnoText 327"/>
          <p:cNvSpPr txBox="1"/>
          <p:nvPr/>
        </p:nvSpPr>
        <p:spPr>
          <a:xfrm>
            <a:off x="990600" y="3371850"/>
            <a:ext cx="660400" cy="10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</a:pPr>
            <a:r>
              <a:rPr lang="en-US" altLang="ko-KR" sz="500" dirty="0">
                <a:solidFill>
                  <a:srgbClr val="0F6E56"/>
                </a:solidFill>
                <a:latin typeface="SUIT ExtraBold" pitchFamily="2" charset="-127"/>
                <a:ea typeface="SUIT ExtraBold" pitchFamily="2" charset="-127"/>
              </a:rPr>
              <a:t>Drizzle ORM</a:t>
            </a:r>
          </a:p>
        </p:txBody>
      </p:sp>
      <p:cxnSp>
        <p:nvCxnSpPr>
          <p:cNvPr id="328" name="AnnoLine 328"/>
          <p:cNvCxnSpPr/>
          <p:nvPr/>
        </p:nvCxnSpPr>
        <p:spPr>
          <a:xfrm>
            <a:off x="1733550" y="1511300"/>
            <a:ext cx="0" cy="63500"/>
          </a:xfrm>
          <a:prstGeom prst="straightConnector1">
            <a:avLst/>
          </a:prstGeom>
          <a:ln w="9525" cap="flat">
            <a:solidFill>
              <a:srgbClr val="0F6E56"/>
            </a:solidFill>
          </a:ln>
        </p:spPr>
      </p:cxnSp>
      <p:cxnSp>
        <p:nvCxnSpPr>
          <p:cNvPr id="329" name="AnnoLine 329"/>
          <p:cNvCxnSpPr/>
          <p:nvPr/>
        </p:nvCxnSpPr>
        <p:spPr>
          <a:xfrm>
            <a:off x="3346450" y="1511300"/>
            <a:ext cx="0" cy="63500"/>
          </a:xfrm>
          <a:prstGeom prst="straightConnector1">
            <a:avLst/>
          </a:prstGeom>
          <a:ln w="9525" cap="flat">
            <a:solidFill>
              <a:srgbClr val="0F6E56"/>
            </a:solidFill>
          </a:ln>
        </p:spPr>
      </p:cxnSp>
      <p:cxnSp>
        <p:nvCxnSpPr>
          <p:cNvPr id="330" name="AnnoLine 330"/>
          <p:cNvCxnSpPr/>
          <p:nvPr/>
        </p:nvCxnSpPr>
        <p:spPr>
          <a:xfrm>
            <a:off x="4946650" y="1511300"/>
            <a:ext cx="0" cy="63500"/>
          </a:xfrm>
          <a:prstGeom prst="straightConnector1">
            <a:avLst/>
          </a:prstGeom>
          <a:ln w="9525" cap="flat">
            <a:solidFill>
              <a:srgbClr val="0F6E56"/>
            </a:solidFill>
          </a:ln>
        </p:spPr>
      </p:cxnSp>
      <p:cxnSp>
        <p:nvCxnSpPr>
          <p:cNvPr id="331" name="AnnoLine 331"/>
          <p:cNvCxnSpPr/>
          <p:nvPr/>
        </p:nvCxnSpPr>
        <p:spPr>
          <a:xfrm>
            <a:off x="6559550" y="1511300"/>
            <a:ext cx="0" cy="63500"/>
          </a:xfrm>
          <a:prstGeom prst="straightConnector1">
            <a:avLst/>
          </a:prstGeom>
          <a:ln w="9525" cap="flat">
            <a:solidFill>
              <a:srgbClr val="0F6E56"/>
            </a:solidFill>
          </a:ln>
        </p:spPr>
      </p:cxnSp>
      <p:cxnSp>
        <p:nvCxnSpPr>
          <p:cNvPr id="332" name="AnnoLine 332"/>
          <p:cNvCxnSpPr/>
          <p:nvPr/>
        </p:nvCxnSpPr>
        <p:spPr>
          <a:xfrm>
            <a:off x="1733550" y="1574800"/>
            <a:ext cx="4826000" cy="0"/>
          </a:xfrm>
          <a:prstGeom prst="straightConnector1">
            <a:avLst/>
          </a:prstGeom>
          <a:ln w="9525" cap="flat">
            <a:solidFill>
              <a:srgbClr val="0F6E56"/>
            </a:solidFill>
          </a:ln>
        </p:spPr>
      </p:cxnSp>
      <p:cxnSp>
        <p:nvCxnSpPr>
          <p:cNvPr id="333" name="AnnoLine 333"/>
          <p:cNvCxnSpPr/>
          <p:nvPr/>
        </p:nvCxnSpPr>
        <p:spPr>
          <a:xfrm>
            <a:off x="4025900" y="1574800"/>
            <a:ext cx="0" cy="63500"/>
          </a:xfrm>
          <a:prstGeom prst="straightConnector1">
            <a:avLst/>
          </a:prstGeom>
          <a:ln w="9525" cap="flat">
            <a:solidFill>
              <a:srgbClr val="0F6E56"/>
            </a:solidFill>
            <a:tailEnd type="triangle" w="sm" len="sm"/>
          </a:ln>
        </p:spPr>
      </p:cxnSp>
      <p:cxnSp>
        <p:nvCxnSpPr>
          <p:cNvPr id="334" name="AnnoLine 334"/>
          <p:cNvCxnSpPr/>
          <p:nvPr/>
        </p:nvCxnSpPr>
        <p:spPr>
          <a:xfrm>
            <a:off x="4025900" y="2019300"/>
            <a:ext cx="0" cy="95250"/>
          </a:xfrm>
          <a:prstGeom prst="straightConnector1">
            <a:avLst/>
          </a:prstGeom>
          <a:ln w="9525" cap="flat">
            <a:solidFill>
              <a:srgbClr val="0F6E56"/>
            </a:solidFill>
            <a:tailEnd type="triangle" w="sm" len="sm"/>
          </a:ln>
        </p:spPr>
      </p:cxnSp>
      <p:cxnSp>
        <p:nvCxnSpPr>
          <p:cNvPr id="335" name="AnnoLine 335"/>
          <p:cNvCxnSpPr/>
          <p:nvPr/>
        </p:nvCxnSpPr>
        <p:spPr>
          <a:xfrm>
            <a:off x="4025900" y="3352800"/>
            <a:ext cx="0" cy="50800"/>
          </a:xfrm>
          <a:prstGeom prst="straightConnector1">
            <a:avLst/>
          </a:prstGeom>
          <a:ln w="9525" cap="flat">
            <a:solidFill>
              <a:srgbClr val="0F6E56"/>
            </a:solidFill>
          </a:ln>
        </p:spPr>
      </p:cxnSp>
      <p:cxnSp>
        <p:nvCxnSpPr>
          <p:cNvPr id="336" name="AnnoLine 336"/>
          <p:cNvCxnSpPr/>
          <p:nvPr/>
        </p:nvCxnSpPr>
        <p:spPr>
          <a:xfrm>
            <a:off x="1733550" y="3403600"/>
            <a:ext cx="4813300" cy="0"/>
          </a:xfrm>
          <a:prstGeom prst="straightConnector1">
            <a:avLst/>
          </a:prstGeom>
          <a:ln w="9525" cap="flat">
            <a:solidFill>
              <a:srgbClr val="0F6E56"/>
            </a:solidFill>
          </a:ln>
        </p:spPr>
      </p:cxnSp>
      <p:cxnSp>
        <p:nvCxnSpPr>
          <p:cNvPr id="337" name="AnnoLine 337"/>
          <p:cNvCxnSpPr/>
          <p:nvPr/>
        </p:nvCxnSpPr>
        <p:spPr>
          <a:xfrm>
            <a:off x="1733550" y="3403600"/>
            <a:ext cx="0" cy="69850"/>
          </a:xfrm>
          <a:prstGeom prst="straightConnector1">
            <a:avLst/>
          </a:prstGeom>
          <a:ln w="9525" cap="flat">
            <a:solidFill>
              <a:srgbClr val="0F6E56"/>
            </a:solidFill>
            <a:tailEnd type="triangle" w="sm" len="sm"/>
          </a:ln>
        </p:spPr>
      </p:cxnSp>
      <p:cxnSp>
        <p:nvCxnSpPr>
          <p:cNvPr id="338" name="AnnoLine 338"/>
          <p:cNvCxnSpPr/>
          <p:nvPr/>
        </p:nvCxnSpPr>
        <p:spPr>
          <a:xfrm>
            <a:off x="3333750" y="3403600"/>
            <a:ext cx="0" cy="69850"/>
          </a:xfrm>
          <a:prstGeom prst="straightConnector1">
            <a:avLst/>
          </a:prstGeom>
          <a:ln w="9525" cap="flat">
            <a:solidFill>
              <a:srgbClr val="0F6E56"/>
            </a:solidFill>
            <a:tailEnd type="triangle" w="sm" len="sm"/>
          </a:ln>
        </p:spPr>
      </p:cxnSp>
      <p:cxnSp>
        <p:nvCxnSpPr>
          <p:cNvPr id="339" name="AnnoLine 339"/>
          <p:cNvCxnSpPr/>
          <p:nvPr/>
        </p:nvCxnSpPr>
        <p:spPr>
          <a:xfrm>
            <a:off x="4946650" y="3403600"/>
            <a:ext cx="0" cy="69850"/>
          </a:xfrm>
          <a:prstGeom prst="straightConnector1">
            <a:avLst/>
          </a:prstGeom>
          <a:ln w="9525" cap="flat">
            <a:solidFill>
              <a:srgbClr val="0F6E56"/>
            </a:solidFill>
            <a:tailEnd type="triangle" w="sm" len="sm"/>
          </a:ln>
        </p:spPr>
      </p:cxnSp>
      <p:cxnSp>
        <p:nvCxnSpPr>
          <p:cNvPr id="340" name="AnnoLine 340"/>
          <p:cNvCxnSpPr/>
          <p:nvPr/>
        </p:nvCxnSpPr>
        <p:spPr>
          <a:xfrm>
            <a:off x="6546850" y="3403600"/>
            <a:ext cx="0" cy="69850"/>
          </a:xfrm>
          <a:prstGeom prst="straightConnector1">
            <a:avLst/>
          </a:prstGeom>
          <a:ln w="9525" cap="flat">
            <a:solidFill>
              <a:srgbClr val="0F6E56"/>
            </a:solidFill>
            <a:tailEnd type="triangle" w="sm" len="sm"/>
          </a:ln>
        </p:spPr>
      </p:cxnSp>
      <p:cxnSp>
        <p:nvCxnSpPr>
          <p:cNvPr id="341" name="AnnoLine 341"/>
          <p:cNvCxnSpPr/>
          <p:nvPr/>
        </p:nvCxnSpPr>
        <p:spPr>
          <a:xfrm>
            <a:off x="8185150" y="1765300"/>
            <a:ext cx="0" cy="215900"/>
          </a:xfrm>
          <a:prstGeom prst="straightConnector1">
            <a:avLst/>
          </a:prstGeom>
          <a:ln w="9525" cap="flat">
            <a:solidFill>
              <a:srgbClr val="0F6E56"/>
            </a:solidFill>
            <a:tailEnd type="triangle" w="sm" len="sm"/>
          </a:ln>
        </p:spPr>
      </p:cxnSp>
      <p:cxnSp>
        <p:nvCxnSpPr>
          <p:cNvPr id="342" name="AnnoLine 342"/>
          <p:cNvCxnSpPr/>
          <p:nvPr/>
        </p:nvCxnSpPr>
        <p:spPr>
          <a:xfrm>
            <a:off x="8185150" y="2603500"/>
            <a:ext cx="0" cy="215900"/>
          </a:xfrm>
          <a:prstGeom prst="straightConnector1">
            <a:avLst/>
          </a:prstGeom>
          <a:ln w="9525" cap="flat">
            <a:solidFill>
              <a:srgbClr val="0F6E56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22806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F8F0-07D5-DE72-366B-32A0A050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4">
            <a:extLst>
              <a:ext uri="{FF2B5EF4-FFF2-40B4-BE49-F238E27FC236}">
                <a16:creationId xmlns:a16="http://schemas.microsoft.com/office/drawing/2014/main" id="{817169CF-360A-4A28-A5F3-CE75F3253B52}"/>
              </a:ext>
            </a:extLst>
          </p:cNvPr>
          <p:cNvSpPr/>
          <p:nvPr/>
        </p:nvSpPr>
        <p:spPr>
          <a:xfrm>
            <a:off x="187955" y="3077871"/>
            <a:ext cx="1892036" cy="632471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  <a:prstDash val="sys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8" name="Shape 4">
            <a:extLst>
              <a:ext uri="{FF2B5EF4-FFF2-40B4-BE49-F238E27FC236}">
                <a16:creationId xmlns:a16="http://schemas.microsoft.com/office/drawing/2014/main" id="{05866446-C5B8-2150-7BD5-94CD74297751}"/>
              </a:ext>
            </a:extLst>
          </p:cNvPr>
          <p:cNvSpPr/>
          <p:nvPr/>
        </p:nvSpPr>
        <p:spPr>
          <a:xfrm rot="10800000">
            <a:off x="182136" y="1914293"/>
            <a:ext cx="1892036" cy="461326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chemeClr val="bg1">
                  <a:lumMod val="95000"/>
                </a:schemeClr>
              </a:gs>
              <a:gs pos="2014">
                <a:schemeClr val="bg1">
                  <a:lumMod val="95000"/>
                </a:schemeClr>
              </a:gs>
              <a:gs pos="2015">
                <a:schemeClr val="bg1"/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F9574CC-D525-E2A8-B13E-644787AD7E2D}"/>
              </a:ext>
            </a:extLst>
          </p:cNvPr>
          <p:cNvSpPr/>
          <p:nvPr/>
        </p:nvSpPr>
        <p:spPr>
          <a:xfrm>
            <a:off x="0" y="569241"/>
            <a:ext cx="9144000" cy="446759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1935CD32-B3F8-E812-2A41-520FDBC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지능형 분석 라이프사이클</a:t>
            </a:r>
            <a:endParaRPr lang="en-US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9" name="텍스트 개체 틀 22">
            <a:extLst>
              <a:ext uri="{FF2B5EF4-FFF2-40B4-BE49-F238E27FC236}">
                <a16:creationId xmlns:a16="http://schemas.microsoft.com/office/drawing/2014/main" id="{73A98225-119D-C869-F314-C12B101F2A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B7821D-8AFF-15AE-1CC2-17C018DD8E7E}"/>
              </a:ext>
            </a:extLst>
          </p:cNvPr>
          <p:cNvSpPr txBox="1"/>
          <p:nvPr/>
        </p:nvSpPr>
        <p:spPr>
          <a:xfrm>
            <a:off x="412750" y="669544"/>
            <a:ext cx="8229600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1400" b="1" dirty="0">
                <a:latin typeface="+mn-ea"/>
                <a:ea typeface="+mn-ea"/>
              </a:rPr>
              <a:t>질의 분석부터 업무 완결까지</a:t>
            </a:r>
            <a:r>
              <a:rPr lang="en-US" altLang="ko-KR" sz="1400" b="1" dirty="0">
                <a:latin typeface="+mn-ea"/>
                <a:ea typeface="+mn-ea"/>
              </a:rPr>
              <a:t>: </a:t>
            </a:r>
            <a:r>
              <a:rPr lang="en-US" altLang="ko-KR" sz="1400" b="1" dirty="0">
                <a:solidFill>
                  <a:srgbClr val="00D4C5"/>
                </a:solidFill>
                <a:latin typeface="+mn-ea"/>
                <a:ea typeface="+mn-ea"/>
              </a:rPr>
              <a:t>aisight Agent </a:t>
            </a:r>
            <a:r>
              <a:rPr lang="ko-KR" altLang="en-US" sz="1400" b="1" dirty="0">
                <a:latin typeface="+mn-ea"/>
                <a:ea typeface="+mn-ea"/>
              </a:rPr>
              <a:t>지능형 프로세스 모델</a:t>
            </a:r>
            <a:endParaRPr lang="ko-KR" altLang="en-US" sz="2400" b="1" dirty="0">
              <a:solidFill>
                <a:srgbClr val="41C0C2"/>
              </a:solidFill>
              <a:latin typeface="+mn-ea"/>
              <a:ea typeface="+mn-ea"/>
            </a:endParaRPr>
          </a:p>
        </p:txBody>
      </p:sp>
      <p:sp>
        <p:nvSpPr>
          <p:cNvPr id="38" name="Google Shape;186;p13">
            <a:extLst>
              <a:ext uri="{FF2B5EF4-FFF2-40B4-BE49-F238E27FC236}">
                <a16:creationId xmlns:a16="http://schemas.microsoft.com/office/drawing/2014/main" id="{A0F60AD8-FACC-49F1-CD28-3AE3E94B53F0}"/>
              </a:ext>
            </a:extLst>
          </p:cNvPr>
          <p:cNvSpPr txBox="1"/>
          <p:nvPr/>
        </p:nvSpPr>
        <p:spPr>
          <a:xfrm>
            <a:off x="213245" y="1113458"/>
            <a:ext cx="146807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900" b="1" dirty="0">
                <a:solidFill>
                  <a:srgbClr val="64748B"/>
                </a:solidFill>
                <a:latin typeface="SUIT SemiBold" pitchFamily="50" charset="-127"/>
                <a:ea typeface="SUIT SemiBold" pitchFamily="50" charset="-127"/>
                <a:cs typeface="SUIT"/>
                <a:sym typeface="SUIT"/>
              </a:rPr>
              <a:t>[01] User Inputs &amp; Actions</a:t>
            </a:r>
            <a:endParaRPr sz="2400" dirty="0">
              <a:latin typeface="SUIT SemiBold" pitchFamily="50" charset="-127"/>
              <a:ea typeface="SUIT SemiBold" pitchFamily="50" charset="-127"/>
            </a:endParaRPr>
          </a:p>
        </p:txBody>
      </p:sp>
      <p:sp>
        <p:nvSpPr>
          <p:cNvPr id="39" name="Google Shape;186;p13">
            <a:extLst>
              <a:ext uri="{FF2B5EF4-FFF2-40B4-BE49-F238E27FC236}">
                <a16:creationId xmlns:a16="http://schemas.microsoft.com/office/drawing/2014/main" id="{F1E5D99E-6D45-A400-486B-25E93B91C21D}"/>
              </a:ext>
            </a:extLst>
          </p:cNvPr>
          <p:cNvSpPr txBox="1"/>
          <p:nvPr/>
        </p:nvSpPr>
        <p:spPr>
          <a:xfrm>
            <a:off x="2309876" y="1113458"/>
            <a:ext cx="284999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900" b="1" dirty="0">
                <a:solidFill>
                  <a:srgbClr val="64748B"/>
                </a:solidFill>
                <a:latin typeface="SUIT SemiBold" pitchFamily="50" charset="-127"/>
                <a:ea typeface="SUIT SemiBold" pitchFamily="50" charset="-127"/>
                <a:cs typeface="SUIT"/>
                <a:sym typeface="SUIT"/>
              </a:rPr>
              <a:t>[02] Agent Processing Layer (Dual-Loop Cascade)</a:t>
            </a:r>
            <a:endParaRPr sz="2400" dirty="0">
              <a:latin typeface="SUIT SemiBold" pitchFamily="50" charset="-127"/>
              <a:ea typeface="SUIT SemiBold" pitchFamily="50" charset="-127"/>
            </a:endParaRPr>
          </a:p>
        </p:txBody>
      </p:sp>
      <p:sp>
        <p:nvSpPr>
          <p:cNvPr id="40" name="Google Shape;186;p13">
            <a:extLst>
              <a:ext uri="{FF2B5EF4-FFF2-40B4-BE49-F238E27FC236}">
                <a16:creationId xmlns:a16="http://schemas.microsoft.com/office/drawing/2014/main" id="{0CEA50FE-D97B-17CC-9506-F271368BE7E7}"/>
              </a:ext>
            </a:extLst>
          </p:cNvPr>
          <p:cNvSpPr txBox="1"/>
          <p:nvPr/>
        </p:nvSpPr>
        <p:spPr>
          <a:xfrm>
            <a:off x="7028123" y="1113458"/>
            <a:ext cx="172083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900" b="1" dirty="0">
                <a:solidFill>
                  <a:srgbClr val="64748B"/>
                </a:solidFill>
                <a:latin typeface="SUIT SemiBold" pitchFamily="50" charset="-127"/>
                <a:ea typeface="SUIT SemiBold" pitchFamily="50" charset="-127"/>
                <a:cs typeface="SUIT"/>
                <a:sym typeface="SUIT"/>
              </a:rPr>
              <a:t>[03] Execution Outputs</a:t>
            </a:r>
            <a:endParaRPr sz="2400" dirty="0">
              <a:latin typeface="SUIT SemiBold" pitchFamily="50" charset="-127"/>
              <a:ea typeface="SUIT SemiBold" pitchFamily="50" charset="-127"/>
            </a:endParaRPr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57766861-8696-348A-A1DB-D52A82B492A8}"/>
              </a:ext>
            </a:extLst>
          </p:cNvPr>
          <p:cNvSpPr/>
          <p:nvPr/>
        </p:nvSpPr>
        <p:spPr>
          <a:xfrm rot="10800000">
            <a:off x="187955" y="1422571"/>
            <a:ext cx="1892036" cy="435674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chemeClr val="bg1">
                  <a:lumMod val="95000"/>
                </a:schemeClr>
              </a:gs>
              <a:gs pos="2014">
                <a:schemeClr val="bg1">
                  <a:lumMod val="95000"/>
                </a:schemeClr>
              </a:gs>
              <a:gs pos="2015">
                <a:schemeClr val="bg1"/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77DD0B-A59D-25D9-8E08-AB6149C460AA}"/>
              </a:ext>
            </a:extLst>
          </p:cNvPr>
          <p:cNvSpPr txBox="1"/>
          <p:nvPr/>
        </p:nvSpPr>
        <p:spPr>
          <a:xfrm>
            <a:off x="266017" y="1634463"/>
            <a:ext cx="18081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"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이번주 실적 및 특이 사항 알려줘</a:t>
            </a:r>
            <a:r>
              <a:rPr lang="en-US" altLang="ko-KR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"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0BD437-F82A-8D9C-E4A1-616A7EF1535E}"/>
              </a:ext>
            </a:extLst>
          </p:cNvPr>
          <p:cNvSpPr txBox="1"/>
          <p:nvPr/>
        </p:nvSpPr>
        <p:spPr>
          <a:xfrm>
            <a:off x="268362" y="2160175"/>
            <a:ext cx="17761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“전주보다 실적이 감소한 이유가 뭐야?”</a:t>
            </a:r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E68C0CCB-4D3D-BD77-30B1-8CD974684933}"/>
              </a:ext>
            </a:extLst>
          </p:cNvPr>
          <p:cNvSpPr/>
          <p:nvPr/>
        </p:nvSpPr>
        <p:spPr>
          <a:xfrm rot="10800000">
            <a:off x="187955" y="3802674"/>
            <a:ext cx="1892036" cy="604123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chemeClr val="bg1">
                  <a:lumMod val="95000"/>
                </a:schemeClr>
              </a:gs>
              <a:gs pos="2014">
                <a:schemeClr val="bg1">
                  <a:lumMod val="95000"/>
                </a:schemeClr>
              </a:gs>
              <a:gs pos="2015">
                <a:schemeClr val="bg1"/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2C2438-CCDA-B2EA-01D8-9889B4ED8DAB}"/>
              </a:ext>
            </a:extLst>
          </p:cNvPr>
          <p:cNvSpPr txBox="1"/>
          <p:nvPr/>
        </p:nvSpPr>
        <p:spPr>
          <a:xfrm>
            <a:off x="270708" y="4017554"/>
            <a:ext cx="17665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“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지금 업로드한 법인 및 매출 기준으로 법인별 매출 및 제품 분석해줘</a:t>
            </a:r>
            <a:r>
              <a:rPr lang="en-US" altLang="ko-KR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”</a:t>
            </a:r>
          </a:p>
        </p:txBody>
      </p:sp>
      <p:pic>
        <p:nvPicPr>
          <p:cNvPr id="56" name="그래픽 55" descr="오른쪽 캐럿 윤곽선">
            <a:extLst>
              <a:ext uri="{FF2B5EF4-FFF2-40B4-BE49-F238E27FC236}">
                <a16:creationId xmlns:a16="http://schemas.microsoft.com/office/drawing/2014/main" id="{F7A8EC50-E569-9D83-88B7-2D3681747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6871" y="1345672"/>
            <a:ext cx="359040" cy="2937051"/>
          </a:xfrm>
          <a:prstGeom prst="rect">
            <a:avLst/>
          </a:prstGeom>
        </p:spPr>
      </p:pic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6EA6C30C-F759-FFFB-7747-E08BAAA4620E}"/>
              </a:ext>
            </a:extLst>
          </p:cNvPr>
          <p:cNvCxnSpPr>
            <a:cxnSpLocks/>
          </p:cNvCxnSpPr>
          <p:nvPr/>
        </p:nvCxnSpPr>
        <p:spPr>
          <a:xfrm flipV="1">
            <a:off x="4109720" y="1558394"/>
            <a:ext cx="0" cy="1100148"/>
          </a:xfrm>
          <a:prstGeom prst="line">
            <a:avLst/>
          </a:prstGeom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hape 4">
            <a:extLst>
              <a:ext uri="{FF2B5EF4-FFF2-40B4-BE49-F238E27FC236}">
                <a16:creationId xmlns:a16="http://schemas.microsoft.com/office/drawing/2014/main" id="{0F5695AE-B045-5711-D2CA-3FC7044B2563}"/>
              </a:ext>
            </a:extLst>
          </p:cNvPr>
          <p:cNvSpPr/>
          <p:nvPr/>
        </p:nvSpPr>
        <p:spPr>
          <a:xfrm>
            <a:off x="2270714" y="1429421"/>
            <a:ext cx="4508238" cy="1316638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A90BE4A9-FE3B-0ABD-BFD1-27C1ACA6929D}"/>
              </a:ext>
            </a:extLst>
          </p:cNvPr>
          <p:cNvSpPr/>
          <p:nvPr/>
        </p:nvSpPr>
        <p:spPr>
          <a:xfrm>
            <a:off x="2359805" y="1790129"/>
            <a:ext cx="774865" cy="853060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FECFA3-0CBE-64C1-BB7D-B71E12ADCFE2}"/>
              </a:ext>
            </a:extLst>
          </p:cNvPr>
          <p:cNvSpPr txBox="1"/>
          <p:nvPr/>
        </p:nvSpPr>
        <p:spPr>
          <a:xfrm>
            <a:off x="2291588" y="1506210"/>
            <a:ext cx="18920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SemiBold" pitchFamily="50" charset="-127"/>
                <a:ea typeface="SUIT SemiBold" pitchFamily="50" charset="-127"/>
              </a:rPr>
              <a:t>메인 흐름</a:t>
            </a:r>
            <a:endParaRPr lang="en-US" altLang="ko-KR" sz="800" b="1" i="0" dirty="0">
              <a:solidFill>
                <a:srgbClr val="0F172A"/>
              </a:solidFill>
              <a:effectLst/>
              <a:latin typeface="SUIT SemiBold" pitchFamily="50" charset="-127"/>
              <a:ea typeface="SUIT SemiBold" pitchFamily="50" charset="-127"/>
            </a:endParaRPr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B5C93C32-12AC-D236-6FD8-DCA102833A46}"/>
              </a:ext>
            </a:extLst>
          </p:cNvPr>
          <p:cNvSpPr/>
          <p:nvPr/>
        </p:nvSpPr>
        <p:spPr>
          <a:xfrm>
            <a:off x="2450084" y="1884330"/>
            <a:ext cx="173735" cy="148664"/>
          </a:xfrm>
          <a:prstGeom prst="roundRect">
            <a:avLst>
              <a:gd name="adj" fmla="val 2096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80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01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E763CD4-8AA7-01AB-A234-B332D27115E7}"/>
              </a:ext>
            </a:extLst>
          </p:cNvPr>
          <p:cNvCxnSpPr/>
          <p:nvPr/>
        </p:nvCxnSpPr>
        <p:spPr>
          <a:xfrm>
            <a:off x="2359805" y="1718606"/>
            <a:ext cx="422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Shape 4">
            <a:extLst>
              <a:ext uri="{FF2B5EF4-FFF2-40B4-BE49-F238E27FC236}">
                <a16:creationId xmlns:a16="http://schemas.microsoft.com/office/drawing/2014/main" id="{56049703-64B7-ABCC-0B4D-790F131BDF12}"/>
              </a:ext>
            </a:extLst>
          </p:cNvPr>
          <p:cNvSpPr/>
          <p:nvPr/>
        </p:nvSpPr>
        <p:spPr>
          <a:xfrm>
            <a:off x="4118597" y="1790129"/>
            <a:ext cx="774865" cy="853060"/>
          </a:xfrm>
          <a:prstGeom prst="roundRect">
            <a:avLst>
              <a:gd name="adj" fmla="val 8244"/>
            </a:avLst>
          </a:prstGeom>
          <a:solidFill>
            <a:srgbClr val="FAFEFE"/>
          </a:solidFill>
          <a:ln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436F45B9-D66A-4673-CD9C-3BC5F5F8512E}"/>
              </a:ext>
            </a:extLst>
          </p:cNvPr>
          <p:cNvSpPr/>
          <p:nvPr/>
        </p:nvSpPr>
        <p:spPr>
          <a:xfrm>
            <a:off x="3239201" y="1790129"/>
            <a:ext cx="774865" cy="853060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Shape 4">
            <a:extLst>
              <a:ext uri="{FF2B5EF4-FFF2-40B4-BE49-F238E27FC236}">
                <a16:creationId xmlns:a16="http://schemas.microsoft.com/office/drawing/2014/main" id="{97072DD5-D15E-6BF2-06B4-39A6B8E5D6F1}"/>
              </a:ext>
            </a:extLst>
          </p:cNvPr>
          <p:cNvSpPr/>
          <p:nvPr/>
        </p:nvSpPr>
        <p:spPr>
          <a:xfrm>
            <a:off x="4997993" y="1790129"/>
            <a:ext cx="774865" cy="853060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4" name="Shape 4">
            <a:extLst>
              <a:ext uri="{FF2B5EF4-FFF2-40B4-BE49-F238E27FC236}">
                <a16:creationId xmlns:a16="http://schemas.microsoft.com/office/drawing/2014/main" id="{5C2ED8BC-E1A5-5F06-F01D-647D9486CF11}"/>
              </a:ext>
            </a:extLst>
          </p:cNvPr>
          <p:cNvSpPr/>
          <p:nvPr/>
        </p:nvSpPr>
        <p:spPr>
          <a:xfrm>
            <a:off x="5877389" y="1790129"/>
            <a:ext cx="774865" cy="853060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7" name="Shape 4">
            <a:extLst>
              <a:ext uri="{FF2B5EF4-FFF2-40B4-BE49-F238E27FC236}">
                <a16:creationId xmlns:a16="http://schemas.microsoft.com/office/drawing/2014/main" id="{3B88A042-A880-A20F-9FAB-F3DA62F65612}"/>
              </a:ext>
            </a:extLst>
          </p:cNvPr>
          <p:cNvSpPr/>
          <p:nvPr/>
        </p:nvSpPr>
        <p:spPr>
          <a:xfrm>
            <a:off x="3361437" y="1878819"/>
            <a:ext cx="173735" cy="148664"/>
          </a:xfrm>
          <a:prstGeom prst="roundRect">
            <a:avLst>
              <a:gd name="adj" fmla="val 2096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80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02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88" name="Shape 4">
            <a:extLst>
              <a:ext uri="{FF2B5EF4-FFF2-40B4-BE49-F238E27FC236}">
                <a16:creationId xmlns:a16="http://schemas.microsoft.com/office/drawing/2014/main" id="{F237816C-C8FD-1105-F544-34958051E232}"/>
              </a:ext>
            </a:extLst>
          </p:cNvPr>
          <p:cNvSpPr/>
          <p:nvPr/>
        </p:nvSpPr>
        <p:spPr>
          <a:xfrm>
            <a:off x="4186931" y="1866682"/>
            <a:ext cx="173735" cy="148664"/>
          </a:xfrm>
          <a:prstGeom prst="roundRect">
            <a:avLst>
              <a:gd name="adj" fmla="val 2096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80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03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89" name="Shape 4">
            <a:extLst>
              <a:ext uri="{FF2B5EF4-FFF2-40B4-BE49-F238E27FC236}">
                <a16:creationId xmlns:a16="http://schemas.microsoft.com/office/drawing/2014/main" id="{D2BF9D33-2927-AC6D-CB3A-E6E9F6A1CD7D}"/>
              </a:ext>
            </a:extLst>
          </p:cNvPr>
          <p:cNvSpPr/>
          <p:nvPr/>
        </p:nvSpPr>
        <p:spPr>
          <a:xfrm>
            <a:off x="5068668" y="1858245"/>
            <a:ext cx="173735" cy="148664"/>
          </a:xfrm>
          <a:prstGeom prst="roundRect">
            <a:avLst>
              <a:gd name="adj" fmla="val 2096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80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04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8" name="Shape 4">
            <a:extLst>
              <a:ext uri="{FF2B5EF4-FFF2-40B4-BE49-F238E27FC236}">
                <a16:creationId xmlns:a16="http://schemas.microsoft.com/office/drawing/2014/main" id="{077C685F-8A2A-6EE8-879C-C6DFCA97D5B4}"/>
              </a:ext>
            </a:extLst>
          </p:cNvPr>
          <p:cNvSpPr/>
          <p:nvPr/>
        </p:nvSpPr>
        <p:spPr>
          <a:xfrm>
            <a:off x="5934562" y="1846589"/>
            <a:ext cx="173735" cy="148664"/>
          </a:xfrm>
          <a:prstGeom prst="roundRect">
            <a:avLst>
              <a:gd name="adj" fmla="val 2096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80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05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9" name="Shape 4">
            <a:extLst>
              <a:ext uri="{FF2B5EF4-FFF2-40B4-BE49-F238E27FC236}">
                <a16:creationId xmlns:a16="http://schemas.microsoft.com/office/drawing/2014/main" id="{A38D284D-C060-E5AC-4279-2EB3A1DF16C6}"/>
              </a:ext>
            </a:extLst>
          </p:cNvPr>
          <p:cNvSpPr/>
          <p:nvPr/>
        </p:nvSpPr>
        <p:spPr>
          <a:xfrm>
            <a:off x="2253996" y="2879159"/>
            <a:ext cx="4492244" cy="1357148"/>
          </a:xfrm>
          <a:prstGeom prst="roundRect">
            <a:avLst>
              <a:gd name="adj" fmla="val 8244"/>
            </a:avLst>
          </a:prstGeom>
          <a:solidFill>
            <a:srgbClr val="FAFEFE"/>
          </a:solidFill>
          <a:ln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1" name="Shape 4">
            <a:extLst>
              <a:ext uri="{FF2B5EF4-FFF2-40B4-BE49-F238E27FC236}">
                <a16:creationId xmlns:a16="http://schemas.microsoft.com/office/drawing/2014/main" id="{79FAF658-5080-09E5-74E3-49DC72B162CA}"/>
              </a:ext>
            </a:extLst>
          </p:cNvPr>
          <p:cNvSpPr/>
          <p:nvPr/>
        </p:nvSpPr>
        <p:spPr>
          <a:xfrm>
            <a:off x="2357259" y="3221460"/>
            <a:ext cx="774865" cy="901976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D9E798F-6C24-96AE-C614-6C2B4B8CE62E}"/>
              </a:ext>
            </a:extLst>
          </p:cNvPr>
          <p:cNvSpPr txBox="1"/>
          <p:nvPr/>
        </p:nvSpPr>
        <p:spPr>
          <a:xfrm>
            <a:off x="2299719" y="2937541"/>
            <a:ext cx="18920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SemiBold" pitchFamily="50" charset="-127"/>
                <a:ea typeface="SUIT SemiBold" pitchFamily="50" charset="-127"/>
              </a:rPr>
              <a:t>스킬 내부 흐름</a:t>
            </a:r>
            <a:endParaRPr lang="en-US" altLang="ko-KR" sz="800" b="1" i="0" dirty="0">
              <a:solidFill>
                <a:srgbClr val="0F172A"/>
              </a:solidFill>
              <a:effectLst/>
              <a:latin typeface="SUIT SemiBold" pitchFamily="50" charset="-127"/>
              <a:ea typeface="SUIT SemiBold" pitchFamily="50" charset="-127"/>
            </a:endParaRPr>
          </a:p>
        </p:txBody>
      </p:sp>
      <p:sp>
        <p:nvSpPr>
          <p:cNvPr id="103" name="Shape 4">
            <a:extLst>
              <a:ext uri="{FF2B5EF4-FFF2-40B4-BE49-F238E27FC236}">
                <a16:creationId xmlns:a16="http://schemas.microsoft.com/office/drawing/2014/main" id="{647795EA-3670-8660-6B88-7385A714283F}"/>
              </a:ext>
            </a:extLst>
          </p:cNvPr>
          <p:cNvSpPr/>
          <p:nvPr/>
        </p:nvSpPr>
        <p:spPr>
          <a:xfrm>
            <a:off x="2447538" y="3295567"/>
            <a:ext cx="213903" cy="1821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08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3-1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DE021849-68C3-FBE6-507B-A2AE1672E9AB}"/>
              </a:ext>
            </a:extLst>
          </p:cNvPr>
          <p:cNvCxnSpPr/>
          <p:nvPr/>
        </p:nvCxnSpPr>
        <p:spPr>
          <a:xfrm>
            <a:off x="2357259" y="3149937"/>
            <a:ext cx="422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Shape 4">
            <a:extLst>
              <a:ext uri="{FF2B5EF4-FFF2-40B4-BE49-F238E27FC236}">
                <a16:creationId xmlns:a16="http://schemas.microsoft.com/office/drawing/2014/main" id="{D0B2E382-4432-FC00-F9D1-0307F2758D9B}"/>
              </a:ext>
            </a:extLst>
          </p:cNvPr>
          <p:cNvSpPr/>
          <p:nvPr/>
        </p:nvSpPr>
        <p:spPr>
          <a:xfrm>
            <a:off x="4116051" y="3221460"/>
            <a:ext cx="774865" cy="901976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6" name="Shape 4">
            <a:extLst>
              <a:ext uri="{FF2B5EF4-FFF2-40B4-BE49-F238E27FC236}">
                <a16:creationId xmlns:a16="http://schemas.microsoft.com/office/drawing/2014/main" id="{016D3377-B1B3-EFE5-05A3-1AAEFBDD6A5A}"/>
              </a:ext>
            </a:extLst>
          </p:cNvPr>
          <p:cNvSpPr/>
          <p:nvPr/>
        </p:nvSpPr>
        <p:spPr>
          <a:xfrm>
            <a:off x="3236655" y="3221460"/>
            <a:ext cx="774865" cy="901976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7" name="Shape 4">
            <a:extLst>
              <a:ext uri="{FF2B5EF4-FFF2-40B4-BE49-F238E27FC236}">
                <a16:creationId xmlns:a16="http://schemas.microsoft.com/office/drawing/2014/main" id="{5BDFEF03-481E-77A6-4332-CB24D2A7D149}"/>
              </a:ext>
            </a:extLst>
          </p:cNvPr>
          <p:cNvSpPr/>
          <p:nvPr/>
        </p:nvSpPr>
        <p:spPr>
          <a:xfrm>
            <a:off x="4995447" y="3221460"/>
            <a:ext cx="774865" cy="901976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8" name="Shape 4">
            <a:extLst>
              <a:ext uri="{FF2B5EF4-FFF2-40B4-BE49-F238E27FC236}">
                <a16:creationId xmlns:a16="http://schemas.microsoft.com/office/drawing/2014/main" id="{23596EEE-6BE4-2E5D-ACBE-C784A1260A1F}"/>
              </a:ext>
            </a:extLst>
          </p:cNvPr>
          <p:cNvSpPr/>
          <p:nvPr/>
        </p:nvSpPr>
        <p:spPr>
          <a:xfrm>
            <a:off x="5874843" y="3221460"/>
            <a:ext cx="774865" cy="901976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9" name="Shape 4">
            <a:extLst>
              <a:ext uri="{FF2B5EF4-FFF2-40B4-BE49-F238E27FC236}">
                <a16:creationId xmlns:a16="http://schemas.microsoft.com/office/drawing/2014/main" id="{1767A731-A9A9-07B9-6163-ECCC4944BDA0}"/>
              </a:ext>
            </a:extLst>
          </p:cNvPr>
          <p:cNvSpPr/>
          <p:nvPr/>
        </p:nvSpPr>
        <p:spPr>
          <a:xfrm>
            <a:off x="3358891" y="3290056"/>
            <a:ext cx="213903" cy="1821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08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3-2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10" name="Shape 4">
            <a:extLst>
              <a:ext uri="{FF2B5EF4-FFF2-40B4-BE49-F238E27FC236}">
                <a16:creationId xmlns:a16="http://schemas.microsoft.com/office/drawing/2014/main" id="{971ECC44-38EE-EAE9-FF3C-207098333F76}"/>
              </a:ext>
            </a:extLst>
          </p:cNvPr>
          <p:cNvSpPr/>
          <p:nvPr/>
        </p:nvSpPr>
        <p:spPr>
          <a:xfrm>
            <a:off x="4184385" y="3277919"/>
            <a:ext cx="213903" cy="1821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08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3-3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11" name="Shape 4">
            <a:extLst>
              <a:ext uri="{FF2B5EF4-FFF2-40B4-BE49-F238E27FC236}">
                <a16:creationId xmlns:a16="http://schemas.microsoft.com/office/drawing/2014/main" id="{874680AD-DA9A-A5AE-7BC7-230D562E56AC}"/>
              </a:ext>
            </a:extLst>
          </p:cNvPr>
          <p:cNvSpPr/>
          <p:nvPr/>
        </p:nvSpPr>
        <p:spPr>
          <a:xfrm>
            <a:off x="5066122" y="3269482"/>
            <a:ext cx="213903" cy="1821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08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3-3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12" name="Shape 4">
            <a:extLst>
              <a:ext uri="{FF2B5EF4-FFF2-40B4-BE49-F238E27FC236}">
                <a16:creationId xmlns:a16="http://schemas.microsoft.com/office/drawing/2014/main" id="{FB50FFBA-8DAF-74AA-1F39-EE34A500A4A3}"/>
              </a:ext>
            </a:extLst>
          </p:cNvPr>
          <p:cNvSpPr/>
          <p:nvPr/>
        </p:nvSpPr>
        <p:spPr>
          <a:xfrm>
            <a:off x="5932016" y="3257826"/>
            <a:ext cx="213903" cy="1821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0800" rIns="0" bIns="3600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3-4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16" name="그래픽 114" descr="오른쪽 캐럿 윤곽선">
            <a:extLst>
              <a:ext uri="{FF2B5EF4-FFF2-40B4-BE49-F238E27FC236}">
                <a16:creationId xmlns:a16="http://schemas.microsoft.com/office/drawing/2014/main" id="{CDAF97DB-7FE7-C129-5158-5E9C22CA6386}"/>
              </a:ext>
            </a:extLst>
          </p:cNvPr>
          <p:cNvSpPr/>
          <p:nvPr/>
        </p:nvSpPr>
        <p:spPr>
          <a:xfrm>
            <a:off x="3171699" y="2206497"/>
            <a:ext cx="45719" cy="98307"/>
          </a:xfrm>
          <a:custGeom>
            <a:avLst/>
            <a:gdLst>
              <a:gd name="csX0" fmla="*/ 0 w 40069"/>
              <a:gd name="csY0" fmla="*/ 11541 h 435973"/>
              <a:gd name="csX1" fmla="*/ 36040 w 40069"/>
              <a:gd name="csY1" fmla="*/ 217987 h 435973"/>
              <a:gd name="csX2" fmla="*/ 0 w 40069"/>
              <a:gd name="csY2" fmla="*/ 424432 h 435973"/>
              <a:gd name="csX3" fmla="*/ 2015 w 40069"/>
              <a:gd name="csY3" fmla="*/ 435973 h 435973"/>
              <a:gd name="csX4" fmla="*/ 40070 w 40069"/>
              <a:gd name="csY4" fmla="*/ 217987 h 435973"/>
              <a:gd name="csX5" fmla="*/ 2015 w 40069"/>
              <a:gd name="csY5" fmla="*/ 0 h 435973"/>
              <a:gd name="csX6" fmla="*/ 0 w 40069"/>
              <a:gd name="csY6" fmla="*/ 11541 h 43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69" h="435973">
                <a:moveTo>
                  <a:pt x="0" y="11541"/>
                </a:moveTo>
                <a:lnTo>
                  <a:pt x="36040" y="217987"/>
                </a:lnTo>
                <a:lnTo>
                  <a:pt x="0" y="424432"/>
                </a:lnTo>
                <a:lnTo>
                  <a:pt x="2015" y="435973"/>
                </a:lnTo>
                <a:lnTo>
                  <a:pt x="40070" y="217987"/>
                </a:lnTo>
                <a:lnTo>
                  <a:pt x="2015" y="0"/>
                </a:lnTo>
                <a:lnTo>
                  <a:pt x="0" y="115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그래픽 114" descr="오른쪽 캐럿 윤곽선">
            <a:extLst>
              <a:ext uri="{FF2B5EF4-FFF2-40B4-BE49-F238E27FC236}">
                <a16:creationId xmlns:a16="http://schemas.microsoft.com/office/drawing/2014/main" id="{36850920-A21E-B20F-3E2F-31D1086F59AA}"/>
              </a:ext>
            </a:extLst>
          </p:cNvPr>
          <p:cNvSpPr/>
          <p:nvPr/>
        </p:nvSpPr>
        <p:spPr>
          <a:xfrm>
            <a:off x="4060700" y="2189093"/>
            <a:ext cx="45719" cy="98307"/>
          </a:xfrm>
          <a:custGeom>
            <a:avLst/>
            <a:gdLst>
              <a:gd name="csX0" fmla="*/ 0 w 40069"/>
              <a:gd name="csY0" fmla="*/ 11541 h 435973"/>
              <a:gd name="csX1" fmla="*/ 36040 w 40069"/>
              <a:gd name="csY1" fmla="*/ 217987 h 435973"/>
              <a:gd name="csX2" fmla="*/ 0 w 40069"/>
              <a:gd name="csY2" fmla="*/ 424432 h 435973"/>
              <a:gd name="csX3" fmla="*/ 2015 w 40069"/>
              <a:gd name="csY3" fmla="*/ 435973 h 435973"/>
              <a:gd name="csX4" fmla="*/ 40070 w 40069"/>
              <a:gd name="csY4" fmla="*/ 217987 h 435973"/>
              <a:gd name="csX5" fmla="*/ 2015 w 40069"/>
              <a:gd name="csY5" fmla="*/ 0 h 435973"/>
              <a:gd name="csX6" fmla="*/ 0 w 40069"/>
              <a:gd name="csY6" fmla="*/ 11541 h 43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69" h="435973">
                <a:moveTo>
                  <a:pt x="0" y="11541"/>
                </a:moveTo>
                <a:lnTo>
                  <a:pt x="36040" y="217987"/>
                </a:lnTo>
                <a:lnTo>
                  <a:pt x="0" y="424432"/>
                </a:lnTo>
                <a:lnTo>
                  <a:pt x="2015" y="435973"/>
                </a:lnTo>
                <a:lnTo>
                  <a:pt x="40070" y="217987"/>
                </a:lnTo>
                <a:lnTo>
                  <a:pt x="2015" y="0"/>
                </a:lnTo>
                <a:lnTo>
                  <a:pt x="0" y="115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그래픽 114" descr="오른쪽 캐럿 윤곽선">
            <a:extLst>
              <a:ext uri="{FF2B5EF4-FFF2-40B4-BE49-F238E27FC236}">
                <a16:creationId xmlns:a16="http://schemas.microsoft.com/office/drawing/2014/main" id="{63302333-D035-3015-ABA1-417EA28AC92A}"/>
              </a:ext>
            </a:extLst>
          </p:cNvPr>
          <p:cNvSpPr/>
          <p:nvPr/>
        </p:nvSpPr>
        <p:spPr>
          <a:xfrm>
            <a:off x="4929952" y="2189093"/>
            <a:ext cx="45719" cy="98307"/>
          </a:xfrm>
          <a:custGeom>
            <a:avLst/>
            <a:gdLst>
              <a:gd name="csX0" fmla="*/ 0 w 40069"/>
              <a:gd name="csY0" fmla="*/ 11541 h 435973"/>
              <a:gd name="csX1" fmla="*/ 36040 w 40069"/>
              <a:gd name="csY1" fmla="*/ 217987 h 435973"/>
              <a:gd name="csX2" fmla="*/ 0 w 40069"/>
              <a:gd name="csY2" fmla="*/ 424432 h 435973"/>
              <a:gd name="csX3" fmla="*/ 2015 w 40069"/>
              <a:gd name="csY3" fmla="*/ 435973 h 435973"/>
              <a:gd name="csX4" fmla="*/ 40070 w 40069"/>
              <a:gd name="csY4" fmla="*/ 217987 h 435973"/>
              <a:gd name="csX5" fmla="*/ 2015 w 40069"/>
              <a:gd name="csY5" fmla="*/ 0 h 435973"/>
              <a:gd name="csX6" fmla="*/ 0 w 40069"/>
              <a:gd name="csY6" fmla="*/ 11541 h 43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69" h="435973">
                <a:moveTo>
                  <a:pt x="0" y="11541"/>
                </a:moveTo>
                <a:lnTo>
                  <a:pt x="36040" y="217987"/>
                </a:lnTo>
                <a:lnTo>
                  <a:pt x="0" y="424432"/>
                </a:lnTo>
                <a:lnTo>
                  <a:pt x="2015" y="435973"/>
                </a:lnTo>
                <a:lnTo>
                  <a:pt x="40070" y="217987"/>
                </a:lnTo>
                <a:lnTo>
                  <a:pt x="2015" y="0"/>
                </a:lnTo>
                <a:lnTo>
                  <a:pt x="0" y="115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그래픽 114" descr="오른쪽 캐럿 윤곽선">
            <a:extLst>
              <a:ext uri="{FF2B5EF4-FFF2-40B4-BE49-F238E27FC236}">
                <a16:creationId xmlns:a16="http://schemas.microsoft.com/office/drawing/2014/main" id="{35118492-8DDA-BCF7-D4D5-2411CFED7AE6}"/>
              </a:ext>
            </a:extLst>
          </p:cNvPr>
          <p:cNvSpPr/>
          <p:nvPr/>
        </p:nvSpPr>
        <p:spPr>
          <a:xfrm>
            <a:off x="5802264" y="2201122"/>
            <a:ext cx="45719" cy="98307"/>
          </a:xfrm>
          <a:custGeom>
            <a:avLst/>
            <a:gdLst>
              <a:gd name="csX0" fmla="*/ 0 w 40069"/>
              <a:gd name="csY0" fmla="*/ 11541 h 435973"/>
              <a:gd name="csX1" fmla="*/ 36040 w 40069"/>
              <a:gd name="csY1" fmla="*/ 217987 h 435973"/>
              <a:gd name="csX2" fmla="*/ 0 w 40069"/>
              <a:gd name="csY2" fmla="*/ 424432 h 435973"/>
              <a:gd name="csX3" fmla="*/ 2015 w 40069"/>
              <a:gd name="csY3" fmla="*/ 435973 h 435973"/>
              <a:gd name="csX4" fmla="*/ 40070 w 40069"/>
              <a:gd name="csY4" fmla="*/ 217987 h 435973"/>
              <a:gd name="csX5" fmla="*/ 2015 w 40069"/>
              <a:gd name="csY5" fmla="*/ 0 h 435973"/>
              <a:gd name="csX6" fmla="*/ 0 w 40069"/>
              <a:gd name="csY6" fmla="*/ 11541 h 43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69" h="435973">
                <a:moveTo>
                  <a:pt x="0" y="11541"/>
                </a:moveTo>
                <a:lnTo>
                  <a:pt x="36040" y="217987"/>
                </a:lnTo>
                <a:lnTo>
                  <a:pt x="0" y="424432"/>
                </a:lnTo>
                <a:lnTo>
                  <a:pt x="2015" y="435973"/>
                </a:lnTo>
                <a:lnTo>
                  <a:pt x="40070" y="217987"/>
                </a:lnTo>
                <a:lnTo>
                  <a:pt x="2015" y="0"/>
                </a:lnTo>
                <a:lnTo>
                  <a:pt x="0" y="115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2A814CF5-D22B-9B03-E9FA-60F2F3110F19}"/>
              </a:ext>
            </a:extLst>
          </p:cNvPr>
          <p:cNvCxnSpPr>
            <a:cxnSpLocks/>
          </p:cNvCxnSpPr>
          <p:nvPr/>
        </p:nvCxnSpPr>
        <p:spPr>
          <a:xfrm rot="5400000">
            <a:off x="3340044" y="2051656"/>
            <a:ext cx="578271" cy="1761338"/>
          </a:xfrm>
          <a:prstGeom prst="curvedConnector3">
            <a:avLst>
              <a:gd name="adj1" fmla="val 83734"/>
            </a:avLst>
          </a:prstGeom>
          <a:ln w="9525">
            <a:solidFill>
              <a:srgbClr val="00D4C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연결선: 구부러짐 122">
            <a:extLst>
              <a:ext uri="{FF2B5EF4-FFF2-40B4-BE49-F238E27FC236}">
                <a16:creationId xmlns:a16="http://schemas.microsoft.com/office/drawing/2014/main" id="{7E8BA1B8-61FE-10F6-6F09-FC12DDCF703D}"/>
              </a:ext>
            </a:extLst>
          </p:cNvPr>
          <p:cNvCxnSpPr>
            <a:cxnSpLocks/>
            <a:stCxn id="108" idx="0"/>
            <a:endCxn id="83" idx="2"/>
          </p:cNvCxnSpPr>
          <p:nvPr/>
        </p:nvCxnSpPr>
        <p:spPr>
          <a:xfrm rot="16200000" flipV="1">
            <a:off x="5534716" y="2493900"/>
            <a:ext cx="578271" cy="876850"/>
          </a:xfrm>
          <a:prstGeom prst="curvedConnector3">
            <a:avLst>
              <a:gd name="adj1" fmla="val 50000"/>
            </a:avLst>
          </a:prstGeom>
          <a:ln w="9525">
            <a:solidFill>
              <a:srgbClr val="00D4C5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EC81141C-3284-06A1-5BF8-5823567EB2E4}"/>
              </a:ext>
            </a:extLst>
          </p:cNvPr>
          <p:cNvSpPr txBox="1"/>
          <p:nvPr/>
        </p:nvSpPr>
        <p:spPr>
          <a:xfrm>
            <a:off x="2368139" y="2056341"/>
            <a:ext cx="7837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질문 이해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A8D6787-E441-B2AD-CB21-15B4DE0C77D8}"/>
              </a:ext>
            </a:extLst>
          </p:cNvPr>
          <p:cNvSpPr txBox="1"/>
          <p:nvPr/>
        </p:nvSpPr>
        <p:spPr>
          <a:xfrm>
            <a:off x="3262562" y="2059125"/>
            <a:ext cx="7687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스킬 선정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FFFC4FC-E893-3578-6B28-468385FF0078}"/>
              </a:ext>
            </a:extLst>
          </p:cNvPr>
          <p:cNvSpPr txBox="1"/>
          <p:nvPr/>
        </p:nvSpPr>
        <p:spPr>
          <a:xfrm>
            <a:off x="4115752" y="2056341"/>
            <a:ext cx="7687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스킬 실행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F4A8D04-2691-5094-D3E2-8EEB0423CC7A}"/>
              </a:ext>
            </a:extLst>
          </p:cNvPr>
          <p:cNvSpPr txBox="1"/>
          <p:nvPr/>
        </p:nvSpPr>
        <p:spPr>
          <a:xfrm>
            <a:off x="5004335" y="2034831"/>
            <a:ext cx="7687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결과 통합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A3546EF-9378-5A03-66F8-DF4FEDCFA9E5}"/>
              </a:ext>
            </a:extLst>
          </p:cNvPr>
          <p:cNvSpPr txBox="1"/>
          <p:nvPr/>
        </p:nvSpPr>
        <p:spPr>
          <a:xfrm>
            <a:off x="5877180" y="2034831"/>
            <a:ext cx="7687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응답 생성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A1D4CD6-3862-BD9E-AF80-B5F1EB9EAA86}"/>
              </a:ext>
            </a:extLst>
          </p:cNvPr>
          <p:cNvSpPr txBox="1"/>
          <p:nvPr/>
        </p:nvSpPr>
        <p:spPr>
          <a:xfrm>
            <a:off x="2362108" y="2226921"/>
            <a:ext cx="762958" cy="41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입력 전처리 및 NER 기반 의도 분류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887A805-19AB-BEA0-5EA9-04FE4BF509C6}"/>
              </a:ext>
            </a:extLst>
          </p:cNvPr>
          <p:cNvSpPr txBox="1"/>
          <p:nvPr/>
        </p:nvSpPr>
        <p:spPr>
          <a:xfrm>
            <a:off x="3246615" y="2226921"/>
            <a:ext cx="762958" cy="30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의도에 </a:t>
            </a:r>
            <a:r>
              <a:rPr lang="ko-KR" altLang="en-US" sz="6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매핑되는</a:t>
            </a: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적합한 </a:t>
            </a:r>
            <a:r>
              <a:rPr lang="ko-KR" altLang="en-US" sz="6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스킬셋</a:t>
            </a: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선택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AFCE713-53D3-6A69-21AE-C84E34650C6D}"/>
              </a:ext>
            </a:extLst>
          </p:cNvPr>
          <p:cNvSpPr txBox="1"/>
          <p:nvPr/>
        </p:nvSpPr>
        <p:spPr>
          <a:xfrm>
            <a:off x="4121526" y="2206497"/>
            <a:ext cx="762958" cy="194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흐름 이동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3DFAF2A-6910-6F77-5FFE-8EE62A992F97}"/>
              </a:ext>
            </a:extLst>
          </p:cNvPr>
          <p:cNvSpPr txBox="1"/>
          <p:nvPr/>
        </p:nvSpPr>
        <p:spPr>
          <a:xfrm>
            <a:off x="4996530" y="2222315"/>
            <a:ext cx="762958" cy="41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반환 데이터 수취 및 정합성 무결성 검증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3C84834-5C32-FA49-E400-56325F7E6AC6}"/>
              </a:ext>
            </a:extLst>
          </p:cNvPr>
          <p:cNvSpPr txBox="1"/>
          <p:nvPr/>
        </p:nvSpPr>
        <p:spPr>
          <a:xfrm>
            <a:off x="5878504" y="2202009"/>
            <a:ext cx="762958" cy="30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자연어 합성 요약 및 추론 경로 정렬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56" name="그래픽 114" descr="오른쪽 캐럿 윤곽선">
            <a:extLst>
              <a:ext uri="{FF2B5EF4-FFF2-40B4-BE49-F238E27FC236}">
                <a16:creationId xmlns:a16="http://schemas.microsoft.com/office/drawing/2014/main" id="{7EFFDFA0-02C0-7ED4-DAF3-76EF99EDD70E}"/>
              </a:ext>
            </a:extLst>
          </p:cNvPr>
          <p:cNvSpPr/>
          <p:nvPr/>
        </p:nvSpPr>
        <p:spPr>
          <a:xfrm>
            <a:off x="3158985" y="3662599"/>
            <a:ext cx="45719" cy="98307"/>
          </a:xfrm>
          <a:custGeom>
            <a:avLst/>
            <a:gdLst>
              <a:gd name="csX0" fmla="*/ 0 w 40069"/>
              <a:gd name="csY0" fmla="*/ 11541 h 435973"/>
              <a:gd name="csX1" fmla="*/ 36040 w 40069"/>
              <a:gd name="csY1" fmla="*/ 217987 h 435973"/>
              <a:gd name="csX2" fmla="*/ 0 w 40069"/>
              <a:gd name="csY2" fmla="*/ 424432 h 435973"/>
              <a:gd name="csX3" fmla="*/ 2015 w 40069"/>
              <a:gd name="csY3" fmla="*/ 435973 h 435973"/>
              <a:gd name="csX4" fmla="*/ 40070 w 40069"/>
              <a:gd name="csY4" fmla="*/ 217987 h 435973"/>
              <a:gd name="csX5" fmla="*/ 2015 w 40069"/>
              <a:gd name="csY5" fmla="*/ 0 h 435973"/>
              <a:gd name="csX6" fmla="*/ 0 w 40069"/>
              <a:gd name="csY6" fmla="*/ 11541 h 43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69" h="435973">
                <a:moveTo>
                  <a:pt x="0" y="11541"/>
                </a:moveTo>
                <a:lnTo>
                  <a:pt x="36040" y="217987"/>
                </a:lnTo>
                <a:lnTo>
                  <a:pt x="0" y="424432"/>
                </a:lnTo>
                <a:lnTo>
                  <a:pt x="2015" y="435973"/>
                </a:lnTo>
                <a:lnTo>
                  <a:pt x="40070" y="217987"/>
                </a:lnTo>
                <a:lnTo>
                  <a:pt x="2015" y="0"/>
                </a:lnTo>
                <a:lnTo>
                  <a:pt x="0" y="115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그래픽 114" descr="오른쪽 캐럿 윤곽선">
            <a:extLst>
              <a:ext uri="{FF2B5EF4-FFF2-40B4-BE49-F238E27FC236}">
                <a16:creationId xmlns:a16="http://schemas.microsoft.com/office/drawing/2014/main" id="{065F7FAA-FFBA-1C65-0F0E-196C5BB922FE}"/>
              </a:ext>
            </a:extLst>
          </p:cNvPr>
          <p:cNvSpPr/>
          <p:nvPr/>
        </p:nvSpPr>
        <p:spPr>
          <a:xfrm>
            <a:off x="4047986" y="3645195"/>
            <a:ext cx="45719" cy="98307"/>
          </a:xfrm>
          <a:custGeom>
            <a:avLst/>
            <a:gdLst>
              <a:gd name="csX0" fmla="*/ 0 w 40069"/>
              <a:gd name="csY0" fmla="*/ 11541 h 435973"/>
              <a:gd name="csX1" fmla="*/ 36040 w 40069"/>
              <a:gd name="csY1" fmla="*/ 217987 h 435973"/>
              <a:gd name="csX2" fmla="*/ 0 w 40069"/>
              <a:gd name="csY2" fmla="*/ 424432 h 435973"/>
              <a:gd name="csX3" fmla="*/ 2015 w 40069"/>
              <a:gd name="csY3" fmla="*/ 435973 h 435973"/>
              <a:gd name="csX4" fmla="*/ 40070 w 40069"/>
              <a:gd name="csY4" fmla="*/ 217987 h 435973"/>
              <a:gd name="csX5" fmla="*/ 2015 w 40069"/>
              <a:gd name="csY5" fmla="*/ 0 h 435973"/>
              <a:gd name="csX6" fmla="*/ 0 w 40069"/>
              <a:gd name="csY6" fmla="*/ 11541 h 43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69" h="435973">
                <a:moveTo>
                  <a:pt x="0" y="11541"/>
                </a:moveTo>
                <a:lnTo>
                  <a:pt x="36040" y="217987"/>
                </a:lnTo>
                <a:lnTo>
                  <a:pt x="0" y="424432"/>
                </a:lnTo>
                <a:lnTo>
                  <a:pt x="2015" y="435973"/>
                </a:lnTo>
                <a:lnTo>
                  <a:pt x="40070" y="217987"/>
                </a:lnTo>
                <a:lnTo>
                  <a:pt x="2015" y="0"/>
                </a:lnTo>
                <a:lnTo>
                  <a:pt x="0" y="115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그래픽 114" descr="오른쪽 캐럿 윤곽선">
            <a:extLst>
              <a:ext uri="{FF2B5EF4-FFF2-40B4-BE49-F238E27FC236}">
                <a16:creationId xmlns:a16="http://schemas.microsoft.com/office/drawing/2014/main" id="{2325F58A-1757-BCA9-897A-72A7F818A793}"/>
              </a:ext>
            </a:extLst>
          </p:cNvPr>
          <p:cNvSpPr/>
          <p:nvPr/>
        </p:nvSpPr>
        <p:spPr>
          <a:xfrm>
            <a:off x="4917238" y="3645195"/>
            <a:ext cx="45719" cy="98307"/>
          </a:xfrm>
          <a:custGeom>
            <a:avLst/>
            <a:gdLst>
              <a:gd name="csX0" fmla="*/ 0 w 40069"/>
              <a:gd name="csY0" fmla="*/ 11541 h 435973"/>
              <a:gd name="csX1" fmla="*/ 36040 w 40069"/>
              <a:gd name="csY1" fmla="*/ 217987 h 435973"/>
              <a:gd name="csX2" fmla="*/ 0 w 40069"/>
              <a:gd name="csY2" fmla="*/ 424432 h 435973"/>
              <a:gd name="csX3" fmla="*/ 2015 w 40069"/>
              <a:gd name="csY3" fmla="*/ 435973 h 435973"/>
              <a:gd name="csX4" fmla="*/ 40070 w 40069"/>
              <a:gd name="csY4" fmla="*/ 217987 h 435973"/>
              <a:gd name="csX5" fmla="*/ 2015 w 40069"/>
              <a:gd name="csY5" fmla="*/ 0 h 435973"/>
              <a:gd name="csX6" fmla="*/ 0 w 40069"/>
              <a:gd name="csY6" fmla="*/ 11541 h 43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69" h="435973">
                <a:moveTo>
                  <a:pt x="0" y="11541"/>
                </a:moveTo>
                <a:lnTo>
                  <a:pt x="36040" y="217987"/>
                </a:lnTo>
                <a:lnTo>
                  <a:pt x="0" y="424432"/>
                </a:lnTo>
                <a:lnTo>
                  <a:pt x="2015" y="435973"/>
                </a:lnTo>
                <a:lnTo>
                  <a:pt x="40070" y="217987"/>
                </a:lnTo>
                <a:lnTo>
                  <a:pt x="2015" y="0"/>
                </a:lnTo>
                <a:lnTo>
                  <a:pt x="0" y="115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그래픽 114" descr="오른쪽 캐럿 윤곽선">
            <a:extLst>
              <a:ext uri="{FF2B5EF4-FFF2-40B4-BE49-F238E27FC236}">
                <a16:creationId xmlns:a16="http://schemas.microsoft.com/office/drawing/2014/main" id="{0212994A-BC00-F181-19BA-57981BD08CDB}"/>
              </a:ext>
            </a:extLst>
          </p:cNvPr>
          <p:cNvSpPr/>
          <p:nvPr/>
        </p:nvSpPr>
        <p:spPr>
          <a:xfrm>
            <a:off x="5789550" y="3657224"/>
            <a:ext cx="45719" cy="98307"/>
          </a:xfrm>
          <a:custGeom>
            <a:avLst/>
            <a:gdLst>
              <a:gd name="csX0" fmla="*/ 0 w 40069"/>
              <a:gd name="csY0" fmla="*/ 11541 h 435973"/>
              <a:gd name="csX1" fmla="*/ 36040 w 40069"/>
              <a:gd name="csY1" fmla="*/ 217987 h 435973"/>
              <a:gd name="csX2" fmla="*/ 0 w 40069"/>
              <a:gd name="csY2" fmla="*/ 424432 h 435973"/>
              <a:gd name="csX3" fmla="*/ 2015 w 40069"/>
              <a:gd name="csY3" fmla="*/ 435973 h 435973"/>
              <a:gd name="csX4" fmla="*/ 40070 w 40069"/>
              <a:gd name="csY4" fmla="*/ 217987 h 435973"/>
              <a:gd name="csX5" fmla="*/ 2015 w 40069"/>
              <a:gd name="csY5" fmla="*/ 0 h 435973"/>
              <a:gd name="csX6" fmla="*/ 0 w 40069"/>
              <a:gd name="csY6" fmla="*/ 11541 h 43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69" h="435973">
                <a:moveTo>
                  <a:pt x="0" y="11541"/>
                </a:moveTo>
                <a:lnTo>
                  <a:pt x="36040" y="217987"/>
                </a:lnTo>
                <a:lnTo>
                  <a:pt x="0" y="424432"/>
                </a:lnTo>
                <a:lnTo>
                  <a:pt x="2015" y="435973"/>
                </a:lnTo>
                <a:lnTo>
                  <a:pt x="40070" y="217987"/>
                </a:lnTo>
                <a:lnTo>
                  <a:pt x="2015" y="0"/>
                </a:lnTo>
                <a:lnTo>
                  <a:pt x="0" y="115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4B4CC17-E212-AED5-466C-9C2297FD24DE}"/>
              </a:ext>
            </a:extLst>
          </p:cNvPr>
          <p:cNvSpPr txBox="1"/>
          <p:nvPr/>
        </p:nvSpPr>
        <p:spPr>
          <a:xfrm>
            <a:off x="2355425" y="3512443"/>
            <a:ext cx="7869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스킬 정책 로드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C83535B9-A37B-190B-AE4A-DA5D5BE57ED4}"/>
              </a:ext>
            </a:extLst>
          </p:cNvPr>
          <p:cNvSpPr txBox="1"/>
          <p:nvPr/>
        </p:nvSpPr>
        <p:spPr>
          <a:xfrm>
            <a:off x="3249848" y="3515227"/>
            <a:ext cx="7687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작업 계획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4364535-6244-B956-8127-877267A53E8A}"/>
              </a:ext>
            </a:extLst>
          </p:cNvPr>
          <p:cNvSpPr txBox="1"/>
          <p:nvPr/>
        </p:nvSpPr>
        <p:spPr>
          <a:xfrm>
            <a:off x="4103038" y="3512443"/>
            <a:ext cx="7687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dirty="0">
                <a:solidFill>
                  <a:srgbClr val="0F172A"/>
                </a:solidFill>
                <a:latin typeface="SUIT Light" pitchFamily="50" charset="-127"/>
                <a:ea typeface="SUIT Light" pitchFamily="50" charset="-127"/>
              </a:rPr>
              <a:t>작업</a:t>
            </a: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 실행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B5F35A0-BE5B-1777-3409-553F71549625}"/>
              </a:ext>
            </a:extLst>
          </p:cNvPr>
          <p:cNvSpPr txBox="1"/>
          <p:nvPr/>
        </p:nvSpPr>
        <p:spPr>
          <a:xfrm>
            <a:off x="4991621" y="3490933"/>
            <a:ext cx="8120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중간 검증</a:t>
            </a:r>
            <a:br>
              <a:rPr lang="en-US" altLang="ko-KR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</a:b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결과 충분 여부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DAE1101-3D13-F175-40A4-3B1AEA0EDB8E}"/>
              </a:ext>
            </a:extLst>
          </p:cNvPr>
          <p:cNvSpPr txBox="1"/>
          <p:nvPr/>
        </p:nvSpPr>
        <p:spPr>
          <a:xfrm>
            <a:off x="5864466" y="3490933"/>
            <a:ext cx="7687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스킬 완료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AF1765C-07DB-A1C3-1E6E-144F6CB2B561}"/>
              </a:ext>
            </a:extLst>
          </p:cNvPr>
          <p:cNvSpPr txBox="1"/>
          <p:nvPr/>
        </p:nvSpPr>
        <p:spPr>
          <a:xfrm>
            <a:off x="2349394" y="3683023"/>
            <a:ext cx="762958" cy="41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지침 정책 및 도구 사용법 컨텍스트 주입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307D2B3-DCA3-7BFC-B91B-FD27F3224BF3}"/>
              </a:ext>
            </a:extLst>
          </p:cNvPr>
          <p:cNvSpPr txBox="1"/>
          <p:nvPr/>
        </p:nvSpPr>
        <p:spPr>
          <a:xfrm>
            <a:off x="3233901" y="3683023"/>
            <a:ext cx="762958" cy="41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주입 지침에 의거해 자율 분석 단계 수립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1BECD22-5311-9346-2A50-03B976328F16}"/>
              </a:ext>
            </a:extLst>
          </p:cNvPr>
          <p:cNvSpPr txBox="1"/>
          <p:nvPr/>
        </p:nvSpPr>
        <p:spPr>
          <a:xfrm>
            <a:off x="4108812" y="3662599"/>
            <a:ext cx="762958" cy="41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en-US" altLang="ko-KR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RDB SQL, Wiki </a:t>
            </a: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벡터 검색</a:t>
            </a:r>
            <a:r>
              <a:rPr lang="en-US" altLang="ko-KR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, </a:t>
            </a: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파일 파싱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A448FD0-F859-4588-E3E9-D541765A687C}"/>
              </a:ext>
            </a:extLst>
          </p:cNvPr>
          <p:cNvSpPr txBox="1"/>
          <p:nvPr/>
        </p:nvSpPr>
        <p:spPr>
          <a:xfrm>
            <a:off x="5865790" y="3658111"/>
            <a:ext cx="762958" cy="30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최종 데이터셋을 메인 흐름으로 반환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70" name="Shape 4">
            <a:extLst>
              <a:ext uri="{FF2B5EF4-FFF2-40B4-BE49-F238E27FC236}">
                <a16:creationId xmlns:a16="http://schemas.microsoft.com/office/drawing/2014/main" id="{B54730FF-7D2C-3277-8C30-8961B8B0CF25}"/>
              </a:ext>
            </a:extLst>
          </p:cNvPr>
          <p:cNvSpPr/>
          <p:nvPr/>
        </p:nvSpPr>
        <p:spPr>
          <a:xfrm>
            <a:off x="5078764" y="3916075"/>
            <a:ext cx="605122" cy="147261"/>
          </a:xfrm>
          <a:prstGeom prst="roundRect">
            <a:avLst>
              <a:gd name="adj" fmla="val 39027"/>
            </a:avLst>
          </a:prstGeom>
          <a:solidFill>
            <a:schemeClr val="bg1"/>
          </a:solidFill>
          <a:ln>
            <a:solidFill>
              <a:srgbClr val="00D4C5"/>
            </a:solidFill>
          </a:ln>
        </p:spPr>
        <p:txBody>
          <a:bodyPr wrap="square" lIns="36000" tIns="10800" rIns="36000" bIns="10800">
            <a:spAutoFit/>
          </a:bodyPr>
          <a:lstStyle/>
          <a:p>
            <a:r>
              <a:rPr lang="en-US" altLang="ko-KR" sz="600" dirty="0">
                <a:latin typeface="+mn-ea"/>
              </a:rPr>
              <a:t>           </a:t>
            </a:r>
            <a:r>
              <a:rPr lang="ko-KR" altLang="en-US" sz="600" dirty="0">
                <a:solidFill>
                  <a:srgbClr val="00D4C5"/>
                </a:solidFill>
                <a:latin typeface="+mn-ea"/>
              </a:rPr>
              <a:t>재시도</a:t>
            </a:r>
          </a:p>
        </p:txBody>
      </p:sp>
      <p:pic>
        <p:nvPicPr>
          <p:cNvPr id="172" name="그래픽 171" descr="반복 단색으로 채워진">
            <a:extLst>
              <a:ext uri="{FF2B5EF4-FFF2-40B4-BE49-F238E27FC236}">
                <a16:creationId xmlns:a16="http://schemas.microsoft.com/office/drawing/2014/main" id="{BA8BC37B-5C4B-4599-9D35-36E1AD5081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131141" y="3926411"/>
            <a:ext cx="131582" cy="131582"/>
          </a:xfrm>
          <a:prstGeom prst="rect">
            <a:avLst/>
          </a:prstGeom>
        </p:spPr>
      </p:pic>
      <p:pic>
        <p:nvPicPr>
          <p:cNvPr id="173" name="그래픽 172" descr="오른쪽 캐럿 윤곽선">
            <a:extLst>
              <a:ext uri="{FF2B5EF4-FFF2-40B4-BE49-F238E27FC236}">
                <a16:creationId xmlns:a16="http://schemas.microsoft.com/office/drawing/2014/main" id="{E93D9640-5260-1D60-9E5F-383366C76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3585" y="1451688"/>
            <a:ext cx="389043" cy="2937051"/>
          </a:xfrm>
          <a:prstGeom prst="rect">
            <a:avLst/>
          </a:prstGeom>
        </p:spPr>
      </p:pic>
      <p:sp>
        <p:nvSpPr>
          <p:cNvPr id="175" name="Shape 4">
            <a:extLst>
              <a:ext uri="{FF2B5EF4-FFF2-40B4-BE49-F238E27FC236}">
                <a16:creationId xmlns:a16="http://schemas.microsoft.com/office/drawing/2014/main" id="{586D6C7B-650D-6E54-7557-362AAD83ED36}"/>
              </a:ext>
            </a:extLst>
          </p:cNvPr>
          <p:cNvSpPr/>
          <p:nvPr/>
        </p:nvSpPr>
        <p:spPr>
          <a:xfrm>
            <a:off x="7036927" y="1355718"/>
            <a:ext cx="1892037" cy="858143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2014">
                <a:srgbClr val="00D4C5"/>
              </a:gs>
              <a:gs pos="2015">
                <a:schemeClr val="bg1"/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6" name="Shape 4">
            <a:extLst>
              <a:ext uri="{FF2B5EF4-FFF2-40B4-BE49-F238E27FC236}">
                <a16:creationId xmlns:a16="http://schemas.microsoft.com/office/drawing/2014/main" id="{22BB2D69-B7CD-0EA3-D6DB-63FFDE903164}"/>
              </a:ext>
            </a:extLst>
          </p:cNvPr>
          <p:cNvSpPr/>
          <p:nvPr/>
        </p:nvSpPr>
        <p:spPr>
          <a:xfrm>
            <a:off x="7148205" y="1442947"/>
            <a:ext cx="338669" cy="127407"/>
          </a:xfrm>
          <a:prstGeom prst="roundRect">
            <a:avLst>
              <a:gd name="adj" fmla="val 39027"/>
            </a:avLst>
          </a:prstGeom>
          <a:solidFill>
            <a:srgbClr val="E2F9F8"/>
          </a:solidFill>
          <a:ln>
            <a:solidFill>
              <a:srgbClr val="E2F9F8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ko-KR" altLang="en-US" sz="500" dirty="0">
                <a:latin typeface="SUIT" pitchFamily="2" charset="-127"/>
                <a:ea typeface="SUIT" pitchFamily="2" charset="-127"/>
              </a:rPr>
              <a:t>단순 분석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687B98E-22BA-ECF1-DB6B-5E72DE21FE82}"/>
              </a:ext>
            </a:extLst>
          </p:cNvPr>
          <p:cNvSpPr txBox="1"/>
          <p:nvPr/>
        </p:nvSpPr>
        <p:spPr>
          <a:xfrm>
            <a:off x="7102628" y="1595549"/>
            <a:ext cx="18139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핵심 인사이트 요약 답변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pic>
        <p:nvPicPr>
          <p:cNvPr id="179" name="그림 178">
            <a:extLst>
              <a:ext uri="{FF2B5EF4-FFF2-40B4-BE49-F238E27FC236}">
                <a16:creationId xmlns:a16="http://schemas.microsoft.com/office/drawing/2014/main" id="{278BACE3-D570-E123-3EB2-3835ADDAF8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7216"/>
          <a:stretch>
            <a:fillRect/>
          </a:stretch>
        </p:blipFill>
        <p:spPr>
          <a:xfrm>
            <a:off x="7230015" y="1851299"/>
            <a:ext cx="1499957" cy="331290"/>
          </a:xfrm>
          <a:prstGeom prst="rect">
            <a:avLst/>
          </a:prstGeom>
        </p:spPr>
      </p:pic>
      <p:sp>
        <p:nvSpPr>
          <p:cNvPr id="180" name="Shape 4">
            <a:extLst>
              <a:ext uri="{FF2B5EF4-FFF2-40B4-BE49-F238E27FC236}">
                <a16:creationId xmlns:a16="http://schemas.microsoft.com/office/drawing/2014/main" id="{CD50DAA7-C5FB-0AC9-DBEB-72B4D3C5D412}"/>
              </a:ext>
            </a:extLst>
          </p:cNvPr>
          <p:cNvSpPr/>
          <p:nvPr/>
        </p:nvSpPr>
        <p:spPr>
          <a:xfrm>
            <a:off x="7038609" y="3529098"/>
            <a:ext cx="1892036" cy="463514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2014">
                <a:srgbClr val="00D4C5"/>
              </a:gs>
              <a:gs pos="2015">
                <a:schemeClr val="bg1"/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1" name="Shape 4">
            <a:extLst>
              <a:ext uri="{FF2B5EF4-FFF2-40B4-BE49-F238E27FC236}">
                <a16:creationId xmlns:a16="http://schemas.microsoft.com/office/drawing/2014/main" id="{AB027E96-16E9-65E3-1D91-B0946AEEDA8D}"/>
              </a:ext>
            </a:extLst>
          </p:cNvPr>
          <p:cNvSpPr/>
          <p:nvPr/>
        </p:nvSpPr>
        <p:spPr>
          <a:xfrm>
            <a:off x="7162249" y="3602646"/>
            <a:ext cx="392545" cy="127407"/>
          </a:xfrm>
          <a:prstGeom prst="roundRect">
            <a:avLst>
              <a:gd name="adj" fmla="val 39027"/>
            </a:avLst>
          </a:prstGeom>
          <a:solidFill>
            <a:srgbClr val="E2F9F8"/>
          </a:solidFill>
          <a:ln>
            <a:solidFill>
              <a:srgbClr val="E2F9F8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ko-KR" altLang="en-US" sz="500" dirty="0">
                <a:latin typeface="SUIT" pitchFamily="2" charset="-127"/>
                <a:ea typeface="SUIT" pitchFamily="2" charset="-127"/>
              </a:rPr>
              <a:t>데이터 추출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52CAD31-7392-D53A-FAE0-3253CCB2C731}"/>
              </a:ext>
            </a:extLst>
          </p:cNvPr>
          <p:cNvSpPr txBox="1"/>
          <p:nvPr/>
        </p:nvSpPr>
        <p:spPr>
          <a:xfrm>
            <a:off x="7089960" y="3755258"/>
            <a:ext cx="18139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Excel </a:t>
            </a: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및 </a:t>
            </a:r>
            <a:r>
              <a:rPr lang="en-US" altLang="ko-KR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CSV, DATA </a:t>
            </a:r>
            <a:r>
              <a:rPr lang="en-US" altLang="ko-KR" sz="800" b="1" i="0" dirty="0" err="1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Download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94" name="Shape 4">
            <a:extLst>
              <a:ext uri="{FF2B5EF4-FFF2-40B4-BE49-F238E27FC236}">
                <a16:creationId xmlns:a16="http://schemas.microsoft.com/office/drawing/2014/main" id="{47776576-8B38-4C6F-846A-F560CD006F26}"/>
              </a:ext>
            </a:extLst>
          </p:cNvPr>
          <p:cNvSpPr/>
          <p:nvPr/>
        </p:nvSpPr>
        <p:spPr>
          <a:xfrm>
            <a:off x="7036928" y="2253299"/>
            <a:ext cx="1892036" cy="1211745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2014">
                <a:srgbClr val="00D4C5"/>
              </a:gs>
              <a:gs pos="2015">
                <a:schemeClr val="bg1"/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5" name="Shape 4">
            <a:extLst>
              <a:ext uri="{FF2B5EF4-FFF2-40B4-BE49-F238E27FC236}">
                <a16:creationId xmlns:a16="http://schemas.microsoft.com/office/drawing/2014/main" id="{BE09CF5B-AEE3-8EE0-05A1-8AAFC547524D}"/>
              </a:ext>
            </a:extLst>
          </p:cNvPr>
          <p:cNvSpPr/>
          <p:nvPr/>
        </p:nvSpPr>
        <p:spPr>
          <a:xfrm>
            <a:off x="7160568" y="2340528"/>
            <a:ext cx="463615" cy="127407"/>
          </a:xfrm>
          <a:prstGeom prst="roundRect">
            <a:avLst>
              <a:gd name="adj" fmla="val 39027"/>
            </a:avLst>
          </a:prstGeom>
          <a:solidFill>
            <a:srgbClr val="E2F9F8"/>
          </a:solidFill>
          <a:ln>
            <a:solidFill>
              <a:srgbClr val="E2F9F8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ko-KR" altLang="en-US" sz="500" dirty="0">
                <a:latin typeface="SUIT" pitchFamily="2" charset="-127"/>
                <a:ea typeface="SUIT" pitchFamily="2" charset="-127"/>
              </a:rPr>
              <a:t>교차 분석 활용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3F954B03-5118-BB89-6A33-FE83048000B1}"/>
              </a:ext>
            </a:extLst>
          </p:cNvPr>
          <p:cNvSpPr txBox="1"/>
          <p:nvPr/>
        </p:nvSpPr>
        <p:spPr>
          <a:xfrm>
            <a:off x="7114991" y="2493130"/>
            <a:ext cx="18139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교차 분석 및 시나리오 기반 답변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pic>
        <p:nvPicPr>
          <p:cNvPr id="197" name="그림 196">
            <a:extLst>
              <a:ext uri="{FF2B5EF4-FFF2-40B4-BE49-F238E27FC236}">
                <a16:creationId xmlns:a16="http://schemas.microsoft.com/office/drawing/2014/main" id="{075052AD-713E-AE94-63DC-5E8FFBA36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378" y="2748880"/>
            <a:ext cx="1499957" cy="627626"/>
          </a:xfrm>
          <a:prstGeom prst="rect">
            <a:avLst/>
          </a:prstGeom>
        </p:spPr>
      </p:pic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D19B9618-C8AE-E1F3-9413-37E3421DA27A}"/>
              </a:ext>
            </a:extLst>
          </p:cNvPr>
          <p:cNvSpPr>
            <a:spLocks noChangeAspect="1"/>
          </p:cNvSpPr>
          <p:nvPr/>
        </p:nvSpPr>
        <p:spPr>
          <a:xfrm>
            <a:off x="7242378" y="2755394"/>
            <a:ext cx="593257" cy="64122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AA4D9542-38A9-802C-DAAB-EC18C29A3E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4296" y="2755394"/>
            <a:ext cx="1276102" cy="354903"/>
          </a:xfrm>
          <a:prstGeom prst="rect">
            <a:avLst/>
          </a:prstGeom>
        </p:spPr>
      </p:pic>
      <p:pic>
        <p:nvPicPr>
          <p:cNvPr id="200" name="그림 199">
            <a:extLst>
              <a:ext uri="{FF2B5EF4-FFF2-40B4-BE49-F238E27FC236}">
                <a16:creationId xmlns:a16="http://schemas.microsoft.com/office/drawing/2014/main" id="{8BB116BC-897C-A760-F4D1-C448706697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5635" y="3097016"/>
            <a:ext cx="821165" cy="310133"/>
          </a:xfrm>
          <a:prstGeom prst="rect">
            <a:avLst/>
          </a:prstGeom>
        </p:spPr>
      </p:pic>
      <p:sp>
        <p:nvSpPr>
          <p:cNvPr id="202" name="Shape 4">
            <a:extLst>
              <a:ext uri="{FF2B5EF4-FFF2-40B4-BE49-F238E27FC236}">
                <a16:creationId xmlns:a16="http://schemas.microsoft.com/office/drawing/2014/main" id="{12EE73D7-929A-9D34-1435-61A81740CCAD}"/>
              </a:ext>
            </a:extLst>
          </p:cNvPr>
          <p:cNvSpPr/>
          <p:nvPr/>
        </p:nvSpPr>
        <p:spPr>
          <a:xfrm>
            <a:off x="7034731" y="4099824"/>
            <a:ext cx="1892036" cy="767192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F172A"/>
              </a:gs>
              <a:gs pos="2014">
                <a:srgbClr val="0F172A"/>
              </a:gs>
              <a:gs pos="2015">
                <a:schemeClr val="bg1"/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4" name="Shape 4">
            <a:extLst>
              <a:ext uri="{FF2B5EF4-FFF2-40B4-BE49-F238E27FC236}">
                <a16:creationId xmlns:a16="http://schemas.microsoft.com/office/drawing/2014/main" id="{8DB641A8-BBD9-F309-7667-172DAC9F9324}"/>
              </a:ext>
            </a:extLst>
          </p:cNvPr>
          <p:cNvSpPr/>
          <p:nvPr/>
        </p:nvSpPr>
        <p:spPr>
          <a:xfrm>
            <a:off x="7162249" y="4189056"/>
            <a:ext cx="1011471" cy="127407"/>
          </a:xfrm>
          <a:prstGeom prst="roundRect">
            <a:avLst>
              <a:gd name="adj" fmla="val 39027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36000" tIns="10800" rIns="36000" bIns="1080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  <a:latin typeface="SUIT" pitchFamily="2" charset="-127"/>
                <a:ea typeface="SUIT" pitchFamily="2" charset="-127"/>
              </a:rPr>
              <a:t>필터 변경 및 대시보드 조작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4F26762-AB82-B7B5-C9F1-FF5D613E6F3D}"/>
              </a:ext>
            </a:extLst>
          </p:cNvPr>
          <p:cNvSpPr txBox="1"/>
          <p:nvPr/>
        </p:nvSpPr>
        <p:spPr>
          <a:xfrm>
            <a:off x="7089960" y="4336961"/>
            <a:ext cx="18139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1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연결된 대시보드 상태 변경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2625CC10-513B-78E4-B37D-DA7F399C24DF}"/>
              </a:ext>
            </a:extLst>
          </p:cNvPr>
          <p:cNvSpPr txBox="1"/>
          <p:nvPr/>
        </p:nvSpPr>
        <p:spPr>
          <a:xfrm>
            <a:off x="7094320" y="4499181"/>
            <a:ext cx="1766078" cy="30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분석 결과에 알맞은 형태의 필터로 변경하여 사용자에게 대시보드 상의 데이터를 확인할 수 있도록 합니다</a:t>
            </a:r>
            <a:r>
              <a:rPr lang="en-US" altLang="ko-KR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.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9" name="Shape 4">
            <a:extLst>
              <a:ext uri="{FF2B5EF4-FFF2-40B4-BE49-F238E27FC236}">
                <a16:creationId xmlns:a16="http://schemas.microsoft.com/office/drawing/2014/main" id="{076FE41F-883C-0052-F2C5-03B9C5CB53CA}"/>
              </a:ext>
            </a:extLst>
          </p:cNvPr>
          <p:cNvSpPr/>
          <p:nvPr/>
        </p:nvSpPr>
        <p:spPr>
          <a:xfrm>
            <a:off x="2270714" y="4388402"/>
            <a:ext cx="4475526" cy="469962"/>
          </a:xfrm>
          <a:prstGeom prst="roundRect">
            <a:avLst>
              <a:gd name="adj" fmla="val 20382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16" name="그래픽 215" descr="오른쪽 캐럿 윤곽선">
            <a:extLst>
              <a:ext uri="{FF2B5EF4-FFF2-40B4-BE49-F238E27FC236}">
                <a16:creationId xmlns:a16="http://schemas.microsoft.com/office/drawing/2014/main" id="{56B9A19A-9BD5-CD85-7DCE-1BCE29891F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511889" y="2843829"/>
            <a:ext cx="152094" cy="2937051"/>
          </a:xfrm>
          <a:prstGeom prst="rect">
            <a:avLst/>
          </a:prstGeom>
        </p:spPr>
      </p:pic>
      <p:sp>
        <p:nvSpPr>
          <p:cNvPr id="217" name="TextBox 216">
            <a:extLst>
              <a:ext uri="{FF2B5EF4-FFF2-40B4-BE49-F238E27FC236}">
                <a16:creationId xmlns:a16="http://schemas.microsoft.com/office/drawing/2014/main" id="{87AD7C81-BBBF-3F6A-781B-1CE32950FF14}"/>
              </a:ext>
            </a:extLst>
          </p:cNvPr>
          <p:cNvSpPr txBox="1"/>
          <p:nvPr/>
        </p:nvSpPr>
        <p:spPr>
          <a:xfrm>
            <a:off x="2292445" y="4465959"/>
            <a:ext cx="12473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b="1" dirty="0">
                <a:latin typeface="SUIT" pitchFamily="2" charset="-127"/>
                <a:ea typeface="SUIT" pitchFamily="2" charset="-127"/>
              </a:rPr>
              <a:t>SQL </a:t>
            </a:r>
            <a:r>
              <a:rPr lang="ko-KR" altLang="en-US" sz="800" b="1" dirty="0">
                <a:latin typeface="SUIT" pitchFamily="2" charset="-127"/>
                <a:ea typeface="SUIT" pitchFamily="2" charset="-127"/>
              </a:rPr>
              <a:t>및 연산</a:t>
            </a:r>
            <a:r>
              <a:rPr lang="en-US" altLang="ko-KR" sz="800" b="1" dirty="0"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800" b="1" dirty="0">
                <a:latin typeface="SUIT" pitchFamily="2" charset="-127"/>
                <a:ea typeface="SUIT" pitchFamily="2" charset="-127"/>
              </a:rPr>
              <a:t>결과  </a:t>
            </a:r>
            <a:r>
              <a:rPr lang="en-US" altLang="ko-KR" sz="800" b="1" dirty="0">
                <a:latin typeface="SUIT" pitchFamily="2" charset="-127"/>
                <a:ea typeface="SUIT" pitchFamily="2" charset="-127"/>
              </a:rPr>
              <a:t>Logs</a:t>
            </a:r>
          </a:p>
          <a:p>
            <a:pPr algn="r"/>
            <a:r>
              <a:rPr lang="en-US" altLang="ko-KR" sz="800" b="1" dirty="0">
                <a:latin typeface="SUIT" pitchFamily="2" charset="-127"/>
                <a:ea typeface="SUIT" pitchFamily="2" charset="-127"/>
              </a:rPr>
              <a:t>Meta DB </a:t>
            </a:r>
            <a:r>
              <a:rPr lang="ko-KR" altLang="en-US" sz="800" b="1" dirty="0">
                <a:latin typeface="SUIT" pitchFamily="2" charset="-127"/>
                <a:ea typeface="SUIT" pitchFamily="2" charset="-127"/>
              </a:rPr>
              <a:t>적재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6CACBAD-A9DA-AC92-10B5-BE0C2BF296FB}"/>
              </a:ext>
            </a:extLst>
          </p:cNvPr>
          <p:cNvSpPr txBox="1"/>
          <p:nvPr/>
        </p:nvSpPr>
        <p:spPr>
          <a:xfrm>
            <a:off x="3572794" y="4473645"/>
            <a:ext cx="3096528" cy="30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생성 결과와 실행된 로우 </a:t>
            </a:r>
            <a:r>
              <a:rPr lang="en-US" altLang="ko-KR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SQL </a:t>
            </a: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로그 전체를 </a:t>
            </a:r>
            <a:r>
              <a:rPr lang="ko-KR" altLang="en-US" sz="6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백엔드</a:t>
            </a: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</a:t>
            </a:r>
            <a:r>
              <a:rPr lang="en-US" altLang="ko-KR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Ops</a:t>
            </a: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에 실시간 저장해 무결성을 교차 </a:t>
            </a:r>
            <a:r>
              <a:rPr lang="ko-KR" altLang="en-US" sz="6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역추적</a:t>
            </a:r>
            <a:r>
              <a:rPr lang="ko-KR" altLang="en-US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검사합니다</a:t>
            </a:r>
            <a:r>
              <a:rPr lang="en-US" altLang="ko-KR" sz="600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. </a:t>
            </a:r>
            <a:r>
              <a:rPr lang="ko-KR" altLang="en-US" sz="600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또 향후 답변의 품질 향상을 위한 데이터로 사용됩니다</a:t>
            </a:r>
            <a:r>
              <a:rPr lang="en-US" altLang="ko-KR" sz="600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.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pic>
        <p:nvPicPr>
          <p:cNvPr id="221" name="그래픽 220" descr="말풍선 단색으로 채워진">
            <a:extLst>
              <a:ext uri="{FF2B5EF4-FFF2-40B4-BE49-F238E27FC236}">
                <a16:creationId xmlns:a16="http://schemas.microsoft.com/office/drawing/2014/main" id="{7CFD7183-72DC-5DF8-01CD-06D2C4D16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8682" y="1491836"/>
            <a:ext cx="189394" cy="189394"/>
          </a:xfrm>
          <a:prstGeom prst="rect">
            <a:avLst/>
          </a:prstGeom>
        </p:spPr>
      </p:pic>
      <p:sp>
        <p:nvSpPr>
          <p:cNvPr id="223" name="TextBox 222">
            <a:extLst>
              <a:ext uri="{FF2B5EF4-FFF2-40B4-BE49-F238E27FC236}">
                <a16:creationId xmlns:a16="http://schemas.microsoft.com/office/drawing/2014/main" id="{04344272-107E-2DEC-39CE-7D785BED6571}"/>
              </a:ext>
            </a:extLst>
          </p:cNvPr>
          <p:cNvSpPr txBox="1"/>
          <p:nvPr/>
        </p:nvSpPr>
        <p:spPr>
          <a:xfrm>
            <a:off x="475813" y="1490574"/>
            <a:ext cx="131451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>
                <a:latin typeface="SUIT" pitchFamily="2" charset="-127"/>
                <a:ea typeface="SUIT" pitchFamily="2" charset="-127"/>
              </a:rPr>
              <a:t>자연어 질의 </a:t>
            </a:r>
            <a:r>
              <a:rPr lang="en-US" altLang="ko-KR" sz="600" dirty="0">
                <a:latin typeface="SUIT" pitchFamily="2" charset="-127"/>
                <a:ea typeface="SUIT" pitchFamily="2" charset="-127"/>
              </a:rPr>
              <a:t>NLQ Prompt 01</a:t>
            </a:r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226" name="그래픽 225" descr="말풍선 단색으로 채워진">
            <a:extLst>
              <a:ext uri="{FF2B5EF4-FFF2-40B4-BE49-F238E27FC236}">
                <a16:creationId xmlns:a16="http://schemas.microsoft.com/office/drawing/2014/main" id="{09CE52E1-D0E7-0291-A14D-18B0B4C5E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8682" y="2004195"/>
            <a:ext cx="189394" cy="189394"/>
          </a:xfrm>
          <a:prstGeom prst="rect">
            <a:avLst/>
          </a:prstGeom>
        </p:spPr>
      </p:pic>
      <p:sp>
        <p:nvSpPr>
          <p:cNvPr id="227" name="TextBox 226">
            <a:extLst>
              <a:ext uri="{FF2B5EF4-FFF2-40B4-BE49-F238E27FC236}">
                <a16:creationId xmlns:a16="http://schemas.microsoft.com/office/drawing/2014/main" id="{6FD5D10B-226C-F0CD-A594-5D903731756D}"/>
              </a:ext>
            </a:extLst>
          </p:cNvPr>
          <p:cNvSpPr txBox="1"/>
          <p:nvPr/>
        </p:nvSpPr>
        <p:spPr>
          <a:xfrm>
            <a:off x="475813" y="2002933"/>
            <a:ext cx="131451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>
                <a:latin typeface="SUIT" pitchFamily="2" charset="-127"/>
                <a:ea typeface="SUIT" pitchFamily="2" charset="-127"/>
              </a:rPr>
              <a:t>자연어 질의 </a:t>
            </a:r>
            <a:r>
              <a:rPr lang="en-US" altLang="ko-KR" sz="600" dirty="0">
                <a:latin typeface="SUIT" pitchFamily="2" charset="-127"/>
                <a:ea typeface="SUIT" pitchFamily="2" charset="-127"/>
              </a:rPr>
              <a:t>NLQ Prompt 02</a:t>
            </a:r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228" name="그래픽 227" descr="말풍선 단색으로 채워진">
            <a:extLst>
              <a:ext uri="{FF2B5EF4-FFF2-40B4-BE49-F238E27FC236}">
                <a16:creationId xmlns:a16="http://schemas.microsoft.com/office/drawing/2014/main" id="{0643D971-2316-4264-D796-9823C84267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6401" y="3845986"/>
            <a:ext cx="189394" cy="189394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B0D3CC4C-7651-629C-AB0D-44B9E78640A9}"/>
              </a:ext>
            </a:extLst>
          </p:cNvPr>
          <p:cNvSpPr txBox="1"/>
          <p:nvPr/>
        </p:nvSpPr>
        <p:spPr>
          <a:xfrm>
            <a:off x="443532" y="3844724"/>
            <a:ext cx="131451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>
                <a:latin typeface="SUIT" pitchFamily="2" charset="-127"/>
                <a:ea typeface="SUIT" pitchFamily="2" charset="-127"/>
              </a:rPr>
              <a:t>자연어 질의 </a:t>
            </a:r>
            <a:r>
              <a:rPr lang="en-US" altLang="ko-KR" sz="600" dirty="0">
                <a:latin typeface="SUIT" pitchFamily="2" charset="-127"/>
                <a:ea typeface="SUIT" pitchFamily="2" charset="-127"/>
              </a:rPr>
              <a:t>NLQ Prompt 03</a:t>
            </a:r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236" name="그림 235">
            <a:extLst>
              <a:ext uri="{FF2B5EF4-FFF2-40B4-BE49-F238E27FC236}">
                <a16:creationId xmlns:a16="http://schemas.microsoft.com/office/drawing/2014/main" id="{5FE4E015-0733-701C-355A-9D38AC801D03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00D4C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07943" y="3134316"/>
            <a:ext cx="209614" cy="209614"/>
          </a:xfrm>
          <a:prstGeom prst="rect">
            <a:avLst/>
          </a:prstGeom>
        </p:spPr>
      </p:pic>
      <p:sp>
        <p:nvSpPr>
          <p:cNvPr id="237" name="TextBox 236">
            <a:extLst>
              <a:ext uri="{FF2B5EF4-FFF2-40B4-BE49-F238E27FC236}">
                <a16:creationId xmlns:a16="http://schemas.microsoft.com/office/drawing/2014/main" id="{BC0B8975-E82E-97BE-4F7E-D3D0948FE6AB}"/>
              </a:ext>
            </a:extLst>
          </p:cNvPr>
          <p:cNvSpPr txBox="1"/>
          <p:nvPr/>
        </p:nvSpPr>
        <p:spPr>
          <a:xfrm>
            <a:off x="448522" y="3163319"/>
            <a:ext cx="131451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SUIT" pitchFamily="2" charset="-127"/>
                <a:ea typeface="SUIT" pitchFamily="2" charset="-127"/>
              </a:rPr>
              <a:t>Sales_Raw_2026.xls  Upload</a:t>
            </a:r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4698F6DB-5AC9-3FA8-F015-20BDB67C0E9F}"/>
              </a:ext>
            </a:extLst>
          </p:cNvPr>
          <p:cNvSpPr txBox="1"/>
          <p:nvPr/>
        </p:nvSpPr>
        <p:spPr>
          <a:xfrm>
            <a:off x="224689" y="3497206"/>
            <a:ext cx="1120323" cy="194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en-US" altLang="ko-KR" sz="6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BYOD File Drag &amp; Drop</a:t>
            </a:r>
            <a:endParaRPr lang="en-US" altLang="ko-KR" sz="4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ED8023A-3321-581B-B849-FEAE8ED0CCEB}"/>
              </a:ext>
            </a:extLst>
          </p:cNvPr>
          <p:cNvSpPr txBox="1"/>
          <p:nvPr/>
        </p:nvSpPr>
        <p:spPr>
          <a:xfrm>
            <a:off x="1247676" y="3507955"/>
            <a:ext cx="824125" cy="194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25"/>
              </a:spcAft>
              <a:buNone/>
            </a:pPr>
            <a:r>
              <a:rPr lang="en-US" altLang="ko-KR" sz="600" b="1" i="0" dirty="0">
                <a:solidFill>
                  <a:srgbClr val="64748B"/>
                </a:solidFill>
                <a:effectLst/>
                <a:latin typeface="SUIT SemiBold" pitchFamily="50" charset="-127"/>
                <a:ea typeface="SUIT SemiBold" pitchFamily="50" charset="-127"/>
              </a:rPr>
              <a:t>100% Uploaded</a:t>
            </a:r>
            <a:endParaRPr lang="en-US" altLang="ko-KR" sz="400" b="1" i="0" dirty="0">
              <a:solidFill>
                <a:srgbClr val="0F172A"/>
              </a:solidFill>
              <a:effectLst/>
              <a:latin typeface="SUIT SemiBold" pitchFamily="50" charset="-127"/>
              <a:ea typeface="SUIT SemiBold" pitchFamily="50" charset="-127"/>
            </a:endParaRPr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04F25299-14D0-506B-6108-789D1BFDACB1}"/>
              </a:ext>
            </a:extLst>
          </p:cNvPr>
          <p:cNvSpPr/>
          <p:nvPr/>
        </p:nvSpPr>
        <p:spPr>
          <a:xfrm>
            <a:off x="316401" y="3405049"/>
            <a:ext cx="1619079" cy="56891"/>
          </a:xfrm>
          <a:prstGeom prst="roundRect">
            <a:avLst/>
          </a:prstGeom>
          <a:solidFill>
            <a:srgbClr val="00D4C5"/>
          </a:solidFill>
          <a:ln>
            <a:solidFill>
              <a:srgbClr val="00D4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C33D7A7-5A69-8EC7-34B2-1EE7B0F17F73}"/>
              </a:ext>
            </a:extLst>
          </p:cNvPr>
          <p:cNvCxnSpPr>
            <a:cxnSpLocks/>
          </p:cNvCxnSpPr>
          <p:nvPr/>
        </p:nvCxnSpPr>
        <p:spPr>
          <a:xfrm flipV="1">
            <a:off x="3539768" y="4448707"/>
            <a:ext cx="0" cy="361418"/>
          </a:xfrm>
          <a:prstGeom prst="line">
            <a:avLst/>
          </a:prstGeom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hape 4">
            <a:extLst>
              <a:ext uri="{FF2B5EF4-FFF2-40B4-BE49-F238E27FC236}">
                <a16:creationId xmlns:a16="http://schemas.microsoft.com/office/drawing/2014/main" id="{A65BEC08-17F2-2197-A70F-54D1070B9EA6}"/>
              </a:ext>
            </a:extLst>
          </p:cNvPr>
          <p:cNvSpPr/>
          <p:nvPr/>
        </p:nvSpPr>
        <p:spPr>
          <a:xfrm rot="10800000">
            <a:off x="198471" y="2431995"/>
            <a:ext cx="1892036" cy="604121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chemeClr val="bg1">
                  <a:lumMod val="95000"/>
                </a:schemeClr>
              </a:gs>
              <a:gs pos="2014">
                <a:schemeClr val="bg1">
                  <a:lumMod val="95000"/>
                </a:schemeClr>
              </a:gs>
              <a:gs pos="2015">
                <a:schemeClr val="bg1"/>
              </a:gs>
              <a:gs pos="100000">
                <a:schemeClr val="bg1"/>
              </a:gs>
            </a:gsLst>
            <a:lin ang="10800000" scaled="0"/>
          </a:gra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17C431-26DB-3A3B-BD77-872624BBDCC5}"/>
              </a:ext>
            </a:extLst>
          </p:cNvPr>
          <p:cNvSpPr txBox="1"/>
          <p:nvPr/>
        </p:nvSpPr>
        <p:spPr>
          <a:xfrm>
            <a:off x="284697" y="2696928"/>
            <a:ext cx="17761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“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감소 제품군 전월 및 당월 실적 다운로드해줘</a:t>
            </a:r>
            <a:r>
              <a:rPr lang="en-US" altLang="ko-KR" sz="800" i="0" dirty="0">
                <a:solidFill>
                  <a:srgbClr val="0F172A"/>
                </a:solidFill>
                <a:effectLst/>
                <a:latin typeface="SUIT Light" pitchFamily="50" charset="-127"/>
                <a:ea typeface="SUIT Light" pitchFamily="50" charset="-127"/>
              </a:rPr>
              <a:t>”</a:t>
            </a:r>
          </a:p>
        </p:txBody>
      </p:sp>
      <p:pic>
        <p:nvPicPr>
          <p:cNvPr id="6" name="그래픽 5" descr="말풍선 단색으로 채워진">
            <a:extLst>
              <a:ext uri="{FF2B5EF4-FFF2-40B4-BE49-F238E27FC236}">
                <a16:creationId xmlns:a16="http://schemas.microsoft.com/office/drawing/2014/main" id="{C36392BF-2DB2-D629-6034-F404E76CB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5017" y="2521898"/>
            <a:ext cx="189394" cy="189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A8912E-552E-2963-9E6D-F36057AAB00D}"/>
              </a:ext>
            </a:extLst>
          </p:cNvPr>
          <p:cNvSpPr txBox="1"/>
          <p:nvPr/>
        </p:nvSpPr>
        <p:spPr>
          <a:xfrm>
            <a:off x="492148" y="2520636"/>
            <a:ext cx="131451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>
                <a:latin typeface="SUIT" pitchFamily="2" charset="-127"/>
                <a:ea typeface="SUIT" pitchFamily="2" charset="-127"/>
              </a:rPr>
              <a:t>자연어 질의 </a:t>
            </a:r>
            <a:r>
              <a:rPr lang="en-US" altLang="ko-KR" sz="600" dirty="0">
                <a:latin typeface="SUIT" pitchFamily="2" charset="-127"/>
                <a:ea typeface="SUIT" pitchFamily="2" charset="-127"/>
              </a:rPr>
              <a:t>NLQ Prompt 02</a:t>
            </a:r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3785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558AE-E461-F339-83B2-C4F77296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A3BD36E9-48D0-673C-7284-EF8C746891FA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B5A6E3C0-42ED-258D-BA5F-3BB5491C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 err="1">
                <a:latin typeface="SUIT ExtraBold" pitchFamily="2" charset="-127"/>
                <a:ea typeface="SUIT ExtraBold" pitchFamily="2" charset="-127"/>
              </a:rPr>
              <a:t>aisight</a:t>
            </a:r>
            <a:r>
              <a:rPr lang="ko-KR" altLang="ko-KR" b="0" dirty="0">
                <a:latin typeface="SUIT ExtraBold" pitchFamily="2" charset="-127"/>
                <a:ea typeface="SUIT ExtraBold" pitchFamily="2" charset="-127"/>
              </a:rPr>
              <a:t>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Work </a:t>
            </a:r>
            <a:r>
              <a:rPr lang="ko-KR" altLang="ko-KR" b="0" dirty="0" err="1">
                <a:latin typeface="SUIT ExtraBold" pitchFamily="2" charset="-127"/>
                <a:ea typeface="SUIT ExtraBold" pitchFamily="2" charset="-127"/>
              </a:rPr>
              <a:t>Space</a:t>
            </a:r>
            <a:r>
              <a:rPr lang="ko-KR" altLang="ko-KR" b="0" dirty="0">
                <a:latin typeface="SUIT ExtraBold" pitchFamily="2" charset="-127"/>
                <a:ea typeface="SUIT ExtraBold" pitchFamily="2" charset="-127"/>
              </a:rPr>
              <a:t>: 인텔리전스 자산화 및 전사 협업 포털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8ED774E-068E-0445-ACD9-754016A15E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56C4FB53-0838-68A2-88BB-E130B2F4E99B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aisight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Agent와의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분석 결과는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aisight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Work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Space를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통해 즉각적인 대시보드 및 리포트로 </a:t>
            </a:r>
            <a:r>
              <a:rPr lang="ko-KR" altLang="ko-KR" sz="1100" b="1" i="0" dirty="0" err="1">
                <a:solidFill>
                  <a:srgbClr val="00A896"/>
                </a:solidFill>
                <a:effectLst/>
                <a:latin typeface="+mn-ea"/>
                <a:ea typeface="+mn-ea"/>
              </a:rPr>
              <a:t>자산화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됩니다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. 생성된 지식은 중앙 워크스페이스에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안전하게 보존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되며, URL 공유 및 실시간 협업, 외부 문서 추출 및 정기 구독을 통해 전사적으로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확산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됩니다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E200D29-A538-126E-831C-5C1D25B39E38}"/>
              </a:ext>
            </a:extLst>
          </p:cNvPr>
          <p:cNvSpPr/>
          <p:nvPr/>
        </p:nvSpPr>
        <p:spPr>
          <a:xfrm>
            <a:off x="6195345" y="1380388"/>
            <a:ext cx="2697388" cy="311516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99E49E7B-D315-2BC9-EB3A-60DFEC85DC03}"/>
              </a:ext>
            </a:extLst>
          </p:cNvPr>
          <p:cNvSpPr/>
          <p:nvPr/>
        </p:nvSpPr>
        <p:spPr>
          <a:xfrm>
            <a:off x="3240928" y="1380388"/>
            <a:ext cx="2697388" cy="311516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rgbClr val="13CEC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CE4C2B8A-EA85-C648-A450-8EDA1B32F291}"/>
              </a:ext>
            </a:extLst>
          </p:cNvPr>
          <p:cNvSpPr/>
          <p:nvPr/>
        </p:nvSpPr>
        <p:spPr>
          <a:xfrm>
            <a:off x="286512" y="1380388"/>
            <a:ext cx="2697388" cy="311516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61EE0434-47FA-448D-DD71-7CFA2685676A}"/>
              </a:ext>
            </a:extLst>
          </p:cNvPr>
          <p:cNvSpPr/>
          <p:nvPr/>
        </p:nvSpPr>
        <p:spPr>
          <a:xfrm>
            <a:off x="454309" y="1519003"/>
            <a:ext cx="285883" cy="269666"/>
          </a:xfrm>
          <a:prstGeom prst="roundRect">
            <a:avLst>
              <a:gd name="adj" fmla="val 1430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2DD5D5-F8B3-7FB0-5620-F273F2A7ECE4}"/>
              </a:ext>
            </a:extLst>
          </p:cNvPr>
          <p:cNvGrpSpPr/>
          <p:nvPr/>
        </p:nvGrpSpPr>
        <p:grpSpPr>
          <a:xfrm>
            <a:off x="525577" y="1579029"/>
            <a:ext cx="143346" cy="123630"/>
            <a:chOff x="3637104" y="3918265"/>
            <a:chExt cx="563265" cy="452859"/>
          </a:xfrm>
          <a:solidFill>
            <a:schemeClr val="bg1"/>
          </a:solidFill>
        </p:grpSpPr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087B259D-1C8F-9856-BD52-DFA46676286B}"/>
                </a:ext>
              </a:extLst>
            </p:cNvPr>
            <p:cNvSpPr/>
            <p:nvPr/>
          </p:nvSpPr>
          <p:spPr>
            <a:xfrm>
              <a:off x="3680798" y="3975371"/>
              <a:ext cx="250784" cy="250784"/>
            </a:xfrm>
            <a:custGeom>
              <a:avLst/>
              <a:gdLst>
                <a:gd name="csX0" fmla="*/ 125392 w 250784"/>
                <a:gd name="csY0" fmla="*/ 0 h 250784"/>
                <a:gd name="csX1" fmla="*/ 163010 w 250784"/>
                <a:gd name="csY1" fmla="*/ 87775 h 250784"/>
                <a:gd name="csX2" fmla="*/ 250785 w 250784"/>
                <a:gd name="csY2" fmla="*/ 125392 h 250784"/>
                <a:gd name="csX3" fmla="*/ 163010 w 250784"/>
                <a:gd name="csY3" fmla="*/ 163010 h 250784"/>
                <a:gd name="csX4" fmla="*/ 125392 w 250784"/>
                <a:gd name="csY4" fmla="*/ 250785 h 250784"/>
                <a:gd name="csX5" fmla="*/ 87775 w 250784"/>
                <a:gd name="csY5" fmla="*/ 163010 h 250784"/>
                <a:gd name="csX6" fmla="*/ 0 w 250784"/>
                <a:gd name="csY6" fmla="*/ 125392 h 250784"/>
                <a:gd name="csX7" fmla="*/ 87775 w 250784"/>
                <a:gd name="csY7" fmla="*/ 87775 h 2507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0784" h="250784">
                  <a:moveTo>
                    <a:pt x="125392" y="0"/>
                  </a:moveTo>
                  <a:lnTo>
                    <a:pt x="163010" y="87775"/>
                  </a:lnTo>
                  <a:lnTo>
                    <a:pt x="250785" y="125392"/>
                  </a:lnTo>
                  <a:lnTo>
                    <a:pt x="163010" y="163010"/>
                  </a:lnTo>
                  <a:lnTo>
                    <a:pt x="125392" y="250785"/>
                  </a:lnTo>
                  <a:lnTo>
                    <a:pt x="87775" y="163010"/>
                  </a:lnTo>
                  <a:lnTo>
                    <a:pt x="0" y="125392"/>
                  </a:lnTo>
                  <a:lnTo>
                    <a:pt x="87775" y="87775"/>
                  </a:lnTo>
                  <a:close/>
                </a:path>
              </a:pathLst>
            </a:custGeom>
            <a:grpFill/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EEB68662-1A0F-535D-2F44-C6EC6882E54A}"/>
                </a:ext>
              </a:extLst>
            </p:cNvPr>
            <p:cNvSpPr/>
            <p:nvPr/>
          </p:nvSpPr>
          <p:spPr>
            <a:xfrm>
              <a:off x="3931582" y="3918265"/>
              <a:ext cx="130408" cy="130407"/>
            </a:xfrm>
            <a:custGeom>
              <a:avLst/>
              <a:gdLst>
                <a:gd name="csX0" fmla="*/ 65204 w 130408"/>
                <a:gd name="csY0" fmla="*/ 0 h 130407"/>
                <a:gd name="csX1" fmla="*/ 85267 w 130408"/>
                <a:gd name="csY1" fmla="*/ 45141 h 130407"/>
                <a:gd name="csX2" fmla="*/ 130408 w 130408"/>
                <a:gd name="csY2" fmla="*/ 65204 h 130407"/>
                <a:gd name="csX3" fmla="*/ 85267 w 130408"/>
                <a:gd name="csY3" fmla="*/ 85267 h 130407"/>
                <a:gd name="csX4" fmla="*/ 65204 w 130408"/>
                <a:gd name="csY4" fmla="*/ 130408 h 130407"/>
                <a:gd name="csX5" fmla="*/ 45141 w 130408"/>
                <a:gd name="csY5" fmla="*/ 85267 h 130407"/>
                <a:gd name="csX6" fmla="*/ 0 w 130408"/>
                <a:gd name="csY6" fmla="*/ 65204 h 130407"/>
                <a:gd name="csX7" fmla="*/ 45141 w 130408"/>
                <a:gd name="csY7" fmla="*/ 45141 h 130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0408" h="130407">
                  <a:moveTo>
                    <a:pt x="65204" y="0"/>
                  </a:moveTo>
                  <a:lnTo>
                    <a:pt x="85267" y="45141"/>
                  </a:lnTo>
                  <a:lnTo>
                    <a:pt x="130408" y="65204"/>
                  </a:lnTo>
                  <a:lnTo>
                    <a:pt x="85267" y="85267"/>
                  </a:lnTo>
                  <a:lnTo>
                    <a:pt x="65204" y="130408"/>
                  </a:lnTo>
                  <a:lnTo>
                    <a:pt x="45141" y="85267"/>
                  </a:lnTo>
                  <a:lnTo>
                    <a:pt x="0" y="65204"/>
                  </a:lnTo>
                  <a:lnTo>
                    <a:pt x="45141" y="45141"/>
                  </a:lnTo>
                  <a:close/>
                </a:path>
              </a:pathLst>
            </a:custGeom>
            <a:grpFill/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AD05B00-4252-DA5A-7BD8-68EA8ED78B2A}"/>
                </a:ext>
              </a:extLst>
            </p:cNvPr>
            <p:cNvSpPr/>
            <p:nvPr/>
          </p:nvSpPr>
          <p:spPr>
            <a:xfrm rot="18900000">
              <a:off x="3637104" y="4257919"/>
              <a:ext cx="482912" cy="11320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863C77D-A035-9B30-9C3D-C7AE5E020C28}"/>
                </a:ext>
              </a:extLst>
            </p:cNvPr>
            <p:cNvSpPr/>
            <p:nvPr/>
          </p:nvSpPr>
          <p:spPr>
            <a:xfrm rot="18900000">
              <a:off x="4058720" y="4019098"/>
              <a:ext cx="119061" cy="11320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F8456E77-025B-3A13-E5F5-34499DF07E05}"/>
                </a:ext>
              </a:extLst>
            </p:cNvPr>
            <p:cNvSpPr/>
            <p:nvPr/>
          </p:nvSpPr>
          <p:spPr>
            <a:xfrm>
              <a:off x="4069961" y="4233136"/>
              <a:ext cx="130408" cy="130407"/>
            </a:xfrm>
            <a:custGeom>
              <a:avLst/>
              <a:gdLst>
                <a:gd name="csX0" fmla="*/ 65204 w 130408"/>
                <a:gd name="csY0" fmla="*/ 0 h 130407"/>
                <a:gd name="csX1" fmla="*/ 85267 w 130408"/>
                <a:gd name="csY1" fmla="*/ 45141 h 130407"/>
                <a:gd name="csX2" fmla="*/ 130408 w 130408"/>
                <a:gd name="csY2" fmla="*/ 65204 h 130407"/>
                <a:gd name="csX3" fmla="*/ 85267 w 130408"/>
                <a:gd name="csY3" fmla="*/ 85267 h 130407"/>
                <a:gd name="csX4" fmla="*/ 65204 w 130408"/>
                <a:gd name="csY4" fmla="*/ 130408 h 130407"/>
                <a:gd name="csX5" fmla="*/ 45141 w 130408"/>
                <a:gd name="csY5" fmla="*/ 85267 h 130407"/>
                <a:gd name="csX6" fmla="*/ 0 w 130408"/>
                <a:gd name="csY6" fmla="*/ 65204 h 130407"/>
                <a:gd name="csX7" fmla="*/ 45141 w 130408"/>
                <a:gd name="csY7" fmla="*/ 45141 h 130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0408" h="130407">
                  <a:moveTo>
                    <a:pt x="65204" y="0"/>
                  </a:moveTo>
                  <a:lnTo>
                    <a:pt x="85267" y="45141"/>
                  </a:lnTo>
                  <a:lnTo>
                    <a:pt x="130408" y="65204"/>
                  </a:lnTo>
                  <a:lnTo>
                    <a:pt x="85267" y="85267"/>
                  </a:lnTo>
                  <a:lnTo>
                    <a:pt x="65204" y="130408"/>
                  </a:lnTo>
                  <a:lnTo>
                    <a:pt x="45141" y="85267"/>
                  </a:lnTo>
                  <a:lnTo>
                    <a:pt x="0" y="65204"/>
                  </a:lnTo>
                  <a:lnTo>
                    <a:pt x="45141" y="45141"/>
                  </a:lnTo>
                  <a:close/>
                </a:path>
              </a:pathLst>
            </a:custGeom>
            <a:grpFill/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35E771A-5063-D3FA-7DE0-A67CC40142E8}"/>
              </a:ext>
            </a:extLst>
          </p:cNvPr>
          <p:cNvSpPr txBox="1"/>
          <p:nvPr/>
        </p:nvSpPr>
        <p:spPr>
          <a:xfrm>
            <a:off x="740192" y="1593557"/>
            <a:ext cx="20671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AI 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기반 분석 활용 및 자산 생성</a:t>
            </a:r>
            <a:endParaRPr lang="ko-KR" altLang="ko-KR" sz="3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8337538-5B66-86AA-CD65-480D9E88FF1F}"/>
              </a:ext>
            </a:extLst>
          </p:cNvPr>
          <p:cNvSpPr txBox="1"/>
          <p:nvPr/>
        </p:nvSpPr>
        <p:spPr>
          <a:xfrm>
            <a:off x="724952" y="1456464"/>
            <a:ext cx="20019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ko-KR" sz="700" i="0" cap="all" dirty="0">
                <a:solidFill>
                  <a:srgbClr val="64748B"/>
                </a:solidFill>
                <a:effectLst/>
                <a:latin typeface="Urbanist"/>
              </a:rPr>
              <a:t> 01. </a:t>
            </a:r>
            <a:r>
              <a:rPr lang="ko-KR" altLang="ko-KR" sz="700" i="0" cap="all" dirty="0" err="1">
                <a:solidFill>
                  <a:srgbClr val="64748B"/>
                </a:solidFill>
                <a:effectLst/>
                <a:latin typeface="Urbanist"/>
              </a:rPr>
              <a:t>Intelligent</a:t>
            </a:r>
            <a:r>
              <a:rPr lang="ko-KR" altLang="ko-KR" sz="700" i="0" cap="all" dirty="0">
                <a:solidFill>
                  <a:srgbClr val="64748B"/>
                </a:solidFill>
                <a:effectLst/>
                <a:latin typeface="Urbanist"/>
              </a:rPr>
              <a:t> </a:t>
            </a:r>
            <a:r>
              <a:rPr lang="ko-KR" altLang="ko-KR" sz="700" i="0" cap="all" dirty="0" err="1">
                <a:solidFill>
                  <a:srgbClr val="64748B"/>
                </a:solidFill>
                <a:effectLst/>
                <a:latin typeface="Urbanist"/>
              </a:rPr>
              <a:t>Creation</a:t>
            </a:r>
            <a:endParaRPr lang="ko-KR" altLang="ko-KR" sz="700" i="0" cap="all" dirty="0">
              <a:solidFill>
                <a:srgbClr val="64748B"/>
              </a:solidFill>
              <a:effectLst/>
              <a:latin typeface="Urbanist"/>
            </a:endParaRPr>
          </a:p>
        </p:txBody>
      </p:sp>
      <p:sp>
        <p:nvSpPr>
          <p:cNvPr id="199" name="Shape 4">
            <a:extLst>
              <a:ext uri="{FF2B5EF4-FFF2-40B4-BE49-F238E27FC236}">
                <a16:creationId xmlns:a16="http://schemas.microsoft.com/office/drawing/2014/main" id="{A5085270-4FF3-901A-5AEE-02EB7A49FA5C}"/>
              </a:ext>
            </a:extLst>
          </p:cNvPr>
          <p:cNvSpPr/>
          <p:nvPr/>
        </p:nvSpPr>
        <p:spPr>
          <a:xfrm>
            <a:off x="3407100" y="1519003"/>
            <a:ext cx="285883" cy="269666"/>
          </a:xfrm>
          <a:prstGeom prst="roundRect">
            <a:avLst>
              <a:gd name="adj" fmla="val 14302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D9E79A9B-F834-7B08-903E-020EB452CA0B}"/>
              </a:ext>
            </a:extLst>
          </p:cNvPr>
          <p:cNvSpPr txBox="1"/>
          <p:nvPr/>
        </p:nvSpPr>
        <p:spPr>
          <a:xfrm>
            <a:off x="3692983" y="1593557"/>
            <a:ext cx="1658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중앙 저장 및 권한 제어</a:t>
            </a:r>
            <a:endParaRPr lang="ko-KR" altLang="ko-KR" sz="3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8E9EA69-DF49-7761-F454-C9CF882EF73A}"/>
              </a:ext>
            </a:extLst>
          </p:cNvPr>
          <p:cNvSpPr txBox="1"/>
          <p:nvPr/>
        </p:nvSpPr>
        <p:spPr>
          <a:xfrm>
            <a:off x="3677743" y="1456464"/>
            <a:ext cx="20019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700" i="0" cap="all" dirty="0">
                <a:solidFill>
                  <a:srgbClr val="64748B"/>
                </a:solidFill>
                <a:effectLst/>
                <a:latin typeface="Urbanist"/>
              </a:rPr>
              <a:t>02. Storage &amp; Control</a:t>
            </a:r>
            <a:endParaRPr lang="ko-KR" altLang="ko-KR" sz="700" i="0" cap="all" dirty="0">
              <a:solidFill>
                <a:srgbClr val="64748B"/>
              </a:solidFill>
              <a:effectLst/>
              <a:latin typeface="Urbanist"/>
            </a:endParaRPr>
          </a:p>
        </p:txBody>
      </p:sp>
      <p:sp>
        <p:nvSpPr>
          <p:cNvPr id="216" name="Shape 4">
            <a:extLst>
              <a:ext uri="{FF2B5EF4-FFF2-40B4-BE49-F238E27FC236}">
                <a16:creationId xmlns:a16="http://schemas.microsoft.com/office/drawing/2014/main" id="{C8845DA5-5B37-ECC2-C6E0-7932387BCF5F}"/>
              </a:ext>
            </a:extLst>
          </p:cNvPr>
          <p:cNvSpPr/>
          <p:nvPr/>
        </p:nvSpPr>
        <p:spPr>
          <a:xfrm>
            <a:off x="6367784" y="1525815"/>
            <a:ext cx="285883" cy="269666"/>
          </a:xfrm>
          <a:prstGeom prst="roundRect">
            <a:avLst>
              <a:gd name="adj" fmla="val 14302"/>
            </a:avLst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0770B81-A48E-5876-2D4D-282B9F920BB3}"/>
              </a:ext>
            </a:extLst>
          </p:cNvPr>
          <p:cNvSpPr txBox="1"/>
          <p:nvPr/>
        </p:nvSpPr>
        <p:spPr>
          <a:xfrm>
            <a:off x="6653667" y="1600369"/>
            <a:ext cx="1658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전사 확산 및 배포 액션</a:t>
            </a:r>
            <a:endParaRPr lang="ko-KR" altLang="ko-KR" sz="3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0902B4C-43BF-C752-EA2A-9622005F98C2}"/>
              </a:ext>
            </a:extLst>
          </p:cNvPr>
          <p:cNvSpPr txBox="1"/>
          <p:nvPr/>
        </p:nvSpPr>
        <p:spPr>
          <a:xfrm>
            <a:off x="6638427" y="1463276"/>
            <a:ext cx="20019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700" i="0" cap="all" dirty="0">
                <a:solidFill>
                  <a:srgbClr val="64748B"/>
                </a:solidFill>
                <a:effectLst/>
                <a:latin typeface="Urbanist"/>
              </a:rPr>
              <a:t>03. Distribution &amp; Action</a:t>
            </a:r>
            <a:endParaRPr lang="ko-KR" altLang="ko-KR" sz="700" i="0" cap="all" dirty="0">
              <a:solidFill>
                <a:srgbClr val="64748B"/>
              </a:solidFill>
              <a:effectLst/>
              <a:latin typeface="Urbanist"/>
            </a:endParaRPr>
          </a:p>
        </p:txBody>
      </p: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DA020300-9253-BFD7-159D-4005A334A2BD}"/>
              </a:ext>
            </a:extLst>
          </p:cNvPr>
          <p:cNvGrpSpPr/>
          <p:nvPr/>
        </p:nvGrpSpPr>
        <p:grpSpPr>
          <a:xfrm>
            <a:off x="3468854" y="1593557"/>
            <a:ext cx="160482" cy="121945"/>
            <a:chOff x="5185735" y="-401107"/>
            <a:chExt cx="875937" cy="773695"/>
          </a:xfrm>
          <a:solidFill>
            <a:schemeClr val="bg1"/>
          </a:solidFill>
        </p:grpSpPr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FEACD0C5-BA33-36FF-6486-E2BA1202E04C}"/>
                </a:ext>
              </a:extLst>
            </p:cNvPr>
            <p:cNvSpPr/>
            <p:nvPr/>
          </p:nvSpPr>
          <p:spPr>
            <a:xfrm>
              <a:off x="5186094" y="-89596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331D1DC8-D60E-1616-7C6C-BED7FD4C25B8}"/>
                </a:ext>
              </a:extLst>
            </p:cNvPr>
            <p:cNvSpPr/>
            <p:nvPr/>
          </p:nvSpPr>
          <p:spPr>
            <a:xfrm>
              <a:off x="5186096" y="-401107"/>
              <a:ext cx="875576" cy="371475"/>
            </a:xfrm>
            <a:custGeom>
              <a:avLst/>
              <a:gdLst>
                <a:gd name="csX0" fmla="*/ 437788 w 875576"/>
                <a:gd name="csY0" fmla="*/ 0 h 371475"/>
                <a:gd name="csX1" fmla="*/ 0 w 875576"/>
                <a:gd name="csY1" fmla="*/ 185738 h 371475"/>
                <a:gd name="csX2" fmla="*/ 437788 w 875576"/>
                <a:gd name="csY2" fmla="*/ 371475 h 371475"/>
                <a:gd name="csX3" fmla="*/ 875576 w 875576"/>
                <a:gd name="csY3" fmla="*/ 185738 h 371475"/>
                <a:gd name="csX4" fmla="*/ 437788 w 875576"/>
                <a:gd name="csY4" fmla="*/ 0 h 37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5576" h="371475">
                  <a:moveTo>
                    <a:pt x="437788" y="0"/>
                  </a:moveTo>
                  <a:lnTo>
                    <a:pt x="0" y="185738"/>
                  </a:lnTo>
                  <a:lnTo>
                    <a:pt x="437788" y="371475"/>
                  </a:lnTo>
                  <a:lnTo>
                    <a:pt x="875576" y="185738"/>
                  </a:lnTo>
                  <a:lnTo>
                    <a:pt x="43778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D05D8881-9C88-44C7-2329-CF930632092B}"/>
                </a:ext>
              </a:extLst>
            </p:cNvPr>
            <p:cNvSpPr/>
            <p:nvPr/>
          </p:nvSpPr>
          <p:spPr>
            <a:xfrm>
              <a:off x="5185735" y="107532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241" name="그래픽 240">
            <a:extLst>
              <a:ext uri="{FF2B5EF4-FFF2-40B4-BE49-F238E27FC236}">
                <a16:creationId xmlns:a16="http://schemas.microsoft.com/office/drawing/2014/main" id="{23FA493A-73FC-71CC-CEE2-AB67092207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0644" y="1575694"/>
            <a:ext cx="188862" cy="188862"/>
          </a:xfrm>
          <a:prstGeom prst="rect">
            <a:avLst/>
          </a:prstGeom>
        </p:spPr>
      </p:pic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B828951A-508B-9F33-D520-D2C914453026}"/>
              </a:ext>
            </a:extLst>
          </p:cNvPr>
          <p:cNvCxnSpPr>
            <a:cxnSpLocks/>
          </p:cNvCxnSpPr>
          <p:nvPr/>
        </p:nvCxnSpPr>
        <p:spPr>
          <a:xfrm>
            <a:off x="286512" y="1893455"/>
            <a:ext cx="26973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148C9840-4FD2-5A83-EFF9-DF4073227CA2}"/>
              </a:ext>
            </a:extLst>
          </p:cNvPr>
          <p:cNvCxnSpPr>
            <a:cxnSpLocks/>
          </p:cNvCxnSpPr>
          <p:nvPr/>
        </p:nvCxnSpPr>
        <p:spPr>
          <a:xfrm>
            <a:off x="3240402" y="1887359"/>
            <a:ext cx="2697388" cy="0"/>
          </a:xfrm>
          <a:prstGeom prst="line">
            <a:avLst/>
          </a:prstGeom>
          <a:ln w="9525">
            <a:solidFill>
              <a:srgbClr val="13C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16054FAF-54B3-DA29-3A69-B9473CB1E425}"/>
              </a:ext>
            </a:extLst>
          </p:cNvPr>
          <p:cNvCxnSpPr>
            <a:cxnSpLocks/>
          </p:cNvCxnSpPr>
          <p:nvPr/>
        </p:nvCxnSpPr>
        <p:spPr>
          <a:xfrm>
            <a:off x="6201787" y="1887359"/>
            <a:ext cx="26973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hape 4">
            <a:extLst>
              <a:ext uri="{FF2B5EF4-FFF2-40B4-BE49-F238E27FC236}">
                <a16:creationId xmlns:a16="http://schemas.microsoft.com/office/drawing/2014/main" id="{8B7A1CAB-8A92-A36D-D81B-DF8D54DE955F}"/>
              </a:ext>
            </a:extLst>
          </p:cNvPr>
          <p:cNvSpPr/>
          <p:nvPr/>
        </p:nvSpPr>
        <p:spPr>
          <a:xfrm>
            <a:off x="445456" y="2039949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1" name="Shape 4">
            <a:extLst>
              <a:ext uri="{FF2B5EF4-FFF2-40B4-BE49-F238E27FC236}">
                <a16:creationId xmlns:a16="http://schemas.microsoft.com/office/drawing/2014/main" id="{1334F401-97A7-48D9-D178-180A51AB5D0D}"/>
              </a:ext>
            </a:extLst>
          </p:cNvPr>
          <p:cNvSpPr/>
          <p:nvPr/>
        </p:nvSpPr>
        <p:spPr>
          <a:xfrm>
            <a:off x="445456" y="2678004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2" name="Shape 4">
            <a:extLst>
              <a:ext uri="{FF2B5EF4-FFF2-40B4-BE49-F238E27FC236}">
                <a16:creationId xmlns:a16="http://schemas.microsoft.com/office/drawing/2014/main" id="{48D9CE56-04B8-E96A-5CDB-99E56B658AF3}"/>
              </a:ext>
            </a:extLst>
          </p:cNvPr>
          <p:cNvSpPr/>
          <p:nvPr/>
        </p:nvSpPr>
        <p:spPr>
          <a:xfrm>
            <a:off x="445456" y="3319832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72" name="그래픽 271">
            <a:extLst>
              <a:ext uri="{FF2B5EF4-FFF2-40B4-BE49-F238E27FC236}">
                <a16:creationId xmlns:a16="http://schemas.microsoft.com/office/drawing/2014/main" id="{BA8D83E4-EBEB-72A5-BD4E-3E2D57612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1251" r="15922" b="10566"/>
          <a:stretch>
            <a:fillRect/>
          </a:stretch>
        </p:blipFill>
        <p:spPr>
          <a:xfrm>
            <a:off x="497699" y="2105676"/>
            <a:ext cx="210879" cy="196097"/>
          </a:xfrm>
          <a:prstGeom prst="rect">
            <a:avLst/>
          </a:prstGeom>
        </p:spPr>
      </p:pic>
      <p:pic>
        <p:nvPicPr>
          <p:cNvPr id="274" name="그래픽 273" descr="블로그 단색으로 채워진">
            <a:extLst>
              <a:ext uri="{FF2B5EF4-FFF2-40B4-BE49-F238E27FC236}">
                <a16:creationId xmlns:a16="http://schemas.microsoft.com/office/drawing/2014/main" id="{B8A0EEA5-D739-D139-CE76-497759D424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675" y="3370784"/>
            <a:ext cx="163501" cy="163501"/>
          </a:xfrm>
          <a:prstGeom prst="rect">
            <a:avLst/>
          </a:prstGeom>
        </p:spPr>
      </p:pic>
      <p:sp>
        <p:nvSpPr>
          <p:cNvPr id="282" name="TextBox 281">
            <a:extLst>
              <a:ext uri="{FF2B5EF4-FFF2-40B4-BE49-F238E27FC236}">
                <a16:creationId xmlns:a16="http://schemas.microsoft.com/office/drawing/2014/main" id="{C5F2A79D-9F62-1796-71EE-7C7E195FFD9C}"/>
              </a:ext>
            </a:extLst>
          </p:cNvPr>
          <p:cNvSpPr txBox="1"/>
          <p:nvPr/>
        </p:nvSpPr>
        <p:spPr>
          <a:xfrm>
            <a:off x="666592" y="2104960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Agent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분석 연동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(Handoff)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747F3E4-79F3-619B-B818-694FE6599458}"/>
              </a:ext>
            </a:extLst>
          </p:cNvPr>
          <p:cNvSpPr txBox="1"/>
          <p:nvPr/>
        </p:nvSpPr>
        <p:spPr>
          <a:xfrm>
            <a:off x="509709" y="2275089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Agent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와 대화하며 도출한 차트와 분석 결과를 클릭 한 번에 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Space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내 정규 대시보드 뷰로 즉시 변환 및 저장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D750604-421A-2CC8-2DC5-C7DE0AA65C26}"/>
              </a:ext>
            </a:extLst>
          </p:cNvPr>
          <p:cNvSpPr txBox="1"/>
          <p:nvPr/>
        </p:nvSpPr>
        <p:spPr>
          <a:xfrm>
            <a:off x="666592" y="2746150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대시보드 자동 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생성기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566014E4-7AE0-3444-DB28-0A1A18D906DA}"/>
              </a:ext>
            </a:extLst>
          </p:cNvPr>
          <p:cNvSpPr txBox="1"/>
          <p:nvPr/>
        </p:nvSpPr>
        <p:spPr>
          <a:xfrm>
            <a:off x="530948" y="2938995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데이터 소스에 연결하면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AI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가 데이터 구조를 인지해 최적의 시각화 레이아웃을 스스로 구성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이후 대화형 편집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40CDA60A-F622-D36A-E1AA-B4B0856BBEB2}"/>
              </a:ext>
            </a:extLst>
          </p:cNvPr>
          <p:cNvSpPr txBox="1"/>
          <p:nvPr/>
        </p:nvSpPr>
        <p:spPr>
          <a:xfrm>
            <a:off x="666592" y="3386035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지능형 문서 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생성기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1EEA8B09-2723-5C08-7658-E04B6310BB52}"/>
              </a:ext>
            </a:extLst>
          </p:cNvPr>
          <p:cNvSpPr txBox="1"/>
          <p:nvPr/>
        </p:nvSpPr>
        <p:spPr>
          <a:xfrm>
            <a:off x="562287" y="3551084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분석된 데이터를 바탕으로 경영진 보고에 적합한 양식의 서술형 리포트 및 문서를 자동 작성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E7199ABF-EB57-8F04-2864-4CC88CCAAE55}"/>
              </a:ext>
            </a:extLst>
          </p:cNvPr>
          <p:cNvSpPr txBox="1"/>
          <p:nvPr/>
        </p:nvSpPr>
        <p:spPr>
          <a:xfrm>
            <a:off x="3383328" y="2039051"/>
            <a:ext cx="2417376" cy="2866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생성된 모든 자산은 개인 및 팀 워크스페이스에 보존되며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안전한 권한 제어 하에 관리됩니다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  <a:endParaRPr lang="en-US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93" name="Shape 4">
            <a:extLst>
              <a:ext uri="{FF2B5EF4-FFF2-40B4-BE49-F238E27FC236}">
                <a16:creationId xmlns:a16="http://schemas.microsoft.com/office/drawing/2014/main" id="{B4D426DD-8C4D-7FD9-40DB-54376A70507D}"/>
              </a:ext>
            </a:extLst>
          </p:cNvPr>
          <p:cNvSpPr/>
          <p:nvPr/>
        </p:nvSpPr>
        <p:spPr>
          <a:xfrm rot="16200000">
            <a:off x="4030997" y="1852276"/>
            <a:ext cx="1118744" cy="2290991"/>
          </a:xfrm>
          <a:prstGeom prst="roundRect">
            <a:avLst>
              <a:gd name="adj" fmla="val 2294"/>
            </a:avLst>
          </a:prstGeom>
          <a:solidFill>
            <a:srgbClr val="FAFB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1" name="Shape 4">
            <a:extLst>
              <a:ext uri="{FF2B5EF4-FFF2-40B4-BE49-F238E27FC236}">
                <a16:creationId xmlns:a16="http://schemas.microsoft.com/office/drawing/2014/main" id="{6540FB04-0F40-7814-0DA3-3DCBE1B62676}"/>
              </a:ext>
            </a:extLst>
          </p:cNvPr>
          <p:cNvSpPr/>
          <p:nvPr/>
        </p:nvSpPr>
        <p:spPr>
          <a:xfrm>
            <a:off x="3444873" y="2445533"/>
            <a:ext cx="2290991" cy="201929"/>
          </a:xfrm>
          <a:prstGeom prst="roundRect">
            <a:avLst>
              <a:gd name="adj" fmla="val 2016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36000" tIns="10800" rIns="36000" bIns="10800">
            <a:noAutofit/>
          </a:bodyPr>
          <a:lstStyle/>
          <a:p>
            <a:endParaRPr lang="ko-KR" altLang="en-US" sz="5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786D2DC6-E78D-FB51-9338-B6B481F408E4}"/>
              </a:ext>
            </a:extLst>
          </p:cNvPr>
          <p:cNvSpPr txBox="1"/>
          <p:nvPr/>
        </p:nvSpPr>
        <p:spPr>
          <a:xfrm>
            <a:off x="3644135" y="2467294"/>
            <a:ext cx="198036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  <a:latin typeface="+mn-ea"/>
              </a:rPr>
              <a:t>Team Workspace</a:t>
            </a:r>
          </a:p>
        </p:txBody>
      </p:sp>
      <p:pic>
        <p:nvPicPr>
          <p:cNvPr id="297" name="그래픽 296">
            <a:extLst>
              <a:ext uri="{FF2B5EF4-FFF2-40B4-BE49-F238E27FC236}">
                <a16:creationId xmlns:a16="http://schemas.microsoft.com/office/drawing/2014/main" id="{D3C8D9D9-6C6A-53C1-2B26-958C32DE0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1953" y="2474664"/>
            <a:ext cx="139394" cy="139394"/>
          </a:xfrm>
          <a:prstGeom prst="rect">
            <a:avLst/>
          </a:prstGeom>
        </p:spPr>
      </p:pic>
      <p:sp>
        <p:nvSpPr>
          <p:cNvPr id="301" name="Shape 4">
            <a:extLst>
              <a:ext uri="{FF2B5EF4-FFF2-40B4-BE49-F238E27FC236}">
                <a16:creationId xmlns:a16="http://schemas.microsoft.com/office/drawing/2014/main" id="{F14A00AA-8091-B59B-ADA5-28A22B4B3446}"/>
              </a:ext>
            </a:extLst>
          </p:cNvPr>
          <p:cNvSpPr/>
          <p:nvPr/>
        </p:nvSpPr>
        <p:spPr>
          <a:xfrm>
            <a:off x="3521953" y="2714916"/>
            <a:ext cx="2146952" cy="200227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13389B7A-92E2-B079-9691-07CD33CDB5FD}"/>
              </a:ext>
            </a:extLst>
          </p:cNvPr>
          <p:cNvSpPr txBox="1"/>
          <p:nvPr/>
        </p:nvSpPr>
        <p:spPr>
          <a:xfrm>
            <a:off x="3715468" y="2741660"/>
            <a:ext cx="1488618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25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년 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분기 매출 원인 분석 대시보드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05" name="Shape 4">
            <a:extLst>
              <a:ext uri="{FF2B5EF4-FFF2-40B4-BE49-F238E27FC236}">
                <a16:creationId xmlns:a16="http://schemas.microsoft.com/office/drawing/2014/main" id="{4CE51A2A-522E-6C16-C534-A4188CCE4586}"/>
              </a:ext>
            </a:extLst>
          </p:cNvPr>
          <p:cNvSpPr/>
          <p:nvPr/>
        </p:nvSpPr>
        <p:spPr>
          <a:xfrm>
            <a:off x="3521953" y="2997324"/>
            <a:ext cx="2146952" cy="200227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6" name="Shape 4">
            <a:extLst>
              <a:ext uri="{FF2B5EF4-FFF2-40B4-BE49-F238E27FC236}">
                <a16:creationId xmlns:a16="http://schemas.microsoft.com/office/drawing/2014/main" id="{7A247FAD-2F01-B32C-53DD-239F5CFE7B6A}"/>
              </a:ext>
            </a:extLst>
          </p:cNvPr>
          <p:cNvSpPr/>
          <p:nvPr/>
        </p:nvSpPr>
        <p:spPr>
          <a:xfrm>
            <a:off x="3521953" y="3279733"/>
            <a:ext cx="2146952" cy="200227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44CE771E-3543-35C8-9F61-68A6E101E68B}"/>
              </a:ext>
            </a:extLst>
          </p:cNvPr>
          <p:cNvSpPr txBox="1"/>
          <p:nvPr/>
        </p:nvSpPr>
        <p:spPr>
          <a:xfrm>
            <a:off x="3715468" y="3025656"/>
            <a:ext cx="1488618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신규 마케팅 캠페인 성과 리포트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BEB64D33-D233-9D46-8614-F4763066F589}"/>
              </a:ext>
            </a:extLst>
          </p:cNvPr>
          <p:cNvSpPr txBox="1"/>
          <p:nvPr/>
        </p:nvSpPr>
        <p:spPr>
          <a:xfrm>
            <a:off x="3715468" y="3302826"/>
            <a:ext cx="1488618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개인 테스트 대시보드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문서 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(Draft)</a:t>
            </a:r>
          </a:p>
        </p:txBody>
      </p:sp>
      <p:sp>
        <p:nvSpPr>
          <p:cNvPr id="334" name="자유형: 도형 333">
            <a:extLst>
              <a:ext uri="{FF2B5EF4-FFF2-40B4-BE49-F238E27FC236}">
                <a16:creationId xmlns:a16="http://schemas.microsoft.com/office/drawing/2014/main" id="{6805E7A9-7A4D-5E91-71A3-A1DF55490EAC}"/>
              </a:ext>
            </a:extLst>
          </p:cNvPr>
          <p:cNvSpPr/>
          <p:nvPr/>
        </p:nvSpPr>
        <p:spPr>
          <a:xfrm rot="5400000">
            <a:off x="3593126" y="2757664"/>
            <a:ext cx="104812" cy="104812"/>
          </a:xfrm>
          <a:custGeom>
            <a:avLst/>
            <a:gdLst>
              <a:gd name="csX0" fmla="*/ 9248 w 104812"/>
              <a:gd name="csY0" fmla="*/ 0 h 104812"/>
              <a:gd name="csX1" fmla="*/ 0 w 104812"/>
              <a:gd name="csY1" fmla="*/ 0 h 104812"/>
              <a:gd name="csX2" fmla="*/ 0 w 104812"/>
              <a:gd name="csY2" fmla="*/ 104813 h 104812"/>
              <a:gd name="csX3" fmla="*/ 104813 w 104812"/>
              <a:gd name="csY3" fmla="*/ 104813 h 104812"/>
              <a:gd name="csX4" fmla="*/ 104813 w 104812"/>
              <a:gd name="csY4" fmla="*/ 95565 h 104812"/>
              <a:gd name="csX5" fmla="*/ 9248 w 104812"/>
              <a:gd name="csY5" fmla="*/ 95565 h 1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4812" h="104812">
                <a:moveTo>
                  <a:pt x="9248" y="0"/>
                </a:moveTo>
                <a:lnTo>
                  <a:pt x="0" y="0"/>
                </a:lnTo>
                <a:lnTo>
                  <a:pt x="0" y="104813"/>
                </a:lnTo>
                <a:lnTo>
                  <a:pt x="104813" y="104813"/>
                </a:lnTo>
                <a:lnTo>
                  <a:pt x="104813" y="95565"/>
                </a:lnTo>
                <a:lnTo>
                  <a:pt x="9248" y="955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488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FCCFC668-9824-3625-6CBC-57981D04C1BE}"/>
              </a:ext>
            </a:extLst>
          </p:cNvPr>
          <p:cNvSpPr/>
          <p:nvPr/>
        </p:nvSpPr>
        <p:spPr>
          <a:xfrm rot="5400000">
            <a:off x="3628338" y="2757664"/>
            <a:ext cx="20516" cy="53947"/>
          </a:xfrm>
          <a:prstGeom prst="rect">
            <a:avLst/>
          </a:prstGeom>
          <a:solidFill>
            <a:srgbClr val="00BFA5"/>
          </a:solidFill>
          <a:ln w="1488" cap="flat">
            <a:solidFill>
              <a:srgbClr val="00BFA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0C86FE21-B149-B09C-AF3F-FD68EB4217DA}"/>
              </a:ext>
            </a:extLst>
          </p:cNvPr>
          <p:cNvSpPr/>
          <p:nvPr/>
        </p:nvSpPr>
        <p:spPr>
          <a:xfrm rot="5400000">
            <a:off x="3644522" y="2772220"/>
            <a:ext cx="20516" cy="86316"/>
          </a:xfrm>
          <a:prstGeom prst="rect">
            <a:avLst/>
          </a:prstGeom>
          <a:solidFill>
            <a:srgbClr val="0070C0"/>
          </a:solidFill>
          <a:ln w="1488" cap="flat">
            <a:solidFill>
              <a:srgbClr val="3B82F6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B1E2112B-A57A-C105-2A1A-428A22B84182}"/>
              </a:ext>
            </a:extLst>
          </p:cNvPr>
          <p:cNvSpPr/>
          <p:nvPr/>
        </p:nvSpPr>
        <p:spPr>
          <a:xfrm rot="5400000">
            <a:off x="3616116" y="2830602"/>
            <a:ext cx="22568" cy="27744"/>
          </a:xfrm>
          <a:prstGeom prst="rect">
            <a:avLst/>
          </a:prstGeom>
          <a:solidFill>
            <a:srgbClr val="C00000"/>
          </a:solidFill>
          <a:ln w="1488" cap="flat">
            <a:solidFill>
              <a:srgbClr val="C00000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16" name="그래픽 315">
            <a:extLst>
              <a:ext uri="{FF2B5EF4-FFF2-40B4-BE49-F238E27FC236}">
                <a16:creationId xmlns:a16="http://schemas.microsoft.com/office/drawing/2014/main" id="{1077A9A7-8501-11AF-8DB6-E7255BBD7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5931" y="3033031"/>
            <a:ext cx="148113" cy="148113"/>
          </a:xfrm>
          <a:prstGeom prst="rect">
            <a:avLst/>
          </a:prstGeom>
        </p:spPr>
      </p:pic>
      <p:pic>
        <p:nvPicPr>
          <p:cNvPr id="317" name="그래픽 316">
            <a:extLst>
              <a:ext uri="{FF2B5EF4-FFF2-40B4-BE49-F238E27FC236}">
                <a16:creationId xmlns:a16="http://schemas.microsoft.com/office/drawing/2014/main" id="{71F4E17F-E50C-BF65-64C8-A3747C4FA0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35931" y="3312275"/>
            <a:ext cx="148176" cy="148176"/>
          </a:xfrm>
          <a:prstGeom prst="rect">
            <a:avLst/>
          </a:prstGeom>
        </p:spPr>
      </p:pic>
      <p:pic>
        <p:nvPicPr>
          <p:cNvPr id="328" name="그래픽 327" descr="문서 단색으로 채워진">
            <a:extLst>
              <a:ext uri="{FF2B5EF4-FFF2-40B4-BE49-F238E27FC236}">
                <a16:creationId xmlns:a16="http://schemas.microsoft.com/office/drawing/2014/main" id="{E23CE5B4-FEDD-593F-06AF-5DEDFCA8AF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65442" y="3018656"/>
            <a:ext cx="148112" cy="148112"/>
          </a:xfrm>
          <a:prstGeom prst="rect">
            <a:avLst/>
          </a:prstGeom>
        </p:spPr>
      </p:pic>
      <p:pic>
        <p:nvPicPr>
          <p:cNvPr id="330" name="그래픽 329" descr="사용자 단색으로 채워진">
            <a:extLst>
              <a:ext uri="{FF2B5EF4-FFF2-40B4-BE49-F238E27FC236}">
                <a16:creationId xmlns:a16="http://schemas.microsoft.com/office/drawing/2014/main" id="{C347C327-0A8A-DD6C-3EEC-8D204B8736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8566" y="2714932"/>
            <a:ext cx="200227" cy="200227"/>
          </a:xfrm>
          <a:prstGeom prst="rect">
            <a:avLst/>
          </a:prstGeom>
        </p:spPr>
      </p:pic>
      <p:pic>
        <p:nvPicPr>
          <p:cNvPr id="331" name="그래픽 330" descr="가로 막대형 차트 단색으로 채워진">
            <a:extLst>
              <a:ext uri="{FF2B5EF4-FFF2-40B4-BE49-F238E27FC236}">
                <a16:creationId xmlns:a16="http://schemas.microsoft.com/office/drawing/2014/main" id="{8AD340A2-755D-FA58-D539-39168A45C9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71546" y="3302967"/>
            <a:ext cx="114608" cy="109941"/>
          </a:xfrm>
          <a:prstGeom prst="rect">
            <a:avLst/>
          </a:prstGeom>
        </p:spPr>
      </p:pic>
      <p:pic>
        <p:nvPicPr>
          <p:cNvPr id="332" name="그래픽 331" descr="문서 단색으로 채워진">
            <a:extLst>
              <a:ext uri="{FF2B5EF4-FFF2-40B4-BE49-F238E27FC236}">
                <a16:creationId xmlns:a16="http://schemas.microsoft.com/office/drawing/2014/main" id="{9B1CDB1E-C109-95AB-9D25-13348782D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30285" y="3358788"/>
            <a:ext cx="83269" cy="83269"/>
          </a:xfrm>
          <a:prstGeom prst="rect">
            <a:avLst/>
          </a:prstGeom>
        </p:spPr>
      </p:pic>
      <p:sp>
        <p:nvSpPr>
          <p:cNvPr id="339" name="Shape 4">
            <a:extLst>
              <a:ext uri="{FF2B5EF4-FFF2-40B4-BE49-F238E27FC236}">
                <a16:creationId xmlns:a16="http://schemas.microsoft.com/office/drawing/2014/main" id="{44011C01-10AD-D9E5-A195-BAAC59484408}"/>
              </a:ext>
            </a:extLst>
          </p:cNvPr>
          <p:cNvSpPr/>
          <p:nvPr/>
        </p:nvSpPr>
        <p:spPr>
          <a:xfrm>
            <a:off x="6367784" y="2021661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0BF4DB38-2874-0942-8A78-C2BE75AEE7EA}"/>
              </a:ext>
            </a:extLst>
          </p:cNvPr>
          <p:cNvSpPr txBox="1"/>
          <p:nvPr/>
        </p:nvSpPr>
        <p:spPr>
          <a:xfrm>
            <a:off x="6588920" y="2086672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실시간 뷰 공유 및 코멘트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241B0D68-B8A7-52FF-B505-D31198B07B70}"/>
              </a:ext>
            </a:extLst>
          </p:cNvPr>
          <p:cNvSpPr txBox="1"/>
          <p:nvPr/>
        </p:nvSpPr>
        <p:spPr>
          <a:xfrm>
            <a:off x="6432037" y="2268993"/>
            <a:ext cx="2266257" cy="36355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URL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링크 하나로 최신 데이터가 반영된 뷰를 공유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공유된 화면 위에서 팀원 간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협업이 가능합니다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  <a:p>
            <a:endParaRPr lang="en-US" altLang="ko-KR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344" name="그래픽 343" descr="공유 단색으로 채워진">
            <a:extLst>
              <a:ext uri="{FF2B5EF4-FFF2-40B4-BE49-F238E27FC236}">
                <a16:creationId xmlns:a16="http://schemas.microsoft.com/office/drawing/2014/main" id="{6D136DF4-2114-E4C0-1A1F-9FAE30D471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99999" y="2036761"/>
            <a:ext cx="264239" cy="264239"/>
          </a:xfrm>
          <a:prstGeom prst="rect">
            <a:avLst/>
          </a:prstGeom>
        </p:spPr>
      </p:pic>
      <p:sp>
        <p:nvSpPr>
          <p:cNvPr id="345" name="Shape 4">
            <a:extLst>
              <a:ext uri="{FF2B5EF4-FFF2-40B4-BE49-F238E27FC236}">
                <a16:creationId xmlns:a16="http://schemas.microsoft.com/office/drawing/2014/main" id="{5FFACA73-6D7E-8EBD-BA89-E656D325F06B}"/>
              </a:ext>
            </a:extLst>
          </p:cNvPr>
          <p:cNvSpPr/>
          <p:nvPr/>
        </p:nvSpPr>
        <p:spPr>
          <a:xfrm>
            <a:off x="6367784" y="2759084"/>
            <a:ext cx="2383088" cy="81331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1D2756A-4FF4-26E7-F5F1-EDFB02A794E4}"/>
              </a:ext>
            </a:extLst>
          </p:cNvPr>
          <p:cNvSpPr txBox="1"/>
          <p:nvPr/>
        </p:nvSpPr>
        <p:spPr>
          <a:xfrm>
            <a:off x="6588920" y="2824095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문서 파일 추출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(Export)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EF03CE4-AC83-24B7-8CD1-BB831FC841C1}"/>
              </a:ext>
            </a:extLst>
          </p:cNvPr>
          <p:cNvSpPr txBox="1"/>
          <p:nvPr/>
        </p:nvSpPr>
        <p:spPr>
          <a:xfrm>
            <a:off x="6432037" y="3006416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Space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내의 자산을 현업에서 바로 사용할 수 있는 상용 오피스 포맷으로 원 클릭 다운로드합니다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pic>
        <p:nvPicPr>
          <p:cNvPr id="350" name="그래픽 349" descr="다운로드 단색으로 채워진">
            <a:extLst>
              <a:ext uri="{FF2B5EF4-FFF2-40B4-BE49-F238E27FC236}">
                <a16:creationId xmlns:a16="http://schemas.microsoft.com/office/drawing/2014/main" id="{A7FF01B9-18B2-7A17-16B3-AE84D6EF7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47059" y="2808469"/>
            <a:ext cx="193236" cy="193236"/>
          </a:xfrm>
          <a:prstGeom prst="rect">
            <a:avLst/>
          </a:prstGeom>
        </p:spPr>
      </p:pic>
      <p:sp>
        <p:nvSpPr>
          <p:cNvPr id="352" name="Shape 4">
            <a:extLst>
              <a:ext uri="{FF2B5EF4-FFF2-40B4-BE49-F238E27FC236}">
                <a16:creationId xmlns:a16="http://schemas.microsoft.com/office/drawing/2014/main" id="{A3E2B4F5-4503-EB4A-CBF3-77C533958B9D}"/>
              </a:ext>
            </a:extLst>
          </p:cNvPr>
          <p:cNvSpPr/>
          <p:nvPr/>
        </p:nvSpPr>
        <p:spPr>
          <a:xfrm>
            <a:off x="6447059" y="3297824"/>
            <a:ext cx="857981" cy="214328"/>
          </a:xfrm>
          <a:prstGeom prst="roundRect">
            <a:avLst>
              <a:gd name="adj" fmla="val 10466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2CB8B260-F443-881A-306A-971537D33445}"/>
              </a:ext>
            </a:extLst>
          </p:cNvPr>
          <p:cNvGrpSpPr/>
          <p:nvPr/>
        </p:nvGrpSpPr>
        <p:grpSpPr>
          <a:xfrm>
            <a:off x="6494949" y="3316590"/>
            <a:ext cx="135976" cy="174275"/>
            <a:chOff x="5154355" y="1198737"/>
            <a:chExt cx="401255" cy="514271"/>
          </a:xfrm>
        </p:grpSpPr>
        <p:sp>
          <p:nvSpPr>
            <p:cNvPr id="312" name="자유형: 도형 311">
              <a:extLst>
                <a:ext uri="{FF2B5EF4-FFF2-40B4-BE49-F238E27FC236}">
                  <a16:creationId xmlns:a16="http://schemas.microsoft.com/office/drawing/2014/main" id="{C13A27EB-F670-167D-DF01-FB0D9E694CC0}"/>
                </a:ext>
              </a:extLst>
            </p:cNvPr>
            <p:cNvSpPr/>
            <p:nvPr/>
          </p:nvSpPr>
          <p:spPr>
            <a:xfrm>
              <a:off x="5154355" y="1198737"/>
              <a:ext cx="401255" cy="501569"/>
            </a:xfrm>
            <a:custGeom>
              <a:avLst/>
              <a:gdLst>
                <a:gd name="csX0" fmla="*/ 250785 w 401255"/>
                <a:gd name="csY0" fmla="*/ 0 h 501569"/>
                <a:gd name="csX1" fmla="*/ 50157 w 401255"/>
                <a:gd name="csY1" fmla="*/ 0 h 501569"/>
                <a:gd name="csX2" fmla="*/ 0 w 401255"/>
                <a:gd name="csY2" fmla="*/ 50157 h 501569"/>
                <a:gd name="csX3" fmla="*/ 0 w 401255"/>
                <a:gd name="csY3" fmla="*/ 451412 h 501569"/>
                <a:gd name="csX4" fmla="*/ 50157 w 401255"/>
                <a:gd name="csY4" fmla="*/ 501569 h 501569"/>
                <a:gd name="csX5" fmla="*/ 351098 w 401255"/>
                <a:gd name="csY5" fmla="*/ 501569 h 501569"/>
                <a:gd name="csX6" fmla="*/ 401255 w 401255"/>
                <a:gd name="csY6" fmla="*/ 451412 h 501569"/>
                <a:gd name="csX7" fmla="*/ 401255 w 401255"/>
                <a:gd name="csY7" fmla="*/ 150471 h 501569"/>
                <a:gd name="csX8" fmla="*/ 250785 w 401255"/>
                <a:gd name="csY8" fmla="*/ 0 h 5015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1255" h="501569">
                  <a:moveTo>
                    <a:pt x="250785" y="0"/>
                  </a:moveTo>
                  <a:lnTo>
                    <a:pt x="50157" y="0"/>
                  </a:lnTo>
                  <a:cubicBezTo>
                    <a:pt x="22456" y="0"/>
                    <a:pt x="0" y="22456"/>
                    <a:pt x="0" y="50157"/>
                  </a:cubicBezTo>
                  <a:lnTo>
                    <a:pt x="0" y="451412"/>
                  </a:lnTo>
                  <a:cubicBezTo>
                    <a:pt x="0" y="479113"/>
                    <a:pt x="22456" y="501569"/>
                    <a:pt x="50157" y="501569"/>
                  </a:cubicBezTo>
                  <a:lnTo>
                    <a:pt x="351098" y="501569"/>
                  </a:lnTo>
                  <a:cubicBezTo>
                    <a:pt x="378799" y="501569"/>
                    <a:pt x="401255" y="479113"/>
                    <a:pt x="401255" y="451412"/>
                  </a:cubicBezTo>
                  <a:lnTo>
                    <a:pt x="401255" y="150471"/>
                  </a:lnTo>
                  <a:lnTo>
                    <a:pt x="250785" y="0"/>
                  </a:lnTo>
                  <a:close/>
                </a:path>
              </a:pathLst>
            </a:custGeom>
            <a:solidFill>
              <a:srgbClr val="D84315"/>
            </a:solidFill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" name="타원 312">
              <a:extLst>
                <a:ext uri="{FF2B5EF4-FFF2-40B4-BE49-F238E27FC236}">
                  <a16:creationId xmlns:a16="http://schemas.microsoft.com/office/drawing/2014/main" id="{AEC0B184-1F19-44B9-5879-FEC706FDAEB4}"/>
                </a:ext>
              </a:extLst>
            </p:cNvPr>
            <p:cNvSpPr/>
            <p:nvPr/>
          </p:nvSpPr>
          <p:spPr>
            <a:xfrm>
              <a:off x="5213608" y="1349208"/>
              <a:ext cx="268805" cy="268804"/>
            </a:xfrm>
            <a:prstGeom prst="ellipse">
              <a:avLst/>
            </a:prstGeom>
            <a:solidFill>
              <a:srgbClr val="FFFFFF"/>
            </a:solidFill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2B34B562-B0BF-C176-A8AC-5C187EF344EB}"/>
                </a:ext>
              </a:extLst>
            </p:cNvPr>
            <p:cNvSpPr txBox="1"/>
            <p:nvPr/>
          </p:nvSpPr>
          <p:spPr>
            <a:xfrm>
              <a:off x="5162068" y="1239617"/>
              <a:ext cx="267778" cy="473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500" b="1" spc="0" baseline="0" dirty="0" err="1">
                  <a:ln/>
                  <a:solidFill>
                    <a:srgbClr val="D84315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  <a:endParaRPr lang="ko-KR" altLang="en-US" sz="500" b="1" spc="0" baseline="0" dirty="0">
                <a:ln/>
                <a:solidFill>
                  <a:srgbClr val="D84315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pic>
        <p:nvPicPr>
          <p:cNvPr id="318" name="그래픽 317">
            <a:extLst>
              <a:ext uri="{FF2B5EF4-FFF2-40B4-BE49-F238E27FC236}">
                <a16:creationId xmlns:a16="http://schemas.microsoft.com/office/drawing/2014/main" id="{87F6DCCB-5196-CF78-ED0C-C76E401A9A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1698" y="3306213"/>
            <a:ext cx="199979" cy="199979"/>
          </a:xfrm>
          <a:prstGeom prst="rect">
            <a:avLst/>
          </a:prstGeom>
        </p:spPr>
      </p:pic>
      <p:sp>
        <p:nvSpPr>
          <p:cNvPr id="354" name="TextBox 353">
            <a:extLst>
              <a:ext uri="{FF2B5EF4-FFF2-40B4-BE49-F238E27FC236}">
                <a16:creationId xmlns:a16="http://schemas.microsoft.com/office/drawing/2014/main" id="{4BE6337C-97A5-BFAC-A820-7E303887B50C}"/>
              </a:ext>
            </a:extLst>
          </p:cNvPr>
          <p:cNvSpPr txBox="1"/>
          <p:nvPr/>
        </p:nvSpPr>
        <p:spPr>
          <a:xfrm>
            <a:off x="6810003" y="3316590"/>
            <a:ext cx="635118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Export</a:t>
            </a:r>
          </a:p>
        </p:txBody>
      </p:sp>
      <p:sp>
        <p:nvSpPr>
          <p:cNvPr id="357" name="Shape 4">
            <a:extLst>
              <a:ext uri="{FF2B5EF4-FFF2-40B4-BE49-F238E27FC236}">
                <a16:creationId xmlns:a16="http://schemas.microsoft.com/office/drawing/2014/main" id="{6CA1BD58-6E5B-931E-3EC3-1B5B138FC4EC}"/>
              </a:ext>
            </a:extLst>
          </p:cNvPr>
          <p:cNvSpPr/>
          <p:nvPr/>
        </p:nvSpPr>
        <p:spPr>
          <a:xfrm>
            <a:off x="6374188" y="3728995"/>
            <a:ext cx="2383088" cy="554779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8EDB184D-8AC6-C401-FEF1-75BDD1979214}"/>
              </a:ext>
            </a:extLst>
          </p:cNvPr>
          <p:cNvSpPr txBox="1"/>
          <p:nvPr/>
        </p:nvSpPr>
        <p:spPr>
          <a:xfrm>
            <a:off x="6595324" y="3794006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이메일 스케줄링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&amp;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정기 구독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26" name="그래픽 325" descr="봉투 열기 단색으로 채워진">
            <a:extLst>
              <a:ext uri="{FF2B5EF4-FFF2-40B4-BE49-F238E27FC236}">
                <a16:creationId xmlns:a16="http://schemas.microsoft.com/office/drawing/2014/main" id="{93275E90-54A6-3E8D-7D8A-2C32DABB99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3439" y="3771315"/>
            <a:ext cx="165106" cy="165106"/>
          </a:xfrm>
          <a:prstGeom prst="rect">
            <a:avLst/>
          </a:prstGeom>
        </p:spPr>
      </p:pic>
      <p:sp>
        <p:nvSpPr>
          <p:cNvPr id="361" name="Shape 4">
            <a:extLst>
              <a:ext uri="{FF2B5EF4-FFF2-40B4-BE49-F238E27FC236}">
                <a16:creationId xmlns:a16="http://schemas.microsoft.com/office/drawing/2014/main" id="{5B795DE2-023A-01B8-99B5-EB3F7C88F59A}"/>
              </a:ext>
            </a:extLst>
          </p:cNvPr>
          <p:cNvSpPr/>
          <p:nvPr/>
        </p:nvSpPr>
        <p:spPr>
          <a:xfrm>
            <a:off x="6473439" y="3982573"/>
            <a:ext cx="2220205" cy="214328"/>
          </a:xfrm>
          <a:prstGeom prst="roundRect">
            <a:avLst>
              <a:gd name="adj" fmla="val 10466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15" name="그래픽 314">
            <a:extLst>
              <a:ext uri="{FF2B5EF4-FFF2-40B4-BE49-F238E27FC236}">
                <a16:creationId xmlns:a16="http://schemas.microsoft.com/office/drawing/2014/main" id="{C6A0B382-B495-5D67-8FC8-3629056B5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16075" y="4001763"/>
            <a:ext cx="180090" cy="180090"/>
          </a:xfrm>
          <a:prstGeom prst="rect">
            <a:avLst/>
          </a:prstGeom>
        </p:spPr>
      </p:pic>
      <p:sp>
        <p:nvSpPr>
          <p:cNvPr id="362" name="TextBox 361">
            <a:extLst>
              <a:ext uri="{FF2B5EF4-FFF2-40B4-BE49-F238E27FC236}">
                <a16:creationId xmlns:a16="http://schemas.microsoft.com/office/drawing/2014/main" id="{AC51B2BF-203E-FB61-6766-7787A4DDAA7D}"/>
              </a:ext>
            </a:extLst>
          </p:cNvPr>
          <p:cNvSpPr txBox="1"/>
          <p:nvPr/>
        </p:nvSpPr>
        <p:spPr>
          <a:xfrm>
            <a:off x="6642825" y="4017598"/>
            <a:ext cx="1449615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en-US" altLang="ko-KR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aisight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주간 영업 실적 브리핑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4" name="Shape 4">
            <a:extLst>
              <a:ext uri="{FF2B5EF4-FFF2-40B4-BE49-F238E27FC236}">
                <a16:creationId xmlns:a16="http://schemas.microsoft.com/office/drawing/2014/main" id="{17C812D1-E98E-436C-0F0C-44EC9C6395BE}"/>
              </a:ext>
            </a:extLst>
          </p:cNvPr>
          <p:cNvSpPr/>
          <p:nvPr/>
        </p:nvSpPr>
        <p:spPr>
          <a:xfrm>
            <a:off x="7970049" y="4029919"/>
            <a:ext cx="684985" cy="105243"/>
          </a:xfrm>
          <a:prstGeom prst="roundRect">
            <a:avLst>
              <a:gd name="adj" fmla="val 1046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pPr algn="ctr"/>
            <a:r>
              <a:rPr lang="ko-KR" altLang="en-US" sz="600" dirty="0"/>
              <a:t>매주 월 </a:t>
            </a:r>
            <a:r>
              <a:rPr lang="en-US" altLang="ko-KR" sz="600" dirty="0"/>
              <a:t>08:00 AM</a:t>
            </a:r>
            <a:endParaRPr lang="ko-KR" altLang="en-US" sz="600" dirty="0"/>
          </a:p>
        </p:txBody>
      </p:sp>
      <p:sp>
        <p:nvSpPr>
          <p:cNvPr id="382" name="Shape 4">
            <a:extLst>
              <a:ext uri="{FF2B5EF4-FFF2-40B4-BE49-F238E27FC236}">
                <a16:creationId xmlns:a16="http://schemas.microsoft.com/office/drawing/2014/main" id="{C499EC3B-5513-5B0D-9F78-A9DC5A0B7691}"/>
              </a:ext>
            </a:extLst>
          </p:cNvPr>
          <p:cNvSpPr/>
          <p:nvPr/>
        </p:nvSpPr>
        <p:spPr>
          <a:xfrm>
            <a:off x="3407100" y="3662837"/>
            <a:ext cx="2361849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B6E7F9A0-0181-1FE4-12D0-D466C626742B}"/>
              </a:ext>
            </a:extLst>
          </p:cNvPr>
          <p:cNvSpPr txBox="1"/>
          <p:nvPr/>
        </p:nvSpPr>
        <p:spPr>
          <a:xfrm>
            <a:off x="3628236" y="3729040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실시간 데이터 연동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(Live Sync)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B46E7249-A8AA-5E70-0414-CC872446665B}"/>
              </a:ext>
            </a:extLst>
          </p:cNvPr>
          <p:cNvSpPr txBox="1"/>
          <p:nvPr/>
        </p:nvSpPr>
        <p:spPr>
          <a:xfrm>
            <a:off x="3523932" y="3894089"/>
            <a:ext cx="2234418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저장된 자산은 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DB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원본과 연동되어 별도 갱신 없이도 항상 최신 상태의 수치를 유지합니다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387" name="그래픽 386">
            <a:extLst>
              <a:ext uri="{FF2B5EF4-FFF2-40B4-BE49-F238E27FC236}">
                <a16:creationId xmlns:a16="http://schemas.microsoft.com/office/drawing/2014/main" id="{73119A99-8F56-18AE-B879-4EFD49CFB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96384" y="3739281"/>
            <a:ext cx="131852" cy="131852"/>
          </a:xfrm>
          <a:prstGeom prst="rect">
            <a:avLst/>
          </a:prstGeom>
        </p:spPr>
      </p:pic>
      <p:pic>
        <p:nvPicPr>
          <p:cNvPr id="389" name="그래픽 388">
            <a:extLst>
              <a:ext uri="{FF2B5EF4-FFF2-40B4-BE49-F238E27FC236}">
                <a16:creationId xmlns:a16="http://schemas.microsoft.com/office/drawing/2014/main" id="{BD1FB237-9652-2604-EFDE-7BFDB365E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6014" y="2734387"/>
            <a:ext cx="144000" cy="144000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DABD7504-AFFF-F0F6-BA6E-0E1D985548E0}"/>
              </a:ext>
            </a:extLst>
          </p:cNvPr>
          <p:cNvSpPr/>
          <p:nvPr/>
        </p:nvSpPr>
        <p:spPr>
          <a:xfrm>
            <a:off x="445456" y="3957563"/>
            <a:ext cx="2383088" cy="403980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7D306-F797-763F-862F-166480B34662}"/>
              </a:ext>
            </a:extLst>
          </p:cNvPr>
          <p:cNvSpPr txBox="1"/>
          <p:nvPr/>
        </p:nvSpPr>
        <p:spPr>
          <a:xfrm>
            <a:off x="666592" y="4023766"/>
            <a:ext cx="2140713" cy="2866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기존 레거시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BI 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레포트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기반 마이그레이션 및 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자체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 문서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(HTML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등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업로드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14" name="그래픽 13" descr="용지 단색으로 채워진">
            <a:extLst>
              <a:ext uri="{FF2B5EF4-FFF2-40B4-BE49-F238E27FC236}">
                <a16:creationId xmlns:a16="http://schemas.microsoft.com/office/drawing/2014/main" id="{51BA34C3-ACDF-9BA0-61D6-703F7E101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7606" y="4067289"/>
            <a:ext cx="177886" cy="177886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FEA5F96E-A82C-9146-1DBD-10D140D8FC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4174" y="4140156"/>
            <a:ext cx="62671" cy="6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10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33AE-B996-906D-805A-99E3F61F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86EBFD1C-3490-6838-1832-ACF875F589D1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B55599B4-ED3B-9C9D-DA5F-9092F959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err="1">
                <a:latin typeface="SUIT ExtraBold" pitchFamily="2" charset="-127"/>
                <a:ea typeface="SUIT ExtraBold" pitchFamily="2" charset="-127"/>
              </a:rPr>
              <a:t>aisight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 Ops: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전사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통합 관제 사령탑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B8D52EBF-EB6C-C032-2F90-6C6482FE3A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1D47D7DC-1E31-5E34-F86F-AB1F5855DF22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다양한 </a:t>
            </a:r>
            <a:r>
              <a:rPr lang="ko-KR" altLang="ko-KR" sz="1100" b="0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LLM과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데이터, 기존 </a:t>
            </a:r>
            <a:r>
              <a:rPr lang="ko-KR" altLang="ko-KR" sz="1100" b="0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BI를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완벽히 연동하고 사내 인증 체계와 결합합니다. 이 모든 과정을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'분석 스킬(</a:t>
            </a:r>
            <a:r>
              <a:rPr lang="ko-KR" altLang="ko-KR" sz="1100" b="1" i="0" dirty="0" err="1">
                <a:solidFill>
                  <a:srgbClr val="00A896"/>
                </a:solidFill>
                <a:effectLst/>
                <a:latin typeface="+mn-ea"/>
                <a:ea typeface="+mn-ea"/>
              </a:rPr>
              <a:t>Skill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)' 단위로 통합 관리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하여,</a:t>
            </a:r>
            <a:br>
              <a:rPr lang="ko-KR" altLang="ko-KR" sz="1100" dirty="0">
                <a:latin typeface="+mn-ea"/>
                <a:ea typeface="+mn-ea"/>
              </a:rPr>
            </a:b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안전한 실행은 물론 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지속적인 품질 모니터링 및 로직 업데이트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가 가능한 AI 거버넌스 사령탑입니다.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DC90557-AC8E-5CC5-790B-C7E5297E484D}"/>
              </a:ext>
            </a:extLst>
          </p:cNvPr>
          <p:cNvSpPr/>
          <p:nvPr/>
        </p:nvSpPr>
        <p:spPr>
          <a:xfrm rot="16200000">
            <a:off x="2213124" y="554959"/>
            <a:ext cx="445641" cy="1814363"/>
          </a:xfrm>
          <a:prstGeom prst="roundRect">
            <a:avLst>
              <a:gd name="adj" fmla="val 11753"/>
            </a:avLst>
          </a:prstGeom>
          <a:solidFill>
            <a:srgbClr val="1D2537"/>
          </a:solidFill>
          <a:ln w="9525">
            <a:solidFill>
              <a:srgbClr val="13CEC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7DB4F-2C63-DBF5-5319-D6A5C9CF1BDF}"/>
              </a:ext>
            </a:extLst>
          </p:cNvPr>
          <p:cNvSpPr txBox="1"/>
          <p:nvPr/>
        </p:nvSpPr>
        <p:spPr>
          <a:xfrm>
            <a:off x="1528761" y="1273840"/>
            <a:ext cx="1814364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en-US" altLang="ko-KR" sz="1000" b="1" i="0" u="none" strike="noStrike" dirty="0" err="1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en-US" altLang="ko-KR" sz="1000" b="1" i="0" u="none" strike="noStrike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 Work Space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27C67A-11C7-9445-6A73-F938AEDB47B1}"/>
              </a:ext>
            </a:extLst>
          </p:cNvPr>
          <p:cNvSpPr txBox="1"/>
          <p:nvPr/>
        </p:nvSpPr>
        <p:spPr>
          <a:xfrm>
            <a:off x="1528762" y="1395927"/>
            <a:ext cx="1814364" cy="24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ko-KR" altLang="en-US" sz="700" dirty="0">
                <a:solidFill>
                  <a:srgbClr val="13CEC4"/>
                </a:solidFill>
                <a:latin typeface="+mn-ea"/>
              </a:rPr>
              <a:t>자연어 질의 기반 전사 </a:t>
            </a:r>
            <a:r>
              <a:rPr lang="en-US" altLang="ko-KR" sz="700" dirty="0">
                <a:solidFill>
                  <a:srgbClr val="13CEC4"/>
                </a:solidFill>
                <a:latin typeface="+mn-ea"/>
              </a:rPr>
              <a:t>AI </a:t>
            </a:r>
            <a:r>
              <a:rPr lang="ko-KR" altLang="en-US" sz="700" dirty="0">
                <a:solidFill>
                  <a:srgbClr val="13CEC4"/>
                </a:solidFill>
                <a:latin typeface="+mn-ea"/>
              </a:rPr>
              <a:t>포탈</a:t>
            </a: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AA2D0C69-06E4-4122-D6A4-A93633B20272}"/>
              </a:ext>
            </a:extLst>
          </p:cNvPr>
          <p:cNvSpPr/>
          <p:nvPr/>
        </p:nvSpPr>
        <p:spPr>
          <a:xfrm>
            <a:off x="3523922" y="1324710"/>
            <a:ext cx="1956129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FEF94A-09B8-B9A6-80EA-972FEF2D634A}"/>
              </a:ext>
            </a:extLst>
          </p:cNvPr>
          <p:cNvSpPr txBox="1"/>
          <p:nvPr/>
        </p:nvSpPr>
        <p:spPr>
          <a:xfrm>
            <a:off x="3766821" y="1354080"/>
            <a:ext cx="171323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Dashboard Ext. (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기존 대시보드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)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75CE4268-1B29-04A5-F6A2-3FF2305B26B9}"/>
              </a:ext>
            </a:extLst>
          </p:cNvPr>
          <p:cNvSpPr/>
          <p:nvPr/>
        </p:nvSpPr>
        <p:spPr>
          <a:xfrm>
            <a:off x="5680076" y="1324709"/>
            <a:ext cx="1671410" cy="214189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CEAA52-FEE1-4689-8DEF-A609297C7509}"/>
              </a:ext>
            </a:extLst>
          </p:cNvPr>
          <p:cNvSpPr txBox="1"/>
          <p:nvPr/>
        </p:nvSpPr>
        <p:spPr>
          <a:xfrm>
            <a:off x="5922975" y="1354080"/>
            <a:ext cx="1428511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3rd Party API Webhook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9" name="그래픽 38" descr="퍼즐 단색으로 채워진">
            <a:extLst>
              <a:ext uri="{FF2B5EF4-FFF2-40B4-BE49-F238E27FC236}">
                <a16:creationId xmlns:a16="http://schemas.microsoft.com/office/drawing/2014/main" id="{08A71D90-365E-A557-DD68-AACC7AEDE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8250" y="1373702"/>
            <a:ext cx="147776" cy="143480"/>
          </a:xfrm>
          <a:prstGeom prst="rect">
            <a:avLst/>
          </a:prstGeom>
        </p:spPr>
      </p:pic>
      <p:pic>
        <p:nvPicPr>
          <p:cNvPr id="41" name="그래픽 40" descr="CMD 터미널 단색으로 채워진">
            <a:extLst>
              <a:ext uri="{FF2B5EF4-FFF2-40B4-BE49-F238E27FC236}">
                <a16:creationId xmlns:a16="http://schemas.microsoft.com/office/drawing/2014/main" id="{0CBF5F2D-71D1-4E60-E1EA-629580B34E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5150" y="1367413"/>
            <a:ext cx="152112" cy="152110"/>
          </a:xfrm>
          <a:prstGeom prst="rect">
            <a:avLst/>
          </a:prstGeom>
        </p:spPr>
      </p:pic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A489969B-8B2F-7DF3-D40F-C1BFADB70732}"/>
              </a:ext>
            </a:extLst>
          </p:cNvPr>
          <p:cNvSpPr/>
          <p:nvPr/>
        </p:nvSpPr>
        <p:spPr>
          <a:xfrm rot="10800000">
            <a:off x="2352675" y="1744980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DA2CABBD-D032-E578-F502-3E8A97BD2AE7}"/>
              </a:ext>
            </a:extLst>
          </p:cNvPr>
          <p:cNvSpPr/>
          <p:nvPr/>
        </p:nvSpPr>
        <p:spPr>
          <a:xfrm rot="10800000">
            <a:off x="4435311" y="1744980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AABB2DBD-0029-383F-D8B2-BCF619571417}"/>
              </a:ext>
            </a:extLst>
          </p:cNvPr>
          <p:cNvSpPr/>
          <p:nvPr/>
        </p:nvSpPr>
        <p:spPr>
          <a:xfrm rot="10800000">
            <a:off x="6481491" y="1744981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42A04233-697A-2285-C39D-EBE9040B61F4}"/>
              </a:ext>
            </a:extLst>
          </p:cNvPr>
          <p:cNvSpPr/>
          <p:nvPr/>
        </p:nvSpPr>
        <p:spPr>
          <a:xfrm>
            <a:off x="270981" y="1856169"/>
            <a:ext cx="8595360" cy="2599115"/>
          </a:xfrm>
          <a:prstGeom prst="roundRect">
            <a:avLst>
              <a:gd name="adj" fmla="val 4794"/>
            </a:avLst>
          </a:prstGeom>
          <a:solidFill>
            <a:schemeClr val="bg1"/>
          </a:solidFill>
          <a:ln w="9525">
            <a:solidFill>
              <a:srgbClr val="13CEC4"/>
            </a:solidFill>
          </a:ln>
          <a:effectLst>
            <a:glow rad="139700">
              <a:srgbClr val="13CEC4">
                <a:alpha val="8000"/>
              </a:srgbClr>
            </a:glo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8E28DF07-779F-923D-C381-B3CCDE45B80A}"/>
              </a:ext>
            </a:extLst>
          </p:cNvPr>
          <p:cNvSpPr/>
          <p:nvPr/>
        </p:nvSpPr>
        <p:spPr>
          <a:xfrm rot="16200000">
            <a:off x="4331396" y="-2197569"/>
            <a:ext cx="487887" cy="8595361"/>
          </a:xfrm>
          <a:prstGeom prst="roundRect">
            <a:avLst>
              <a:gd name="adj" fmla="val 19949"/>
            </a:avLst>
          </a:prstGeom>
          <a:solidFill>
            <a:srgbClr val="1D2537"/>
          </a:solidFill>
          <a:ln w="1270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6C7985-C76E-B062-FA59-B8B9E808973B}"/>
              </a:ext>
            </a:extLst>
          </p:cNvPr>
          <p:cNvSpPr txBox="1"/>
          <p:nvPr/>
        </p:nvSpPr>
        <p:spPr>
          <a:xfrm>
            <a:off x="594360" y="1996364"/>
            <a:ext cx="2034540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1100" b="1" i="0" u="none" strike="noStrike" dirty="0" err="1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en-US" altLang="ko-KR" sz="1100" b="1" i="0" u="none" strike="noStrike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 Ops Control Tower</a:t>
            </a:r>
            <a:endParaRPr lang="ko-KR" altLang="en-US" sz="9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pic>
        <p:nvPicPr>
          <p:cNvPr id="53" name="그래픽 52" descr="프로세서 단색으로 채워진">
            <a:extLst>
              <a:ext uri="{FF2B5EF4-FFF2-40B4-BE49-F238E27FC236}">
                <a16:creationId xmlns:a16="http://schemas.microsoft.com/office/drawing/2014/main" id="{5880DBCC-A607-5EDE-6CF5-370FAEE72E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428" y="1973087"/>
            <a:ext cx="256221" cy="256221"/>
          </a:xfrm>
          <a:prstGeom prst="rect">
            <a:avLst/>
          </a:prstGeom>
        </p:spPr>
      </p:pic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F0D19392-CEE1-DE45-EBB4-4D3EBB9D4953}"/>
              </a:ext>
            </a:extLst>
          </p:cNvPr>
          <p:cNvGrpSpPr/>
          <p:nvPr/>
        </p:nvGrpSpPr>
        <p:grpSpPr>
          <a:xfrm>
            <a:off x="424885" y="2416088"/>
            <a:ext cx="1948052" cy="366688"/>
            <a:chOff x="433198" y="2399462"/>
            <a:chExt cx="1948052" cy="366688"/>
          </a:xfrm>
        </p:grpSpPr>
        <p:sp>
          <p:nvSpPr>
            <p:cNvPr id="58" name="Shape 4">
              <a:extLst>
                <a:ext uri="{FF2B5EF4-FFF2-40B4-BE49-F238E27FC236}">
                  <a16:creationId xmlns:a16="http://schemas.microsoft.com/office/drawing/2014/main" id="{CEC4A294-CA7F-1D94-9959-570EA8F792B8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E7568077-439E-A9FC-DE9A-5211ABF9C0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6221" y="2476550"/>
              <a:ext cx="227867" cy="227867"/>
            </a:xfrm>
            <a:prstGeom prst="rect">
              <a:avLst/>
            </a:prstGeom>
          </p:spPr>
        </p:pic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3322011C-32D5-A740-EF76-F66BA1C1F0FD}"/>
                </a:ext>
              </a:extLst>
            </p:cNvPr>
            <p:cNvSpPr txBox="1"/>
            <p:nvPr/>
          </p:nvSpPr>
          <p:spPr>
            <a:xfrm>
              <a:off x="714376" y="2519929"/>
              <a:ext cx="1638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1.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통합 연동 및 라우팅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5502336-DB9C-EB37-25F2-191904A8F046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  <a:latin typeface="+mj-lt"/>
                </a:rPr>
                <a:t>Integration &amp; Routing</a:t>
              </a:r>
              <a:endParaRPr lang="ko-KR" altLang="ko-KR" sz="700" i="0" cap="all" dirty="0">
                <a:solidFill>
                  <a:srgbClr val="64748B"/>
                </a:solidFill>
                <a:effectLst/>
                <a:latin typeface="+mj-lt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D56470D1-44FF-D9CF-6BE3-460130DE0FA9}"/>
              </a:ext>
            </a:extLst>
          </p:cNvPr>
          <p:cNvGrpSpPr/>
          <p:nvPr/>
        </p:nvGrpSpPr>
        <p:grpSpPr>
          <a:xfrm>
            <a:off x="2549395" y="2410437"/>
            <a:ext cx="1948052" cy="366688"/>
            <a:chOff x="433198" y="2399462"/>
            <a:chExt cx="1948052" cy="366688"/>
          </a:xfrm>
        </p:grpSpPr>
        <p:sp>
          <p:nvSpPr>
            <p:cNvPr id="218" name="Shape 4">
              <a:extLst>
                <a:ext uri="{FF2B5EF4-FFF2-40B4-BE49-F238E27FC236}">
                  <a16:creationId xmlns:a16="http://schemas.microsoft.com/office/drawing/2014/main" id="{55307A3A-0E82-A881-4709-A4F99EC005F1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C6A69A0-A39A-7922-964B-ADD86AE52190}"/>
                </a:ext>
              </a:extLst>
            </p:cNvPr>
            <p:cNvSpPr txBox="1"/>
            <p:nvPr/>
          </p:nvSpPr>
          <p:spPr>
            <a:xfrm>
              <a:off x="730096" y="2519929"/>
              <a:ext cx="162257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2.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권한 제어 및 보안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A33CA20D-3F77-E81C-544B-3866826404F3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  <a:latin typeface="+mn-ea"/>
                </a:rPr>
                <a:t>Auth &amp; Security Guardrails</a:t>
              </a:r>
              <a:endParaRPr lang="ko-KR" altLang="ko-KR" sz="700" i="0" cap="all" dirty="0">
                <a:solidFill>
                  <a:srgbClr val="64748B"/>
                </a:solidFill>
                <a:effectLst/>
                <a:latin typeface="+mn-ea"/>
              </a:endParaRPr>
            </a:p>
          </p:txBody>
        </p:sp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42634637-AC35-8894-6733-6F179D001A73}"/>
              </a:ext>
            </a:extLst>
          </p:cNvPr>
          <p:cNvGrpSpPr/>
          <p:nvPr/>
        </p:nvGrpSpPr>
        <p:grpSpPr>
          <a:xfrm>
            <a:off x="4673905" y="2410437"/>
            <a:ext cx="1948052" cy="366688"/>
            <a:chOff x="433198" y="2399462"/>
            <a:chExt cx="1948052" cy="366688"/>
          </a:xfrm>
        </p:grpSpPr>
        <p:sp>
          <p:nvSpPr>
            <p:cNvPr id="223" name="Shape 4">
              <a:extLst>
                <a:ext uri="{FF2B5EF4-FFF2-40B4-BE49-F238E27FC236}">
                  <a16:creationId xmlns:a16="http://schemas.microsoft.com/office/drawing/2014/main" id="{D927FB60-7837-F2AA-EC6D-42781FC17D42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rgbClr val="13CEC4"/>
            </a:solidFill>
            <a:ln w="6350">
              <a:solidFill>
                <a:srgbClr val="13CEC4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B4BB1DB4-AEAE-A09D-E43B-02667EF9C7D2}"/>
                </a:ext>
              </a:extLst>
            </p:cNvPr>
            <p:cNvSpPr txBox="1"/>
            <p:nvPr/>
          </p:nvSpPr>
          <p:spPr>
            <a:xfrm>
              <a:off x="735346" y="2519929"/>
              <a:ext cx="161733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3.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스킬 기반 관리 및 실행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C98D7757-11F4-5726-17D3-458192346A74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</a:rPr>
                <a:t>Skill Management</a:t>
              </a:r>
              <a:endParaRPr lang="ko-KR" altLang="ko-KR" sz="700" i="0" cap="all" dirty="0">
                <a:solidFill>
                  <a:srgbClr val="64748B"/>
                </a:solidFill>
                <a:effectLst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E68E7C24-00FB-AAF0-9590-999045E7F340}"/>
              </a:ext>
            </a:extLst>
          </p:cNvPr>
          <p:cNvGrpSpPr/>
          <p:nvPr/>
        </p:nvGrpSpPr>
        <p:grpSpPr>
          <a:xfrm>
            <a:off x="6798416" y="2418114"/>
            <a:ext cx="1948052" cy="366688"/>
            <a:chOff x="433198" y="2399462"/>
            <a:chExt cx="1948052" cy="366688"/>
          </a:xfrm>
        </p:grpSpPr>
        <p:sp>
          <p:nvSpPr>
            <p:cNvPr id="230" name="Shape 4">
              <a:extLst>
                <a:ext uri="{FF2B5EF4-FFF2-40B4-BE49-F238E27FC236}">
                  <a16:creationId xmlns:a16="http://schemas.microsoft.com/office/drawing/2014/main" id="{87585208-335C-3AE3-EED2-DBDAB077335E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7C193DE1-D87B-A3E0-D357-89CD40DDEDBE}"/>
                </a:ext>
              </a:extLst>
            </p:cNvPr>
            <p:cNvSpPr txBox="1"/>
            <p:nvPr/>
          </p:nvSpPr>
          <p:spPr>
            <a:xfrm>
              <a:off x="714376" y="2519929"/>
              <a:ext cx="1638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4.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퀄리티 관제 및 업데이트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29273167-C243-7423-D5B8-6DA7EB34560C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  <a:latin typeface="+mj-ea"/>
                  <a:ea typeface="+mj-ea"/>
                </a:rPr>
                <a:t>Quality Ops &amp; Update</a:t>
              </a:r>
              <a:endParaRPr lang="ko-KR" altLang="ko-KR" sz="700" i="0" cap="all" dirty="0">
                <a:solidFill>
                  <a:srgbClr val="64748B"/>
                </a:solidFill>
                <a:effectLst/>
                <a:latin typeface="+mj-ea"/>
                <a:ea typeface="+mj-ea"/>
              </a:endParaRPr>
            </a:p>
          </p:txBody>
        </p:sp>
      </p:grpSp>
      <p:pic>
        <p:nvPicPr>
          <p:cNvPr id="247" name="그래픽 246" descr="톱니바퀴 단색으로 채워진">
            <a:extLst>
              <a:ext uri="{FF2B5EF4-FFF2-40B4-BE49-F238E27FC236}">
                <a16:creationId xmlns:a16="http://schemas.microsoft.com/office/drawing/2014/main" id="{EB23C513-E038-4237-0191-E519890ED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707338" y="2472905"/>
            <a:ext cx="257175" cy="257175"/>
          </a:xfrm>
          <a:prstGeom prst="rect">
            <a:avLst/>
          </a:prstGeom>
        </p:spPr>
      </p:pic>
      <p:sp>
        <p:nvSpPr>
          <p:cNvPr id="273" name="Shape 4">
            <a:extLst>
              <a:ext uri="{FF2B5EF4-FFF2-40B4-BE49-F238E27FC236}">
                <a16:creationId xmlns:a16="http://schemas.microsoft.com/office/drawing/2014/main" id="{2E53C3C2-BD88-DD74-A8FD-246A0F9ED31E}"/>
              </a:ext>
            </a:extLst>
          </p:cNvPr>
          <p:cNvSpPr/>
          <p:nvPr/>
        </p:nvSpPr>
        <p:spPr>
          <a:xfrm>
            <a:off x="430540" y="2942949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F122470A-0251-C8E2-D05F-CBA3B4CC8E05}"/>
              </a:ext>
            </a:extLst>
          </p:cNvPr>
          <p:cNvSpPr txBox="1"/>
          <p:nvPr/>
        </p:nvSpPr>
        <p:spPr>
          <a:xfrm>
            <a:off x="481340" y="2965071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다중 데이터 소스 연결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849CB978-A0B4-C877-D234-6138EA80A8F9}"/>
              </a:ext>
            </a:extLst>
          </p:cNvPr>
          <p:cNvSpPr txBox="1"/>
          <p:nvPr/>
        </p:nvSpPr>
        <p:spPr>
          <a:xfrm>
            <a:off x="481339" y="3111035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RDBMS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부터 비정형 문서까지 단일 허브로 통합 연동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298" name="Shape 4">
            <a:extLst>
              <a:ext uri="{FF2B5EF4-FFF2-40B4-BE49-F238E27FC236}">
                <a16:creationId xmlns:a16="http://schemas.microsoft.com/office/drawing/2014/main" id="{BA53FA76-458D-889D-4976-5E7F4691D9F5}"/>
              </a:ext>
            </a:extLst>
          </p:cNvPr>
          <p:cNvSpPr/>
          <p:nvPr/>
        </p:nvSpPr>
        <p:spPr>
          <a:xfrm>
            <a:off x="430540" y="3442599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47571373-7DB6-79DD-EE8B-4806285D6669}"/>
              </a:ext>
            </a:extLst>
          </p:cNvPr>
          <p:cNvSpPr txBox="1"/>
          <p:nvPr/>
        </p:nvSpPr>
        <p:spPr>
          <a:xfrm>
            <a:off x="481340" y="3464721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하이브리드 </a:t>
            </a:r>
            <a:r>
              <a:rPr lang="en-US" altLang="ko-KR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LLM 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라우팅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B4DA8A93-35B0-95A1-E984-5425C4CC3FAF}"/>
              </a:ext>
            </a:extLst>
          </p:cNvPr>
          <p:cNvSpPr txBox="1"/>
          <p:nvPr/>
        </p:nvSpPr>
        <p:spPr>
          <a:xfrm>
            <a:off x="481339" y="3610685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보안 및 난이도 기준 </a:t>
            </a:r>
            <a:r>
              <a:rPr lang="en-US" altLang="ko-KR" sz="600" i="0" cap="all" dirty="0" err="1">
                <a:solidFill>
                  <a:srgbClr val="64748B"/>
                </a:solidFill>
                <a:effectLst/>
                <a:latin typeface="+mn-ea"/>
              </a:rPr>
              <a:t>sLLM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과 상용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API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동적 분배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19" name="Shape 4">
            <a:extLst>
              <a:ext uri="{FF2B5EF4-FFF2-40B4-BE49-F238E27FC236}">
                <a16:creationId xmlns:a16="http://schemas.microsoft.com/office/drawing/2014/main" id="{3B5EF07F-F044-1B6F-7C54-D7160A0F30A5}"/>
              </a:ext>
            </a:extLst>
          </p:cNvPr>
          <p:cNvSpPr/>
          <p:nvPr/>
        </p:nvSpPr>
        <p:spPr>
          <a:xfrm>
            <a:off x="430540" y="3922989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56DB1682-F332-C64C-80D9-337F55515AF4}"/>
              </a:ext>
            </a:extLst>
          </p:cNvPr>
          <p:cNvSpPr txBox="1"/>
          <p:nvPr/>
        </p:nvSpPr>
        <p:spPr>
          <a:xfrm>
            <a:off x="481340" y="3945111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기존 </a:t>
            </a:r>
            <a:r>
              <a:rPr lang="en-US" altLang="ko-KR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BI 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시스템 마이그레이션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75DCE879-0FB9-1DE9-F108-3151307BAAD9}"/>
              </a:ext>
            </a:extLst>
          </p:cNvPr>
          <p:cNvSpPr txBox="1"/>
          <p:nvPr/>
        </p:nvSpPr>
        <p:spPr>
          <a:xfrm>
            <a:off x="481339" y="4091075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레거시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BI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연동 및 양방향 제어로 점진적 전환 지원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23" name="Shape 4">
            <a:extLst>
              <a:ext uri="{FF2B5EF4-FFF2-40B4-BE49-F238E27FC236}">
                <a16:creationId xmlns:a16="http://schemas.microsoft.com/office/drawing/2014/main" id="{AD1EDA74-E68D-E6A2-1626-33A48F94942D}"/>
              </a:ext>
            </a:extLst>
          </p:cNvPr>
          <p:cNvSpPr/>
          <p:nvPr/>
        </p:nvSpPr>
        <p:spPr>
          <a:xfrm>
            <a:off x="2549395" y="2928481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50561845-45F7-EFB2-DDD1-EEE1A79629EA}"/>
              </a:ext>
            </a:extLst>
          </p:cNvPr>
          <p:cNvSpPr txBox="1"/>
          <p:nvPr/>
        </p:nvSpPr>
        <p:spPr>
          <a:xfrm>
            <a:off x="2600195" y="2950603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권한 그룹 기반 동적 제어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AF6452B5-F111-6050-7985-F334E2FB92A8}"/>
              </a:ext>
            </a:extLst>
          </p:cNvPr>
          <p:cNvSpPr txBox="1"/>
          <p:nvPr/>
        </p:nvSpPr>
        <p:spPr>
          <a:xfrm>
            <a:off x="2600194" y="3096567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인사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DB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연동을 통한 조직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·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직급별 동적 접근 통제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29" name="Shape 4">
            <a:extLst>
              <a:ext uri="{FF2B5EF4-FFF2-40B4-BE49-F238E27FC236}">
                <a16:creationId xmlns:a16="http://schemas.microsoft.com/office/drawing/2014/main" id="{CCAFA703-A10C-0F39-362F-6EEB7AE7C95F}"/>
              </a:ext>
            </a:extLst>
          </p:cNvPr>
          <p:cNvSpPr/>
          <p:nvPr/>
        </p:nvSpPr>
        <p:spPr>
          <a:xfrm>
            <a:off x="2549395" y="3428131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D6ECDC46-5345-80EB-382A-7B4AC7E23462}"/>
              </a:ext>
            </a:extLst>
          </p:cNvPr>
          <p:cNvSpPr txBox="1"/>
          <p:nvPr/>
        </p:nvSpPr>
        <p:spPr>
          <a:xfrm>
            <a:off x="2600195" y="3450253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민감 데이터 </a:t>
            </a:r>
            <a:r>
              <a:rPr lang="ko-KR" altLang="en-US" sz="800" i="0" dirty="0" err="1">
                <a:solidFill>
                  <a:srgbClr val="0F172A"/>
                </a:solidFill>
                <a:effectLst/>
                <a:latin typeface="+mj-ea"/>
                <a:ea typeface="+mj-ea"/>
              </a:rPr>
              <a:t>마스킹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2AB586BA-7673-06E4-C89C-02CCE28B35E4}"/>
              </a:ext>
            </a:extLst>
          </p:cNvPr>
          <p:cNvSpPr txBox="1"/>
          <p:nvPr/>
        </p:nvSpPr>
        <p:spPr>
          <a:xfrm>
            <a:off x="2600194" y="3596217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LLM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전송 전 식별된 민감 데이터의 실시간 비식별화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43" name="Shape 4">
            <a:extLst>
              <a:ext uri="{FF2B5EF4-FFF2-40B4-BE49-F238E27FC236}">
                <a16:creationId xmlns:a16="http://schemas.microsoft.com/office/drawing/2014/main" id="{BDF47382-0BC5-7009-B339-26912D043708}"/>
              </a:ext>
            </a:extLst>
          </p:cNvPr>
          <p:cNvSpPr/>
          <p:nvPr/>
        </p:nvSpPr>
        <p:spPr>
          <a:xfrm>
            <a:off x="2549395" y="3908521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8A41385E-0F54-75AE-5E39-3858FF43507A}"/>
              </a:ext>
            </a:extLst>
          </p:cNvPr>
          <p:cNvSpPr txBox="1"/>
          <p:nvPr/>
        </p:nvSpPr>
        <p:spPr>
          <a:xfrm>
            <a:off x="2600195" y="3930643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악성 프롬프트 차단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7BADB4CF-ABA9-8E91-F426-E0D17CD36D7B}"/>
              </a:ext>
            </a:extLst>
          </p:cNvPr>
          <p:cNvSpPr txBox="1"/>
          <p:nvPr/>
        </p:nvSpPr>
        <p:spPr>
          <a:xfrm>
            <a:off x="2600194" y="4076607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권한 우회 및 비정상 데이터 추출을 시도하는 공격 차단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53" name="Shape 4">
            <a:extLst>
              <a:ext uri="{FF2B5EF4-FFF2-40B4-BE49-F238E27FC236}">
                <a16:creationId xmlns:a16="http://schemas.microsoft.com/office/drawing/2014/main" id="{7921A8AC-D974-5434-60D4-BD1D7901A4EC}"/>
              </a:ext>
            </a:extLst>
          </p:cNvPr>
          <p:cNvSpPr/>
          <p:nvPr/>
        </p:nvSpPr>
        <p:spPr>
          <a:xfrm>
            <a:off x="4673206" y="2927772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AB65335F-7E97-A531-CAE3-93D8C832CAB8}"/>
              </a:ext>
            </a:extLst>
          </p:cNvPr>
          <p:cNvSpPr txBox="1"/>
          <p:nvPr/>
        </p:nvSpPr>
        <p:spPr>
          <a:xfrm>
            <a:off x="4724006" y="2949894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중앙 집중형 스킬 레지스트리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F8C3A0A8-3AC7-CC34-5926-CAC7680150E4}"/>
              </a:ext>
            </a:extLst>
          </p:cNvPr>
          <p:cNvSpPr txBox="1"/>
          <p:nvPr/>
        </p:nvSpPr>
        <p:spPr>
          <a:xfrm>
            <a:off x="4724005" y="3095858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승인된 분석 로직을 스킬 단위로 등록하여 중앙 통제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60" name="Shape 4">
            <a:extLst>
              <a:ext uri="{FF2B5EF4-FFF2-40B4-BE49-F238E27FC236}">
                <a16:creationId xmlns:a16="http://schemas.microsoft.com/office/drawing/2014/main" id="{C63F3F3E-1648-A25D-DDB2-2AE577220F8F}"/>
              </a:ext>
            </a:extLst>
          </p:cNvPr>
          <p:cNvSpPr/>
          <p:nvPr/>
        </p:nvSpPr>
        <p:spPr>
          <a:xfrm>
            <a:off x="4673206" y="3427422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9772A6D4-B765-D6E5-A37E-CD81F7BA2F20}"/>
              </a:ext>
            </a:extLst>
          </p:cNvPr>
          <p:cNvSpPr txBox="1"/>
          <p:nvPr/>
        </p:nvSpPr>
        <p:spPr>
          <a:xfrm>
            <a:off x="4724006" y="3449544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격리된 </a:t>
            </a:r>
            <a:r>
              <a:rPr lang="ko-KR" altLang="en-US" sz="800" i="0" dirty="0" err="1">
                <a:solidFill>
                  <a:srgbClr val="0F172A"/>
                </a:solidFill>
                <a:effectLst/>
                <a:latin typeface="+mj-ea"/>
                <a:ea typeface="+mj-ea"/>
              </a:rPr>
              <a:t>샌드박스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 런타임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CCCE188-9083-39BE-AAE1-7730F517938C}"/>
              </a:ext>
            </a:extLst>
          </p:cNvPr>
          <p:cNvSpPr txBox="1"/>
          <p:nvPr/>
        </p:nvSpPr>
        <p:spPr>
          <a:xfrm>
            <a:off x="4724005" y="3595508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메인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DB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와 완벽히 분리된 읽기 전용 환경에서 실행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67" name="Shape 4">
            <a:extLst>
              <a:ext uri="{FF2B5EF4-FFF2-40B4-BE49-F238E27FC236}">
                <a16:creationId xmlns:a16="http://schemas.microsoft.com/office/drawing/2014/main" id="{CCFB1B40-1E5A-3079-5BCB-288AE639C279}"/>
              </a:ext>
            </a:extLst>
          </p:cNvPr>
          <p:cNvSpPr/>
          <p:nvPr/>
        </p:nvSpPr>
        <p:spPr>
          <a:xfrm>
            <a:off x="4673206" y="3907812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6CF91802-197B-C494-EB4F-E07A7F4F937C}"/>
              </a:ext>
            </a:extLst>
          </p:cNvPr>
          <p:cNvSpPr txBox="1"/>
          <p:nvPr/>
        </p:nvSpPr>
        <p:spPr>
          <a:xfrm>
            <a:off x="4724006" y="3929934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지식 그래프 매핑 검증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B1938B40-978C-E48E-D294-E9E36071F322}"/>
              </a:ext>
            </a:extLst>
          </p:cNvPr>
          <p:cNvSpPr txBox="1"/>
          <p:nvPr/>
        </p:nvSpPr>
        <p:spPr>
          <a:xfrm>
            <a:off x="4724005" y="4075898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사내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KPI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관계망을 강제 적용하여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AI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수치 환각 방지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71" name="Shape 4">
            <a:extLst>
              <a:ext uri="{FF2B5EF4-FFF2-40B4-BE49-F238E27FC236}">
                <a16:creationId xmlns:a16="http://schemas.microsoft.com/office/drawing/2014/main" id="{A03EC3A6-1F8D-23DF-40FD-B7CFD5090F67}"/>
              </a:ext>
            </a:extLst>
          </p:cNvPr>
          <p:cNvSpPr/>
          <p:nvPr/>
        </p:nvSpPr>
        <p:spPr>
          <a:xfrm>
            <a:off x="6792061" y="2913304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91BEDAE1-00B7-449B-1578-73B8D734C698}"/>
              </a:ext>
            </a:extLst>
          </p:cNvPr>
          <p:cNvSpPr txBox="1"/>
          <p:nvPr/>
        </p:nvSpPr>
        <p:spPr>
          <a:xfrm>
            <a:off x="6842861" y="2935426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스킬 성능 및 에러 관제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71EF02BA-85D7-2144-3652-E1EAF8B2D521}"/>
              </a:ext>
            </a:extLst>
          </p:cNvPr>
          <p:cNvSpPr txBox="1"/>
          <p:nvPr/>
        </p:nvSpPr>
        <p:spPr>
          <a:xfrm>
            <a:off x="6842860" y="3081390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스킬 단위의 성공률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, </a:t>
            </a:r>
            <a:r>
              <a:rPr lang="ko-KR" altLang="en-US" sz="600" i="0" cap="all" dirty="0" err="1">
                <a:solidFill>
                  <a:srgbClr val="64748B"/>
                </a:solidFill>
                <a:effectLst/>
                <a:latin typeface="+mn-ea"/>
              </a:rPr>
              <a:t>에러율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,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호출 빈도 실시간 모니터링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75" name="Shape 4">
            <a:extLst>
              <a:ext uri="{FF2B5EF4-FFF2-40B4-BE49-F238E27FC236}">
                <a16:creationId xmlns:a16="http://schemas.microsoft.com/office/drawing/2014/main" id="{388C7793-7782-E91A-09F3-6C6245AE4276}"/>
              </a:ext>
            </a:extLst>
          </p:cNvPr>
          <p:cNvSpPr/>
          <p:nvPr/>
        </p:nvSpPr>
        <p:spPr>
          <a:xfrm>
            <a:off x="6792061" y="3412954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D5DAF012-2D32-0D8C-34B8-ED7133A6F46F}"/>
              </a:ext>
            </a:extLst>
          </p:cNvPr>
          <p:cNvSpPr txBox="1"/>
          <p:nvPr/>
        </p:nvSpPr>
        <p:spPr>
          <a:xfrm>
            <a:off x="6842861" y="3435076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지속적인 스킬 로직 보완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93CBF61-23F1-8A44-63A1-3B34D1408E39}"/>
              </a:ext>
            </a:extLst>
          </p:cNvPr>
          <p:cNvSpPr txBox="1"/>
          <p:nvPr/>
        </p:nvSpPr>
        <p:spPr>
          <a:xfrm>
            <a:off x="6842860" y="3581040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실패 질의 및 로직 변경 사항을 즉각 스킬에 업데이트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79" name="Shape 4">
            <a:extLst>
              <a:ext uri="{FF2B5EF4-FFF2-40B4-BE49-F238E27FC236}">
                <a16:creationId xmlns:a16="http://schemas.microsoft.com/office/drawing/2014/main" id="{8DE4486A-18DB-9193-8C49-D256722915EB}"/>
              </a:ext>
            </a:extLst>
          </p:cNvPr>
          <p:cNvSpPr/>
          <p:nvPr/>
        </p:nvSpPr>
        <p:spPr>
          <a:xfrm>
            <a:off x="6792061" y="3893344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EE749010-C494-EE88-4616-0E65E645E844}"/>
              </a:ext>
            </a:extLst>
          </p:cNvPr>
          <p:cNvSpPr txBox="1"/>
          <p:nvPr/>
        </p:nvSpPr>
        <p:spPr>
          <a:xfrm>
            <a:off x="6842861" y="3915466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100% 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데이터 계보 추적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C548F1E-DCAC-BB06-0E66-DD8F1B9BD6DD}"/>
              </a:ext>
            </a:extLst>
          </p:cNvPr>
          <p:cNvSpPr txBox="1"/>
          <p:nvPr/>
        </p:nvSpPr>
        <p:spPr>
          <a:xfrm>
            <a:off x="6842860" y="4061430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자연어 질의부터 최종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SQL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까지 전 워크플로우 기록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84" name="Shape 4">
            <a:extLst>
              <a:ext uri="{FF2B5EF4-FFF2-40B4-BE49-F238E27FC236}">
                <a16:creationId xmlns:a16="http://schemas.microsoft.com/office/drawing/2014/main" id="{1E462EE2-C111-6BB2-D211-B07A9BD89896}"/>
              </a:ext>
            </a:extLst>
          </p:cNvPr>
          <p:cNvSpPr/>
          <p:nvPr/>
        </p:nvSpPr>
        <p:spPr>
          <a:xfrm>
            <a:off x="259637" y="4610890"/>
            <a:ext cx="1260342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02BC6AF8-FBF5-1DF0-38AE-626643159DFB}"/>
              </a:ext>
            </a:extLst>
          </p:cNvPr>
          <p:cNvSpPr txBox="1"/>
          <p:nvPr/>
        </p:nvSpPr>
        <p:spPr>
          <a:xfrm>
            <a:off x="502535" y="4640260"/>
            <a:ext cx="1103841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Local </a:t>
            </a:r>
            <a:r>
              <a:rPr lang="en-US" altLang="ko-KR" sz="8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sLLM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 (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내부</a:t>
            </a:r>
            <a:r>
              <a:rPr lang="ko-KR" altLang="en-US" sz="8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망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)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89" name="Shape 4">
            <a:extLst>
              <a:ext uri="{FF2B5EF4-FFF2-40B4-BE49-F238E27FC236}">
                <a16:creationId xmlns:a16="http://schemas.microsoft.com/office/drawing/2014/main" id="{0DE10B88-00E0-B331-0324-0A09584DBB72}"/>
              </a:ext>
            </a:extLst>
          </p:cNvPr>
          <p:cNvSpPr/>
          <p:nvPr/>
        </p:nvSpPr>
        <p:spPr>
          <a:xfrm>
            <a:off x="1586296" y="4615935"/>
            <a:ext cx="1956129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5F8EDDFF-FC16-63E7-AE4E-90AD8095B47C}"/>
              </a:ext>
            </a:extLst>
          </p:cNvPr>
          <p:cNvSpPr txBox="1"/>
          <p:nvPr/>
        </p:nvSpPr>
        <p:spPr>
          <a:xfrm>
            <a:off x="1829195" y="4645305"/>
            <a:ext cx="171323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외부 상용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LLM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연동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(Claude/GPT)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92" name="Shape 4">
            <a:extLst>
              <a:ext uri="{FF2B5EF4-FFF2-40B4-BE49-F238E27FC236}">
                <a16:creationId xmlns:a16="http://schemas.microsoft.com/office/drawing/2014/main" id="{DDD57091-D5D7-AEAE-DE2F-1A409F1B01ED}"/>
              </a:ext>
            </a:extLst>
          </p:cNvPr>
          <p:cNvSpPr/>
          <p:nvPr/>
        </p:nvSpPr>
        <p:spPr>
          <a:xfrm>
            <a:off x="3622312" y="4610890"/>
            <a:ext cx="2462559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BA6F83AC-385C-1A8C-7FD8-2E7802A9F544}"/>
              </a:ext>
            </a:extLst>
          </p:cNvPr>
          <p:cNvSpPr txBox="1"/>
          <p:nvPr/>
        </p:nvSpPr>
        <p:spPr>
          <a:xfrm>
            <a:off x="3865210" y="4640260"/>
            <a:ext cx="2241119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Oracle DB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활용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-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AI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메타 데이터 및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Vector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연동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95" name="Shape 4">
            <a:extLst>
              <a:ext uri="{FF2B5EF4-FFF2-40B4-BE49-F238E27FC236}">
                <a16:creationId xmlns:a16="http://schemas.microsoft.com/office/drawing/2014/main" id="{2626DD26-54CD-0ADD-F450-C3521A5EFB74}"/>
              </a:ext>
            </a:extLst>
          </p:cNvPr>
          <p:cNvSpPr/>
          <p:nvPr/>
        </p:nvSpPr>
        <p:spPr>
          <a:xfrm>
            <a:off x="6179568" y="4610890"/>
            <a:ext cx="1265942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E36EC57B-E4AF-0305-D570-321FA15B3DEC}"/>
              </a:ext>
            </a:extLst>
          </p:cNvPr>
          <p:cNvSpPr txBox="1"/>
          <p:nvPr/>
        </p:nvSpPr>
        <p:spPr>
          <a:xfrm>
            <a:off x="6422466" y="4640260"/>
            <a:ext cx="102304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Knowledge Graph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03" name="그래픽 402">
            <a:extLst>
              <a:ext uri="{FF2B5EF4-FFF2-40B4-BE49-F238E27FC236}">
                <a16:creationId xmlns:a16="http://schemas.microsoft.com/office/drawing/2014/main" id="{12950E89-5797-3257-6BCB-4E6C11162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8558" y="2998889"/>
            <a:ext cx="144000" cy="144000"/>
          </a:xfrm>
          <a:prstGeom prst="rect">
            <a:avLst/>
          </a:prstGeom>
        </p:spPr>
      </p:pic>
      <p:pic>
        <p:nvPicPr>
          <p:cNvPr id="405" name="그래픽 404">
            <a:extLst>
              <a:ext uri="{FF2B5EF4-FFF2-40B4-BE49-F238E27FC236}">
                <a16:creationId xmlns:a16="http://schemas.microsoft.com/office/drawing/2014/main" id="{F7340137-46C2-4B01-C996-51DBAD119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0617" y="3000287"/>
            <a:ext cx="144000" cy="144000"/>
          </a:xfrm>
          <a:prstGeom prst="rect">
            <a:avLst/>
          </a:prstGeom>
        </p:spPr>
      </p:pic>
      <p:pic>
        <p:nvPicPr>
          <p:cNvPr id="407" name="그래픽 406">
            <a:extLst>
              <a:ext uri="{FF2B5EF4-FFF2-40B4-BE49-F238E27FC236}">
                <a16:creationId xmlns:a16="http://schemas.microsoft.com/office/drawing/2014/main" id="{2610F20F-02F9-97A1-F307-DDE7AF5A2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65250" y="3981117"/>
            <a:ext cx="144000" cy="144000"/>
          </a:xfrm>
          <a:prstGeom prst="rect">
            <a:avLst/>
          </a:prstGeom>
        </p:spPr>
      </p:pic>
      <p:pic>
        <p:nvPicPr>
          <p:cNvPr id="413" name="그래픽 412">
            <a:extLst>
              <a:ext uri="{FF2B5EF4-FFF2-40B4-BE49-F238E27FC236}">
                <a16:creationId xmlns:a16="http://schemas.microsoft.com/office/drawing/2014/main" id="{A61C379E-CBD5-08DA-767B-2B7B1B72A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77885" y="4646955"/>
            <a:ext cx="144000" cy="144000"/>
          </a:xfrm>
          <a:prstGeom prst="rect">
            <a:avLst/>
          </a:prstGeom>
        </p:spPr>
      </p:pic>
      <p:pic>
        <p:nvPicPr>
          <p:cNvPr id="415" name="그래픽 414">
            <a:extLst>
              <a:ext uri="{FF2B5EF4-FFF2-40B4-BE49-F238E27FC236}">
                <a16:creationId xmlns:a16="http://schemas.microsoft.com/office/drawing/2014/main" id="{38BD62A9-6CA5-7A81-6F7E-7A2F794F9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2212" y="2969193"/>
            <a:ext cx="144000" cy="144000"/>
          </a:xfrm>
          <a:prstGeom prst="rect">
            <a:avLst/>
          </a:prstGeom>
        </p:spPr>
      </p:pic>
      <p:pic>
        <p:nvPicPr>
          <p:cNvPr id="417" name="그래픽 416">
            <a:extLst>
              <a:ext uri="{FF2B5EF4-FFF2-40B4-BE49-F238E27FC236}">
                <a16:creationId xmlns:a16="http://schemas.microsoft.com/office/drawing/2014/main" id="{69754FA8-C834-79BE-3F39-3AAF85BB5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65381" y="2513473"/>
            <a:ext cx="195026" cy="195026"/>
          </a:xfrm>
          <a:prstGeom prst="rect">
            <a:avLst/>
          </a:prstGeom>
        </p:spPr>
      </p:pic>
      <p:pic>
        <p:nvPicPr>
          <p:cNvPr id="419" name="그래픽 418">
            <a:extLst>
              <a:ext uri="{FF2B5EF4-FFF2-40B4-BE49-F238E27FC236}">
                <a16:creationId xmlns:a16="http://schemas.microsoft.com/office/drawing/2014/main" id="{AF749EF5-A383-35C8-66AF-D3EC1019FB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3854" y="3957343"/>
            <a:ext cx="144000" cy="144000"/>
          </a:xfrm>
          <a:prstGeom prst="rect">
            <a:avLst/>
          </a:prstGeom>
        </p:spPr>
      </p:pic>
      <p:pic>
        <p:nvPicPr>
          <p:cNvPr id="421" name="그래픽 420">
            <a:extLst>
              <a:ext uri="{FF2B5EF4-FFF2-40B4-BE49-F238E27FC236}">
                <a16:creationId xmlns:a16="http://schemas.microsoft.com/office/drawing/2014/main" id="{EFC0AF7D-C615-13E8-0AC9-8227391B8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31961" y="3484101"/>
            <a:ext cx="144000" cy="144000"/>
          </a:xfrm>
          <a:prstGeom prst="rect">
            <a:avLst/>
          </a:prstGeom>
        </p:spPr>
      </p:pic>
      <p:pic>
        <p:nvPicPr>
          <p:cNvPr id="423" name="그래픽 422">
            <a:extLst>
              <a:ext uri="{FF2B5EF4-FFF2-40B4-BE49-F238E27FC236}">
                <a16:creationId xmlns:a16="http://schemas.microsoft.com/office/drawing/2014/main" id="{D85ED7BC-A3A9-4B50-2D27-C7989F315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25109" y="3491624"/>
            <a:ext cx="144000" cy="144000"/>
          </a:xfrm>
          <a:prstGeom prst="rect">
            <a:avLst/>
          </a:prstGeom>
        </p:spPr>
      </p:pic>
      <p:pic>
        <p:nvPicPr>
          <p:cNvPr id="425" name="그래픽 424">
            <a:extLst>
              <a:ext uri="{FF2B5EF4-FFF2-40B4-BE49-F238E27FC236}">
                <a16:creationId xmlns:a16="http://schemas.microsoft.com/office/drawing/2014/main" id="{37CE2800-5588-D4FA-91A0-2F82B1F776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22037" y="3973636"/>
            <a:ext cx="144000" cy="144000"/>
          </a:xfrm>
          <a:prstGeom prst="rect">
            <a:avLst/>
          </a:prstGeom>
        </p:spPr>
      </p:pic>
      <p:pic>
        <p:nvPicPr>
          <p:cNvPr id="427" name="그래픽 426">
            <a:extLst>
              <a:ext uri="{FF2B5EF4-FFF2-40B4-BE49-F238E27FC236}">
                <a16:creationId xmlns:a16="http://schemas.microsoft.com/office/drawing/2014/main" id="{6317A604-B342-6AE6-5C90-A0DE8C1D33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3929" y="4655268"/>
            <a:ext cx="144000" cy="144000"/>
          </a:xfrm>
          <a:prstGeom prst="rect">
            <a:avLst/>
          </a:prstGeom>
        </p:spPr>
      </p:pic>
      <p:pic>
        <p:nvPicPr>
          <p:cNvPr id="429" name="그래픽 428">
            <a:extLst>
              <a:ext uri="{FF2B5EF4-FFF2-40B4-BE49-F238E27FC236}">
                <a16:creationId xmlns:a16="http://schemas.microsoft.com/office/drawing/2014/main" id="{12323058-6F3B-0D3A-EC59-2EBCD690A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931" y="3964491"/>
            <a:ext cx="144000" cy="144000"/>
          </a:xfrm>
          <a:prstGeom prst="rect">
            <a:avLst/>
          </a:prstGeom>
        </p:spPr>
      </p:pic>
      <p:pic>
        <p:nvPicPr>
          <p:cNvPr id="433" name="그래픽 432">
            <a:extLst>
              <a:ext uri="{FF2B5EF4-FFF2-40B4-BE49-F238E27FC236}">
                <a16:creationId xmlns:a16="http://schemas.microsoft.com/office/drawing/2014/main" id="{72B09D05-8F18-7C0E-F139-EF91B9DE0F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94471" y="3484101"/>
            <a:ext cx="144000" cy="144000"/>
          </a:xfrm>
          <a:prstGeom prst="rect">
            <a:avLst/>
          </a:prstGeom>
        </p:spPr>
      </p:pic>
      <p:pic>
        <p:nvPicPr>
          <p:cNvPr id="437" name="그래픽 436">
            <a:extLst>
              <a:ext uri="{FF2B5EF4-FFF2-40B4-BE49-F238E27FC236}">
                <a16:creationId xmlns:a16="http://schemas.microsoft.com/office/drawing/2014/main" id="{B3CF7286-8074-DCA2-2584-64F53F502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64238" y="3524217"/>
            <a:ext cx="144000" cy="144000"/>
          </a:xfrm>
          <a:prstGeom prst="rect">
            <a:avLst/>
          </a:prstGeom>
        </p:spPr>
      </p:pic>
      <p:pic>
        <p:nvPicPr>
          <p:cNvPr id="441" name="그래픽 440">
            <a:extLst>
              <a:ext uri="{FF2B5EF4-FFF2-40B4-BE49-F238E27FC236}">
                <a16:creationId xmlns:a16="http://schemas.microsoft.com/office/drawing/2014/main" id="{41F54C82-264B-544D-9CA8-462D7165E0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289294" y="2998056"/>
            <a:ext cx="144000" cy="144000"/>
          </a:xfrm>
          <a:prstGeom prst="rect">
            <a:avLst/>
          </a:prstGeom>
        </p:spPr>
      </p:pic>
      <p:pic>
        <p:nvPicPr>
          <p:cNvPr id="443" name="그래픽 442">
            <a:extLst>
              <a:ext uri="{FF2B5EF4-FFF2-40B4-BE49-F238E27FC236}">
                <a16:creationId xmlns:a16="http://schemas.microsoft.com/office/drawing/2014/main" id="{D2C489C7-63AF-C853-A222-9EDD8A2958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16384" y="2504000"/>
            <a:ext cx="209469" cy="209469"/>
          </a:xfrm>
          <a:prstGeom prst="rect">
            <a:avLst/>
          </a:prstGeom>
        </p:spPr>
      </p:pic>
      <p:pic>
        <p:nvPicPr>
          <p:cNvPr id="447" name="그래픽 446">
            <a:extLst>
              <a:ext uri="{FF2B5EF4-FFF2-40B4-BE49-F238E27FC236}">
                <a16:creationId xmlns:a16="http://schemas.microsoft.com/office/drawing/2014/main" id="{D9D07F9F-A046-CB38-849D-EFEDD6FC5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8324" y="4654888"/>
            <a:ext cx="144000" cy="144000"/>
          </a:xfrm>
          <a:prstGeom prst="rect">
            <a:avLst/>
          </a:prstGeom>
        </p:spPr>
      </p:pic>
      <p:pic>
        <p:nvPicPr>
          <p:cNvPr id="448" name="그래픽 447">
            <a:extLst>
              <a:ext uri="{FF2B5EF4-FFF2-40B4-BE49-F238E27FC236}">
                <a16:creationId xmlns:a16="http://schemas.microsoft.com/office/drawing/2014/main" id="{90D9B203-23F4-65AD-E3AE-5940DBB78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5791" y="4663243"/>
            <a:ext cx="144000" cy="144000"/>
          </a:xfrm>
          <a:prstGeom prst="rect">
            <a:avLst/>
          </a:prstGeom>
        </p:spPr>
      </p:pic>
      <p:sp>
        <p:nvSpPr>
          <p:cNvPr id="450" name="이등변 삼각형 449">
            <a:extLst>
              <a:ext uri="{FF2B5EF4-FFF2-40B4-BE49-F238E27FC236}">
                <a16:creationId xmlns:a16="http://schemas.microsoft.com/office/drawing/2014/main" id="{0F6B4773-4002-E6DE-0B32-D17B454A1ABA}"/>
              </a:ext>
            </a:extLst>
          </p:cNvPr>
          <p:cNvSpPr/>
          <p:nvPr/>
        </p:nvSpPr>
        <p:spPr>
          <a:xfrm>
            <a:off x="870570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1" name="이등변 삼각형 450">
            <a:extLst>
              <a:ext uri="{FF2B5EF4-FFF2-40B4-BE49-F238E27FC236}">
                <a16:creationId xmlns:a16="http://schemas.microsoft.com/office/drawing/2014/main" id="{3A819477-1D0C-DC88-4A0F-E6C295C2BD87}"/>
              </a:ext>
            </a:extLst>
          </p:cNvPr>
          <p:cNvSpPr/>
          <p:nvPr/>
        </p:nvSpPr>
        <p:spPr>
          <a:xfrm>
            <a:off x="2497685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이등변 삼각형 451">
            <a:extLst>
              <a:ext uri="{FF2B5EF4-FFF2-40B4-BE49-F238E27FC236}">
                <a16:creationId xmlns:a16="http://schemas.microsoft.com/office/drawing/2014/main" id="{EE529CC5-60F9-C155-F7DF-B1CBCC7728C2}"/>
              </a:ext>
            </a:extLst>
          </p:cNvPr>
          <p:cNvSpPr/>
          <p:nvPr/>
        </p:nvSpPr>
        <p:spPr>
          <a:xfrm>
            <a:off x="4880438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3" name="이등변 삼각형 452">
            <a:extLst>
              <a:ext uri="{FF2B5EF4-FFF2-40B4-BE49-F238E27FC236}">
                <a16:creationId xmlns:a16="http://schemas.microsoft.com/office/drawing/2014/main" id="{071CA16B-5277-38EA-0287-9F8CE562B4CE}"/>
              </a:ext>
            </a:extLst>
          </p:cNvPr>
          <p:cNvSpPr/>
          <p:nvPr/>
        </p:nvSpPr>
        <p:spPr>
          <a:xfrm>
            <a:off x="6777096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7" name="Shape 4">
            <a:extLst>
              <a:ext uri="{FF2B5EF4-FFF2-40B4-BE49-F238E27FC236}">
                <a16:creationId xmlns:a16="http://schemas.microsoft.com/office/drawing/2014/main" id="{C14A9279-3AF4-4FCE-E6DE-0F2AF6FFD78F}"/>
              </a:ext>
            </a:extLst>
          </p:cNvPr>
          <p:cNvSpPr/>
          <p:nvPr/>
        </p:nvSpPr>
        <p:spPr>
          <a:xfrm>
            <a:off x="5082540" y="1976819"/>
            <a:ext cx="1707012" cy="252489"/>
          </a:xfrm>
          <a:prstGeom prst="roundRect">
            <a:avLst>
              <a:gd name="adj" fmla="val 28875"/>
            </a:avLst>
          </a:prstGeom>
          <a:solidFill>
            <a:srgbClr val="1D2537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lIns="0" tIns="18000" rIns="0" bIns="18000" anchor="ctr"/>
          <a:lstStyle/>
          <a:p>
            <a:pPr algn="l">
              <a:buNone/>
            </a:pP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  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Active</a:t>
            </a:r>
            <a:r>
              <a:rPr lang="ko-KR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Skills</a:t>
            </a: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- </a:t>
            </a:r>
            <a:r>
              <a:rPr lang="ko-KR" altLang="ko-KR" sz="1400" b="1" i="0" dirty="0">
                <a:solidFill>
                  <a:srgbClr val="13CEC4"/>
                </a:solidFill>
                <a:effectLst/>
                <a:latin typeface="Urbanist"/>
              </a:rPr>
              <a:t>142</a:t>
            </a:r>
            <a:endParaRPr lang="ko-KR" altLang="ko-KR" sz="900" b="1" i="0" dirty="0">
              <a:solidFill>
                <a:srgbClr val="13CEC4"/>
              </a:solidFill>
              <a:effectLst/>
              <a:latin typeface="Urbanist"/>
            </a:endParaRPr>
          </a:p>
        </p:txBody>
      </p:sp>
      <p:sp>
        <p:nvSpPr>
          <p:cNvPr id="458" name="Shape 4">
            <a:extLst>
              <a:ext uri="{FF2B5EF4-FFF2-40B4-BE49-F238E27FC236}">
                <a16:creationId xmlns:a16="http://schemas.microsoft.com/office/drawing/2014/main" id="{C2CFCB1E-8087-D895-EB1E-4CD883620517}"/>
              </a:ext>
            </a:extLst>
          </p:cNvPr>
          <p:cNvSpPr/>
          <p:nvPr/>
        </p:nvSpPr>
        <p:spPr>
          <a:xfrm>
            <a:off x="6929556" y="1976819"/>
            <a:ext cx="1707012" cy="252489"/>
          </a:xfrm>
          <a:prstGeom prst="roundRect">
            <a:avLst>
              <a:gd name="adj" fmla="val 28875"/>
            </a:avLst>
          </a:prstGeom>
          <a:solidFill>
            <a:srgbClr val="1D2537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lIns="0" tIns="18000" rIns="0" bIns="18000" anchor="ctr"/>
          <a:lstStyle/>
          <a:p>
            <a:pPr algn="l">
              <a:buNone/>
            </a:pP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Success</a:t>
            </a:r>
            <a:r>
              <a:rPr lang="ko-KR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Rate</a:t>
            </a: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- </a:t>
            </a:r>
            <a:r>
              <a:rPr lang="en-US" altLang="ko-KR" sz="900" b="1" cap="all" dirty="0">
                <a:solidFill>
                  <a:srgbClr val="94A3B8"/>
                </a:solidFill>
                <a:latin typeface="Urbanist"/>
              </a:rPr>
              <a:t> </a:t>
            </a:r>
            <a:r>
              <a:rPr lang="ko-KR" altLang="ko-KR" sz="1400" b="1" i="0" dirty="0">
                <a:solidFill>
                  <a:srgbClr val="13CEC4"/>
                </a:solidFill>
                <a:effectLst/>
                <a:latin typeface="Urbanist"/>
              </a:rPr>
              <a:t>99.8%</a:t>
            </a:r>
          </a:p>
        </p:txBody>
      </p:sp>
      <p:pic>
        <p:nvPicPr>
          <p:cNvPr id="460" name="그래픽 459" descr="배지 체크 표시1 단색으로 채워진">
            <a:extLst>
              <a:ext uri="{FF2B5EF4-FFF2-40B4-BE49-F238E27FC236}">
                <a16:creationId xmlns:a16="http://schemas.microsoft.com/office/drawing/2014/main" id="{6D7023E5-ADEF-F7C2-EB0E-47A08AD7A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94584" y="2021286"/>
            <a:ext cx="149329" cy="149329"/>
          </a:xfrm>
          <a:prstGeom prst="rect">
            <a:avLst/>
          </a:prstGeom>
        </p:spPr>
      </p:pic>
      <p:pic>
        <p:nvPicPr>
          <p:cNvPr id="462" name="그래픽 461" descr="상향 추세 단색으로 채워진">
            <a:extLst>
              <a:ext uri="{FF2B5EF4-FFF2-40B4-BE49-F238E27FC236}">
                <a16:creationId xmlns:a16="http://schemas.microsoft.com/office/drawing/2014/main" id="{DB6F4309-E89A-6904-C65E-3E4DDEFA2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23263" t="21528" b="26214"/>
          <a:stretch>
            <a:fillRect/>
          </a:stretch>
        </p:blipFill>
        <p:spPr>
          <a:xfrm>
            <a:off x="6313087" y="2002235"/>
            <a:ext cx="354414" cy="18812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D2CE1F1D-F2FB-A597-71ED-93548A892416}"/>
              </a:ext>
            </a:extLst>
          </p:cNvPr>
          <p:cNvSpPr/>
          <p:nvPr/>
        </p:nvSpPr>
        <p:spPr>
          <a:xfrm>
            <a:off x="7533263" y="4610328"/>
            <a:ext cx="1265942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BA6C1-AF68-7B19-A168-DE97B31F550D}"/>
              </a:ext>
            </a:extLst>
          </p:cNvPr>
          <p:cNvSpPr txBox="1"/>
          <p:nvPr/>
        </p:nvSpPr>
        <p:spPr>
          <a:xfrm>
            <a:off x="7776161" y="4639698"/>
            <a:ext cx="102304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내부 문서 관리 시스템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6EAE89B5-045A-02DF-0CD0-832B0A0CF826}"/>
              </a:ext>
            </a:extLst>
          </p:cNvPr>
          <p:cNvSpPr/>
          <p:nvPr/>
        </p:nvSpPr>
        <p:spPr>
          <a:xfrm>
            <a:off x="8130791" y="4517652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D61324-2A10-4C13-5032-61B856903DAB}"/>
              </a:ext>
            </a:extLst>
          </p:cNvPr>
          <p:cNvGrpSpPr/>
          <p:nvPr/>
        </p:nvGrpSpPr>
        <p:grpSpPr>
          <a:xfrm>
            <a:off x="7608964" y="4634860"/>
            <a:ext cx="170609" cy="170609"/>
            <a:chOff x="2530648" y="3916717"/>
            <a:chExt cx="246899" cy="246899"/>
          </a:xfrm>
        </p:grpSpPr>
        <p:pic>
          <p:nvPicPr>
            <p:cNvPr id="9" name="그래픽 8" descr="용지 단색으로 채워진">
              <a:extLst>
                <a:ext uri="{FF2B5EF4-FFF2-40B4-BE49-F238E27FC236}">
                  <a16:creationId xmlns:a16="http://schemas.microsoft.com/office/drawing/2014/main" id="{E3D72A15-F6D1-56A5-C2FB-24A3D800B3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530648" y="3916717"/>
              <a:ext cx="246899" cy="246899"/>
            </a:xfrm>
            <a:prstGeom prst="rect">
              <a:avLst/>
            </a:prstGeom>
          </p:spPr>
        </p:pic>
        <p:pic>
          <p:nvPicPr>
            <p:cNvPr id="11" name="그래픽 10" descr="서명 단색으로 채워진">
              <a:extLst>
                <a:ext uri="{FF2B5EF4-FFF2-40B4-BE49-F238E27FC236}">
                  <a16:creationId xmlns:a16="http://schemas.microsoft.com/office/drawing/2014/main" id="{700B7DD2-D664-8483-DB9C-DF20369888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586990" y="3999992"/>
              <a:ext cx="137160" cy="137160"/>
            </a:xfrm>
            <a:prstGeom prst="rect">
              <a:avLst/>
            </a:prstGeom>
          </p:spPr>
        </p:pic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D49821-A0CD-0472-F996-E30E8D02AAE2}"/>
              </a:ext>
            </a:extLst>
          </p:cNvPr>
          <p:cNvCxnSpPr/>
          <p:nvPr/>
        </p:nvCxnSpPr>
        <p:spPr>
          <a:xfrm>
            <a:off x="270981" y="2837104"/>
            <a:ext cx="8595360" cy="0"/>
          </a:xfrm>
          <a:prstGeom prst="line">
            <a:avLst/>
          </a:prstGeom>
          <a:ln>
            <a:solidFill>
              <a:srgbClr val="13CEC4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011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12E7-BEBC-D72C-8E9F-4F6E39E4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70BAC0F6-60B1-0101-8064-0FD52AF1412F}"/>
              </a:ext>
            </a:extLst>
          </p:cNvPr>
          <p:cNvSpPr/>
          <p:nvPr/>
        </p:nvSpPr>
        <p:spPr>
          <a:xfrm>
            <a:off x="0" y="569241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88A551D4-A165-83BA-88B9-59B13C9F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유연한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LLM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하이브리드 구성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9C0E2AB1-8CBA-36C0-EE68-48308E776A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20C0CDE-2777-58EE-64DE-82460FC6EAC6}"/>
              </a:ext>
            </a:extLst>
          </p:cNvPr>
          <p:cNvSpPr txBox="1"/>
          <p:nvPr/>
        </p:nvSpPr>
        <p:spPr>
          <a:xfrm>
            <a:off x="256032" y="666744"/>
            <a:ext cx="8595360" cy="2396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b="1" dirty="0">
                <a:latin typeface="+mn-ea"/>
                <a:ea typeface="+mn-ea"/>
              </a:rPr>
              <a:t>전략적 하이브리드 </a:t>
            </a:r>
            <a:r>
              <a:rPr lang="en-US" altLang="ko-KR" sz="1400" b="1" dirty="0">
                <a:latin typeface="+mn-ea"/>
                <a:ea typeface="+mn-ea"/>
              </a:rPr>
              <a:t>LLM </a:t>
            </a:r>
            <a:r>
              <a:rPr lang="ko-KR" altLang="en-US" sz="1400" b="1" dirty="0">
                <a:latin typeface="+mn-ea"/>
                <a:ea typeface="+mn-ea"/>
              </a:rPr>
              <a:t>아키텍처 </a:t>
            </a:r>
            <a:r>
              <a:rPr lang="en-US" altLang="ko-KR" sz="1400" b="1" dirty="0">
                <a:latin typeface="+mn-ea"/>
                <a:ea typeface="+mn-ea"/>
              </a:rPr>
              <a:t>- </a:t>
            </a:r>
            <a:r>
              <a:rPr lang="ko-KR" altLang="en-US" sz="1400" b="1" dirty="0">
                <a:latin typeface="+mn-ea"/>
                <a:ea typeface="+mn-ea"/>
              </a:rPr>
              <a:t>보안과 성능의 유기적 최적화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FA0D01F-4658-84D0-9BC9-79C5C19283F7}"/>
              </a:ext>
            </a:extLst>
          </p:cNvPr>
          <p:cNvSpPr txBox="1"/>
          <p:nvPr/>
        </p:nvSpPr>
        <p:spPr>
          <a:xfrm>
            <a:off x="256032" y="943032"/>
            <a:ext cx="8595360" cy="145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보안성</a:t>
            </a: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·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성능</a:t>
            </a: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·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비용을 최적화하는 하이브리드</a:t>
            </a: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(Hybrid) 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운영 모델을 통해 사내 민감 데이터 격리와 고성능 추론 효율성을 동시 확보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59A93DE9-1550-75A2-F976-AA1D1E8E4331}"/>
              </a:ext>
            </a:extLst>
          </p:cNvPr>
          <p:cNvSpPr/>
          <p:nvPr/>
        </p:nvSpPr>
        <p:spPr>
          <a:xfrm>
            <a:off x="2862210" y="1264140"/>
            <a:ext cx="3654414" cy="220053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B1B6DC5-C6AB-3C5F-A411-99F0375F2600}"/>
              </a:ext>
            </a:extLst>
          </p:cNvPr>
          <p:cNvSpPr/>
          <p:nvPr/>
        </p:nvSpPr>
        <p:spPr>
          <a:xfrm>
            <a:off x="154038" y="1459207"/>
            <a:ext cx="2979686" cy="1839260"/>
          </a:xfrm>
          <a:prstGeom prst="roundRect">
            <a:avLst>
              <a:gd name="adj" fmla="val 2742"/>
            </a:avLst>
          </a:prstGeom>
          <a:solidFill>
            <a:srgbClr val="0A1628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32361EE5-0191-1E02-F473-9982D1BF118B}"/>
              </a:ext>
            </a:extLst>
          </p:cNvPr>
          <p:cNvSpPr txBox="1"/>
          <p:nvPr/>
        </p:nvSpPr>
        <p:spPr>
          <a:xfrm>
            <a:off x="264553" y="2479712"/>
            <a:ext cx="2795909" cy="69108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900" b="1" dirty="0">
                <a:solidFill>
                  <a:srgbClr val="41C0C2"/>
                </a:solidFill>
                <a:latin typeface="SUIT"/>
              </a:rPr>
              <a:t>✔</a:t>
            </a:r>
            <a:r>
              <a:rPr lang="ko-KR" altLang="en-US" sz="900" b="1" dirty="0">
                <a:solidFill>
                  <a:srgbClr val="FFFFFF"/>
                </a:solidFill>
                <a:latin typeface="SUIT"/>
              </a:rPr>
              <a:t> </a:t>
            </a:r>
            <a:r>
              <a:rPr lang="en-US" altLang="ko-KR" sz="900" b="1" dirty="0">
                <a:solidFill>
                  <a:srgbClr val="FFFFFF"/>
                </a:solidFill>
                <a:latin typeface="SUIT"/>
              </a:rPr>
              <a:t>Zero-Leakage: </a:t>
            </a:r>
            <a:r>
              <a:rPr lang="ko-KR" altLang="en-US" sz="900" b="1" dirty="0">
                <a:solidFill>
                  <a:srgbClr val="FFFFFF"/>
                </a:solidFill>
                <a:latin typeface="SUIT"/>
              </a:rPr>
              <a:t>독립 </a:t>
            </a:r>
            <a:r>
              <a:rPr lang="ko-KR" altLang="en-US" sz="900" b="1" dirty="0" err="1">
                <a:solidFill>
                  <a:srgbClr val="FFFFFF"/>
                </a:solidFill>
                <a:latin typeface="SUIT"/>
              </a:rPr>
              <a:t>폐쇄망</a:t>
            </a:r>
            <a:r>
              <a:rPr lang="ko-KR" altLang="en-US" sz="900" b="1" dirty="0">
                <a:solidFill>
                  <a:srgbClr val="FFFFFF"/>
                </a:solidFill>
                <a:latin typeface="SUIT"/>
              </a:rPr>
              <a:t> 구동으로 유출 차단</a:t>
            </a:r>
            <a:endParaRPr lang="en-US" altLang="ko-KR" sz="900" b="1" dirty="0">
              <a:solidFill>
                <a:srgbClr val="FFFFFF"/>
              </a:solidFill>
              <a:latin typeface="SUIT"/>
            </a:endParaRP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900" b="1" dirty="0">
                <a:solidFill>
                  <a:srgbClr val="41C0C2"/>
                </a:solidFill>
                <a:latin typeface="SUIT"/>
              </a:rPr>
              <a:t>✔</a:t>
            </a:r>
            <a:r>
              <a:rPr lang="ko-KR" altLang="en-US" sz="900" b="1" dirty="0">
                <a:solidFill>
                  <a:srgbClr val="FFFFFF"/>
                </a:solidFill>
                <a:latin typeface="SUIT"/>
              </a:rPr>
              <a:t> </a:t>
            </a:r>
            <a:r>
              <a:rPr lang="en-US" altLang="ko-KR" sz="900" b="1" dirty="0">
                <a:solidFill>
                  <a:srgbClr val="FFFFFF"/>
                </a:solidFill>
                <a:latin typeface="SUIT"/>
              </a:rPr>
              <a:t>Domain Optimization: </a:t>
            </a:r>
            <a:r>
              <a:rPr lang="ko-KR" altLang="en-US" sz="900" b="1" dirty="0">
                <a:solidFill>
                  <a:srgbClr val="FFFFFF"/>
                </a:solidFill>
                <a:latin typeface="SUIT"/>
              </a:rPr>
              <a:t>한국어 및 사내 특화 튜닝</a:t>
            </a: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900" b="1" dirty="0">
                <a:solidFill>
                  <a:srgbClr val="41C0C2"/>
                </a:solidFill>
                <a:latin typeface="SUIT"/>
              </a:rPr>
              <a:t>✔</a:t>
            </a:r>
            <a:r>
              <a:rPr lang="ko-KR" altLang="en-US" sz="900" b="1" dirty="0">
                <a:solidFill>
                  <a:srgbClr val="FFFFFF"/>
                </a:solidFill>
                <a:latin typeface="SUIT"/>
              </a:rPr>
              <a:t> </a:t>
            </a:r>
            <a:r>
              <a:rPr lang="en-US" altLang="ko-KR" sz="900" b="1" dirty="0">
                <a:solidFill>
                  <a:srgbClr val="FFFFFF"/>
                </a:solidFill>
                <a:latin typeface="SUIT"/>
              </a:rPr>
              <a:t>Asset Utilization: </a:t>
            </a:r>
            <a:r>
              <a:rPr lang="ko-KR" altLang="en-US" sz="900" b="1" dirty="0">
                <a:solidFill>
                  <a:srgbClr val="FFFFFF"/>
                </a:solidFill>
                <a:latin typeface="SUIT"/>
              </a:rPr>
              <a:t>사내 </a:t>
            </a:r>
            <a:r>
              <a:rPr lang="en-US" altLang="ko-KR" sz="900" b="1" dirty="0">
                <a:solidFill>
                  <a:srgbClr val="FFFFFF"/>
                </a:solidFill>
                <a:latin typeface="SUIT"/>
              </a:rPr>
              <a:t>GPU </a:t>
            </a:r>
            <a:r>
              <a:rPr lang="ko-KR" altLang="en-US" sz="900" b="1" dirty="0">
                <a:solidFill>
                  <a:srgbClr val="FFFFFF"/>
                </a:solidFill>
                <a:latin typeface="SUIT"/>
              </a:rPr>
              <a:t>활용 고정비 운영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1BAF21E2-0579-358F-887C-6974CA995736}"/>
              </a:ext>
            </a:extLst>
          </p:cNvPr>
          <p:cNvSpPr txBox="1"/>
          <p:nvPr/>
        </p:nvSpPr>
        <p:spPr>
          <a:xfrm>
            <a:off x="263790" y="1605511"/>
            <a:ext cx="1601204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800" b="1" dirty="0">
                <a:solidFill>
                  <a:srgbClr val="41C0C2"/>
                </a:solidFill>
                <a:latin typeface="SUIT ExtraBold" pitchFamily="50" charset="-127"/>
                <a:ea typeface="SUIT ExtraBold" pitchFamily="50" charset="-127"/>
              </a:rPr>
              <a:t>ON-PREMISE TRACK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29100231-145D-9C16-FE88-DC7FEC23A246}"/>
              </a:ext>
            </a:extLst>
          </p:cNvPr>
          <p:cNvSpPr txBox="1"/>
          <p:nvPr/>
        </p:nvSpPr>
        <p:spPr>
          <a:xfrm>
            <a:off x="277493" y="1836953"/>
            <a:ext cx="2461261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400" b="1" dirty="0">
                <a:solidFill>
                  <a:srgbClr val="FFFFFF"/>
                </a:solidFill>
                <a:latin typeface="SUIT"/>
              </a:rPr>
              <a:t>사내 </a:t>
            </a:r>
            <a:r>
              <a:rPr lang="en-US" sz="1400" b="1" dirty="0">
                <a:solidFill>
                  <a:srgbClr val="FFFFFF"/>
                </a:solidFill>
                <a:latin typeface="SUIT"/>
              </a:rPr>
              <a:t>GPU </a:t>
            </a:r>
            <a:r>
              <a:rPr lang="ko-KR" altLang="en-US" sz="1400" b="1" dirty="0">
                <a:solidFill>
                  <a:srgbClr val="FFFFFF"/>
                </a:solidFill>
                <a:latin typeface="SUIT"/>
              </a:rPr>
              <a:t>기반 </a:t>
            </a:r>
            <a:r>
              <a:rPr lang="en-US" sz="1400" b="1" dirty="0" err="1">
                <a:solidFill>
                  <a:srgbClr val="FFFFFF"/>
                </a:solidFill>
                <a:latin typeface="SUIT"/>
              </a:rPr>
              <a:t>sLLM</a:t>
            </a:r>
            <a:endParaRPr lang="en-US" sz="1400" b="1" dirty="0">
              <a:solidFill>
                <a:srgbClr val="FFFFFF"/>
              </a:solidFill>
              <a:latin typeface="SUIT"/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091D937E-E679-EA61-9612-7A3491714734}"/>
              </a:ext>
            </a:extLst>
          </p:cNvPr>
          <p:cNvSpPr txBox="1"/>
          <p:nvPr/>
        </p:nvSpPr>
        <p:spPr>
          <a:xfrm>
            <a:off x="252093" y="2092273"/>
            <a:ext cx="23037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sz="800" b="0" i="0" u="none" strike="noStrike" dirty="0">
                <a:solidFill>
                  <a:srgbClr val="94A3B8"/>
                </a:solidFill>
                <a:effectLst/>
                <a:latin typeface="SUIT Light" pitchFamily="50" charset="-127"/>
                <a:ea typeface="SUIT Light" pitchFamily="50" charset="-127"/>
              </a:rPr>
              <a:t>민감 데이터 </a:t>
            </a:r>
            <a:r>
              <a:rPr lang="en-US" altLang="ko-KR" sz="800" b="0" i="0" u="none" strike="noStrike" dirty="0">
                <a:solidFill>
                  <a:srgbClr val="94A3B8"/>
                </a:solidFill>
                <a:effectLst/>
                <a:latin typeface="SUIT Light" pitchFamily="50" charset="-127"/>
                <a:ea typeface="SUIT Light" pitchFamily="50" charset="-127"/>
              </a:rPr>
              <a:t>· </a:t>
            </a:r>
            <a:r>
              <a:rPr lang="ko-KR" altLang="en-US" sz="800" b="0" i="0" u="none" strike="noStrike" dirty="0">
                <a:solidFill>
                  <a:srgbClr val="94A3B8"/>
                </a:solidFill>
                <a:effectLst/>
                <a:latin typeface="SUIT Light" pitchFamily="50" charset="-127"/>
                <a:ea typeface="SUIT Light" pitchFamily="50" charset="-127"/>
              </a:rPr>
              <a:t>보안 최우선 </a:t>
            </a:r>
            <a:r>
              <a:rPr lang="ko-KR" altLang="en-US" sz="800" b="0" i="0" u="none" strike="noStrike" dirty="0" err="1">
                <a:solidFill>
                  <a:srgbClr val="94A3B8"/>
                </a:solidFill>
                <a:effectLst/>
                <a:latin typeface="SUIT Light" pitchFamily="50" charset="-127"/>
                <a:ea typeface="SUIT Light" pitchFamily="50" charset="-127"/>
              </a:rPr>
              <a:t>프라이빗</a:t>
            </a:r>
            <a:r>
              <a:rPr lang="ko-KR" altLang="en-US" sz="800" b="0" i="0" u="none" strike="noStrike" dirty="0">
                <a:solidFill>
                  <a:srgbClr val="94A3B8"/>
                </a:solidFill>
                <a:effectLst/>
                <a:latin typeface="SUIT Light" pitchFamily="50" charset="-127"/>
                <a:ea typeface="SUIT Light" pitchFamily="50" charset="-127"/>
              </a:rPr>
              <a:t> 분석</a:t>
            </a:r>
            <a:endParaRPr lang="ko-KR" altLang="en-US" sz="800" b="0" dirty="0">
              <a:effectLst/>
              <a:latin typeface="SUIT Light" pitchFamily="50" charset="-127"/>
              <a:ea typeface="SUIT Light" pitchFamily="50" charset="-127"/>
            </a:endParaRPr>
          </a:p>
        </p:txBody>
      </p:sp>
      <p:cxnSp>
        <p:nvCxnSpPr>
          <p:cNvPr id="1038" name="직선 연결선 1037">
            <a:extLst>
              <a:ext uri="{FF2B5EF4-FFF2-40B4-BE49-F238E27FC236}">
                <a16:creationId xmlns:a16="http://schemas.microsoft.com/office/drawing/2014/main" id="{2C502B31-0927-80C4-CB9F-35CE4C52C857}"/>
              </a:ext>
            </a:extLst>
          </p:cNvPr>
          <p:cNvCxnSpPr/>
          <p:nvPr/>
        </p:nvCxnSpPr>
        <p:spPr>
          <a:xfrm>
            <a:off x="3357" y="3561317"/>
            <a:ext cx="9144000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Shape 4">
            <a:extLst>
              <a:ext uri="{FF2B5EF4-FFF2-40B4-BE49-F238E27FC236}">
                <a16:creationId xmlns:a16="http://schemas.microsoft.com/office/drawing/2014/main" id="{1D409090-F57C-E2FA-313B-7B6ED90E9D79}"/>
              </a:ext>
            </a:extLst>
          </p:cNvPr>
          <p:cNvSpPr/>
          <p:nvPr/>
        </p:nvSpPr>
        <p:spPr>
          <a:xfrm>
            <a:off x="6159477" y="1463520"/>
            <a:ext cx="2818408" cy="1839257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DFA7C894-AACF-05D6-8DA7-11D226097831}"/>
              </a:ext>
            </a:extLst>
          </p:cNvPr>
          <p:cNvSpPr txBox="1"/>
          <p:nvPr/>
        </p:nvSpPr>
        <p:spPr>
          <a:xfrm>
            <a:off x="6456052" y="2426027"/>
            <a:ext cx="2474201" cy="69108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900" b="1" dirty="0">
                <a:solidFill>
                  <a:srgbClr val="41C0C2"/>
                </a:solidFill>
                <a:latin typeface="SUIT"/>
              </a:rPr>
              <a:t>✔</a:t>
            </a:r>
            <a:r>
              <a:rPr lang="ko-KR" altLang="en-US" sz="900" b="1" dirty="0">
                <a:solidFill>
                  <a:srgbClr val="FFFFFF"/>
                </a:solidFill>
                <a:latin typeface="SUIT"/>
              </a:rPr>
              <a:t> </a:t>
            </a:r>
            <a:r>
              <a:rPr lang="en-US" altLang="ko-KR" sz="900" b="1" dirty="0">
                <a:latin typeface="SUIT"/>
              </a:rPr>
              <a:t>State-of-the-Art: </a:t>
            </a:r>
            <a:r>
              <a:rPr lang="ko-KR" altLang="en-US" sz="900" b="1" dirty="0">
                <a:latin typeface="SUIT"/>
              </a:rPr>
              <a:t>최신 모델 즉각 적용</a:t>
            </a:r>
            <a:endParaRPr lang="en-US" altLang="ko-KR" sz="900" b="1" dirty="0">
              <a:latin typeface="SUIT"/>
            </a:endParaRP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900" b="1" dirty="0">
                <a:solidFill>
                  <a:srgbClr val="41C0C2"/>
                </a:solidFill>
                <a:latin typeface="SUIT"/>
              </a:rPr>
              <a:t>✔</a:t>
            </a:r>
            <a:r>
              <a:rPr lang="ko-KR" altLang="en-US" sz="900" b="1" dirty="0">
                <a:latin typeface="SUIT"/>
              </a:rPr>
              <a:t> </a:t>
            </a:r>
            <a:r>
              <a:rPr lang="en-US" altLang="ko-KR" sz="900" b="1" dirty="0" err="1">
                <a:latin typeface="SUIT"/>
              </a:rPr>
              <a:t>OpEx</a:t>
            </a:r>
            <a:r>
              <a:rPr lang="en-US" altLang="ko-KR" sz="900" b="1" dirty="0">
                <a:latin typeface="SUIT"/>
              </a:rPr>
              <a:t> Optimized: </a:t>
            </a:r>
            <a:r>
              <a:rPr lang="ko-KR" altLang="en-US" sz="900" b="1" dirty="0">
                <a:latin typeface="SUIT"/>
              </a:rPr>
              <a:t>종량제 기반 비용 최적화</a:t>
            </a: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900" b="1" dirty="0">
                <a:solidFill>
                  <a:srgbClr val="41C0C2"/>
                </a:solidFill>
                <a:latin typeface="SUIT"/>
              </a:rPr>
              <a:t>✔</a:t>
            </a:r>
            <a:r>
              <a:rPr lang="ko-KR" altLang="en-US" sz="900" b="1" dirty="0">
                <a:latin typeface="SUIT"/>
              </a:rPr>
              <a:t> </a:t>
            </a:r>
            <a:r>
              <a:rPr lang="en-US" altLang="ko-KR" sz="900" b="1" dirty="0">
                <a:latin typeface="SUIT"/>
              </a:rPr>
              <a:t>Agility: </a:t>
            </a:r>
            <a:r>
              <a:rPr lang="ko-KR" altLang="en-US" sz="900" b="1" dirty="0">
                <a:latin typeface="SUIT"/>
              </a:rPr>
              <a:t>고난도 다단계 복합 추론 대응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FE92966A-CAEF-0DDD-7111-B40663DD8B11}"/>
              </a:ext>
            </a:extLst>
          </p:cNvPr>
          <p:cNvSpPr txBox="1"/>
          <p:nvPr/>
        </p:nvSpPr>
        <p:spPr>
          <a:xfrm>
            <a:off x="6455289" y="1603582"/>
            <a:ext cx="1601204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800" b="1" dirty="0">
                <a:solidFill>
                  <a:srgbClr val="41C0C2"/>
                </a:solidFill>
                <a:latin typeface="SUIT ExtraBold" pitchFamily="50" charset="-127"/>
                <a:ea typeface="SUIT ExtraBold" pitchFamily="50" charset="-127"/>
              </a:rPr>
              <a:t>CLOUD TRACK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8C7C7CF3-6549-1D15-F083-A6658778385F}"/>
              </a:ext>
            </a:extLst>
          </p:cNvPr>
          <p:cNvSpPr txBox="1"/>
          <p:nvPr/>
        </p:nvSpPr>
        <p:spPr>
          <a:xfrm>
            <a:off x="6468992" y="1835024"/>
            <a:ext cx="2461261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400" b="1" dirty="0">
                <a:latin typeface="SUIT"/>
              </a:rPr>
              <a:t>외부 상용 LLM (Claude/GPT)</a:t>
            </a:r>
            <a:endParaRPr lang="en-US" sz="1400" b="1" dirty="0">
              <a:latin typeface="SUIT"/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C4CBE04B-E4CD-0A00-9726-3DBCB6FB6911}"/>
              </a:ext>
            </a:extLst>
          </p:cNvPr>
          <p:cNvSpPr txBox="1"/>
          <p:nvPr/>
        </p:nvSpPr>
        <p:spPr>
          <a:xfrm>
            <a:off x="6443592" y="2090344"/>
            <a:ext cx="23037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sz="800" b="0" i="0" u="none" strike="noStrike" dirty="0">
                <a:solidFill>
                  <a:srgbClr val="94A3B8"/>
                </a:solidFill>
                <a:effectLst/>
                <a:latin typeface="SUIT Light" pitchFamily="50" charset="-127"/>
                <a:ea typeface="SUIT Light" pitchFamily="50" charset="-127"/>
              </a:rPr>
              <a:t>최신 모델 기반 고난도 추론</a:t>
            </a:r>
            <a:endParaRPr lang="ko-KR" altLang="en-US" sz="800" b="0" dirty="0">
              <a:effectLst/>
              <a:latin typeface="SUIT Light" pitchFamily="50" charset="-127"/>
              <a:ea typeface="SUIT Light" pitchFamily="50" charset="-127"/>
            </a:endParaRPr>
          </a:p>
        </p:txBody>
      </p:sp>
      <p:cxnSp>
        <p:nvCxnSpPr>
          <p:cNvPr id="1050" name="직선 연결선 1049">
            <a:extLst>
              <a:ext uri="{FF2B5EF4-FFF2-40B4-BE49-F238E27FC236}">
                <a16:creationId xmlns:a16="http://schemas.microsoft.com/office/drawing/2014/main" id="{C510B7DD-2AE3-8AF5-E782-CEE3BA729303}"/>
              </a:ext>
            </a:extLst>
          </p:cNvPr>
          <p:cNvCxnSpPr>
            <a:cxnSpLocks/>
          </p:cNvCxnSpPr>
          <p:nvPr/>
        </p:nvCxnSpPr>
        <p:spPr>
          <a:xfrm>
            <a:off x="3467122" y="1902559"/>
            <a:ext cx="245922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4" name="Shape 4">
            <a:extLst>
              <a:ext uri="{FF2B5EF4-FFF2-40B4-BE49-F238E27FC236}">
                <a16:creationId xmlns:a16="http://schemas.microsoft.com/office/drawing/2014/main" id="{85E67FD8-D11B-3E59-955B-F340B8D44907}"/>
              </a:ext>
            </a:extLst>
          </p:cNvPr>
          <p:cNvSpPr/>
          <p:nvPr/>
        </p:nvSpPr>
        <p:spPr>
          <a:xfrm>
            <a:off x="3719925" y="1439728"/>
            <a:ext cx="380740" cy="401614"/>
          </a:xfrm>
          <a:prstGeom prst="roundRect">
            <a:avLst>
              <a:gd name="adj" fmla="val 17269"/>
            </a:avLst>
          </a:prstGeom>
          <a:solidFill>
            <a:srgbClr val="FAFEFE"/>
          </a:solidFill>
          <a:ln>
            <a:solidFill>
              <a:srgbClr val="0D9488"/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65" name="그룹 1064">
            <a:extLst>
              <a:ext uri="{FF2B5EF4-FFF2-40B4-BE49-F238E27FC236}">
                <a16:creationId xmlns:a16="http://schemas.microsoft.com/office/drawing/2014/main" id="{AD845E62-BAEC-E25D-EC08-DBC602013223}"/>
              </a:ext>
            </a:extLst>
          </p:cNvPr>
          <p:cNvGrpSpPr/>
          <p:nvPr/>
        </p:nvGrpSpPr>
        <p:grpSpPr>
          <a:xfrm>
            <a:off x="3779234" y="1525391"/>
            <a:ext cx="255778" cy="211297"/>
            <a:chOff x="3464565" y="3772634"/>
            <a:chExt cx="342501" cy="282938"/>
          </a:xfrm>
          <a:solidFill>
            <a:srgbClr val="0D9488"/>
          </a:solidFill>
        </p:grpSpPr>
        <p:sp>
          <p:nvSpPr>
            <p:cNvPr id="1066" name="자유형: 도형 1065">
              <a:extLst>
                <a:ext uri="{FF2B5EF4-FFF2-40B4-BE49-F238E27FC236}">
                  <a16:creationId xmlns:a16="http://schemas.microsoft.com/office/drawing/2014/main" id="{EE7D90D7-127C-39EC-96E5-BF17FBD68EA9}"/>
                </a:ext>
              </a:extLst>
            </p:cNvPr>
            <p:cNvSpPr/>
            <p:nvPr/>
          </p:nvSpPr>
          <p:spPr>
            <a:xfrm>
              <a:off x="3627731" y="3924498"/>
              <a:ext cx="179335" cy="131074"/>
            </a:xfrm>
            <a:custGeom>
              <a:avLst/>
              <a:gdLst>
                <a:gd name="csX0" fmla="*/ 123945 w 179335"/>
                <a:gd name="csY0" fmla="*/ 7632 h 131074"/>
                <a:gd name="csX1" fmla="*/ 108153 w 179335"/>
                <a:gd name="csY1" fmla="*/ 7906 h 131074"/>
                <a:gd name="csX2" fmla="*/ 108153 w 179335"/>
                <a:gd name="csY2" fmla="*/ 23424 h 131074"/>
                <a:gd name="csX3" fmla="*/ 141208 w 179335"/>
                <a:gd name="csY3" fmla="*/ 56480 h 131074"/>
                <a:gd name="csX4" fmla="*/ 98492 w 179335"/>
                <a:gd name="csY4" fmla="*/ 56480 h 131074"/>
                <a:gd name="csX5" fmla="*/ 53743 w 179335"/>
                <a:gd name="csY5" fmla="*/ 37943 h 131074"/>
                <a:gd name="csX6" fmla="*/ 15796 w 179335"/>
                <a:gd name="csY6" fmla="*/ 0 h 131074"/>
                <a:gd name="csX7" fmla="*/ 0 w 179335"/>
                <a:gd name="csY7" fmla="*/ 15789 h 131074"/>
                <a:gd name="csX8" fmla="*/ 37947 w 179335"/>
                <a:gd name="csY8" fmla="*/ 53740 h 131074"/>
                <a:gd name="csX9" fmla="*/ 98492 w 179335"/>
                <a:gd name="csY9" fmla="*/ 78817 h 131074"/>
                <a:gd name="csX10" fmla="*/ 141208 w 179335"/>
                <a:gd name="csY10" fmla="*/ 78817 h 131074"/>
                <a:gd name="csX11" fmla="*/ 108153 w 179335"/>
                <a:gd name="csY11" fmla="*/ 111872 h 131074"/>
                <a:gd name="csX12" fmla="*/ 107879 w 179335"/>
                <a:gd name="csY12" fmla="*/ 127664 h 131074"/>
                <a:gd name="csX13" fmla="*/ 123671 w 179335"/>
                <a:gd name="csY13" fmla="*/ 127939 h 131074"/>
                <a:gd name="csX14" fmla="*/ 123945 w 179335"/>
                <a:gd name="csY14" fmla="*/ 127664 h 131074"/>
                <a:gd name="csX15" fmla="*/ 176065 w 179335"/>
                <a:gd name="csY15" fmla="*/ 75544 h 131074"/>
                <a:gd name="csX16" fmla="*/ 176065 w 179335"/>
                <a:gd name="csY16" fmla="*/ 59752 h 1310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79335" h="131074">
                  <a:moveTo>
                    <a:pt x="123945" y="7632"/>
                  </a:moveTo>
                  <a:cubicBezTo>
                    <a:pt x="119508" y="3347"/>
                    <a:pt x="112438" y="3470"/>
                    <a:pt x="108153" y="7906"/>
                  </a:cubicBezTo>
                  <a:cubicBezTo>
                    <a:pt x="103973" y="12234"/>
                    <a:pt x="103973" y="19096"/>
                    <a:pt x="108153" y="23424"/>
                  </a:cubicBezTo>
                  <a:lnTo>
                    <a:pt x="141208" y="56480"/>
                  </a:lnTo>
                  <a:lnTo>
                    <a:pt x="98492" y="56480"/>
                  </a:lnTo>
                  <a:cubicBezTo>
                    <a:pt x="81699" y="56524"/>
                    <a:pt x="65586" y="49850"/>
                    <a:pt x="53743" y="37943"/>
                  </a:cubicBezTo>
                  <a:lnTo>
                    <a:pt x="15796" y="0"/>
                  </a:lnTo>
                  <a:lnTo>
                    <a:pt x="0" y="15789"/>
                  </a:lnTo>
                  <a:lnTo>
                    <a:pt x="37947" y="53740"/>
                  </a:lnTo>
                  <a:cubicBezTo>
                    <a:pt x="53971" y="69848"/>
                    <a:pt x="75771" y="78877"/>
                    <a:pt x="98492" y="78817"/>
                  </a:cubicBezTo>
                  <a:lnTo>
                    <a:pt x="141208" y="78817"/>
                  </a:lnTo>
                  <a:lnTo>
                    <a:pt x="108153" y="111872"/>
                  </a:lnTo>
                  <a:cubicBezTo>
                    <a:pt x="103716" y="116157"/>
                    <a:pt x="103593" y="123228"/>
                    <a:pt x="107879" y="127664"/>
                  </a:cubicBezTo>
                  <a:cubicBezTo>
                    <a:pt x="112164" y="132101"/>
                    <a:pt x="119234" y="132224"/>
                    <a:pt x="123671" y="127939"/>
                  </a:cubicBezTo>
                  <a:cubicBezTo>
                    <a:pt x="123764" y="127849"/>
                    <a:pt x="123855" y="127758"/>
                    <a:pt x="123945" y="127664"/>
                  </a:cubicBezTo>
                  <a:lnTo>
                    <a:pt x="176065" y="75544"/>
                  </a:lnTo>
                  <a:cubicBezTo>
                    <a:pt x="180425" y="71183"/>
                    <a:pt x="180425" y="64113"/>
                    <a:pt x="176065" y="59752"/>
                  </a:cubicBezTo>
                  <a:close/>
                </a:path>
              </a:pathLst>
            </a:custGeom>
            <a:grpFill/>
            <a:ln w="3671" cap="flat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7" name="자유형: 도형 1066">
              <a:extLst>
                <a:ext uri="{FF2B5EF4-FFF2-40B4-BE49-F238E27FC236}">
                  <a16:creationId xmlns:a16="http://schemas.microsoft.com/office/drawing/2014/main" id="{3BB5DBEB-4F2E-CD08-7643-8B7FD1013E38}"/>
                </a:ext>
              </a:extLst>
            </p:cNvPr>
            <p:cNvSpPr/>
            <p:nvPr/>
          </p:nvSpPr>
          <p:spPr>
            <a:xfrm>
              <a:off x="3464565" y="3824617"/>
              <a:ext cx="142109" cy="78817"/>
            </a:xfrm>
            <a:custGeom>
              <a:avLst/>
              <a:gdLst>
                <a:gd name="csX0" fmla="*/ 11169 w 142109"/>
                <a:gd name="csY0" fmla="*/ 22337 h 78817"/>
                <a:gd name="csX1" fmla="*/ 43617 w 142109"/>
                <a:gd name="csY1" fmla="*/ 22337 h 78817"/>
                <a:gd name="csX2" fmla="*/ 88366 w 142109"/>
                <a:gd name="csY2" fmla="*/ 40874 h 78817"/>
                <a:gd name="csX3" fmla="*/ 126313 w 142109"/>
                <a:gd name="csY3" fmla="*/ 78817 h 78817"/>
                <a:gd name="csX4" fmla="*/ 142109 w 142109"/>
                <a:gd name="csY4" fmla="*/ 63028 h 78817"/>
                <a:gd name="csX5" fmla="*/ 104162 w 142109"/>
                <a:gd name="csY5" fmla="*/ 25078 h 78817"/>
                <a:gd name="csX6" fmla="*/ 43617 w 142109"/>
                <a:gd name="csY6" fmla="*/ 0 h 78817"/>
                <a:gd name="csX7" fmla="*/ 11169 w 142109"/>
                <a:gd name="csY7" fmla="*/ 0 h 78817"/>
                <a:gd name="csX8" fmla="*/ 0 w 142109"/>
                <a:gd name="csY8" fmla="*/ 11169 h 78817"/>
                <a:gd name="csX9" fmla="*/ 11169 w 142109"/>
                <a:gd name="csY9" fmla="*/ 22337 h 788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2109" h="78817">
                  <a:moveTo>
                    <a:pt x="11169" y="22337"/>
                  </a:moveTo>
                  <a:lnTo>
                    <a:pt x="43617" y="22337"/>
                  </a:lnTo>
                  <a:cubicBezTo>
                    <a:pt x="60410" y="22293"/>
                    <a:pt x="76523" y="28967"/>
                    <a:pt x="88366" y="40874"/>
                  </a:cubicBezTo>
                  <a:lnTo>
                    <a:pt x="126313" y="78817"/>
                  </a:lnTo>
                  <a:lnTo>
                    <a:pt x="142109" y="63028"/>
                  </a:lnTo>
                  <a:lnTo>
                    <a:pt x="104162" y="25078"/>
                  </a:lnTo>
                  <a:cubicBezTo>
                    <a:pt x="88138" y="8969"/>
                    <a:pt x="66338" y="-60"/>
                    <a:pt x="43617" y="0"/>
                  </a:cubicBezTo>
                  <a:lnTo>
                    <a:pt x="11169" y="0"/>
                  </a:lnTo>
                  <a:cubicBezTo>
                    <a:pt x="5000" y="0"/>
                    <a:pt x="0" y="5000"/>
                    <a:pt x="0" y="11169"/>
                  </a:cubicBezTo>
                  <a:cubicBezTo>
                    <a:pt x="0" y="17337"/>
                    <a:pt x="5000" y="22337"/>
                    <a:pt x="11169" y="22337"/>
                  </a:cubicBezTo>
                  <a:close/>
                </a:path>
              </a:pathLst>
            </a:custGeom>
            <a:grpFill/>
            <a:ln w="3671" cap="flat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8" name="자유형: 도형 1067">
              <a:extLst>
                <a:ext uri="{FF2B5EF4-FFF2-40B4-BE49-F238E27FC236}">
                  <a16:creationId xmlns:a16="http://schemas.microsoft.com/office/drawing/2014/main" id="{AEDE519B-C001-71E1-41C8-48A97F6CAEAD}"/>
                </a:ext>
              </a:extLst>
            </p:cNvPr>
            <p:cNvSpPr/>
            <p:nvPr/>
          </p:nvSpPr>
          <p:spPr>
            <a:xfrm>
              <a:off x="3464565" y="3772634"/>
              <a:ext cx="342501" cy="230680"/>
            </a:xfrm>
            <a:custGeom>
              <a:avLst/>
              <a:gdLst>
                <a:gd name="csX0" fmla="*/ 261658 w 342501"/>
                <a:gd name="csY0" fmla="*/ 74320 h 230680"/>
                <a:gd name="csX1" fmla="*/ 304374 w 342501"/>
                <a:gd name="csY1" fmla="*/ 74320 h 230680"/>
                <a:gd name="csX2" fmla="*/ 271319 w 342501"/>
                <a:gd name="csY2" fmla="*/ 107375 h 230680"/>
                <a:gd name="csX3" fmla="*/ 271044 w 342501"/>
                <a:gd name="csY3" fmla="*/ 123168 h 230680"/>
                <a:gd name="csX4" fmla="*/ 286837 w 342501"/>
                <a:gd name="csY4" fmla="*/ 123442 h 230680"/>
                <a:gd name="csX5" fmla="*/ 287111 w 342501"/>
                <a:gd name="csY5" fmla="*/ 123168 h 230680"/>
                <a:gd name="csX6" fmla="*/ 339231 w 342501"/>
                <a:gd name="csY6" fmla="*/ 71048 h 230680"/>
                <a:gd name="csX7" fmla="*/ 339231 w 342501"/>
                <a:gd name="csY7" fmla="*/ 55255 h 230680"/>
                <a:gd name="csX8" fmla="*/ 287111 w 342501"/>
                <a:gd name="csY8" fmla="*/ 3135 h 230680"/>
                <a:gd name="csX9" fmla="*/ 271319 w 342501"/>
                <a:gd name="csY9" fmla="*/ 3410 h 230680"/>
                <a:gd name="csX10" fmla="*/ 271319 w 342501"/>
                <a:gd name="csY10" fmla="*/ 18928 h 230680"/>
                <a:gd name="csX11" fmla="*/ 304374 w 342501"/>
                <a:gd name="csY11" fmla="*/ 51983 h 230680"/>
                <a:gd name="csX12" fmla="*/ 261658 w 342501"/>
                <a:gd name="csY12" fmla="*/ 51983 h 230680"/>
                <a:gd name="csX13" fmla="*/ 201113 w 342501"/>
                <a:gd name="csY13" fmla="*/ 77060 h 230680"/>
                <a:gd name="csX14" fmla="*/ 88366 w 342501"/>
                <a:gd name="csY14" fmla="*/ 189807 h 230680"/>
                <a:gd name="csX15" fmla="*/ 43617 w 342501"/>
                <a:gd name="csY15" fmla="*/ 208343 h 230680"/>
                <a:gd name="csX16" fmla="*/ 11169 w 342501"/>
                <a:gd name="csY16" fmla="*/ 208343 h 230680"/>
                <a:gd name="csX17" fmla="*/ 0 w 342501"/>
                <a:gd name="csY17" fmla="*/ 219512 h 230680"/>
                <a:gd name="csX18" fmla="*/ 11169 w 342501"/>
                <a:gd name="csY18" fmla="*/ 230680 h 230680"/>
                <a:gd name="csX19" fmla="*/ 43617 w 342501"/>
                <a:gd name="csY19" fmla="*/ 230680 h 230680"/>
                <a:gd name="csX20" fmla="*/ 104162 w 342501"/>
                <a:gd name="csY20" fmla="*/ 205603 h 230680"/>
                <a:gd name="csX21" fmla="*/ 216909 w 342501"/>
                <a:gd name="csY21" fmla="*/ 92856 h 230680"/>
                <a:gd name="csX22" fmla="*/ 261658 w 342501"/>
                <a:gd name="csY22" fmla="*/ 74320 h 230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342501" h="230680">
                  <a:moveTo>
                    <a:pt x="261658" y="74320"/>
                  </a:moveTo>
                  <a:lnTo>
                    <a:pt x="304374" y="74320"/>
                  </a:lnTo>
                  <a:lnTo>
                    <a:pt x="271319" y="107375"/>
                  </a:lnTo>
                  <a:cubicBezTo>
                    <a:pt x="266882" y="111660"/>
                    <a:pt x="266759" y="118731"/>
                    <a:pt x="271044" y="123168"/>
                  </a:cubicBezTo>
                  <a:cubicBezTo>
                    <a:pt x="275329" y="127605"/>
                    <a:pt x="282400" y="127728"/>
                    <a:pt x="286837" y="123442"/>
                  </a:cubicBezTo>
                  <a:cubicBezTo>
                    <a:pt x="286930" y="123352"/>
                    <a:pt x="287021" y="123261"/>
                    <a:pt x="287111" y="123168"/>
                  </a:cubicBezTo>
                  <a:lnTo>
                    <a:pt x="339231" y="71048"/>
                  </a:lnTo>
                  <a:cubicBezTo>
                    <a:pt x="343591" y="66686"/>
                    <a:pt x="343591" y="59617"/>
                    <a:pt x="339231" y="55255"/>
                  </a:cubicBezTo>
                  <a:lnTo>
                    <a:pt x="287111" y="3135"/>
                  </a:lnTo>
                  <a:cubicBezTo>
                    <a:pt x="282674" y="-1150"/>
                    <a:pt x="275604" y="-1027"/>
                    <a:pt x="271319" y="3410"/>
                  </a:cubicBezTo>
                  <a:cubicBezTo>
                    <a:pt x="267139" y="7738"/>
                    <a:pt x="267139" y="14599"/>
                    <a:pt x="271319" y="18928"/>
                  </a:cubicBezTo>
                  <a:lnTo>
                    <a:pt x="304374" y="51983"/>
                  </a:lnTo>
                  <a:lnTo>
                    <a:pt x="261658" y="51983"/>
                  </a:lnTo>
                  <a:cubicBezTo>
                    <a:pt x="238937" y="51922"/>
                    <a:pt x="217136" y="60952"/>
                    <a:pt x="201113" y="77060"/>
                  </a:cubicBezTo>
                  <a:lnTo>
                    <a:pt x="88366" y="189807"/>
                  </a:lnTo>
                  <a:cubicBezTo>
                    <a:pt x="76523" y="201714"/>
                    <a:pt x="60410" y="208388"/>
                    <a:pt x="43617" y="208343"/>
                  </a:cubicBezTo>
                  <a:lnTo>
                    <a:pt x="11169" y="208343"/>
                  </a:lnTo>
                  <a:cubicBezTo>
                    <a:pt x="5000" y="208343"/>
                    <a:pt x="0" y="213343"/>
                    <a:pt x="0" y="219512"/>
                  </a:cubicBezTo>
                  <a:cubicBezTo>
                    <a:pt x="0" y="225680"/>
                    <a:pt x="5000" y="230680"/>
                    <a:pt x="11169" y="230680"/>
                  </a:cubicBezTo>
                  <a:lnTo>
                    <a:pt x="43617" y="230680"/>
                  </a:lnTo>
                  <a:cubicBezTo>
                    <a:pt x="66338" y="230741"/>
                    <a:pt x="88138" y="221711"/>
                    <a:pt x="104162" y="205603"/>
                  </a:cubicBezTo>
                  <a:lnTo>
                    <a:pt x="216909" y="92856"/>
                  </a:lnTo>
                  <a:cubicBezTo>
                    <a:pt x="228751" y="80950"/>
                    <a:pt x="244865" y="74275"/>
                    <a:pt x="261658" y="74320"/>
                  </a:cubicBezTo>
                  <a:close/>
                </a:path>
              </a:pathLst>
            </a:custGeom>
            <a:grpFill/>
            <a:ln w="3671" cap="flat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69" name="TextBox 1068">
            <a:extLst>
              <a:ext uri="{FF2B5EF4-FFF2-40B4-BE49-F238E27FC236}">
                <a16:creationId xmlns:a16="http://schemas.microsoft.com/office/drawing/2014/main" id="{1CE9E0FB-D0D9-A649-733F-64AB9ECEDB7C}"/>
              </a:ext>
            </a:extLst>
          </p:cNvPr>
          <p:cNvSpPr txBox="1"/>
          <p:nvPr/>
        </p:nvSpPr>
        <p:spPr>
          <a:xfrm>
            <a:off x="4119827" y="1432822"/>
            <a:ext cx="1616710" cy="39962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1200" b="1" dirty="0" err="1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en-US" altLang="ko-KR" sz="12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</a:p>
          <a:p>
            <a:r>
              <a:rPr lang="en-US" altLang="ko-KR" sz="12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Intelligent Router</a:t>
            </a:r>
          </a:p>
        </p:txBody>
      </p:sp>
      <p:sp>
        <p:nvSpPr>
          <p:cNvPr id="1072" name="Shape 4">
            <a:extLst>
              <a:ext uri="{FF2B5EF4-FFF2-40B4-BE49-F238E27FC236}">
                <a16:creationId xmlns:a16="http://schemas.microsoft.com/office/drawing/2014/main" id="{DF03D8EC-8B71-CA9A-8EEE-EB72B35FC8D4}"/>
              </a:ext>
            </a:extLst>
          </p:cNvPr>
          <p:cNvSpPr/>
          <p:nvPr/>
        </p:nvSpPr>
        <p:spPr>
          <a:xfrm>
            <a:off x="3199419" y="1984675"/>
            <a:ext cx="2886796" cy="582027"/>
          </a:xfrm>
          <a:prstGeom prst="roundRect">
            <a:avLst>
              <a:gd name="adj" fmla="val 12949"/>
            </a:avLst>
          </a:prstGeom>
          <a:solidFill>
            <a:srgbClr val="EBEFF5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9E52DE7-4C57-6A95-1883-6157C56A38F7}"/>
              </a:ext>
            </a:extLst>
          </p:cNvPr>
          <p:cNvSpPr txBox="1"/>
          <p:nvPr/>
        </p:nvSpPr>
        <p:spPr>
          <a:xfrm>
            <a:off x="3223977" y="2189766"/>
            <a:ext cx="2303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600" b="0" i="0" u="none" strike="noStrike" dirty="0">
                <a:effectLst/>
                <a:latin typeface="SUIT" pitchFamily="2" charset="-127"/>
                <a:ea typeface="SUIT" pitchFamily="2" charset="-127"/>
              </a:rPr>
              <a:t>LAYER 02(Model)</a:t>
            </a:r>
            <a:r>
              <a:rPr lang="ko-KR" altLang="en-US" sz="600" b="0" i="0" u="none" strike="noStrike" dirty="0">
                <a:effectLst/>
                <a:latin typeface="SUIT" pitchFamily="2" charset="-127"/>
                <a:ea typeface="SUIT" pitchFamily="2" charset="-127"/>
              </a:rPr>
              <a:t>의 </a:t>
            </a:r>
            <a:r>
              <a:rPr lang="en-US" altLang="ko-KR" sz="600" b="0" i="0" u="none" strike="noStrike" dirty="0">
                <a:effectLst/>
                <a:latin typeface="SUIT" pitchFamily="2" charset="-127"/>
                <a:ea typeface="SUIT" pitchFamily="2" charset="-127"/>
              </a:rPr>
              <a:t>Query Normalizer</a:t>
            </a:r>
            <a:r>
              <a:rPr lang="ko-KR" altLang="en-US" sz="600" b="0" i="0" u="none" strike="noStrike" dirty="0">
                <a:effectLst/>
                <a:latin typeface="SUIT" pitchFamily="2" charset="-127"/>
                <a:ea typeface="SUIT" pitchFamily="2" charset="-127"/>
              </a:rPr>
              <a:t>를 통한 정규화 직후</a:t>
            </a:r>
            <a:r>
              <a:rPr lang="en-US" altLang="ko-KR" sz="600" b="0" i="0" u="none" strike="noStrike" dirty="0">
                <a:effectLst/>
                <a:latin typeface="SUIT" pitchFamily="2" charset="-127"/>
                <a:ea typeface="SUIT" pitchFamily="2" charset="-127"/>
              </a:rPr>
              <a:t>(Pre-execution phase) </a:t>
            </a:r>
            <a:r>
              <a:rPr lang="ko-KR" altLang="en-US" sz="600" b="0" i="0" u="none" strike="noStrike" dirty="0">
                <a:effectLst/>
                <a:latin typeface="SUIT" pitchFamily="2" charset="-127"/>
                <a:ea typeface="SUIT" pitchFamily="2" charset="-127"/>
              </a:rPr>
              <a:t>및 실제 데이터 조회 및 스킬 실행 전</a:t>
            </a:r>
            <a:r>
              <a:rPr lang="en-US" altLang="ko-KR" sz="600" b="0" i="0" u="none" strike="noStrike" dirty="0"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600" b="0" i="0" u="none" strike="noStrike" dirty="0">
                <a:effectLst/>
                <a:latin typeface="SUIT" pitchFamily="2" charset="-127"/>
                <a:ea typeface="SUIT" pitchFamily="2" charset="-127"/>
              </a:rPr>
              <a:t>동적 경로를 확정합니다</a:t>
            </a:r>
            <a:r>
              <a:rPr lang="en-US" altLang="ko-KR" sz="600" b="0" i="0" u="none" strike="noStrike" dirty="0">
                <a:effectLst/>
                <a:latin typeface="SUIT" pitchFamily="2" charset="-127"/>
                <a:ea typeface="SUIT" pitchFamily="2" charset="-127"/>
              </a:rPr>
              <a:t>.</a:t>
            </a:r>
          </a:p>
        </p:txBody>
      </p:sp>
      <p:sp>
        <p:nvSpPr>
          <p:cNvPr id="1076" name="Shape 4">
            <a:extLst>
              <a:ext uri="{FF2B5EF4-FFF2-40B4-BE49-F238E27FC236}">
                <a16:creationId xmlns:a16="http://schemas.microsoft.com/office/drawing/2014/main" id="{C3F685BD-92A3-6C9B-7C59-83DE94F56326}"/>
              </a:ext>
            </a:extLst>
          </p:cNvPr>
          <p:cNvSpPr/>
          <p:nvPr/>
        </p:nvSpPr>
        <p:spPr>
          <a:xfrm>
            <a:off x="3199419" y="2588751"/>
            <a:ext cx="1497922" cy="582027"/>
          </a:xfrm>
          <a:prstGeom prst="roundRect">
            <a:avLst>
              <a:gd name="adj" fmla="val 12949"/>
            </a:avLst>
          </a:prstGeom>
          <a:solidFill>
            <a:srgbClr val="EBEFF5"/>
          </a:solidFill>
          <a:ln>
            <a:noFill/>
          </a:ln>
        </p:spPr>
        <p:txBody>
          <a:bodyPr/>
          <a:lstStyle/>
          <a:p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1079" name="그래픽 1078" descr="시계 단색으로 채워진">
            <a:extLst>
              <a:ext uri="{FF2B5EF4-FFF2-40B4-BE49-F238E27FC236}">
                <a16:creationId xmlns:a16="http://schemas.microsoft.com/office/drawing/2014/main" id="{FFBA5D50-80F0-1932-91D8-F151B9957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2633" y="2040704"/>
            <a:ext cx="159589" cy="159589"/>
          </a:xfrm>
          <a:prstGeom prst="rect">
            <a:avLst/>
          </a:prstGeom>
        </p:spPr>
      </p:pic>
      <p:sp>
        <p:nvSpPr>
          <p:cNvPr id="1083" name="TextBox 1082">
            <a:extLst>
              <a:ext uri="{FF2B5EF4-FFF2-40B4-BE49-F238E27FC236}">
                <a16:creationId xmlns:a16="http://schemas.microsoft.com/office/drawing/2014/main" id="{D91A0219-8C54-4319-DCEF-44C9993CC321}"/>
              </a:ext>
            </a:extLst>
          </p:cNvPr>
          <p:cNvSpPr txBox="1"/>
          <p:nvPr/>
        </p:nvSpPr>
        <p:spPr>
          <a:xfrm>
            <a:off x="3388558" y="2021685"/>
            <a:ext cx="56205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판단 시점 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itchFamily="2" charset="-127"/>
              <a:ea typeface="SUIT" pitchFamily="2" charset="-127"/>
              <a:cs typeface="+mn-cs"/>
            </a:endParaRP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79F94C2B-250E-3B84-C41E-3C02516554F5}"/>
              </a:ext>
            </a:extLst>
          </p:cNvPr>
          <p:cNvSpPr txBox="1"/>
          <p:nvPr/>
        </p:nvSpPr>
        <p:spPr>
          <a:xfrm>
            <a:off x="3223977" y="2748618"/>
            <a:ext cx="1628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• </a:t>
            </a: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보안 등급</a:t>
            </a:r>
            <a:r>
              <a:rPr kumimoji="0" lang="en-US" altLang="ko-KR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: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PII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및 기밀 정보 스캔</a:t>
            </a:r>
            <a:b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</a:b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• </a:t>
            </a: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연산 복잡도</a:t>
            </a:r>
            <a:r>
              <a:rPr kumimoji="0" lang="en-US" altLang="ko-KR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: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sLLM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 vs Cl. LLM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효율 분석</a:t>
            </a:r>
            <a:b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</a:b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• </a:t>
            </a:r>
            <a:r>
              <a:rPr kumimoji="0" lang="en-US" altLang="ko-KR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SLA </a:t>
            </a: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임계치</a:t>
            </a:r>
            <a:r>
              <a:rPr kumimoji="0" lang="en-US" altLang="ko-KR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: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 실시간성 및 비용 최적화 계산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6814A89-6BFA-44B2-C576-C0BA84053AC8}"/>
              </a:ext>
            </a:extLst>
          </p:cNvPr>
          <p:cNvSpPr txBox="1"/>
          <p:nvPr/>
        </p:nvSpPr>
        <p:spPr>
          <a:xfrm>
            <a:off x="3361564" y="2584954"/>
            <a:ext cx="56205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기준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itchFamily="2" charset="-127"/>
              <a:ea typeface="SUIT" pitchFamily="2" charset="-127"/>
              <a:cs typeface="+mn-cs"/>
            </a:endParaRPr>
          </a:p>
        </p:txBody>
      </p:sp>
      <p:pic>
        <p:nvPicPr>
          <p:cNvPr id="219" name="그래픽 218" descr="정의의 저울 단색으로 채워진">
            <a:extLst>
              <a:ext uri="{FF2B5EF4-FFF2-40B4-BE49-F238E27FC236}">
                <a16:creationId xmlns:a16="http://schemas.microsoft.com/office/drawing/2014/main" id="{E1A87A23-3029-D12D-6918-C20AD8ED0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9314" y="2618463"/>
            <a:ext cx="131071" cy="131071"/>
          </a:xfrm>
          <a:prstGeom prst="rect">
            <a:avLst/>
          </a:prstGeom>
        </p:spPr>
      </p:pic>
      <p:sp>
        <p:nvSpPr>
          <p:cNvPr id="220" name="Shape 4">
            <a:extLst>
              <a:ext uri="{FF2B5EF4-FFF2-40B4-BE49-F238E27FC236}">
                <a16:creationId xmlns:a16="http://schemas.microsoft.com/office/drawing/2014/main" id="{78EB0C29-5A51-9489-0B58-0828D1CA5AA8}"/>
              </a:ext>
            </a:extLst>
          </p:cNvPr>
          <p:cNvSpPr/>
          <p:nvPr/>
        </p:nvSpPr>
        <p:spPr>
          <a:xfrm>
            <a:off x="4732103" y="2596615"/>
            <a:ext cx="1331185" cy="582027"/>
          </a:xfrm>
          <a:prstGeom prst="roundRect">
            <a:avLst>
              <a:gd name="adj" fmla="val 12949"/>
            </a:avLst>
          </a:prstGeom>
          <a:solidFill>
            <a:srgbClr val="EBEFF5"/>
          </a:solidFill>
          <a:ln>
            <a:noFill/>
          </a:ln>
        </p:spPr>
        <p:txBody>
          <a:bodyPr/>
          <a:lstStyle/>
          <a:p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BD47243-312D-4F92-CB6C-9B5A84153631}"/>
              </a:ext>
            </a:extLst>
          </p:cNvPr>
          <p:cNvSpPr txBox="1"/>
          <p:nvPr/>
        </p:nvSpPr>
        <p:spPr>
          <a:xfrm>
            <a:off x="4756661" y="2756482"/>
            <a:ext cx="1628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• Semantic Class.: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의도 벡터 매칭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• Policy Engine: RBAC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기반 판정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• Fallback: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마스킹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 및 에스컬레이션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4A2D1C11-6EBE-EAA2-F4C0-91CA1755178E}"/>
              </a:ext>
            </a:extLst>
          </p:cNvPr>
          <p:cNvSpPr txBox="1"/>
          <p:nvPr/>
        </p:nvSpPr>
        <p:spPr>
          <a:xfrm>
            <a:off x="4855431" y="2592818"/>
            <a:ext cx="10884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기술 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cs typeface="+mn-cs"/>
              </a:rPr>
              <a:t>메커니즘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itchFamily="2" charset="-127"/>
              <a:ea typeface="SUIT" pitchFamily="2" charset="-127"/>
              <a:cs typeface="+mn-cs"/>
            </a:endParaRPr>
          </a:p>
        </p:txBody>
      </p:sp>
      <p:pic>
        <p:nvPicPr>
          <p:cNvPr id="215" name="그래픽 214" descr="플러그 단색으로 채워진">
            <a:extLst>
              <a:ext uri="{FF2B5EF4-FFF2-40B4-BE49-F238E27FC236}">
                <a16:creationId xmlns:a16="http://schemas.microsoft.com/office/drawing/2014/main" id="{48E6E9E9-CCCB-780C-60F0-420DE62203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8701" y="2647294"/>
            <a:ext cx="102474" cy="102474"/>
          </a:xfrm>
          <a:prstGeom prst="rect">
            <a:avLst/>
          </a:prstGeom>
        </p:spPr>
      </p:pic>
      <p:sp>
        <p:nvSpPr>
          <p:cNvPr id="224" name="TextBox 10">
            <a:extLst>
              <a:ext uri="{FF2B5EF4-FFF2-40B4-BE49-F238E27FC236}">
                <a16:creationId xmlns:a16="http://schemas.microsoft.com/office/drawing/2014/main" id="{D9051827-8257-D9D9-51F4-835D53857803}"/>
              </a:ext>
            </a:extLst>
          </p:cNvPr>
          <p:cNvSpPr txBox="1"/>
          <p:nvPr/>
        </p:nvSpPr>
        <p:spPr>
          <a:xfrm>
            <a:off x="165994" y="3664858"/>
            <a:ext cx="3195570" cy="155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lang="ko-KR" altLang="en-US" sz="950" b="1" dirty="0">
                <a:solidFill>
                  <a:srgbClr val="0F172A"/>
                </a:solidFill>
                <a:latin typeface="SUIT ExtraBold"/>
              </a:rPr>
              <a:t>멀티 </a:t>
            </a:r>
            <a:r>
              <a:rPr lang="en-US" altLang="ko-KR" sz="950" b="1" dirty="0">
                <a:solidFill>
                  <a:srgbClr val="0F172A"/>
                </a:solidFill>
                <a:latin typeface="SUIT ExtraBold"/>
              </a:rPr>
              <a:t>LLM </a:t>
            </a:r>
            <a:r>
              <a:rPr lang="ko-KR" altLang="en-US" sz="950" b="1" dirty="0" err="1">
                <a:solidFill>
                  <a:srgbClr val="0F172A"/>
                </a:solidFill>
                <a:latin typeface="SUIT ExtraBold"/>
              </a:rPr>
              <a:t>프로바이더</a:t>
            </a:r>
            <a:r>
              <a:rPr lang="ko-KR" altLang="en-US" sz="950" b="1" dirty="0">
                <a:solidFill>
                  <a:srgbClr val="0F172A"/>
                </a:solidFill>
                <a:latin typeface="SUIT ExtraBold"/>
              </a:rPr>
              <a:t> 생태계 </a:t>
            </a:r>
            <a:r>
              <a:rPr lang="en-US" altLang="ko-KR" sz="950" b="1" dirty="0">
                <a:solidFill>
                  <a:srgbClr val="0F172A"/>
                </a:solidFill>
                <a:latin typeface="SUIT ExtraBold"/>
              </a:rPr>
              <a:t>| </a:t>
            </a:r>
            <a:r>
              <a:rPr lang="ko-KR" altLang="en-US" sz="950" b="1" dirty="0">
                <a:solidFill>
                  <a:srgbClr val="0F172A"/>
                </a:solidFill>
                <a:latin typeface="SUIT ExtraBold"/>
              </a:rPr>
              <a:t>업계 표준 </a:t>
            </a:r>
            <a:r>
              <a:rPr lang="en-US" altLang="ko-KR" sz="950" b="1" dirty="0">
                <a:solidFill>
                  <a:srgbClr val="0F172A"/>
                </a:solidFill>
                <a:latin typeface="SUIT ExtraBold"/>
              </a:rPr>
              <a:t>8</a:t>
            </a:r>
            <a:r>
              <a:rPr lang="ko-KR" altLang="en-US" sz="950" b="1" dirty="0">
                <a:solidFill>
                  <a:srgbClr val="0F172A"/>
                </a:solidFill>
                <a:latin typeface="SUIT ExtraBold"/>
              </a:rPr>
              <a:t>종 인프라 탑재</a:t>
            </a:r>
            <a:endParaRPr sz="95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228" name="Shape 4">
            <a:extLst>
              <a:ext uri="{FF2B5EF4-FFF2-40B4-BE49-F238E27FC236}">
                <a16:creationId xmlns:a16="http://schemas.microsoft.com/office/drawing/2014/main" id="{F3F548F5-D07E-54D0-61BF-5C6EB2BF754D}"/>
              </a:ext>
            </a:extLst>
          </p:cNvPr>
          <p:cNvSpPr/>
          <p:nvPr/>
        </p:nvSpPr>
        <p:spPr>
          <a:xfrm>
            <a:off x="172248" y="3975440"/>
            <a:ext cx="886932" cy="329582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9" name="Google Shape;226;p13">
            <a:extLst>
              <a:ext uri="{FF2B5EF4-FFF2-40B4-BE49-F238E27FC236}">
                <a16:creationId xmlns:a16="http://schemas.microsoft.com/office/drawing/2014/main" id="{05722C57-E675-37A7-77F0-6DFF8733ACD2}"/>
              </a:ext>
            </a:extLst>
          </p:cNvPr>
          <p:cNvSpPr txBox="1"/>
          <p:nvPr/>
        </p:nvSpPr>
        <p:spPr>
          <a:xfrm>
            <a:off x="277493" y="4016367"/>
            <a:ext cx="65574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OpenAI</a:t>
            </a:r>
          </a:p>
        </p:txBody>
      </p:sp>
      <p:sp>
        <p:nvSpPr>
          <p:cNvPr id="232" name="Google Shape;227;p13">
            <a:extLst>
              <a:ext uri="{FF2B5EF4-FFF2-40B4-BE49-F238E27FC236}">
                <a16:creationId xmlns:a16="http://schemas.microsoft.com/office/drawing/2014/main" id="{32DCC64A-ACDE-E268-6E47-3F1E57EDFA0E}"/>
              </a:ext>
            </a:extLst>
          </p:cNvPr>
          <p:cNvSpPr txBox="1"/>
          <p:nvPr/>
        </p:nvSpPr>
        <p:spPr>
          <a:xfrm>
            <a:off x="277493" y="4158514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GPT </a:t>
            </a: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계열 추론</a:t>
            </a:r>
          </a:p>
        </p:txBody>
      </p:sp>
      <p:sp>
        <p:nvSpPr>
          <p:cNvPr id="233" name="Shape 4">
            <a:extLst>
              <a:ext uri="{FF2B5EF4-FFF2-40B4-BE49-F238E27FC236}">
                <a16:creationId xmlns:a16="http://schemas.microsoft.com/office/drawing/2014/main" id="{46165264-18A1-EDA3-C72C-CBD1D6F2FD96}"/>
              </a:ext>
            </a:extLst>
          </p:cNvPr>
          <p:cNvSpPr/>
          <p:nvPr/>
        </p:nvSpPr>
        <p:spPr>
          <a:xfrm>
            <a:off x="1120938" y="3977684"/>
            <a:ext cx="886932" cy="329582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4" name="Google Shape;226;p13">
            <a:extLst>
              <a:ext uri="{FF2B5EF4-FFF2-40B4-BE49-F238E27FC236}">
                <a16:creationId xmlns:a16="http://schemas.microsoft.com/office/drawing/2014/main" id="{B27EAA2D-E9E1-80C8-1FC6-81EDC51A2D4D}"/>
              </a:ext>
            </a:extLst>
          </p:cNvPr>
          <p:cNvSpPr txBox="1"/>
          <p:nvPr/>
        </p:nvSpPr>
        <p:spPr>
          <a:xfrm>
            <a:off x="1226183" y="4018611"/>
            <a:ext cx="65574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Anthropic</a:t>
            </a:r>
          </a:p>
        </p:txBody>
      </p:sp>
      <p:sp>
        <p:nvSpPr>
          <p:cNvPr id="235" name="Google Shape;227;p13">
            <a:extLst>
              <a:ext uri="{FF2B5EF4-FFF2-40B4-BE49-F238E27FC236}">
                <a16:creationId xmlns:a16="http://schemas.microsoft.com/office/drawing/2014/main" id="{7F4169ED-BB96-9457-816E-024159952EEF}"/>
              </a:ext>
            </a:extLst>
          </p:cNvPr>
          <p:cNvSpPr txBox="1"/>
          <p:nvPr/>
        </p:nvSpPr>
        <p:spPr>
          <a:xfrm>
            <a:off x="1226183" y="4160758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Claude </a:t>
            </a: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계열 분석</a:t>
            </a:r>
          </a:p>
        </p:txBody>
      </p:sp>
      <p:sp>
        <p:nvSpPr>
          <p:cNvPr id="236" name="Shape 4">
            <a:extLst>
              <a:ext uri="{FF2B5EF4-FFF2-40B4-BE49-F238E27FC236}">
                <a16:creationId xmlns:a16="http://schemas.microsoft.com/office/drawing/2014/main" id="{7B4A9216-6ECD-D524-7CA4-06C2BFDDDC2A}"/>
              </a:ext>
            </a:extLst>
          </p:cNvPr>
          <p:cNvSpPr/>
          <p:nvPr/>
        </p:nvSpPr>
        <p:spPr>
          <a:xfrm>
            <a:off x="2069628" y="3983576"/>
            <a:ext cx="886932" cy="329582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7" name="Google Shape;226;p13">
            <a:extLst>
              <a:ext uri="{FF2B5EF4-FFF2-40B4-BE49-F238E27FC236}">
                <a16:creationId xmlns:a16="http://schemas.microsoft.com/office/drawing/2014/main" id="{574FB3AF-846E-05B7-A554-9FC147E8C22C}"/>
              </a:ext>
            </a:extLst>
          </p:cNvPr>
          <p:cNvSpPr txBox="1"/>
          <p:nvPr/>
        </p:nvSpPr>
        <p:spPr>
          <a:xfrm>
            <a:off x="2174873" y="4024503"/>
            <a:ext cx="65574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Gemini</a:t>
            </a:r>
          </a:p>
        </p:txBody>
      </p:sp>
      <p:sp>
        <p:nvSpPr>
          <p:cNvPr id="238" name="Google Shape;227;p13">
            <a:extLst>
              <a:ext uri="{FF2B5EF4-FFF2-40B4-BE49-F238E27FC236}">
                <a16:creationId xmlns:a16="http://schemas.microsoft.com/office/drawing/2014/main" id="{33A8833D-B8CE-9765-693C-D3C62FF69CAC}"/>
              </a:ext>
            </a:extLst>
          </p:cNvPr>
          <p:cNvSpPr txBox="1"/>
          <p:nvPr/>
        </p:nvSpPr>
        <p:spPr>
          <a:xfrm>
            <a:off x="2174873" y="4166650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ko-KR" altLang="en-US" sz="5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멀티모달</a:t>
            </a: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최적화</a:t>
            </a:r>
          </a:p>
        </p:txBody>
      </p:sp>
      <p:sp>
        <p:nvSpPr>
          <p:cNvPr id="239" name="Shape 4">
            <a:extLst>
              <a:ext uri="{FF2B5EF4-FFF2-40B4-BE49-F238E27FC236}">
                <a16:creationId xmlns:a16="http://schemas.microsoft.com/office/drawing/2014/main" id="{EF1C7F0A-5FA1-ABDE-7551-312155AAAFB0}"/>
              </a:ext>
            </a:extLst>
          </p:cNvPr>
          <p:cNvSpPr/>
          <p:nvPr/>
        </p:nvSpPr>
        <p:spPr>
          <a:xfrm>
            <a:off x="3008756" y="3985820"/>
            <a:ext cx="886932" cy="329582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0" name="Google Shape;226;p13">
            <a:extLst>
              <a:ext uri="{FF2B5EF4-FFF2-40B4-BE49-F238E27FC236}">
                <a16:creationId xmlns:a16="http://schemas.microsoft.com/office/drawing/2014/main" id="{EBEF8498-E37A-D458-27AF-55A63C3AB027}"/>
              </a:ext>
            </a:extLst>
          </p:cNvPr>
          <p:cNvSpPr txBox="1"/>
          <p:nvPr/>
        </p:nvSpPr>
        <p:spPr>
          <a:xfrm>
            <a:off x="3114001" y="4026747"/>
            <a:ext cx="65574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900" b="1" dirty="0" err="1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vLLM</a:t>
            </a:r>
            <a:endParaRPr lang="en-US" sz="900" b="1" dirty="0">
              <a:solidFill>
                <a:srgbClr val="0F172A"/>
              </a:solidFill>
              <a:latin typeface="SUIT"/>
              <a:ea typeface="SUIT"/>
              <a:cs typeface="SUIT"/>
              <a:sym typeface="SUIT"/>
            </a:endParaRPr>
          </a:p>
        </p:txBody>
      </p:sp>
      <p:sp>
        <p:nvSpPr>
          <p:cNvPr id="241" name="Google Shape;227;p13">
            <a:extLst>
              <a:ext uri="{FF2B5EF4-FFF2-40B4-BE49-F238E27FC236}">
                <a16:creationId xmlns:a16="http://schemas.microsoft.com/office/drawing/2014/main" id="{85BA4760-F9AE-035B-551C-E0199949DCF9}"/>
              </a:ext>
            </a:extLst>
          </p:cNvPr>
          <p:cNvSpPr txBox="1"/>
          <p:nvPr/>
        </p:nvSpPr>
        <p:spPr>
          <a:xfrm>
            <a:off x="3114001" y="4168894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고속 추론 엔진</a:t>
            </a:r>
          </a:p>
        </p:txBody>
      </p:sp>
      <p:sp>
        <p:nvSpPr>
          <p:cNvPr id="242" name="Shape 4">
            <a:extLst>
              <a:ext uri="{FF2B5EF4-FFF2-40B4-BE49-F238E27FC236}">
                <a16:creationId xmlns:a16="http://schemas.microsoft.com/office/drawing/2014/main" id="{302B1A60-DDDA-D74F-A19D-3FC18CD6B6FF}"/>
              </a:ext>
            </a:extLst>
          </p:cNvPr>
          <p:cNvSpPr/>
          <p:nvPr/>
        </p:nvSpPr>
        <p:spPr>
          <a:xfrm>
            <a:off x="168467" y="4359879"/>
            <a:ext cx="886932" cy="329582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3" name="Google Shape;226;p13">
            <a:extLst>
              <a:ext uri="{FF2B5EF4-FFF2-40B4-BE49-F238E27FC236}">
                <a16:creationId xmlns:a16="http://schemas.microsoft.com/office/drawing/2014/main" id="{1DD1F7AB-7C9E-CF2F-E204-BD3079B85CBF}"/>
              </a:ext>
            </a:extLst>
          </p:cNvPr>
          <p:cNvSpPr txBox="1"/>
          <p:nvPr/>
        </p:nvSpPr>
        <p:spPr>
          <a:xfrm>
            <a:off x="273712" y="4400806"/>
            <a:ext cx="65574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MLX</a:t>
            </a:r>
          </a:p>
        </p:txBody>
      </p:sp>
      <p:sp>
        <p:nvSpPr>
          <p:cNvPr id="244" name="Google Shape;227;p13">
            <a:extLst>
              <a:ext uri="{FF2B5EF4-FFF2-40B4-BE49-F238E27FC236}">
                <a16:creationId xmlns:a16="http://schemas.microsoft.com/office/drawing/2014/main" id="{BD27B5C0-DD5B-18B8-93D9-611630DEF04C}"/>
              </a:ext>
            </a:extLst>
          </p:cNvPr>
          <p:cNvSpPr txBox="1"/>
          <p:nvPr/>
        </p:nvSpPr>
        <p:spPr>
          <a:xfrm>
            <a:off x="273712" y="4542953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Apple </a:t>
            </a: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가속 지원</a:t>
            </a:r>
          </a:p>
        </p:txBody>
      </p:sp>
      <p:sp>
        <p:nvSpPr>
          <p:cNvPr id="245" name="Shape 4">
            <a:extLst>
              <a:ext uri="{FF2B5EF4-FFF2-40B4-BE49-F238E27FC236}">
                <a16:creationId xmlns:a16="http://schemas.microsoft.com/office/drawing/2014/main" id="{D183F9B9-8E02-97E9-7B01-EF9BE200B841}"/>
              </a:ext>
            </a:extLst>
          </p:cNvPr>
          <p:cNvSpPr/>
          <p:nvPr/>
        </p:nvSpPr>
        <p:spPr>
          <a:xfrm>
            <a:off x="1117157" y="4362123"/>
            <a:ext cx="886932" cy="329582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6" name="Google Shape;226;p13">
            <a:extLst>
              <a:ext uri="{FF2B5EF4-FFF2-40B4-BE49-F238E27FC236}">
                <a16:creationId xmlns:a16="http://schemas.microsoft.com/office/drawing/2014/main" id="{FA93CC4C-8A03-2565-6F9C-DDC87EEB6E47}"/>
              </a:ext>
            </a:extLst>
          </p:cNvPr>
          <p:cNvSpPr txBox="1"/>
          <p:nvPr/>
        </p:nvSpPr>
        <p:spPr>
          <a:xfrm>
            <a:off x="1222402" y="4403050"/>
            <a:ext cx="65574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900" b="1" dirty="0" err="1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Ollama</a:t>
            </a:r>
            <a:endParaRPr lang="en-US" sz="900" b="1" dirty="0">
              <a:solidFill>
                <a:srgbClr val="0F172A"/>
              </a:solidFill>
              <a:latin typeface="SUIT"/>
              <a:ea typeface="SUIT"/>
              <a:cs typeface="SUIT"/>
              <a:sym typeface="SUIT"/>
            </a:endParaRPr>
          </a:p>
        </p:txBody>
      </p:sp>
      <p:sp>
        <p:nvSpPr>
          <p:cNvPr id="247" name="Google Shape;227;p13">
            <a:extLst>
              <a:ext uri="{FF2B5EF4-FFF2-40B4-BE49-F238E27FC236}">
                <a16:creationId xmlns:a16="http://schemas.microsoft.com/office/drawing/2014/main" id="{4E10AD56-7009-1401-F564-CA43AC811543}"/>
              </a:ext>
            </a:extLst>
          </p:cNvPr>
          <p:cNvSpPr txBox="1"/>
          <p:nvPr/>
        </p:nvSpPr>
        <p:spPr>
          <a:xfrm>
            <a:off x="1222402" y="4545197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독립 로컬 실행</a:t>
            </a:r>
          </a:p>
        </p:txBody>
      </p:sp>
      <p:sp>
        <p:nvSpPr>
          <p:cNvPr id="248" name="Shape 4">
            <a:extLst>
              <a:ext uri="{FF2B5EF4-FFF2-40B4-BE49-F238E27FC236}">
                <a16:creationId xmlns:a16="http://schemas.microsoft.com/office/drawing/2014/main" id="{AF7A53B8-329E-2076-C7E4-3A7F1631F55B}"/>
              </a:ext>
            </a:extLst>
          </p:cNvPr>
          <p:cNvSpPr/>
          <p:nvPr/>
        </p:nvSpPr>
        <p:spPr>
          <a:xfrm>
            <a:off x="2065847" y="4368015"/>
            <a:ext cx="886932" cy="329582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9" name="Google Shape;226;p13">
            <a:extLst>
              <a:ext uri="{FF2B5EF4-FFF2-40B4-BE49-F238E27FC236}">
                <a16:creationId xmlns:a16="http://schemas.microsoft.com/office/drawing/2014/main" id="{23953F16-1922-64E2-0731-E945DED527B2}"/>
              </a:ext>
            </a:extLst>
          </p:cNvPr>
          <p:cNvSpPr txBox="1"/>
          <p:nvPr/>
        </p:nvSpPr>
        <p:spPr>
          <a:xfrm>
            <a:off x="2171092" y="4408942"/>
            <a:ext cx="65574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LM Studio</a:t>
            </a:r>
          </a:p>
        </p:txBody>
      </p:sp>
      <p:sp>
        <p:nvSpPr>
          <p:cNvPr id="250" name="Google Shape;227;p13">
            <a:extLst>
              <a:ext uri="{FF2B5EF4-FFF2-40B4-BE49-F238E27FC236}">
                <a16:creationId xmlns:a16="http://schemas.microsoft.com/office/drawing/2014/main" id="{9F9F157E-C5C6-7AC4-FB96-F95110ECBCA5}"/>
              </a:ext>
            </a:extLst>
          </p:cNvPr>
          <p:cNvSpPr txBox="1"/>
          <p:nvPr/>
        </p:nvSpPr>
        <p:spPr>
          <a:xfrm>
            <a:off x="2171092" y="4551089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모델 호스팅 서빙</a:t>
            </a:r>
          </a:p>
        </p:txBody>
      </p:sp>
      <p:sp>
        <p:nvSpPr>
          <p:cNvPr id="251" name="Shape 4">
            <a:extLst>
              <a:ext uri="{FF2B5EF4-FFF2-40B4-BE49-F238E27FC236}">
                <a16:creationId xmlns:a16="http://schemas.microsoft.com/office/drawing/2014/main" id="{A1732725-8064-1B93-1D71-85BBF74D3481}"/>
              </a:ext>
            </a:extLst>
          </p:cNvPr>
          <p:cNvSpPr/>
          <p:nvPr/>
        </p:nvSpPr>
        <p:spPr>
          <a:xfrm>
            <a:off x="3004975" y="4370259"/>
            <a:ext cx="886932" cy="329582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2" name="Google Shape;226;p13">
            <a:extLst>
              <a:ext uri="{FF2B5EF4-FFF2-40B4-BE49-F238E27FC236}">
                <a16:creationId xmlns:a16="http://schemas.microsoft.com/office/drawing/2014/main" id="{C3793C4F-97EB-3D96-D63B-953632C622FC}"/>
              </a:ext>
            </a:extLst>
          </p:cNvPr>
          <p:cNvSpPr txBox="1"/>
          <p:nvPr/>
        </p:nvSpPr>
        <p:spPr>
          <a:xfrm>
            <a:off x="3110220" y="4411186"/>
            <a:ext cx="65574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AI-Comp.</a:t>
            </a:r>
          </a:p>
        </p:txBody>
      </p:sp>
      <p:sp>
        <p:nvSpPr>
          <p:cNvPr id="253" name="Google Shape;227;p13">
            <a:extLst>
              <a:ext uri="{FF2B5EF4-FFF2-40B4-BE49-F238E27FC236}">
                <a16:creationId xmlns:a16="http://schemas.microsoft.com/office/drawing/2014/main" id="{E25DE156-E9AF-0B7F-8C0C-10E0E4C43EF6}"/>
              </a:ext>
            </a:extLst>
          </p:cNvPr>
          <p:cNvSpPr txBox="1"/>
          <p:nvPr/>
        </p:nvSpPr>
        <p:spPr>
          <a:xfrm>
            <a:off x="3110220" y="4553333"/>
            <a:ext cx="624520" cy="7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ko-KR" altLang="en-US" sz="422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범용 규격 호환</a:t>
            </a:r>
          </a:p>
        </p:txBody>
      </p:sp>
      <p:sp>
        <p:nvSpPr>
          <p:cNvPr id="1092" name="TextBox 10">
            <a:extLst>
              <a:ext uri="{FF2B5EF4-FFF2-40B4-BE49-F238E27FC236}">
                <a16:creationId xmlns:a16="http://schemas.microsoft.com/office/drawing/2014/main" id="{08DB00FB-8DD8-01F9-546C-070FE310137D}"/>
              </a:ext>
            </a:extLst>
          </p:cNvPr>
          <p:cNvSpPr txBox="1"/>
          <p:nvPr/>
        </p:nvSpPr>
        <p:spPr>
          <a:xfrm>
            <a:off x="4100664" y="3666593"/>
            <a:ext cx="2209555" cy="155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lang="ko-KR" altLang="en-US" sz="950" b="1" dirty="0">
                <a:solidFill>
                  <a:srgbClr val="0F172A"/>
                </a:solidFill>
                <a:latin typeface="SUIT ExtraBold"/>
              </a:rPr>
              <a:t>기능별 </a:t>
            </a:r>
            <a:r>
              <a:rPr lang="ko-KR" altLang="en-US" sz="950" b="1" dirty="0" err="1">
                <a:solidFill>
                  <a:srgbClr val="0F172A"/>
                </a:solidFill>
                <a:latin typeface="SUIT ExtraBold"/>
              </a:rPr>
              <a:t>엔드포인트</a:t>
            </a:r>
            <a:r>
              <a:rPr lang="ko-KR" altLang="en-US" sz="950" b="1" dirty="0">
                <a:solidFill>
                  <a:srgbClr val="0F172A"/>
                </a:solidFill>
                <a:latin typeface="SUIT ExtraBold"/>
              </a:rPr>
              <a:t> 독립 분리</a:t>
            </a:r>
          </a:p>
        </p:txBody>
      </p:sp>
      <p:sp>
        <p:nvSpPr>
          <p:cNvPr id="1093" name="Shape 4">
            <a:extLst>
              <a:ext uri="{FF2B5EF4-FFF2-40B4-BE49-F238E27FC236}">
                <a16:creationId xmlns:a16="http://schemas.microsoft.com/office/drawing/2014/main" id="{97C36000-31AE-7171-E159-256B0D0928D5}"/>
              </a:ext>
            </a:extLst>
          </p:cNvPr>
          <p:cNvSpPr/>
          <p:nvPr/>
        </p:nvSpPr>
        <p:spPr>
          <a:xfrm rot="10800000">
            <a:off x="4063473" y="3903678"/>
            <a:ext cx="2246748" cy="201496"/>
          </a:xfrm>
          <a:prstGeom prst="roundRect">
            <a:avLst>
              <a:gd name="adj" fmla="val 21462"/>
            </a:avLst>
          </a:prstGeom>
          <a:gradFill rotWithShape="1">
            <a:gsLst>
              <a:gs pos="0">
                <a:srgbClr val="00D4C5"/>
              </a:gs>
              <a:gs pos="1696">
                <a:srgbClr val="00D4C5"/>
              </a:gs>
              <a:gs pos="1697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94" name="Google Shape;226;p13">
            <a:extLst>
              <a:ext uri="{FF2B5EF4-FFF2-40B4-BE49-F238E27FC236}">
                <a16:creationId xmlns:a16="http://schemas.microsoft.com/office/drawing/2014/main" id="{7C9BC72A-DF63-C2BB-DC5A-DC2F6411836D}"/>
              </a:ext>
            </a:extLst>
          </p:cNvPr>
          <p:cNvSpPr txBox="1"/>
          <p:nvPr/>
        </p:nvSpPr>
        <p:spPr>
          <a:xfrm>
            <a:off x="4143795" y="3945774"/>
            <a:ext cx="94147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Text &amp; Chart</a:t>
            </a:r>
          </a:p>
        </p:txBody>
      </p:sp>
      <p:sp>
        <p:nvSpPr>
          <p:cNvPr id="1095" name="Google Shape;227;p13">
            <a:extLst>
              <a:ext uri="{FF2B5EF4-FFF2-40B4-BE49-F238E27FC236}">
                <a16:creationId xmlns:a16="http://schemas.microsoft.com/office/drawing/2014/main" id="{D6C5A2B5-2208-6495-1183-1173B122805B}"/>
              </a:ext>
            </a:extLst>
          </p:cNvPr>
          <p:cNvSpPr txBox="1"/>
          <p:nvPr/>
        </p:nvSpPr>
        <p:spPr>
          <a:xfrm>
            <a:off x="5636802" y="3966709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09964"/>
              </a:lnSpc>
            </a:pP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질의응답 및 추론</a:t>
            </a:r>
          </a:p>
        </p:txBody>
      </p:sp>
      <p:sp>
        <p:nvSpPr>
          <p:cNvPr id="1096" name="Shape 4">
            <a:extLst>
              <a:ext uri="{FF2B5EF4-FFF2-40B4-BE49-F238E27FC236}">
                <a16:creationId xmlns:a16="http://schemas.microsoft.com/office/drawing/2014/main" id="{51336B88-7034-E373-C62B-BF3AC664ECB2}"/>
              </a:ext>
            </a:extLst>
          </p:cNvPr>
          <p:cNvSpPr/>
          <p:nvPr/>
        </p:nvSpPr>
        <p:spPr>
          <a:xfrm rot="10800000">
            <a:off x="4066220" y="4137958"/>
            <a:ext cx="2246748" cy="201496"/>
          </a:xfrm>
          <a:prstGeom prst="roundRect">
            <a:avLst>
              <a:gd name="adj" fmla="val 21462"/>
            </a:avLst>
          </a:prstGeom>
          <a:gradFill rotWithShape="1">
            <a:gsLst>
              <a:gs pos="0">
                <a:srgbClr val="00D4C5"/>
              </a:gs>
              <a:gs pos="1696">
                <a:srgbClr val="00D4C5"/>
              </a:gs>
              <a:gs pos="1697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97" name="Google Shape;226;p13">
            <a:extLst>
              <a:ext uri="{FF2B5EF4-FFF2-40B4-BE49-F238E27FC236}">
                <a16:creationId xmlns:a16="http://schemas.microsoft.com/office/drawing/2014/main" id="{E0928738-318E-64F4-3103-7A5F873AF5BA}"/>
              </a:ext>
            </a:extLst>
          </p:cNvPr>
          <p:cNvSpPr txBox="1"/>
          <p:nvPr/>
        </p:nvSpPr>
        <p:spPr>
          <a:xfrm>
            <a:off x="4146542" y="4175741"/>
            <a:ext cx="94147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Vision</a:t>
            </a:r>
          </a:p>
        </p:txBody>
      </p:sp>
      <p:sp>
        <p:nvSpPr>
          <p:cNvPr id="1098" name="Google Shape;227;p13">
            <a:extLst>
              <a:ext uri="{FF2B5EF4-FFF2-40B4-BE49-F238E27FC236}">
                <a16:creationId xmlns:a16="http://schemas.microsoft.com/office/drawing/2014/main" id="{3BFE4672-F0D2-85D8-6CA8-BBA16EA1234D}"/>
              </a:ext>
            </a:extLst>
          </p:cNvPr>
          <p:cNvSpPr txBox="1"/>
          <p:nvPr/>
        </p:nvSpPr>
        <p:spPr>
          <a:xfrm>
            <a:off x="5639549" y="4200989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09964"/>
              </a:lnSpc>
            </a:pP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시각 자료 인식</a:t>
            </a:r>
          </a:p>
        </p:txBody>
      </p:sp>
      <p:sp>
        <p:nvSpPr>
          <p:cNvPr id="1099" name="Shape 4">
            <a:extLst>
              <a:ext uri="{FF2B5EF4-FFF2-40B4-BE49-F238E27FC236}">
                <a16:creationId xmlns:a16="http://schemas.microsoft.com/office/drawing/2014/main" id="{3166EFE2-895C-1FD2-6E5B-F8D84CBCAA79}"/>
              </a:ext>
            </a:extLst>
          </p:cNvPr>
          <p:cNvSpPr/>
          <p:nvPr/>
        </p:nvSpPr>
        <p:spPr>
          <a:xfrm rot="10800000">
            <a:off x="4063472" y="4380892"/>
            <a:ext cx="2246748" cy="201496"/>
          </a:xfrm>
          <a:prstGeom prst="roundRect">
            <a:avLst>
              <a:gd name="adj" fmla="val 21462"/>
            </a:avLst>
          </a:prstGeom>
          <a:gradFill rotWithShape="1">
            <a:gsLst>
              <a:gs pos="0">
                <a:srgbClr val="00D4C5"/>
              </a:gs>
              <a:gs pos="1696">
                <a:srgbClr val="00D4C5"/>
              </a:gs>
              <a:gs pos="1697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00" name="Google Shape;226;p13">
            <a:extLst>
              <a:ext uri="{FF2B5EF4-FFF2-40B4-BE49-F238E27FC236}">
                <a16:creationId xmlns:a16="http://schemas.microsoft.com/office/drawing/2014/main" id="{39909E45-9264-BFE1-4ED2-6DB8A8F68A87}"/>
              </a:ext>
            </a:extLst>
          </p:cNvPr>
          <p:cNvSpPr txBox="1"/>
          <p:nvPr/>
        </p:nvSpPr>
        <p:spPr>
          <a:xfrm>
            <a:off x="4143794" y="4414362"/>
            <a:ext cx="94147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Audio</a:t>
            </a:r>
          </a:p>
        </p:txBody>
      </p:sp>
      <p:sp>
        <p:nvSpPr>
          <p:cNvPr id="1101" name="Google Shape;227;p13">
            <a:extLst>
              <a:ext uri="{FF2B5EF4-FFF2-40B4-BE49-F238E27FC236}">
                <a16:creationId xmlns:a16="http://schemas.microsoft.com/office/drawing/2014/main" id="{545B13BD-B467-E8C2-362D-5D0A35E4182C}"/>
              </a:ext>
            </a:extLst>
          </p:cNvPr>
          <p:cNvSpPr txBox="1"/>
          <p:nvPr/>
        </p:nvSpPr>
        <p:spPr>
          <a:xfrm>
            <a:off x="5636801" y="4443923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09964"/>
              </a:lnSpc>
            </a:pP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음성 인식</a:t>
            </a:r>
            <a:r>
              <a:rPr lang="en-US" altLang="ko-KR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·</a:t>
            </a: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합성</a:t>
            </a:r>
          </a:p>
        </p:txBody>
      </p:sp>
      <p:sp>
        <p:nvSpPr>
          <p:cNvPr id="1102" name="Shape 4">
            <a:extLst>
              <a:ext uri="{FF2B5EF4-FFF2-40B4-BE49-F238E27FC236}">
                <a16:creationId xmlns:a16="http://schemas.microsoft.com/office/drawing/2014/main" id="{DC3D1F8C-8309-B684-8C41-16ED3BDBBFDA}"/>
              </a:ext>
            </a:extLst>
          </p:cNvPr>
          <p:cNvSpPr/>
          <p:nvPr/>
        </p:nvSpPr>
        <p:spPr>
          <a:xfrm rot="10800000">
            <a:off x="4063471" y="4615874"/>
            <a:ext cx="2246748" cy="201496"/>
          </a:xfrm>
          <a:prstGeom prst="roundRect">
            <a:avLst>
              <a:gd name="adj" fmla="val 21462"/>
            </a:avLst>
          </a:prstGeom>
          <a:gradFill rotWithShape="1">
            <a:gsLst>
              <a:gs pos="0">
                <a:srgbClr val="00D4C5"/>
              </a:gs>
              <a:gs pos="1696">
                <a:srgbClr val="00D4C5"/>
              </a:gs>
              <a:gs pos="1697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03" name="Google Shape;226;p13">
            <a:extLst>
              <a:ext uri="{FF2B5EF4-FFF2-40B4-BE49-F238E27FC236}">
                <a16:creationId xmlns:a16="http://schemas.microsoft.com/office/drawing/2014/main" id="{CA21F148-9FB6-DCAA-8A0B-67B2A20F926E}"/>
              </a:ext>
            </a:extLst>
          </p:cNvPr>
          <p:cNvSpPr txBox="1"/>
          <p:nvPr/>
        </p:nvSpPr>
        <p:spPr>
          <a:xfrm>
            <a:off x="4143793" y="4649344"/>
            <a:ext cx="94147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Embedding</a:t>
            </a:r>
          </a:p>
        </p:txBody>
      </p:sp>
      <p:sp>
        <p:nvSpPr>
          <p:cNvPr id="1104" name="Google Shape;227;p13">
            <a:extLst>
              <a:ext uri="{FF2B5EF4-FFF2-40B4-BE49-F238E27FC236}">
                <a16:creationId xmlns:a16="http://schemas.microsoft.com/office/drawing/2014/main" id="{B8856D88-362A-EDDF-90E1-672AF8EC4EBA}"/>
              </a:ext>
            </a:extLst>
          </p:cNvPr>
          <p:cNvSpPr txBox="1"/>
          <p:nvPr/>
        </p:nvSpPr>
        <p:spPr>
          <a:xfrm>
            <a:off x="5636800" y="4678905"/>
            <a:ext cx="624520" cy="8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09964"/>
              </a:lnSpc>
            </a:pPr>
            <a:r>
              <a:rPr lang="ko-KR" altLang="en-US" sz="5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벡터 인덱싱</a:t>
            </a:r>
          </a:p>
        </p:txBody>
      </p:sp>
      <p:sp>
        <p:nvSpPr>
          <p:cNvPr id="1113" name="Shape 4">
            <a:extLst>
              <a:ext uri="{FF2B5EF4-FFF2-40B4-BE49-F238E27FC236}">
                <a16:creationId xmlns:a16="http://schemas.microsoft.com/office/drawing/2014/main" id="{381F4AF7-F298-49F0-D8B8-5A35CB7C4F9C}"/>
              </a:ext>
            </a:extLst>
          </p:cNvPr>
          <p:cNvSpPr/>
          <p:nvPr/>
        </p:nvSpPr>
        <p:spPr>
          <a:xfrm>
            <a:off x="6427974" y="3613800"/>
            <a:ext cx="2549911" cy="1253215"/>
          </a:xfrm>
          <a:prstGeom prst="roundRect">
            <a:avLst>
              <a:gd name="adj" fmla="val 2742"/>
            </a:avLst>
          </a:prstGeom>
          <a:solidFill>
            <a:srgbClr val="0A1628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F1E9BF4B-A603-EF0A-2259-10901933F6A8}"/>
              </a:ext>
            </a:extLst>
          </p:cNvPr>
          <p:cNvSpPr txBox="1"/>
          <p:nvPr/>
        </p:nvSpPr>
        <p:spPr>
          <a:xfrm>
            <a:off x="6519438" y="3723528"/>
            <a:ext cx="2392914" cy="33277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95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aisight </a:t>
            </a:r>
            <a:r>
              <a:rPr lang="ko-KR" altLang="en-US" sz="95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표준 내부 </a:t>
            </a:r>
            <a:r>
              <a:rPr lang="en-US" sz="95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LLM </a:t>
            </a:r>
            <a:r>
              <a:rPr lang="en-US" sz="950" b="1" dirty="0">
                <a:solidFill>
                  <a:srgbClr val="41C0C2"/>
                </a:solidFill>
                <a:latin typeface="SUIT ExtraBold" pitchFamily="50" charset="-127"/>
                <a:ea typeface="SUIT ExtraBold" pitchFamily="50" charset="-127"/>
              </a:rPr>
              <a:t>Gemma 4 (31B)</a:t>
            </a:r>
          </a:p>
          <a:p>
            <a:endParaRPr lang="en-US" sz="950" b="1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50D52129-8733-2F13-C008-AD2742CCCC52}"/>
              </a:ext>
            </a:extLst>
          </p:cNvPr>
          <p:cNvSpPr txBox="1"/>
          <p:nvPr/>
        </p:nvSpPr>
        <p:spPr>
          <a:xfrm>
            <a:off x="6508757" y="3973258"/>
            <a:ext cx="2461261" cy="80688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b="1" i="0" u="none" strike="noStrike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Inference Optimization:</a:t>
            </a:r>
            <a:r>
              <a:rPr lang="ko-KR" altLang="en-US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700" b="0" i="0" u="none" strike="noStrike" dirty="0" err="1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vLLM</a:t>
            </a:r>
            <a:r>
              <a:rPr lang="en-US" altLang="ko-KR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가속 및  </a:t>
            </a:r>
            <a:r>
              <a:rPr lang="en-US" altLang="ko-KR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INT8/INT4  </a:t>
            </a:r>
            <a:r>
              <a:rPr lang="ko-KR" altLang="en-US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양자화 적용으로 대규모 배치 처리 보장</a:t>
            </a:r>
            <a:endParaRPr lang="en-US" altLang="ko-KR" sz="700" b="0" i="0" u="none" strike="noStrike" dirty="0">
              <a:solidFill>
                <a:srgbClr val="CBD5E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rtl="0">
              <a:lnSpc>
                <a:spcPct val="120000"/>
              </a:lnSpc>
              <a:buNone/>
            </a:pPr>
            <a:r>
              <a:rPr lang="en-US" altLang="ko-KR" sz="700" b="1" i="0" u="none" strike="noStrike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Skill </a:t>
            </a:r>
            <a:r>
              <a:rPr lang="en-US" altLang="ko-KR"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set</a:t>
            </a:r>
            <a:r>
              <a:rPr lang="en-US" altLang="ko-KR" sz="700" b="1" i="0" u="none" strike="noStrike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en-US" altLang="ko-KR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Function Calling </a:t>
            </a:r>
            <a:r>
              <a:rPr lang="ko-KR" altLang="en-US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커스텀 튜닝을 통해 </a:t>
            </a:r>
            <a:r>
              <a:rPr lang="en-US" altLang="ko-KR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Skill Registry</a:t>
            </a:r>
            <a:r>
              <a:rPr lang="ko-KR" altLang="en-US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와 안정적 연동</a:t>
            </a:r>
            <a:endParaRPr lang="ko-KR" altLang="en-US" sz="1200" b="0" dirty="0">
              <a:effectLst/>
            </a:endParaRPr>
          </a:p>
          <a:p>
            <a:pPr rtl="0">
              <a:lnSpc>
                <a:spcPct val="120000"/>
              </a:lnSpc>
              <a:buNone/>
            </a:pPr>
            <a:r>
              <a:rPr lang="en-US" altLang="ko-KR" sz="700" b="1" i="0" u="none" strike="noStrike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Sovereign </a:t>
            </a:r>
            <a:r>
              <a:rPr lang="en-US" altLang="ko-KR" sz="700" b="1" i="0" u="none" strike="noStrike" dirty="0" err="1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MLOps</a:t>
            </a:r>
            <a:r>
              <a:rPr lang="en-US" altLang="ko-KR" sz="700" b="1" i="0" u="none" strike="noStrike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보안 </a:t>
            </a:r>
            <a:r>
              <a:rPr lang="ko-KR" altLang="en-US" sz="700" b="0" i="0" u="none" strike="noStrike" dirty="0" err="1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폐쇄망</a:t>
            </a:r>
            <a:r>
              <a:rPr lang="ko-KR" altLang="en-US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내 경량 </a:t>
            </a:r>
            <a:r>
              <a:rPr lang="ko-KR" altLang="en-US" sz="700" b="0" i="0" u="none" strike="noStrike" dirty="0" err="1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파인튜닝</a:t>
            </a:r>
            <a:r>
              <a:rPr lang="en-US" altLang="ko-KR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700" b="0" i="0" u="none" strike="noStrike" dirty="0" err="1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QLoRA</a:t>
            </a:r>
            <a:r>
              <a:rPr lang="en-US" altLang="ko-KR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7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및 데이터 주권 기반 지식 업데이트</a:t>
            </a:r>
            <a:endParaRPr lang="ko-KR" altLang="en-US" sz="12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03218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DA666-48F2-08AF-D8BF-053C5A4D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749A4152-A5C5-9B90-3185-4351514292B7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BDB42866-5077-4516-7CEA-9D68CB16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스킬 기반 시스템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(Skill-Based Intelligent System)</a:t>
            </a:r>
            <a:endParaRPr lang="ko-KR" altLang="en-US" b="0" dirty="0">
              <a:solidFill>
                <a:srgbClr val="0F172A"/>
              </a:solidFill>
              <a:sym typeface="SUIT"/>
            </a:endParaRP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2D11354-F16F-D27E-B518-89962477CA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7E94D2B9-8F51-7C4B-EC56-EC67D05C8C29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ko-KR" sz="1100" b="1" dirty="0">
                <a:solidFill>
                  <a:srgbClr val="334155"/>
                </a:solidFill>
                <a:sym typeface="Noto Sans KR"/>
              </a:rPr>
              <a:t>'</a:t>
            </a:r>
            <a:r>
              <a:rPr lang="ko-KR" altLang="en-US" sz="1100" b="1" dirty="0">
                <a:solidFill>
                  <a:srgbClr val="334155"/>
                </a:solidFill>
                <a:sym typeface="Noto Sans KR"/>
              </a:rPr>
              <a:t>스킬</a:t>
            </a:r>
            <a:r>
              <a:rPr lang="en-US" altLang="ko-KR" sz="1100" b="1" dirty="0">
                <a:solidFill>
                  <a:srgbClr val="334155"/>
                </a:solidFill>
                <a:sym typeface="Noto Sans KR"/>
              </a:rPr>
              <a:t>(Skill)'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은 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AI 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에이전트가 현실 세계의 데이터와 시스템에 접근할 수 있게 해주는 디지털 근육이자 지능형 엔진입니다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. 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에이전트의 프로세스는 사용자의 질문에 맞춰 단일 또는 다중 스킬을 자율적으로 선택하여 격리된 런타임 환경에서 업무를 완수합니다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. (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기 정의된 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Dashboard 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및 </a:t>
            </a:r>
            <a:r>
              <a:rPr lang="en-US" altLang="ko-KR" sz="1100" dirty="0" err="1">
                <a:solidFill>
                  <a:srgbClr val="334155"/>
                </a:solidFill>
                <a:sym typeface="Noto Sans KR"/>
              </a:rPr>
              <a:t>Datasource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별 스킬 셋팅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) 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8F267C0-F7DA-E1A9-214F-CF3858FB7FF2}"/>
              </a:ext>
            </a:extLst>
          </p:cNvPr>
          <p:cNvSpPr/>
          <p:nvPr/>
        </p:nvSpPr>
        <p:spPr>
          <a:xfrm>
            <a:off x="167109" y="1292597"/>
            <a:ext cx="2545611" cy="3571776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D277C19-79CA-AFF4-AE37-D7C2B0CD2D8B}"/>
              </a:ext>
            </a:extLst>
          </p:cNvPr>
          <p:cNvSpPr/>
          <p:nvPr/>
        </p:nvSpPr>
        <p:spPr>
          <a:xfrm>
            <a:off x="270755" y="1409634"/>
            <a:ext cx="2338317" cy="201929"/>
          </a:xfrm>
          <a:prstGeom prst="roundRect">
            <a:avLst>
              <a:gd name="adj" fmla="val 8839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36000" tIns="10800" rIns="36000" bIns="10800">
            <a:noAutofit/>
          </a:bodyPr>
          <a:lstStyle/>
          <a:p>
            <a:endParaRPr lang="ko-KR" altLang="en-US" sz="5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F756F8-D8A8-91FB-3975-147FD529C373}"/>
              </a:ext>
            </a:extLst>
          </p:cNvPr>
          <p:cNvSpPr txBox="1"/>
          <p:nvPr/>
        </p:nvSpPr>
        <p:spPr>
          <a:xfrm>
            <a:off x="270755" y="1430438"/>
            <a:ext cx="1740925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1. </a:t>
            </a:r>
            <a:r>
              <a:rPr lang="ko-KR" altLang="en-US" sz="8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스킬 정의 및 셋팅</a:t>
            </a:r>
            <a:r>
              <a:rPr lang="en-US" altLang="ko-KR" sz="8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(Ops)</a:t>
            </a:r>
            <a:endParaRPr lang="en-US" sz="800" b="1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CE6BB-F83F-B76B-EC2E-14126C134472}"/>
              </a:ext>
            </a:extLst>
          </p:cNvPr>
          <p:cNvSpPr txBox="1"/>
          <p:nvPr/>
        </p:nvSpPr>
        <p:spPr>
          <a:xfrm>
            <a:off x="1794610" y="1440616"/>
            <a:ext cx="818638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r"/>
            <a:r>
              <a:rPr lang="ko-KR" altLang="en-US" sz="600" b="1" dirty="0">
                <a:solidFill>
                  <a:schemeClr val="bg1">
                    <a:lumMod val="8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정의</a:t>
            </a:r>
            <a:r>
              <a:rPr lang="en-US" altLang="ko-KR" sz="600" b="1" dirty="0">
                <a:solidFill>
                  <a:schemeClr val="bg1">
                    <a:lumMod val="8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/</a:t>
            </a:r>
            <a:r>
              <a:rPr lang="ko-KR" altLang="en-US" sz="600" b="1" dirty="0">
                <a:solidFill>
                  <a:schemeClr val="bg1">
                    <a:lumMod val="8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제약</a:t>
            </a:r>
            <a:endParaRPr lang="en-US" sz="600" b="1" dirty="0">
              <a:solidFill>
                <a:schemeClr val="bg1">
                  <a:lumMod val="85000"/>
                </a:schemeClr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D4A2051-3E6F-A480-0164-E9AA661B588D}"/>
              </a:ext>
            </a:extLst>
          </p:cNvPr>
          <p:cNvSpPr/>
          <p:nvPr/>
        </p:nvSpPr>
        <p:spPr>
          <a:xfrm>
            <a:off x="5886681" y="1288353"/>
            <a:ext cx="2964711" cy="3571776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CBE7535-17BB-339D-F2E3-6AACAF975EFD}"/>
              </a:ext>
            </a:extLst>
          </p:cNvPr>
          <p:cNvSpPr/>
          <p:nvPr/>
        </p:nvSpPr>
        <p:spPr>
          <a:xfrm>
            <a:off x="2802850" y="1292302"/>
            <a:ext cx="2964711" cy="3571776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29EED39D-F91C-677E-3C80-D1B66A56D46B}"/>
              </a:ext>
            </a:extLst>
          </p:cNvPr>
          <p:cNvSpPr/>
          <p:nvPr/>
        </p:nvSpPr>
        <p:spPr>
          <a:xfrm>
            <a:off x="2914389" y="1409634"/>
            <a:ext cx="2743200" cy="201929"/>
          </a:xfrm>
          <a:prstGeom prst="roundRect">
            <a:avLst>
              <a:gd name="adj" fmla="val 8839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36000" tIns="10800" rIns="36000" bIns="10800">
            <a:noAutofit/>
          </a:bodyPr>
          <a:lstStyle/>
          <a:p>
            <a:endParaRPr lang="ko-KR" altLang="en-US" sz="5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0FC68C4-4F1E-E4C5-1AD6-85DA39A759E5}"/>
              </a:ext>
            </a:extLst>
          </p:cNvPr>
          <p:cNvSpPr/>
          <p:nvPr/>
        </p:nvSpPr>
        <p:spPr>
          <a:xfrm>
            <a:off x="6012493" y="1401838"/>
            <a:ext cx="2712672" cy="201929"/>
          </a:xfrm>
          <a:prstGeom prst="roundRect">
            <a:avLst>
              <a:gd name="adj" fmla="val 8839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36000" tIns="10800" rIns="36000" bIns="10800">
            <a:noAutofit/>
          </a:bodyPr>
          <a:lstStyle/>
          <a:p>
            <a:endParaRPr lang="ko-KR" altLang="en-US" sz="5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99D3F-A78C-9AE5-B74E-C62D2BD28762}"/>
              </a:ext>
            </a:extLst>
          </p:cNvPr>
          <p:cNvSpPr txBox="1"/>
          <p:nvPr/>
        </p:nvSpPr>
        <p:spPr>
          <a:xfrm>
            <a:off x="2920591" y="1424073"/>
            <a:ext cx="1740925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2. </a:t>
            </a:r>
            <a:r>
              <a:rPr lang="ko-KR" altLang="en-US" sz="8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메인 오케스트레이션</a:t>
            </a:r>
            <a:endParaRPr lang="en-US" sz="800" b="1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0CA4F-503E-E9B5-E7AD-0FDF6F273852}"/>
              </a:ext>
            </a:extLst>
          </p:cNvPr>
          <p:cNvSpPr txBox="1"/>
          <p:nvPr/>
        </p:nvSpPr>
        <p:spPr>
          <a:xfrm>
            <a:off x="4828567" y="1440616"/>
            <a:ext cx="818638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r"/>
            <a:r>
              <a:rPr lang="ko-KR" altLang="en-US" sz="600" b="1" dirty="0">
                <a:solidFill>
                  <a:schemeClr val="bg1">
                    <a:lumMod val="8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선정</a:t>
            </a:r>
            <a:r>
              <a:rPr lang="en-US" altLang="ko-KR" sz="600" b="1" dirty="0">
                <a:solidFill>
                  <a:schemeClr val="bg1">
                    <a:lumMod val="8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/</a:t>
            </a:r>
            <a:r>
              <a:rPr lang="ko-KR" altLang="en-US" sz="600" b="1" dirty="0">
                <a:solidFill>
                  <a:schemeClr val="bg1">
                    <a:lumMod val="8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조율</a:t>
            </a:r>
            <a:endParaRPr lang="en-US" sz="600" b="1" dirty="0">
              <a:solidFill>
                <a:schemeClr val="bg1">
                  <a:lumMod val="85000"/>
                </a:schemeClr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1BEE1-7D68-B546-89FE-F86F87049E52}"/>
              </a:ext>
            </a:extLst>
          </p:cNvPr>
          <p:cNvSpPr txBox="1"/>
          <p:nvPr/>
        </p:nvSpPr>
        <p:spPr>
          <a:xfrm>
            <a:off x="6012493" y="1430438"/>
            <a:ext cx="1740925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3. </a:t>
            </a:r>
            <a:r>
              <a:rPr lang="ko-KR" altLang="en-US" sz="8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스킬 내부 심층 실행</a:t>
            </a:r>
            <a:endParaRPr lang="en-US" sz="800" b="1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733BD2-A837-12EB-40E2-B1224C2E0910}"/>
              </a:ext>
            </a:extLst>
          </p:cNvPr>
          <p:cNvSpPr txBox="1"/>
          <p:nvPr/>
        </p:nvSpPr>
        <p:spPr>
          <a:xfrm>
            <a:off x="7891244" y="1442806"/>
            <a:ext cx="818638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r"/>
            <a:r>
              <a:rPr lang="ko-KR" altLang="en-US" sz="600" b="1" dirty="0">
                <a:solidFill>
                  <a:schemeClr val="bg1">
                    <a:lumMod val="8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런타임 스킬 루프</a:t>
            </a:r>
            <a:endParaRPr lang="en-US" sz="600" b="1" dirty="0">
              <a:solidFill>
                <a:schemeClr val="bg1">
                  <a:lumMod val="85000"/>
                </a:schemeClr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5855A327-DF65-AF3C-8206-F4072BE5B4B8}"/>
              </a:ext>
            </a:extLst>
          </p:cNvPr>
          <p:cNvSpPr/>
          <p:nvPr/>
        </p:nvSpPr>
        <p:spPr>
          <a:xfrm rot="16200000">
            <a:off x="-100284" y="2072433"/>
            <a:ext cx="3084579" cy="2342493"/>
          </a:xfrm>
          <a:prstGeom prst="roundRect">
            <a:avLst>
              <a:gd name="adj" fmla="val 2294"/>
            </a:avLst>
          </a:prstGeom>
          <a:gradFill rotWithShape="1">
            <a:gsLst>
              <a:gs pos="0">
                <a:srgbClr val="00D4C5"/>
              </a:gs>
              <a:gs pos="1235">
                <a:srgbClr val="00D4C5"/>
              </a:gs>
              <a:gs pos="1236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B48F9A51-9272-7AB4-182D-C8FF476CE138}"/>
              </a:ext>
            </a:extLst>
          </p:cNvPr>
          <p:cNvSpPr/>
          <p:nvPr/>
        </p:nvSpPr>
        <p:spPr>
          <a:xfrm rot="16200000">
            <a:off x="4080790" y="857420"/>
            <a:ext cx="422808" cy="2743199"/>
          </a:xfrm>
          <a:prstGeom prst="roundRect">
            <a:avLst>
              <a:gd name="adj" fmla="val 2294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3AF448FE-32F2-12C3-E8D3-20FB13F37B74}"/>
              </a:ext>
            </a:extLst>
          </p:cNvPr>
          <p:cNvSpPr/>
          <p:nvPr/>
        </p:nvSpPr>
        <p:spPr>
          <a:xfrm rot="10800000">
            <a:off x="6012493" y="1684415"/>
            <a:ext cx="2697388" cy="560381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1412">
                <a:srgbClr val="00D4C5"/>
              </a:gs>
              <a:gs pos="1413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4341B360-4CB7-B859-7752-22DD3A8EDD7B}"/>
              </a:ext>
            </a:extLst>
          </p:cNvPr>
          <p:cNvSpPr/>
          <p:nvPr/>
        </p:nvSpPr>
        <p:spPr>
          <a:xfrm>
            <a:off x="2920591" y="1727174"/>
            <a:ext cx="2736998" cy="212272"/>
          </a:xfrm>
          <a:prstGeom prst="roundRect">
            <a:avLst>
              <a:gd name="adj" fmla="val 14112"/>
            </a:avLst>
          </a:prstGeom>
          <a:solidFill>
            <a:srgbClr val="FAFEFE"/>
          </a:solidFill>
          <a:ln>
            <a:solidFill>
              <a:srgbClr val="6EE6DE"/>
            </a:solidFill>
            <a:prstDash val="dash"/>
          </a:ln>
        </p:spPr>
        <p:txBody>
          <a:bodyPr/>
          <a:lstStyle/>
          <a:p>
            <a:r>
              <a:rPr lang="en-US" altLang="ko-KR" sz="800" dirty="0"/>
              <a:t>“</a:t>
            </a:r>
            <a:r>
              <a:rPr lang="ko-KR" altLang="en-US" sz="800" dirty="0"/>
              <a:t>지난 </a:t>
            </a:r>
            <a:r>
              <a:rPr lang="en-US" altLang="ko-KR" sz="800" dirty="0"/>
              <a:t>10</a:t>
            </a:r>
            <a:r>
              <a:rPr lang="ko-KR" altLang="en-US" sz="800" dirty="0"/>
              <a:t>주간의 매출 및 </a:t>
            </a:r>
            <a:r>
              <a:rPr lang="en-US" altLang="ko-KR" sz="800" dirty="0"/>
              <a:t>AOV </a:t>
            </a:r>
            <a:r>
              <a:rPr lang="ko-KR" altLang="en-US" sz="800" dirty="0"/>
              <a:t>추이와 마케팅 성과를 분석해줘</a:t>
            </a:r>
            <a:r>
              <a:rPr lang="en-US" altLang="ko-KR" sz="800" dirty="0"/>
              <a:t>”</a:t>
            </a:r>
            <a:endParaRPr lang="ko-KR" altLang="en-US" sz="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BAF32D-EBEF-431A-B024-08D21E887EB5}"/>
              </a:ext>
            </a:extLst>
          </p:cNvPr>
          <p:cNvSpPr txBox="1"/>
          <p:nvPr/>
        </p:nvSpPr>
        <p:spPr>
          <a:xfrm>
            <a:off x="340360" y="1795768"/>
            <a:ext cx="414020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ea typeface="SUIT ExtraBold" pitchFamily="50" charset="-127"/>
              </a:rPr>
              <a:t>SLUG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99FDE4-EFDB-1B6F-5665-6439A5B7483D}"/>
              </a:ext>
            </a:extLst>
          </p:cNvPr>
          <p:cNvSpPr txBox="1"/>
          <p:nvPr/>
        </p:nvSpPr>
        <p:spPr>
          <a:xfrm>
            <a:off x="1207027" y="1805408"/>
            <a:ext cx="1274046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스킬 명칭</a:t>
            </a:r>
            <a:endParaRPr lang="en-US" sz="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87131B62-7A52-A402-6EE3-87FAF1D8A08E}"/>
              </a:ext>
            </a:extLst>
          </p:cNvPr>
          <p:cNvSpPr/>
          <p:nvPr/>
        </p:nvSpPr>
        <p:spPr>
          <a:xfrm>
            <a:off x="322579" y="1939446"/>
            <a:ext cx="780797" cy="156340"/>
          </a:xfrm>
          <a:prstGeom prst="roundRect">
            <a:avLst>
              <a:gd name="adj" fmla="val 1411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8E7CDF87-B62C-5891-E713-11733B2EA7CF}"/>
              </a:ext>
            </a:extLst>
          </p:cNvPr>
          <p:cNvSpPr/>
          <p:nvPr/>
        </p:nvSpPr>
        <p:spPr>
          <a:xfrm>
            <a:off x="1193506" y="1939446"/>
            <a:ext cx="1331254" cy="156340"/>
          </a:xfrm>
          <a:prstGeom prst="roundRect">
            <a:avLst>
              <a:gd name="adj" fmla="val 1411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EF52B8-4BCD-AB96-9E0F-FA0CEDCAB659}"/>
              </a:ext>
            </a:extLst>
          </p:cNvPr>
          <p:cNvSpPr txBox="1"/>
          <p:nvPr/>
        </p:nvSpPr>
        <p:spPr>
          <a:xfrm>
            <a:off x="340359" y="2208500"/>
            <a:ext cx="2140713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System Prompt(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스킬 기반 행동 핵심 지침</a:t>
            </a:r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  <a:endParaRPr lang="en-US" sz="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DDA8E100-A84A-6011-1407-2B76C2932695}"/>
              </a:ext>
            </a:extLst>
          </p:cNvPr>
          <p:cNvSpPr/>
          <p:nvPr/>
        </p:nvSpPr>
        <p:spPr>
          <a:xfrm>
            <a:off x="322579" y="2364605"/>
            <a:ext cx="2220596" cy="1603061"/>
          </a:xfrm>
          <a:prstGeom prst="roundRect">
            <a:avLst>
              <a:gd name="adj" fmla="val 2742"/>
            </a:avLst>
          </a:prstGeom>
          <a:solidFill>
            <a:srgbClr val="0A1628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3E0588-09E1-5A2F-2003-3BE2D60B35EE}"/>
              </a:ext>
            </a:extLst>
          </p:cNvPr>
          <p:cNvSpPr txBox="1"/>
          <p:nvPr/>
        </p:nvSpPr>
        <p:spPr>
          <a:xfrm>
            <a:off x="384048" y="2440424"/>
            <a:ext cx="1961176" cy="1425385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600" b="1" dirty="0">
                <a:solidFill>
                  <a:srgbClr val="41C0C2"/>
                </a:solidFill>
                <a:latin typeface="+mj-ea"/>
                <a:ea typeface="+mj-ea"/>
              </a:rPr>
              <a:t># </a:t>
            </a:r>
            <a:r>
              <a:rPr lang="ko-KR" altLang="en-US" sz="600" b="1" dirty="0">
                <a:solidFill>
                  <a:srgbClr val="41C0C2"/>
                </a:solidFill>
                <a:latin typeface="+mj-ea"/>
                <a:ea typeface="+mj-ea"/>
              </a:rPr>
              <a:t>당신은 </a:t>
            </a:r>
            <a:r>
              <a:rPr lang="en-US" altLang="ko-KR" sz="600" b="1" dirty="0">
                <a:solidFill>
                  <a:srgbClr val="41C0C2"/>
                </a:solidFill>
                <a:latin typeface="+mj-ea"/>
                <a:ea typeface="+mj-ea"/>
              </a:rPr>
              <a:t>[</a:t>
            </a:r>
            <a:r>
              <a:rPr lang="ko-KR" altLang="en-US" sz="600" b="1" dirty="0">
                <a:solidFill>
                  <a:srgbClr val="41C0C2"/>
                </a:solidFill>
                <a:latin typeface="+mj-ea"/>
                <a:ea typeface="+mj-ea"/>
              </a:rPr>
              <a:t>매출 데이터 분석 전문가</a:t>
            </a:r>
            <a:r>
              <a:rPr lang="en-US" altLang="ko-KR" sz="600" b="1" dirty="0">
                <a:solidFill>
                  <a:srgbClr val="41C0C2"/>
                </a:solidFill>
                <a:latin typeface="+mj-ea"/>
                <a:ea typeface="+mj-ea"/>
              </a:rPr>
              <a:t>]</a:t>
            </a:r>
            <a:r>
              <a:rPr lang="ko-KR" altLang="en-US" sz="600" b="1" dirty="0">
                <a:solidFill>
                  <a:srgbClr val="41C0C2"/>
                </a:solidFill>
                <a:latin typeface="+mj-ea"/>
                <a:ea typeface="+mj-ea"/>
              </a:rPr>
              <a:t>입니다</a:t>
            </a:r>
            <a:r>
              <a:rPr lang="en-US" altLang="ko-KR" sz="600" b="1" dirty="0">
                <a:solidFill>
                  <a:srgbClr val="41C0C2"/>
                </a:solidFill>
                <a:latin typeface="+mj-ea"/>
                <a:ea typeface="+mj-ea"/>
              </a:rPr>
              <a:t>.</a:t>
            </a:r>
          </a:p>
          <a:p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`</a:t>
            </a:r>
            <a:r>
              <a:rPr lang="en-US" altLang="ko-KR" sz="6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agent.ft_sales_ai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`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테이블을 활용하여 주차별 통계를 분석합니다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.</a:t>
            </a:r>
          </a:p>
          <a:p>
            <a:r>
              <a:rPr lang="en-US" altLang="ko-KR" sz="600" b="1" dirty="0">
                <a:solidFill>
                  <a:srgbClr val="41C0C2"/>
                </a:solidFill>
                <a:latin typeface="+mj-ea"/>
                <a:ea typeface="+mj-ea"/>
              </a:rPr>
              <a:t># </a:t>
            </a:r>
            <a:r>
              <a:rPr lang="ko-KR" altLang="en-US" sz="600" b="1" dirty="0">
                <a:solidFill>
                  <a:srgbClr val="41C0C2"/>
                </a:solidFill>
                <a:latin typeface="+mj-ea"/>
                <a:ea typeface="+mj-ea"/>
              </a:rPr>
              <a:t>주요 지표 및 계산식</a:t>
            </a:r>
          </a:p>
          <a:p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-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매출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: SUM(</a:t>
            </a:r>
            <a:r>
              <a:rPr lang="en-US" altLang="ko-KR" sz="6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sales_amt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) /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주문건수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: COUNT(DISTINCT </a:t>
            </a:r>
            <a:r>
              <a:rPr lang="en-US" altLang="ko-KR" sz="6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ord_id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)</a:t>
            </a:r>
          </a:p>
          <a:p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- AOV: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매출 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/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주문건수 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/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기준 주차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: `</a:t>
            </a:r>
            <a:r>
              <a:rPr lang="en-US" altLang="ko-KR" sz="6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base_tw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`</a:t>
            </a:r>
          </a:p>
          <a:p>
            <a:endParaRPr lang="en-US" altLang="ko-KR" sz="6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600" b="1" dirty="0">
                <a:solidFill>
                  <a:srgbClr val="41C0C2"/>
                </a:solidFill>
                <a:latin typeface="+mj-ea"/>
                <a:ea typeface="+mj-ea"/>
              </a:rPr>
              <a:t># </a:t>
            </a:r>
            <a:r>
              <a:rPr lang="ko-KR" altLang="en-US" sz="600" b="1" dirty="0">
                <a:solidFill>
                  <a:srgbClr val="41C0C2"/>
                </a:solidFill>
                <a:latin typeface="+mj-ea"/>
                <a:ea typeface="+mj-ea"/>
              </a:rPr>
              <a:t>작업 순서 강제 </a:t>
            </a:r>
            <a:r>
              <a:rPr lang="en-US" altLang="ko-KR" sz="600" b="1" dirty="0">
                <a:solidFill>
                  <a:srgbClr val="41C0C2"/>
                </a:solidFill>
                <a:latin typeface="+mj-ea"/>
                <a:ea typeface="+mj-ea"/>
              </a:rPr>
              <a:t>(3-Step Loop)</a:t>
            </a:r>
          </a:p>
          <a:p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1. </a:t>
            </a:r>
            <a:r>
              <a:rPr lang="en-US" altLang="ko-KR" sz="6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db.list_tables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로 테이블 구조 파악</a:t>
            </a:r>
          </a:p>
          <a:p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2. </a:t>
            </a:r>
            <a:r>
              <a:rPr lang="en-US" altLang="ko-KR" sz="6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db.describe_table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로 컬럼 상세 확인</a:t>
            </a:r>
          </a:p>
          <a:p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3. </a:t>
            </a:r>
            <a:r>
              <a:rPr lang="en-US" altLang="ko-KR" sz="6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db.run_query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로 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SQL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실행 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읽기 전용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)</a:t>
            </a:r>
          </a:p>
          <a:p>
            <a:endParaRPr lang="en-US" altLang="ko-KR" sz="6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600" b="1" dirty="0">
                <a:solidFill>
                  <a:srgbClr val="41C0C2"/>
                </a:solidFill>
                <a:latin typeface="+mj-ea"/>
                <a:ea typeface="+mj-ea"/>
              </a:rPr>
              <a:t># </a:t>
            </a:r>
            <a:r>
              <a:rPr lang="ko-KR" altLang="en-US" sz="600" b="1" dirty="0">
                <a:solidFill>
                  <a:srgbClr val="41C0C2"/>
                </a:solidFill>
                <a:latin typeface="+mj-ea"/>
                <a:ea typeface="+mj-ea"/>
              </a:rPr>
              <a:t>답변 스타일 가이드</a:t>
            </a:r>
          </a:p>
          <a:p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-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수치는 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$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표기 및 천 단위</a:t>
            </a:r>
            <a:r>
              <a:rPr lang="en-US" altLang="ko-KR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(,) </a:t>
            </a:r>
            <a:r>
              <a:rPr lang="ko-KR" altLang="en-US" sz="6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적용</a:t>
            </a:r>
            <a:endParaRPr lang="en-US" altLang="ko-KR" sz="6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5352EB1-B661-22EC-E8CB-CA9F35A87D2C}"/>
              </a:ext>
            </a:extLst>
          </p:cNvPr>
          <p:cNvSpPr/>
          <p:nvPr/>
        </p:nvSpPr>
        <p:spPr>
          <a:xfrm>
            <a:off x="2458214" y="2461954"/>
            <a:ext cx="45719" cy="1037098"/>
          </a:xfrm>
          <a:prstGeom prst="roundRect">
            <a:avLst>
              <a:gd name="adj" fmla="val 4270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E30E6F-3A13-0068-87F4-81CEFE52FD68}"/>
              </a:ext>
            </a:extLst>
          </p:cNvPr>
          <p:cNvSpPr txBox="1"/>
          <p:nvPr/>
        </p:nvSpPr>
        <p:spPr>
          <a:xfrm>
            <a:off x="322579" y="4024899"/>
            <a:ext cx="2140713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연동 툴</a:t>
            </a:r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(Tool Binding)</a:t>
            </a:r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02CFFBA2-ECF0-B6DA-45F1-D970C70968AC}"/>
              </a:ext>
            </a:extLst>
          </p:cNvPr>
          <p:cNvSpPr/>
          <p:nvPr/>
        </p:nvSpPr>
        <p:spPr>
          <a:xfrm rot="16200000">
            <a:off x="1155063" y="3345873"/>
            <a:ext cx="558804" cy="2188212"/>
          </a:xfrm>
          <a:prstGeom prst="roundRect">
            <a:avLst>
              <a:gd name="adj" fmla="val 433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Google Shape;142;p13">
            <a:extLst>
              <a:ext uri="{FF2B5EF4-FFF2-40B4-BE49-F238E27FC236}">
                <a16:creationId xmlns:a16="http://schemas.microsoft.com/office/drawing/2014/main" id="{0B4EFAD2-48C9-E42B-84AD-57C970D9FB4B}"/>
              </a:ext>
            </a:extLst>
          </p:cNvPr>
          <p:cNvSpPr txBox="1"/>
          <p:nvPr/>
        </p:nvSpPr>
        <p:spPr>
          <a:xfrm>
            <a:off x="494056" y="4231271"/>
            <a:ext cx="203837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DB – Run SQL</a:t>
            </a:r>
          </a:p>
        </p:txBody>
      </p:sp>
      <p:pic>
        <p:nvPicPr>
          <p:cNvPr id="49" name="그래픽 48" descr="배지 체크 표시1 단색으로 채워진">
            <a:extLst>
              <a:ext uri="{FF2B5EF4-FFF2-40B4-BE49-F238E27FC236}">
                <a16:creationId xmlns:a16="http://schemas.microsoft.com/office/drawing/2014/main" id="{FC9A6949-7AF9-E450-F056-6C1494D28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842" y="4221968"/>
            <a:ext cx="105267" cy="105267"/>
          </a:xfrm>
          <a:prstGeom prst="rect">
            <a:avLst/>
          </a:prstGeom>
        </p:spPr>
      </p:pic>
      <p:sp>
        <p:nvSpPr>
          <p:cNvPr id="51" name="Google Shape;142;p13">
            <a:extLst>
              <a:ext uri="{FF2B5EF4-FFF2-40B4-BE49-F238E27FC236}">
                <a16:creationId xmlns:a16="http://schemas.microsoft.com/office/drawing/2014/main" id="{8D3D0154-818A-008A-9BFD-BCFD2AEF86E0}"/>
              </a:ext>
            </a:extLst>
          </p:cNvPr>
          <p:cNvSpPr txBox="1"/>
          <p:nvPr/>
        </p:nvSpPr>
        <p:spPr>
          <a:xfrm>
            <a:off x="494056" y="4350534"/>
            <a:ext cx="203837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웹 페이지 가져오기</a:t>
            </a:r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검색</a:t>
            </a:r>
            <a:endParaRPr lang="en-US" altLang="ko-KR" sz="600" b="1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pic>
        <p:nvPicPr>
          <p:cNvPr id="52" name="그래픽 51" descr="배지 체크 표시1 단색으로 채워진">
            <a:extLst>
              <a:ext uri="{FF2B5EF4-FFF2-40B4-BE49-F238E27FC236}">
                <a16:creationId xmlns:a16="http://schemas.microsoft.com/office/drawing/2014/main" id="{4B132795-766A-1D3C-B2C1-7EB550983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842" y="4341231"/>
            <a:ext cx="105267" cy="105267"/>
          </a:xfrm>
          <a:prstGeom prst="rect">
            <a:avLst/>
          </a:prstGeom>
        </p:spPr>
      </p:pic>
      <p:sp>
        <p:nvSpPr>
          <p:cNvPr id="53" name="Google Shape;142;p13">
            <a:extLst>
              <a:ext uri="{FF2B5EF4-FFF2-40B4-BE49-F238E27FC236}">
                <a16:creationId xmlns:a16="http://schemas.microsoft.com/office/drawing/2014/main" id="{C61C4EA1-BB20-D5EC-C8A8-8292B03A3587}"/>
              </a:ext>
            </a:extLst>
          </p:cNvPr>
          <p:cNvSpPr txBox="1"/>
          <p:nvPr/>
        </p:nvSpPr>
        <p:spPr>
          <a:xfrm>
            <a:off x="495145" y="4467394"/>
            <a:ext cx="203837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600" b="1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질의 유효성 검색</a:t>
            </a:r>
            <a:endParaRPr lang="en-US" altLang="ko-KR" sz="600" b="1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pic>
        <p:nvPicPr>
          <p:cNvPr id="54" name="그래픽 53" descr="배지 체크 표시1 단색으로 채워진">
            <a:extLst>
              <a:ext uri="{FF2B5EF4-FFF2-40B4-BE49-F238E27FC236}">
                <a16:creationId xmlns:a16="http://schemas.microsoft.com/office/drawing/2014/main" id="{D07B7A45-FDCF-C3FC-7A9A-CEA05BCA1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931" y="4458091"/>
            <a:ext cx="105267" cy="105267"/>
          </a:xfrm>
          <a:prstGeom prst="rect">
            <a:avLst/>
          </a:prstGeom>
        </p:spPr>
      </p:pic>
      <p:sp>
        <p:nvSpPr>
          <p:cNvPr id="55" name="Google Shape;142;p13">
            <a:extLst>
              <a:ext uri="{FF2B5EF4-FFF2-40B4-BE49-F238E27FC236}">
                <a16:creationId xmlns:a16="http://schemas.microsoft.com/office/drawing/2014/main" id="{21CB0699-D4C3-A5F5-EB23-A5572F8BAA64}"/>
              </a:ext>
            </a:extLst>
          </p:cNvPr>
          <p:cNvSpPr txBox="1"/>
          <p:nvPr/>
        </p:nvSpPr>
        <p:spPr>
          <a:xfrm>
            <a:off x="495145" y="4601881"/>
            <a:ext cx="2038379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데이터 탐색 질문 분리 프로세스</a:t>
            </a:r>
            <a:endParaRPr lang="en-US" altLang="ko-KR" sz="600" b="1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pic>
        <p:nvPicPr>
          <p:cNvPr id="56" name="그래픽 55" descr="배지 체크 표시1 단색으로 채워진">
            <a:extLst>
              <a:ext uri="{FF2B5EF4-FFF2-40B4-BE49-F238E27FC236}">
                <a16:creationId xmlns:a16="http://schemas.microsoft.com/office/drawing/2014/main" id="{A2736529-141B-DAFC-8858-266DF2541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931" y="4592578"/>
            <a:ext cx="105267" cy="105267"/>
          </a:xfrm>
          <a:prstGeom prst="rect">
            <a:avLst/>
          </a:prstGeom>
        </p:spPr>
      </p:pic>
      <p:sp>
        <p:nvSpPr>
          <p:cNvPr id="57" name="Google Shape;142;p13">
            <a:extLst>
              <a:ext uri="{FF2B5EF4-FFF2-40B4-BE49-F238E27FC236}">
                <a16:creationId xmlns:a16="http://schemas.microsoft.com/office/drawing/2014/main" id="{8320B01A-3D0F-09DE-5D85-7D4AEFE7CF96}"/>
              </a:ext>
            </a:extLst>
          </p:cNvPr>
          <p:cNvSpPr txBox="1"/>
          <p:nvPr/>
        </p:nvSpPr>
        <p:spPr>
          <a:xfrm>
            <a:off x="391525" y="1976054"/>
            <a:ext cx="6447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Sales_</a:t>
            </a:r>
          </a:p>
        </p:txBody>
      </p:sp>
      <p:sp>
        <p:nvSpPr>
          <p:cNvPr id="58" name="Google Shape;142;p13">
            <a:extLst>
              <a:ext uri="{FF2B5EF4-FFF2-40B4-BE49-F238E27FC236}">
                <a16:creationId xmlns:a16="http://schemas.microsoft.com/office/drawing/2014/main" id="{6061B9CB-99AB-6643-E84D-B3E005E9D697}"/>
              </a:ext>
            </a:extLst>
          </p:cNvPr>
          <p:cNvSpPr txBox="1"/>
          <p:nvPr/>
        </p:nvSpPr>
        <p:spPr>
          <a:xfrm>
            <a:off x="1264015" y="1976054"/>
            <a:ext cx="64479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매출 데이터 분석가</a:t>
            </a:r>
            <a:endParaRPr lang="en-US" altLang="ko-KR" sz="600" b="1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pic>
        <p:nvPicPr>
          <p:cNvPr id="59" name="그래픽 58" descr="배지 1 단색으로 채워진">
            <a:extLst>
              <a:ext uri="{FF2B5EF4-FFF2-40B4-BE49-F238E27FC236}">
                <a16:creationId xmlns:a16="http://schemas.microsoft.com/office/drawing/2014/main" id="{1B8790A6-7472-9510-55A4-810B91C6BF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1790" y="2055057"/>
            <a:ext cx="180362" cy="180362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D941D819-C6F9-BCF6-25BF-4051754E4BEA}"/>
              </a:ext>
            </a:extLst>
          </p:cNvPr>
          <p:cNvSpPr txBox="1"/>
          <p:nvPr/>
        </p:nvSpPr>
        <p:spPr>
          <a:xfrm>
            <a:off x="3131528" y="2084829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질문 이해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(Parsing)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B506D21-30BF-77CF-19C0-4B8580521104}"/>
              </a:ext>
            </a:extLst>
          </p:cNvPr>
          <p:cNvSpPr txBox="1"/>
          <p:nvPr/>
        </p:nvSpPr>
        <p:spPr>
          <a:xfrm>
            <a:off x="2974645" y="2244798"/>
            <a:ext cx="2623515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자연어 입력 </a:t>
            </a:r>
            <a:r>
              <a:rPr lang="ko-KR" altLang="en-US" sz="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전처리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및 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NER(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매출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마케팅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기반 의도 분류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94" name="Shape 4">
            <a:extLst>
              <a:ext uri="{FF2B5EF4-FFF2-40B4-BE49-F238E27FC236}">
                <a16:creationId xmlns:a16="http://schemas.microsoft.com/office/drawing/2014/main" id="{53ED1D94-F5AA-338F-8923-74A66F1AA54F}"/>
              </a:ext>
            </a:extLst>
          </p:cNvPr>
          <p:cNvSpPr/>
          <p:nvPr/>
        </p:nvSpPr>
        <p:spPr>
          <a:xfrm rot="16200000">
            <a:off x="3910694" y="1519543"/>
            <a:ext cx="750593" cy="2743199"/>
          </a:xfrm>
          <a:prstGeom prst="roundRect">
            <a:avLst>
              <a:gd name="adj" fmla="val 2294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CF7E4078-073D-0D16-6A76-9D7F099D5B4F}"/>
              </a:ext>
            </a:extLst>
          </p:cNvPr>
          <p:cNvSpPr txBox="1"/>
          <p:nvPr/>
        </p:nvSpPr>
        <p:spPr>
          <a:xfrm>
            <a:off x="3131528" y="2583061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스킬 선정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(Selection)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41C0A55-D3B0-5FF2-7EC4-C48A481D2A12}"/>
              </a:ext>
            </a:extLst>
          </p:cNvPr>
          <p:cNvSpPr txBox="1"/>
          <p:nvPr/>
        </p:nvSpPr>
        <p:spPr>
          <a:xfrm>
            <a:off x="2968443" y="2743030"/>
            <a:ext cx="266881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사용자 권한 내 최적 </a:t>
            </a:r>
            <a:r>
              <a:rPr lang="ko-KR" altLang="en-US" sz="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스킬셋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선정 프로세스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98" name="Shape 4">
            <a:extLst>
              <a:ext uri="{FF2B5EF4-FFF2-40B4-BE49-F238E27FC236}">
                <a16:creationId xmlns:a16="http://schemas.microsoft.com/office/drawing/2014/main" id="{92FAA63B-975C-6D06-BF90-08AB38E5BC9C}"/>
              </a:ext>
            </a:extLst>
          </p:cNvPr>
          <p:cNvSpPr/>
          <p:nvPr/>
        </p:nvSpPr>
        <p:spPr>
          <a:xfrm rot="16200000">
            <a:off x="4064418" y="2733234"/>
            <a:ext cx="422808" cy="2722862"/>
          </a:xfrm>
          <a:prstGeom prst="roundRect">
            <a:avLst>
              <a:gd name="adj" fmla="val 2294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17A15C6-854E-9232-4F62-4F340901AE8C}"/>
              </a:ext>
            </a:extLst>
          </p:cNvPr>
          <p:cNvSpPr txBox="1"/>
          <p:nvPr/>
        </p:nvSpPr>
        <p:spPr>
          <a:xfrm>
            <a:off x="3131528" y="3950475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결과 통합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(Synthesis)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0BB09DA5-2764-0C6A-B1C5-BB315ABA0B9F}"/>
              </a:ext>
            </a:extLst>
          </p:cNvPr>
          <p:cNvSpPr txBox="1"/>
          <p:nvPr/>
        </p:nvSpPr>
        <p:spPr>
          <a:xfrm>
            <a:off x="2948106" y="4110444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각 스킬 루프의 반환 데이터 정합성 검증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02" name="Shape 4">
            <a:extLst>
              <a:ext uri="{FF2B5EF4-FFF2-40B4-BE49-F238E27FC236}">
                <a16:creationId xmlns:a16="http://schemas.microsoft.com/office/drawing/2014/main" id="{2DCF9F78-505A-5CEB-788B-8323FF417B99}"/>
              </a:ext>
            </a:extLst>
          </p:cNvPr>
          <p:cNvSpPr/>
          <p:nvPr/>
        </p:nvSpPr>
        <p:spPr>
          <a:xfrm rot="16200000">
            <a:off x="4064419" y="3223000"/>
            <a:ext cx="422808" cy="2722860"/>
          </a:xfrm>
          <a:prstGeom prst="roundRect">
            <a:avLst>
              <a:gd name="adj" fmla="val 2294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6B1059BA-9FCA-D51C-A8FD-01C350CBE939}"/>
              </a:ext>
            </a:extLst>
          </p:cNvPr>
          <p:cNvSpPr txBox="1"/>
          <p:nvPr/>
        </p:nvSpPr>
        <p:spPr>
          <a:xfrm>
            <a:off x="3131528" y="4440239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질문 이해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(Parsing)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5A9457B-D188-2AD6-FE14-FA41255C1354}"/>
              </a:ext>
            </a:extLst>
          </p:cNvPr>
          <p:cNvSpPr txBox="1"/>
          <p:nvPr/>
        </p:nvSpPr>
        <p:spPr>
          <a:xfrm>
            <a:off x="2948106" y="4600208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Markdown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규격 및 스타일 가이드 준수 답변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62" name="그래픽 61" descr="배지 4 단색으로 채워진">
            <a:extLst>
              <a:ext uri="{FF2B5EF4-FFF2-40B4-BE49-F238E27FC236}">
                <a16:creationId xmlns:a16="http://schemas.microsoft.com/office/drawing/2014/main" id="{9E924F86-677B-745D-A420-68675065C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1790" y="3934350"/>
            <a:ext cx="180362" cy="180362"/>
          </a:xfrm>
          <a:prstGeom prst="rect">
            <a:avLst/>
          </a:prstGeom>
        </p:spPr>
      </p:pic>
      <p:pic>
        <p:nvPicPr>
          <p:cNvPr id="63" name="그래픽 62" descr="배지 5 단색으로 채워진">
            <a:extLst>
              <a:ext uri="{FF2B5EF4-FFF2-40B4-BE49-F238E27FC236}">
                <a16:creationId xmlns:a16="http://schemas.microsoft.com/office/drawing/2014/main" id="{242FC26F-6838-B1E3-3C2F-8752C1469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1790" y="4419846"/>
            <a:ext cx="180362" cy="180362"/>
          </a:xfrm>
          <a:prstGeom prst="rect">
            <a:avLst/>
          </a:prstGeom>
        </p:spPr>
      </p:pic>
      <p:pic>
        <p:nvPicPr>
          <p:cNvPr id="60" name="그래픽 59" descr="배지 단색으로 채워진">
            <a:extLst>
              <a:ext uri="{FF2B5EF4-FFF2-40B4-BE49-F238E27FC236}">
                <a16:creationId xmlns:a16="http://schemas.microsoft.com/office/drawing/2014/main" id="{950BF57A-52CE-927C-A880-995D89C3C5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1790" y="2574630"/>
            <a:ext cx="180362" cy="180362"/>
          </a:xfrm>
          <a:prstGeom prst="rect">
            <a:avLst/>
          </a:prstGeom>
        </p:spPr>
      </p:pic>
      <p:sp>
        <p:nvSpPr>
          <p:cNvPr id="206" name="Shape 4">
            <a:extLst>
              <a:ext uri="{FF2B5EF4-FFF2-40B4-BE49-F238E27FC236}">
                <a16:creationId xmlns:a16="http://schemas.microsoft.com/office/drawing/2014/main" id="{BD64BB7C-56F8-D481-B937-E36500B07874}"/>
              </a:ext>
            </a:extLst>
          </p:cNvPr>
          <p:cNvSpPr/>
          <p:nvPr/>
        </p:nvSpPr>
        <p:spPr>
          <a:xfrm>
            <a:off x="2914391" y="3353773"/>
            <a:ext cx="2722862" cy="450701"/>
          </a:xfrm>
          <a:prstGeom prst="roundRect">
            <a:avLst>
              <a:gd name="adj" fmla="val 4144"/>
            </a:avLst>
          </a:prstGeom>
          <a:solidFill>
            <a:srgbClr val="FAFEFE"/>
          </a:solidFill>
          <a:ln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8" name="Shape 4">
            <a:extLst>
              <a:ext uri="{FF2B5EF4-FFF2-40B4-BE49-F238E27FC236}">
                <a16:creationId xmlns:a16="http://schemas.microsoft.com/office/drawing/2014/main" id="{FB2AD03A-7CEC-E106-0785-07F551DD4BA6}"/>
              </a:ext>
            </a:extLst>
          </p:cNvPr>
          <p:cNvSpPr/>
          <p:nvPr/>
        </p:nvSpPr>
        <p:spPr>
          <a:xfrm rot="16200000">
            <a:off x="4140563" y="1773282"/>
            <a:ext cx="324350" cy="2590847"/>
          </a:xfrm>
          <a:prstGeom prst="roundRect">
            <a:avLst>
              <a:gd name="adj" fmla="val 433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9" name="Google Shape;142;p13">
            <a:extLst>
              <a:ext uri="{FF2B5EF4-FFF2-40B4-BE49-F238E27FC236}">
                <a16:creationId xmlns:a16="http://schemas.microsoft.com/office/drawing/2014/main" id="{83DBE877-03D8-BCBD-59A5-8CAD03ACA337}"/>
              </a:ext>
            </a:extLst>
          </p:cNvPr>
          <p:cNvSpPr txBox="1"/>
          <p:nvPr/>
        </p:nvSpPr>
        <p:spPr>
          <a:xfrm>
            <a:off x="3278857" y="2968068"/>
            <a:ext cx="203837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700" b="0" i="0" dirty="0">
                <a:solidFill>
                  <a:srgbClr val="028090"/>
                </a:solidFill>
                <a:effectLst/>
                <a:latin typeface="+mj-lt"/>
                <a:ea typeface="Noto Sans KR" panose="020B0200000000000000" pitchFamily="50" charset="-127"/>
              </a:rPr>
              <a:t> </a:t>
            </a:r>
            <a:r>
              <a:rPr lang="ko-KR" altLang="en-US" sz="700" b="1" i="0" dirty="0">
                <a:solidFill>
                  <a:srgbClr val="0F172A"/>
                </a:solidFill>
                <a:effectLst/>
                <a:latin typeface="+mj-lt"/>
                <a:ea typeface="Noto Sans KR" panose="020B0200000000000000" pitchFamily="50" charset="-127"/>
              </a:rPr>
              <a:t>다중 스킬</a:t>
            </a:r>
            <a:r>
              <a:rPr lang="en-US" altLang="ko-KR" sz="700" b="1" i="0" dirty="0">
                <a:solidFill>
                  <a:srgbClr val="0F172A"/>
                </a:solidFill>
                <a:effectLst/>
                <a:latin typeface="+mj-lt"/>
                <a:ea typeface="Noto Sans KR" panose="020B0200000000000000" pitchFamily="50" charset="-127"/>
              </a:rPr>
              <a:t>(Multi-Skill) </a:t>
            </a:r>
            <a:r>
              <a:rPr lang="ko-KR" altLang="en-US" sz="700" b="1" i="0" dirty="0">
                <a:solidFill>
                  <a:srgbClr val="0F172A"/>
                </a:solidFill>
                <a:effectLst/>
                <a:latin typeface="+mj-lt"/>
                <a:ea typeface="Noto Sans KR" panose="020B0200000000000000" pitchFamily="50" charset="-127"/>
              </a:rPr>
              <a:t>오케스트레이션</a:t>
            </a:r>
            <a:r>
              <a:rPr lang="en-US" altLang="ko-KR" sz="700" b="1" i="0" dirty="0">
                <a:solidFill>
                  <a:srgbClr val="0F172A"/>
                </a:solidFill>
                <a:effectLst/>
                <a:latin typeface="+mj-lt"/>
                <a:ea typeface="Noto Sans KR" panose="020B0200000000000000" pitchFamily="50" charset="-127"/>
              </a:rPr>
              <a:t>:</a:t>
            </a:r>
            <a:br>
              <a:rPr lang="ko-KR" altLang="en-US" sz="700" dirty="0">
                <a:latin typeface="+mj-lt"/>
              </a:rPr>
            </a:br>
            <a:r>
              <a:rPr lang="en-US" altLang="ko-KR" sz="700" b="0" i="0" dirty="0">
                <a:solidFill>
                  <a:srgbClr val="0D9488"/>
                </a:solidFill>
                <a:effectLst/>
                <a:latin typeface="+mj-lt"/>
                <a:ea typeface="Noto Sans KR" panose="020B0200000000000000" pitchFamily="50" charset="-127"/>
              </a:rPr>
              <a:t>[</a:t>
            </a:r>
            <a:r>
              <a:rPr lang="ko-KR" altLang="en-US" sz="700" b="0" i="0" dirty="0">
                <a:solidFill>
                  <a:srgbClr val="0D9488"/>
                </a:solidFill>
                <a:effectLst/>
                <a:latin typeface="+mj-lt"/>
                <a:ea typeface="Noto Sans KR" panose="020B0200000000000000" pitchFamily="50" charset="-127"/>
              </a:rPr>
              <a:t>매출 분석가</a:t>
            </a:r>
            <a:r>
              <a:rPr lang="en-US" altLang="ko-KR" sz="700" b="0" i="0" dirty="0">
                <a:solidFill>
                  <a:srgbClr val="0D9488"/>
                </a:solidFill>
                <a:effectLst/>
                <a:latin typeface="+mj-lt"/>
                <a:ea typeface="Noto Sans KR" panose="020B0200000000000000" pitchFamily="50" charset="-127"/>
              </a:rPr>
              <a:t>] + [</a:t>
            </a:r>
            <a:r>
              <a:rPr lang="ko-KR" altLang="en-US" sz="700" b="0" i="0" dirty="0">
                <a:solidFill>
                  <a:srgbClr val="0D9488"/>
                </a:solidFill>
                <a:effectLst/>
                <a:latin typeface="+mj-lt"/>
                <a:ea typeface="Noto Sans KR" panose="020B0200000000000000" pitchFamily="50" charset="-127"/>
              </a:rPr>
              <a:t>마케팅 분석가</a:t>
            </a:r>
            <a:r>
              <a:rPr lang="en-US" altLang="ko-KR" sz="700" b="0" i="0" dirty="0">
                <a:solidFill>
                  <a:srgbClr val="0D9488"/>
                </a:solidFill>
                <a:effectLst/>
                <a:latin typeface="+mj-lt"/>
                <a:ea typeface="Noto Sans KR" panose="020B0200000000000000" pitchFamily="50" charset="-127"/>
              </a:rPr>
              <a:t>] </a:t>
            </a:r>
            <a:r>
              <a:rPr lang="ko-KR" altLang="en-US" sz="700" b="0" i="0" dirty="0">
                <a:solidFill>
                  <a:srgbClr val="0D9488"/>
                </a:solidFill>
                <a:effectLst/>
                <a:latin typeface="+mj-lt"/>
                <a:ea typeface="Noto Sans KR" panose="020B0200000000000000" pitchFamily="50" charset="-127"/>
              </a:rPr>
              <a:t>병렬 호출 가능</a:t>
            </a:r>
            <a:endParaRPr lang="en-US" altLang="ko-KR" sz="500" b="1" dirty="0">
              <a:solidFill>
                <a:srgbClr val="0D9488"/>
              </a:solidFill>
              <a:latin typeface="+mj-lt"/>
              <a:ea typeface="SUIT" pitchFamily="2" charset="-127"/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342D50DC-F0EA-71D7-3694-D2376ECEBDEE}"/>
              </a:ext>
            </a:extLst>
          </p:cNvPr>
          <p:cNvGrpSpPr/>
          <p:nvPr/>
        </p:nvGrpSpPr>
        <p:grpSpPr>
          <a:xfrm>
            <a:off x="3078427" y="3008769"/>
            <a:ext cx="152170" cy="146166"/>
            <a:chOff x="7274033" y="2692630"/>
            <a:chExt cx="673297" cy="533431"/>
          </a:xfrm>
          <a:solidFill>
            <a:srgbClr val="0D9488"/>
          </a:solidFill>
        </p:grpSpPr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1398A08C-5D70-221B-FD01-2C3A9A91ED8A}"/>
                </a:ext>
              </a:extLst>
            </p:cNvPr>
            <p:cNvSpPr/>
            <p:nvPr/>
          </p:nvSpPr>
          <p:spPr>
            <a:xfrm>
              <a:off x="7274033" y="2692630"/>
              <a:ext cx="266700" cy="133350"/>
            </a:xfrm>
            <a:prstGeom prst="rect">
              <a:avLst/>
            </a:prstGeom>
            <a:grpFill/>
            <a:ln w="6350" cap="flat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4C931F7A-BB14-32F6-F78C-F8EC560FFBEF}"/>
                </a:ext>
              </a:extLst>
            </p:cNvPr>
            <p:cNvSpPr/>
            <p:nvPr/>
          </p:nvSpPr>
          <p:spPr>
            <a:xfrm>
              <a:off x="7680630" y="2693401"/>
              <a:ext cx="266700" cy="133350"/>
            </a:xfrm>
            <a:prstGeom prst="rect">
              <a:avLst/>
            </a:prstGeom>
            <a:grpFill/>
            <a:ln w="6350" cap="flat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12C7BC54-5BC0-7DE9-0111-AAB20212C9F1}"/>
                </a:ext>
              </a:extLst>
            </p:cNvPr>
            <p:cNvSpPr/>
            <p:nvPr/>
          </p:nvSpPr>
          <p:spPr>
            <a:xfrm>
              <a:off x="7274033" y="3092711"/>
              <a:ext cx="266700" cy="133350"/>
            </a:xfrm>
            <a:prstGeom prst="rect">
              <a:avLst/>
            </a:prstGeom>
            <a:grpFill/>
            <a:ln w="6350" cap="flat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cxnSp>
          <p:nvCxnSpPr>
            <p:cNvPr id="227" name="직선 화살표 연결선 226">
              <a:extLst>
                <a:ext uri="{FF2B5EF4-FFF2-40B4-BE49-F238E27FC236}">
                  <a16:creationId xmlns:a16="http://schemas.microsoft.com/office/drawing/2014/main" id="{C13911E3-3F65-CDDF-18E8-10E9049B79CE}"/>
                </a:ext>
              </a:extLst>
            </p:cNvPr>
            <p:cNvCxnSpPr>
              <a:cxnSpLocks/>
              <a:stCxn id="219" idx="2"/>
              <a:endCxn id="225" idx="0"/>
            </p:cNvCxnSpPr>
            <p:nvPr/>
          </p:nvCxnSpPr>
          <p:spPr>
            <a:xfrm>
              <a:off x="7407383" y="2825980"/>
              <a:ext cx="0" cy="266731"/>
            </a:xfrm>
            <a:prstGeom prst="straightConnector1">
              <a:avLst/>
            </a:prstGeom>
            <a:grpFill/>
            <a:ln w="6350">
              <a:solidFill>
                <a:srgbClr val="0D9488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연결선: 꺾임 229">
              <a:extLst>
                <a:ext uri="{FF2B5EF4-FFF2-40B4-BE49-F238E27FC236}">
                  <a16:creationId xmlns:a16="http://schemas.microsoft.com/office/drawing/2014/main" id="{89D5B077-CC7A-97C0-2776-A2969CCC0E3A}"/>
                </a:ext>
              </a:extLst>
            </p:cNvPr>
            <p:cNvCxnSpPr>
              <a:cxnSpLocks/>
              <a:stCxn id="224" idx="2"/>
              <a:endCxn id="225" idx="0"/>
            </p:cNvCxnSpPr>
            <p:nvPr/>
          </p:nvCxnSpPr>
          <p:spPr>
            <a:xfrm rot="5400000">
              <a:off x="7477702" y="2756433"/>
              <a:ext cx="265960" cy="406597"/>
            </a:xfrm>
            <a:prstGeom prst="bentConnector3">
              <a:avLst/>
            </a:prstGeom>
            <a:grpFill/>
            <a:ln w="6350">
              <a:solidFill>
                <a:srgbClr val="0D9488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" name="그래픽 60" descr="배지 3 단색으로 채워진">
            <a:extLst>
              <a:ext uri="{FF2B5EF4-FFF2-40B4-BE49-F238E27FC236}">
                <a16:creationId xmlns:a16="http://schemas.microsoft.com/office/drawing/2014/main" id="{37A68804-4A27-E93C-56D4-DA55FE7813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91790" y="3397176"/>
            <a:ext cx="180362" cy="180362"/>
          </a:xfrm>
          <a:prstGeom prst="rect">
            <a:avLst/>
          </a:prstGeom>
        </p:spPr>
      </p:pic>
      <p:sp>
        <p:nvSpPr>
          <p:cNvPr id="236" name="TextBox 235">
            <a:extLst>
              <a:ext uri="{FF2B5EF4-FFF2-40B4-BE49-F238E27FC236}">
                <a16:creationId xmlns:a16="http://schemas.microsoft.com/office/drawing/2014/main" id="{26C25A98-D388-2FC7-2DDB-C73D0FCAB0E1}"/>
              </a:ext>
            </a:extLst>
          </p:cNvPr>
          <p:cNvSpPr txBox="1"/>
          <p:nvPr/>
        </p:nvSpPr>
        <p:spPr>
          <a:xfrm>
            <a:off x="3158599" y="3408303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스킬 실행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(Runtime)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B992043C-2BA3-826D-3530-4830FF30519F}"/>
              </a:ext>
            </a:extLst>
          </p:cNvPr>
          <p:cNvSpPr txBox="1"/>
          <p:nvPr/>
        </p:nvSpPr>
        <p:spPr>
          <a:xfrm>
            <a:off x="3001716" y="3568272"/>
            <a:ext cx="266881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선정된 스킬 전용 런타임 환경으로 이관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6D979167-BB5E-381D-97BF-211AF6FF915E}"/>
              </a:ext>
            </a:extLst>
          </p:cNvPr>
          <p:cNvCxnSpPr>
            <a:cxnSpLocks/>
          </p:cNvCxnSpPr>
          <p:nvPr/>
        </p:nvCxnSpPr>
        <p:spPr>
          <a:xfrm flipV="1">
            <a:off x="5648603" y="3577538"/>
            <a:ext cx="256294" cy="1586"/>
          </a:xfrm>
          <a:prstGeom prst="straightConnector1">
            <a:avLst/>
          </a:prstGeom>
          <a:ln w="1270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Shape 4">
            <a:extLst>
              <a:ext uri="{FF2B5EF4-FFF2-40B4-BE49-F238E27FC236}">
                <a16:creationId xmlns:a16="http://schemas.microsoft.com/office/drawing/2014/main" id="{8833047E-4AC8-D306-EEC1-C30116B878BE}"/>
              </a:ext>
            </a:extLst>
          </p:cNvPr>
          <p:cNvSpPr/>
          <p:nvPr/>
        </p:nvSpPr>
        <p:spPr>
          <a:xfrm>
            <a:off x="6143654" y="1761098"/>
            <a:ext cx="201825" cy="120767"/>
          </a:xfrm>
          <a:prstGeom prst="roundRect">
            <a:avLst>
              <a:gd name="adj" fmla="val 10619"/>
            </a:avLst>
          </a:prstGeom>
          <a:solidFill>
            <a:srgbClr val="E2F9F8"/>
          </a:solidFill>
          <a:ln>
            <a:solidFill>
              <a:srgbClr val="E2F9F8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en-US" altLang="ko-KR" sz="6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3-1</a:t>
            </a:r>
            <a:endParaRPr lang="ko-KR" altLang="en-US" sz="600" b="1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67F3A3E-080C-2184-BBB4-973B84B000B4}"/>
              </a:ext>
            </a:extLst>
          </p:cNvPr>
          <p:cNvSpPr txBox="1"/>
          <p:nvPr/>
        </p:nvSpPr>
        <p:spPr>
          <a:xfrm>
            <a:off x="6328801" y="1743299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정책 및 지침 로드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9FC303E-4694-2BA4-C7C0-9E0497400219}"/>
              </a:ext>
            </a:extLst>
          </p:cNvPr>
          <p:cNvSpPr txBox="1"/>
          <p:nvPr/>
        </p:nvSpPr>
        <p:spPr>
          <a:xfrm>
            <a:off x="6095531" y="1903268"/>
            <a:ext cx="2561859" cy="2866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Ops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정의한 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'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매출 분석 전문가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'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페르소나와 작업 순서 지침을 에이전트 런타임에 주입합니다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53" name="Shape 4">
            <a:extLst>
              <a:ext uri="{FF2B5EF4-FFF2-40B4-BE49-F238E27FC236}">
                <a16:creationId xmlns:a16="http://schemas.microsoft.com/office/drawing/2014/main" id="{129ED38A-67BA-379F-B732-50528C538CB0}"/>
              </a:ext>
            </a:extLst>
          </p:cNvPr>
          <p:cNvSpPr/>
          <p:nvPr/>
        </p:nvSpPr>
        <p:spPr>
          <a:xfrm rot="10800000">
            <a:off x="6012493" y="2303680"/>
            <a:ext cx="2697388" cy="560381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1412">
                <a:srgbClr val="00D4C5"/>
              </a:gs>
              <a:gs pos="1413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4" name="Shape 4">
            <a:extLst>
              <a:ext uri="{FF2B5EF4-FFF2-40B4-BE49-F238E27FC236}">
                <a16:creationId xmlns:a16="http://schemas.microsoft.com/office/drawing/2014/main" id="{FC36247A-7414-318D-A152-012BF48F0685}"/>
              </a:ext>
            </a:extLst>
          </p:cNvPr>
          <p:cNvSpPr/>
          <p:nvPr/>
        </p:nvSpPr>
        <p:spPr>
          <a:xfrm>
            <a:off x="6143654" y="2380363"/>
            <a:ext cx="213371" cy="120767"/>
          </a:xfrm>
          <a:prstGeom prst="roundRect">
            <a:avLst>
              <a:gd name="adj" fmla="val 10619"/>
            </a:avLst>
          </a:prstGeom>
          <a:solidFill>
            <a:srgbClr val="E2F9F8"/>
          </a:solidFill>
          <a:ln>
            <a:solidFill>
              <a:srgbClr val="E2F9F8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en-US" altLang="ko-KR" sz="6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3-2</a:t>
            </a:r>
            <a:endParaRPr lang="ko-KR" altLang="en-US" sz="600" b="1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BFD5FC8-51D4-1668-CCC9-276B89B450FF}"/>
              </a:ext>
            </a:extLst>
          </p:cNvPr>
          <p:cNvSpPr txBox="1"/>
          <p:nvPr/>
        </p:nvSpPr>
        <p:spPr>
          <a:xfrm>
            <a:off x="6328801" y="2362564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자율 작업 계획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325E7BA3-CDD9-549F-D11D-2DAC36C80728}"/>
              </a:ext>
            </a:extLst>
          </p:cNvPr>
          <p:cNvSpPr txBox="1"/>
          <p:nvPr/>
        </p:nvSpPr>
        <p:spPr>
          <a:xfrm>
            <a:off x="6095531" y="2522533"/>
            <a:ext cx="2561859" cy="2866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질문을 해결하기 위한 최적의 쿼리 시퀀스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매출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/AOV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연산 플랜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를 수립합니다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57" name="Shape 4">
            <a:extLst>
              <a:ext uri="{FF2B5EF4-FFF2-40B4-BE49-F238E27FC236}">
                <a16:creationId xmlns:a16="http://schemas.microsoft.com/office/drawing/2014/main" id="{F953B3DD-41B7-8B17-F123-DB23E70D78FA}"/>
              </a:ext>
            </a:extLst>
          </p:cNvPr>
          <p:cNvSpPr/>
          <p:nvPr/>
        </p:nvSpPr>
        <p:spPr>
          <a:xfrm rot="10800000">
            <a:off x="6012493" y="2922048"/>
            <a:ext cx="2697388" cy="560381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1412">
                <a:srgbClr val="00D4C5"/>
              </a:gs>
              <a:gs pos="1413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8" name="Shape 4">
            <a:extLst>
              <a:ext uri="{FF2B5EF4-FFF2-40B4-BE49-F238E27FC236}">
                <a16:creationId xmlns:a16="http://schemas.microsoft.com/office/drawing/2014/main" id="{92E41D10-8A05-E6E1-1525-41AC0DBECA2F}"/>
              </a:ext>
            </a:extLst>
          </p:cNvPr>
          <p:cNvSpPr/>
          <p:nvPr/>
        </p:nvSpPr>
        <p:spPr>
          <a:xfrm>
            <a:off x="6143654" y="2998731"/>
            <a:ext cx="215022" cy="120767"/>
          </a:xfrm>
          <a:prstGeom prst="roundRect">
            <a:avLst>
              <a:gd name="adj" fmla="val 10619"/>
            </a:avLst>
          </a:prstGeom>
          <a:solidFill>
            <a:srgbClr val="E2F9F8"/>
          </a:solidFill>
          <a:ln>
            <a:solidFill>
              <a:srgbClr val="E2F9F8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en-US" altLang="ko-KR" sz="6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3-3</a:t>
            </a:r>
            <a:endParaRPr lang="ko-KR" altLang="en-US" sz="600" b="1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9FB71BAB-BF97-7152-B3F7-927796755F69}"/>
              </a:ext>
            </a:extLst>
          </p:cNvPr>
          <p:cNvSpPr txBox="1"/>
          <p:nvPr/>
        </p:nvSpPr>
        <p:spPr>
          <a:xfrm>
            <a:off x="6328801" y="2980932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물리 작업 실행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(SQL/API or Tool)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FC70380-148C-D9E5-A9C4-7460F903EA6D}"/>
              </a:ext>
            </a:extLst>
          </p:cNvPr>
          <p:cNvSpPr txBox="1"/>
          <p:nvPr/>
        </p:nvSpPr>
        <p:spPr>
          <a:xfrm>
            <a:off x="6095531" y="3140901"/>
            <a:ext cx="2561859" cy="2866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바인딩된 툴을 통해 </a:t>
            </a:r>
            <a:r>
              <a:rPr lang="en-US" altLang="ko-KR" sz="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agent.ft_sales_ai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테이블에 직접 질의하거나 외부 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API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를 연동하여 데이터를 수집합니다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61" name="Shape 4">
            <a:extLst>
              <a:ext uri="{FF2B5EF4-FFF2-40B4-BE49-F238E27FC236}">
                <a16:creationId xmlns:a16="http://schemas.microsoft.com/office/drawing/2014/main" id="{E4B78009-051D-690E-2E29-092BC58AACD0}"/>
              </a:ext>
            </a:extLst>
          </p:cNvPr>
          <p:cNvSpPr/>
          <p:nvPr/>
        </p:nvSpPr>
        <p:spPr>
          <a:xfrm rot="10800000">
            <a:off x="6012493" y="3528928"/>
            <a:ext cx="2697388" cy="689864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1412">
                <a:srgbClr val="00D4C5"/>
              </a:gs>
              <a:gs pos="1413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2" name="Shape 4">
            <a:extLst>
              <a:ext uri="{FF2B5EF4-FFF2-40B4-BE49-F238E27FC236}">
                <a16:creationId xmlns:a16="http://schemas.microsoft.com/office/drawing/2014/main" id="{8429055C-46C6-EA23-E145-5D70C1520443}"/>
              </a:ext>
            </a:extLst>
          </p:cNvPr>
          <p:cNvSpPr/>
          <p:nvPr/>
        </p:nvSpPr>
        <p:spPr>
          <a:xfrm>
            <a:off x="6143654" y="3605612"/>
            <a:ext cx="216671" cy="120767"/>
          </a:xfrm>
          <a:prstGeom prst="roundRect">
            <a:avLst>
              <a:gd name="adj" fmla="val 10619"/>
            </a:avLst>
          </a:prstGeom>
          <a:solidFill>
            <a:srgbClr val="E2F9F8"/>
          </a:solidFill>
          <a:ln>
            <a:solidFill>
              <a:srgbClr val="E2F9F8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en-US" altLang="ko-KR" sz="6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3-4</a:t>
            </a:r>
            <a:endParaRPr lang="ko-KR" altLang="en-US" sz="600" b="1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1B09042-F452-CE11-31F2-1DF2B196E4AD}"/>
              </a:ext>
            </a:extLst>
          </p:cNvPr>
          <p:cNvSpPr txBox="1"/>
          <p:nvPr/>
        </p:nvSpPr>
        <p:spPr>
          <a:xfrm>
            <a:off x="6328801" y="3587813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중간 검증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en-US" altLang="ko-KR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ReACT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Loop)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E512989E-888F-0171-8033-526F94260358}"/>
              </a:ext>
            </a:extLst>
          </p:cNvPr>
          <p:cNvSpPr txBox="1"/>
          <p:nvPr/>
        </p:nvSpPr>
        <p:spPr>
          <a:xfrm>
            <a:off x="6095531" y="3747782"/>
            <a:ext cx="2561859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인출된 데이터가 질문 해결에 충분한지 평가합니다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65" name="Shape 4">
            <a:extLst>
              <a:ext uri="{FF2B5EF4-FFF2-40B4-BE49-F238E27FC236}">
                <a16:creationId xmlns:a16="http://schemas.microsoft.com/office/drawing/2014/main" id="{69292B10-1086-E4CC-71CB-4D9992FC4DD2}"/>
              </a:ext>
            </a:extLst>
          </p:cNvPr>
          <p:cNvSpPr/>
          <p:nvPr/>
        </p:nvSpPr>
        <p:spPr>
          <a:xfrm rot="10800000">
            <a:off x="6003958" y="4308931"/>
            <a:ext cx="2697388" cy="460569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1412">
                <a:srgbClr val="00D4C5"/>
              </a:gs>
              <a:gs pos="1413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6" name="Shape 4">
            <a:extLst>
              <a:ext uri="{FF2B5EF4-FFF2-40B4-BE49-F238E27FC236}">
                <a16:creationId xmlns:a16="http://schemas.microsoft.com/office/drawing/2014/main" id="{B61750F2-E838-D35E-C528-2E90D6FC68DF}"/>
              </a:ext>
            </a:extLst>
          </p:cNvPr>
          <p:cNvSpPr/>
          <p:nvPr/>
        </p:nvSpPr>
        <p:spPr>
          <a:xfrm>
            <a:off x="6135119" y="4385615"/>
            <a:ext cx="215022" cy="120767"/>
          </a:xfrm>
          <a:prstGeom prst="roundRect">
            <a:avLst>
              <a:gd name="adj" fmla="val 10619"/>
            </a:avLst>
          </a:prstGeom>
          <a:solidFill>
            <a:srgbClr val="E2F9F8"/>
          </a:solidFill>
          <a:ln>
            <a:solidFill>
              <a:srgbClr val="E2F9F8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en-US" altLang="ko-KR" sz="6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3-5</a:t>
            </a:r>
            <a:endParaRPr lang="ko-KR" altLang="en-US" sz="600" b="1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147371C6-0A82-C030-4396-EB6B929ADF18}"/>
              </a:ext>
            </a:extLst>
          </p:cNvPr>
          <p:cNvSpPr txBox="1"/>
          <p:nvPr/>
        </p:nvSpPr>
        <p:spPr>
          <a:xfrm>
            <a:off x="6320266" y="4367816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결과셋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반환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(Hand-off)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A1C3EF03-1B11-1E6E-31E9-91D7E211D9A6}"/>
              </a:ext>
            </a:extLst>
          </p:cNvPr>
          <p:cNvSpPr txBox="1"/>
          <p:nvPr/>
        </p:nvSpPr>
        <p:spPr>
          <a:xfrm>
            <a:off x="6086996" y="4527785"/>
            <a:ext cx="2561859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검증 완료된 데이터셋을 메인 흐름으로 안전하게 양도합니다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69" name="Shape 4">
            <a:extLst>
              <a:ext uri="{FF2B5EF4-FFF2-40B4-BE49-F238E27FC236}">
                <a16:creationId xmlns:a16="http://schemas.microsoft.com/office/drawing/2014/main" id="{3CD98E81-F4A7-32CA-40B3-CC5F52D5D139}"/>
              </a:ext>
            </a:extLst>
          </p:cNvPr>
          <p:cNvSpPr/>
          <p:nvPr/>
        </p:nvSpPr>
        <p:spPr>
          <a:xfrm>
            <a:off x="6146194" y="3941763"/>
            <a:ext cx="2511196" cy="167115"/>
          </a:xfrm>
          <a:prstGeom prst="roundRect">
            <a:avLst>
              <a:gd name="adj" fmla="val 39027"/>
            </a:avLst>
          </a:prstGeom>
          <a:solidFill>
            <a:schemeClr val="bg1"/>
          </a:solidFill>
          <a:ln>
            <a:solidFill>
              <a:srgbClr val="0D9488"/>
            </a:solidFill>
          </a:ln>
        </p:spPr>
        <p:txBody>
          <a:bodyPr wrap="square" lIns="36000" tIns="10800" rIns="36000" bIns="10800">
            <a:spAutoFit/>
          </a:bodyPr>
          <a:lstStyle/>
          <a:p>
            <a:r>
              <a:rPr lang="en-US" altLang="ko-KR" sz="700" b="1" dirty="0">
                <a:solidFill>
                  <a:srgbClr val="0D9488"/>
                </a:solidFill>
                <a:latin typeface="+mj-lt"/>
                <a:ea typeface="SUIT SemiBold" pitchFamily="50" charset="-127"/>
              </a:rPr>
              <a:t>      </a:t>
            </a:r>
            <a:r>
              <a:rPr lang="en-US" altLang="ko-KR" sz="700" b="1" dirty="0" err="1">
                <a:solidFill>
                  <a:srgbClr val="0D9488"/>
                </a:solidFill>
                <a:latin typeface="+mj-lt"/>
                <a:ea typeface="SUIT SemiBold" pitchFamily="50" charset="-127"/>
              </a:rPr>
              <a:t>ReACT</a:t>
            </a:r>
            <a:r>
              <a:rPr lang="en-US" altLang="ko-KR" sz="700" b="1" dirty="0">
                <a:solidFill>
                  <a:srgbClr val="0D9488"/>
                </a:solidFill>
                <a:latin typeface="+mj-lt"/>
                <a:ea typeface="SUIT SemiBold" pitchFamily="50" charset="-127"/>
              </a:rPr>
              <a:t>   </a:t>
            </a:r>
            <a:r>
              <a:rPr lang="ko-KR" altLang="en-US" sz="700" b="1" dirty="0">
                <a:solidFill>
                  <a:srgbClr val="0D9488"/>
                </a:solidFill>
                <a:latin typeface="+mj-lt"/>
                <a:ea typeface="+mj-ea"/>
              </a:rPr>
              <a:t>불충분 시 </a:t>
            </a:r>
            <a:r>
              <a:rPr lang="en-US" altLang="ko-KR" sz="700" b="1" dirty="0">
                <a:solidFill>
                  <a:srgbClr val="0D9488"/>
                </a:solidFill>
                <a:latin typeface="+mj-lt"/>
                <a:ea typeface="+mj-ea"/>
              </a:rPr>
              <a:t>[3-2 </a:t>
            </a:r>
            <a:r>
              <a:rPr lang="ko-KR" altLang="en-US" sz="700" b="1" dirty="0">
                <a:solidFill>
                  <a:srgbClr val="0D9488"/>
                </a:solidFill>
                <a:latin typeface="+mj-lt"/>
                <a:ea typeface="+mj-ea"/>
              </a:rPr>
              <a:t>작업 계획</a:t>
            </a:r>
            <a:r>
              <a:rPr lang="en-US" altLang="ko-KR" sz="700" b="1" dirty="0">
                <a:solidFill>
                  <a:srgbClr val="0D9488"/>
                </a:solidFill>
                <a:latin typeface="+mj-lt"/>
                <a:ea typeface="+mj-ea"/>
              </a:rPr>
              <a:t>] </a:t>
            </a:r>
            <a:r>
              <a:rPr lang="ko-KR" altLang="en-US" sz="700" b="1" dirty="0">
                <a:solidFill>
                  <a:srgbClr val="0D9488"/>
                </a:solidFill>
                <a:latin typeface="+mj-lt"/>
                <a:ea typeface="+mj-ea"/>
              </a:rPr>
              <a:t>으로 피드백 루프</a:t>
            </a:r>
          </a:p>
        </p:txBody>
      </p:sp>
      <p:pic>
        <p:nvPicPr>
          <p:cNvPr id="270" name="그래픽 269" descr="반복 단색으로 채워진">
            <a:extLst>
              <a:ext uri="{FF2B5EF4-FFF2-40B4-BE49-F238E27FC236}">
                <a16:creationId xmlns:a16="http://schemas.microsoft.com/office/drawing/2014/main" id="{678CDC5E-EFC6-44FF-58E7-6565D898D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168907" y="3958727"/>
            <a:ext cx="131582" cy="13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39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6A638-17DE-5516-DB60-FB12DF89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E34C6B11-8165-7109-E9F6-2D1D25EE1C24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890BC49A-E834-17F5-DA2A-08B9FBED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Graph DB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기반 지능형 지식 모델링 아키텍처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22AAA834-6736-ABAD-212B-7C64455009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E3C56-C785-EC9B-23AB-91A37C3C2439}"/>
              </a:ext>
            </a:extLst>
          </p:cNvPr>
          <p:cNvSpPr txBox="1"/>
          <p:nvPr/>
        </p:nvSpPr>
        <p:spPr>
          <a:xfrm>
            <a:off x="256032" y="643010"/>
            <a:ext cx="8595360" cy="4598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라벨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(Label), 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속성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(Property), 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관계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(Relation)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를 선제적으로 정의하여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에이전트가 </a:t>
            </a:r>
            <a:r>
              <a:rPr lang="ko-KR" altLang="en-US" sz="1100" dirty="0">
                <a:solidFill>
                  <a:srgbClr val="0D9488"/>
                </a:solidFill>
                <a:cs typeface="Noto Sans KR"/>
                <a:sym typeface="Noto Sans KR"/>
              </a:rPr>
              <a:t>노드 간의 경로를 탐색함으로써 질문의 분석 가능성을 판별하고</a:t>
            </a:r>
            <a:endParaRPr lang="en-US" altLang="ko-KR" sz="1100" dirty="0">
              <a:solidFill>
                <a:srgbClr val="0D9488"/>
              </a:solidFill>
              <a:cs typeface="Noto Sans KR"/>
              <a:sym typeface="Noto Sans KR"/>
            </a:endParaRPr>
          </a:p>
          <a:p>
            <a:pPr lvl="0">
              <a:lnSpc>
                <a:spcPct val="140000"/>
              </a:lnSpc>
            </a:pPr>
            <a:r>
              <a:rPr lang="ko-KR" altLang="en-US" sz="1100" dirty="0">
                <a:solidFill>
                  <a:srgbClr val="0D9488"/>
                </a:solidFill>
                <a:cs typeface="Noto Sans KR"/>
                <a:sym typeface="Noto Sans KR"/>
              </a:rPr>
              <a:t> 최적의 실행 로직을 도출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하는 지능형 지식 </a:t>
            </a:r>
            <a:r>
              <a:rPr lang="ko-KR" altLang="en-US" sz="1100" dirty="0" err="1">
                <a:solidFill>
                  <a:srgbClr val="334155"/>
                </a:solidFill>
                <a:cs typeface="Noto Sans KR"/>
                <a:sym typeface="Noto Sans KR"/>
              </a:rPr>
              <a:t>맵을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 구축합니다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E26F9FE-1BE3-FB99-45F2-6B77DFD749AC}"/>
              </a:ext>
            </a:extLst>
          </p:cNvPr>
          <p:cNvSpPr/>
          <p:nvPr/>
        </p:nvSpPr>
        <p:spPr>
          <a:xfrm>
            <a:off x="4553712" y="1408519"/>
            <a:ext cx="4222773" cy="2594130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3C40CED-873B-FB5E-AE96-73656EB76E23}"/>
              </a:ext>
            </a:extLst>
          </p:cNvPr>
          <p:cNvSpPr/>
          <p:nvPr/>
        </p:nvSpPr>
        <p:spPr>
          <a:xfrm rot="16200000">
            <a:off x="595996" y="1011641"/>
            <a:ext cx="1260000" cy="2066925"/>
          </a:xfrm>
          <a:prstGeom prst="roundRect">
            <a:avLst>
              <a:gd name="adj" fmla="val 8044"/>
            </a:avLst>
          </a:prstGeom>
          <a:gradFill rotWithShape="1">
            <a:gsLst>
              <a:gs pos="0">
                <a:srgbClr val="0070C0"/>
              </a:gs>
              <a:gs pos="3024">
                <a:srgbClr val="0070C0"/>
              </a:gs>
              <a:gs pos="3025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D5DA6ED-2916-56DB-F37D-28A06EE588F4}"/>
              </a:ext>
            </a:extLst>
          </p:cNvPr>
          <p:cNvSpPr/>
          <p:nvPr/>
        </p:nvSpPr>
        <p:spPr>
          <a:xfrm rot="16200000">
            <a:off x="2785731" y="1011640"/>
            <a:ext cx="1260000" cy="2066925"/>
          </a:xfrm>
          <a:prstGeom prst="roundRect">
            <a:avLst>
              <a:gd name="adj" fmla="val 8044"/>
            </a:avLst>
          </a:prstGeom>
          <a:gradFill rotWithShape="1">
            <a:gsLst>
              <a:gs pos="0">
                <a:srgbClr val="00D4C5"/>
              </a:gs>
              <a:gs pos="3024">
                <a:srgbClr val="00D4C5"/>
              </a:gs>
              <a:gs pos="3025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96987FF-25BA-79AC-640A-938734284EC2}"/>
              </a:ext>
            </a:extLst>
          </p:cNvPr>
          <p:cNvSpPr/>
          <p:nvPr/>
        </p:nvSpPr>
        <p:spPr>
          <a:xfrm rot="16200000">
            <a:off x="595997" y="2354992"/>
            <a:ext cx="1260000" cy="2066925"/>
          </a:xfrm>
          <a:prstGeom prst="roundRect">
            <a:avLst>
              <a:gd name="adj" fmla="val 8044"/>
            </a:avLst>
          </a:prstGeom>
          <a:gradFill rotWithShape="1">
            <a:gsLst>
              <a:gs pos="0">
                <a:srgbClr val="8453F5"/>
              </a:gs>
              <a:gs pos="3024">
                <a:srgbClr val="8453F5"/>
              </a:gs>
              <a:gs pos="3025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3CD4F571-7585-9FC2-6DAF-822602B79495}"/>
              </a:ext>
            </a:extLst>
          </p:cNvPr>
          <p:cNvSpPr/>
          <p:nvPr/>
        </p:nvSpPr>
        <p:spPr>
          <a:xfrm rot="16200000">
            <a:off x="2785731" y="2354993"/>
            <a:ext cx="1260000" cy="2066925"/>
          </a:xfrm>
          <a:prstGeom prst="roundRect">
            <a:avLst>
              <a:gd name="adj" fmla="val 8044"/>
            </a:avLst>
          </a:prstGeom>
          <a:gradFill rotWithShape="1">
            <a:gsLst>
              <a:gs pos="0">
                <a:srgbClr val="FFC000"/>
              </a:gs>
              <a:gs pos="3024">
                <a:srgbClr val="FFC000"/>
              </a:gs>
              <a:gs pos="3025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E0D76-3C8B-E51F-F670-0B9ECABA5649}"/>
              </a:ext>
            </a:extLst>
          </p:cNvPr>
          <p:cNvSpPr txBox="1"/>
          <p:nvPr/>
        </p:nvSpPr>
        <p:spPr>
          <a:xfrm>
            <a:off x="4677910" y="1501073"/>
            <a:ext cx="2561859" cy="17889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Conceptual Graph Schema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9218" name="Picture 2" descr="그래프와 관계형 데이터베이스 비교 - 데이터베이스 간의 차이점 - AWS">
            <a:extLst>
              <a:ext uri="{FF2B5EF4-FFF2-40B4-BE49-F238E27FC236}">
                <a16:creationId xmlns:a16="http://schemas.microsoft.com/office/drawing/2014/main" id="{8F6DDF15-4B6C-CC82-D2AC-0AF577CB3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482"/>
          <a:stretch>
            <a:fillRect/>
          </a:stretch>
        </p:blipFill>
        <p:spPr bwMode="auto">
          <a:xfrm>
            <a:off x="4798991" y="1785206"/>
            <a:ext cx="3699341" cy="206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hape 4">
            <a:extLst>
              <a:ext uri="{FF2B5EF4-FFF2-40B4-BE49-F238E27FC236}">
                <a16:creationId xmlns:a16="http://schemas.microsoft.com/office/drawing/2014/main" id="{7758AE99-D02D-F2E7-3960-5377ED5703E5}"/>
              </a:ext>
            </a:extLst>
          </p:cNvPr>
          <p:cNvSpPr/>
          <p:nvPr/>
        </p:nvSpPr>
        <p:spPr>
          <a:xfrm>
            <a:off x="6869881" y="2114335"/>
            <a:ext cx="944324" cy="188370"/>
          </a:xfrm>
          <a:prstGeom prst="roundRect">
            <a:avLst>
              <a:gd name="adj" fmla="val 39997"/>
            </a:avLst>
          </a:prstGeom>
          <a:solidFill>
            <a:srgbClr val="8B5CF6"/>
          </a:solidFill>
          <a:ln>
            <a:solidFill>
              <a:schemeClr val="bg1"/>
            </a:solidFill>
          </a:ln>
        </p:spPr>
        <p:txBody>
          <a:bodyPr wrap="square" lIns="10800" tIns="10800" rIns="10800" bIns="10800">
            <a:spAutoFit/>
          </a:bodyPr>
          <a:lstStyle/>
          <a:p>
            <a:pPr algn="ctr"/>
            <a:r>
              <a:rPr lang="ko-KR" altLang="ko-KR" sz="800" dirty="0" err="1">
                <a:solidFill>
                  <a:schemeClr val="bg1"/>
                </a:solidFill>
              </a:rPr>
              <a:t>Question</a:t>
            </a:r>
            <a:r>
              <a:rPr lang="ko-KR" altLang="ko-KR" sz="800" dirty="0">
                <a:solidFill>
                  <a:schemeClr val="bg1"/>
                </a:solidFill>
              </a:rPr>
              <a:t> (질문)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5FCB4E2-60A7-6D35-F4EA-E37A0EA09F83}"/>
              </a:ext>
            </a:extLst>
          </p:cNvPr>
          <p:cNvSpPr/>
          <p:nvPr/>
        </p:nvSpPr>
        <p:spPr>
          <a:xfrm>
            <a:off x="6423794" y="2503717"/>
            <a:ext cx="892175" cy="188370"/>
          </a:xfrm>
          <a:prstGeom prst="roundRect">
            <a:avLst>
              <a:gd name="adj" fmla="val 39997"/>
            </a:avLst>
          </a:prstGeom>
          <a:solidFill>
            <a:srgbClr val="8B5CF6"/>
          </a:solidFill>
          <a:ln>
            <a:solidFill>
              <a:schemeClr val="bg1"/>
            </a:solidFill>
          </a:ln>
        </p:spPr>
        <p:txBody>
          <a:bodyPr wrap="square" lIns="10800" tIns="10800" rIns="10800" bIns="1080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Formula (</a:t>
            </a:r>
            <a:r>
              <a:rPr lang="ko-KR" altLang="en-US" sz="800" dirty="0">
                <a:solidFill>
                  <a:schemeClr val="bg1"/>
                </a:solidFill>
              </a:rPr>
              <a:t>수식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31256CB8-84A1-4D7D-1769-D47B39C7507F}"/>
              </a:ext>
            </a:extLst>
          </p:cNvPr>
          <p:cNvSpPr/>
          <p:nvPr/>
        </p:nvSpPr>
        <p:spPr>
          <a:xfrm>
            <a:off x="7554008" y="1758758"/>
            <a:ext cx="944324" cy="188370"/>
          </a:xfrm>
          <a:prstGeom prst="roundRect">
            <a:avLst>
              <a:gd name="adj" fmla="val 39997"/>
            </a:avLst>
          </a:prstGeom>
          <a:solidFill>
            <a:srgbClr val="F59E0B"/>
          </a:solidFill>
          <a:ln>
            <a:solidFill>
              <a:schemeClr val="bg1"/>
            </a:solidFill>
          </a:ln>
        </p:spPr>
        <p:txBody>
          <a:bodyPr wrap="square" lIns="10800" tIns="10800" rIns="10800" bIns="1080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Constraints (</a:t>
            </a:r>
            <a:r>
              <a:rPr lang="ko-KR" altLang="en-US" sz="800" dirty="0">
                <a:solidFill>
                  <a:schemeClr val="bg1"/>
                </a:solidFill>
              </a:rPr>
              <a:t>제약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A0AE86F-4DC9-90AF-8C59-426143ECA1E7}"/>
              </a:ext>
            </a:extLst>
          </p:cNvPr>
          <p:cNvSpPr/>
          <p:nvPr/>
        </p:nvSpPr>
        <p:spPr>
          <a:xfrm>
            <a:off x="5323671" y="2664270"/>
            <a:ext cx="892175" cy="188370"/>
          </a:xfrm>
          <a:prstGeom prst="roundRect">
            <a:avLst>
              <a:gd name="adj" fmla="val 39997"/>
            </a:avLst>
          </a:prstGeom>
          <a:solidFill>
            <a:srgbClr val="13CEC4"/>
          </a:solidFill>
          <a:ln>
            <a:solidFill>
              <a:schemeClr val="bg1"/>
            </a:solidFill>
          </a:ln>
        </p:spPr>
        <p:txBody>
          <a:bodyPr wrap="square" lIns="10800" tIns="10800" rIns="10800" bIns="1080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Metric (</a:t>
            </a:r>
            <a:r>
              <a:rPr lang="ko-KR" altLang="en-US" sz="800" dirty="0">
                <a:solidFill>
                  <a:schemeClr val="bg1"/>
                </a:solidFill>
              </a:rPr>
              <a:t>핵심지표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D4DEA932-EF95-9D26-3E8B-160F8E11AD68}"/>
              </a:ext>
            </a:extLst>
          </p:cNvPr>
          <p:cNvSpPr/>
          <p:nvPr/>
        </p:nvSpPr>
        <p:spPr>
          <a:xfrm>
            <a:off x="5445046" y="3159597"/>
            <a:ext cx="1127379" cy="188370"/>
          </a:xfrm>
          <a:prstGeom prst="roundRect">
            <a:avLst>
              <a:gd name="adj" fmla="val 39997"/>
            </a:avLst>
          </a:prstGeom>
          <a:solidFill>
            <a:srgbClr val="0D9488"/>
          </a:solidFill>
          <a:ln>
            <a:solidFill>
              <a:schemeClr val="bg1"/>
            </a:solidFill>
          </a:ln>
        </p:spPr>
        <p:txBody>
          <a:bodyPr wrap="square" lIns="10800" tIns="10800" rIns="10800" bIns="1080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Dimension (</a:t>
            </a:r>
            <a:r>
              <a:rPr lang="ko-KR" altLang="en-US" sz="800" dirty="0">
                <a:solidFill>
                  <a:schemeClr val="bg1"/>
                </a:solidFill>
              </a:rPr>
              <a:t>분석차원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AD892117-AF9A-8E04-D476-0FEC066CE93D}"/>
              </a:ext>
            </a:extLst>
          </p:cNvPr>
          <p:cNvSpPr/>
          <p:nvPr/>
        </p:nvSpPr>
        <p:spPr>
          <a:xfrm>
            <a:off x="6931366" y="3439257"/>
            <a:ext cx="1384848" cy="188370"/>
          </a:xfrm>
          <a:prstGeom prst="roundRect">
            <a:avLst>
              <a:gd name="adj" fmla="val 39997"/>
            </a:avLst>
          </a:prstGeom>
          <a:solidFill>
            <a:srgbClr val="0070C0"/>
          </a:solidFill>
          <a:ln>
            <a:solidFill>
              <a:schemeClr val="bg1"/>
            </a:solidFill>
          </a:ln>
        </p:spPr>
        <p:txBody>
          <a:bodyPr wrap="square" lIns="10800" tIns="10800" rIns="10800" bIns="10800">
            <a:spAutoFit/>
          </a:bodyPr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DataSource</a:t>
            </a:r>
            <a:r>
              <a:rPr lang="en-US" altLang="ko-KR" sz="800" dirty="0">
                <a:solidFill>
                  <a:schemeClr val="bg1"/>
                </a:solidFill>
              </a:rPr>
              <a:t> (</a:t>
            </a:r>
            <a:r>
              <a:rPr lang="ko-KR" altLang="en-US" sz="800" dirty="0">
                <a:solidFill>
                  <a:schemeClr val="bg1"/>
                </a:solidFill>
              </a:rPr>
              <a:t>데이터원천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AF9A42E0-2862-60C2-967B-CE41F07B4D05}"/>
              </a:ext>
            </a:extLst>
          </p:cNvPr>
          <p:cNvCxnSpPr>
            <a:cxnSpLocks/>
            <a:stCxn id="19" idx="2"/>
            <a:endCxn id="18" idx="2"/>
          </p:cNvCxnSpPr>
          <p:nvPr/>
        </p:nvCxnSpPr>
        <p:spPr>
          <a:xfrm rot="5400000" flipH="1">
            <a:off x="6676433" y="2680270"/>
            <a:ext cx="279660" cy="1615054"/>
          </a:xfrm>
          <a:prstGeom prst="curvedConnector3">
            <a:avLst>
              <a:gd name="adj1" fmla="val -81742"/>
            </a:avLst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C9C6C5DF-1A2B-9C4E-CEB2-2B6AC665AA5B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rot="16200000" flipV="1">
            <a:off x="5735770" y="2886630"/>
            <a:ext cx="306957" cy="238977"/>
          </a:xfrm>
          <a:prstGeom prst="curved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49FC138B-6EEA-2364-ECD8-86013A21D123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rot="5400000" flipH="1">
            <a:off x="6305912" y="2128118"/>
            <a:ext cx="27817" cy="1100123"/>
          </a:xfrm>
          <a:prstGeom prst="curvedConnector5">
            <a:avLst>
              <a:gd name="adj1" fmla="val -821800"/>
              <a:gd name="adj2" fmla="val 50000"/>
              <a:gd name="adj3" fmla="val 921800"/>
            </a:avLst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1B63241A-B071-192B-1286-3099F4900487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7005457" y="2167131"/>
            <a:ext cx="201012" cy="472161"/>
          </a:xfrm>
          <a:prstGeom prst="curved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F8CBB6F7-589D-7977-2C14-ED5FFB75E6DE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rot="5400000" flipH="1" flipV="1">
            <a:off x="7600503" y="1688669"/>
            <a:ext cx="167207" cy="684127"/>
          </a:xfrm>
          <a:prstGeom prst="curved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2928C4C-C939-C7E4-19DC-DFD81B91441C}"/>
              </a:ext>
            </a:extLst>
          </p:cNvPr>
          <p:cNvSpPr txBox="1"/>
          <p:nvPr/>
        </p:nvSpPr>
        <p:spPr>
          <a:xfrm>
            <a:off x="495300" y="1574219"/>
            <a:ext cx="13292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1000" dirty="0" err="1">
                <a:solidFill>
                  <a:srgbClr val="0F172A"/>
                </a:solidFill>
                <a:latin typeface="+mn-ea"/>
              </a:rPr>
              <a:t>자원군</a:t>
            </a:r>
            <a:r>
              <a:rPr lang="ko-KR" altLang="en-US" sz="1000" dirty="0">
                <a:solidFill>
                  <a:srgbClr val="0F172A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rgbClr val="0F172A"/>
                </a:solidFill>
                <a:latin typeface="+mn-ea"/>
              </a:rPr>
              <a:t>(Resources)</a:t>
            </a:r>
            <a:endParaRPr lang="en-US" altLang="ko-KR" sz="1000" i="0" dirty="0">
              <a:solidFill>
                <a:srgbClr val="0F172A"/>
              </a:solidFill>
              <a:effectLst/>
              <a:latin typeface="+mn-ea"/>
            </a:endParaRPr>
          </a:p>
        </p:txBody>
      </p:sp>
      <p:pic>
        <p:nvPicPr>
          <p:cNvPr id="44" name="그래픽 43" descr="방패 선택 표시 단색으로 채워진">
            <a:extLst>
              <a:ext uri="{FF2B5EF4-FFF2-40B4-BE49-F238E27FC236}">
                <a16:creationId xmlns:a16="http://schemas.microsoft.com/office/drawing/2014/main" id="{5F10ECA1-4E9D-C1E9-F32B-EB5753C0A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5830" y="2893543"/>
            <a:ext cx="233336" cy="233336"/>
          </a:xfrm>
          <a:prstGeom prst="rect">
            <a:avLst/>
          </a:prstGeom>
        </p:spPr>
      </p:pic>
      <p:pic>
        <p:nvPicPr>
          <p:cNvPr id="46" name="그래픽 45" descr="마법 지팡이 자동 단색으로 채워진">
            <a:extLst>
              <a:ext uri="{FF2B5EF4-FFF2-40B4-BE49-F238E27FC236}">
                <a16:creationId xmlns:a16="http://schemas.microsoft.com/office/drawing/2014/main" id="{F00BF14C-E4A6-2975-A129-AA789C8B9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070" y="2926261"/>
            <a:ext cx="233336" cy="233336"/>
          </a:xfrm>
          <a:prstGeom prst="rect">
            <a:avLst/>
          </a:prstGeom>
        </p:spPr>
      </p:pic>
      <p:pic>
        <p:nvPicPr>
          <p:cNvPr id="48" name="그래픽 47" descr="상향 추세 단색으로 채워진">
            <a:extLst>
              <a:ext uri="{FF2B5EF4-FFF2-40B4-BE49-F238E27FC236}">
                <a16:creationId xmlns:a16="http://schemas.microsoft.com/office/drawing/2014/main" id="{164FD1D1-DB03-E2A5-1523-08AD8FE72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55830" y="1547906"/>
            <a:ext cx="233336" cy="233336"/>
          </a:xfrm>
          <a:prstGeom prst="rect">
            <a:avLst/>
          </a:prstGeom>
        </p:spPr>
      </p:pic>
      <p:pic>
        <p:nvPicPr>
          <p:cNvPr id="50" name="그래픽 49" descr="데이터베이스 단색으로 채워진">
            <a:extLst>
              <a:ext uri="{FF2B5EF4-FFF2-40B4-BE49-F238E27FC236}">
                <a16:creationId xmlns:a16="http://schemas.microsoft.com/office/drawing/2014/main" id="{B0551956-F6F9-09E8-9FCF-22107670D2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5070" y="1572594"/>
            <a:ext cx="233336" cy="23333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78B9966-967E-2A3D-FCF8-0D476C5B30D7}"/>
              </a:ext>
            </a:extLst>
          </p:cNvPr>
          <p:cNvSpPr txBox="1"/>
          <p:nvPr/>
        </p:nvSpPr>
        <p:spPr>
          <a:xfrm>
            <a:off x="2778950" y="1550783"/>
            <a:ext cx="1244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1000" dirty="0" err="1">
                <a:solidFill>
                  <a:srgbClr val="0F172A"/>
                </a:solidFill>
                <a:latin typeface="+mn-ea"/>
              </a:rPr>
              <a:t>지표군</a:t>
            </a:r>
            <a:r>
              <a:rPr lang="ko-KR" altLang="en-US" sz="1000" dirty="0">
                <a:solidFill>
                  <a:srgbClr val="0F172A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rgbClr val="0F172A"/>
                </a:solidFill>
                <a:latin typeface="+mn-ea"/>
              </a:rPr>
              <a:t>(Metrics)</a:t>
            </a:r>
            <a:endParaRPr lang="en-US" altLang="ko-KR" sz="1000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891FDC-DEF4-8429-D787-FDB5265EEFDA}"/>
              </a:ext>
            </a:extLst>
          </p:cNvPr>
          <p:cNvSpPr txBox="1"/>
          <p:nvPr/>
        </p:nvSpPr>
        <p:spPr>
          <a:xfrm>
            <a:off x="485078" y="2928963"/>
            <a:ext cx="1619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1000" dirty="0">
                <a:solidFill>
                  <a:srgbClr val="0F172A"/>
                </a:solidFill>
                <a:latin typeface="+mn-ea"/>
              </a:rPr>
              <a:t>변환</a:t>
            </a:r>
            <a:r>
              <a:rPr lang="en-US" altLang="ko-KR" sz="1000" dirty="0">
                <a:solidFill>
                  <a:srgbClr val="0F172A"/>
                </a:solidFill>
                <a:latin typeface="+mn-ea"/>
              </a:rPr>
              <a:t>·</a:t>
            </a:r>
            <a:r>
              <a:rPr lang="ko-KR" altLang="en-US" sz="1000" dirty="0" err="1">
                <a:solidFill>
                  <a:srgbClr val="0F172A"/>
                </a:solidFill>
                <a:latin typeface="+mn-ea"/>
              </a:rPr>
              <a:t>표현군</a:t>
            </a:r>
            <a:r>
              <a:rPr lang="ko-KR" altLang="en-US" sz="1000" dirty="0">
                <a:solidFill>
                  <a:srgbClr val="0F172A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rgbClr val="0F172A"/>
                </a:solidFill>
                <a:latin typeface="+mn-ea"/>
              </a:rPr>
              <a:t>(Transform)</a:t>
            </a:r>
            <a:endParaRPr lang="en-US" altLang="ko-KR" sz="1000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69AE27-964E-EF5E-7B36-86BB0046674F}"/>
              </a:ext>
            </a:extLst>
          </p:cNvPr>
          <p:cNvSpPr txBox="1"/>
          <p:nvPr/>
        </p:nvSpPr>
        <p:spPr>
          <a:xfrm>
            <a:off x="2783967" y="2897907"/>
            <a:ext cx="14915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1000" dirty="0" err="1">
                <a:solidFill>
                  <a:srgbClr val="0F172A"/>
                </a:solidFill>
                <a:latin typeface="+mn-ea"/>
              </a:rPr>
              <a:t>제약군</a:t>
            </a:r>
            <a:r>
              <a:rPr lang="ko-KR" altLang="en-US" sz="1000" dirty="0">
                <a:solidFill>
                  <a:srgbClr val="0F172A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rgbClr val="0F172A"/>
                </a:solidFill>
                <a:latin typeface="+mn-ea"/>
              </a:rPr>
              <a:t>(Constraints)</a:t>
            </a:r>
            <a:endParaRPr lang="en-US" altLang="ko-KR" sz="1000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10A5D4-DA4D-C937-040D-331E97F1BA0D}"/>
              </a:ext>
            </a:extLst>
          </p:cNvPr>
          <p:cNvSpPr txBox="1"/>
          <p:nvPr/>
        </p:nvSpPr>
        <p:spPr>
          <a:xfrm>
            <a:off x="256032" y="1876964"/>
            <a:ext cx="1914271" cy="609398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Dimension: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부서</a:t>
            </a: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,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제품군 등 분석 기준</a:t>
            </a:r>
          </a:p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 err="1">
                <a:solidFill>
                  <a:srgbClr val="0F172A"/>
                </a:solidFill>
                <a:latin typeface="+mn-ea"/>
              </a:rPr>
              <a:t>DataSource</a:t>
            </a: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물리적 데이터 원천 정의</a:t>
            </a:r>
          </a:p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 err="1">
                <a:solidFill>
                  <a:srgbClr val="0F172A"/>
                </a:solidFill>
                <a:latin typeface="+mn-ea"/>
              </a:rPr>
              <a:t>DetailDimension</a:t>
            </a: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상세 분석 차원</a:t>
            </a:r>
            <a:endParaRPr lang="en-US" altLang="ko-KR" sz="800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29DFA1-C550-FBE6-EE6D-6422DDA7228B}"/>
              </a:ext>
            </a:extLst>
          </p:cNvPr>
          <p:cNvSpPr txBox="1"/>
          <p:nvPr/>
        </p:nvSpPr>
        <p:spPr>
          <a:xfrm>
            <a:off x="2440288" y="1876964"/>
            <a:ext cx="1914271" cy="609398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Metric: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매출</a:t>
            </a: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,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수량 등 핵심 측정 지표</a:t>
            </a:r>
          </a:p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 err="1">
                <a:solidFill>
                  <a:srgbClr val="0F172A"/>
                </a:solidFill>
                <a:latin typeface="+mn-ea"/>
              </a:rPr>
              <a:t>DetailMetric</a:t>
            </a: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필터가 가미된 세부 지표</a:t>
            </a:r>
          </a:p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 err="1">
                <a:solidFill>
                  <a:srgbClr val="0F172A"/>
                </a:solidFill>
                <a:latin typeface="+mn-ea"/>
              </a:rPr>
              <a:t>DataSchema</a:t>
            </a: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테이블 구조 및 메타 정의</a:t>
            </a:r>
            <a:endParaRPr lang="en-US" altLang="ko-KR" sz="800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E30FC1-2100-AFAC-5651-29EFEEF43425}"/>
              </a:ext>
            </a:extLst>
          </p:cNvPr>
          <p:cNvSpPr txBox="1"/>
          <p:nvPr/>
        </p:nvSpPr>
        <p:spPr>
          <a:xfrm>
            <a:off x="256032" y="3198256"/>
            <a:ext cx="1914271" cy="609398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Formula: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비즈니스 계산 로직 정의</a:t>
            </a:r>
          </a:p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 err="1">
                <a:solidFill>
                  <a:srgbClr val="0F172A"/>
                </a:solidFill>
                <a:latin typeface="+mn-ea"/>
              </a:rPr>
              <a:t>DataView</a:t>
            </a: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시각화 및 결과 레이아웃</a:t>
            </a:r>
          </a:p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Question: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사용자 질문 의도 매핑</a:t>
            </a:r>
            <a:endParaRPr lang="en-US" altLang="ko-KR" sz="800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578600-7F86-E0CF-9A68-DAAAC7794353}"/>
              </a:ext>
            </a:extLst>
          </p:cNvPr>
          <p:cNvSpPr txBox="1"/>
          <p:nvPr/>
        </p:nvSpPr>
        <p:spPr>
          <a:xfrm>
            <a:off x="2440288" y="3198256"/>
            <a:ext cx="1914271" cy="609398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 err="1">
                <a:solidFill>
                  <a:srgbClr val="0F172A"/>
                </a:solidFill>
                <a:latin typeface="+mn-ea"/>
              </a:rPr>
              <a:t>DataConstraint</a:t>
            </a: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가시성 범위 제한</a:t>
            </a:r>
          </a:p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RBAC: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사용자 역할 기반 접근 권한</a:t>
            </a:r>
          </a:p>
          <a:p>
            <a:pPr marL="92075" indent="-92075" algn="l">
              <a:lnSpc>
                <a:spcPct val="13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rgbClr val="0F172A"/>
                </a:solidFill>
                <a:latin typeface="+mn-ea"/>
              </a:rPr>
              <a:t>Constraint: </a:t>
            </a:r>
            <a:r>
              <a:rPr lang="ko-KR" altLang="en-US" sz="800" dirty="0">
                <a:solidFill>
                  <a:srgbClr val="0F172A"/>
                </a:solidFill>
                <a:latin typeface="+mn-ea"/>
              </a:rPr>
              <a:t>정합성 및 예외 처리 규칙</a:t>
            </a:r>
            <a:endParaRPr lang="en-US" altLang="ko-KR" sz="800" i="0" dirty="0">
              <a:solidFill>
                <a:srgbClr val="0F172A"/>
              </a:solidFill>
              <a:effectLst/>
              <a:latin typeface="+mn-ea"/>
            </a:endParaRPr>
          </a:p>
        </p:txBody>
      </p:sp>
      <p:pic>
        <p:nvPicPr>
          <p:cNvPr id="60" name="Google Shape;141;p13" descr="image.png">
            <a:extLst>
              <a:ext uri="{FF2B5EF4-FFF2-40B4-BE49-F238E27FC236}">
                <a16:creationId xmlns:a16="http://schemas.microsoft.com/office/drawing/2014/main" id="{D48E892A-1976-AFBF-8782-67749E769B2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b="89943"/>
          <a:stretch>
            <a:fillRect/>
          </a:stretch>
        </p:blipFill>
        <p:spPr>
          <a:xfrm>
            <a:off x="278892" y="4154994"/>
            <a:ext cx="8572500" cy="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142;p13">
            <a:extLst>
              <a:ext uri="{FF2B5EF4-FFF2-40B4-BE49-F238E27FC236}">
                <a16:creationId xmlns:a16="http://schemas.microsoft.com/office/drawing/2014/main" id="{0D9BF058-C236-4AAA-18A5-33EA057E70EF}"/>
              </a:ext>
            </a:extLst>
          </p:cNvPr>
          <p:cNvSpPr txBox="1"/>
          <p:nvPr/>
        </p:nvSpPr>
        <p:spPr>
          <a:xfrm>
            <a:off x="504166" y="4281771"/>
            <a:ext cx="173421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900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자율적 경로 탐색 및 판별</a:t>
            </a:r>
            <a:endParaRPr lang="en-US" altLang="ko-KR" sz="900" dirty="0">
              <a:solidFill>
                <a:srgbClr val="0F172A"/>
              </a:solidFill>
              <a:latin typeface="SUIT"/>
              <a:ea typeface="SUIT"/>
              <a:cs typeface="SUIT"/>
              <a:sym typeface="SUIT"/>
            </a:endParaRPr>
          </a:p>
        </p:txBody>
      </p:sp>
      <p:sp>
        <p:nvSpPr>
          <p:cNvPr id="62" name="Google Shape;143;p13">
            <a:extLst>
              <a:ext uri="{FF2B5EF4-FFF2-40B4-BE49-F238E27FC236}">
                <a16:creationId xmlns:a16="http://schemas.microsoft.com/office/drawing/2014/main" id="{DF05780A-2586-E501-3DE0-0989FA572649}"/>
              </a:ext>
            </a:extLst>
          </p:cNvPr>
          <p:cNvSpPr txBox="1"/>
          <p:nvPr/>
        </p:nvSpPr>
        <p:spPr>
          <a:xfrm>
            <a:off x="321762" y="4459833"/>
            <a:ext cx="2062757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ko-KR" altLang="en-US" sz="7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노드와 관계를 따라가며 현재 질문이 시스템에서 대답 가능한 범위인지 실시간으로 판별합니다</a:t>
            </a:r>
            <a:r>
              <a:rPr lang="en-US" altLang="ko-KR" sz="7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.</a:t>
            </a:r>
          </a:p>
        </p:txBody>
      </p:sp>
      <p:sp>
        <p:nvSpPr>
          <p:cNvPr id="63" name="Google Shape;146;p13">
            <a:extLst>
              <a:ext uri="{FF2B5EF4-FFF2-40B4-BE49-F238E27FC236}">
                <a16:creationId xmlns:a16="http://schemas.microsoft.com/office/drawing/2014/main" id="{B1117F89-E18C-3093-3098-5B52BFFD4C86}"/>
              </a:ext>
            </a:extLst>
          </p:cNvPr>
          <p:cNvSpPr txBox="1"/>
          <p:nvPr/>
        </p:nvSpPr>
        <p:spPr>
          <a:xfrm>
            <a:off x="2628505" y="4281771"/>
            <a:ext cx="201948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900" dirty="0">
                <a:latin typeface="SUIT" pitchFamily="2" charset="-127"/>
                <a:sym typeface="SUIT"/>
              </a:rPr>
              <a:t>비즈니스 로직의 데이터화</a:t>
            </a:r>
            <a:endParaRPr lang="en-US" altLang="ko-KR" sz="900" dirty="0">
              <a:latin typeface="SUIT" pitchFamily="2" charset="-127"/>
              <a:sym typeface="SUIT"/>
            </a:endParaRPr>
          </a:p>
        </p:txBody>
      </p:sp>
      <p:sp>
        <p:nvSpPr>
          <p:cNvPr id="192" name="Google Shape;147;p13">
            <a:extLst>
              <a:ext uri="{FF2B5EF4-FFF2-40B4-BE49-F238E27FC236}">
                <a16:creationId xmlns:a16="http://schemas.microsoft.com/office/drawing/2014/main" id="{9C5C71DA-0AC6-B84D-5C9B-ACC28A465AC9}"/>
              </a:ext>
            </a:extLst>
          </p:cNvPr>
          <p:cNvSpPr txBox="1"/>
          <p:nvPr/>
        </p:nvSpPr>
        <p:spPr>
          <a:xfrm>
            <a:off x="2481819" y="4472465"/>
            <a:ext cx="2033032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ko-KR" altLang="en-US" sz="7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복잡한 계산식과 제약 조건을 프롬프트가 아닌 그래프 데이터로 분리하여 유지보수성을 극대화합니다</a:t>
            </a:r>
            <a:r>
              <a:rPr lang="en-US" altLang="ko-KR" sz="7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.</a:t>
            </a:r>
          </a:p>
        </p:txBody>
      </p:sp>
      <p:sp>
        <p:nvSpPr>
          <p:cNvPr id="193" name="Google Shape;148;p13">
            <a:extLst>
              <a:ext uri="{FF2B5EF4-FFF2-40B4-BE49-F238E27FC236}">
                <a16:creationId xmlns:a16="http://schemas.microsoft.com/office/drawing/2014/main" id="{6E9276F0-3070-BB2A-BE7A-2D13594BAAC0}"/>
              </a:ext>
            </a:extLst>
          </p:cNvPr>
          <p:cNvSpPr txBox="1"/>
          <p:nvPr/>
        </p:nvSpPr>
        <p:spPr>
          <a:xfrm>
            <a:off x="6891338" y="4281771"/>
            <a:ext cx="196872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900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유연한 지식 확장성</a:t>
            </a:r>
            <a:endParaRPr dirty="0"/>
          </a:p>
        </p:txBody>
      </p:sp>
      <p:sp>
        <p:nvSpPr>
          <p:cNvPr id="194" name="Google Shape;149;p13">
            <a:extLst>
              <a:ext uri="{FF2B5EF4-FFF2-40B4-BE49-F238E27FC236}">
                <a16:creationId xmlns:a16="http://schemas.microsoft.com/office/drawing/2014/main" id="{F6931F60-CF28-DC74-E132-7618B0B1DD98}"/>
              </a:ext>
            </a:extLst>
          </p:cNvPr>
          <p:cNvSpPr txBox="1"/>
          <p:nvPr/>
        </p:nvSpPr>
        <p:spPr>
          <a:xfrm>
            <a:off x="6710731" y="4472464"/>
            <a:ext cx="2376120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ko-KR" altLang="en-US" sz="700" dirty="0">
                <a:solidFill>
                  <a:srgbClr val="64748B"/>
                </a:solidFill>
                <a:ea typeface="SUIT"/>
                <a:sym typeface="SUIT"/>
              </a:rPr>
              <a:t>새로운 대시보드가 도입되어도 </a:t>
            </a:r>
            <a:r>
              <a:rPr lang="en-US" altLang="ko-KR" sz="700" dirty="0">
                <a:solidFill>
                  <a:srgbClr val="64748B"/>
                </a:solidFill>
                <a:ea typeface="SUIT"/>
                <a:sym typeface="SUIT"/>
              </a:rPr>
              <a:t>DB </a:t>
            </a:r>
            <a:r>
              <a:rPr lang="ko-KR" altLang="en-US" sz="700" dirty="0">
                <a:solidFill>
                  <a:srgbClr val="64748B"/>
                </a:solidFill>
                <a:ea typeface="SUIT"/>
                <a:sym typeface="SUIT"/>
              </a:rPr>
              <a:t>구조 변경 없이</a:t>
            </a:r>
            <a:r>
              <a:rPr lang="en-US" altLang="ko-KR" sz="700" dirty="0">
                <a:solidFill>
                  <a:srgbClr val="64748B"/>
                </a:solidFill>
                <a:ea typeface="SUIT"/>
                <a:sym typeface="SUIT"/>
              </a:rPr>
              <a:t>, </a:t>
            </a:r>
            <a:r>
              <a:rPr lang="ko-KR" altLang="en-US" sz="700" dirty="0">
                <a:solidFill>
                  <a:srgbClr val="64748B"/>
                </a:solidFill>
                <a:ea typeface="SUIT"/>
                <a:sym typeface="SUIT"/>
              </a:rPr>
              <a:t>노드 추가만으로 지식망을 확장합니다</a:t>
            </a:r>
            <a:r>
              <a:rPr lang="en-US" altLang="ko-KR" sz="700" dirty="0">
                <a:solidFill>
                  <a:srgbClr val="64748B"/>
                </a:solidFill>
                <a:ea typeface="SUIT"/>
                <a:sym typeface="SUIT"/>
              </a:rPr>
              <a:t>.</a:t>
            </a:r>
            <a:endParaRPr sz="1600" dirty="0"/>
          </a:p>
        </p:txBody>
      </p:sp>
      <p:sp>
        <p:nvSpPr>
          <p:cNvPr id="198" name="Google Shape;144;p13">
            <a:extLst>
              <a:ext uri="{FF2B5EF4-FFF2-40B4-BE49-F238E27FC236}">
                <a16:creationId xmlns:a16="http://schemas.microsoft.com/office/drawing/2014/main" id="{4F2880AE-9BB4-D2AC-283F-990C85EFAAC6}"/>
              </a:ext>
            </a:extLst>
          </p:cNvPr>
          <p:cNvSpPr txBox="1"/>
          <p:nvPr/>
        </p:nvSpPr>
        <p:spPr>
          <a:xfrm>
            <a:off x="4783043" y="4281771"/>
            <a:ext cx="152488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900" dirty="0">
                <a:latin typeface="SUIT" pitchFamily="2" charset="-127"/>
                <a:ea typeface="SUIT" pitchFamily="2" charset="-127"/>
              </a:rPr>
              <a:t>의미론적 정밀 검색 </a:t>
            </a:r>
            <a:r>
              <a:rPr lang="en-US" altLang="ko-KR" sz="900" dirty="0">
                <a:latin typeface="SUIT" pitchFamily="2" charset="-127"/>
                <a:ea typeface="SUIT" pitchFamily="2" charset="-127"/>
              </a:rPr>
              <a:t>(Semantic)</a:t>
            </a:r>
          </a:p>
        </p:txBody>
      </p:sp>
      <p:sp>
        <p:nvSpPr>
          <p:cNvPr id="199" name="Google Shape;145;p13">
            <a:extLst>
              <a:ext uri="{FF2B5EF4-FFF2-40B4-BE49-F238E27FC236}">
                <a16:creationId xmlns:a16="http://schemas.microsoft.com/office/drawing/2014/main" id="{9FD5B81F-0977-9959-6EB3-BE8BFB7DEB8D}"/>
              </a:ext>
            </a:extLst>
          </p:cNvPr>
          <p:cNvSpPr txBox="1"/>
          <p:nvPr/>
        </p:nvSpPr>
        <p:spPr>
          <a:xfrm>
            <a:off x="4584184" y="4472464"/>
            <a:ext cx="2062757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ko-KR" altLang="en-US" sz="7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단순 텍스트 매칭을 넘어 지표와 차원 간의 상속 관계를 추적하여 질문자의 의도를 정확히 파악합니다</a:t>
            </a:r>
            <a:r>
              <a:rPr lang="en-US" altLang="ko-KR" sz="7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.</a:t>
            </a:r>
          </a:p>
        </p:txBody>
      </p:sp>
      <p:pic>
        <p:nvPicPr>
          <p:cNvPr id="208" name="그래픽 207" descr="연구 단색으로 채워진">
            <a:extLst>
              <a:ext uri="{FF2B5EF4-FFF2-40B4-BE49-F238E27FC236}">
                <a16:creationId xmlns:a16="http://schemas.microsoft.com/office/drawing/2014/main" id="{A0B8FD01-EB8B-088E-0B5E-5EBADB000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84184" y="4269428"/>
            <a:ext cx="163182" cy="163182"/>
          </a:xfrm>
          <a:prstGeom prst="rect">
            <a:avLst/>
          </a:prstGeom>
        </p:spPr>
      </p:pic>
      <p:pic>
        <p:nvPicPr>
          <p:cNvPr id="210" name="그래픽 209" descr="톱니바퀴 단색으로 채워진">
            <a:extLst>
              <a:ext uri="{FF2B5EF4-FFF2-40B4-BE49-F238E27FC236}">
                <a16:creationId xmlns:a16="http://schemas.microsoft.com/office/drawing/2014/main" id="{1E17F9F6-F848-1FF0-4D27-FB1B17EC8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40288" y="4263117"/>
            <a:ext cx="188217" cy="188217"/>
          </a:xfrm>
          <a:prstGeom prst="rect">
            <a:avLst/>
          </a:prstGeom>
        </p:spPr>
      </p:pic>
      <p:pic>
        <p:nvPicPr>
          <p:cNvPr id="213" name="그래픽 212" descr="네트워크 단색으로 채워진">
            <a:extLst>
              <a:ext uri="{FF2B5EF4-FFF2-40B4-BE49-F238E27FC236}">
                <a16:creationId xmlns:a16="http://schemas.microsoft.com/office/drawing/2014/main" id="{1D524675-F4B9-A593-814C-35581405B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3713" r="-6817" b="-1"/>
          <a:stretch>
            <a:fillRect/>
          </a:stretch>
        </p:blipFill>
        <p:spPr>
          <a:xfrm>
            <a:off x="6710731" y="4263117"/>
            <a:ext cx="170671" cy="165713"/>
          </a:xfrm>
          <a:prstGeom prst="rect">
            <a:avLst/>
          </a:prstGeom>
        </p:spPr>
      </p:pic>
      <p:pic>
        <p:nvPicPr>
          <p:cNvPr id="214" name="그래픽 213" descr="컴퍼스 단색으로 채워진">
            <a:extLst>
              <a:ext uri="{FF2B5EF4-FFF2-40B4-BE49-F238E27FC236}">
                <a16:creationId xmlns:a16="http://schemas.microsoft.com/office/drawing/2014/main" id="{8D463553-A405-966E-D11E-01999FF98E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3956" y="4250882"/>
            <a:ext cx="200274" cy="200274"/>
          </a:xfrm>
          <a:prstGeom prst="rect">
            <a:avLst/>
          </a:prstGeom>
        </p:spPr>
      </p:pic>
      <p:sp>
        <p:nvSpPr>
          <p:cNvPr id="216" name="타원 215">
            <a:extLst>
              <a:ext uri="{FF2B5EF4-FFF2-40B4-BE49-F238E27FC236}">
                <a16:creationId xmlns:a16="http://schemas.microsoft.com/office/drawing/2014/main" id="{AEF74415-B013-3AD8-67F4-FF2FE33A7E24}"/>
              </a:ext>
            </a:extLst>
          </p:cNvPr>
          <p:cNvSpPr/>
          <p:nvPr/>
        </p:nvSpPr>
        <p:spPr>
          <a:xfrm>
            <a:off x="6817565" y="4308651"/>
            <a:ext cx="57014" cy="57014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487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4">
            <a:extLst>
              <a:ext uri="{FF2B5EF4-FFF2-40B4-BE49-F238E27FC236}">
                <a16:creationId xmlns:a16="http://schemas.microsoft.com/office/drawing/2014/main" id="{EDD038BC-093B-9DCA-065E-A430DF1F9777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SUIT ExtraBold" pitchFamily="2" charset="-127"/>
                <a:ea typeface="SUIT ExtraBold" pitchFamily="2" charset="-127"/>
              </a:rPr>
              <a:t>AI가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 답하기 전에, 검증된 지식으로 먼저 확인합니다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02 ·  Solution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68401"/>
            <a:ext cx="8595360" cy="41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aisight도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당연히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AI로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답합니다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.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다만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“이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질문이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분석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가능한가”를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매번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AI에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묻지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않고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sz="1000" dirty="0" err="1">
                <a:solidFill>
                  <a:srgbClr val="0D9488"/>
                </a:solidFill>
                <a:latin typeface="+mn-ea"/>
                <a:ea typeface="+mn-ea"/>
              </a:rPr>
              <a:t>검증된</a:t>
            </a:r>
            <a:r>
              <a:rPr sz="1000" dirty="0">
                <a:solidFill>
                  <a:srgbClr val="0D9488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0D9488"/>
                </a:solidFill>
                <a:latin typeface="+mn-ea"/>
                <a:ea typeface="+mn-ea"/>
              </a:rPr>
              <a:t>지식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으로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먼저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확인한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뒤 </a:t>
            </a:r>
            <a:r>
              <a:rPr sz="1000" dirty="0" err="1">
                <a:solidFill>
                  <a:srgbClr val="0D9488"/>
                </a:solidFill>
                <a:latin typeface="+mn-ea"/>
                <a:ea typeface="+mn-ea"/>
              </a:rPr>
              <a:t>AI는</a:t>
            </a:r>
            <a:r>
              <a:rPr sz="1000" dirty="0">
                <a:solidFill>
                  <a:srgbClr val="0D9488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0D9488"/>
                </a:solidFill>
                <a:latin typeface="+mn-ea"/>
                <a:ea typeface="+mn-ea"/>
              </a:rPr>
              <a:t>잘하는</a:t>
            </a:r>
            <a:r>
              <a:rPr sz="1000" dirty="0">
                <a:solidFill>
                  <a:srgbClr val="0D9488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0D9488"/>
                </a:solidFill>
                <a:latin typeface="+mn-ea"/>
                <a:ea typeface="+mn-ea"/>
              </a:rPr>
              <a:t>일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에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334155"/>
                </a:solidFill>
                <a:latin typeface="+mn-ea"/>
                <a:ea typeface="+mn-ea"/>
              </a:rPr>
              <a:t>집중시킵니다</a:t>
            </a:r>
            <a:r>
              <a:rPr sz="1000" dirty="0">
                <a:solidFill>
                  <a:srgbClr val="334155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240000"/>
            <a:ext cx="170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900" b="1" dirty="0" err="1">
                <a:solidFill>
                  <a:srgbClr val="64748B"/>
                </a:solidFill>
                <a:latin typeface="SUIT"/>
                <a:ea typeface="SUIT"/>
                <a:cs typeface="SUIT"/>
              </a:rPr>
              <a:t>고객</a:t>
            </a:r>
            <a:r>
              <a:rPr sz="900" b="1" dirty="0">
                <a:solidFill>
                  <a:srgbClr val="64748B"/>
                </a:solidFill>
                <a:latin typeface="SUIT"/>
                <a:ea typeface="SUIT"/>
                <a:cs typeface="SUIT"/>
              </a:rPr>
              <a:t> </a:t>
            </a:r>
            <a:r>
              <a:rPr sz="900" b="1" dirty="0" err="1">
                <a:solidFill>
                  <a:srgbClr val="64748B"/>
                </a:solidFill>
                <a:latin typeface="SUIT"/>
                <a:ea typeface="SUIT"/>
                <a:cs typeface="SUIT"/>
              </a:rPr>
              <a:t>관점</a:t>
            </a:r>
            <a:endParaRPr sz="900" b="1" dirty="0">
              <a:solidFill>
                <a:srgbClr val="64748B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06032" y="1240000"/>
            <a:ext cx="3297680" cy="46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6032" y="1240000"/>
            <a:ext cx="329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050" b="1" dirty="0" err="1">
                <a:solidFill>
                  <a:srgbClr val="9A3412"/>
                </a:solidFill>
                <a:latin typeface="SUIT ExtraBold"/>
                <a:ea typeface="SUIT ExtraBold"/>
                <a:cs typeface="SUIT ExtraBold"/>
              </a:rPr>
              <a:t>유효성까지</a:t>
            </a:r>
            <a:r>
              <a:rPr sz="1050" b="1" dirty="0">
                <a:solidFill>
                  <a:srgbClr val="9A3412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1050" b="1" dirty="0" err="1">
                <a:solidFill>
                  <a:srgbClr val="9A3412"/>
                </a:solidFill>
                <a:latin typeface="SUIT ExtraBold"/>
                <a:ea typeface="SUIT ExtraBold"/>
                <a:cs typeface="SUIT ExtraBold"/>
              </a:rPr>
              <a:t>매번</a:t>
            </a:r>
            <a:r>
              <a:rPr sz="1050" b="1" dirty="0">
                <a:solidFill>
                  <a:srgbClr val="9A3412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1050" b="1" dirty="0" err="1">
                <a:solidFill>
                  <a:srgbClr val="9A3412"/>
                </a:solidFill>
                <a:latin typeface="SUIT ExtraBold"/>
                <a:ea typeface="SUIT ExtraBold"/>
                <a:cs typeface="SUIT ExtraBold"/>
              </a:rPr>
              <a:t>AI에</a:t>
            </a:r>
            <a:r>
              <a:rPr sz="1050" b="1" dirty="0">
                <a:solidFill>
                  <a:srgbClr val="9A3412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1050" b="1" dirty="0" err="1">
                <a:solidFill>
                  <a:srgbClr val="9A3412"/>
                </a:solidFill>
                <a:latin typeface="SUIT ExtraBold"/>
                <a:ea typeface="SUIT ExtraBold"/>
                <a:cs typeface="SUIT ExtraBold"/>
              </a:rPr>
              <a:t>맡길</a:t>
            </a:r>
            <a:r>
              <a:rPr sz="1050" b="1" dirty="0">
                <a:solidFill>
                  <a:srgbClr val="9A3412"/>
                </a:solidFill>
                <a:latin typeface="SUIT ExtraBold"/>
                <a:ea typeface="SUIT ExtraBold"/>
                <a:cs typeface="SUIT ExtraBold"/>
              </a:rPr>
              <a:t> 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53712" y="1240000"/>
            <a:ext cx="3297680" cy="4600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53712" y="1240000"/>
            <a:ext cx="329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aisight 지식 그래프로 먼저 검증할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780000"/>
            <a:ext cx="1700000" cy="460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780000"/>
            <a:ext cx="170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용어 통일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6032" y="1780000"/>
            <a:ext cx="3297680" cy="4600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>
              <a:solidFill>
                <a:schemeClr val="lt1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>
            <a:off x="2306032" y="1915000"/>
            <a:ext cx="190000" cy="190000"/>
          </a:xfrm>
          <a:prstGeom prst="triangle">
            <a:avLst/>
          </a:prstGeom>
          <a:solidFill>
            <a:srgbClr val="C2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200"/>
              </a:spcBef>
            </a:pPr>
            <a:r>
              <a:rPr sz="7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6032" y="1780000"/>
            <a:ext cx="270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9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부서·사람마다 다른 표현을 제각각 해석합니다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3712" y="1780000"/>
            <a:ext cx="3297680" cy="46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73712" y="1780000"/>
            <a:ext cx="296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0D9488"/>
                </a:solidFill>
                <a:latin typeface="SUIT"/>
                <a:ea typeface="SUIT"/>
                <a:cs typeface="SUIT"/>
              </a:rPr>
              <a:t>✓  </a:t>
            </a:r>
            <a:r>
              <a:rPr sz="890" b="0">
                <a:solidFill>
                  <a:srgbClr val="0F172A"/>
                </a:solidFill>
                <a:latin typeface="SUIT"/>
                <a:ea typeface="SUIT"/>
                <a:cs typeface="SUIT"/>
              </a:rPr>
              <a:t>어떻게 부르든 같은 표준 용어로 통일합니다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" y="2300000"/>
            <a:ext cx="1700000" cy="460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" y="2300000"/>
            <a:ext cx="170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지표 특정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6032" y="2300000"/>
            <a:ext cx="3297680" cy="4600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>
              <a:solidFill>
                <a:schemeClr val="lt1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>
            <a:off x="2306032" y="2435000"/>
            <a:ext cx="190000" cy="190000"/>
          </a:xfrm>
          <a:prstGeom prst="triangle">
            <a:avLst/>
          </a:prstGeom>
          <a:solidFill>
            <a:srgbClr val="C2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200"/>
              </a:spcBef>
            </a:pPr>
            <a:r>
              <a:rPr sz="7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6032" y="2300000"/>
            <a:ext cx="270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9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비슷한 지표를 구분 못 해 임의로 골라 답합니다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3712" y="2300000"/>
            <a:ext cx="3297680" cy="46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3712" y="2300000"/>
            <a:ext cx="296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0D9488"/>
                </a:solidFill>
                <a:latin typeface="SUIT"/>
                <a:ea typeface="SUIT"/>
                <a:cs typeface="SUIT"/>
              </a:rPr>
              <a:t>✓  </a:t>
            </a:r>
            <a:r>
              <a:rPr sz="890" b="0">
                <a:solidFill>
                  <a:srgbClr val="0F172A"/>
                </a:solidFill>
                <a:latin typeface="SUIT"/>
                <a:ea typeface="SUIT"/>
                <a:cs typeface="SUIT"/>
              </a:rPr>
              <a:t>유사한 지표가 여럿이면 정확한 지표로 특정합니다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" y="2820000"/>
            <a:ext cx="1700000" cy="460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" y="2820000"/>
            <a:ext cx="170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모호함 해소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6032" y="2820000"/>
            <a:ext cx="3297680" cy="4600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>
              <a:solidFill>
                <a:schemeClr val="lt1"/>
              </a:solidFill>
            </a:endParaRPr>
          </a:p>
        </p:txBody>
      </p:sp>
      <p:sp>
        <p:nvSpPr>
          <p:cNvPr id="27" name="Isosceles Triangle 26"/>
          <p:cNvSpPr/>
          <p:nvPr/>
        </p:nvSpPr>
        <p:spPr>
          <a:xfrm>
            <a:off x="2306032" y="2955000"/>
            <a:ext cx="190000" cy="190000"/>
          </a:xfrm>
          <a:prstGeom prst="triangle">
            <a:avLst/>
          </a:prstGeom>
          <a:solidFill>
            <a:srgbClr val="C2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200"/>
              </a:spcBef>
            </a:pPr>
            <a:r>
              <a:rPr sz="7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6032" y="2820000"/>
            <a:ext cx="270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9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모호해도 일단 추측해서 답을 만듭니다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53712" y="2820000"/>
            <a:ext cx="3297680" cy="46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73712" y="2820000"/>
            <a:ext cx="296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 dirty="0">
                <a:solidFill>
                  <a:srgbClr val="0D9488"/>
                </a:solidFill>
                <a:latin typeface="SUIT"/>
                <a:ea typeface="SUIT"/>
                <a:cs typeface="SUIT"/>
              </a:rPr>
              <a:t>✓  </a:t>
            </a:r>
            <a:r>
              <a:rPr sz="890" b="0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모호하면</a:t>
            </a:r>
            <a:r>
              <a:rPr sz="890" b="0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 </a:t>
            </a:r>
            <a:r>
              <a:rPr sz="890" b="0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사용자에게</a:t>
            </a:r>
            <a:r>
              <a:rPr sz="890" b="0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 </a:t>
            </a:r>
            <a:r>
              <a:rPr sz="890" b="0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되물어</a:t>
            </a:r>
            <a:r>
              <a:rPr sz="890" b="0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 </a:t>
            </a:r>
            <a:r>
              <a:rPr sz="890" b="0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명확히</a:t>
            </a:r>
            <a:r>
              <a:rPr sz="890" b="0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 </a:t>
            </a:r>
            <a:r>
              <a:rPr sz="890" b="0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유도합니다</a:t>
            </a:r>
            <a:r>
              <a:rPr sz="890" b="0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 (</a:t>
            </a:r>
            <a:r>
              <a:rPr sz="890" b="0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휴먼</a:t>
            </a:r>
            <a:r>
              <a:rPr sz="890" b="0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 </a:t>
            </a:r>
            <a:r>
              <a:rPr sz="890" b="0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루프</a:t>
            </a:r>
            <a:r>
              <a:rPr sz="890" b="0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" y="3340000"/>
            <a:ext cx="1700000" cy="460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6032" y="3340000"/>
            <a:ext cx="170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AI의 역할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6032" y="3340000"/>
            <a:ext cx="3297680" cy="4600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>
              <a:solidFill>
                <a:schemeClr val="lt1"/>
              </a:solidFill>
            </a:endParaRPr>
          </a:p>
        </p:txBody>
      </p:sp>
      <p:sp>
        <p:nvSpPr>
          <p:cNvPr id="34" name="Isosceles Triangle 33"/>
          <p:cNvSpPr/>
          <p:nvPr/>
        </p:nvSpPr>
        <p:spPr>
          <a:xfrm>
            <a:off x="2306032" y="3475000"/>
            <a:ext cx="190000" cy="190000"/>
          </a:xfrm>
          <a:prstGeom prst="triangle">
            <a:avLst/>
          </a:prstGeom>
          <a:solidFill>
            <a:srgbClr val="C2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200"/>
              </a:spcBef>
            </a:pPr>
            <a:r>
              <a:rPr sz="7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86032" y="3340000"/>
            <a:ext cx="270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9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용어 해석·검증까지 AI가 전부 떠안습니다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53712" y="3340000"/>
            <a:ext cx="3297680" cy="46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73712" y="3340000"/>
            <a:ext cx="296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0D9488"/>
                </a:solidFill>
                <a:latin typeface="SUIT"/>
                <a:ea typeface="SUIT"/>
                <a:cs typeface="SUIT"/>
              </a:rPr>
              <a:t>✓  </a:t>
            </a:r>
            <a:r>
              <a:rPr sz="890" b="0">
                <a:solidFill>
                  <a:srgbClr val="0F172A"/>
                </a:solidFill>
                <a:latin typeface="SUIT"/>
                <a:ea typeface="SUIT"/>
                <a:cs typeface="SUIT"/>
              </a:rPr>
              <a:t>검증은 지식 그래프가 맡고 AI는 분석에 집중합니다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" y="3860000"/>
            <a:ext cx="1700000" cy="460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6032" y="3860000"/>
            <a:ext cx="170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기능 활용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6032" y="3860000"/>
            <a:ext cx="3297680" cy="4600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>
              <a:solidFill>
                <a:schemeClr val="lt1"/>
              </a:solidFill>
            </a:endParaRPr>
          </a:p>
        </p:txBody>
      </p:sp>
      <p:sp>
        <p:nvSpPr>
          <p:cNvPr id="41" name="Isosceles Triangle 40"/>
          <p:cNvSpPr/>
          <p:nvPr/>
        </p:nvSpPr>
        <p:spPr>
          <a:xfrm>
            <a:off x="2306032" y="3995000"/>
            <a:ext cx="190000" cy="190000"/>
          </a:xfrm>
          <a:prstGeom prst="triangle">
            <a:avLst/>
          </a:prstGeom>
          <a:solidFill>
            <a:srgbClr val="C2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200"/>
              </a:spcBef>
            </a:pPr>
            <a:r>
              <a:rPr sz="7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86032" y="3860000"/>
            <a:ext cx="270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9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매번 모든 기능을 동원해 비효율이 큽니다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53712" y="3860000"/>
            <a:ext cx="3297680" cy="46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773712" y="3860000"/>
            <a:ext cx="296768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0D9488"/>
                </a:solidFill>
                <a:latin typeface="SUIT"/>
                <a:ea typeface="SUIT"/>
                <a:cs typeface="SUIT"/>
              </a:rPr>
              <a:t>✓  </a:t>
            </a:r>
            <a:r>
              <a:rPr sz="890" b="0">
                <a:solidFill>
                  <a:srgbClr val="0F172A"/>
                </a:solidFill>
                <a:latin typeface="SUIT"/>
                <a:ea typeface="SUIT"/>
                <a:cs typeface="SUIT"/>
              </a:rPr>
              <a:t>질문 맥락을 이해해 필요한 기능만 호출합니다 (설계 중)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032" y="4400000"/>
            <a:ext cx="81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0D9488"/>
                </a:solidFill>
                <a:latin typeface="SUIT ExtraBold"/>
                <a:ea typeface="SUIT ExtraBold"/>
                <a:cs typeface="SUIT ExtraBold"/>
              </a:rPr>
              <a:t>간단히 말하자면</a:t>
            </a:r>
            <a:r>
              <a:rPr sz="1000" b="1" dirty="0">
                <a:solidFill>
                  <a:srgbClr val="13CEC4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0" dirty="0" err="1">
                <a:latin typeface="SUIT"/>
                <a:ea typeface="SUIT"/>
                <a:cs typeface="SUIT"/>
              </a:rPr>
              <a:t>대충</a:t>
            </a:r>
            <a:r>
              <a:rPr sz="950" b="0" dirty="0">
                <a:latin typeface="SUIT"/>
                <a:ea typeface="SUIT"/>
                <a:cs typeface="SUIT"/>
              </a:rPr>
              <a:t> </a:t>
            </a:r>
            <a:r>
              <a:rPr sz="950" b="0" dirty="0" err="1">
                <a:latin typeface="SUIT"/>
                <a:ea typeface="SUIT"/>
                <a:cs typeface="SUIT"/>
              </a:rPr>
              <a:t>물어봐도</a:t>
            </a:r>
            <a:r>
              <a:rPr sz="950" b="0" dirty="0">
                <a:latin typeface="SUIT"/>
                <a:ea typeface="SUIT"/>
                <a:cs typeface="SUIT"/>
              </a:rPr>
              <a:t> </a:t>
            </a:r>
            <a:r>
              <a:rPr sz="950" b="1" dirty="0" err="1">
                <a:latin typeface="SUIT"/>
                <a:ea typeface="SUIT"/>
                <a:cs typeface="SUIT"/>
              </a:rPr>
              <a:t>기준정보·지표를</a:t>
            </a:r>
            <a:r>
              <a:rPr sz="950" b="1" dirty="0">
                <a:latin typeface="SUIT"/>
                <a:ea typeface="SUIT"/>
                <a:cs typeface="SUIT"/>
              </a:rPr>
              <a:t> </a:t>
            </a:r>
            <a:r>
              <a:rPr sz="950" b="1" dirty="0" err="1">
                <a:latin typeface="SUIT"/>
                <a:ea typeface="SUIT"/>
                <a:cs typeface="SUIT"/>
              </a:rPr>
              <a:t>표준으로</a:t>
            </a:r>
            <a:r>
              <a:rPr sz="950" b="1" dirty="0">
                <a:latin typeface="SUIT"/>
                <a:ea typeface="SUIT"/>
                <a:cs typeface="SUIT"/>
              </a:rPr>
              <a:t> </a:t>
            </a:r>
            <a:r>
              <a:rPr sz="950" b="1" dirty="0" err="1">
                <a:latin typeface="SUIT"/>
                <a:ea typeface="SUIT"/>
                <a:cs typeface="SUIT"/>
              </a:rPr>
              <a:t>또렷하게</a:t>
            </a:r>
            <a:r>
              <a:rPr sz="950" b="1" dirty="0">
                <a:latin typeface="SUIT"/>
                <a:ea typeface="SUIT"/>
                <a:cs typeface="SUIT"/>
              </a:rPr>
              <a:t> </a:t>
            </a:r>
            <a:r>
              <a:rPr sz="950" b="1" dirty="0" err="1">
                <a:latin typeface="SUIT"/>
                <a:ea typeface="SUIT"/>
                <a:cs typeface="SUIT"/>
              </a:rPr>
              <a:t>인식</a:t>
            </a:r>
            <a:r>
              <a:rPr sz="950" b="0" dirty="0" err="1">
                <a:latin typeface="SUIT"/>
                <a:ea typeface="SUIT"/>
                <a:cs typeface="SUIT"/>
              </a:rPr>
              <a:t>하고</a:t>
            </a:r>
            <a:r>
              <a:rPr sz="950" b="0" dirty="0">
                <a:latin typeface="SUIT"/>
                <a:ea typeface="SUIT"/>
                <a:cs typeface="SUIT"/>
              </a:rPr>
              <a:t>, </a:t>
            </a:r>
            <a:r>
              <a:rPr sz="950" b="0" dirty="0" err="1">
                <a:latin typeface="SUIT"/>
                <a:ea typeface="SUIT"/>
                <a:cs typeface="SUIT"/>
              </a:rPr>
              <a:t>검증은</a:t>
            </a:r>
            <a:r>
              <a:rPr sz="950" b="0" dirty="0">
                <a:latin typeface="SUIT"/>
                <a:ea typeface="SUIT"/>
                <a:cs typeface="SUIT"/>
              </a:rPr>
              <a:t> </a:t>
            </a:r>
            <a:r>
              <a:rPr sz="950" b="0" dirty="0" err="1">
                <a:latin typeface="SUIT"/>
                <a:ea typeface="SUIT"/>
                <a:cs typeface="SUIT"/>
              </a:rPr>
              <a:t>지식</a:t>
            </a:r>
            <a:r>
              <a:rPr sz="950" b="0" dirty="0">
                <a:latin typeface="SUIT"/>
                <a:ea typeface="SUIT"/>
                <a:cs typeface="SUIT"/>
              </a:rPr>
              <a:t> </a:t>
            </a:r>
            <a:r>
              <a:rPr sz="950" b="0" dirty="0" err="1">
                <a:latin typeface="SUIT"/>
                <a:ea typeface="SUIT"/>
                <a:cs typeface="SUIT"/>
              </a:rPr>
              <a:t>그래프가</a:t>
            </a:r>
            <a:r>
              <a:rPr sz="950" b="0" dirty="0">
                <a:solidFill>
                  <a:srgbClr val="E2E8F0"/>
                </a:solidFill>
                <a:latin typeface="SUIT"/>
                <a:ea typeface="SUIT"/>
                <a:cs typeface="SUIT"/>
              </a:rPr>
              <a:t>, </a:t>
            </a:r>
            <a:r>
              <a:rPr sz="950" b="1" dirty="0" err="1">
                <a:solidFill>
                  <a:srgbClr val="0D9488"/>
                </a:solidFill>
                <a:latin typeface="SUIT"/>
                <a:ea typeface="SUIT"/>
                <a:cs typeface="SUIT"/>
              </a:rPr>
              <a:t>분석은</a:t>
            </a:r>
            <a:r>
              <a:rPr sz="950" b="1" dirty="0">
                <a:solidFill>
                  <a:srgbClr val="0D9488"/>
                </a:solidFill>
                <a:latin typeface="SUIT"/>
                <a:ea typeface="SUIT"/>
                <a:cs typeface="SUIT"/>
              </a:rPr>
              <a:t> </a:t>
            </a:r>
            <a:r>
              <a:rPr sz="950" b="1" dirty="0" err="1">
                <a:solidFill>
                  <a:srgbClr val="0D9488"/>
                </a:solidFill>
                <a:latin typeface="SUIT"/>
                <a:ea typeface="SUIT"/>
                <a:cs typeface="SUIT"/>
              </a:rPr>
              <a:t>AI</a:t>
            </a:r>
            <a:r>
              <a:rPr sz="950" b="0" dirty="0" err="1">
                <a:latin typeface="SUIT"/>
                <a:ea typeface="SUIT"/>
                <a:cs typeface="SUIT"/>
              </a:rPr>
              <a:t>가</a:t>
            </a:r>
            <a:r>
              <a:rPr sz="950" b="0" dirty="0">
                <a:latin typeface="SUIT"/>
                <a:ea typeface="SUIT"/>
                <a:cs typeface="SUIT"/>
              </a:rPr>
              <a:t> </a:t>
            </a:r>
            <a:r>
              <a:rPr sz="950" b="0" dirty="0" err="1">
                <a:latin typeface="SUIT"/>
                <a:ea typeface="SUIT"/>
                <a:cs typeface="SUIT"/>
              </a:rPr>
              <a:t>맡아</a:t>
            </a:r>
            <a:r>
              <a:rPr sz="950" b="0" dirty="0">
                <a:latin typeface="SUIT"/>
                <a:ea typeface="SUIT"/>
                <a:cs typeface="SUIT"/>
              </a:rPr>
              <a:t> </a:t>
            </a:r>
            <a:r>
              <a:rPr sz="950" b="0" dirty="0" err="1">
                <a:latin typeface="SUIT"/>
                <a:ea typeface="SUIT"/>
                <a:cs typeface="SUIT"/>
              </a:rPr>
              <a:t>각자</a:t>
            </a:r>
            <a:r>
              <a:rPr sz="950" b="0" dirty="0">
                <a:latin typeface="SUIT"/>
                <a:ea typeface="SUIT"/>
                <a:cs typeface="SUIT"/>
              </a:rPr>
              <a:t> </a:t>
            </a:r>
            <a:r>
              <a:rPr sz="950" b="0" dirty="0" err="1">
                <a:latin typeface="SUIT"/>
                <a:ea typeface="SUIT"/>
                <a:cs typeface="SUIT"/>
              </a:rPr>
              <a:t>잘하는</a:t>
            </a:r>
            <a:r>
              <a:rPr sz="950" b="0" dirty="0">
                <a:latin typeface="SUIT"/>
                <a:ea typeface="SUIT"/>
                <a:cs typeface="SUIT"/>
              </a:rPr>
              <a:t> </a:t>
            </a:r>
            <a:r>
              <a:rPr sz="950" b="0" dirty="0" err="1">
                <a:latin typeface="SUIT"/>
                <a:ea typeface="SUIT"/>
                <a:cs typeface="SUIT"/>
              </a:rPr>
              <a:t>일에</a:t>
            </a:r>
            <a:r>
              <a:rPr sz="950" b="0" dirty="0">
                <a:latin typeface="SUIT"/>
                <a:ea typeface="SUIT"/>
                <a:cs typeface="SUIT"/>
              </a:rPr>
              <a:t> </a:t>
            </a:r>
            <a:r>
              <a:rPr sz="950" b="0" dirty="0" err="1">
                <a:latin typeface="SUIT"/>
                <a:ea typeface="SUIT"/>
                <a:cs typeface="SUIT"/>
              </a:rPr>
              <a:t>집중합니다</a:t>
            </a:r>
            <a:r>
              <a:rPr sz="950" b="0" dirty="0">
                <a:latin typeface="SUIT"/>
                <a:ea typeface="SUIT"/>
                <a:cs typeface="SUI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7208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4">
            <a:extLst>
              <a:ext uri="{FF2B5EF4-FFF2-40B4-BE49-F238E27FC236}">
                <a16:creationId xmlns:a16="http://schemas.microsoft.com/office/drawing/2014/main" id="{6F493979-525F-725E-89A2-B11FD26864C1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지식 그래프가 의미를 찾아가는 방식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02 ·  Solution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45000"/>
            <a:ext cx="859536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00" b="1">
                <a:solidFill>
                  <a:srgbClr val="0D9488"/>
                </a:solidFill>
                <a:cs typeface="SUIT"/>
              </a:rPr>
              <a:t>기준정보·지표·조건</a:t>
            </a:r>
            <a:r>
              <a:rPr sz="1000" b="0">
                <a:solidFill>
                  <a:srgbClr val="334155"/>
                </a:solidFill>
                <a:cs typeface="SUIT"/>
              </a:rPr>
              <a:t>(라벨)과 각 항목의 </a:t>
            </a:r>
            <a:r>
              <a:rPr sz="1000" b="1">
                <a:solidFill>
                  <a:srgbClr val="0D9488"/>
                </a:solidFill>
                <a:cs typeface="SUIT"/>
              </a:rPr>
              <a:t>표준 의미</a:t>
            </a:r>
            <a:r>
              <a:rPr sz="1000" b="0">
                <a:solidFill>
                  <a:srgbClr val="334155"/>
                </a:solidFill>
                <a:cs typeface="SUIT"/>
              </a:rPr>
              <a:t>(노드), 그 사이의 </a:t>
            </a:r>
            <a:r>
              <a:rPr sz="1000" b="1">
                <a:solidFill>
                  <a:srgbClr val="0D9488"/>
                </a:solidFill>
                <a:cs typeface="SUIT"/>
              </a:rPr>
              <a:t>연결 관계</a:t>
            </a:r>
            <a:r>
              <a:rPr sz="1000" b="0">
                <a:solidFill>
                  <a:srgbClr val="334155"/>
                </a:solidFill>
                <a:cs typeface="SUIT"/>
              </a:rPr>
              <a:t>를 정교하게 설계해 둡니다.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00" b="0">
                <a:solidFill>
                  <a:srgbClr val="334155"/>
                </a:solidFill>
                <a:cs typeface="SUIT"/>
              </a:rPr>
              <a:t>이 지식 그래프가 촘촘할수록, 사용자가 어떻게 묻든 </a:t>
            </a:r>
            <a:r>
              <a:rPr sz="1000" b="1">
                <a:solidFill>
                  <a:srgbClr val="0F172A"/>
                </a:solidFill>
                <a:cs typeface="SUIT"/>
              </a:rPr>
              <a:t>분석에 필요한 정확한 대상을 찾아냅니다.</a:t>
            </a:r>
          </a:p>
        </p:txBody>
      </p:sp>
      <p:pic>
        <p:nvPicPr>
          <p:cNvPr id="5" name="Picture 4" descr="graph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33409"/>
            <a:ext cx="5750000" cy="34910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6032" y="1213409"/>
            <a:ext cx="5790000" cy="3531071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EB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6032" y="1293409"/>
            <a:ext cx="300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00" b="1">
                <a:solidFill>
                  <a:srgbClr val="64748B"/>
                </a:solidFill>
                <a:latin typeface="SUIT"/>
                <a:ea typeface="SUIT"/>
                <a:cs typeface="SUIT"/>
              </a:rPr>
              <a:t>KNOWLEDGE GRAPH VIEW</a:t>
            </a:r>
          </a:p>
        </p:txBody>
      </p:sp>
      <p:sp>
        <p:nvSpPr>
          <p:cNvPr id="8" name="Oval 7"/>
          <p:cNvSpPr/>
          <p:nvPr/>
        </p:nvSpPr>
        <p:spPr>
          <a:xfrm>
            <a:off x="286032" y="4827390"/>
            <a:ext cx="150000" cy="1500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6032" y="477989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분석</a:t>
            </a:r>
            <a:r>
              <a:rPr sz="8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기준</a:t>
            </a:r>
            <a:r>
              <a:rPr sz="8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(</a:t>
            </a: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법인·제품군</a:t>
            </a:r>
            <a:r>
              <a:rPr sz="8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)</a:t>
            </a:r>
          </a:p>
        </p:txBody>
      </p:sp>
      <p:sp>
        <p:nvSpPr>
          <p:cNvPr id="10" name="Oval 9"/>
          <p:cNvSpPr/>
          <p:nvPr/>
        </p:nvSpPr>
        <p:spPr>
          <a:xfrm>
            <a:off x="1595259" y="4827390"/>
            <a:ext cx="150000" cy="1500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95259" y="4779890"/>
            <a:ext cx="1059227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측정</a:t>
            </a:r>
            <a:r>
              <a:rPr sz="8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지표</a:t>
            </a:r>
            <a:r>
              <a:rPr sz="8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(</a:t>
            </a: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매출·손익</a:t>
            </a:r>
            <a:r>
              <a:rPr sz="8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)</a:t>
            </a:r>
          </a:p>
        </p:txBody>
      </p:sp>
      <p:sp>
        <p:nvSpPr>
          <p:cNvPr id="12" name="Oval 11"/>
          <p:cNvSpPr/>
          <p:nvPr/>
        </p:nvSpPr>
        <p:spPr>
          <a:xfrm>
            <a:off x="2869695" y="4827390"/>
            <a:ext cx="150000" cy="15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9695" y="4779890"/>
            <a:ext cx="87614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확정된</a:t>
            </a:r>
            <a:r>
              <a:rPr sz="8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값·조건</a:t>
            </a:r>
            <a:endParaRPr sz="800" b="0" dirty="0">
              <a:solidFill>
                <a:srgbClr val="334155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366032" y="1584126"/>
            <a:ext cx="360000" cy="3600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6032" y="1584126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46032" y="1944126"/>
            <a:ext cx="0" cy="650000"/>
          </a:xfrm>
          <a:prstGeom prst="bentConnector3">
            <a:avLst/>
          </a:prstGeom>
          <a:ln w="19050">
            <a:solidFill>
              <a:srgbClr val="0D94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46032" y="1594126"/>
            <a:ext cx="200536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무엇을 묻는지 분류  </a:t>
            </a:r>
            <a:r>
              <a:rPr sz="850" b="1">
                <a:solidFill>
                  <a:srgbClr val="0D9488"/>
                </a:solidFill>
                <a:latin typeface="SUIT"/>
                <a:ea typeface="SUIT"/>
                <a:cs typeface="SUIT"/>
              </a:rPr>
              <a:t>(라벨)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6032" y="1874126"/>
            <a:ext cx="200536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0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질문 속 단어가 분석 기준인지·측정 지표인지·조건인지 종류를 먼저 가립니다.</a:t>
            </a:r>
          </a:p>
        </p:txBody>
      </p:sp>
      <p:sp>
        <p:nvSpPr>
          <p:cNvPr id="19" name="Oval 18"/>
          <p:cNvSpPr/>
          <p:nvPr/>
        </p:nvSpPr>
        <p:spPr>
          <a:xfrm>
            <a:off x="6366032" y="2594126"/>
            <a:ext cx="360000" cy="3600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6032" y="2594126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46032" y="2954126"/>
            <a:ext cx="0" cy="650000"/>
          </a:xfrm>
          <a:prstGeom prst="bentConnector3">
            <a:avLst/>
          </a:prstGeom>
          <a:ln w="19050">
            <a:solidFill>
              <a:srgbClr val="8B5CF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46032" y="2604126"/>
            <a:ext cx="200536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정확한 의미로 특정  </a:t>
            </a:r>
            <a:r>
              <a:rPr sz="850" b="1">
                <a:solidFill>
                  <a:srgbClr val="8B5CF6"/>
                </a:solidFill>
                <a:latin typeface="SUIT"/>
                <a:ea typeface="SUIT"/>
                <a:cs typeface="SUIT"/>
              </a:rPr>
              <a:t>(노드)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6032" y="2884126"/>
            <a:ext cx="200536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0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“냉장고=REF”처럼 표준 용어로 바꿔 사용자가 찾는 정확한 대상을 집어냅니다.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6366032" y="3604126"/>
            <a:ext cx="360000" cy="36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6032" y="3604126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6032" y="3614126"/>
            <a:ext cx="200536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연결을 따라 검증  </a:t>
            </a:r>
            <a:r>
              <a:rPr sz="850" b="1">
                <a:solidFill>
                  <a:srgbClr val="0070C0"/>
                </a:solidFill>
                <a:latin typeface="SUIT"/>
                <a:ea typeface="SUIT"/>
                <a:cs typeface="SUIT"/>
              </a:rPr>
              <a:t>(관계)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6032" y="3894126"/>
            <a:ext cx="200536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0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그 조합이 실제로 분석 가능한지 데이터 간 연결을 따라 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608" y="1460428"/>
            <a:ext cx="5713424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※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그림은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이해를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돕기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위한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개념도입니다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.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라벨·속성·관계의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상세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정의는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별도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설계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문서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(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온톨로지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스키마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)로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일원화해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관리됩니다</a:t>
            </a:r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SUIT"/>
                <a:ea typeface="SUIT"/>
                <a:cs typeface="SUI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9114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4">
            <a:extLst>
              <a:ext uri="{FF2B5EF4-FFF2-40B4-BE49-F238E27FC236}">
                <a16:creationId xmlns:a16="http://schemas.microsoft.com/office/drawing/2014/main" id="{69FDDDF8-5C33-641D-E50A-2BDB0A06B0A2}"/>
              </a:ext>
            </a:extLst>
          </p:cNvPr>
          <p:cNvSpPr/>
          <p:nvPr/>
        </p:nvSpPr>
        <p:spPr>
          <a:xfrm>
            <a:off x="0" y="563349"/>
            <a:ext cx="9144000" cy="433159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94" name="Rounded Rectangle 11">
            <a:extLst>
              <a:ext uri="{FF2B5EF4-FFF2-40B4-BE49-F238E27FC236}">
                <a16:creationId xmlns:a16="http://schemas.microsoft.com/office/drawing/2014/main" id="{E7C70ADD-D223-79F0-EBC8-483C0FB3FB1F}"/>
              </a:ext>
            </a:extLst>
          </p:cNvPr>
          <p:cNvSpPr/>
          <p:nvPr/>
        </p:nvSpPr>
        <p:spPr>
          <a:xfrm>
            <a:off x="5044360" y="1938440"/>
            <a:ext cx="3787032" cy="1746560"/>
          </a:xfrm>
          <a:prstGeom prst="roundRect">
            <a:avLst>
              <a:gd name="adj" fmla="val 3029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>
              <a:solidFill>
                <a:schemeClr val="lt1"/>
              </a:solidFill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95B6E5C9-789D-7A3A-18B5-680D00942104}"/>
              </a:ext>
            </a:extLst>
          </p:cNvPr>
          <p:cNvCxnSpPr>
            <a:stCxn id="66" idx="0"/>
            <a:endCxn id="81" idx="2"/>
          </p:cNvCxnSpPr>
          <p:nvPr/>
        </p:nvCxnSpPr>
        <p:spPr>
          <a:xfrm>
            <a:off x="5412628" y="2223834"/>
            <a:ext cx="0" cy="132038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1단계 모호한 질문이 명확한 의도로 전달되는 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02 ·  Solution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2476" y="645000"/>
            <a:ext cx="76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334155"/>
                </a:solidFill>
                <a:cs typeface="SUIT"/>
              </a:rPr>
              <a:t>아래는 </a:t>
            </a:r>
            <a:r>
              <a:rPr sz="1000" b="1">
                <a:solidFill>
                  <a:srgbClr val="0F172A"/>
                </a:solidFill>
                <a:cs typeface="SUIT"/>
              </a:rPr>
              <a:t>한 가지 예시</a:t>
            </a:r>
            <a:r>
              <a:rPr sz="1000" b="0">
                <a:solidFill>
                  <a:srgbClr val="334155"/>
                </a:solidFill>
                <a:cs typeface="SUIT"/>
              </a:rPr>
              <a:t>입니다. 모호한 질문을 단계별로 되물어 </a:t>
            </a:r>
            <a:r>
              <a:rPr sz="1000" b="1">
                <a:solidFill>
                  <a:srgbClr val="0D9488"/>
                </a:solidFill>
                <a:cs typeface="SUIT"/>
              </a:rPr>
              <a:t>분석 가능한 의도로 확정</a:t>
            </a:r>
            <a:r>
              <a:rPr sz="1000" b="0">
                <a:solidFill>
                  <a:srgbClr val="334155"/>
                </a:solidFill>
                <a:cs typeface="SUIT"/>
              </a:rPr>
              <a:t>해 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244" y="1280000"/>
            <a:ext cx="408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500" b="1" dirty="0">
                <a:latin typeface="SUIT ExtraBold"/>
                <a:ea typeface="SUIT ExtraBold"/>
                <a:cs typeface="SUIT ExtraBold"/>
              </a:rPr>
              <a:t>“2025년 </a:t>
            </a:r>
            <a:r>
              <a:rPr sz="1500" b="1" dirty="0" err="1">
                <a:latin typeface="SUIT ExtraBold"/>
                <a:ea typeface="SUIT ExtraBold"/>
                <a:cs typeface="SUIT ExtraBold"/>
              </a:rPr>
              <a:t>유럽</a:t>
            </a:r>
            <a:r>
              <a:rPr sz="1500" b="1" dirty="0">
                <a:latin typeface="SUIT ExtraBold"/>
                <a:ea typeface="SUIT ExtraBold"/>
                <a:cs typeface="SUIT ExtraBold"/>
              </a:rPr>
              <a:t> </a:t>
            </a:r>
            <a:r>
              <a:rPr lang="en-US" sz="1500" b="1" dirty="0">
                <a:latin typeface="SUIT ExtraBold"/>
                <a:ea typeface="SUIT ExtraBold"/>
                <a:cs typeface="SUIT ExtraBold"/>
              </a:rPr>
              <a:t>A</a:t>
            </a:r>
            <a:r>
              <a:rPr lang="ko-KR" altLang="en-US" sz="1500" b="1" dirty="0">
                <a:latin typeface="SUIT ExtraBold"/>
                <a:ea typeface="SUIT ExtraBold"/>
                <a:cs typeface="SUIT ExtraBold"/>
              </a:rPr>
              <a:t>제품</a:t>
            </a:r>
            <a:r>
              <a:rPr sz="1500" b="1" dirty="0">
                <a:latin typeface="SUIT ExtraBold"/>
                <a:ea typeface="SUIT ExtraBold"/>
                <a:cs typeface="SUIT ExtraBold"/>
              </a:rPr>
              <a:t> </a:t>
            </a:r>
            <a:r>
              <a:rPr sz="1500" b="1" dirty="0" err="1">
                <a:latin typeface="SUIT ExtraBold"/>
                <a:ea typeface="SUIT ExtraBold"/>
                <a:cs typeface="SUIT ExtraBold"/>
              </a:rPr>
              <a:t>매출</a:t>
            </a:r>
            <a:r>
              <a:rPr sz="1500" b="1" dirty="0">
                <a:latin typeface="SUIT ExtraBold"/>
                <a:ea typeface="SUIT ExtraBold"/>
                <a:cs typeface="SUIT ExtraBold"/>
              </a:rPr>
              <a:t> </a:t>
            </a:r>
            <a:r>
              <a:rPr sz="1500" b="1" dirty="0" err="1">
                <a:latin typeface="SUIT ExtraBold"/>
                <a:ea typeface="SUIT ExtraBold"/>
                <a:cs typeface="SUIT ExtraBold"/>
              </a:rPr>
              <a:t>분석해줘</a:t>
            </a:r>
            <a:r>
              <a:rPr sz="1500" b="1" dirty="0">
                <a:latin typeface="SUIT ExtraBold"/>
                <a:ea typeface="SUIT ExtraBold"/>
                <a:cs typeface="SUIT ExtraBold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572" y="1504750"/>
            <a:ext cx="408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5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제품을</a:t>
            </a:r>
            <a:r>
              <a:rPr sz="8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5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해외</a:t>
            </a:r>
            <a:r>
              <a:rPr sz="8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5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판매법인으로</a:t>
            </a:r>
            <a:r>
              <a:rPr sz="8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5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판매하는</a:t>
            </a:r>
            <a:r>
              <a:rPr sz="8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5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회사</a:t>
            </a:r>
            <a:r>
              <a:rPr sz="8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5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</a:rPr>
              <a:t>기준</a:t>
            </a:r>
            <a:endParaRPr sz="850" b="0" dirty="0">
              <a:solidFill>
                <a:schemeClr val="tx1">
                  <a:lumMod val="50000"/>
                  <a:lumOff val="50000"/>
                </a:schemeClr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95366" y="1143452"/>
            <a:ext cx="367536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950" b="1" dirty="0" err="1">
                <a:solidFill>
                  <a:srgbClr val="9A3412"/>
                </a:solidFill>
                <a:latin typeface="SUIT"/>
                <a:ea typeface="SUIT"/>
                <a:cs typeface="SUIT"/>
              </a:rPr>
              <a:t>이대로는</a:t>
            </a:r>
            <a:r>
              <a:rPr sz="950" b="1" dirty="0">
                <a:solidFill>
                  <a:srgbClr val="9A3412"/>
                </a:solidFill>
                <a:latin typeface="SUIT"/>
                <a:ea typeface="SUIT"/>
                <a:cs typeface="SUIT"/>
              </a:rPr>
              <a:t> </a:t>
            </a:r>
            <a:r>
              <a:rPr sz="950" b="1" dirty="0" err="1">
                <a:solidFill>
                  <a:srgbClr val="9A3412"/>
                </a:solidFill>
                <a:latin typeface="SUIT"/>
                <a:ea typeface="SUIT"/>
                <a:cs typeface="SUIT"/>
              </a:rPr>
              <a:t>막연</a:t>
            </a:r>
            <a:r>
              <a:rPr sz="950" b="1" dirty="0">
                <a:solidFill>
                  <a:srgbClr val="9A3412"/>
                </a:solidFill>
                <a:latin typeface="SUIT"/>
                <a:ea typeface="SUIT"/>
                <a:cs typeface="SUIT"/>
              </a:rPr>
              <a:t> — </a:t>
            </a:r>
            <a:r>
              <a:rPr sz="950" b="1" dirty="0" err="1">
                <a:solidFill>
                  <a:srgbClr val="9A3412"/>
                </a:solidFill>
                <a:latin typeface="SUIT"/>
                <a:ea typeface="SUIT"/>
                <a:cs typeface="SUIT"/>
              </a:rPr>
              <a:t>무엇이</a:t>
            </a:r>
            <a:r>
              <a:rPr sz="950" b="1" dirty="0">
                <a:solidFill>
                  <a:srgbClr val="9A3412"/>
                </a:solidFill>
                <a:latin typeface="SUIT"/>
                <a:ea typeface="SUIT"/>
                <a:cs typeface="SUIT"/>
              </a:rPr>
              <a:t> </a:t>
            </a:r>
            <a:r>
              <a:rPr sz="950" b="1" dirty="0" err="1">
                <a:solidFill>
                  <a:srgbClr val="9A3412"/>
                </a:solidFill>
                <a:latin typeface="SUIT"/>
                <a:ea typeface="SUIT"/>
                <a:cs typeface="SUIT"/>
              </a:rPr>
              <a:t>불명확</a:t>
            </a:r>
            <a:r>
              <a:rPr sz="950" b="1" dirty="0">
                <a:solidFill>
                  <a:srgbClr val="9A3412"/>
                </a:solidFill>
                <a:latin typeface="SUIT"/>
                <a:ea typeface="SUIT"/>
                <a:cs typeface="SUIT"/>
              </a:rPr>
              <a:t>?</a:t>
            </a:r>
          </a:p>
        </p:txBody>
      </p:sp>
      <p:sp>
        <p:nvSpPr>
          <p:cNvPr id="12" name="Oval 11"/>
          <p:cNvSpPr/>
          <p:nvPr/>
        </p:nvSpPr>
        <p:spPr>
          <a:xfrm>
            <a:off x="5306032" y="1388000"/>
            <a:ext cx="70000" cy="7000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56032" y="1330000"/>
            <a:ext cx="3375360" cy="15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‘유럽’은 지역일 뿐, 법인이 아님</a:t>
            </a:r>
          </a:p>
        </p:txBody>
      </p:sp>
      <p:sp>
        <p:nvSpPr>
          <p:cNvPr id="15" name="Oval 14"/>
          <p:cNvSpPr/>
          <p:nvPr/>
        </p:nvSpPr>
        <p:spPr>
          <a:xfrm>
            <a:off x="5306032" y="1563000"/>
            <a:ext cx="70000" cy="7000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56032" y="1505000"/>
            <a:ext cx="3375360" cy="15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‘매출’이 어떤 매출인지 불명확</a:t>
            </a:r>
          </a:p>
        </p:txBody>
      </p:sp>
      <p:sp>
        <p:nvSpPr>
          <p:cNvPr id="18" name="Oval 17"/>
          <p:cNvSpPr/>
          <p:nvPr/>
        </p:nvSpPr>
        <p:spPr>
          <a:xfrm>
            <a:off x="5306032" y="1738000"/>
            <a:ext cx="70000" cy="7000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56032" y="1680000"/>
            <a:ext cx="3375360" cy="15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제품 세부 조건 미지정</a:t>
            </a:r>
          </a:p>
        </p:txBody>
      </p:sp>
      <p:sp>
        <p:nvSpPr>
          <p:cNvPr id="20" name="Rounded Rectangle 19"/>
          <p:cNvSpPr/>
          <p:nvPr/>
        </p:nvSpPr>
        <p:spPr>
          <a:xfrm rot="10800000">
            <a:off x="256032" y="1810900"/>
            <a:ext cx="4560000" cy="660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00D4C5"/>
              </a:gs>
              <a:gs pos="836">
                <a:srgbClr val="00D4C5"/>
              </a:gs>
              <a:gs pos="837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6032" y="1905900"/>
            <a:ext cx="300000" cy="3000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6032" y="19059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1</a:t>
            </a:r>
            <a:endParaRPr sz="1200" b="1" dirty="0">
              <a:solidFill>
                <a:srgbClr val="FFFFFF"/>
              </a:solidFill>
              <a:latin typeface="SUIT ExtraBold"/>
              <a:ea typeface="SUIT ExtraBold"/>
              <a:cs typeface="SUIT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6032" y="1905900"/>
            <a:ext cx="40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지역 → 법인 선택   </a:t>
            </a:r>
            <a:r>
              <a:rPr sz="800" b="0">
                <a:solidFill>
                  <a:srgbClr val="64748B"/>
                </a:solidFill>
                <a:latin typeface="SUIT"/>
                <a:ea typeface="SUIT"/>
                <a:cs typeface="SUIT"/>
              </a:rPr>
              <a:t>‘유럽’은 지역 — 어느 법인?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6032" y="2170900"/>
            <a:ext cx="446000" cy="215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778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6032" y="2170900"/>
            <a:ext cx="446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 영국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17032" y="2170900"/>
            <a:ext cx="544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17032" y="2170900"/>
            <a:ext cx="544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스페인</a:t>
            </a:r>
            <a:endParaRPr sz="800" b="0" dirty="0">
              <a:solidFill>
                <a:srgbClr val="334155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936032" y="2170900"/>
            <a:ext cx="446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36032" y="2170900"/>
            <a:ext cx="446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독일</a:t>
            </a:r>
            <a:endParaRPr sz="800" b="0" dirty="0">
              <a:solidFill>
                <a:srgbClr val="334155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57032" y="2170900"/>
            <a:ext cx="544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57032" y="2170900"/>
            <a:ext cx="544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프랑스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032" y="2470900"/>
            <a:ext cx="240000" cy="1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86C9BF"/>
                </a:solidFill>
                <a:latin typeface="SUIT ExtraBold"/>
                <a:ea typeface="SUIT ExtraBold"/>
                <a:cs typeface="SUIT ExtraBold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 rot="10800000">
            <a:off x="256032" y="2620900"/>
            <a:ext cx="4560000" cy="660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8453F5"/>
              </a:gs>
              <a:gs pos="836">
                <a:srgbClr val="8453F5"/>
              </a:gs>
              <a:gs pos="837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406032" y="2715900"/>
            <a:ext cx="300000" cy="3000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6032" y="27159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2</a:t>
            </a:r>
            <a:endParaRPr sz="1200" b="1" dirty="0">
              <a:solidFill>
                <a:srgbClr val="FFFFFF"/>
              </a:solidFill>
              <a:latin typeface="SUIT ExtraBold"/>
              <a:ea typeface="SUIT ExtraBold"/>
              <a:cs typeface="SUIT Extra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6032" y="2715900"/>
            <a:ext cx="40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매출 지표 특정   </a:t>
            </a:r>
            <a:r>
              <a:rPr sz="800" b="0">
                <a:solidFill>
                  <a:srgbClr val="64748B"/>
                </a:solidFill>
                <a:latin typeface="SUIT"/>
                <a:ea typeface="SUIT"/>
                <a:cs typeface="SUIT"/>
              </a:rPr>
              <a:t>‘매출’ 중 어떤 지표? (복수 가능)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6032" y="2980900"/>
            <a:ext cx="1034000" cy="215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6032" y="2980900"/>
            <a:ext cx="1034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 GMV 총거래액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05032" y="2980900"/>
            <a:ext cx="544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05032" y="2980900"/>
            <a:ext cx="544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순매출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24032" y="2980900"/>
            <a:ext cx="838000" cy="215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24032" y="2980900"/>
            <a:ext cx="838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 Retail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37032" y="2980900"/>
            <a:ext cx="1132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37032" y="2980900"/>
            <a:ext cx="1132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Wholesale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6032" y="3280900"/>
            <a:ext cx="240000" cy="1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86C9BF"/>
                </a:solidFill>
                <a:latin typeface="SUIT ExtraBold"/>
                <a:ea typeface="SUIT ExtraBold"/>
                <a:cs typeface="SUIT ExtraBold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 rot="10800000">
            <a:off x="256032" y="3430900"/>
            <a:ext cx="4560000" cy="660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0070C0"/>
              </a:gs>
              <a:gs pos="836">
                <a:srgbClr val="0070C0"/>
              </a:gs>
              <a:gs pos="837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406032" y="3525900"/>
            <a:ext cx="300000" cy="30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06032" y="35259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3</a:t>
            </a:r>
            <a:endParaRPr sz="1200" b="1" dirty="0">
              <a:solidFill>
                <a:srgbClr val="FFFFFF"/>
              </a:solidFill>
              <a:latin typeface="SUIT ExtraBold"/>
              <a:ea typeface="SUIT ExtraBold"/>
              <a:cs typeface="SUIT ExtraBol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6032" y="3525900"/>
            <a:ext cx="40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1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제품</a:t>
            </a:r>
            <a:r>
              <a:rPr sz="11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11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세부</a:t>
            </a:r>
            <a:r>
              <a:rPr sz="11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11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조건</a:t>
            </a:r>
            <a:r>
              <a:rPr sz="11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  </a:t>
            </a:r>
            <a:r>
              <a:rPr lang="en-US" sz="800" dirty="0">
                <a:solidFill>
                  <a:srgbClr val="64748B"/>
                </a:solidFill>
                <a:latin typeface="SUIT"/>
                <a:ea typeface="SUIT"/>
                <a:cs typeface="SUIT ExtraBold"/>
              </a:rPr>
              <a:t>A</a:t>
            </a:r>
            <a:r>
              <a:rPr lang="ko-KR" altLang="en-US" sz="800" dirty="0">
                <a:solidFill>
                  <a:srgbClr val="64748B"/>
                </a:solidFill>
                <a:latin typeface="SUIT"/>
                <a:ea typeface="SUIT"/>
                <a:cs typeface="SUIT ExtraBold"/>
              </a:rPr>
              <a:t>제품은</a:t>
            </a:r>
            <a:r>
              <a:rPr sz="800" b="0" dirty="0">
                <a:solidFill>
                  <a:srgbClr val="64748B"/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  <a:ea typeface="SUIT"/>
                <a:cs typeface="SUIT"/>
              </a:rPr>
              <a:t>어떤</a:t>
            </a:r>
            <a:r>
              <a:rPr sz="800" b="0" dirty="0">
                <a:solidFill>
                  <a:srgbClr val="64748B"/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rgbClr val="64748B"/>
                </a:solidFill>
                <a:latin typeface="SUIT"/>
                <a:ea typeface="SUIT"/>
                <a:cs typeface="SUIT"/>
              </a:rPr>
              <a:t>구분</a:t>
            </a:r>
            <a:r>
              <a:rPr sz="800" b="0" dirty="0">
                <a:solidFill>
                  <a:srgbClr val="64748B"/>
                </a:solidFill>
                <a:latin typeface="SUIT"/>
                <a:ea typeface="SUIT"/>
                <a:cs typeface="SUIT"/>
              </a:rPr>
              <a:t>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6032" y="3790900"/>
            <a:ext cx="544000" cy="215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778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6032" y="3790900"/>
            <a:ext cx="544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 빌트인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15032" y="3790900"/>
            <a:ext cx="740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415032" y="3790900"/>
            <a:ext cx="740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프리스탠딩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30032" y="3790900"/>
            <a:ext cx="838000" cy="215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778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30032" y="3790900"/>
            <a:ext cx="838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 온라인 채널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143032" y="3790900"/>
            <a:ext cx="936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43032" y="3790900"/>
            <a:ext cx="936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오프라인 채널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76032" y="2001165"/>
            <a:ext cx="367536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000" b="1" dirty="0" err="1">
                <a:solidFill>
                  <a:srgbClr val="334155"/>
                </a:solidFill>
                <a:latin typeface="SUIT ExtraBold"/>
                <a:ea typeface="SUIT ExtraBold"/>
                <a:cs typeface="SUIT ExtraBold"/>
              </a:rPr>
              <a:t>확정되는</a:t>
            </a:r>
            <a:r>
              <a:rPr sz="1000" b="1" dirty="0">
                <a:solidFill>
                  <a:srgbClr val="334155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1000" b="1" dirty="0" err="1">
                <a:solidFill>
                  <a:srgbClr val="334155"/>
                </a:solidFill>
                <a:latin typeface="SUIT ExtraBold"/>
                <a:ea typeface="SUIT ExtraBold"/>
                <a:cs typeface="SUIT ExtraBold"/>
              </a:rPr>
              <a:t>의도</a:t>
            </a:r>
            <a:r>
              <a:rPr lang="en-US" sz="1000" b="1" dirty="0">
                <a:solidFill>
                  <a:srgbClr val="334155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lang="ko-KR" altLang="en-US" sz="1000" b="1" dirty="0">
                <a:solidFill>
                  <a:srgbClr val="334155"/>
                </a:solidFill>
                <a:latin typeface="SUIT ExtraBold"/>
                <a:ea typeface="SUIT ExtraBold"/>
                <a:cs typeface="SUIT ExtraBold"/>
              </a:rPr>
              <a:t>정의</a:t>
            </a:r>
            <a:endParaRPr sz="1000" b="1" dirty="0">
              <a:solidFill>
                <a:srgbClr val="334155"/>
              </a:solidFill>
              <a:latin typeface="SUIT ExtraBold"/>
              <a:ea typeface="SUIT ExtraBold"/>
              <a:cs typeface="SUIT ExtraBold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646567" y="2194657"/>
            <a:ext cx="327536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00" b="1">
                <a:solidFill>
                  <a:srgbClr val="0070C0"/>
                </a:solidFill>
                <a:latin typeface="SUIT"/>
                <a:ea typeface="SUIT"/>
                <a:cs typeface="SUIT"/>
              </a:rPr>
              <a:t>기간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46567" y="2289657"/>
            <a:ext cx="307536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2025년</a:t>
            </a:r>
          </a:p>
        </p:txBody>
      </p:sp>
      <p:sp>
        <p:nvSpPr>
          <p:cNvPr id="65" name="Oval 64"/>
          <p:cNvSpPr/>
          <p:nvPr/>
        </p:nvSpPr>
        <p:spPr>
          <a:xfrm>
            <a:off x="5307436" y="2223834"/>
            <a:ext cx="210383" cy="210383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07436" y="2223834"/>
            <a:ext cx="210383" cy="2103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46567" y="2564657"/>
            <a:ext cx="327536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00" b="1">
                <a:solidFill>
                  <a:srgbClr val="0D9488"/>
                </a:solidFill>
                <a:latin typeface="SUIT"/>
                <a:ea typeface="SUIT"/>
                <a:cs typeface="SUIT"/>
              </a:rPr>
              <a:t>법인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46567" y="2659657"/>
            <a:ext cx="307536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영국 (UK)</a:t>
            </a:r>
          </a:p>
        </p:txBody>
      </p:sp>
      <p:sp>
        <p:nvSpPr>
          <p:cNvPr id="70" name="Oval 69"/>
          <p:cNvSpPr/>
          <p:nvPr/>
        </p:nvSpPr>
        <p:spPr>
          <a:xfrm>
            <a:off x="5307436" y="2593834"/>
            <a:ext cx="210383" cy="210383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307436" y="2593834"/>
            <a:ext cx="210383" cy="2103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46567" y="2934657"/>
            <a:ext cx="327536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00" b="1">
                <a:solidFill>
                  <a:srgbClr val="8B5CF6"/>
                </a:solidFill>
                <a:latin typeface="SUIT"/>
                <a:ea typeface="SUIT"/>
                <a:cs typeface="SUIT"/>
              </a:rPr>
              <a:t>지표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46567" y="3029657"/>
            <a:ext cx="307536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lang="en-US" sz="110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GMV · Retail</a:t>
            </a:r>
            <a:endParaRPr sz="1100" b="1" dirty="0">
              <a:solidFill>
                <a:srgbClr val="0F172A"/>
              </a:solidFill>
              <a:latin typeface="SUIT ExtraBold"/>
              <a:ea typeface="SUIT ExtraBold"/>
              <a:cs typeface="SUIT ExtraBold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5307436" y="2963834"/>
            <a:ext cx="210383" cy="210383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07436" y="2963834"/>
            <a:ext cx="210383" cy="2103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46567" y="3304657"/>
            <a:ext cx="327536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00" b="1">
                <a:solidFill>
                  <a:srgbClr val="0070C0"/>
                </a:solidFill>
                <a:latin typeface="SUIT"/>
                <a:ea typeface="SUIT"/>
                <a:cs typeface="SUIT"/>
              </a:rPr>
              <a:t>세부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46567" y="3399657"/>
            <a:ext cx="307536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빌트인 · 온라인 채널</a:t>
            </a:r>
          </a:p>
        </p:txBody>
      </p:sp>
      <p:sp>
        <p:nvSpPr>
          <p:cNvPr id="80" name="Oval 79"/>
          <p:cNvSpPr/>
          <p:nvPr/>
        </p:nvSpPr>
        <p:spPr>
          <a:xfrm>
            <a:off x="5307436" y="3333834"/>
            <a:ext cx="210383" cy="210383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07436" y="3333834"/>
            <a:ext cx="210383" cy="2103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</a:t>
            </a:r>
          </a:p>
        </p:txBody>
      </p:sp>
      <p:sp>
        <p:nvSpPr>
          <p:cNvPr id="83" name="Isosceles Triangle 82"/>
          <p:cNvSpPr/>
          <p:nvPr/>
        </p:nvSpPr>
        <p:spPr>
          <a:xfrm>
            <a:off x="5356032" y="3805270"/>
            <a:ext cx="180000" cy="180000"/>
          </a:xfrm>
          <a:prstGeom prst="triangle">
            <a:avLst/>
          </a:prstGeom>
          <a:solidFill>
            <a:srgbClr val="C2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200"/>
              </a:spcBef>
            </a:pPr>
            <a:r>
              <a:rPr sz="7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!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26032" y="3795270"/>
            <a:ext cx="315536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B91C1C"/>
                </a:solidFill>
                <a:latin typeface="SUIT ExtraBold"/>
                <a:ea typeface="SUIT ExtraBold"/>
                <a:cs typeface="SUIT ExtraBold"/>
              </a:rPr>
              <a:t>입구에서 막히는 경우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76032" y="4035270"/>
            <a:ext cx="329536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334155"/>
                </a:solidFill>
                <a:latin typeface="SUIT"/>
                <a:ea typeface="SUIT"/>
                <a:cs typeface="SUIT"/>
              </a:rPr>
              <a:t>미학습 지표·무관한 질문은 되묻지 않고 ‘분석할 수 없습니다’로 차단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56032" y="4375390"/>
            <a:ext cx="8595360" cy="47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456032" y="4505390"/>
            <a:ext cx="1080000" cy="230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✓ CLEAR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56032" y="4450390"/>
            <a:ext cx="700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9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최종</a:t>
            </a:r>
            <a:r>
              <a:rPr sz="9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확정된</a:t>
            </a:r>
            <a:r>
              <a:rPr sz="9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의도</a:t>
            </a:r>
            <a:r>
              <a:rPr lang="en-US" sz="9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-</a:t>
            </a:r>
            <a:r>
              <a:rPr sz="9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분석</a:t>
            </a:r>
            <a:r>
              <a:rPr sz="9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가능</a:t>
            </a:r>
            <a:r>
              <a:rPr sz="9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, </a:t>
            </a:r>
            <a:r>
              <a:rPr sz="9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다음</a:t>
            </a:r>
            <a:r>
              <a:rPr sz="9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단계로</a:t>
            </a:r>
            <a:r>
              <a:rPr sz="9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전달</a:t>
            </a:r>
            <a:endParaRPr sz="950" b="1" dirty="0">
              <a:solidFill>
                <a:srgbClr val="0F172A"/>
              </a:solidFill>
              <a:latin typeface="SUIT ExtraBold"/>
              <a:ea typeface="SUIT ExtraBold"/>
              <a:cs typeface="SUIT ExtraBold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656032" y="4665390"/>
            <a:ext cx="700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“2025년 </a:t>
            </a:r>
            <a:r>
              <a:rPr sz="83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영국</a:t>
            </a:r>
            <a:r>
              <a:rPr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83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법인의</a:t>
            </a:r>
            <a:r>
              <a:rPr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lang="en-US"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A</a:t>
            </a:r>
            <a:r>
              <a:rPr lang="ko-KR" altLang="en-US"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제품</a:t>
            </a:r>
            <a:r>
              <a:rPr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· </a:t>
            </a:r>
            <a:r>
              <a:rPr sz="83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온라인</a:t>
            </a:r>
            <a:r>
              <a:rPr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lang="en-US" altLang="ko-KR" sz="830" dirty="0">
                <a:solidFill>
                  <a:srgbClr val="334155"/>
                </a:solidFill>
                <a:ea typeface="SUIT"/>
              </a:rPr>
              <a:t>· </a:t>
            </a:r>
            <a:r>
              <a:rPr lang="ko-KR" altLang="en-US" sz="83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오프라인</a:t>
            </a:r>
            <a:r>
              <a:rPr lang="ko-KR" altLang="en-US" sz="830" dirty="0">
                <a:solidFill>
                  <a:srgbClr val="334155"/>
                </a:solidFill>
                <a:ea typeface="SUIT"/>
              </a:rPr>
              <a:t> </a:t>
            </a:r>
            <a:r>
              <a:rPr lang="en-US" altLang="ko-KR" sz="830" dirty="0">
                <a:solidFill>
                  <a:srgbClr val="334155"/>
                </a:solidFill>
                <a:ea typeface="SUIT"/>
              </a:rPr>
              <a:t>, GMV· </a:t>
            </a:r>
            <a:r>
              <a:rPr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Retail </a:t>
            </a:r>
            <a:r>
              <a:rPr sz="83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매출</a:t>
            </a:r>
            <a:r>
              <a:rPr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83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분석</a:t>
            </a:r>
            <a:r>
              <a:rPr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” </a:t>
            </a:r>
            <a:r>
              <a:rPr sz="83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으로</a:t>
            </a:r>
            <a:r>
              <a:rPr sz="83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83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확정</a:t>
            </a:r>
            <a:endParaRPr sz="830" b="0" dirty="0">
              <a:solidFill>
                <a:srgbClr val="334155"/>
              </a:solidFill>
              <a:latin typeface="SUIT"/>
              <a:ea typeface="SUIT"/>
              <a:cs typeface="SUIT"/>
            </a:endParaRPr>
          </a:p>
        </p:txBody>
      </p:sp>
    </p:spTree>
    <p:extLst>
      <p:ext uri="{BB962C8B-B14F-4D97-AF65-F5344CB8AC3E}">
        <p14:creationId xmlns:p14="http://schemas.microsoft.com/office/powerpoint/2010/main" val="3026976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4">
            <a:extLst>
              <a:ext uri="{FF2B5EF4-FFF2-40B4-BE49-F238E27FC236}">
                <a16:creationId xmlns:a16="http://schemas.microsoft.com/office/drawing/2014/main" id="{D691D376-B1AD-28DF-9B06-A6A9F4556048}"/>
              </a:ext>
            </a:extLst>
          </p:cNvPr>
          <p:cNvSpPr/>
          <p:nvPr/>
        </p:nvSpPr>
        <p:spPr>
          <a:xfrm>
            <a:off x="0" y="563349"/>
            <a:ext cx="9144000" cy="433159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2단계 질의 맥락 라우팅 한 질문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,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여러 맥락 을 이해해 필요한 스킬만 조합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02 ·  Solution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59775" y="622440"/>
            <a:ext cx="1300000" cy="3000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SUIT ExtraBold"/>
                <a:ea typeface="SUIT ExtraBold"/>
                <a:cs typeface="SUIT ExtraBold"/>
              </a:rPr>
              <a:t>DRAFT · </a:t>
            </a:r>
            <a:r>
              <a:rPr sz="850" b="1" dirty="0" err="1">
                <a:solidFill>
                  <a:schemeClr val="tx1"/>
                </a:solidFill>
                <a:latin typeface="SUIT ExtraBold"/>
                <a:ea typeface="SUIT ExtraBold"/>
                <a:cs typeface="SUIT ExtraBold"/>
              </a:rPr>
              <a:t>설계</a:t>
            </a:r>
            <a:r>
              <a:rPr sz="850" b="1" dirty="0">
                <a:solidFill>
                  <a:schemeClr val="tx1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850" b="1" dirty="0" err="1">
                <a:solidFill>
                  <a:schemeClr val="tx1"/>
                </a:solidFill>
                <a:latin typeface="SUIT ExtraBold"/>
                <a:ea typeface="SUIT ExtraBold"/>
                <a:cs typeface="SUIT ExtraBold"/>
              </a:rPr>
              <a:t>예정</a:t>
            </a:r>
            <a:endParaRPr sz="850" b="1" dirty="0">
              <a:solidFill>
                <a:schemeClr val="tx1"/>
              </a:solidFill>
              <a:latin typeface="SUIT ExtraBold"/>
              <a:ea typeface="SUIT ExtraBold"/>
              <a:cs typeface="SUIT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6032" y="645000"/>
            <a:ext cx="6100042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10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전체</a:t>
            </a:r>
            <a:r>
              <a:rPr sz="10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10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문장을</a:t>
            </a:r>
            <a:r>
              <a:rPr sz="10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10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맥락별로</a:t>
            </a:r>
            <a:r>
              <a:rPr sz="10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10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나눠</a:t>
            </a:r>
            <a:r>
              <a:rPr sz="10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1000" b="1" dirty="0" err="1">
                <a:solidFill>
                  <a:srgbClr val="0D9488"/>
                </a:solidFill>
                <a:latin typeface="SUIT"/>
                <a:ea typeface="SUIT"/>
                <a:cs typeface="SUIT"/>
              </a:rPr>
              <a:t>그래프</a:t>
            </a:r>
            <a:r>
              <a:rPr sz="1000" b="1" dirty="0">
                <a:solidFill>
                  <a:srgbClr val="0D9488"/>
                </a:solidFill>
                <a:latin typeface="SUIT"/>
                <a:ea typeface="SUIT"/>
                <a:cs typeface="SUIT"/>
              </a:rPr>
              <a:t> </a:t>
            </a:r>
            <a:r>
              <a:rPr sz="1000" b="1" dirty="0" err="1">
                <a:solidFill>
                  <a:srgbClr val="0D9488"/>
                </a:solidFill>
                <a:latin typeface="SUIT"/>
                <a:ea typeface="SUIT"/>
                <a:cs typeface="SUIT"/>
              </a:rPr>
              <a:t>DB가</a:t>
            </a:r>
            <a:r>
              <a:rPr sz="1000" b="1" dirty="0">
                <a:solidFill>
                  <a:srgbClr val="0D9488"/>
                </a:solidFill>
                <a:latin typeface="SUIT"/>
                <a:ea typeface="SUIT"/>
                <a:cs typeface="SUIT"/>
              </a:rPr>
              <a:t> </a:t>
            </a:r>
            <a:r>
              <a:rPr sz="1000" b="1" dirty="0" err="1">
                <a:solidFill>
                  <a:srgbClr val="0D9488"/>
                </a:solidFill>
                <a:latin typeface="SUIT"/>
                <a:ea typeface="SUIT"/>
                <a:cs typeface="SUIT"/>
              </a:rPr>
              <a:t>파악한</a:t>
            </a:r>
            <a:r>
              <a:rPr sz="1000" b="1" dirty="0">
                <a:solidFill>
                  <a:srgbClr val="0D9488"/>
                </a:solidFill>
                <a:latin typeface="SUIT"/>
                <a:ea typeface="SUIT"/>
                <a:cs typeface="SUIT"/>
              </a:rPr>
              <a:t> </a:t>
            </a:r>
            <a:r>
              <a:rPr sz="1000" b="1" dirty="0" err="1">
                <a:solidFill>
                  <a:srgbClr val="0D9488"/>
                </a:solidFill>
                <a:latin typeface="SUIT"/>
                <a:ea typeface="SUIT"/>
                <a:cs typeface="SUIT"/>
              </a:rPr>
              <a:t>맥락</a:t>
            </a:r>
            <a:r>
              <a:rPr sz="10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에</a:t>
            </a:r>
            <a:r>
              <a:rPr sz="10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10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맞춰</a:t>
            </a:r>
            <a:r>
              <a:rPr sz="10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10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되물어</a:t>
            </a:r>
            <a:r>
              <a:rPr sz="10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 </a:t>
            </a:r>
            <a:r>
              <a:rPr sz="1000" b="1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필요한</a:t>
            </a:r>
            <a:r>
              <a:rPr sz="1000" b="1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 </a:t>
            </a:r>
            <a:r>
              <a:rPr sz="1000" b="1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스킬만</a:t>
            </a:r>
            <a:r>
              <a:rPr sz="1000" b="1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 </a:t>
            </a:r>
            <a:r>
              <a:rPr sz="1000" b="1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골라</a:t>
            </a:r>
            <a:r>
              <a:rPr sz="1000" b="1" dirty="0">
                <a:solidFill>
                  <a:srgbClr val="0F172A"/>
                </a:solidFill>
                <a:latin typeface="SUIT"/>
                <a:ea typeface="SUIT"/>
                <a:cs typeface="SUIT"/>
              </a:rPr>
              <a:t> </a:t>
            </a:r>
            <a:r>
              <a:rPr sz="1000" b="1" dirty="0" err="1">
                <a:solidFill>
                  <a:srgbClr val="0F172A"/>
                </a:solidFill>
                <a:latin typeface="SUIT"/>
                <a:ea typeface="SUIT"/>
                <a:cs typeface="SUIT"/>
              </a:rPr>
              <a:t>조합</a:t>
            </a:r>
            <a:r>
              <a:rPr sz="1000" b="0" dirty="0" err="1">
                <a:solidFill>
                  <a:srgbClr val="334155"/>
                </a:solidFill>
                <a:latin typeface="SUIT"/>
                <a:ea typeface="SUIT"/>
                <a:cs typeface="SUIT"/>
              </a:rPr>
              <a:t>합니다</a:t>
            </a:r>
            <a:r>
              <a:rPr sz="1000" b="0" dirty="0">
                <a:solidFill>
                  <a:srgbClr val="334155"/>
                </a:solidFill>
                <a:latin typeface="SUIT"/>
                <a:ea typeface="SUIT"/>
                <a:cs typeface="SUIT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1084940"/>
            <a:ext cx="8631360" cy="52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032" y="1169940"/>
            <a:ext cx="8200000" cy="21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830" b="1" dirty="0">
                <a:solidFill>
                  <a:srgbClr val="13CEC4"/>
                </a:solidFill>
                <a:cs typeface="SUIT"/>
              </a:rPr>
              <a:t>한 </a:t>
            </a:r>
            <a:r>
              <a:rPr sz="830" b="1" dirty="0" err="1">
                <a:solidFill>
                  <a:srgbClr val="13CEC4"/>
                </a:solidFill>
                <a:cs typeface="SUIT"/>
              </a:rPr>
              <a:t>문장에</a:t>
            </a:r>
            <a:r>
              <a:rPr sz="830" b="1" dirty="0">
                <a:solidFill>
                  <a:srgbClr val="13CEC4"/>
                </a:solidFill>
                <a:cs typeface="SUIT"/>
              </a:rPr>
              <a:t> </a:t>
            </a:r>
            <a:r>
              <a:rPr sz="830" b="1" dirty="0" err="1">
                <a:solidFill>
                  <a:srgbClr val="13CEC4"/>
                </a:solidFill>
                <a:cs typeface="SUIT"/>
              </a:rPr>
              <a:t>여러</a:t>
            </a:r>
            <a:r>
              <a:rPr sz="830" b="1" dirty="0">
                <a:solidFill>
                  <a:srgbClr val="13CEC4"/>
                </a:solidFill>
                <a:cs typeface="SUIT"/>
              </a:rPr>
              <a:t> </a:t>
            </a:r>
            <a:r>
              <a:rPr sz="830" b="1" dirty="0" err="1">
                <a:solidFill>
                  <a:srgbClr val="13CEC4"/>
                </a:solidFill>
                <a:cs typeface="SUIT"/>
              </a:rPr>
              <a:t>맥락이</a:t>
            </a:r>
            <a:r>
              <a:rPr sz="830" b="1" dirty="0">
                <a:solidFill>
                  <a:srgbClr val="13CEC4"/>
                </a:solidFill>
                <a:cs typeface="SUIT"/>
              </a:rPr>
              <a:t> </a:t>
            </a:r>
            <a:r>
              <a:rPr lang="ko-KR" altLang="en-US" sz="830" b="1" dirty="0" err="1">
                <a:solidFill>
                  <a:srgbClr val="13CEC4"/>
                </a:solidFill>
                <a:cs typeface="SUIT"/>
              </a:rPr>
              <a:t>섞여있는</a:t>
            </a:r>
            <a:r>
              <a:rPr lang="ko-KR" altLang="en-US" sz="830" b="1" dirty="0">
                <a:solidFill>
                  <a:srgbClr val="13CEC4"/>
                </a:solidFill>
                <a:latin typeface="+mn-ea"/>
                <a:ea typeface="+mn-ea"/>
              </a:rPr>
              <a:t> 사용자 질문 </a:t>
            </a:r>
            <a:endParaRPr sz="830" b="1" dirty="0">
              <a:solidFill>
                <a:srgbClr val="13CEC4"/>
              </a:solidFill>
              <a:cs typeface="SU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6032" y="1354940"/>
            <a:ext cx="820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“지난달 영국 냉장고 </a:t>
            </a:r>
            <a:r>
              <a:rPr sz="1200" b="1">
                <a:solidFill>
                  <a:srgbClr val="7FE9E2"/>
                </a:solidFill>
                <a:latin typeface="SUIT ExtraBold"/>
                <a:ea typeface="SUIT ExtraBold"/>
                <a:cs typeface="SUIT ExtraBold"/>
              </a:rPr>
              <a:t>매출·트래픽</a:t>
            </a:r>
            <a:r>
              <a:rPr sz="12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을 분석하고, </a:t>
            </a:r>
            <a:r>
              <a:rPr sz="1200" b="1">
                <a:solidFill>
                  <a:srgbClr val="C9B8FB"/>
                </a:solidFill>
                <a:latin typeface="SUIT ExtraBold"/>
                <a:ea typeface="SUIT ExtraBold"/>
                <a:cs typeface="SUIT ExtraBold"/>
              </a:rPr>
              <a:t>환율 영향</a:t>
            </a:r>
            <a:r>
              <a:rPr sz="12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도 찾아보고, </a:t>
            </a:r>
            <a:r>
              <a:rPr sz="1200" b="1">
                <a:solidFill>
                  <a:srgbClr val="A9CFF5"/>
                </a:solidFill>
                <a:latin typeface="SUIT ExtraBold"/>
                <a:ea typeface="SUIT ExtraBold"/>
                <a:cs typeface="SUIT ExtraBold"/>
              </a:rPr>
              <a:t>사내 전략문서</a:t>
            </a:r>
            <a:r>
              <a:rPr sz="120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도 정리해줘”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715000"/>
            <a:ext cx="2743786" cy="270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6032" y="1845000"/>
            <a:ext cx="1080000" cy="260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3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맥락 ①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032" y="2210000"/>
            <a:ext cx="2263786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730" b="1">
                <a:solidFill>
                  <a:srgbClr val="0D9488"/>
                </a:solidFill>
                <a:latin typeface="SUIT"/>
                <a:ea typeface="SUIT"/>
                <a:cs typeface="SUIT"/>
              </a:rPr>
              <a:t>▸ 해석된 질문 맥락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032" y="2385000"/>
            <a:ext cx="2263786" cy="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00" b="0">
                <a:solidFill>
                  <a:srgbClr val="0F172A"/>
                </a:solidFill>
                <a:latin typeface="SUIT"/>
                <a:ea typeface="SUIT"/>
                <a:cs typeface="SUIT"/>
              </a:rPr>
              <a:t>2026년 5월 영국 법인 냉장고의 매출·트래픽 데이터를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32" y="2730000"/>
            <a:ext cx="2483786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그래프</a:t>
            </a:r>
            <a:r>
              <a:rPr sz="8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DB가</a:t>
            </a:r>
            <a:r>
              <a:rPr sz="8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지표</a:t>
            </a:r>
            <a:r>
              <a:rPr sz="850" b="1" dirty="0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감지</a:t>
            </a:r>
            <a:endParaRPr sz="850" b="1" dirty="0">
              <a:solidFill>
                <a:srgbClr val="0F172A"/>
              </a:solidFill>
              <a:latin typeface="SUIT ExtraBold"/>
              <a:ea typeface="SUIT ExtraBold"/>
              <a:cs typeface="SUIT Extra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6032" y="2905000"/>
            <a:ext cx="580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6032" y="2905000"/>
            <a:ext cx="580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0D9488"/>
                </a:solidFill>
                <a:latin typeface="SUIT"/>
                <a:ea typeface="SUIT"/>
                <a:cs typeface="SUIT"/>
              </a:rPr>
              <a:t>✓ 매출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6032" y="2905000"/>
            <a:ext cx="730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6032" y="2905000"/>
            <a:ext cx="730000" cy="215000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 dirty="0">
                <a:solidFill>
                  <a:srgbClr val="0D9488"/>
                </a:solidFill>
                <a:latin typeface="SUIT"/>
                <a:ea typeface="SUIT"/>
                <a:cs typeface="SUIT"/>
              </a:rPr>
              <a:t>✓ </a:t>
            </a:r>
            <a:r>
              <a:rPr sz="800" b="1" dirty="0" err="1">
                <a:solidFill>
                  <a:srgbClr val="0D9488"/>
                </a:solidFill>
                <a:latin typeface="SUIT"/>
                <a:ea typeface="SUIT"/>
                <a:cs typeface="SUIT"/>
              </a:rPr>
              <a:t>트래픽</a:t>
            </a:r>
            <a:endParaRPr sz="800" b="1" dirty="0">
              <a:solidFill>
                <a:srgbClr val="0D9488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6032" y="3175000"/>
            <a:ext cx="2483786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780" b="1">
                <a:solidFill>
                  <a:srgbClr val="E08A1E"/>
                </a:solidFill>
                <a:latin typeface="SUIT"/>
                <a:ea typeface="SUIT"/>
                <a:cs typeface="SUIT"/>
              </a:rPr>
              <a:t>↓ 어떤 형식으로 분석할까요?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032" y="3365000"/>
            <a:ext cx="2483786" cy="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B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6032" y="3410000"/>
            <a:ext cx="2263786" cy="21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F172A"/>
                </a:solidFill>
                <a:latin typeface="SUIT"/>
                <a:ea typeface="SUIT"/>
                <a:cs typeface="SUIT"/>
              </a:rPr>
              <a:t>현황분석  </a:t>
            </a:r>
            <a:r>
              <a:rPr sz="700" b="0">
                <a:solidFill>
                  <a:srgbClr val="64748B"/>
                </a:solidFill>
                <a:latin typeface="SUIT"/>
                <a:ea typeface="SUIT"/>
                <a:cs typeface="SUIT"/>
              </a:rPr>
              <a:t>정형 보고서 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6032" y="3695000"/>
            <a:ext cx="2483786" cy="3000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6032" y="3740000"/>
            <a:ext cx="2263786" cy="21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 데이터탐색  </a:t>
            </a:r>
            <a:r>
              <a:rPr sz="700" b="0">
                <a:solidFill>
                  <a:srgbClr val="EAF7F5"/>
                </a:solidFill>
                <a:latin typeface="SUIT"/>
                <a:ea typeface="SUIT"/>
                <a:cs typeface="SUIT"/>
              </a:rPr>
              <a:t>데이터+짧은 인사이트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6032" y="4075000"/>
            <a:ext cx="2483786" cy="270000"/>
          </a:xfrm>
          <a:prstGeom prst="roundRect">
            <a:avLst>
              <a:gd name="adj" fmla="val 12000"/>
            </a:avLst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6032" y="4075000"/>
            <a:ext cx="2483786" cy="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0D9488"/>
                </a:solidFill>
                <a:latin typeface="SUIT"/>
                <a:ea typeface="SUIT"/>
                <a:cs typeface="SUIT"/>
              </a:rPr>
              <a:t>→ 데이터탐색 Skill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99818" y="1715000"/>
            <a:ext cx="2743786" cy="270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329818" y="1845000"/>
            <a:ext cx="1080000" cy="260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3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맥락 ② 외부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9818" y="2210000"/>
            <a:ext cx="2263786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730" b="1">
                <a:solidFill>
                  <a:srgbClr val="8B5CF6"/>
                </a:solidFill>
                <a:latin typeface="SUIT"/>
                <a:ea typeface="SUIT"/>
                <a:cs typeface="SUIT"/>
              </a:rPr>
              <a:t>▸ 해석된 질문 맥락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9818" y="2385000"/>
            <a:ext cx="2263786" cy="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00" b="0">
                <a:solidFill>
                  <a:srgbClr val="0F172A"/>
                </a:solidFill>
                <a:latin typeface="SUIT"/>
                <a:ea typeface="SUIT"/>
                <a:cs typeface="SUIT"/>
              </a:rPr>
              <a:t>2026년 5월 기간의 국가 정세·환율 데이터를 외부에서 조회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9818" y="2730000"/>
            <a:ext cx="2483786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외부 근거가 필요함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29818" y="2905000"/>
            <a:ext cx="580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29818" y="2905000"/>
            <a:ext cx="580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8B5CF6"/>
                </a:solidFill>
                <a:latin typeface="SUIT"/>
                <a:ea typeface="SUIT"/>
                <a:cs typeface="SUIT"/>
              </a:rPr>
              <a:t>✓ 환율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99818" y="2905000"/>
            <a:ext cx="880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99818" y="2905000"/>
            <a:ext cx="880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8B5CF6"/>
                </a:solidFill>
                <a:latin typeface="SUIT"/>
                <a:ea typeface="SUIT"/>
                <a:cs typeface="SUIT"/>
              </a:rPr>
              <a:t>✓ 시장이슈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9818" y="3175000"/>
            <a:ext cx="2483786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780" b="1">
                <a:solidFill>
                  <a:srgbClr val="E08A1E"/>
                </a:solidFill>
                <a:latin typeface="SUIT"/>
                <a:ea typeface="SUIT"/>
                <a:cs typeface="SUIT"/>
              </a:rPr>
              <a:t>↓ 어디서 근거를 가져올까요?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29818" y="3365000"/>
            <a:ext cx="2483786" cy="3000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49818" y="3410000"/>
            <a:ext cx="2263786" cy="21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 웹 검색 그라운딩  </a:t>
            </a:r>
            <a:r>
              <a:rPr sz="700" b="0">
                <a:solidFill>
                  <a:srgbClr val="EAF7F5"/>
                </a:solidFill>
                <a:latin typeface="SUIT"/>
                <a:ea typeface="SUIT"/>
                <a:cs typeface="SUIT"/>
              </a:rPr>
              <a:t>범용 웹·뉴스 탐색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29818" y="3695000"/>
            <a:ext cx="2483786" cy="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B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49818" y="3740000"/>
            <a:ext cx="2263786" cy="21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F172A"/>
                </a:solidFill>
                <a:latin typeface="SUIT"/>
                <a:ea typeface="SUIT"/>
                <a:cs typeface="SUIT"/>
              </a:rPr>
              <a:t>지정 포털·소스  </a:t>
            </a:r>
            <a:r>
              <a:rPr sz="700" b="0">
                <a:solidFill>
                  <a:srgbClr val="64748B"/>
                </a:solidFill>
                <a:latin typeface="SUIT"/>
                <a:ea typeface="SUIT"/>
                <a:cs typeface="SUIT"/>
              </a:rPr>
              <a:t>신뢰 소스 한정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29818" y="4075000"/>
            <a:ext cx="2483786" cy="270000"/>
          </a:xfrm>
          <a:prstGeom prst="roundRect">
            <a:avLst>
              <a:gd name="adj" fmla="val 12000"/>
            </a:avLst>
          </a:prstGeom>
          <a:solidFill>
            <a:srgbClr val="F1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29818" y="4075000"/>
            <a:ext cx="2483786" cy="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8B5CF6"/>
                </a:solidFill>
                <a:latin typeface="SUIT"/>
                <a:ea typeface="SUIT"/>
                <a:cs typeface="SUIT"/>
              </a:rPr>
              <a:t>→ Grounding Skill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3605" y="1715000"/>
            <a:ext cx="2743786" cy="270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73605" y="1845000"/>
            <a:ext cx="1080000" cy="260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30" b="1">
                <a:solidFill>
                  <a:srgbClr val="FFFFFF"/>
                </a:solidFill>
                <a:latin typeface="SUIT ExtraBold"/>
                <a:ea typeface="SUIT ExtraBold"/>
                <a:cs typeface="SUIT ExtraBold"/>
              </a:rPr>
              <a:t>맥락 ③ 사내문서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3605" y="2210000"/>
            <a:ext cx="2263786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730" b="1">
                <a:solidFill>
                  <a:srgbClr val="0070C0"/>
                </a:solidFill>
                <a:latin typeface="SUIT"/>
                <a:ea typeface="SUIT"/>
                <a:cs typeface="SUIT"/>
              </a:rPr>
              <a:t>▸ 해석된 질문 맥락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3605" y="2385000"/>
            <a:ext cx="2263786" cy="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00" b="0">
                <a:solidFill>
                  <a:srgbClr val="0F172A"/>
                </a:solidFill>
                <a:latin typeface="SUIT"/>
                <a:ea typeface="SUIT"/>
                <a:cs typeface="SUIT"/>
              </a:rPr>
              <a:t>관련 사내 전략·정책 문서 내용 확인이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3605" y="2730000"/>
            <a:ext cx="2483786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F172A"/>
                </a:solidFill>
                <a:latin typeface="SUIT ExtraBold"/>
                <a:ea typeface="SUIT ExtraBold"/>
                <a:cs typeface="SUIT ExtraBold"/>
              </a:rPr>
              <a:t>사내 지식이 필요함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73605" y="2905000"/>
            <a:ext cx="880000" cy="21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73605" y="2905000"/>
            <a:ext cx="880000" cy="21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0070C0"/>
                </a:solidFill>
                <a:latin typeface="SUIT"/>
                <a:ea typeface="SUIT"/>
                <a:cs typeface="SUIT"/>
              </a:rPr>
              <a:t>✓ 전략문서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73605" y="3175000"/>
            <a:ext cx="2483786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780" b="1">
                <a:solidFill>
                  <a:srgbClr val="E08A1E"/>
                </a:solidFill>
                <a:latin typeface="SUIT"/>
                <a:ea typeface="SUIT"/>
                <a:cs typeface="SUIT"/>
              </a:rPr>
              <a:t>↓ 어떤 문서에서 찾을까요?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73605" y="3365000"/>
            <a:ext cx="2483786" cy="30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93605" y="3410000"/>
            <a:ext cx="2263786" cy="21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✓ 전략·기획 문서  </a:t>
            </a:r>
            <a:r>
              <a:rPr sz="700" b="0">
                <a:solidFill>
                  <a:srgbClr val="EAF7F5"/>
                </a:solidFill>
                <a:latin typeface="SUIT"/>
                <a:ea typeface="SUIT"/>
                <a:cs typeface="SUIT"/>
              </a:rPr>
              <a:t>제안서·기획안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73605" y="3695000"/>
            <a:ext cx="2483786" cy="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B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93605" y="3740000"/>
            <a:ext cx="2263786" cy="21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F172A"/>
                </a:solidFill>
                <a:latin typeface="SUIT"/>
                <a:ea typeface="SUIT"/>
                <a:cs typeface="SUIT"/>
              </a:rPr>
              <a:t>회의록·일보·규정  </a:t>
            </a:r>
            <a:r>
              <a:rPr sz="700" b="0">
                <a:solidFill>
                  <a:srgbClr val="64748B"/>
                </a:solidFill>
                <a:latin typeface="SUIT"/>
                <a:ea typeface="SUIT"/>
                <a:cs typeface="SUIT"/>
              </a:rPr>
              <a:t>운영 기록 전반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73605" y="4075000"/>
            <a:ext cx="2483786" cy="270000"/>
          </a:xfrm>
          <a:prstGeom prst="roundRect">
            <a:avLst>
              <a:gd name="adj" fmla="val 12000"/>
            </a:avLst>
          </a:prstGeom>
          <a:solidFill>
            <a:srgbClr val="E7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73605" y="4075000"/>
            <a:ext cx="2483786" cy="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0070C0"/>
                </a:solidFill>
                <a:latin typeface="SUIT"/>
                <a:ea typeface="SUIT"/>
                <a:cs typeface="SUIT"/>
              </a:rPr>
              <a:t>→ Document Skill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6032" y="4515000"/>
            <a:ext cx="8631360" cy="40000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98239" y="4575000"/>
            <a:ext cx="7100000" cy="21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950" b="1" dirty="0" err="1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선택된</a:t>
            </a:r>
            <a:r>
              <a:rPr sz="950" b="1" dirty="0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1" dirty="0" err="1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스킬을</a:t>
            </a:r>
            <a:r>
              <a:rPr sz="950" b="1" dirty="0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1" dirty="0" err="1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조합해</a:t>
            </a:r>
            <a:r>
              <a:rPr sz="950" b="1" dirty="0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1" dirty="0" err="1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하나의</a:t>
            </a:r>
            <a:r>
              <a:rPr sz="950" b="1" dirty="0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950" b="1" dirty="0" err="1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답변으로</a:t>
            </a:r>
            <a:r>
              <a:rPr sz="950" b="1" dirty="0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lang="en-US" sz="950" b="1" dirty="0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-</a:t>
            </a:r>
            <a:r>
              <a:rPr sz="950" b="1" dirty="0">
                <a:solidFill>
                  <a:schemeClr val="bg1"/>
                </a:solidFill>
                <a:latin typeface="SUIT ExtraBold"/>
                <a:ea typeface="SUIT ExtraBold"/>
                <a:cs typeface="SUIT ExtraBold"/>
              </a:rPr>
              <a:t> </a:t>
            </a:r>
            <a:r>
              <a:rPr sz="1000" b="1" dirty="0" err="1">
                <a:solidFill>
                  <a:srgbClr val="07D2C5"/>
                </a:solidFill>
                <a:latin typeface="SUIT"/>
                <a:ea typeface="SUIT"/>
                <a:cs typeface="SUIT"/>
              </a:rPr>
              <a:t>데이터탐색</a:t>
            </a:r>
            <a:r>
              <a:rPr sz="1000" b="1" dirty="0">
                <a:solidFill>
                  <a:srgbClr val="07D2C5"/>
                </a:solidFill>
                <a:latin typeface="SUIT"/>
                <a:ea typeface="SUIT"/>
                <a:cs typeface="SUIT"/>
              </a:rPr>
              <a:t> + Grounding + Document</a:t>
            </a:r>
            <a:endParaRPr sz="950" b="1" dirty="0">
              <a:solidFill>
                <a:srgbClr val="07D2C5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98239" y="4770000"/>
            <a:ext cx="7100000" cy="1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</a:pPr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맥락에</a:t>
            </a:r>
            <a:r>
              <a:rPr sz="800" b="0" dirty="0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 꼭 </a:t>
            </a:r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필요한</a:t>
            </a:r>
            <a:r>
              <a:rPr sz="800" b="0" dirty="0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스킬만</a:t>
            </a:r>
            <a:r>
              <a:rPr sz="800" b="0" dirty="0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불러</a:t>
            </a:r>
            <a:r>
              <a:rPr sz="800" b="0" dirty="0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비용·속도·정확도를</a:t>
            </a:r>
            <a:r>
              <a:rPr sz="800" b="0" dirty="0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동시에</a:t>
            </a:r>
            <a:r>
              <a:rPr sz="800" b="0" dirty="0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 </a:t>
            </a:r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최적화합니다</a:t>
            </a:r>
            <a:r>
              <a:rPr sz="800" b="0" dirty="0">
                <a:solidFill>
                  <a:schemeClr val="bg1">
                    <a:lumMod val="85000"/>
                  </a:schemeClr>
                </a:solidFill>
                <a:latin typeface="SUIT"/>
                <a:ea typeface="SUIT"/>
                <a:cs typeface="SUI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4579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551E7-85E0-7144-69BA-2030854A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4">
            <a:extLst>
              <a:ext uri="{FF2B5EF4-FFF2-40B4-BE49-F238E27FC236}">
                <a16:creationId xmlns:a16="http://schemas.microsoft.com/office/drawing/2014/main" id="{D4D68BB4-5BD5-166D-3713-B0C6B56E25AF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5F24F-FF95-602D-3E54-3D3C4790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SUIT ExtraBold" pitchFamily="2" charset="-127"/>
                <a:ea typeface="SUIT ExtraBold" pitchFamily="2" charset="-127"/>
              </a:rPr>
              <a:t>시맨틱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 추론 레이어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(SRL)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96E08-24C5-212B-F9B5-3ABA246DC6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02 ·  Solution Deep Dive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D0962-A74B-83CB-D119-D03E3AA1AE13}"/>
              </a:ext>
            </a:extLst>
          </p:cNvPr>
          <p:cNvSpPr txBox="1"/>
          <p:nvPr/>
        </p:nvSpPr>
        <p:spPr>
          <a:xfrm>
            <a:off x="256032" y="674109"/>
            <a:ext cx="8595360" cy="397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ko-KR" altLang="ko-KR" sz="1200" i="0" dirty="0">
                <a:solidFill>
                  <a:srgbClr val="000000"/>
                </a:solidFill>
                <a:effectLst/>
                <a:latin typeface="SUIT" pitchFamily="2" charset="-127"/>
                <a:ea typeface="SUIT" pitchFamily="2" charset="-127"/>
              </a:rPr>
              <a:t>비즈니스 언어를 완벽한 데이터로 통역하는 단 하나의 지능 계층</a:t>
            </a:r>
          </a:p>
          <a:p>
            <a:pPr lvl="0">
              <a:lnSpc>
                <a:spcPct val="140000"/>
              </a:lnSpc>
            </a:pP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환각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(Hallucination) 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없이 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100% 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결정론적 결과를 보장하여 엔터프라이즈 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AI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와 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BI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를 연결하는 아키텍처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65" name="Rounded Rectangle 8">
            <a:extLst>
              <a:ext uri="{FF2B5EF4-FFF2-40B4-BE49-F238E27FC236}">
                <a16:creationId xmlns:a16="http://schemas.microsoft.com/office/drawing/2014/main" id="{B75A743A-A80A-07B6-79FB-D0049C04839D}"/>
              </a:ext>
            </a:extLst>
          </p:cNvPr>
          <p:cNvSpPr/>
          <p:nvPr/>
        </p:nvSpPr>
        <p:spPr>
          <a:xfrm>
            <a:off x="256032" y="1371682"/>
            <a:ext cx="4278933" cy="1200068"/>
          </a:xfrm>
          <a:prstGeom prst="roundRect">
            <a:avLst>
              <a:gd name="adj" fmla="val 8295"/>
            </a:avLst>
          </a:prstGeom>
          <a:solidFill>
            <a:srgbClr val="F8FEFC"/>
          </a:solidFill>
          <a:ln w="9525" cap="flat" cmpd="sng" algn="ctr">
            <a:solidFill>
              <a:srgbClr val="D8F7F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68" name="Rounded Rectangle 8">
            <a:extLst>
              <a:ext uri="{FF2B5EF4-FFF2-40B4-BE49-F238E27FC236}">
                <a16:creationId xmlns:a16="http://schemas.microsoft.com/office/drawing/2014/main" id="{54FE21D9-635F-3079-C5D7-7D661529B955}"/>
              </a:ext>
            </a:extLst>
          </p:cNvPr>
          <p:cNvSpPr/>
          <p:nvPr/>
        </p:nvSpPr>
        <p:spPr>
          <a:xfrm>
            <a:off x="256031" y="2735727"/>
            <a:ext cx="4278933" cy="1725970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70" name="Rounded Rectangle 8">
            <a:extLst>
              <a:ext uri="{FF2B5EF4-FFF2-40B4-BE49-F238E27FC236}">
                <a16:creationId xmlns:a16="http://schemas.microsoft.com/office/drawing/2014/main" id="{FCAB3C5A-BB31-976A-FC47-B49B05D0D3E2}"/>
              </a:ext>
            </a:extLst>
          </p:cNvPr>
          <p:cNvSpPr/>
          <p:nvPr/>
        </p:nvSpPr>
        <p:spPr>
          <a:xfrm>
            <a:off x="384578" y="3116027"/>
            <a:ext cx="1944244" cy="1162023"/>
          </a:xfrm>
          <a:prstGeom prst="roundRect">
            <a:avLst>
              <a:gd name="adj" fmla="val 8295"/>
            </a:avLst>
          </a:prstGeom>
          <a:solidFill>
            <a:srgbClr val="F8FAFC"/>
          </a:solidFill>
          <a:ln w="9525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71" name="Rounded Rectangle 8">
            <a:extLst>
              <a:ext uri="{FF2B5EF4-FFF2-40B4-BE49-F238E27FC236}">
                <a16:creationId xmlns:a16="http://schemas.microsoft.com/office/drawing/2014/main" id="{F0279D72-D8E6-C5EC-8C07-14AD7DCB9B95}"/>
              </a:ext>
            </a:extLst>
          </p:cNvPr>
          <p:cNvSpPr/>
          <p:nvPr/>
        </p:nvSpPr>
        <p:spPr>
          <a:xfrm>
            <a:off x="2469296" y="3116027"/>
            <a:ext cx="1944244" cy="1162023"/>
          </a:xfrm>
          <a:prstGeom prst="roundRect">
            <a:avLst>
              <a:gd name="adj" fmla="val 8295"/>
            </a:avLst>
          </a:prstGeom>
          <a:solidFill>
            <a:srgbClr val="0F172A"/>
          </a:solidFill>
          <a:ln w="9525" cap="flat" cmpd="sng" algn="ctr">
            <a:noFill/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B32F20-41F0-9D14-9BA6-99F058EEF9C9}"/>
              </a:ext>
            </a:extLst>
          </p:cNvPr>
          <p:cNvSpPr txBox="1"/>
          <p:nvPr/>
        </p:nvSpPr>
        <p:spPr>
          <a:xfrm>
            <a:off x="581025" y="1721889"/>
            <a:ext cx="3895939" cy="796367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사용자의 비정형 자연어 질의를 의미론적(</a:t>
            </a:r>
            <a:r>
              <a:rPr lang="ko-KR" altLang="ko-KR" sz="9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Semantic</a:t>
            </a: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)</a:t>
            </a:r>
            <a:r>
              <a:rPr lang="ko-KR" altLang="ko-KR" sz="9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으로</a:t>
            </a: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분석하고, </a:t>
            </a:r>
            <a:endParaRPr lang="en-US" altLang="ko-KR" sz="900" i="0" dirty="0">
              <a:solidFill>
                <a:srgbClr val="1E293B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40000"/>
              </a:lnSpc>
            </a:pP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기업 고유의 비즈니스 룰과 </a:t>
            </a:r>
            <a:r>
              <a:rPr lang="ko-KR" altLang="ko-KR" sz="9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Graph</a:t>
            </a: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9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DB에</a:t>
            </a: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매핑하여 블랙박스 없는 </a:t>
            </a:r>
            <a:endParaRPr lang="en-US" altLang="ko-KR" sz="900" i="0" dirty="0">
              <a:solidFill>
                <a:srgbClr val="1E293B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40000"/>
              </a:lnSpc>
            </a:pPr>
            <a:r>
              <a:rPr lang="ko-KR" altLang="ko-KR" sz="9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100% 정확한 정형 데이터 연산(</a:t>
            </a:r>
            <a:r>
              <a:rPr lang="ko-KR" altLang="ko-KR" sz="900" i="0" dirty="0" err="1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Reasoning</a:t>
            </a:r>
            <a:r>
              <a:rPr lang="ko-KR" altLang="ko-KR" sz="9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)</a:t>
            </a: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을 수행하는 엔터프라이즈 핵심 아키텍처입니다.</a:t>
            </a:r>
            <a:r>
              <a:rPr lang="en-US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 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4608D20-27DF-1E6E-FC6E-EE3C323D77CB}"/>
              </a:ext>
            </a:extLst>
          </p:cNvPr>
          <p:cNvSpPr txBox="1"/>
          <p:nvPr/>
        </p:nvSpPr>
        <p:spPr>
          <a:xfrm>
            <a:off x="568412" y="1428883"/>
            <a:ext cx="1709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1050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SRL </a:t>
            </a:r>
            <a:r>
              <a:rPr lang="ko-KR" altLang="en-US" sz="1050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정의 및 역할</a:t>
            </a:r>
            <a:endParaRPr lang="ko-KR" altLang="ko-KR" sz="400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pic>
        <p:nvPicPr>
          <p:cNvPr id="87" name="그래픽 86">
            <a:extLst>
              <a:ext uri="{FF2B5EF4-FFF2-40B4-BE49-F238E27FC236}">
                <a16:creationId xmlns:a16="http://schemas.microsoft.com/office/drawing/2014/main" id="{1F2D9798-E9A9-BFE0-B787-C2DB91CEC3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321" y="3557155"/>
            <a:ext cx="154616" cy="154616"/>
          </a:xfrm>
          <a:prstGeom prst="rect">
            <a:avLst/>
          </a:prstGeom>
        </p:spPr>
      </p:pic>
      <p:pic>
        <p:nvPicPr>
          <p:cNvPr id="93" name="그래픽 92">
            <a:extLst>
              <a:ext uri="{FF2B5EF4-FFF2-40B4-BE49-F238E27FC236}">
                <a16:creationId xmlns:a16="http://schemas.microsoft.com/office/drawing/2014/main" id="{C28A7579-E093-B573-F80B-341C1CC73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8467" y="3535126"/>
            <a:ext cx="154800" cy="154800"/>
          </a:xfrm>
          <a:prstGeom prst="rect">
            <a:avLst/>
          </a:prstGeom>
        </p:spPr>
      </p:pic>
      <p:grpSp>
        <p:nvGrpSpPr>
          <p:cNvPr id="100" name="그룹 99">
            <a:extLst>
              <a:ext uri="{FF2B5EF4-FFF2-40B4-BE49-F238E27FC236}">
                <a16:creationId xmlns:a16="http://schemas.microsoft.com/office/drawing/2014/main" id="{244AC06B-886F-B833-B779-615FBE85AC5A}"/>
              </a:ext>
            </a:extLst>
          </p:cNvPr>
          <p:cNvGrpSpPr/>
          <p:nvPr/>
        </p:nvGrpSpPr>
        <p:grpSpPr>
          <a:xfrm>
            <a:off x="419470" y="1466017"/>
            <a:ext cx="189448" cy="181817"/>
            <a:chOff x="4571644" y="3335861"/>
            <a:chExt cx="389827" cy="374124"/>
          </a:xfrm>
          <a:solidFill>
            <a:srgbClr val="0F6E56"/>
          </a:solidFill>
        </p:grpSpPr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AC112276-DDE4-D6B7-494A-12F292049752}"/>
                </a:ext>
              </a:extLst>
            </p:cNvPr>
            <p:cNvSpPr/>
            <p:nvPr/>
          </p:nvSpPr>
          <p:spPr>
            <a:xfrm>
              <a:off x="4794785" y="3335861"/>
              <a:ext cx="166686" cy="198119"/>
            </a:xfrm>
            <a:custGeom>
              <a:avLst/>
              <a:gdLst>
                <a:gd name="csX0" fmla="*/ 122873 w 166687"/>
                <a:gd name="csY0" fmla="*/ 0 h 198119"/>
                <a:gd name="csX1" fmla="*/ 122873 w 166687"/>
                <a:gd name="csY1" fmla="*/ 0 h 198119"/>
                <a:gd name="csX2" fmla="*/ 166688 w 166687"/>
                <a:gd name="csY2" fmla="*/ 132398 h 198119"/>
                <a:gd name="csX3" fmla="*/ 166688 w 166687"/>
                <a:gd name="csY3" fmla="*/ 132398 h 198119"/>
                <a:gd name="csX4" fmla="*/ 43815 w 166687"/>
                <a:gd name="csY4" fmla="*/ 198120 h 198119"/>
                <a:gd name="csX5" fmla="*/ 43815 w 166687"/>
                <a:gd name="csY5" fmla="*/ 198120 h 198119"/>
                <a:gd name="csX6" fmla="*/ 0 w 166687"/>
                <a:gd name="csY6" fmla="*/ 65723 h 198119"/>
                <a:gd name="csX7" fmla="*/ 0 w 166687"/>
                <a:gd name="csY7" fmla="*/ 65723 h 198119"/>
                <a:gd name="csX8" fmla="*/ 122873 w 166687"/>
                <a:gd name="csY8" fmla="*/ 0 h 198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6687" h="198119">
                  <a:moveTo>
                    <a:pt x="122873" y="0"/>
                  </a:moveTo>
                  <a:lnTo>
                    <a:pt x="122873" y="0"/>
                  </a:lnTo>
                  <a:cubicBezTo>
                    <a:pt x="118110" y="48578"/>
                    <a:pt x="133350" y="97155"/>
                    <a:pt x="166688" y="132398"/>
                  </a:cubicBezTo>
                  <a:lnTo>
                    <a:pt x="166688" y="132398"/>
                  </a:lnTo>
                  <a:cubicBezTo>
                    <a:pt x="118110" y="135255"/>
                    <a:pt x="73342" y="159068"/>
                    <a:pt x="43815" y="198120"/>
                  </a:cubicBezTo>
                  <a:lnTo>
                    <a:pt x="43815" y="198120"/>
                  </a:lnTo>
                  <a:cubicBezTo>
                    <a:pt x="48577" y="149543"/>
                    <a:pt x="33338" y="100965"/>
                    <a:pt x="0" y="65723"/>
                  </a:cubicBezTo>
                  <a:lnTo>
                    <a:pt x="0" y="65723"/>
                  </a:lnTo>
                  <a:cubicBezTo>
                    <a:pt x="48577" y="61913"/>
                    <a:pt x="93345" y="38100"/>
                    <a:pt x="12287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3F27BD34-A8AE-E159-B67E-EE733069399B}"/>
                </a:ext>
              </a:extLst>
            </p:cNvPr>
            <p:cNvSpPr/>
            <p:nvPr/>
          </p:nvSpPr>
          <p:spPr>
            <a:xfrm>
              <a:off x="4571644" y="3404234"/>
              <a:ext cx="200025" cy="236220"/>
            </a:xfrm>
            <a:custGeom>
              <a:avLst/>
              <a:gdLst>
                <a:gd name="csX0" fmla="*/ 147638 w 200025"/>
                <a:gd name="csY0" fmla="*/ 0 h 236219"/>
                <a:gd name="csX1" fmla="*/ 200025 w 200025"/>
                <a:gd name="csY1" fmla="*/ 158115 h 236219"/>
                <a:gd name="csX2" fmla="*/ 200025 w 200025"/>
                <a:gd name="csY2" fmla="*/ 158115 h 236219"/>
                <a:gd name="csX3" fmla="*/ 52388 w 200025"/>
                <a:gd name="csY3" fmla="*/ 236220 h 236219"/>
                <a:gd name="csX4" fmla="*/ 52388 w 200025"/>
                <a:gd name="csY4" fmla="*/ 236220 h 236219"/>
                <a:gd name="csX5" fmla="*/ 0 w 200025"/>
                <a:gd name="csY5" fmla="*/ 78105 h 236219"/>
                <a:gd name="csX6" fmla="*/ 0 w 200025"/>
                <a:gd name="csY6" fmla="*/ 78105 h 236219"/>
                <a:gd name="csX7" fmla="*/ 147638 w 200025"/>
                <a:gd name="csY7" fmla="*/ 0 h 236219"/>
                <a:gd name="csX8" fmla="*/ 147638 w 200025"/>
                <a:gd name="csY8" fmla="*/ 0 h 236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025" h="236219">
                  <a:moveTo>
                    <a:pt x="147638" y="0"/>
                  </a:moveTo>
                  <a:cubicBezTo>
                    <a:pt x="142875" y="61912"/>
                    <a:pt x="161925" y="119062"/>
                    <a:pt x="200025" y="158115"/>
                  </a:cubicBezTo>
                  <a:lnTo>
                    <a:pt x="200025" y="158115"/>
                  </a:lnTo>
                  <a:cubicBezTo>
                    <a:pt x="145733" y="160020"/>
                    <a:pt x="91440" y="188595"/>
                    <a:pt x="52388" y="236220"/>
                  </a:cubicBezTo>
                  <a:lnTo>
                    <a:pt x="52388" y="236220"/>
                  </a:lnTo>
                  <a:cubicBezTo>
                    <a:pt x="57150" y="175260"/>
                    <a:pt x="38100" y="117158"/>
                    <a:pt x="0" y="78105"/>
                  </a:cubicBezTo>
                  <a:lnTo>
                    <a:pt x="0" y="78105"/>
                  </a:lnTo>
                  <a:cubicBezTo>
                    <a:pt x="54293" y="76200"/>
                    <a:pt x="108585" y="47625"/>
                    <a:pt x="147638" y="0"/>
                  </a:cubicBezTo>
                  <a:lnTo>
                    <a:pt x="1476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B211D56C-7BFF-FB48-058B-35A19A4FB32B}"/>
                </a:ext>
              </a:extLst>
            </p:cNvPr>
            <p:cNvSpPr/>
            <p:nvPr/>
          </p:nvSpPr>
          <p:spPr>
            <a:xfrm>
              <a:off x="4829388" y="3570922"/>
              <a:ext cx="117157" cy="139063"/>
            </a:xfrm>
            <a:custGeom>
              <a:avLst/>
              <a:gdLst>
                <a:gd name="csX0" fmla="*/ 86677 w 117157"/>
                <a:gd name="csY0" fmla="*/ 0 h 139064"/>
                <a:gd name="csX1" fmla="*/ 86677 w 117157"/>
                <a:gd name="csY1" fmla="*/ 0 h 139064"/>
                <a:gd name="csX2" fmla="*/ 117158 w 117157"/>
                <a:gd name="csY2" fmla="*/ 93345 h 139064"/>
                <a:gd name="csX3" fmla="*/ 117158 w 117157"/>
                <a:gd name="csY3" fmla="*/ 93345 h 139064"/>
                <a:gd name="csX4" fmla="*/ 30480 w 117157"/>
                <a:gd name="csY4" fmla="*/ 139065 h 139064"/>
                <a:gd name="csX5" fmla="*/ 30480 w 117157"/>
                <a:gd name="csY5" fmla="*/ 139065 h 139064"/>
                <a:gd name="csX6" fmla="*/ 0 w 117157"/>
                <a:gd name="csY6" fmla="*/ 45720 h 139064"/>
                <a:gd name="csX7" fmla="*/ 0 w 117157"/>
                <a:gd name="csY7" fmla="*/ 45720 h 139064"/>
                <a:gd name="csX8" fmla="*/ 86677 w 117157"/>
                <a:gd name="csY8" fmla="*/ 0 h 139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7157" h="139064">
                  <a:moveTo>
                    <a:pt x="86677" y="0"/>
                  </a:moveTo>
                  <a:lnTo>
                    <a:pt x="86677" y="0"/>
                  </a:lnTo>
                  <a:cubicBezTo>
                    <a:pt x="82867" y="34290"/>
                    <a:pt x="94298" y="67627"/>
                    <a:pt x="117158" y="93345"/>
                  </a:cubicBezTo>
                  <a:lnTo>
                    <a:pt x="117158" y="93345"/>
                  </a:lnTo>
                  <a:cubicBezTo>
                    <a:pt x="82867" y="95250"/>
                    <a:pt x="51435" y="112395"/>
                    <a:pt x="30480" y="139065"/>
                  </a:cubicBezTo>
                  <a:lnTo>
                    <a:pt x="30480" y="139065"/>
                  </a:lnTo>
                  <a:cubicBezTo>
                    <a:pt x="34290" y="104775"/>
                    <a:pt x="22860" y="71438"/>
                    <a:pt x="0" y="45720"/>
                  </a:cubicBezTo>
                  <a:lnTo>
                    <a:pt x="0" y="45720"/>
                  </a:lnTo>
                  <a:cubicBezTo>
                    <a:pt x="34290" y="43815"/>
                    <a:pt x="65723" y="26670"/>
                    <a:pt x="8667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40C56D2F-A7B7-7CC3-F36E-D9361D1A9F3F}"/>
              </a:ext>
            </a:extLst>
          </p:cNvPr>
          <p:cNvSpPr txBox="1"/>
          <p:nvPr/>
        </p:nvSpPr>
        <p:spPr>
          <a:xfrm>
            <a:off x="568412" y="2783765"/>
            <a:ext cx="16765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기존 패러다임 한계 및 극복</a:t>
            </a:r>
            <a:endParaRPr lang="ko-KR" altLang="ko-KR" sz="400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pic>
        <p:nvPicPr>
          <p:cNvPr id="106" name="그래픽 105">
            <a:extLst>
              <a:ext uri="{FF2B5EF4-FFF2-40B4-BE49-F238E27FC236}">
                <a16:creationId xmlns:a16="http://schemas.microsoft.com/office/drawing/2014/main" id="{EE57077A-2782-E321-913D-B35AE98086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467" y="2820112"/>
            <a:ext cx="182193" cy="182193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39E01F10-806E-A523-CDEC-A577B987C2D4}"/>
              </a:ext>
            </a:extLst>
          </p:cNvPr>
          <p:cNvSpPr txBox="1"/>
          <p:nvPr/>
        </p:nvSpPr>
        <p:spPr>
          <a:xfrm>
            <a:off x="370331" y="3196518"/>
            <a:ext cx="19442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00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기존 일반 생성형 </a:t>
            </a:r>
            <a:r>
              <a:rPr lang="en-US" altLang="ko-KR" sz="10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G.DB</a:t>
            </a:r>
            <a:r>
              <a:rPr lang="ko-KR" altLang="en-US" sz="10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100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AI 모델</a:t>
            </a:r>
            <a:endParaRPr lang="ko-KR" altLang="en-US" sz="10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14A3BC6-D22C-6470-8934-5D410E634198}"/>
              </a:ext>
            </a:extLst>
          </p:cNvPr>
          <p:cNvSpPr txBox="1"/>
          <p:nvPr/>
        </p:nvSpPr>
        <p:spPr>
          <a:xfrm>
            <a:off x="2469296" y="3188981"/>
            <a:ext cx="19442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000" i="0" dirty="0" err="1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시맨틱</a:t>
            </a:r>
            <a:r>
              <a:rPr lang="ko-KR" altLang="ko-KR" sz="10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 추론 레이어 (SRL)</a:t>
            </a:r>
            <a:endParaRPr lang="ko-KR" altLang="en-US" sz="1000" dirty="0"/>
          </a:p>
        </p:txBody>
      </p:sp>
      <p:sp>
        <p:nvSpPr>
          <p:cNvPr id="113" name="Google Shape;142;p13">
            <a:extLst>
              <a:ext uri="{FF2B5EF4-FFF2-40B4-BE49-F238E27FC236}">
                <a16:creationId xmlns:a16="http://schemas.microsoft.com/office/drawing/2014/main" id="{0D7F72F2-2F6E-3C87-2CE8-4ACCB88FCF24}"/>
              </a:ext>
            </a:extLst>
          </p:cNvPr>
          <p:cNvSpPr txBox="1"/>
          <p:nvPr/>
        </p:nvSpPr>
        <p:spPr>
          <a:xfrm>
            <a:off x="626111" y="3500302"/>
            <a:ext cx="169182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20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생성형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의 확률적 예측에 전적으로 의존</a:t>
            </a:r>
          </a:p>
          <a:p>
            <a:pPr>
              <a:lnSpc>
                <a:spcPct val="20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테이블 스키마 임의 해석으로 잦은 환각 발생</a:t>
            </a:r>
          </a:p>
          <a:p>
            <a:pPr>
              <a:lnSpc>
                <a:spcPct val="20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결과값의 정확성을 사전 검증 불가능</a:t>
            </a:r>
            <a:endParaRPr lang="en-US" altLang="ko-KR" sz="6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563030-CAF7-C0AF-171A-00499272D0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197" y="3772172"/>
            <a:ext cx="154616" cy="154616"/>
          </a:xfrm>
          <a:prstGeom prst="rect">
            <a:avLst/>
          </a:prstGeom>
        </p:spPr>
      </p:pic>
      <p:pic>
        <p:nvPicPr>
          <p:cNvPr id="115" name="그래픽 114">
            <a:extLst>
              <a:ext uri="{FF2B5EF4-FFF2-40B4-BE49-F238E27FC236}">
                <a16:creationId xmlns:a16="http://schemas.microsoft.com/office/drawing/2014/main" id="{1FAF803D-32F3-A0A1-35BA-2B0AEFE39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71" y="3980599"/>
            <a:ext cx="154616" cy="154616"/>
          </a:xfrm>
          <a:prstGeom prst="rect">
            <a:avLst/>
          </a:prstGeom>
        </p:spPr>
      </p:pic>
      <p:sp>
        <p:nvSpPr>
          <p:cNvPr id="116" name="Google Shape;142;p13">
            <a:extLst>
              <a:ext uri="{FF2B5EF4-FFF2-40B4-BE49-F238E27FC236}">
                <a16:creationId xmlns:a16="http://schemas.microsoft.com/office/drawing/2014/main" id="{10B9F17B-D82B-C262-2E0A-391B6C1669A9}"/>
              </a:ext>
            </a:extLst>
          </p:cNvPr>
          <p:cNvSpPr txBox="1"/>
          <p:nvPr/>
        </p:nvSpPr>
        <p:spPr>
          <a:xfrm>
            <a:off x="2721718" y="3478983"/>
            <a:ext cx="169182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200000"/>
              </a:lnSpc>
              <a:buClr>
                <a:schemeClr val="bg1">
                  <a:lumMod val="65000"/>
                </a:schemeClr>
              </a:buClr>
            </a:pPr>
            <a:r>
              <a:rPr lang="en-US" altLang="ko-KR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100% </a:t>
            </a: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통제된 결정론적 연산 집행 보장</a:t>
            </a:r>
          </a:p>
          <a:p>
            <a:pPr>
              <a:lnSpc>
                <a:spcPct val="20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사전 정의된 </a:t>
            </a:r>
            <a:r>
              <a:rPr lang="en-US" altLang="ko-KR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Graph DB </a:t>
            </a: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위상 및 지표 사전 매핑</a:t>
            </a:r>
          </a:p>
          <a:p>
            <a:pPr>
              <a:lnSpc>
                <a:spcPct val="20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전사 지표 신뢰성 및 데이터 정합성 보장</a:t>
            </a:r>
            <a:endParaRPr lang="en-US" altLang="ko-KR" sz="600" dirty="0">
              <a:solidFill>
                <a:schemeClr val="bg1"/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D7F1338-E17B-B0F4-31ED-E9145CA996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8467" y="3737580"/>
            <a:ext cx="154800" cy="154800"/>
          </a:xfrm>
          <a:prstGeom prst="rect">
            <a:avLst/>
          </a:prstGeom>
        </p:spPr>
      </p:pic>
      <p:pic>
        <p:nvPicPr>
          <p:cNvPr id="120" name="그래픽 119">
            <a:extLst>
              <a:ext uri="{FF2B5EF4-FFF2-40B4-BE49-F238E27FC236}">
                <a16:creationId xmlns:a16="http://schemas.microsoft.com/office/drawing/2014/main" id="{A35B6AEF-96EC-B217-9518-97320EF86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8467" y="3966280"/>
            <a:ext cx="154800" cy="154800"/>
          </a:xfrm>
          <a:prstGeom prst="rect">
            <a:avLst/>
          </a:prstGeom>
        </p:spPr>
      </p:pic>
      <p:sp>
        <p:nvSpPr>
          <p:cNvPr id="121" name="Rounded Rectangle 8">
            <a:extLst>
              <a:ext uri="{FF2B5EF4-FFF2-40B4-BE49-F238E27FC236}">
                <a16:creationId xmlns:a16="http://schemas.microsoft.com/office/drawing/2014/main" id="{DDC9D6CD-C304-66CA-388C-643C1EBCBC65}"/>
              </a:ext>
            </a:extLst>
          </p:cNvPr>
          <p:cNvSpPr/>
          <p:nvPr/>
        </p:nvSpPr>
        <p:spPr>
          <a:xfrm>
            <a:off x="4675438" y="1371682"/>
            <a:ext cx="4247643" cy="3090015"/>
          </a:xfrm>
          <a:prstGeom prst="roundRect">
            <a:avLst>
              <a:gd name="adj" fmla="val 3045"/>
            </a:avLst>
          </a:prstGeom>
          <a:solidFill>
            <a:srgbClr val="0F172A"/>
          </a:solidFill>
          <a:ln w="9525" cap="flat" cmpd="sng" algn="ctr">
            <a:noFill/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123" name="Rounded Rectangle 8">
            <a:extLst>
              <a:ext uri="{FF2B5EF4-FFF2-40B4-BE49-F238E27FC236}">
                <a16:creationId xmlns:a16="http://schemas.microsoft.com/office/drawing/2014/main" id="{9AC3E423-8BB2-470F-9BC3-E945CF64098B}"/>
              </a:ext>
            </a:extLst>
          </p:cNvPr>
          <p:cNvSpPr/>
          <p:nvPr/>
        </p:nvSpPr>
        <p:spPr>
          <a:xfrm>
            <a:off x="4863838" y="1721890"/>
            <a:ext cx="3870841" cy="760756"/>
          </a:xfrm>
          <a:prstGeom prst="roundRect">
            <a:avLst>
              <a:gd name="adj" fmla="val 21650"/>
            </a:avLst>
          </a:prstGeom>
          <a:solidFill>
            <a:srgbClr val="1B2335"/>
          </a:solidFill>
          <a:ln w="9525" cap="flat" cmpd="sng" algn="ctr">
            <a:solidFill>
              <a:srgbClr val="272E3E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129" name="Rounded Rectangle 8">
            <a:extLst>
              <a:ext uri="{FF2B5EF4-FFF2-40B4-BE49-F238E27FC236}">
                <a16:creationId xmlns:a16="http://schemas.microsoft.com/office/drawing/2014/main" id="{417D1327-02E4-0C0E-211A-1F9984E9A2F8}"/>
              </a:ext>
            </a:extLst>
          </p:cNvPr>
          <p:cNvSpPr/>
          <p:nvPr/>
        </p:nvSpPr>
        <p:spPr>
          <a:xfrm>
            <a:off x="4863837" y="3529930"/>
            <a:ext cx="3870841" cy="760756"/>
          </a:xfrm>
          <a:prstGeom prst="roundRect">
            <a:avLst>
              <a:gd name="adj" fmla="val 21650"/>
            </a:avLst>
          </a:prstGeom>
          <a:solidFill>
            <a:srgbClr val="1B2335"/>
          </a:solidFill>
          <a:ln w="9525" cap="flat" cmpd="sng" algn="ctr">
            <a:solidFill>
              <a:srgbClr val="272E3E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130" name="Rounded Rectangle 8">
            <a:extLst>
              <a:ext uri="{FF2B5EF4-FFF2-40B4-BE49-F238E27FC236}">
                <a16:creationId xmlns:a16="http://schemas.microsoft.com/office/drawing/2014/main" id="{CC17C28B-91F4-D0D3-8A2F-EFCC20F16827}"/>
              </a:ext>
            </a:extLst>
          </p:cNvPr>
          <p:cNvSpPr/>
          <p:nvPr/>
        </p:nvSpPr>
        <p:spPr>
          <a:xfrm>
            <a:off x="4868204" y="2625910"/>
            <a:ext cx="3870841" cy="760756"/>
          </a:xfrm>
          <a:prstGeom prst="roundRect">
            <a:avLst>
              <a:gd name="adj" fmla="val 21650"/>
            </a:avLst>
          </a:prstGeom>
          <a:solidFill>
            <a:srgbClr val="1B2335"/>
          </a:solidFill>
          <a:ln w="9525" cap="flat" cmpd="sng" algn="ctr">
            <a:solidFill>
              <a:srgbClr val="272E3E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1ADBD79-A6AF-15C4-5801-7F05E92A6A08}"/>
              </a:ext>
            </a:extLst>
          </p:cNvPr>
          <p:cNvSpPr txBox="1"/>
          <p:nvPr/>
        </p:nvSpPr>
        <p:spPr>
          <a:xfrm>
            <a:off x="4868204" y="1431494"/>
            <a:ext cx="20906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1050" i="0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SRL 3</a:t>
            </a:r>
            <a:r>
              <a:rPr lang="ko-KR" altLang="en-US" sz="1050" i="0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대 핵심 메커니즘</a:t>
            </a:r>
            <a:endParaRPr lang="ko-KR" altLang="ko-KR" sz="400" i="0" dirty="0">
              <a:solidFill>
                <a:schemeClr val="bg1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DC2C1FB4-5920-E00F-1E5B-3E8A0743E5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6607" y="1898880"/>
            <a:ext cx="418439" cy="418439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21542C5D-DA77-CBB2-7F20-0C1057EC8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2295" y="2803206"/>
            <a:ext cx="418439" cy="418439"/>
          </a:xfrm>
          <a:prstGeom prst="rect">
            <a:avLst/>
          </a:prstGeom>
        </p:spPr>
      </p:pic>
      <p:pic>
        <p:nvPicPr>
          <p:cNvPr id="135" name="그래픽 134">
            <a:extLst>
              <a:ext uri="{FF2B5EF4-FFF2-40B4-BE49-F238E27FC236}">
                <a16:creationId xmlns:a16="http://schemas.microsoft.com/office/drawing/2014/main" id="{EEF60E39-3E51-81FC-0ED8-81885DA9B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2295" y="3708329"/>
            <a:ext cx="418439" cy="418439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B4EA5217-6A8D-DC5D-2562-E5B042C188D9}"/>
              </a:ext>
            </a:extLst>
          </p:cNvPr>
          <p:cNvSpPr txBox="1"/>
          <p:nvPr/>
        </p:nvSpPr>
        <p:spPr>
          <a:xfrm>
            <a:off x="5585518" y="1788743"/>
            <a:ext cx="31491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1. Semantic Knowledge Graph</a:t>
            </a:r>
            <a:endParaRPr lang="ko-KR" altLang="en-US" sz="10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1D01555-4602-D9D6-2463-1599860D7574}"/>
              </a:ext>
            </a:extLst>
          </p:cNvPr>
          <p:cNvSpPr txBox="1"/>
          <p:nvPr/>
        </p:nvSpPr>
        <p:spPr>
          <a:xfrm>
            <a:off x="5530310" y="2701111"/>
            <a:ext cx="31491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2. Deterministic Pipeline</a:t>
            </a:r>
            <a:endParaRPr lang="ko-KR" altLang="en-US" sz="1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B13D59B-982F-1505-D493-E8D23E51028F}"/>
              </a:ext>
            </a:extLst>
          </p:cNvPr>
          <p:cNvSpPr txBox="1"/>
          <p:nvPr/>
        </p:nvSpPr>
        <p:spPr>
          <a:xfrm>
            <a:off x="5544715" y="3603259"/>
            <a:ext cx="31491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3. Evolutionary Scenario Model</a:t>
            </a:r>
            <a:endParaRPr lang="ko-KR" altLang="en-US" sz="1000" dirty="0"/>
          </a:p>
        </p:txBody>
      </p:sp>
      <p:pic>
        <p:nvPicPr>
          <p:cNvPr id="140" name="Image 0" descr="/home/claude/innermate/cover_glow.png">
            <a:extLst>
              <a:ext uri="{FF2B5EF4-FFF2-40B4-BE49-F238E27FC236}">
                <a16:creationId xmlns:a16="http://schemas.microsoft.com/office/drawing/2014/main" id="{40CBFC73-7185-6FF7-2959-D70F6D277B4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9000"/>
          </a:blip>
          <a:srcRect t="25392" r="19941"/>
          <a:stretch>
            <a:fillRect/>
          </a:stretch>
        </p:blipFill>
        <p:spPr>
          <a:xfrm>
            <a:off x="6200373" y="1350968"/>
            <a:ext cx="2727071" cy="2541412"/>
          </a:xfrm>
          <a:prstGeom prst="rect">
            <a:avLst/>
          </a:prstGeom>
        </p:spPr>
      </p:pic>
      <p:sp>
        <p:nvSpPr>
          <p:cNvPr id="141" name="Google Shape;142;p13">
            <a:extLst>
              <a:ext uri="{FF2B5EF4-FFF2-40B4-BE49-F238E27FC236}">
                <a16:creationId xmlns:a16="http://schemas.microsoft.com/office/drawing/2014/main" id="{6F0A910B-212D-767E-95B3-64E817F0A434}"/>
              </a:ext>
            </a:extLst>
          </p:cNvPr>
          <p:cNvSpPr txBox="1"/>
          <p:nvPr/>
        </p:nvSpPr>
        <p:spPr>
          <a:xfrm>
            <a:off x="5674249" y="2072535"/>
            <a:ext cx="30604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전사 표준 지표 사전과 데이터 간의 복잡한 연관성을 네트워크로 매핑하여 단일 진실 공급원</a:t>
            </a:r>
            <a:r>
              <a:rPr lang="en-US" altLang="ko-KR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(SSOT) </a:t>
            </a: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구축</a:t>
            </a:r>
            <a:endParaRPr lang="en-US" altLang="ko-KR" sz="600" dirty="0">
              <a:solidFill>
                <a:schemeClr val="bg1"/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142" name="Google Shape;142;p13">
            <a:extLst>
              <a:ext uri="{FF2B5EF4-FFF2-40B4-BE49-F238E27FC236}">
                <a16:creationId xmlns:a16="http://schemas.microsoft.com/office/drawing/2014/main" id="{F6074E48-1B53-4106-E0AC-79A364689C3F}"/>
              </a:ext>
            </a:extLst>
          </p:cNvPr>
          <p:cNvSpPr txBox="1"/>
          <p:nvPr/>
        </p:nvSpPr>
        <p:spPr>
          <a:xfrm>
            <a:off x="5629883" y="2954444"/>
            <a:ext cx="30604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en-US" altLang="ko-KR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환각 현상을 배제하고</a:t>
            </a:r>
            <a:r>
              <a:rPr lang="en-US" altLang="ko-KR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자연어 의도를 엄격한 비즈니스 룰과 매핑하여 </a:t>
            </a:r>
            <a:r>
              <a:rPr lang="en-US" altLang="ko-KR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100% </a:t>
            </a: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정확한 정형 연산 실행</a:t>
            </a:r>
            <a:endParaRPr lang="en-US" altLang="ko-KR" sz="600" dirty="0">
              <a:solidFill>
                <a:schemeClr val="bg1"/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143" name="Google Shape;142;p13">
            <a:extLst>
              <a:ext uri="{FF2B5EF4-FFF2-40B4-BE49-F238E27FC236}">
                <a16:creationId xmlns:a16="http://schemas.microsoft.com/office/drawing/2014/main" id="{229CF2A7-868E-10FD-0CF1-5F6EB3930196}"/>
              </a:ext>
            </a:extLst>
          </p:cNvPr>
          <p:cNvSpPr txBox="1"/>
          <p:nvPr/>
        </p:nvSpPr>
        <p:spPr>
          <a:xfrm>
            <a:off x="5633446" y="3892380"/>
            <a:ext cx="30604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사용자의 질의 패턴과 분석 맥락이 시스템에 누적 학습되어</a:t>
            </a:r>
            <a:r>
              <a:rPr lang="en-US" altLang="ko-KR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7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추론 경로 및 다차원 분석 시나리오가 스스로 고도화되며 확장</a:t>
            </a:r>
            <a:endParaRPr lang="en-US" altLang="ko-KR" sz="600" dirty="0">
              <a:solidFill>
                <a:schemeClr val="bg1"/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pic>
        <p:nvPicPr>
          <p:cNvPr id="147" name="그래픽 146">
            <a:extLst>
              <a:ext uri="{FF2B5EF4-FFF2-40B4-BE49-F238E27FC236}">
                <a16:creationId xmlns:a16="http://schemas.microsoft.com/office/drawing/2014/main" id="{FB762C08-72DA-710B-5CE1-BC081A4453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1531" y="1983614"/>
            <a:ext cx="252000" cy="252000"/>
          </a:xfrm>
          <a:prstGeom prst="rect">
            <a:avLst/>
          </a:prstGeom>
        </p:spPr>
      </p:pic>
      <p:pic>
        <p:nvPicPr>
          <p:cNvPr id="149" name="그래픽 148">
            <a:extLst>
              <a:ext uri="{FF2B5EF4-FFF2-40B4-BE49-F238E27FC236}">
                <a16:creationId xmlns:a16="http://schemas.microsoft.com/office/drawing/2014/main" id="{F6F54462-ACF9-9484-C4CA-6479C0A16F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2199" y="2880288"/>
            <a:ext cx="251999" cy="251999"/>
          </a:xfrm>
          <a:prstGeom prst="rect">
            <a:avLst/>
          </a:prstGeom>
        </p:spPr>
      </p:pic>
      <p:sp>
        <p:nvSpPr>
          <p:cNvPr id="156" name="자유형: 도형 155">
            <a:extLst>
              <a:ext uri="{FF2B5EF4-FFF2-40B4-BE49-F238E27FC236}">
                <a16:creationId xmlns:a16="http://schemas.microsoft.com/office/drawing/2014/main" id="{8DFD6625-AB53-8B2D-457E-D6C86B20DEC4}"/>
              </a:ext>
            </a:extLst>
          </p:cNvPr>
          <p:cNvSpPr/>
          <p:nvPr/>
        </p:nvSpPr>
        <p:spPr>
          <a:xfrm>
            <a:off x="5177594" y="3809375"/>
            <a:ext cx="182066" cy="232566"/>
          </a:xfrm>
          <a:custGeom>
            <a:avLst/>
            <a:gdLst>
              <a:gd name="csX0" fmla="*/ 164359 w 490008"/>
              <a:gd name="csY0" fmla="*/ 283739 h 625924"/>
              <a:gd name="csX1" fmla="*/ 185314 w 490008"/>
              <a:gd name="csY1" fmla="*/ 322792 h 625924"/>
              <a:gd name="csX2" fmla="*/ 187219 w 490008"/>
              <a:gd name="csY2" fmla="*/ 340889 h 625924"/>
              <a:gd name="csX3" fmla="*/ 187219 w 490008"/>
              <a:gd name="csY3" fmla="*/ 417089 h 625924"/>
              <a:gd name="csX4" fmla="*/ 131022 w 490008"/>
              <a:gd name="csY4" fmla="*/ 441854 h 625924"/>
              <a:gd name="csX5" fmla="*/ 92922 w 490008"/>
              <a:gd name="csY5" fmla="*/ 479954 h 625924"/>
              <a:gd name="csX6" fmla="*/ 92922 w 490008"/>
              <a:gd name="csY6" fmla="*/ 600922 h 625924"/>
              <a:gd name="csX7" fmla="*/ 213889 w 490008"/>
              <a:gd name="csY7" fmla="*/ 600922 h 625924"/>
              <a:gd name="csX8" fmla="*/ 251989 w 490008"/>
              <a:gd name="csY8" fmla="*/ 562822 h 625924"/>
              <a:gd name="csX9" fmla="*/ 251989 w 490008"/>
              <a:gd name="csY9" fmla="*/ 441854 h 625924"/>
              <a:gd name="csX10" fmla="*/ 251989 w 490008"/>
              <a:gd name="csY10" fmla="*/ 441854 h 625924"/>
              <a:gd name="csX11" fmla="*/ 250084 w 490008"/>
              <a:gd name="csY11" fmla="*/ 439949 h 625924"/>
              <a:gd name="csX12" fmla="*/ 183409 w 490008"/>
              <a:gd name="csY12" fmla="*/ 506624 h 625924"/>
              <a:gd name="csX13" fmla="*/ 227224 w 490008"/>
              <a:gd name="csY13" fmla="*/ 412327 h 625924"/>
              <a:gd name="csX14" fmla="*/ 226272 w 490008"/>
              <a:gd name="csY14" fmla="*/ 339937 h 625924"/>
              <a:gd name="csX15" fmla="*/ 237702 w 490008"/>
              <a:gd name="csY15" fmla="*/ 291359 h 625924"/>
              <a:gd name="csX16" fmla="*/ 283422 w 490008"/>
              <a:gd name="csY16" fmla="*/ 237067 h 625924"/>
              <a:gd name="csX17" fmla="*/ 439632 w 490008"/>
              <a:gd name="csY17" fmla="*/ 186584 h 625924"/>
              <a:gd name="csX18" fmla="*/ 488209 w 490008"/>
              <a:gd name="csY18" fmla="*/ 1799 h 625924"/>
              <a:gd name="csX19" fmla="*/ 303424 w 490008"/>
              <a:gd name="csY19" fmla="*/ 50377 h 625924"/>
              <a:gd name="csX20" fmla="*/ 252942 w 490008"/>
              <a:gd name="csY20" fmla="*/ 210397 h 625924"/>
              <a:gd name="csX21" fmla="*/ 203412 w 490008"/>
              <a:gd name="csY21" fmla="*/ 271357 h 625924"/>
              <a:gd name="csX22" fmla="*/ 194839 w 490008"/>
              <a:gd name="csY22" fmla="*/ 259927 h 625924"/>
              <a:gd name="csX23" fmla="*/ 153882 w 490008"/>
              <a:gd name="csY23" fmla="*/ 128482 h 625924"/>
              <a:gd name="csX24" fmla="*/ 1482 w 490008"/>
              <a:gd name="csY24" fmla="*/ 88477 h 625924"/>
              <a:gd name="csX25" fmla="*/ 41487 w 490008"/>
              <a:gd name="csY25" fmla="*/ 240877 h 625924"/>
              <a:gd name="csX26" fmla="*/ 164359 w 490008"/>
              <a:gd name="csY26" fmla="*/ 283739 h 625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90008" h="625924">
                <a:moveTo>
                  <a:pt x="164359" y="283739"/>
                </a:moveTo>
                <a:cubicBezTo>
                  <a:pt x="173884" y="295169"/>
                  <a:pt x="180552" y="308504"/>
                  <a:pt x="185314" y="322792"/>
                </a:cubicBezTo>
                <a:cubicBezTo>
                  <a:pt x="186267" y="328507"/>
                  <a:pt x="187219" y="335174"/>
                  <a:pt x="187219" y="340889"/>
                </a:cubicBezTo>
                <a:lnTo>
                  <a:pt x="187219" y="417089"/>
                </a:lnTo>
                <a:cubicBezTo>
                  <a:pt x="166264" y="418042"/>
                  <a:pt x="146262" y="426614"/>
                  <a:pt x="131022" y="441854"/>
                </a:cubicBezTo>
                <a:lnTo>
                  <a:pt x="92922" y="479954"/>
                </a:lnTo>
                <a:cubicBezTo>
                  <a:pt x="59584" y="513292"/>
                  <a:pt x="59584" y="567584"/>
                  <a:pt x="92922" y="600922"/>
                </a:cubicBezTo>
                <a:cubicBezTo>
                  <a:pt x="126259" y="634259"/>
                  <a:pt x="180552" y="634259"/>
                  <a:pt x="213889" y="600922"/>
                </a:cubicBezTo>
                <a:lnTo>
                  <a:pt x="251989" y="562822"/>
                </a:lnTo>
                <a:cubicBezTo>
                  <a:pt x="285327" y="529484"/>
                  <a:pt x="285327" y="475192"/>
                  <a:pt x="251989" y="441854"/>
                </a:cubicBezTo>
                <a:lnTo>
                  <a:pt x="251989" y="441854"/>
                </a:lnTo>
                <a:cubicBezTo>
                  <a:pt x="251037" y="440902"/>
                  <a:pt x="251037" y="440902"/>
                  <a:pt x="250084" y="439949"/>
                </a:cubicBezTo>
                <a:lnTo>
                  <a:pt x="183409" y="506624"/>
                </a:lnTo>
                <a:lnTo>
                  <a:pt x="227224" y="412327"/>
                </a:lnTo>
                <a:lnTo>
                  <a:pt x="226272" y="339937"/>
                </a:lnTo>
                <a:cubicBezTo>
                  <a:pt x="227224" y="322792"/>
                  <a:pt x="231034" y="306599"/>
                  <a:pt x="237702" y="291359"/>
                </a:cubicBezTo>
                <a:cubicBezTo>
                  <a:pt x="246274" y="268499"/>
                  <a:pt x="262467" y="249449"/>
                  <a:pt x="283422" y="237067"/>
                </a:cubicBezTo>
                <a:cubicBezTo>
                  <a:pt x="323427" y="238019"/>
                  <a:pt x="394864" y="231352"/>
                  <a:pt x="439632" y="186584"/>
                </a:cubicBezTo>
                <a:cubicBezTo>
                  <a:pt x="504402" y="121814"/>
                  <a:pt x="488209" y="1799"/>
                  <a:pt x="488209" y="1799"/>
                </a:cubicBezTo>
                <a:cubicBezTo>
                  <a:pt x="488209" y="1799"/>
                  <a:pt x="367242" y="-14393"/>
                  <a:pt x="303424" y="50377"/>
                </a:cubicBezTo>
                <a:cubicBezTo>
                  <a:pt x="256752" y="97049"/>
                  <a:pt x="251989" y="171344"/>
                  <a:pt x="252942" y="210397"/>
                </a:cubicBezTo>
                <a:cubicBezTo>
                  <a:pt x="231034" y="226589"/>
                  <a:pt x="214842" y="247544"/>
                  <a:pt x="203412" y="271357"/>
                </a:cubicBezTo>
                <a:cubicBezTo>
                  <a:pt x="200554" y="267547"/>
                  <a:pt x="197697" y="263737"/>
                  <a:pt x="194839" y="259927"/>
                </a:cubicBezTo>
                <a:cubicBezTo>
                  <a:pt x="195792" y="227542"/>
                  <a:pt x="191029" y="166582"/>
                  <a:pt x="153882" y="128482"/>
                </a:cubicBezTo>
                <a:cubicBezTo>
                  <a:pt x="100542" y="75142"/>
                  <a:pt x="1482" y="88477"/>
                  <a:pt x="1482" y="88477"/>
                </a:cubicBezTo>
                <a:cubicBezTo>
                  <a:pt x="1482" y="88477"/>
                  <a:pt x="-11853" y="187537"/>
                  <a:pt x="41487" y="240877"/>
                </a:cubicBezTo>
                <a:cubicBezTo>
                  <a:pt x="77682" y="276119"/>
                  <a:pt x="131022" y="282787"/>
                  <a:pt x="164359" y="28373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F37C648E-4B14-1A05-B0EB-D7AD137D219C}"/>
              </a:ext>
            </a:extLst>
          </p:cNvPr>
          <p:cNvSpPr/>
          <p:nvPr/>
        </p:nvSpPr>
        <p:spPr>
          <a:xfrm>
            <a:off x="256033" y="4574398"/>
            <a:ext cx="8667048" cy="334151"/>
          </a:xfrm>
          <a:prstGeom prst="roundRect">
            <a:avLst>
              <a:gd name="adj" fmla="val 23144"/>
            </a:avLst>
          </a:prstGeom>
          <a:solidFill>
            <a:srgbClr val="1E293B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E18087F-9B61-602D-55FD-0A2FA27834C1}"/>
              </a:ext>
            </a:extLst>
          </p:cNvPr>
          <p:cNvSpPr txBox="1"/>
          <p:nvPr/>
        </p:nvSpPr>
        <p:spPr>
          <a:xfrm>
            <a:off x="1219200" y="4619729"/>
            <a:ext cx="77399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10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SRL</a:t>
            </a:r>
            <a:r>
              <a:rPr lang="ko-KR" altLang="en-US" sz="10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은 단순한 번역기가 아닌</a:t>
            </a:r>
            <a:r>
              <a:rPr lang="en-US" altLang="ko-KR" sz="10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, </a:t>
            </a:r>
            <a:r>
              <a:rPr lang="ko-KR" altLang="en-US" sz="10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기업 데이터의 무결성을 수호하며 조직의 분석 경험이 축적될수록 집단지성으로 진화하는 지능형 통제 센터입니다</a:t>
            </a:r>
            <a:r>
              <a:rPr lang="en-US" altLang="ko-KR" sz="10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.</a:t>
            </a:r>
            <a:endParaRPr lang="ko-KR" altLang="ko-KR" sz="1000" i="0" dirty="0">
              <a:solidFill>
                <a:srgbClr val="FFFFFF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69" name="그래픽 167">
            <a:extLst>
              <a:ext uri="{FF2B5EF4-FFF2-40B4-BE49-F238E27FC236}">
                <a16:creationId xmlns:a16="http://schemas.microsoft.com/office/drawing/2014/main" id="{5A99A1C3-3277-B1D1-CF22-5E22F0C4DFDB}"/>
              </a:ext>
            </a:extLst>
          </p:cNvPr>
          <p:cNvSpPr/>
          <p:nvPr/>
        </p:nvSpPr>
        <p:spPr>
          <a:xfrm>
            <a:off x="335508" y="4649067"/>
            <a:ext cx="883692" cy="183646"/>
          </a:xfrm>
          <a:prstGeom prst="roundRect">
            <a:avLst>
              <a:gd name="adj" fmla="val 36907"/>
            </a:avLst>
          </a:prstGeom>
          <a:solidFill>
            <a:srgbClr val="28B0A3"/>
          </a:solidFill>
          <a:ln w="7876" cap="flat">
            <a:noFill/>
            <a:prstDash val="solid"/>
            <a:miter/>
          </a:ln>
        </p:spPr>
        <p:txBody>
          <a:bodyPr lIns="36000" tIns="0" rIns="36000" bIns="0"/>
          <a:lstStyle/>
          <a:p>
            <a:pPr algn="ctr"/>
            <a:r>
              <a:rPr lang="ko-KR" altLang="ko-KR" sz="800" b="1" i="0" dirty="0" err="1">
                <a:solidFill>
                  <a:srgbClr val="0F172A"/>
                </a:solidFill>
                <a:effectLst/>
                <a:latin typeface="Inter"/>
              </a:rPr>
              <a:t>Value</a:t>
            </a:r>
            <a:r>
              <a:rPr lang="ko-KR" altLang="ko-KR" sz="800" b="1" i="0" dirty="0">
                <a:solidFill>
                  <a:srgbClr val="0F172A"/>
                </a:solidFill>
                <a:effectLst/>
                <a:latin typeface="Inter"/>
              </a:rPr>
              <a:t> </a:t>
            </a:r>
            <a:r>
              <a:rPr lang="ko-KR" altLang="ko-KR" sz="800" b="1" i="0" dirty="0" err="1">
                <a:solidFill>
                  <a:srgbClr val="0F172A"/>
                </a:solidFill>
                <a:effectLst/>
                <a:latin typeface="Inter"/>
              </a:rPr>
              <a:t>Proposition</a:t>
            </a:r>
            <a:br>
              <a:rPr lang="ko-KR" altLang="ko-KR" sz="800" dirty="0"/>
            </a:b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001560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19F8B-9180-8143-C4CC-0B3ADA78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4">
            <a:extLst>
              <a:ext uri="{FF2B5EF4-FFF2-40B4-BE49-F238E27FC236}">
                <a16:creationId xmlns:a16="http://schemas.microsoft.com/office/drawing/2014/main" id="{47085D6B-AE60-5080-6038-386F93FA1361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CCD4F-B950-9F02-7FFA-6D079A96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SRL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양방향 질의 처리 및 자가 진화 루프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97F5D-F44F-84EA-82F7-5E66D7A98D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02 ·  Solution Deep Dive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CD207-0EE6-053B-04DD-F058A146DCFA}"/>
              </a:ext>
            </a:extLst>
          </p:cNvPr>
          <p:cNvSpPr txBox="1"/>
          <p:nvPr/>
        </p:nvSpPr>
        <p:spPr>
          <a:xfrm>
            <a:off x="256032" y="674109"/>
            <a:ext cx="8595360" cy="397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ko-KR" altLang="en-US" sz="1200" i="0" dirty="0">
                <a:solidFill>
                  <a:srgbClr val="000000"/>
                </a:solidFill>
                <a:effectLst/>
                <a:latin typeface="SUIT" pitchFamily="2" charset="-127"/>
                <a:ea typeface="SUIT" pitchFamily="2" charset="-127"/>
              </a:rPr>
              <a:t>모호함은 되묻고</a:t>
            </a:r>
            <a:r>
              <a:rPr lang="en-US" altLang="ko-KR" sz="1200" i="0" dirty="0">
                <a:solidFill>
                  <a:srgbClr val="000000"/>
                </a:solidFill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1200" i="0" dirty="0">
                <a:solidFill>
                  <a:srgbClr val="000000"/>
                </a:solidFill>
                <a:effectLst/>
                <a:latin typeface="SUIT" pitchFamily="2" charset="-127"/>
                <a:ea typeface="SUIT" pitchFamily="2" charset="-127"/>
              </a:rPr>
              <a:t>새로운 인과관계는 </a:t>
            </a:r>
            <a:r>
              <a:rPr lang="ko-KR" altLang="en-US" sz="1200" i="0" dirty="0" err="1">
                <a:solidFill>
                  <a:srgbClr val="000000"/>
                </a:solidFill>
                <a:effectLst/>
                <a:latin typeface="SUIT" pitchFamily="2" charset="-127"/>
                <a:ea typeface="SUIT" pitchFamily="2" charset="-127"/>
              </a:rPr>
              <a:t>자산화하는</a:t>
            </a:r>
            <a:r>
              <a:rPr lang="ko-KR" altLang="en-US" sz="1200" i="0" dirty="0">
                <a:solidFill>
                  <a:srgbClr val="000000"/>
                </a:solidFill>
                <a:effectLst/>
                <a:latin typeface="SUIT" pitchFamily="2" charset="-127"/>
                <a:ea typeface="SUIT" pitchFamily="2" charset="-127"/>
              </a:rPr>
              <a:t> 능동형 파이프라인</a:t>
            </a:r>
            <a:endParaRPr lang="ko-KR" altLang="ko-KR" sz="1200" i="0" dirty="0">
              <a:solidFill>
                <a:srgbClr val="000000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lvl="0">
              <a:lnSpc>
                <a:spcPct val="140000"/>
              </a:lnSpc>
            </a:pP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자연어 의도를 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Graph DB 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위상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(Topology)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에 </a:t>
            </a:r>
            <a:r>
              <a:rPr lang="ko-KR" altLang="en-US" sz="1100" dirty="0" err="1">
                <a:solidFill>
                  <a:srgbClr val="334155"/>
                </a:solidFill>
                <a:cs typeface="Noto Sans KR"/>
                <a:sym typeface="Noto Sans KR"/>
              </a:rPr>
              <a:t>맵핑하여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 불확실성을 해결하고 연관 분석 시나리오를 선제적으로 제안하는 흐름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610EEC41-770D-081E-3444-D06B9175A8B6}"/>
              </a:ext>
            </a:extLst>
          </p:cNvPr>
          <p:cNvSpPr/>
          <p:nvPr/>
        </p:nvSpPr>
        <p:spPr>
          <a:xfrm>
            <a:off x="2225353" y="1371378"/>
            <a:ext cx="4725673" cy="3038518"/>
          </a:xfrm>
          <a:prstGeom prst="roundRect">
            <a:avLst>
              <a:gd name="adj" fmla="val 3045"/>
            </a:avLst>
          </a:prstGeom>
          <a:solidFill>
            <a:srgbClr val="0F172A"/>
          </a:solidFill>
          <a:ln w="9525" cap="flat" cmpd="sng" algn="ctr">
            <a:noFill/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A37AF0-952F-4602-160E-ACD0FABF9CEE}"/>
              </a:ext>
            </a:extLst>
          </p:cNvPr>
          <p:cNvSpPr/>
          <p:nvPr/>
        </p:nvSpPr>
        <p:spPr>
          <a:xfrm>
            <a:off x="7127838" y="1371378"/>
            <a:ext cx="1764000" cy="3038518"/>
          </a:xfrm>
          <a:prstGeom prst="roundRect">
            <a:avLst>
              <a:gd name="adj" fmla="val 8295"/>
            </a:avLst>
          </a:prstGeom>
          <a:solidFill>
            <a:srgbClr val="F0FDFA"/>
          </a:solidFill>
          <a:ln w="9525" cap="flat" cmpd="sng" algn="ctr">
            <a:solidFill>
              <a:srgbClr val="D8F7F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88D46D7A-86FB-2851-28F0-C82F3F776ACC}"/>
              </a:ext>
            </a:extLst>
          </p:cNvPr>
          <p:cNvSpPr/>
          <p:nvPr/>
        </p:nvSpPr>
        <p:spPr>
          <a:xfrm>
            <a:off x="256032" y="1371379"/>
            <a:ext cx="1764000" cy="3496332"/>
          </a:xfrm>
          <a:prstGeom prst="roundRect">
            <a:avLst>
              <a:gd name="adj" fmla="val 8295"/>
            </a:avLst>
          </a:prstGeom>
          <a:solidFill>
            <a:srgbClr val="F8FAFC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8D0AC-6910-60AA-7AA4-4418D1546464}"/>
              </a:ext>
            </a:extLst>
          </p:cNvPr>
          <p:cNvSpPr txBox="1"/>
          <p:nvPr/>
        </p:nvSpPr>
        <p:spPr>
          <a:xfrm>
            <a:off x="256032" y="1433477"/>
            <a:ext cx="16362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900" i="0" dirty="0">
                <a:solidFill>
                  <a:srgbClr val="0F6E56"/>
                </a:solidFill>
                <a:effectLst/>
                <a:latin typeface="SUIT ExtraBold" pitchFamily="50" charset="-127"/>
                <a:ea typeface="SUIT ExtraBold" pitchFamily="50" charset="-127"/>
              </a:rPr>
              <a:t>S</a:t>
            </a:r>
            <a:r>
              <a:rPr lang="en-US" altLang="ko-KR" sz="900" dirty="0">
                <a:solidFill>
                  <a:srgbClr val="0F6E56"/>
                </a:solidFill>
                <a:latin typeface="SUIT ExtraBold" pitchFamily="50" charset="-127"/>
                <a:ea typeface="SUIT ExtraBold" pitchFamily="50" charset="-127"/>
              </a:rPr>
              <a:t>TEP1 </a:t>
            </a:r>
          </a:p>
          <a:p>
            <a:pPr algn="l">
              <a:spcAft>
                <a:spcPts val="900"/>
              </a:spcAft>
              <a:buNone/>
            </a:pPr>
            <a:r>
              <a:rPr lang="ko-KR" altLang="en-US" sz="1050" dirty="0">
                <a:solidFill>
                  <a:srgbClr val="0F172A"/>
                </a:solidFill>
                <a:latin typeface="SUIT ExtraBold" pitchFamily="50" charset="-127"/>
                <a:ea typeface="SUIT ExtraBold" pitchFamily="50" charset="-127"/>
              </a:rPr>
              <a:t>자연어</a:t>
            </a:r>
            <a:r>
              <a:rPr lang="en-US" altLang="ko-KR" sz="1050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en-US" sz="1050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정의 및 역할</a:t>
            </a:r>
            <a:endParaRPr lang="ko-KR" altLang="ko-KR" sz="400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16E27C-D2B9-DFBB-1616-A3D90B55D53C}"/>
              </a:ext>
            </a:extLst>
          </p:cNvPr>
          <p:cNvSpPr txBox="1"/>
          <p:nvPr/>
        </p:nvSpPr>
        <p:spPr>
          <a:xfrm>
            <a:off x="7136159" y="1433477"/>
            <a:ext cx="162793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900" i="0" dirty="0">
                <a:solidFill>
                  <a:srgbClr val="0F6E56"/>
                </a:solidFill>
                <a:effectLst/>
                <a:latin typeface="SUIT ExtraBold" pitchFamily="50" charset="-127"/>
                <a:ea typeface="SUIT ExtraBold" pitchFamily="50" charset="-127"/>
              </a:rPr>
              <a:t>S</a:t>
            </a:r>
            <a:r>
              <a:rPr lang="en-US" altLang="ko-KR" sz="900" dirty="0">
                <a:solidFill>
                  <a:srgbClr val="0F6E56"/>
                </a:solidFill>
                <a:latin typeface="SUIT ExtraBold" pitchFamily="50" charset="-127"/>
                <a:ea typeface="SUIT ExtraBold" pitchFamily="50" charset="-127"/>
              </a:rPr>
              <a:t>TEP4 </a:t>
            </a:r>
          </a:p>
          <a:p>
            <a:pPr algn="l">
              <a:spcAft>
                <a:spcPts val="900"/>
              </a:spcAft>
              <a:buNone/>
            </a:pPr>
            <a:r>
              <a:rPr lang="ko-KR" altLang="en-US" sz="1050" dirty="0">
                <a:solidFill>
                  <a:srgbClr val="0F172A"/>
                </a:solidFill>
                <a:latin typeface="SUIT ExtraBold" pitchFamily="50" charset="-127"/>
                <a:ea typeface="SUIT ExtraBold" pitchFamily="50" charset="-127"/>
              </a:rPr>
              <a:t>시나리오 자산화 및 제안</a:t>
            </a:r>
            <a:endParaRPr lang="ko-KR" altLang="ko-KR" sz="400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1B2AB4-C8EE-3324-D960-ADC1CB15E3D4}"/>
              </a:ext>
            </a:extLst>
          </p:cNvPr>
          <p:cNvSpPr txBox="1"/>
          <p:nvPr/>
        </p:nvSpPr>
        <p:spPr>
          <a:xfrm>
            <a:off x="304799" y="1948601"/>
            <a:ext cx="1715233" cy="6024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사용자의 비정형 의도가 진입하며 파싱을 통해 초기 상태를 진단합니다</a:t>
            </a:r>
            <a:r>
              <a:rPr lang="en-US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64139-FB1E-2634-8668-8DC3EB5F8BE1}"/>
              </a:ext>
            </a:extLst>
          </p:cNvPr>
          <p:cNvSpPr txBox="1"/>
          <p:nvPr/>
        </p:nvSpPr>
        <p:spPr>
          <a:xfrm>
            <a:off x="7172735" y="1948601"/>
            <a:ext cx="1715233" cy="6024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검증 완료된 탐색 경로는 </a:t>
            </a:r>
            <a:r>
              <a:rPr lang="ko-KR" altLang="en-US" sz="9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템플릿화되며</a:t>
            </a:r>
            <a:r>
              <a:rPr lang="en-US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발견된 연관 지표는 새로운 인사이트 축으로 제안됩니다</a:t>
            </a:r>
            <a:r>
              <a:rPr lang="en-US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BEA5A083-968F-3926-2A85-EC3418E36BD8}"/>
              </a:ext>
            </a:extLst>
          </p:cNvPr>
          <p:cNvSpPr/>
          <p:nvPr/>
        </p:nvSpPr>
        <p:spPr>
          <a:xfrm>
            <a:off x="389313" y="2678778"/>
            <a:ext cx="1502976" cy="271591"/>
          </a:xfrm>
          <a:prstGeom prst="wedgeRoundRectCallout">
            <a:avLst>
              <a:gd name="adj1" fmla="val 54076"/>
              <a:gd name="adj2" fmla="val 49056"/>
              <a:gd name="adj3" fmla="val 16667"/>
            </a:avLst>
          </a:prstGeom>
          <a:solidFill>
            <a:srgbClr val="FFFFFF"/>
          </a:solidFill>
          <a:ln w="9525" cap="flat" cmpd="sng" algn="ctr">
            <a:solidFill>
              <a:srgbClr val="0F6E5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6000" tIns="36000" rIns="36000" bIns="36000" rtlCol="0" anchor="t"/>
          <a:lstStyle/>
          <a:p>
            <a:r>
              <a:rPr lang="ko-KR" altLang="ko-KR" sz="800" dirty="0">
                <a:solidFill>
                  <a:schemeClr val="tx1"/>
                </a:solidFill>
              </a:rPr>
              <a:t>최근 영업이익 하락 원인이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ko-KR" sz="800" dirty="0" err="1">
                <a:solidFill>
                  <a:schemeClr val="tx1"/>
                </a:solidFill>
              </a:rPr>
              <a:t>뭐야</a:t>
            </a:r>
            <a:r>
              <a:rPr lang="ko-KR" altLang="ko-KR" sz="800" dirty="0">
                <a:solidFill>
                  <a:schemeClr val="tx1"/>
                </a:solidFill>
              </a:rPr>
              <a:t>?</a:t>
            </a:r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0CEA1F3-65E3-9EF8-9050-99CBE6E1D1B5}"/>
              </a:ext>
            </a:extLst>
          </p:cNvPr>
          <p:cNvSpPr/>
          <p:nvPr/>
        </p:nvSpPr>
        <p:spPr>
          <a:xfrm>
            <a:off x="389313" y="3036822"/>
            <a:ext cx="1502977" cy="1250552"/>
          </a:xfrm>
          <a:prstGeom prst="roundRect">
            <a:avLst>
              <a:gd name="adj" fmla="val 10705"/>
            </a:avLst>
          </a:prstGeom>
          <a:solidFill>
            <a:schemeClr val="bg1"/>
          </a:solidFill>
          <a:ln w="12700" cap="flat" cmpd="sng" algn="ctr">
            <a:solidFill>
              <a:srgbClr val="13CE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4A0C37-C41D-65EB-C833-4C14253A92C1}"/>
              </a:ext>
            </a:extLst>
          </p:cNvPr>
          <p:cNvSpPr txBox="1"/>
          <p:nvPr/>
        </p:nvSpPr>
        <p:spPr>
          <a:xfrm>
            <a:off x="2546669" y="1486507"/>
            <a:ext cx="23539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SRL REASONING ENGINE</a:t>
            </a:r>
            <a:endParaRPr lang="ko-KR" altLang="en-US" sz="1000" dirty="0"/>
          </a:p>
        </p:txBody>
      </p:sp>
      <p:pic>
        <p:nvPicPr>
          <p:cNvPr id="28" name="그래픽 27" descr="좌뇌 단색으로 채워진">
            <a:extLst>
              <a:ext uri="{FF2B5EF4-FFF2-40B4-BE49-F238E27FC236}">
                <a16:creationId xmlns:a16="http://schemas.microsoft.com/office/drawing/2014/main" id="{09B407D3-55DF-886B-1E86-BECDECFF2F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1347" y="1473045"/>
            <a:ext cx="259683" cy="259683"/>
          </a:xfrm>
          <a:prstGeom prst="rect">
            <a:avLst/>
          </a:prstGeom>
        </p:spPr>
      </p:pic>
      <p:sp>
        <p:nvSpPr>
          <p:cNvPr id="33" name="Shape 4">
            <a:extLst>
              <a:ext uri="{FF2B5EF4-FFF2-40B4-BE49-F238E27FC236}">
                <a16:creationId xmlns:a16="http://schemas.microsoft.com/office/drawing/2014/main" id="{ACEB2C7E-A26A-71EB-0EFD-DCE3A9171E41}"/>
              </a:ext>
            </a:extLst>
          </p:cNvPr>
          <p:cNvSpPr/>
          <p:nvPr/>
        </p:nvSpPr>
        <p:spPr>
          <a:xfrm>
            <a:off x="484744" y="3352800"/>
            <a:ext cx="498235" cy="208280"/>
          </a:xfrm>
          <a:prstGeom prst="roundRect">
            <a:avLst>
              <a:gd name="adj" fmla="val 14302"/>
            </a:avLst>
          </a:prstGeom>
          <a:solidFill>
            <a:srgbClr val="1B2335"/>
          </a:solidFill>
          <a:ln>
            <a:solidFill>
              <a:srgbClr val="EBEFF5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Metric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E5AEEE-3FAF-332E-AF95-69EEB3FCA432}"/>
              </a:ext>
            </a:extLst>
          </p:cNvPr>
          <p:cNvSpPr txBox="1"/>
          <p:nvPr/>
        </p:nvSpPr>
        <p:spPr>
          <a:xfrm>
            <a:off x="389313" y="3075629"/>
            <a:ext cx="15162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EXTRACTION ENGINE</a:t>
            </a:r>
            <a:endParaRPr lang="ko-KR" altLang="en-US" sz="900" dirty="0">
              <a:solidFill>
                <a:srgbClr val="0F6E56"/>
              </a:solidFill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549E7837-9884-6C0C-50FB-C856819409B5}"/>
              </a:ext>
            </a:extLst>
          </p:cNvPr>
          <p:cNvSpPr/>
          <p:nvPr/>
        </p:nvSpPr>
        <p:spPr>
          <a:xfrm>
            <a:off x="484744" y="3638550"/>
            <a:ext cx="498235" cy="233111"/>
          </a:xfrm>
          <a:prstGeom prst="roundRect">
            <a:avLst>
              <a:gd name="adj" fmla="val 14302"/>
            </a:avLst>
          </a:prstGeom>
          <a:solidFill>
            <a:srgbClr val="1B2335"/>
          </a:solidFill>
          <a:ln>
            <a:solidFill>
              <a:srgbClr val="EBEFF5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altLang="ko-KR" sz="900" dirty="0" err="1">
                <a:solidFill>
                  <a:schemeClr val="bg1"/>
                </a:solidFill>
              </a:rPr>
              <a:t>Internt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0774D115-CD65-E860-C83D-FDD10D051CE7}"/>
              </a:ext>
            </a:extLst>
          </p:cNvPr>
          <p:cNvSpPr/>
          <p:nvPr/>
        </p:nvSpPr>
        <p:spPr>
          <a:xfrm>
            <a:off x="484743" y="3937000"/>
            <a:ext cx="498235" cy="209495"/>
          </a:xfrm>
          <a:prstGeom prst="roundRect">
            <a:avLst>
              <a:gd name="adj" fmla="val 14302"/>
            </a:avLst>
          </a:prstGeom>
          <a:solidFill>
            <a:srgbClr val="FFE4E6"/>
          </a:solidFill>
          <a:ln>
            <a:solidFill>
              <a:srgbClr val="FDB7C0"/>
            </a:solidFill>
          </a:ln>
        </p:spPr>
        <p:txBody>
          <a:bodyPr lIns="36000" tIns="0" rIns="36000" bIns="0" anchor="ctr"/>
          <a:lstStyle/>
          <a:p>
            <a:pPr algn="ctr"/>
            <a:r>
              <a:rPr lang="en-US" altLang="ko-KR" sz="900" dirty="0"/>
              <a:t>Error</a:t>
            </a:r>
            <a:endParaRPr lang="ko-KR" altLang="en-US" sz="9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058519-7B04-EBD4-9F20-ABE99A13C919}"/>
              </a:ext>
            </a:extLst>
          </p:cNvPr>
          <p:cNvSpPr txBox="1"/>
          <p:nvPr/>
        </p:nvSpPr>
        <p:spPr>
          <a:xfrm>
            <a:off x="957578" y="3341744"/>
            <a:ext cx="8703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SUIT" panose="020F0502020204030204"/>
                <a:ea typeface="SUIT" pitchFamily="2" charset="-127"/>
              </a:rPr>
              <a:t>영업이익</a:t>
            </a:r>
            <a:r>
              <a:rPr lang="en-US" altLang="ko-KR" sz="800" dirty="0">
                <a:solidFill>
                  <a:prstClr val="black"/>
                </a:solidFill>
                <a:latin typeface="SUIT" panose="020F0502020204030204"/>
                <a:ea typeface="SUIT" pitchFamily="2" charset="-127"/>
              </a:rPr>
              <a:t>(OP)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anose="020F0502020204030204"/>
              <a:ea typeface="SUI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79B4D4-39BA-DE09-AEDE-6CCBC38DF444}"/>
              </a:ext>
            </a:extLst>
          </p:cNvPr>
          <p:cNvSpPr txBox="1"/>
          <p:nvPr/>
        </p:nvSpPr>
        <p:spPr>
          <a:xfrm>
            <a:off x="957579" y="3656632"/>
            <a:ext cx="8703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SUIT" panose="020F0502020204030204"/>
                <a:ea typeface="SUIT" pitchFamily="2" charset="-127"/>
              </a:rPr>
              <a:t>하락</a:t>
            </a:r>
            <a:r>
              <a:rPr lang="en-US" altLang="ko-KR" sz="800" dirty="0">
                <a:solidFill>
                  <a:prstClr val="black"/>
                </a:solidFill>
                <a:latin typeface="SUIT" panose="020F0502020204030204"/>
                <a:ea typeface="SUIT" pitchFamily="2" charset="-127"/>
              </a:rPr>
              <a:t> </a:t>
            </a:r>
            <a:r>
              <a:rPr lang="ko-KR" altLang="en-US" sz="800" dirty="0">
                <a:solidFill>
                  <a:prstClr val="black"/>
                </a:solidFill>
                <a:latin typeface="SUIT" panose="020F0502020204030204"/>
                <a:ea typeface="SUIT" pitchFamily="2" charset="-127"/>
              </a:rPr>
              <a:t>요인 분석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anose="020F0502020204030204"/>
              <a:ea typeface="SUI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212851-B83C-4F4E-64FD-BFC235E749E9}"/>
              </a:ext>
            </a:extLst>
          </p:cNvPr>
          <p:cNvSpPr txBox="1"/>
          <p:nvPr/>
        </p:nvSpPr>
        <p:spPr>
          <a:xfrm>
            <a:off x="957577" y="3951286"/>
            <a:ext cx="8703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C00000"/>
                </a:solidFill>
                <a:latin typeface="SUIT" panose="020F0502020204030204"/>
                <a:ea typeface="SUIT" pitchFamily="2" charset="-127"/>
              </a:rPr>
              <a:t>축</a:t>
            </a:r>
            <a:r>
              <a:rPr lang="en-US" altLang="ko-KR" sz="800" dirty="0">
                <a:solidFill>
                  <a:srgbClr val="C00000"/>
                </a:solidFill>
                <a:latin typeface="SUIT" panose="020F0502020204030204"/>
                <a:ea typeface="SUIT" pitchFamily="2" charset="-127"/>
              </a:rPr>
              <a:t>(Dim.)</a:t>
            </a:r>
            <a:r>
              <a:rPr lang="ko-KR" altLang="en-US" sz="800" dirty="0">
                <a:solidFill>
                  <a:srgbClr val="C00000"/>
                </a:solidFill>
                <a:latin typeface="SUIT" panose="020F0502020204030204"/>
                <a:ea typeface="SUIT" pitchFamily="2" charset="-127"/>
              </a:rPr>
              <a:t>누락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UIT" panose="020F0502020204030204"/>
              <a:ea typeface="SUIT"/>
            </a:endParaRPr>
          </a:p>
        </p:txBody>
      </p:sp>
      <p:sp>
        <p:nvSpPr>
          <p:cNvPr id="48" name="Rounded Rectangle 8">
            <a:extLst>
              <a:ext uri="{FF2B5EF4-FFF2-40B4-BE49-F238E27FC236}">
                <a16:creationId xmlns:a16="http://schemas.microsoft.com/office/drawing/2014/main" id="{9B0113DF-0016-512B-3428-3EACD2E0471C}"/>
              </a:ext>
            </a:extLst>
          </p:cNvPr>
          <p:cNvSpPr/>
          <p:nvPr/>
        </p:nvSpPr>
        <p:spPr>
          <a:xfrm>
            <a:off x="2312772" y="1756225"/>
            <a:ext cx="2230653" cy="2585311"/>
          </a:xfrm>
          <a:prstGeom prst="roundRect">
            <a:avLst>
              <a:gd name="adj" fmla="val 3801"/>
            </a:avLst>
          </a:prstGeom>
          <a:solidFill>
            <a:srgbClr val="1B2335"/>
          </a:solidFill>
          <a:ln w="9525" cap="flat" cmpd="sng" algn="ctr">
            <a:solidFill>
              <a:srgbClr val="272E3E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49" name="Rounded Rectangle 8">
            <a:extLst>
              <a:ext uri="{FF2B5EF4-FFF2-40B4-BE49-F238E27FC236}">
                <a16:creationId xmlns:a16="http://schemas.microsoft.com/office/drawing/2014/main" id="{DA87FEC2-965D-B69A-5EFA-BF7F9D4B1A16}"/>
              </a:ext>
            </a:extLst>
          </p:cNvPr>
          <p:cNvSpPr/>
          <p:nvPr/>
        </p:nvSpPr>
        <p:spPr>
          <a:xfrm>
            <a:off x="4622406" y="1756225"/>
            <a:ext cx="2230653" cy="2585312"/>
          </a:xfrm>
          <a:prstGeom prst="roundRect">
            <a:avLst>
              <a:gd name="adj" fmla="val 3118"/>
            </a:avLst>
          </a:prstGeom>
          <a:solidFill>
            <a:srgbClr val="1B2335"/>
          </a:solidFill>
          <a:ln w="9525" cap="flat" cmpd="sng" algn="ctr">
            <a:solidFill>
              <a:srgbClr val="272E3E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51" name="Rounded Rectangle 8">
            <a:extLst>
              <a:ext uri="{FF2B5EF4-FFF2-40B4-BE49-F238E27FC236}">
                <a16:creationId xmlns:a16="http://schemas.microsoft.com/office/drawing/2014/main" id="{74C773A7-B5A0-45F8-307B-414AA3AEB512}"/>
              </a:ext>
            </a:extLst>
          </p:cNvPr>
          <p:cNvSpPr/>
          <p:nvPr/>
        </p:nvSpPr>
        <p:spPr>
          <a:xfrm>
            <a:off x="2642125" y="2535576"/>
            <a:ext cx="519662" cy="188086"/>
          </a:xfrm>
          <a:prstGeom prst="roundRect">
            <a:avLst>
              <a:gd name="adj" fmla="val 18423"/>
            </a:avLst>
          </a:prstGeom>
          <a:solidFill>
            <a:srgbClr val="232834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/>
              <a:t>영업이익</a:t>
            </a:r>
            <a:endParaRPr sz="800" dirty="0"/>
          </a:p>
        </p:txBody>
      </p:sp>
      <p:sp>
        <p:nvSpPr>
          <p:cNvPr id="52" name="Rounded Rectangle 8">
            <a:extLst>
              <a:ext uri="{FF2B5EF4-FFF2-40B4-BE49-F238E27FC236}">
                <a16:creationId xmlns:a16="http://schemas.microsoft.com/office/drawing/2014/main" id="{916F8B28-FB22-87E7-5719-79B7F16C3FAB}"/>
              </a:ext>
            </a:extLst>
          </p:cNvPr>
          <p:cNvSpPr/>
          <p:nvPr/>
        </p:nvSpPr>
        <p:spPr>
          <a:xfrm>
            <a:off x="3201929" y="2535576"/>
            <a:ext cx="627507" cy="188086"/>
          </a:xfrm>
          <a:prstGeom prst="roundRect">
            <a:avLst>
              <a:gd name="adj" fmla="val 18423"/>
            </a:avLst>
          </a:prstGeom>
          <a:solidFill>
            <a:srgbClr val="232834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/>
              <a:t>하락원인분석</a:t>
            </a:r>
            <a:endParaRPr sz="800" dirty="0"/>
          </a:p>
        </p:txBody>
      </p:sp>
      <p:sp>
        <p:nvSpPr>
          <p:cNvPr id="53" name="Rounded Rectangle 8">
            <a:extLst>
              <a:ext uri="{FF2B5EF4-FFF2-40B4-BE49-F238E27FC236}">
                <a16:creationId xmlns:a16="http://schemas.microsoft.com/office/drawing/2014/main" id="{AACF49E8-6CC5-1D7B-0124-E482612EA236}"/>
              </a:ext>
            </a:extLst>
          </p:cNvPr>
          <p:cNvSpPr/>
          <p:nvPr/>
        </p:nvSpPr>
        <p:spPr>
          <a:xfrm>
            <a:off x="2800521" y="2922632"/>
            <a:ext cx="758781" cy="188086"/>
          </a:xfrm>
          <a:prstGeom prst="roundRect">
            <a:avLst>
              <a:gd name="adj" fmla="val 18423"/>
            </a:avLst>
          </a:prstGeom>
          <a:solidFill>
            <a:srgbClr val="0F6E56"/>
          </a:solidFill>
          <a:ln w="6350" cap="flat" cmpd="sng" algn="ctr">
            <a:solidFill>
              <a:srgbClr val="239C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/>
              <a:t>영업이익</a:t>
            </a:r>
            <a:r>
              <a:rPr lang="en-US" altLang="ko-KR" sz="800" dirty="0"/>
              <a:t>(</a:t>
            </a:r>
            <a:r>
              <a:rPr lang="ko-KR" altLang="en-US" sz="800" dirty="0"/>
              <a:t>지표</a:t>
            </a:r>
            <a:r>
              <a:rPr lang="en-US" altLang="ko-KR" sz="800" dirty="0"/>
              <a:t>)</a:t>
            </a:r>
            <a:endParaRPr sz="800" dirty="0"/>
          </a:p>
        </p:txBody>
      </p:sp>
      <p:sp>
        <p:nvSpPr>
          <p:cNvPr id="54" name="Rounded Rectangle 8">
            <a:extLst>
              <a:ext uri="{FF2B5EF4-FFF2-40B4-BE49-F238E27FC236}">
                <a16:creationId xmlns:a16="http://schemas.microsoft.com/office/drawing/2014/main" id="{29BD22C9-E593-B8CF-F473-5D29E0BE089A}"/>
              </a:ext>
            </a:extLst>
          </p:cNvPr>
          <p:cNvSpPr/>
          <p:nvPr/>
        </p:nvSpPr>
        <p:spPr>
          <a:xfrm>
            <a:off x="2368860" y="3982890"/>
            <a:ext cx="601128" cy="188086"/>
          </a:xfrm>
          <a:prstGeom prst="roundRect">
            <a:avLst>
              <a:gd name="adj" fmla="val 18423"/>
            </a:avLst>
          </a:prstGeom>
          <a:solidFill>
            <a:srgbClr val="232834"/>
          </a:solidFill>
          <a:ln w="6350" cap="flat" cmpd="sng" algn="ctr">
            <a:solidFill>
              <a:srgbClr val="8B97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en-US" altLang="ko-KR" sz="800" dirty="0"/>
              <a:t>[?</a:t>
            </a:r>
            <a:r>
              <a:rPr lang="ko-KR" altLang="en-US" sz="800" dirty="0"/>
              <a:t>축</a:t>
            </a:r>
            <a:r>
              <a:rPr lang="en-US" altLang="ko-KR" sz="800" dirty="0"/>
              <a:t>] </a:t>
            </a:r>
            <a:r>
              <a:rPr lang="ko-KR" altLang="en-US" sz="800" dirty="0"/>
              <a:t>지역</a:t>
            </a:r>
            <a:endParaRPr sz="800" dirty="0"/>
          </a:p>
        </p:txBody>
      </p:sp>
      <p:sp>
        <p:nvSpPr>
          <p:cNvPr id="55" name="Rounded Rectangle 8">
            <a:extLst>
              <a:ext uri="{FF2B5EF4-FFF2-40B4-BE49-F238E27FC236}">
                <a16:creationId xmlns:a16="http://schemas.microsoft.com/office/drawing/2014/main" id="{78C934AA-2A62-4935-905F-9175F8EE8DFA}"/>
              </a:ext>
            </a:extLst>
          </p:cNvPr>
          <p:cNvSpPr/>
          <p:nvPr/>
        </p:nvSpPr>
        <p:spPr>
          <a:xfrm>
            <a:off x="2866244" y="3633395"/>
            <a:ext cx="620522" cy="188086"/>
          </a:xfrm>
          <a:prstGeom prst="roundRect">
            <a:avLst>
              <a:gd name="adj" fmla="val 18423"/>
            </a:avLst>
          </a:prstGeom>
          <a:solidFill>
            <a:srgbClr val="232834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/>
              <a:t>다차원 분해</a:t>
            </a:r>
            <a:endParaRPr sz="800" dirty="0"/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EFA2DE4A-D5D5-AA3C-2321-FDEAB7E44696}"/>
              </a:ext>
            </a:extLst>
          </p:cNvPr>
          <p:cNvSpPr/>
          <p:nvPr/>
        </p:nvSpPr>
        <p:spPr>
          <a:xfrm>
            <a:off x="3074815" y="3981073"/>
            <a:ext cx="602528" cy="188086"/>
          </a:xfrm>
          <a:prstGeom prst="roundRect">
            <a:avLst>
              <a:gd name="adj" fmla="val 18423"/>
            </a:avLst>
          </a:prstGeom>
          <a:solidFill>
            <a:srgbClr val="232834"/>
          </a:solidFill>
          <a:ln w="6350" cap="flat" cmpd="sng" algn="ctr">
            <a:solidFill>
              <a:srgbClr val="8B97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en-US" altLang="ko-KR" sz="800" dirty="0"/>
              <a:t>[?</a:t>
            </a:r>
            <a:r>
              <a:rPr lang="ko-KR" altLang="en-US" sz="800" dirty="0"/>
              <a:t>축</a:t>
            </a:r>
            <a:r>
              <a:rPr lang="en-US" altLang="ko-KR" sz="800" dirty="0"/>
              <a:t>] </a:t>
            </a:r>
            <a:r>
              <a:rPr lang="ko-KR" altLang="en-US" sz="800" dirty="0"/>
              <a:t>제품</a:t>
            </a:r>
            <a:endParaRPr sz="800" dirty="0"/>
          </a:p>
        </p:txBody>
      </p:sp>
      <p:sp>
        <p:nvSpPr>
          <p:cNvPr id="57" name="Rounded Rectangle 8">
            <a:extLst>
              <a:ext uri="{FF2B5EF4-FFF2-40B4-BE49-F238E27FC236}">
                <a16:creationId xmlns:a16="http://schemas.microsoft.com/office/drawing/2014/main" id="{C4551342-831C-D3D6-113B-0D5B32559809}"/>
              </a:ext>
            </a:extLst>
          </p:cNvPr>
          <p:cNvSpPr/>
          <p:nvPr/>
        </p:nvSpPr>
        <p:spPr>
          <a:xfrm>
            <a:off x="3805964" y="3982890"/>
            <a:ext cx="624141" cy="188086"/>
          </a:xfrm>
          <a:prstGeom prst="roundRect">
            <a:avLst>
              <a:gd name="adj" fmla="val 18423"/>
            </a:avLst>
          </a:prstGeom>
          <a:solidFill>
            <a:srgbClr val="232834"/>
          </a:solidFill>
          <a:ln w="6350" cap="flat" cmpd="sng" algn="ctr">
            <a:solidFill>
              <a:srgbClr val="8B97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en-US" altLang="ko-KR" sz="800" dirty="0"/>
              <a:t>[?</a:t>
            </a:r>
            <a:r>
              <a:rPr lang="ko-KR" altLang="en-US" sz="800" dirty="0"/>
              <a:t>축</a:t>
            </a:r>
            <a:r>
              <a:rPr lang="en-US" altLang="ko-KR" sz="800" dirty="0"/>
              <a:t>] </a:t>
            </a:r>
            <a:r>
              <a:rPr lang="ko-KR" altLang="en-US" sz="800" dirty="0"/>
              <a:t>시계열</a:t>
            </a:r>
            <a:endParaRPr sz="800" dirty="0"/>
          </a:p>
        </p:txBody>
      </p:sp>
      <p:sp>
        <p:nvSpPr>
          <p:cNvPr id="58" name="Rounded Rectangle 8">
            <a:extLst>
              <a:ext uri="{FF2B5EF4-FFF2-40B4-BE49-F238E27FC236}">
                <a16:creationId xmlns:a16="http://schemas.microsoft.com/office/drawing/2014/main" id="{9D379907-B1A6-7199-DEF0-D3065B6B96AD}"/>
              </a:ext>
            </a:extLst>
          </p:cNvPr>
          <p:cNvSpPr/>
          <p:nvPr/>
        </p:nvSpPr>
        <p:spPr>
          <a:xfrm>
            <a:off x="3909159" y="3478246"/>
            <a:ext cx="567401" cy="188086"/>
          </a:xfrm>
          <a:prstGeom prst="roundRect">
            <a:avLst>
              <a:gd name="adj" fmla="val 18423"/>
            </a:avLst>
          </a:prstGeom>
          <a:solidFill>
            <a:srgbClr val="2E261B"/>
          </a:solidFill>
          <a:ln w="6350" cap="flat" cmpd="sng" algn="ctr">
            <a:solidFill>
              <a:srgbClr val="D38A0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>
                <a:solidFill>
                  <a:srgbClr val="FFD849"/>
                </a:solidFill>
              </a:rPr>
              <a:t>적정 재고 현황</a:t>
            </a:r>
            <a:endParaRPr sz="800" dirty="0">
              <a:solidFill>
                <a:srgbClr val="FFD849"/>
              </a:solidFill>
            </a:endParaRPr>
          </a:p>
        </p:txBody>
      </p:sp>
      <p:sp>
        <p:nvSpPr>
          <p:cNvPr id="59" name="Rounded Rectangle 8">
            <a:extLst>
              <a:ext uri="{FF2B5EF4-FFF2-40B4-BE49-F238E27FC236}">
                <a16:creationId xmlns:a16="http://schemas.microsoft.com/office/drawing/2014/main" id="{07E51FF8-3F27-68A9-E857-C5DF58F7E0AC}"/>
              </a:ext>
            </a:extLst>
          </p:cNvPr>
          <p:cNvSpPr/>
          <p:nvPr/>
        </p:nvSpPr>
        <p:spPr>
          <a:xfrm>
            <a:off x="3876027" y="2919846"/>
            <a:ext cx="624141" cy="18808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6350" cap="flat" cmpd="sng" algn="ctr">
            <a:solidFill>
              <a:srgbClr val="D38A0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인과성 발견</a:t>
            </a:r>
            <a:r>
              <a:rPr lang="en-US" altLang="ko-KR" sz="800" dirty="0">
                <a:solidFill>
                  <a:schemeClr val="tx1"/>
                </a:solidFill>
              </a:rPr>
              <a:t>!</a:t>
            </a:r>
            <a:endParaRPr sz="800" dirty="0">
              <a:solidFill>
                <a:schemeClr val="tx1"/>
              </a:solidFill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79D06DF3-90FC-4A4C-5B53-D48995B03FC7}"/>
              </a:ext>
            </a:extLst>
          </p:cNvPr>
          <p:cNvCxnSpPr/>
          <p:nvPr/>
        </p:nvCxnSpPr>
        <p:spPr>
          <a:xfrm>
            <a:off x="3176505" y="370003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B3EB525-D968-45CA-8B73-06271FD9CEAD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 flipH="1">
            <a:off x="2669424" y="3821481"/>
            <a:ext cx="507081" cy="161409"/>
          </a:xfrm>
          <a:prstGeom prst="line">
            <a:avLst/>
          </a:prstGeom>
          <a:ln>
            <a:solidFill>
              <a:srgbClr val="8B97A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48F76B1-9C76-D211-ABFD-7276C78BDFA3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3176505" y="3821481"/>
            <a:ext cx="199574" cy="159592"/>
          </a:xfrm>
          <a:prstGeom prst="line">
            <a:avLst/>
          </a:prstGeom>
          <a:ln>
            <a:solidFill>
              <a:srgbClr val="8B97A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D4CF7F5A-13A6-C848-3D46-37F5B3DBDE28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>
            <a:off x="3176505" y="3821481"/>
            <a:ext cx="941530" cy="161409"/>
          </a:xfrm>
          <a:prstGeom prst="line">
            <a:avLst/>
          </a:prstGeom>
          <a:ln>
            <a:solidFill>
              <a:srgbClr val="8B97A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7FA39760-1D00-453C-1735-66C91FEE8AF2}"/>
              </a:ext>
            </a:extLst>
          </p:cNvPr>
          <p:cNvCxnSpPr>
            <a:stCxn id="51" idx="2"/>
            <a:endCxn id="53" idx="0"/>
          </p:cNvCxnSpPr>
          <p:nvPr/>
        </p:nvCxnSpPr>
        <p:spPr>
          <a:xfrm>
            <a:off x="2901956" y="2723662"/>
            <a:ext cx="277956" cy="19897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83C82BDE-9CDE-D965-D9C5-D3F6F0401DD4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 flipH="1">
            <a:off x="3179912" y="2723662"/>
            <a:ext cx="335771" cy="19897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D46B889D-1CCC-960F-097F-94D8AAC68B23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3176505" y="3110718"/>
            <a:ext cx="3407" cy="52267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8">
            <a:extLst>
              <a:ext uri="{FF2B5EF4-FFF2-40B4-BE49-F238E27FC236}">
                <a16:creationId xmlns:a16="http://schemas.microsoft.com/office/drawing/2014/main" id="{729CFF3D-7D55-3553-6D1C-6832D9B67B95}"/>
              </a:ext>
            </a:extLst>
          </p:cNvPr>
          <p:cNvSpPr/>
          <p:nvPr/>
        </p:nvSpPr>
        <p:spPr>
          <a:xfrm>
            <a:off x="2500371" y="3281252"/>
            <a:ext cx="1344836" cy="188086"/>
          </a:xfrm>
          <a:prstGeom prst="roundRect">
            <a:avLst>
              <a:gd name="adj" fmla="val 50000"/>
            </a:avLst>
          </a:prstGeom>
          <a:solidFill>
            <a:srgbClr val="2E261B"/>
          </a:solidFill>
          <a:ln w="6350" cap="flat" cmpd="sng" algn="ctr">
            <a:solidFill>
              <a:srgbClr val="D38A0D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>
                <a:solidFill>
                  <a:srgbClr val="FFD849"/>
                </a:solidFill>
              </a:rPr>
              <a:t>탐색 중단 </a:t>
            </a:r>
            <a:r>
              <a:rPr lang="en-US" altLang="ko-KR" sz="800" dirty="0">
                <a:solidFill>
                  <a:srgbClr val="FFD849"/>
                </a:solidFill>
              </a:rPr>
              <a:t>: </a:t>
            </a:r>
            <a:r>
              <a:rPr lang="ko-KR" altLang="en-US" sz="800" dirty="0">
                <a:solidFill>
                  <a:srgbClr val="FFD849"/>
                </a:solidFill>
              </a:rPr>
              <a:t>다차원 분해 축 누락</a:t>
            </a:r>
            <a:endParaRPr sz="800" dirty="0">
              <a:solidFill>
                <a:schemeClr val="bg1"/>
              </a:solidFill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8D2E6A25-8F1B-BEAB-DC97-C099DB6B7063}"/>
              </a:ext>
            </a:extLst>
          </p:cNvPr>
          <p:cNvCxnSpPr>
            <a:cxnSpLocks/>
            <a:stCxn id="59" idx="1"/>
            <a:endCxn id="53" idx="3"/>
          </p:cNvCxnSpPr>
          <p:nvPr/>
        </p:nvCxnSpPr>
        <p:spPr>
          <a:xfrm flipH="1">
            <a:off x="3559302" y="3013889"/>
            <a:ext cx="316725" cy="2786"/>
          </a:xfrm>
          <a:prstGeom prst="line">
            <a:avLst/>
          </a:prstGeom>
          <a:ln>
            <a:solidFill>
              <a:schemeClr val="accent4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81A135B7-A2DD-FB77-CCC0-696F5EEBA35D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>
            <a:off x="4188098" y="3107932"/>
            <a:ext cx="4762" cy="370314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D70B000-52F0-CC53-FB54-9180586B65FB}"/>
              </a:ext>
            </a:extLst>
          </p:cNvPr>
          <p:cNvSpPr txBox="1"/>
          <p:nvPr/>
        </p:nvSpPr>
        <p:spPr>
          <a:xfrm>
            <a:off x="2332294" y="1805112"/>
            <a:ext cx="2134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STEP2. </a:t>
            </a:r>
            <a:r>
              <a:rPr lang="ko-KR" altLang="en-US" sz="100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위상 탐색 및 인과성 발견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99" name="Google Shape;142;p13">
            <a:extLst>
              <a:ext uri="{FF2B5EF4-FFF2-40B4-BE49-F238E27FC236}">
                <a16:creationId xmlns:a16="http://schemas.microsoft.com/office/drawing/2014/main" id="{DB8D918E-0E50-31A0-F6EB-89CCBEFC35E7}"/>
              </a:ext>
            </a:extLst>
          </p:cNvPr>
          <p:cNvSpPr txBox="1"/>
          <p:nvPr/>
        </p:nvSpPr>
        <p:spPr>
          <a:xfrm>
            <a:off x="2437340" y="2062280"/>
            <a:ext cx="20745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엔티티 맵핑으로 모호성을 해결하고</a:t>
            </a:r>
            <a:r>
              <a:rPr lang="en-US" altLang="ko-KR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그래프상 인접한 중요 연관 지표를 자동 식별합니다</a:t>
            </a:r>
            <a:r>
              <a:rPr lang="en-US" altLang="ko-KR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en-US" altLang="ko-KR" sz="700" dirty="0">
              <a:solidFill>
                <a:schemeClr val="bg1"/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543B0CD-2AFC-F6A2-1AD6-B892B8E075BD}"/>
              </a:ext>
            </a:extLst>
          </p:cNvPr>
          <p:cNvSpPr txBox="1"/>
          <p:nvPr/>
        </p:nvSpPr>
        <p:spPr>
          <a:xfrm>
            <a:off x="4636289" y="1798951"/>
            <a:ext cx="2134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STEP3. </a:t>
            </a:r>
            <a:r>
              <a:rPr lang="ko-KR" altLang="en-US" sz="100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결정적 경로 확정 및 연산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07" name="Google Shape;142;p13">
            <a:extLst>
              <a:ext uri="{FF2B5EF4-FFF2-40B4-BE49-F238E27FC236}">
                <a16:creationId xmlns:a16="http://schemas.microsoft.com/office/drawing/2014/main" id="{E2D92806-3B04-AAA7-5686-F26F38AD4990}"/>
              </a:ext>
            </a:extLst>
          </p:cNvPr>
          <p:cNvSpPr txBox="1"/>
          <p:nvPr/>
        </p:nvSpPr>
        <p:spPr>
          <a:xfrm>
            <a:off x="4717251" y="2062280"/>
            <a:ext cx="2055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역질문을 통해 모호성이 제거되면</a:t>
            </a:r>
            <a:r>
              <a:rPr lang="en-US" altLang="ko-KR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, 100% </a:t>
            </a:r>
            <a:r>
              <a:rPr lang="ko-KR" altLang="en-US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무결성의 단일 경로를 확정하여 </a:t>
            </a:r>
            <a:r>
              <a:rPr lang="en-US" altLang="ko-KR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DAG SQL</a:t>
            </a:r>
            <a:r>
              <a:rPr lang="ko-KR" altLang="en-US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로 컴파일합니다</a:t>
            </a:r>
            <a:r>
              <a:rPr lang="en-US" altLang="ko-KR" sz="800" b="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en-US" altLang="ko-KR" sz="700" dirty="0">
              <a:solidFill>
                <a:schemeClr val="bg1"/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108" name="Rounded Rectangle 8">
            <a:extLst>
              <a:ext uri="{FF2B5EF4-FFF2-40B4-BE49-F238E27FC236}">
                <a16:creationId xmlns:a16="http://schemas.microsoft.com/office/drawing/2014/main" id="{FAC3AA34-C6E3-F6D6-27E6-6F32D57A28B3}"/>
              </a:ext>
            </a:extLst>
          </p:cNvPr>
          <p:cNvSpPr/>
          <p:nvPr/>
        </p:nvSpPr>
        <p:spPr>
          <a:xfrm>
            <a:off x="331552" y="4341537"/>
            <a:ext cx="1631734" cy="4772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 cmpd="sng" algn="ctr">
            <a:solidFill>
              <a:srgbClr val="EF444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900" dirty="0">
                <a:solidFill>
                  <a:srgbClr val="C00000"/>
                </a:solidFill>
              </a:rPr>
              <a:t>↖ 축</a:t>
            </a:r>
            <a:r>
              <a:rPr lang="en-US" altLang="ko-KR" sz="900" dirty="0">
                <a:solidFill>
                  <a:srgbClr val="C00000"/>
                </a:solidFill>
              </a:rPr>
              <a:t>(Dim.) </a:t>
            </a:r>
            <a:r>
              <a:rPr lang="ko-KR" altLang="en-US" sz="900" dirty="0">
                <a:solidFill>
                  <a:srgbClr val="C00000"/>
                </a:solidFill>
              </a:rPr>
              <a:t>모호성 감지 시 역 질문</a:t>
            </a:r>
            <a:r>
              <a:rPr lang="en-US" altLang="ko-KR" sz="900" dirty="0">
                <a:solidFill>
                  <a:srgbClr val="C00000"/>
                </a:solidFill>
              </a:rPr>
              <a:t>( Human-in-the-loop)</a:t>
            </a:r>
            <a:endParaRPr sz="900" dirty="0">
              <a:solidFill>
                <a:srgbClr val="C00000"/>
              </a:solidFill>
            </a:endParaRPr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DB7D9BA5-2988-FF0A-3760-C3A4B3AC391E}"/>
              </a:ext>
            </a:extLst>
          </p:cNvPr>
          <p:cNvCxnSpPr>
            <a:cxnSpLocks/>
            <a:stCxn id="7" idx="1"/>
            <a:endCxn id="108" idx="3"/>
          </p:cNvCxnSpPr>
          <p:nvPr/>
        </p:nvCxnSpPr>
        <p:spPr>
          <a:xfrm rot="10800000" flipV="1">
            <a:off x="1963287" y="2890637"/>
            <a:ext cx="262067" cy="1689514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8">
            <a:extLst>
              <a:ext uri="{FF2B5EF4-FFF2-40B4-BE49-F238E27FC236}">
                <a16:creationId xmlns:a16="http://schemas.microsoft.com/office/drawing/2014/main" id="{1153C1FA-838E-3838-E3FA-EBBD85B8D61F}"/>
              </a:ext>
            </a:extLst>
          </p:cNvPr>
          <p:cNvSpPr/>
          <p:nvPr/>
        </p:nvSpPr>
        <p:spPr>
          <a:xfrm>
            <a:off x="5236483" y="2571801"/>
            <a:ext cx="993321" cy="188086"/>
          </a:xfrm>
          <a:prstGeom prst="roundRect">
            <a:avLst>
              <a:gd name="adj" fmla="val 18423"/>
            </a:avLst>
          </a:prstGeom>
          <a:solidFill>
            <a:srgbClr val="0F6E56"/>
          </a:solidFill>
          <a:ln w="63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/>
              <a:t>영업이익 </a:t>
            </a:r>
            <a:r>
              <a:rPr lang="ko-KR" altLang="en-US" sz="800" dirty="0" err="1"/>
              <a:t>다처원</a:t>
            </a:r>
            <a:r>
              <a:rPr lang="ko-KR" altLang="en-US" sz="800" dirty="0"/>
              <a:t> 분해</a:t>
            </a:r>
            <a:endParaRPr sz="800" dirty="0"/>
          </a:p>
        </p:txBody>
      </p:sp>
      <p:sp>
        <p:nvSpPr>
          <p:cNvPr id="158" name="Rounded Rectangle 8">
            <a:extLst>
              <a:ext uri="{FF2B5EF4-FFF2-40B4-BE49-F238E27FC236}">
                <a16:creationId xmlns:a16="http://schemas.microsoft.com/office/drawing/2014/main" id="{935BAC5E-D64C-EA8E-9642-0ED70A19F62F}"/>
              </a:ext>
            </a:extLst>
          </p:cNvPr>
          <p:cNvSpPr/>
          <p:nvPr/>
        </p:nvSpPr>
        <p:spPr>
          <a:xfrm>
            <a:off x="5236483" y="2825068"/>
            <a:ext cx="993321" cy="188086"/>
          </a:xfrm>
          <a:prstGeom prst="roundRect">
            <a:avLst>
              <a:gd name="adj" fmla="val 18423"/>
            </a:avLst>
          </a:prstGeom>
          <a:solidFill>
            <a:srgbClr val="2DD4BF"/>
          </a:solidFill>
          <a:ln w="63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지역</a:t>
            </a:r>
            <a:r>
              <a:rPr lang="en-US" altLang="ko-KR" sz="800" dirty="0">
                <a:solidFill>
                  <a:schemeClr val="tx1"/>
                </a:solidFill>
              </a:rPr>
              <a:t>(Region) </a:t>
            </a:r>
            <a:r>
              <a:rPr lang="ko-KR" altLang="en-US" sz="800" dirty="0">
                <a:solidFill>
                  <a:schemeClr val="tx1"/>
                </a:solidFill>
              </a:rPr>
              <a:t>축</a:t>
            </a:r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162" name="Rounded Rectangle 8">
            <a:extLst>
              <a:ext uri="{FF2B5EF4-FFF2-40B4-BE49-F238E27FC236}">
                <a16:creationId xmlns:a16="http://schemas.microsoft.com/office/drawing/2014/main" id="{3CC239E8-74C0-57C8-4890-C829808A52A8}"/>
              </a:ext>
            </a:extLst>
          </p:cNvPr>
          <p:cNvSpPr/>
          <p:nvPr/>
        </p:nvSpPr>
        <p:spPr>
          <a:xfrm>
            <a:off x="4889600" y="3142867"/>
            <a:ext cx="1687086" cy="188086"/>
          </a:xfrm>
          <a:prstGeom prst="roundRect">
            <a:avLst>
              <a:gd name="adj" fmla="val 18423"/>
            </a:avLst>
          </a:prstGeom>
          <a:solidFill>
            <a:srgbClr val="FEFFFF">
              <a:alpha val="16000"/>
            </a:srgbClr>
          </a:solidFill>
          <a:ln w="6350" cap="flat" cmpd="sng" algn="ctr">
            <a:solidFill>
              <a:srgbClr val="2DD4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>
                <a:solidFill>
                  <a:srgbClr val="2DD4BF"/>
                </a:solidFill>
                <a:latin typeface="SUIT" pitchFamily="2" charset="-127"/>
                <a:ea typeface="SUIT" pitchFamily="2" charset="-127"/>
              </a:rPr>
              <a:t>☞ 차원 및 지표 조회 규칙 검증</a:t>
            </a:r>
            <a:endParaRPr sz="800" dirty="0">
              <a:solidFill>
                <a:srgbClr val="2DD4BF"/>
              </a:solidFill>
              <a:latin typeface="SUIT" pitchFamily="2" charset="-127"/>
              <a:ea typeface="SUIT" pitchFamily="2" charset="-127"/>
            </a:endParaRPr>
          </a:p>
        </p:txBody>
      </p: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8605B310-5B0A-D8F7-12DE-AD4950C14AF6}"/>
              </a:ext>
            </a:extLst>
          </p:cNvPr>
          <p:cNvCxnSpPr>
            <a:cxnSpLocks/>
            <a:stCxn id="157" idx="2"/>
            <a:endCxn id="158" idx="0"/>
          </p:cNvCxnSpPr>
          <p:nvPr/>
        </p:nvCxnSpPr>
        <p:spPr>
          <a:xfrm>
            <a:off x="5733144" y="2759887"/>
            <a:ext cx="0" cy="65181"/>
          </a:xfrm>
          <a:prstGeom prst="line">
            <a:avLst/>
          </a:prstGeom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3FEC471E-1FDE-F6FD-BD39-721A6346D5E4}"/>
              </a:ext>
            </a:extLst>
          </p:cNvPr>
          <p:cNvCxnSpPr>
            <a:endCxn id="162" idx="0"/>
          </p:cNvCxnSpPr>
          <p:nvPr/>
        </p:nvCxnSpPr>
        <p:spPr>
          <a:xfrm flipH="1">
            <a:off x="5733143" y="2911554"/>
            <a:ext cx="1" cy="231313"/>
          </a:xfrm>
          <a:prstGeom prst="straightConnector1">
            <a:avLst/>
          </a:prstGeom>
          <a:ln w="12700">
            <a:solidFill>
              <a:srgbClr val="2DD4B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ounded Rectangle 8">
            <a:extLst>
              <a:ext uri="{FF2B5EF4-FFF2-40B4-BE49-F238E27FC236}">
                <a16:creationId xmlns:a16="http://schemas.microsoft.com/office/drawing/2014/main" id="{EFAE0B98-1D12-32BB-475A-5105B3ED7A32}"/>
              </a:ext>
            </a:extLst>
          </p:cNvPr>
          <p:cNvSpPr/>
          <p:nvPr/>
        </p:nvSpPr>
        <p:spPr>
          <a:xfrm>
            <a:off x="4730015" y="3400415"/>
            <a:ext cx="2041012" cy="848821"/>
          </a:xfrm>
          <a:prstGeom prst="roundRect">
            <a:avLst>
              <a:gd name="adj" fmla="val 18423"/>
            </a:avLst>
          </a:prstGeom>
          <a:solidFill>
            <a:srgbClr val="000000"/>
          </a:solidFill>
          <a:ln w="6350" cap="flat" cmpd="sng" algn="ctr">
            <a:solidFill>
              <a:srgbClr val="0C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6000" tIns="0" rIns="0" bIns="0" rtlCol="0" anchor="ctr"/>
          <a:lstStyle/>
          <a:p>
            <a:r>
              <a:rPr lang="ko-KR" altLang="ko-KR" sz="6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// </a:t>
            </a:r>
            <a:r>
              <a:rPr lang="ko-KR" altLang="ko-KR" sz="600" b="0" i="0" dirty="0" err="1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Verified</a:t>
            </a:r>
            <a:r>
              <a:rPr lang="ko-KR" altLang="ko-KR" sz="6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DAG SQL </a:t>
            </a:r>
            <a:r>
              <a:rPr lang="ko-KR" altLang="ko-KR" sz="600" b="0" i="0" dirty="0" err="1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Compiled</a:t>
            </a:r>
            <a:br>
              <a:rPr lang="ko-KR" altLang="ko-KR" sz="600" dirty="0"/>
            </a:br>
            <a:r>
              <a:rPr lang="ko-KR" altLang="ko-KR" sz="600" b="0" i="0" dirty="0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SELECT </a:t>
            </a:r>
            <a:r>
              <a:rPr lang="ko-KR" altLang="ko-KR" sz="600" b="0" i="0" dirty="0" err="1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r.Region_Nm</a:t>
            </a:r>
            <a:r>
              <a:rPr lang="ko-KR" altLang="ko-KR" sz="600" b="0" i="0" dirty="0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, SUM(</a:t>
            </a:r>
            <a:r>
              <a:rPr lang="ko-KR" altLang="ko-KR" sz="600" b="0" i="0" dirty="0" err="1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f.Sales</a:t>
            </a:r>
            <a:r>
              <a:rPr lang="ko-KR" altLang="ko-KR" sz="600" b="0" i="0" dirty="0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ko-KR" altLang="ko-KR" sz="600" b="0" i="0" dirty="0" err="1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f.Cost</a:t>
            </a:r>
            <a:r>
              <a:rPr lang="ko-KR" altLang="ko-KR" sz="600" b="0" i="0" dirty="0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) AS OP</a:t>
            </a:r>
            <a:br>
              <a:rPr lang="ko-KR" altLang="ko-KR" sz="600" dirty="0"/>
            </a:br>
            <a:r>
              <a:rPr lang="ko-KR" altLang="ko-KR" sz="600" b="0" i="0" dirty="0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FROM </a:t>
            </a:r>
            <a:r>
              <a:rPr lang="ko-KR" altLang="ko-KR" sz="600" b="0" i="0" dirty="0" err="1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Enterprise_Fact</a:t>
            </a:r>
            <a:r>
              <a:rPr lang="ko-KR" altLang="ko-KR" sz="600" b="0" i="0" dirty="0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ko-KR" altLang="ko-KR" sz="600" b="0" i="0" dirty="0" err="1">
                <a:solidFill>
                  <a:srgbClr val="A7F3D0"/>
                </a:solidFill>
                <a:effectLst/>
                <a:latin typeface="Courier New" panose="02070309020205020404" pitchFamily="49" charset="0"/>
              </a:rPr>
              <a:t>f</a:t>
            </a:r>
            <a:br>
              <a:rPr lang="ko-KR" altLang="ko-KR" sz="600" dirty="0"/>
            </a:br>
            <a:r>
              <a:rPr lang="ko-KR" altLang="ko-KR" sz="600" b="1" i="0" dirty="0">
                <a:solidFill>
                  <a:srgbClr val="FDE047"/>
                </a:solidFill>
                <a:effectLst/>
                <a:latin typeface="SUIT" pitchFamily="2" charset="-127"/>
                <a:ea typeface="SUIT" pitchFamily="2" charset="-127"/>
              </a:rPr>
              <a:t>JOIN </a:t>
            </a:r>
            <a:r>
              <a:rPr lang="ko-KR" altLang="ko-KR" sz="600" b="1" i="0" dirty="0" err="1">
                <a:solidFill>
                  <a:srgbClr val="FDE047"/>
                </a:solidFill>
                <a:effectLst/>
                <a:latin typeface="SUIT" pitchFamily="2" charset="-127"/>
                <a:ea typeface="SUIT" pitchFamily="2" charset="-127"/>
              </a:rPr>
              <a:t>Dim_Region</a:t>
            </a:r>
            <a:r>
              <a:rPr lang="ko-KR" altLang="ko-KR" sz="600" b="1" i="0" dirty="0">
                <a:solidFill>
                  <a:srgbClr val="FDE047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600" b="1" i="0" dirty="0" err="1">
                <a:solidFill>
                  <a:srgbClr val="FDE047"/>
                </a:solidFill>
                <a:effectLst/>
                <a:latin typeface="SUIT" pitchFamily="2" charset="-127"/>
                <a:ea typeface="SUIT" pitchFamily="2" charset="-127"/>
              </a:rPr>
              <a:t>r</a:t>
            </a:r>
            <a:r>
              <a:rPr lang="ko-KR" altLang="ko-KR" sz="600" b="1" i="0" dirty="0">
                <a:solidFill>
                  <a:srgbClr val="FDE047"/>
                </a:solidFill>
                <a:effectLst/>
                <a:latin typeface="SUIT" pitchFamily="2" charset="-127"/>
                <a:ea typeface="SUIT" pitchFamily="2" charset="-127"/>
              </a:rPr>
              <a:t> ON </a:t>
            </a:r>
            <a:r>
              <a:rPr lang="ko-KR" altLang="ko-KR" sz="600" b="1" i="0" dirty="0" err="1">
                <a:solidFill>
                  <a:srgbClr val="FDE047"/>
                </a:solidFill>
                <a:effectLst/>
                <a:latin typeface="SUIT" pitchFamily="2" charset="-127"/>
                <a:ea typeface="SUIT" pitchFamily="2" charset="-127"/>
              </a:rPr>
              <a:t>f.region_cd</a:t>
            </a:r>
            <a:r>
              <a:rPr lang="ko-KR" altLang="ko-KR" sz="600" b="1" i="0" dirty="0">
                <a:solidFill>
                  <a:srgbClr val="FDE047"/>
                </a:solidFill>
                <a:effectLst/>
                <a:latin typeface="SUIT" pitchFamily="2" charset="-127"/>
                <a:ea typeface="SUIT" pitchFamily="2" charset="-127"/>
              </a:rPr>
              <a:t> = </a:t>
            </a:r>
            <a:r>
              <a:rPr lang="ko-KR" altLang="ko-KR" sz="600" b="1" i="0" dirty="0" err="1">
                <a:solidFill>
                  <a:srgbClr val="FDE047"/>
                </a:solidFill>
                <a:effectLst/>
                <a:latin typeface="SUIT" pitchFamily="2" charset="-127"/>
                <a:ea typeface="SUIT" pitchFamily="2" charset="-127"/>
              </a:rPr>
              <a:t>r.region_cd</a:t>
            </a:r>
            <a:r>
              <a:rPr lang="en-US" altLang="ko-KR" sz="600" b="1" i="0" dirty="0">
                <a:solidFill>
                  <a:srgbClr val="FDE047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</a:p>
          <a:p>
            <a:r>
              <a:rPr lang="en-US" sz="600" b="1" dirty="0">
                <a:solidFill>
                  <a:srgbClr val="FDE047"/>
                </a:solidFill>
                <a:latin typeface="SUIT" pitchFamily="2" charset="-127"/>
                <a:ea typeface="SUIT" pitchFamily="2" charset="-127"/>
              </a:rPr>
              <a:t>……</a:t>
            </a:r>
            <a:endParaRPr sz="600" dirty="0">
              <a:solidFill>
                <a:srgbClr val="2DD4BF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179" name="그래픽 175">
            <a:extLst>
              <a:ext uri="{FF2B5EF4-FFF2-40B4-BE49-F238E27FC236}">
                <a16:creationId xmlns:a16="http://schemas.microsoft.com/office/drawing/2014/main" id="{6B73F0ED-DEE9-B25F-D876-E7B40FB56F01}"/>
              </a:ext>
            </a:extLst>
          </p:cNvPr>
          <p:cNvSpPr/>
          <p:nvPr/>
        </p:nvSpPr>
        <p:spPr>
          <a:xfrm>
            <a:off x="7247311" y="2728784"/>
            <a:ext cx="1524543" cy="278238"/>
          </a:xfrm>
          <a:prstGeom prst="roundRect">
            <a:avLst>
              <a:gd name="adj" fmla="val 15767"/>
            </a:avLst>
          </a:prstGeom>
          <a:solidFill>
            <a:srgbClr val="28B0A3"/>
          </a:solidFill>
          <a:ln w="29308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자유형: 도형 177">
            <a:extLst>
              <a:ext uri="{FF2B5EF4-FFF2-40B4-BE49-F238E27FC236}">
                <a16:creationId xmlns:a16="http://schemas.microsoft.com/office/drawing/2014/main" id="{9F4A7A34-2247-FB4E-AF31-F2127A3DC84B}"/>
              </a:ext>
            </a:extLst>
          </p:cNvPr>
          <p:cNvSpPr/>
          <p:nvPr/>
        </p:nvSpPr>
        <p:spPr>
          <a:xfrm>
            <a:off x="7302595" y="2783703"/>
            <a:ext cx="179654" cy="160065"/>
          </a:xfrm>
          <a:custGeom>
            <a:avLst/>
            <a:gdLst>
              <a:gd name="csX0" fmla="*/ 164359 w 490008"/>
              <a:gd name="csY0" fmla="*/ 283739 h 625924"/>
              <a:gd name="csX1" fmla="*/ 185314 w 490008"/>
              <a:gd name="csY1" fmla="*/ 322792 h 625924"/>
              <a:gd name="csX2" fmla="*/ 187219 w 490008"/>
              <a:gd name="csY2" fmla="*/ 340889 h 625924"/>
              <a:gd name="csX3" fmla="*/ 187219 w 490008"/>
              <a:gd name="csY3" fmla="*/ 417089 h 625924"/>
              <a:gd name="csX4" fmla="*/ 131022 w 490008"/>
              <a:gd name="csY4" fmla="*/ 441854 h 625924"/>
              <a:gd name="csX5" fmla="*/ 92922 w 490008"/>
              <a:gd name="csY5" fmla="*/ 479954 h 625924"/>
              <a:gd name="csX6" fmla="*/ 92922 w 490008"/>
              <a:gd name="csY6" fmla="*/ 600922 h 625924"/>
              <a:gd name="csX7" fmla="*/ 213889 w 490008"/>
              <a:gd name="csY7" fmla="*/ 600922 h 625924"/>
              <a:gd name="csX8" fmla="*/ 251989 w 490008"/>
              <a:gd name="csY8" fmla="*/ 562822 h 625924"/>
              <a:gd name="csX9" fmla="*/ 251989 w 490008"/>
              <a:gd name="csY9" fmla="*/ 441854 h 625924"/>
              <a:gd name="csX10" fmla="*/ 251989 w 490008"/>
              <a:gd name="csY10" fmla="*/ 441854 h 625924"/>
              <a:gd name="csX11" fmla="*/ 250084 w 490008"/>
              <a:gd name="csY11" fmla="*/ 439949 h 625924"/>
              <a:gd name="csX12" fmla="*/ 183409 w 490008"/>
              <a:gd name="csY12" fmla="*/ 506624 h 625924"/>
              <a:gd name="csX13" fmla="*/ 227224 w 490008"/>
              <a:gd name="csY13" fmla="*/ 412327 h 625924"/>
              <a:gd name="csX14" fmla="*/ 226272 w 490008"/>
              <a:gd name="csY14" fmla="*/ 339937 h 625924"/>
              <a:gd name="csX15" fmla="*/ 237702 w 490008"/>
              <a:gd name="csY15" fmla="*/ 291359 h 625924"/>
              <a:gd name="csX16" fmla="*/ 283422 w 490008"/>
              <a:gd name="csY16" fmla="*/ 237067 h 625924"/>
              <a:gd name="csX17" fmla="*/ 439632 w 490008"/>
              <a:gd name="csY17" fmla="*/ 186584 h 625924"/>
              <a:gd name="csX18" fmla="*/ 488209 w 490008"/>
              <a:gd name="csY18" fmla="*/ 1799 h 625924"/>
              <a:gd name="csX19" fmla="*/ 303424 w 490008"/>
              <a:gd name="csY19" fmla="*/ 50377 h 625924"/>
              <a:gd name="csX20" fmla="*/ 252942 w 490008"/>
              <a:gd name="csY20" fmla="*/ 210397 h 625924"/>
              <a:gd name="csX21" fmla="*/ 203412 w 490008"/>
              <a:gd name="csY21" fmla="*/ 271357 h 625924"/>
              <a:gd name="csX22" fmla="*/ 194839 w 490008"/>
              <a:gd name="csY22" fmla="*/ 259927 h 625924"/>
              <a:gd name="csX23" fmla="*/ 153882 w 490008"/>
              <a:gd name="csY23" fmla="*/ 128482 h 625924"/>
              <a:gd name="csX24" fmla="*/ 1482 w 490008"/>
              <a:gd name="csY24" fmla="*/ 88477 h 625924"/>
              <a:gd name="csX25" fmla="*/ 41487 w 490008"/>
              <a:gd name="csY25" fmla="*/ 240877 h 625924"/>
              <a:gd name="csX26" fmla="*/ 164359 w 490008"/>
              <a:gd name="csY26" fmla="*/ 283739 h 625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90008" h="625924">
                <a:moveTo>
                  <a:pt x="164359" y="283739"/>
                </a:moveTo>
                <a:cubicBezTo>
                  <a:pt x="173884" y="295169"/>
                  <a:pt x="180552" y="308504"/>
                  <a:pt x="185314" y="322792"/>
                </a:cubicBezTo>
                <a:cubicBezTo>
                  <a:pt x="186267" y="328507"/>
                  <a:pt x="187219" y="335174"/>
                  <a:pt x="187219" y="340889"/>
                </a:cubicBezTo>
                <a:lnTo>
                  <a:pt x="187219" y="417089"/>
                </a:lnTo>
                <a:cubicBezTo>
                  <a:pt x="166264" y="418042"/>
                  <a:pt x="146262" y="426614"/>
                  <a:pt x="131022" y="441854"/>
                </a:cubicBezTo>
                <a:lnTo>
                  <a:pt x="92922" y="479954"/>
                </a:lnTo>
                <a:cubicBezTo>
                  <a:pt x="59584" y="513292"/>
                  <a:pt x="59584" y="567584"/>
                  <a:pt x="92922" y="600922"/>
                </a:cubicBezTo>
                <a:cubicBezTo>
                  <a:pt x="126259" y="634259"/>
                  <a:pt x="180552" y="634259"/>
                  <a:pt x="213889" y="600922"/>
                </a:cubicBezTo>
                <a:lnTo>
                  <a:pt x="251989" y="562822"/>
                </a:lnTo>
                <a:cubicBezTo>
                  <a:pt x="285327" y="529484"/>
                  <a:pt x="285327" y="475192"/>
                  <a:pt x="251989" y="441854"/>
                </a:cubicBezTo>
                <a:lnTo>
                  <a:pt x="251989" y="441854"/>
                </a:lnTo>
                <a:cubicBezTo>
                  <a:pt x="251037" y="440902"/>
                  <a:pt x="251037" y="440902"/>
                  <a:pt x="250084" y="439949"/>
                </a:cubicBezTo>
                <a:lnTo>
                  <a:pt x="183409" y="506624"/>
                </a:lnTo>
                <a:lnTo>
                  <a:pt x="227224" y="412327"/>
                </a:lnTo>
                <a:lnTo>
                  <a:pt x="226272" y="339937"/>
                </a:lnTo>
                <a:cubicBezTo>
                  <a:pt x="227224" y="322792"/>
                  <a:pt x="231034" y="306599"/>
                  <a:pt x="237702" y="291359"/>
                </a:cubicBezTo>
                <a:cubicBezTo>
                  <a:pt x="246274" y="268499"/>
                  <a:pt x="262467" y="249449"/>
                  <a:pt x="283422" y="237067"/>
                </a:cubicBezTo>
                <a:cubicBezTo>
                  <a:pt x="323427" y="238019"/>
                  <a:pt x="394864" y="231352"/>
                  <a:pt x="439632" y="186584"/>
                </a:cubicBezTo>
                <a:cubicBezTo>
                  <a:pt x="504402" y="121814"/>
                  <a:pt x="488209" y="1799"/>
                  <a:pt x="488209" y="1799"/>
                </a:cubicBezTo>
                <a:cubicBezTo>
                  <a:pt x="488209" y="1799"/>
                  <a:pt x="367242" y="-14393"/>
                  <a:pt x="303424" y="50377"/>
                </a:cubicBezTo>
                <a:cubicBezTo>
                  <a:pt x="256752" y="97049"/>
                  <a:pt x="251989" y="171344"/>
                  <a:pt x="252942" y="210397"/>
                </a:cubicBezTo>
                <a:cubicBezTo>
                  <a:pt x="231034" y="226589"/>
                  <a:pt x="214842" y="247544"/>
                  <a:pt x="203412" y="271357"/>
                </a:cubicBezTo>
                <a:cubicBezTo>
                  <a:pt x="200554" y="267547"/>
                  <a:pt x="197697" y="263737"/>
                  <a:pt x="194839" y="259927"/>
                </a:cubicBezTo>
                <a:cubicBezTo>
                  <a:pt x="195792" y="227542"/>
                  <a:pt x="191029" y="166582"/>
                  <a:pt x="153882" y="128482"/>
                </a:cubicBezTo>
                <a:cubicBezTo>
                  <a:pt x="100542" y="75142"/>
                  <a:pt x="1482" y="88477"/>
                  <a:pt x="1482" y="88477"/>
                </a:cubicBezTo>
                <a:cubicBezTo>
                  <a:pt x="1482" y="88477"/>
                  <a:pt x="-11853" y="187537"/>
                  <a:pt x="41487" y="240877"/>
                </a:cubicBezTo>
                <a:cubicBezTo>
                  <a:pt x="77682" y="276119"/>
                  <a:pt x="131022" y="282787"/>
                  <a:pt x="164359" y="28373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Rounded Rectangle 8">
            <a:extLst>
              <a:ext uri="{FF2B5EF4-FFF2-40B4-BE49-F238E27FC236}">
                <a16:creationId xmlns:a16="http://schemas.microsoft.com/office/drawing/2014/main" id="{4481272A-72B2-21FD-0F13-79E715F99E4F}"/>
              </a:ext>
            </a:extLst>
          </p:cNvPr>
          <p:cNvSpPr/>
          <p:nvPr/>
        </p:nvSpPr>
        <p:spPr>
          <a:xfrm>
            <a:off x="7601722" y="2776678"/>
            <a:ext cx="993321" cy="188086"/>
          </a:xfrm>
          <a:prstGeom prst="roundRect">
            <a:avLst>
              <a:gd name="adj" fmla="val 18423"/>
            </a:avLst>
          </a:prstGeom>
          <a:solidFill>
            <a:srgbClr val="0F6E56"/>
          </a:solidFill>
          <a:ln w="63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/>
          <a:lstStyle/>
          <a:p>
            <a:pPr algn="ctr"/>
            <a:r>
              <a:rPr lang="ko-KR" altLang="en-US" sz="800" dirty="0"/>
              <a:t>영업이익 다차원 분해</a:t>
            </a:r>
            <a:endParaRPr sz="800" dirty="0"/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3E672A31-13A3-A865-7175-A9689261EF9F}"/>
              </a:ext>
            </a:extLst>
          </p:cNvPr>
          <p:cNvSpPr/>
          <p:nvPr/>
        </p:nvSpPr>
        <p:spPr>
          <a:xfrm>
            <a:off x="7247311" y="3102162"/>
            <a:ext cx="1524545" cy="1185212"/>
          </a:xfrm>
          <a:prstGeom prst="roundRect">
            <a:avLst>
              <a:gd name="adj" fmla="val 6135"/>
            </a:avLst>
          </a:prstGeom>
          <a:solidFill>
            <a:schemeClr val="bg1"/>
          </a:solidFill>
          <a:ln w="12700" cap="flat" cmpd="sng" algn="ctr">
            <a:solidFill>
              <a:srgbClr val="13CE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7F5AD44-363D-1365-FC11-EF48BBBC09DA}"/>
              </a:ext>
            </a:extLst>
          </p:cNvPr>
          <p:cNvSpPr txBox="1"/>
          <p:nvPr/>
        </p:nvSpPr>
        <p:spPr>
          <a:xfrm>
            <a:off x="7270623" y="3204541"/>
            <a:ext cx="1524542" cy="796367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9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     </a:t>
            </a:r>
            <a:r>
              <a:rPr lang="ko-KR" altLang="ko-KR" sz="9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“</a:t>
            </a:r>
            <a:r>
              <a:rPr lang="en-US" altLang="ko-KR" sz="9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9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탐색 결과, 영업이익 하락과</a:t>
            </a:r>
            <a:r>
              <a:rPr lang="ko-KR" altLang="ko-KR" sz="900" b="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 </a:t>
            </a:r>
            <a:r>
              <a:rPr lang="ko-KR" altLang="ko-KR" sz="900" b="1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[적정 재고 </a:t>
            </a:r>
            <a:r>
              <a:rPr lang="ko-KR" altLang="ko-KR" sz="900" b="1" i="0" dirty="0" err="1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미달성</a:t>
            </a:r>
            <a:r>
              <a:rPr lang="ko-KR" altLang="ko-KR" sz="900" b="1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]</a:t>
            </a:r>
            <a:r>
              <a:rPr lang="ko-KR" altLang="ko-KR" sz="9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 간의  연관성이 식별되었습니다. 이를 기본 시나리오에 추가할까요?"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185" name="그래픽 184" descr="전구 단색으로 채워진">
            <a:extLst>
              <a:ext uri="{FF2B5EF4-FFF2-40B4-BE49-F238E27FC236}">
                <a16:creationId xmlns:a16="http://schemas.microsoft.com/office/drawing/2014/main" id="{C4A85410-79B5-1C07-76D2-62B7B18F3A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3739" y="3176259"/>
            <a:ext cx="228608" cy="228608"/>
          </a:xfrm>
          <a:prstGeom prst="rect">
            <a:avLst/>
          </a:prstGeom>
        </p:spPr>
      </p:pic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5480D34D-DB6B-0DDB-C145-A6285121CBDA}"/>
              </a:ext>
            </a:extLst>
          </p:cNvPr>
          <p:cNvSpPr/>
          <p:nvPr/>
        </p:nvSpPr>
        <p:spPr>
          <a:xfrm>
            <a:off x="2182367" y="4451432"/>
            <a:ext cx="6709471" cy="402757"/>
          </a:xfrm>
          <a:prstGeom prst="roundRect">
            <a:avLst>
              <a:gd name="adj" fmla="val 23144"/>
            </a:avLst>
          </a:prstGeom>
          <a:solidFill>
            <a:srgbClr val="1E293B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7399409-9485-04DC-30FA-D3A4F026A324}"/>
              </a:ext>
            </a:extLst>
          </p:cNvPr>
          <p:cNvSpPr txBox="1"/>
          <p:nvPr/>
        </p:nvSpPr>
        <p:spPr>
          <a:xfrm>
            <a:off x="2236955" y="4526652"/>
            <a:ext cx="65195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10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환각 위험이 있는 임의 해석</a:t>
            </a:r>
            <a:r>
              <a:rPr lang="en-US" altLang="ko-KR" sz="1000" dirty="0">
                <a:solidFill>
                  <a:srgbClr val="FFFFFF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en-US" sz="1000" dirty="0">
                <a:solidFill>
                  <a:srgbClr val="FFFFFF"/>
                </a:solidFill>
                <a:latin typeface="SUIT ExtraBold" pitchFamily="50" charset="-127"/>
                <a:ea typeface="SUIT ExtraBold" pitchFamily="50" charset="-127"/>
              </a:rPr>
              <a:t>및 추론을 배제하고 구조화된 추론으로 정확하게 매핑하며</a:t>
            </a:r>
            <a:r>
              <a:rPr lang="en-US" altLang="ko-KR" sz="1000" dirty="0">
                <a:solidFill>
                  <a:srgbClr val="FFFFFF"/>
                </a:solidFill>
                <a:latin typeface="SUIT ExtraBold" pitchFamily="50" charset="-127"/>
                <a:ea typeface="SUIT ExtraBold" pitchFamily="50" charset="-127"/>
              </a:rPr>
              <a:t>, </a:t>
            </a:r>
            <a:r>
              <a:rPr lang="ko-KR" altLang="en-US" sz="1000" dirty="0">
                <a:solidFill>
                  <a:srgbClr val="FFFFFF"/>
                </a:solidFill>
                <a:latin typeface="SUIT ExtraBold" pitchFamily="50" charset="-127"/>
                <a:ea typeface="SUIT ExtraBold" pitchFamily="50" charset="-127"/>
              </a:rPr>
              <a:t>연관성을 감지해 분석을 확장합니다</a:t>
            </a:r>
            <a:r>
              <a:rPr lang="en-US" altLang="ko-KR" sz="1000" dirty="0">
                <a:solidFill>
                  <a:srgbClr val="FFFFFF"/>
                </a:solidFill>
                <a:latin typeface="SUIT ExtraBold" pitchFamily="50" charset="-127"/>
                <a:ea typeface="SUIT ExtraBold" pitchFamily="50" charset="-127"/>
              </a:rPr>
              <a:t>.</a:t>
            </a:r>
            <a:endParaRPr lang="ko-KR" altLang="ko-KR" sz="1000" i="0" dirty="0">
              <a:solidFill>
                <a:srgbClr val="FFFFFF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2560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1AAA-9E38-4446-7EA8-978E9A37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4">
            <a:extLst>
              <a:ext uri="{FF2B5EF4-FFF2-40B4-BE49-F238E27FC236}">
                <a16:creationId xmlns:a16="http://schemas.microsoft.com/office/drawing/2014/main" id="{11E2559F-3D4C-9C29-8737-3291BCD961DB}"/>
              </a:ext>
            </a:extLst>
          </p:cNvPr>
          <p:cNvSpPr/>
          <p:nvPr/>
        </p:nvSpPr>
        <p:spPr>
          <a:xfrm>
            <a:off x="2684478" y="1647125"/>
            <a:ext cx="3446430" cy="1852734"/>
          </a:xfrm>
          <a:prstGeom prst="roundRect">
            <a:avLst>
              <a:gd name="adj" fmla="val 2742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36" name="Google Shape;107;p13">
            <a:extLst>
              <a:ext uri="{FF2B5EF4-FFF2-40B4-BE49-F238E27FC236}">
                <a16:creationId xmlns:a16="http://schemas.microsoft.com/office/drawing/2014/main" id="{CCBCCE4B-9677-B94C-8469-5FA45A57EB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6677" y="2416497"/>
            <a:ext cx="1252977" cy="2170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사각형: 둥근 모서리 1044">
            <a:extLst>
              <a:ext uri="{FF2B5EF4-FFF2-40B4-BE49-F238E27FC236}">
                <a16:creationId xmlns:a16="http://schemas.microsoft.com/office/drawing/2014/main" id="{E70EF37B-A25B-40D2-8F0E-69F73C68138E}"/>
              </a:ext>
            </a:extLst>
          </p:cNvPr>
          <p:cNvSpPr/>
          <p:nvPr/>
        </p:nvSpPr>
        <p:spPr>
          <a:xfrm>
            <a:off x="141746" y="3943474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38" name="사각형: 둥근 모서리 1037">
            <a:extLst>
              <a:ext uri="{FF2B5EF4-FFF2-40B4-BE49-F238E27FC236}">
                <a16:creationId xmlns:a16="http://schemas.microsoft.com/office/drawing/2014/main" id="{E69F83DA-A04C-412D-93C6-365A927F8EF8}"/>
              </a:ext>
            </a:extLst>
          </p:cNvPr>
          <p:cNvSpPr/>
          <p:nvPr/>
        </p:nvSpPr>
        <p:spPr>
          <a:xfrm>
            <a:off x="141746" y="3349083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30" name="사각형: 둥근 모서리 1029">
            <a:extLst>
              <a:ext uri="{FF2B5EF4-FFF2-40B4-BE49-F238E27FC236}">
                <a16:creationId xmlns:a16="http://schemas.microsoft.com/office/drawing/2014/main" id="{D3B1399B-906B-4FAA-8826-4650FB642945}"/>
              </a:ext>
            </a:extLst>
          </p:cNvPr>
          <p:cNvSpPr/>
          <p:nvPr/>
        </p:nvSpPr>
        <p:spPr>
          <a:xfrm>
            <a:off x="141746" y="2754692"/>
            <a:ext cx="2223038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24" name="사각형: 둥근 모서리 1023">
            <a:extLst>
              <a:ext uri="{FF2B5EF4-FFF2-40B4-BE49-F238E27FC236}">
                <a16:creationId xmlns:a16="http://schemas.microsoft.com/office/drawing/2014/main" id="{9C031CF8-76BC-4527-8A86-C87C280B359A}"/>
              </a:ext>
            </a:extLst>
          </p:cNvPr>
          <p:cNvSpPr/>
          <p:nvPr/>
        </p:nvSpPr>
        <p:spPr>
          <a:xfrm>
            <a:off x="141746" y="2160301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29642A4-AE2E-40BD-82B6-1A604F799137}"/>
              </a:ext>
            </a:extLst>
          </p:cNvPr>
          <p:cNvSpPr/>
          <p:nvPr/>
        </p:nvSpPr>
        <p:spPr>
          <a:xfrm>
            <a:off x="141746" y="1565910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2C50C35-9D68-802A-4B9C-2E16B8D4CA0D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FDB1F1BA-E68B-C225-188B-64F66D2F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지능형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LLM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위키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(Wiki)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및 전사 지식 자산화 파이프라인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B5B6F0D-052D-157A-076B-AE2483B3E0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ED0C3D2-8550-BDE7-9DDB-6ACCC2DB856A}"/>
              </a:ext>
            </a:extLst>
          </p:cNvPr>
          <p:cNvSpPr txBox="1"/>
          <p:nvPr/>
        </p:nvSpPr>
        <p:spPr>
          <a:xfrm>
            <a:off x="256032" y="643010"/>
            <a:ext cx="8595360" cy="4598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5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단계 파이프라인으로 수집된 사내 문서를 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Wiki </a:t>
            </a:r>
            <a:r>
              <a:rPr lang="ko-KR" altLang="en-US" sz="1100" b="1" dirty="0">
                <a:solidFill>
                  <a:srgbClr val="0F172A"/>
                </a:solidFill>
                <a:cs typeface="Noto Sans KR"/>
                <a:sym typeface="Noto Sans KR"/>
              </a:rPr>
              <a:t>자산화 스토리지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(</a:t>
            </a:r>
            <a:r>
              <a:rPr lang="en-US" altLang="ko-KR" sz="1100" b="1" dirty="0" err="1">
                <a:solidFill>
                  <a:srgbClr val="0F172A"/>
                </a:solidFill>
                <a:cs typeface="Noto Sans KR"/>
                <a:sym typeface="Noto Sans KR"/>
              </a:rPr>
              <a:t>wiki_pages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 &amp; </a:t>
            </a:r>
            <a:r>
              <a:rPr lang="en-US" altLang="ko-KR" sz="1100" b="1" dirty="0" err="1">
                <a:solidFill>
                  <a:srgbClr val="0F172A"/>
                </a:solidFill>
                <a:cs typeface="Noto Sans KR"/>
                <a:sym typeface="Noto Sans KR"/>
              </a:rPr>
              <a:t>wiki_embed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)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에 물리적으로 격리해 적재하고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, </a:t>
            </a:r>
            <a:r>
              <a:rPr lang="ko-KR" altLang="en-US" sz="1100" b="1" dirty="0" err="1">
                <a:solidFill>
                  <a:srgbClr val="0F172A"/>
                </a:solidFill>
                <a:cs typeface="Noto Sans KR"/>
                <a:sym typeface="Noto Sans KR"/>
              </a:rPr>
              <a:t>시맨틱</a:t>
            </a:r>
            <a:r>
              <a:rPr lang="ko-KR" altLang="en-US" sz="1100" b="1" dirty="0">
                <a:solidFill>
                  <a:srgbClr val="0F172A"/>
                </a:solidFill>
                <a:cs typeface="Noto Sans KR"/>
                <a:sym typeface="Noto Sans KR"/>
              </a:rPr>
              <a:t> 레이어와 연동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하여 실시간 비즈니스 질의 활용성을 극대화합니다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  <p:pic>
        <p:nvPicPr>
          <p:cNvPr id="7" name="Google Shape;87;p13">
            <a:extLst>
              <a:ext uri="{FF2B5EF4-FFF2-40B4-BE49-F238E27FC236}">
                <a16:creationId xmlns:a16="http://schemas.microsoft.com/office/drawing/2014/main" id="{642BE892-95FE-72AF-3AE9-A578E95F0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9120" y="1701611"/>
            <a:ext cx="2504848" cy="80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8;p13">
            <a:extLst>
              <a:ext uri="{FF2B5EF4-FFF2-40B4-BE49-F238E27FC236}">
                <a16:creationId xmlns:a16="http://schemas.microsoft.com/office/drawing/2014/main" id="{208D12ED-20E5-5EEB-1C3B-574E15F709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9120" y="2790143"/>
            <a:ext cx="2504848" cy="1646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94;p13">
            <a:extLst>
              <a:ext uri="{FF2B5EF4-FFF2-40B4-BE49-F238E27FC236}">
                <a16:creationId xmlns:a16="http://schemas.microsoft.com/office/drawing/2014/main" id="{5D401FBD-E368-5CB4-A485-E9301CBC718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5530" y="3631493"/>
            <a:ext cx="3465378" cy="72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96;p13">
            <a:extLst>
              <a:ext uri="{FF2B5EF4-FFF2-40B4-BE49-F238E27FC236}">
                <a16:creationId xmlns:a16="http://schemas.microsoft.com/office/drawing/2014/main" id="{A9CED44F-C6A0-FC73-3BE6-41313C4CD01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2260" y="3578060"/>
            <a:ext cx="2298566" cy="75353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117;p13">
            <a:extLst>
              <a:ext uri="{FF2B5EF4-FFF2-40B4-BE49-F238E27FC236}">
                <a16:creationId xmlns:a16="http://schemas.microsoft.com/office/drawing/2014/main" id="{24A94BA0-E7B6-0867-6B1C-AC6C33680AB3}"/>
              </a:ext>
            </a:extLst>
          </p:cNvPr>
          <p:cNvSpPr txBox="1"/>
          <p:nvPr/>
        </p:nvSpPr>
        <p:spPr>
          <a:xfrm>
            <a:off x="216916" y="1376061"/>
            <a:ext cx="212414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1. Wiki Ingest </a:t>
            </a:r>
            <a:r>
              <a:rPr lang="ko-KR" altLang="en-US" sz="800" b="1" i="0" u="none" strike="noStrike" cap="none" dirty="0">
                <a:solidFill>
                  <a:srgbClr val="0F172A"/>
                </a:solidFill>
                <a:sym typeface="Noto Sans KR"/>
              </a:rPr>
              <a:t>파이프라인</a:t>
            </a:r>
          </a:p>
        </p:txBody>
      </p:sp>
      <p:sp>
        <p:nvSpPr>
          <p:cNvPr id="36" name="Google Shape;118;p13">
            <a:extLst>
              <a:ext uri="{FF2B5EF4-FFF2-40B4-BE49-F238E27FC236}">
                <a16:creationId xmlns:a16="http://schemas.microsoft.com/office/drawing/2014/main" id="{C09B401D-13FF-E79A-F674-1DD102296F17}"/>
              </a:ext>
            </a:extLst>
          </p:cNvPr>
          <p:cNvSpPr txBox="1"/>
          <p:nvPr/>
        </p:nvSpPr>
        <p:spPr>
          <a:xfrm>
            <a:off x="2867598" y="1406767"/>
            <a:ext cx="345466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2. WIKI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자산화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스토리지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(STORAGE HUB)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37" name="Google Shape;119;p13">
            <a:extLst>
              <a:ext uri="{FF2B5EF4-FFF2-40B4-BE49-F238E27FC236}">
                <a16:creationId xmlns:a16="http://schemas.microsoft.com/office/drawing/2014/main" id="{9F5B2222-44BE-7A9A-8149-021E15073671}"/>
              </a:ext>
            </a:extLst>
          </p:cNvPr>
          <p:cNvSpPr txBox="1"/>
          <p:nvPr/>
        </p:nvSpPr>
        <p:spPr>
          <a:xfrm>
            <a:off x="6433323" y="1417320"/>
            <a:ext cx="2583676" cy="14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F172A"/>
                </a:solidFill>
                <a:sym typeface="Noto Sans KR"/>
              </a:rPr>
              <a:t>3. SEMANTIC UTILIZATION (활용 단계)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38" name="Google Shape;120;p13">
            <a:extLst>
              <a:ext uri="{FF2B5EF4-FFF2-40B4-BE49-F238E27FC236}">
                <a16:creationId xmlns:a16="http://schemas.microsoft.com/office/drawing/2014/main" id="{03D75B3A-3479-E14D-1DB0-C0721373940F}"/>
              </a:ext>
            </a:extLst>
          </p:cNvPr>
          <p:cNvSpPr txBox="1"/>
          <p:nvPr/>
        </p:nvSpPr>
        <p:spPr>
          <a:xfrm>
            <a:off x="567240" y="4574972"/>
            <a:ext cx="6729936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Vendor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분리형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Fail-soft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엔지니어링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설계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기반의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무중단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운영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보장</a:t>
            </a:r>
            <a:endParaRPr dirty="0">
              <a:solidFill>
                <a:schemeClr val="tx1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39" name="Google Shape;121;p13">
            <a:extLst>
              <a:ext uri="{FF2B5EF4-FFF2-40B4-BE49-F238E27FC236}">
                <a16:creationId xmlns:a16="http://schemas.microsoft.com/office/drawing/2014/main" id="{7E047079-74EA-DC87-209E-73E8CC8B9E00}"/>
              </a:ext>
            </a:extLst>
          </p:cNvPr>
          <p:cNvSpPr txBox="1"/>
          <p:nvPr/>
        </p:nvSpPr>
        <p:spPr>
          <a:xfrm>
            <a:off x="567240" y="4734340"/>
            <a:ext cx="7812728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각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문서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변환기는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독립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프로세스로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격리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구동됩니다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.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사내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보고서나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제안서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파싱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중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특정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결함이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발생하더라도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전체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위키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서버는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중단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없이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가용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포맷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자산에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한해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무중단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질의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서비스를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보장합니다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.</a:t>
            </a:r>
            <a:endParaRPr dirty="0">
              <a:solidFill>
                <a:schemeClr val="tx1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42" name="Google Shape;124;p13">
            <a:extLst>
              <a:ext uri="{FF2B5EF4-FFF2-40B4-BE49-F238E27FC236}">
                <a16:creationId xmlns:a16="http://schemas.microsoft.com/office/drawing/2014/main" id="{E1039AD6-6B6C-0976-FA93-C23B2D365EF2}"/>
              </a:ext>
            </a:extLst>
          </p:cNvPr>
          <p:cNvSpPr txBox="1"/>
          <p:nvPr/>
        </p:nvSpPr>
        <p:spPr>
          <a:xfrm>
            <a:off x="6639604" y="1828838"/>
            <a:ext cx="2258783" cy="14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F172A"/>
                </a:solidFill>
                <a:sym typeface="Noto Sans KR"/>
              </a:rPr>
              <a:t>의미 기반 하이브리드 검색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43" name="Google Shape;125;p13">
            <a:extLst>
              <a:ext uri="{FF2B5EF4-FFF2-40B4-BE49-F238E27FC236}">
                <a16:creationId xmlns:a16="http://schemas.microsoft.com/office/drawing/2014/main" id="{7D6C6841-9C06-D4DD-14B8-4133AED5E0E0}"/>
              </a:ext>
            </a:extLst>
          </p:cNvPr>
          <p:cNvSpPr txBox="1"/>
          <p:nvPr/>
        </p:nvSpPr>
        <p:spPr>
          <a:xfrm>
            <a:off x="6492260" y="2038388"/>
            <a:ext cx="2298566" cy="36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현업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용어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(Jargon)나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모호한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질문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입력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시,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키워드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(BM25)와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의미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벡터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분석을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결합해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질문자의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진짜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숨은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의도를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파악하여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관련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자산을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정밀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탐색합니다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.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44" name="Google Shape;126;p13">
            <a:extLst>
              <a:ext uri="{FF2B5EF4-FFF2-40B4-BE49-F238E27FC236}">
                <a16:creationId xmlns:a16="http://schemas.microsoft.com/office/drawing/2014/main" id="{2FF58434-D1CA-3AF4-61A8-7BF0840105DD}"/>
              </a:ext>
            </a:extLst>
          </p:cNvPr>
          <p:cNvSpPr txBox="1"/>
          <p:nvPr/>
        </p:nvSpPr>
        <p:spPr>
          <a:xfrm>
            <a:off x="6632237" y="2930653"/>
            <a:ext cx="2266518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근거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기반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추론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접지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45" name="Google Shape;127;p13">
            <a:extLst>
              <a:ext uri="{FF2B5EF4-FFF2-40B4-BE49-F238E27FC236}">
                <a16:creationId xmlns:a16="http://schemas.microsoft.com/office/drawing/2014/main" id="{3BC96228-E2E4-66C0-4B7C-A4B62C31014B}"/>
              </a:ext>
            </a:extLst>
          </p:cNvPr>
          <p:cNvSpPr txBox="1"/>
          <p:nvPr/>
        </p:nvSpPr>
        <p:spPr>
          <a:xfrm>
            <a:off x="6492260" y="3126920"/>
            <a:ext cx="2298566" cy="36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인출된 위키 내 자동 연결된 </a:t>
            </a:r>
            <a:r>
              <a:rPr lang="en-US" sz="700" b="1" i="0" u="none" strike="noStrike" cap="none">
                <a:solidFill>
                  <a:srgbClr val="475569"/>
                </a:solidFill>
                <a:sym typeface="Noto Sans KR"/>
              </a:rPr>
              <a:t>[[wikilink]]</a:t>
            </a: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 관계망을 역추적하여 답변을 도출합니다. 명확한 사실(Fact)과 본문 출처(Citation)를 표기하여 AI 환각을 완벽히 격리합니다.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46" name="Google Shape;128;p13">
            <a:extLst>
              <a:ext uri="{FF2B5EF4-FFF2-40B4-BE49-F238E27FC236}">
                <a16:creationId xmlns:a16="http://schemas.microsoft.com/office/drawing/2014/main" id="{F9E3F7F6-28AF-D6C7-C67E-C27622CA00AD}"/>
              </a:ext>
            </a:extLst>
          </p:cNvPr>
          <p:cNvSpPr txBox="1"/>
          <p:nvPr/>
        </p:nvSpPr>
        <p:spPr>
          <a:xfrm>
            <a:off x="4259999" y="2623421"/>
            <a:ext cx="279953" cy="82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028090"/>
                </a:solidFill>
                <a:sym typeface="Urbanist"/>
              </a:rPr>
              <a:t>Wiki Core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48" name="Google Shape;130;p13">
            <a:extLst>
              <a:ext uri="{FF2B5EF4-FFF2-40B4-BE49-F238E27FC236}">
                <a16:creationId xmlns:a16="http://schemas.microsoft.com/office/drawing/2014/main" id="{7B4949D9-D864-43F7-8B83-317F25EF1FA8}"/>
              </a:ext>
            </a:extLst>
          </p:cNvPr>
          <p:cNvSpPr txBox="1"/>
          <p:nvPr/>
        </p:nvSpPr>
        <p:spPr>
          <a:xfrm>
            <a:off x="3088614" y="1838778"/>
            <a:ext cx="1136676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sym typeface="Noto Sans KR"/>
              </a:rPr>
              <a:t>[[사내_복리후생규정_2026]]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2" name="Google Shape;134;p13">
            <a:extLst>
              <a:ext uri="{FF2B5EF4-FFF2-40B4-BE49-F238E27FC236}">
                <a16:creationId xmlns:a16="http://schemas.microsoft.com/office/drawing/2014/main" id="{5ACC40C4-C64E-88A6-3ACF-949214AEA8F3}"/>
              </a:ext>
            </a:extLst>
          </p:cNvPr>
          <p:cNvSpPr txBox="1"/>
          <p:nvPr/>
        </p:nvSpPr>
        <p:spPr>
          <a:xfrm>
            <a:off x="2890728" y="2474912"/>
            <a:ext cx="10903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latin typeface="SUIT" pitchFamily="2" charset="-127"/>
                <a:ea typeface="SUIT" pitchFamily="2" charset="-127"/>
                <a:sym typeface="Noto Sans KR"/>
              </a:rPr>
              <a:t>[[A_Project_제안서_v1.2]]</a:t>
            </a:r>
            <a:endParaRPr dirty="0">
              <a:latin typeface="SUIT" pitchFamily="2" charset="-127"/>
              <a:ea typeface="SUIT" pitchFamily="2" charset="-127"/>
              <a:cs typeface="SUIT"/>
            </a:endParaRPr>
          </a:p>
        </p:txBody>
      </p:sp>
      <p:sp>
        <p:nvSpPr>
          <p:cNvPr id="54" name="Google Shape;136;p13">
            <a:extLst>
              <a:ext uri="{FF2B5EF4-FFF2-40B4-BE49-F238E27FC236}">
                <a16:creationId xmlns:a16="http://schemas.microsoft.com/office/drawing/2014/main" id="{4C2EC59B-1D14-A3F1-4213-E6A187BEEF01}"/>
              </a:ext>
            </a:extLst>
          </p:cNvPr>
          <p:cNvSpPr txBox="1"/>
          <p:nvPr/>
        </p:nvSpPr>
        <p:spPr>
          <a:xfrm>
            <a:off x="5111777" y="2587171"/>
            <a:ext cx="775943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FFFFFF"/>
                </a:solidFill>
                <a:sym typeface="Noto Sans KR"/>
              </a:rPr>
              <a:t>영업팀_전략회의록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6" name="Google Shape;138;p13">
            <a:extLst>
              <a:ext uri="{FF2B5EF4-FFF2-40B4-BE49-F238E27FC236}">
                <a16:creationId xmlns:a16="http://schemas.microsoft.com/office/drawing/2014/main" id="{184B8509-E257-BE59-DE5A-23BDB73F7608}"/>
              </a:ext>
            </a:extLst>
          </p:cNvPr>
          <p:cNvSpPr txBox="1"/>
          <p:nvPr/>
        </p:nvSpPr>
        <p:spPr>
          <a:xfrm>
            <a:off x="3140184" y="3176062"/>
            <a:ext cx="101667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sym typeface="Noto Sans KR"/>
              </a:rPr>
              <a:t>[[일보_인프라파트_0525]]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8" name="Google Shape;140;p13">
            <a:extLst>
              <a:ext uri="{FF2B5EF4-FFF2-40B4-BE49-F238E27FC236}">
                <a16:creationId xmlns:a16="http://schemas.microsoft.com/office/drawing/2014/main" id="{0104D08E-67BA-E908-7E27-6EF8B8C4B5B3}"/>
              </a:ext>
            </a:extLst>
          </p:cNvPr>
          <p:cNvSpPr txBox="1"/>
          <p:nvPr/>
        </p:nvSpPr>
        <p:spPr>
          <a:xfrm>
            <a:off x="4819906" y="3101223"/>
            <a:ext cx="106781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FFFFFF"/>
                </a:solidFill>
                <a:sym typeface="Noto Sans KR"/>
              </a:rPr>
              <a:t>사내_보안지침_개정안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9" name="Google Shape;141;p13">
            <a:extLst>
              <a:ext uri="{FF2B5EF4-FFF2-40B4-BE49-F238E27FC236}">
                <a16:creationId xmlns:a16="http://schemas.microsoft.com/office/drawing/2014/main" id="{794FE0C0-6E82-AF81-4A0B-C456E3868ED4}"/>
              </a:ext>
            </a:extLst>
          </p:cNvPr>
          <p:cNvSpPr txBox="1"/>
          <p:nvPr/>
        </p:nvSpPr>
        <p:spPr>
          <a:xfrm>
            <a:off x="2742356" y="3698849"/>
            <a:ext cx="332316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u="none" strike="noStrike" cap="none" dirty="0">
                <a:solidFill>
                  <a:srgbClr val="0D9488"/>
                </a:solidFill>
                <a:latin typeface="SUIT" pitchFamily="2" charset="-127"/>
                <a:ea typeface="SUIT" pitchFamily="2" charset="-127"/>
                <a:sym typeface="Urbanist"/>
              </a:rPr>
              <a:t>벡터 </a:t>
            </a:r>
            <a:r>
              <a:rPr lang="en-US" altLang="ko-KR" sz="900" b="1" i="0" u="none" strike="noStrike" cap="none" dirty="0">
                <a:solidFill>
                  <a:srgbClr val="0D9488"/>
                </a:solidFill>
                <a:latin typeface="SUIT" pitchFamily="2" charset="-127"/>
                <a:ea typeface="SUIT" pitchFamily="2" charset="-127"/>
                <a:sym typeface="Urbanist"/>
              </a:rPr>
              <a:t>DB </a:t>
            </a:r>
            <a:r>
              <a:rPr lang="ko-KR" altLang="en-US" sz="900" b="1" i="0" u="none" strike="noStrike" cap="none" dirty="0">
                <a:solidFill>
                  <a:srgbClr val="0D9488"/>
                </a:solidFill>
                <a:latin typeface="SUIT" pitchFamily="2" charset="-127"/>
                <a:ea typeface="SUIT" pitchFamily="2" charset="-127"/>
                <a:sym typeface="Urbanist"/>
              </a:rPr>
              <a:t> </a:t>
            </a:r>
            <a:r>
              <a:rPr lang="ko-KR" altLang="en-US" sz="900" b="1" i="0" u="none" strike="noStrike" cap="none" dirty="0">
                <a:solidFill>
                  <a:srgbClr val="0F172A"/>
                </a:solidFill>
                <a:latin typeface="SUIT" pitchFamily="2" charset="-127"/>
                <a:ea typeface="SUIT" pitchFamily="2" charset="-127"/>
                <a:sym typeface="Urbanist"/>
              </a:rPr>
              <a:t>통합 지식 저장소 </a:t>
            </a:r>
            <a:r>
              <a:rPr lang="en-US" altLang="ko-KR" sz="900" b="1" i="0" u="none" strike="noStrike" cap="none" dirty="0">
                <a:solidFill>
                  <a:srgbClr val="0F172A"/>
                </a:solidFill>
                <a:latin typeface="SUIT" pitchFamily="2" charset="-127"/>
                <a:ea typeface="SUIT" pitchFamily="2" charset="-127"/>
                <a:sym typeface="Urbanist"/>
              </a:rPr>
              <a:t>(PG Vector Integrated DB)</a:t>
            </a:r>
            <a:endParaRPr sz="900" dirty="0">
              <a:latin typeface="SUIT" pitchFamily="2" charset="-127"/>
              <a:ea typeface="SUIT" pitchFamily="2" charset="-127"/>
              <a:cs typeface="SUIT"/>
            </a:endParaRPr>
          </a:p>
        </p:txBody>
      </p:sp>
      <p:sp>
        <p:nvSpPr>
          <p:cNvPr id="60" name="Google Shape;142;p13">
            <a:extLst>
              <a:ext uri="{FF2B5EF4-FFF2-40B4-BE49-F238E27FC236}">
                <a16:creationId xmlns:a16="http://schemas.microsoft.com/office/drawing/2014/main" id="{FA6450AB-4F9D-CBEE-BF28-473705728008}"/>
              </a:ext>
            </a:extLst>
          </p:cNvPr>
          <p:cNvSpPr txBox="1"/>
          <p:nvPr/>
        </p:nvSpPr>
        <p:spPr>
          <a:xfrm>
            <a:off x="2731472" y="3904996"/>
            <a:ext cx="3323164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정제된 마크다운</a:t>
            </a:r>
            <a:r>
              <a:rPr lang="en-US" altLang="ko-KR" sz="700" b="0" i="0" u="none" strike="noStrike" cap="none" dirty="0">
                <a:solidFill>
                  <a:srgbClr val="64748B"/>
                </a:solidFill>
                <a:sym typeface="Noto Sans KR"/>
              </a:rPr>
              <a:t>(Markdown) </a:t>
            </a: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문서 자산을 고속 </a:t>
            </a:r>
            <a:r>
              <a:rPr lang="ko-KR" alt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시맨틱</a:t>
            </a: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 검색용 고차원 벡터 데이터로 인덱싱하여 </a:t>
            </a:r>
            <a:r>
              <a:rPr lang="en-US" altLang="ko-KR" sz="700" b="0" i="0" u="none" strike="noStrike" cap="none" dirty="0">
                <a:solidFill>
                  <a:srgbClr val="64748B"/>
                </a:solidFill>
                <a:sym typeface="Noto Sans KR"/>
              </a:rPr>
              <a:t>Vector DB </a:t>
            </a: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레이어에 통합 적재 및 실시간 활용</a:t>
            </a:r>
            <a:endParaRPr dirty="0">
              <a:solidFill>
                <a:srgbClr val="0D9488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1026" name="Google Shape;147;p13">
            <a:extLst>
              <a:ext uri="{FF2B5EF4-FFF2-40B4-BE49-F238E27FC236}">
                <a16:creationId xmlns:a16="http://schemas.microsoft.com/office/drawing/2014/main" id="{73D0ABC8-188F-2481-FDB8-3010A39E3045}"/>
              </a:ext>
            </a:extLst>
          </p:cNvPr>
          <p:cNvSpPr txBox="1"/>
          <p:nvPr/>
        </p:nvSpPr>
        <p:spPr>
          <a:xfrm>
            <a:off x="6558565" y="3690319"/>
            <a:ext cx="2099652" cy="29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Q. "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취업규칙상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연차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보상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기준이랑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지난주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보고된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정산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현황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확인해줘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"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1027" name="Google Shape;148;p13">
            <a:extLst>
              <a:ext uri="{FF2B5EF4-FFF2-40B4-BE49-F238E27FC236}">
                <a16:creationId xmlns:a16="http://schemas.microsoft.com/office/drawing/2014/main" id="{84F4664F-D25D-BB7D-DE16-47646D8E7E64}"/>
              </a:ext>
            </a:extLst>
          </p:cNvPr>
          <p:cNvSpPr txBox="1"/>
          <p:nvPr/>
        </p:nvSpPr>
        <p:spPr>
          <a:xfrm>
            <a:off x="6558565" y="4019612"/>
            <a:ext cx="2165956" cy="244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A. "</a:t>
            </a:r>
            <a:r>
              <a:rPr lang="en-US" sz="700" b="1" i="0" u="none" strike="noStrike" cap="none">
                <a:solidFill>
                  <a:srgbClr val="475569"/>
                </a:solidFill>
                <a:sym typeface="Noto Sans KR"/>
              </a:rPr>
              <a:t>[[사내_취업규칙_제12조]]</a:t>
            </a: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에 의거... 또한 </a:t>
            </a:r>
            <a:r>
              <a:rPr lang="en-US" sz="700" b="1" i="0" u="none" strike="noStrike" cap="none">
                <a:solidFill>
                  <a:srgbClr val="475569"/>
                </a:solidFill>
                <a:sym typeface="Noto Sans KR"/>
              </a:rPr>
              <a:t>[[주간보고_재무팀_W21]]</a:t>
            </a: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에 따르면 현재..." </a:t>
            </a:r>
            <a:r>
              <a:rPr lang="en-US" sz="700" b="0" i="0" u="none" strike="noStrike" cap="none">
                <a:solidFill>
                  <a:schemeClr val="dk1"/>
                </a:solidFill>
                <a:sym typeface="Noto Sans KR"/>
              </a:rPr>
              <a:t>[출처 매핑 완료]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28" name="Google Shape;149;p13">
            <a:extLst>
              <a:ext uri="{FF2B5EF4-FFF2-40B4-BE49-F238E27FC236}">
                <a16:creationId xmlns:a16="http://schemas.microsoft.com/office/drawing/2014/main" id="{2CE87B67-8EB0-5D09-664F-66E060C40E0B}"/>
              </a:ext>
            </a:extLst>
          </p:cNvPr>
          <p:cNvSpPr txBox="1"/>
          <p:nvPr/>
        </p:nvSpPr>
        <p:spPr>
          <a:xfrm>
            <a:off x="558800" y="16764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 dirty="0" err="1">
                <a:solidFill>
                  <a:srgbClr val="0F172A"/>
                </a:solidFill>
                <a:sym typeface="Noto Sans KR"/>
              </a:rPr>
              <a:t>원천</a:t>
            </a:r>
            <a:r>
              <a:rPr lang="en-US" sz="7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F172A"/>
                </a:solidFill>
                <a:sym typeface="Noto Sans KR"/>
              </a:rPr>
              <a:t>파일</a:t>
            </a:r>
            <a:r>
              <a:rPr lang="en-US" sz="7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F172A"/>
                </a:solidFill>
                <a:sym typeface="Noto Sans KR"/>
              </a:rPr>
              <a:t>업로드</a:t>
            </a:r>
            <a:r>
              <a:rPr lang="en-US" sz="700" b="1" i="0" u="none" strike="noStrike" cap="none" dirty="0">
                <a:solidFill>
                  <a:srgbClr val="0F172A"/>
                </a:solidFill>
                <a:sym typeface="Noto Sans KR"/>
              </a:rPr>
              <a:t> (Intake)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1031" name="Google Shape;150;p13">
            <a:extLst>
              <a:ext uri="{FF2B5EF4-FFF2-40B4-BE49-F238E27FC236}">
                <a16:creationId xmlns:a16="http://schemas.microsoft.com/office/drawing/2014/main" id="{B8E6096A-00DE-C115-5EE5-6E767C8078C2}"/>
              </a:ext>
            </a:extLst>
          </p:cNvPr>
          <p:cNvSpPr txBox="1"/>
          <p:nvPr/>
        </p:nvSpPr>
        <p:spPr>
          <a:xfrm>
            <a:off x="558800" y="180340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규정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제안서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보고서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일보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 등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파편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수집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1032" name="Google Shape;151;p13">
            <a:extLst>
              <a:ext uri="{FF2B5EF4-FFF2-40B4-BE49-F238E27FC236}">
                <a16:creationId xmlns:a16="http://schemas.microsoft.com/office/drawing/2014/main" id="{EE1D13FF-A850-B5CF-7953-7B84E0A6384D}"/>
              </a:ext>
            </a:extLst>
          </p:cNvPr>
          <p:cNvSpPr txBox="1"/>
          <p:nvPr/>
        </p:nvSpPr>
        <p:spPr>
          <a:xfrm>
            <a:off x="573546" y="22733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멀티 파서 구동 (Conversion)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3" name="Google Shape;152;p13">
            <a:extLst>
              <a:ext uri="{FF2B5EF4-FFF2-40B4-BE49-F238E27FC236}">
                <a16:creationId xmlns:a16="http://schemas.microsoft.com/office/drawing/2014/main" id="{5FAEF416-86DE-2866-A3AD-C77CB16257B3}"/>
              </a:ext>
            </a:extLst>
          </p:cNvPr>
          <p:cNvSpPr txBox="1"/>
          <p:nvPr/>
        </p:nvSpPr>
        <p:spPr>
          <a:xfrm>
            <a:off x="558800" y="240030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Java / Python 독립 파서 기반 무결성 변환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5" name="Google Shape;153;p13">
            <a:extLst>
              <a:ext uri="{FF2B5EF4-FFF2-40B4-BE49-F238E27FC236}">
                <a16:creationId xmlns:a16="http://schemas.microsoft.com/office/drawing/2014/main" id="{2C11A134-B670-FBE3-EA43-6535AD8E3C0C}"/>
              </a:ext>
            </a:extLst>
          </p:cNvPr>
          <p:cNvSpPr txBox="1"/>
          <p:nvPr/>
        </p:nvSpPr>
        <p:spPr>
          <a:xfrm>
            <a:off x="558800" y="28575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LLM 정제 루프 (Ingest Loop)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6" name="Google Shape;154;p13">
            <a:extLst>
              <a:ext uri="{FF2B5EF4-FFF2-40B4-BE49-F238E27FC236}">
                <a16:creationId xmlns:a16="http://schemas.microsoft.com/office/drawing/2014/main" id="{9A140669-6D9E-9286-C50A-90C70A0DC0D0}"/>
              </a:ext>
            </a:extLst>
          </p:cNvPr>
          <p:cNvSpPr txBox="1"/>
          <p:nvPr/>
        </p:nvSpPr>
        <p:spPr>
          <a:xfrm>
            <a:off x="558800" y="2984500"/>
            <a:ext cx="1755597" cy="12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5단계 시스템 프롬프트 기반 맥락 정제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7" name="Google Shape;155;p13">
            <a:extLst>
              <a:ext uri="{FF2B5EF4-FFF2-40B4-BE49-F238E27FC236}">
                <a16:creationId xmlns:a16="http://schemas.microsoft.com/office/drawing/2014/main" id="{0B1AB971-F470-73F2-8F80-12B150C9C16F}"/>
              </a:ext>
            </a:extLst>
          </p:cNvPr>
          <p:cNvSpPr txBox="1"/>
          <p:nvPr/>
        </p:nvSpPr>
        <p:spPr>
          <a:xfrm>
            <a:off x="558800" y="34544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하이브리드 인덱싱 (Indexing)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40" name="Google Shape;156;p13">
            <a:extLst>
              <a:ext uri="{FF2B5EF4-FFF2-40B4-BE49-F238E27FC236}">
                <a16:creationId xmlns:a16="http://schemas.microsoft.com/office/drawing/2014/main" id="{F242A3AF-5469-F06B-2774-295F7C3BEA40}"/>
              </a:ext>
            </a:extLst>
          </p:cNvPr>
          <p:cNvSpPr txBox="1"/>
          <p:nvPr/>
        </p:nvSpPr>
        <p:spPr>
          <a:xfrm>
            <a:off x="558800" y="358140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마크다운 구조화 및 시맨틱 벡터 생성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41" name="Google Shape;157;p13">
            <a:extLst>
              <a:ext uri="{FF2B5EF4-FFF2-40B4-BE49-F238E27FC236}">
                <a16:creationId xmlns:a16="http://schemas.microsoft.com/office/drawing/2014/main" id="{497326C5-5334-3307-5C4D-62C2B7959095}"/>
              </a:ext>
            </a:extLst>
          </p:cNvPr>
          <p:cNvSpPr txBox="1"/>
          <p:nvPr/>
        </p:nvSpPr>
        <p:spPr>
          <a:xfrm>
            <a:off x="558800" y="40386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관계 매핑 (Relation Engine)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42" name="Google Shape;158;p13">
            <a:extLst>
              <a:ext uri="{FF2B5EF4-FFF2-40B4-BE49-F238E27FC236}">
                <a16:creationId xmlns:a16="http://schemas.microsoft.com/office/drawing/2014/main" id="{5CFBDCE2-6FB6-8C23-0EC4-DDBACF9A1EEC}"/>
              </a:ext>
            </a:extLst>
          </p:cNvPr>
          <p:cNvSpPr txBox="1"/>
          <p:nvPr/>
        </p:nvSpPr>
        <p:spPr>
          <a:xfrm>
            <a:off x="544066" y="416025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자동 카테고리 분류 및 링크 구조화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DD7C55E-4A84-4EAA-BADB-4DB2ADDFCBB7}"/>
              </a:ext>
            </a:extLst>
          </p:cNvPr>
          <p:cNvSpPr/>
          <p:nvPr/>
        </p:nvSpPr>
        <p:spPr>
          <a:xfrm>
            <a:off x="230694" y="1691640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01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57" name="타원 1056">
            <a:extLst>
              <a:ext uri="{FF2B5EF4-FFF2-40B4-BE49-F238E27FC236}">
                <a16:creationId xmlns:a16="http://schemas.microsoft.com/office/drawing/2014/main" id="{5BDE562B-0DA8-010B-56E9-A86691FAAAAF}"/>
              </a:ext>
            </a:extLst>
          </p:cNvPr>
          <p:cNvSpPr/>
          <p:nvPr/>
        </p:nvSpPr>
        <p:spPr>
          <a:xfrm>
            <a:off x="230694" y="2281220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02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58" name="타원 1057">
            <a:extLst>
              <a:ext uri="{FF2B5EF4-FFF2-40B4-BE49-F238E27FC236}">
                <a16:creationId xmlns:a16="http://schemas.microsoft.com/office/drawing/2014/main" id="{6471B3FF-270E-3F29-8D16-5DE6FCE6675D}"/>
              </a:ext>
            </a:extLst>
          </p:cNvPr>
          <p:cNvSpPr/>
          <p:nvPr/>
        </p:nvSpPr>
        <p:spPr>
          <a:xfrm>
            <a:off x="230694" y="4049962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05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59" name="타원 1058">
            <a:extLst>
              <a:ext uri="{FF2B5EF4-FFF2-40B4-BE49-F238E27FC236}">
                <a16:creationId xmlns:a16="http://schemas.microsoft.com/office/drawing/2014/main" id="{3635C37F-03FB-3BE6-4DF4-571D11F86676}"/>
              </a:ext>
            </a:extLst>
          </p:cNvPr>
          <p:cNvSpPr/>
          <p:nvPr/>
        </p:nvSpPr>
        <p:spPr>
          <a:xfrm>
            <a:off x="230694" y="3460381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04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60" name="타원 1059">
            <a:extLst>
              <a:ext uri="{FF2B5EF4-FFF2-40B4-BE49-F238E27FC236}">
                <a16:creationId xmlns:a16="http://schemas.microsoft.com/office/drawing/2014/main" id="{DD0F66D8-EC2A-7333-D398-18E8638E74E3}"/>
              </a:ext>
            </a:extLst>
          </p:cNvPr>
          <p:cNvSpPr/>
          <p:nvPr/>
        </p:nvSpPr>
        <p:spPr>
          <a:xfrm>
            <a:off x="230694" y="2870801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03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61" name="화살표: 오른쪽 1060">
            <a:extLst>
              <a:ext uri="{FF2B5EF4-FFF2-40B4-BE49-F238E27FC236}">
                <a16:creationId xmlns:a16="http://schemas.microsoft.com/office/drawing/2014/main" id="{91FA957D-1FE4-34D8-035D-28B1345A3C0F}"/>
              </a:ext>
            </a:extLst>
          </p:cNvPr>
          <p:cNvSpPr/>
          <p:nvPr/>
        </p:nvSpPr>
        <p:spPr>
          <a:xfrm rot="5400000">
            <a:off x="1192527" y="2104941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2" name="화살표: 오른쪽 1061">
            <a:extLst>
              <a:ext uri="{FF2B5EF4-FFF2-40B4-BE49-F238E27FC236}">
                <a16:creationId xmlns:a16="http://schemas.microsoft.com/office/drawing/2014/main" id="{133C489F-A639-4D7A-D7E7-C79DE7FA990F}"/>
              </a:ext>
            </a:extLst>
          </p:cNvPr>
          <p:cNvSpPr/>
          <p:nvPr/>
        </p:nvSpPr>
        <p:spPr>
          <a:xfrm rot="5400000">
            <a:off x="1192527" y="2696418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3" name="화살표: 오른쪽 1062">
            <a:extLst>
              <a:ext uri="{FF2B5EF4-FFF2-40B4-BE49-F238E27FC236}">
                <a16:creationId xmlns:a16="http://schemas.microsoft.com/office/drawing/2014/main" id="{55BD6995-EA46-6DD5-AD6E-E3D51E68EFEE}"/>
              </a:ext>
            </a:extLst>
          </p:cNvPr>
          <p:cNvSpPr/>
          <p:nvPr/>
        </p:nvSpPr>
        <p:spPr>
          <a:xfrm rot="5400000">
            <a:off x="1192527" y="3287895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4" name="화살표: 오른쪽 1063">
            <a:extLst>
              <a:ext uri="{FF2B5EF4-FFF2-40B4-BE49-F238E27FC236}">
                <a16:creationId xmlns:a16="http://schemas.microsoft.com/office/drawing/2014/main" id="{E988E80D-D9ED-C76B-6A49-77D1256617DA}"/>
              </a:ext>
            </a:extLst>
          </p:cNvPr>
          <p:cNvSpPr/>
          <p:nvPr/>
        </p:nvSpPr>
        <p:spPr>
          <a:xfrm rot="5400000">
            <a:off x="1192527" y="3879373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65" name="Google Shape;145;p13">
            <a:extLst>
              <a:ext uri="{FF2B5EF4-FFF2-40B4-BE49-F238E27FC236}">
                <a16:creationId xmlns:a16="http://schemas.microsoft.com/office/drawing/2014/main" id="{098ACE1E-7AE5-2B8E-313A-65303582144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83985" y="1844401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46;p13">
            <a:extLst>
              <a:ext uri="{FF2B5EF4-FFF2-40B4-BE49-F238E27FC236}">
                <a16:creationId xmlns:a16="http://schemas.microsoft.com/office/drawing/2014/main" id="{DD29AF19-ACBA-53B4-B39F-5DD703845FF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48766" y="29262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그래픽 1069" descr="문서 단색으로 채워진">
            <a:extLst>
              <a:ext uri="{FF2B5EF4-FFF2-40B4-BE49-F238E27FC236}">
                <a16:creationId xmlns:a16="http://schemas.microsoft.com/office/drawing/2014/main" id="{6133800A-5F97-08F6-EA76-E95ED8DF8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00218" y="1900728"/>
            <a:ext cx="118110" cy="118110"/>
          </a:xfrm>
          <a:prstGeom prst="rect">
            <a:avLst/>
          </a:prstGeom>
        </p:spPr>
      </p:pic>
      <p:pic>
        <p:nvPicPr>
          <p:cNvPr id="1072" name="그래픽 1071" descr="정보 단색으로 채워진">
            <a:extLst>
              <a:ext uri="{FF2B5EF4-FFF2-40B4-BE49-F238E27FC236}">
                <a16:creationId xmlns:a16="http://schemas.microsoft.com/office/drawing/2014/main" id="{AE730869-7126-847D-0D95-5A9A7400E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86534" y="2574572"/>
            <a:ext cx="118110" cy="118110"/>
          </a:xfrm>
          <a:prstGeom prst="rect">
            <a:avLst/>
          </a:prstGeom>
        </p:spPr>
      </p:pic>
      <p:pic>
        <p:nvPicPr>
          <p:cNvPr id="1074" name="그래픽 1073" descr="포스트잇 단색으로 채워진">
            <a:extLst>
              <a:ext uri="{FF2B5EF4-FFF2-40B4-BE49-F238E27FC236}">
                <a16:creationId xmlns:a16="http://schemas.microsoft.com/office/drawing/2014/main" id="{109EDA71-DC0D-3CDE-0EF2-FCC8C5DC2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65195" y="3094201"/>
            <a:ext cx="118110" cy="118110"/>
          </a:xfrm>
          <a:prstGeom prst="rect">
            <a:avLst/>
          </a:prstGeom>
        </p:spPr>
      </p:pic>
      <p:pic>
        <p:nvPicPr>
          <p:cNvPr id="1076" name="그래픽 1075" descr="신문 단색으로 채워진">
            <a:extLst>
              <a:ext uri="{FF2B5EF4-FFF2-40B4-BE49-F238E27FC236}">
                <a16:creationId xmlns:a16="http://schemas.microsoft.com/office/drawing/2014/main" id="{C4BA5168-6D22-8BA9-98FD-B0CA6289C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74380" y="2465959"/>
            <a:ext cx="118110" cy="118110"/>
          </a:xfrm>
          <a:prstGeom prst="rect">
            <a:avLst/>
          </a:prstGeom>
        </p:spPr>
      </p:pic>
      <p:pic>
        <p:nvPicPr>
          <p:cNvPr id="1078" name="그래픽 1077" descr="포스트잇 3 윤곽선">
            <a:extLst>
              <a:ext uri="{FF2B5EF4-FFF2-40B4-BE49-F238E27FC236}">
                <a16:creationId xmlns:a16="http://schemas.microsoft.com/office/drawing/2014/main" id="{A1F9D8BD-8862-3F31-4D60-51CFF396B3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12401" y="3168025"/>
            <a:ext cx="118110" cy="118110"/>
          </a:xfrm>
          <a:prstGeom prst="rect">
            <a:avLst/>
          </a:prstGeom>
        </p:spPr>
      </p:pic>
      <p:pic>
        <p:nvPicPr>
          <p:cNvPr id="1079" name="그래픽 1078" descr="문서 단색으로 채워진">
            <a:extLst>
              <a:ext uri="{FF2B5EF4-FFF2-40B4-BE49-F238E27FC236}">
                <a16:creationId xmlns:a16="http://schemas.microsoft.com/office/drawing/2014/main" id="{CCA7F173-57DE-7DFD-ED05-1225175AA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41269" y="1828838"/>
            <a:ext cx="118110" cy="118110"/>
          </a:xfrm>
          <a:prstGeom prst="rect">
            <a:avLst/>
          </a:prstGeom>
        </p:spPr>
      </p:pic>
      <p:pic>
        <p:nvPicPr>
          <p:cNvPr id="1081" name="그래픽 1080" descr="데이터베이스 단색으로 채워진">
            <a:extLst>
              <a:ext uri="{FF2B5EF4-FFF2-40B4-BE49-F238E27FC236}">
                <a16:creationId xmlns:a16="http://schemas.microsoft.com/office/drawing/2014/main" id="{418E95E9-BB37-6B9D-DFC0-F1FC46054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53369" y="1390382"/>
            <a:ext cx="214229" cy="168671"/>
          </a:xfrm>
          <a:prstGeom prst="rect">
            <a:avLst/>
          </a:prstGeom>
        </p:spPr>
      </p:pic>
      <p:pic>
        <p:nvPicPr>
          <p:cNvPr id="1082" name="Image 0" descr="/home/claude/innermate/cover_glow.png">
            <a:extLst>
              <a:ext uri="{FF2B5EF4-FFF2-40B4-BE49-F238E27FC236}">
                <a16:creationId xmlns:a16="http://schemas.microsoft.com/office/drawing/2014/main" id="{5612DB68-81CD-EEA3-6ADB-1739E781FB4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4160" y="1666645"/>
            <a:ext cx="2387004" cy="1765507"/>
          </a:xfrm>
          <a:prstGeom prst="rect">
            <a:avLst/>
          </a:prstGeom>
        </p:spPr>
      </p:pic>
      <p:sp>
        <p:nvSpPr>
          <p:cNvPr id="1047" name="타원 1046">
            <a:extLst>
              <a:ext uri="{FF2B5EF4-FFF2-40B4-BE49-F238E27FC236}">
                <a16:creationId xmlns:a16="http://schemas.microsoft.com/office/drawing/2014/main" id="{B703864A-9024-40D8-95FB-AA71BB85D260}"/>
              </a:ext>
            </a:extLst>
          </p:cNvPr>
          <p:cNvSpPr/>
          <p:nvPr/>
        </p:nvSpPr>
        <p:spPr>
          <a:xfrm>
            <a:off x="4027932" y="2193146"/>
            <a:ext cx="773555" cy="745752"/>
          </a:xfrm>
          <a:prstGeom prst="ellipse">
            <a:avLst/>
          </a:prstGeom>
          <a:solidFill>
            <a:srgbClr val="0F766E"/>
          </a:solidFill>
          <a:ln w="19050" cap="flat" cmpd="sng" algn="ctr">
            <a:solidFill>
              <a:srgbClr val="5EEA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altLang="ko-KR" sz="1050" dirty="0">
                <a:solidFill>
                  <a:srgbClr val="FFFFFF"/>
                </a:solidFill>
                <a:latin typeface="SUIT"/>
                <a:ea typeface="SUIT"/>
              </a:rPr>
              <a:t>Wiki Core</a:t>
            </a:r>
            <a:endParaRPr lang="ko-KR" altLang="en-US" sz="1050" dirty="0">
              <a:solidFill>
                <a:srgbClr val="FFFFFF"/>
              </a:solidFill>
              <a:latin typeface="SUIT"/>
              <a:ea typeface="SUIT"/>
            </a:endParaRPr>
          </a:p>
        </p:txBody>
      </p:sp>
      <p:pic>
        <p:nvPicPr>
          <p:cNvPr id="30" name="Google Shape;108;p13">
            <a:extLst>
              <a:ext uri="{FF2B5EF4-FFF2-40B4-BE49-F238E27FC236}">
                <a16:creationId xmlns:a16="http://schemas.microsoft.com/office/drawing/2014/main" id="{6F3AADF7-BC16-A070-61EB-EB82645AAAF6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941269" y="3123675"/>
            <a:ext cx="1318729" cy="2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09;p13">
            <a:extLst>
              <a:ext uri="{FF2B5EF4-FFF2-40B4-BE49-F238E27FC236}">
                <a16:creationId xmlns:a16="http://schemas.microsoft.com/office/drawing/2014/main" id="{35119EE2-5BD2-FEAA-6C11-C0C7C24C3592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606257" y="3048835"/>
            <a:ext cx="1326096" cy="2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07;p13">
            <a:extLst>
              <a:ext uri="{FF2B5EF4-FFF2-40B4-BE49-F238E27FC236}">
                <a16:creationId xmlns:a16="http://schemas.microsoft.com/office/drawing/2014/main" id="{5F964472-9293-7EE1-451E-A89D9CCC5F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98128" y="2534783"/>
            <a:ext cx="1113381" cy="2170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4" name="직선 연결선 1083">
            <a:extLst>
              <a:ext uri="{FF2B5EF4-FFF2-40B4-BE49-F238E27FC236}">
                <a16:creationId xmlns:a16="http://schemas.microsoft.com/office/drawing/2014/main" id="{AFC2A535-2977-1D85-7BA6-8E0D959D1DCA}"/>
              </a:ext>
            </a:extLst>
          </p:cNvPr>
          <p:cNvCxnSpPr>
            <a:cxnSpLocks/>
            <a:stCxn id="232" idx="2"/>
            <a:endCxn id="1047" idx="7"/>
          </p:cNvCxnSpPr>
          <p:nvPr/>
        </p:nvCxnSpPr>
        <p:spPr>
          <a:xfrm flipH="1">
            <a:off x="4688202" y="2066696"/>
            <a:ext cx="692131" cy="235663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7" name="직선 연결선 1086">
            <a:extLst>
              <a:ext uri="{FF2B5EF4-FFF2-40B4-BE49-F238E27FC236}">
                <a16:creationId xmlns:a16="http://schemas.microsoft.com/office/drawing/2014/main" id="{6D852DFE-0552-FD68-6BBF-FE271B2B9E8B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4804987" y="2465959"/>
            <a:ext cx="649832" cy="68824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39D68905-65A5-6569-1609-E9CE2AB1ECA2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4738867" y="2815209"/>
            <a:ext cx="530438" cy="233626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586134F0-DAC8-0625-75C7-8E79E5B033F3}"/>
              </a:ext>
            </a:extLst>
          </p:cNvPr>
          <p:cNvCxnSpPr>
            <a:cxnSpLocks/>
            <a:stCxn id="30" idx="0"/>
            <a:endCxn id="1047" idx="3"/>
          </p:cNvCxnSpPr>
          <p:nvPr/>
        </p:nvCxnSpPr>
        <p:spPr>
          <a:xfrm flipV="1">
            <a:off x="3600634" y="2829685"/>
            <a:ext cx="540583" cy="293990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C2A6FEEB-4021-C94C-F88C-F7FE42575515}"/>
              </a:ext>
            </a:extLst>
          </p:cNvPr>
          <p:cNvCxnSpPr>
            <a:cxnSpLocks/>
            <a:stCxn id="1047" idx="1"/>
          </p:cNvCxnSpPr>
          <p:nvPr/>
        </p:nvCxnSpPr>
        <p:spPr>
          <a:xfrm flipH="1" flipV="1">
            <a:off x="3538899" y="2008369"/>
            <a:ext cx="602318" cy="293990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30" name="그래픽 229" descr="네트워크 단색으로 채워진">
            <a:extLst>
              <a:ext uri="{FF2B5EF4-FFF2-40B4-BE49-F238E27FC236}">
                <a16:creationId xmlns:a16="http://schemas.microsoft.com/office/drawing/2014/main" id="{5E2EE9EB-CDC0-E95B-9634-06CB70F27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677" y="4520785"/>
            <a:ext cx="364366" cy="364366"/>
          </a:xfrm>
          <a:prstGeom prst="rect">
            <a:avLst/>
          </a:prstGeom>
        </p:spPr>
      </p:pic>
      <p:pic>
        <p:nvPicPr>
          <p:cNvPr id="231" name="그래픽 230" descr="오른쪽 캐럿 윤곽선">
            <a:extLst>
              <a:ext uri="{FF2B5EF4-FFF2-40B4-BE49-F238E27FC236}">
                <a16:creationId xmlns:a16="http://schemas.microsoft.com/office/drawing/2014/main" id="{3A72BE61-5A1D-49FC-888E-EB117390C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82904" y="1417320"/>
            <a:ext cx="359040" cy="2937051"/>
          </a:xfrm>
          <a:prstGeom prst="rect">
            <a:avLst/>
          </a:prstGeom>
        </p:spPr>
      </p:pic>
      <p:sp>
        <p:nvSpPr>
          <p:cNvPr id="50" name="Google Shape;132;p13">
            <a:extLst>
              <a:ext uri="{FF2B5EF4-FFF2-40B4-BE49-F238E27FC236}">
                <a16:creationId xmlns:a16="http://schemas.microsoft.com/office/drawing/2014/main" id="{F1D4CA9E-5209-B3A5-C73D-83319F60CB52}"/>
              </a:ext>
            </a:extLst>
          </p:cNvPr>
          <p:cNvSpPr txBox="1"/>
          <p:nvPr/>
        </p:nvSpPr>
        <p:spPr>
          <a:xfrm>
            <a:off x="4938927" y="1913617"/>
            <a:ext cx="998957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sym typeface="Noto Sans KR"/>
              </a:rPr>
              <a:t>[[주간보고_기획팀_W21]]</a:t>
            </a:r>
            <a:endParaRPr dirty="0">
              <a:latin typeface="SUIT"/>
              <a:ea typeface="SUIT"/>
              <a:cs typeface="SUIT"/>
            </a:endParaRPr>
          </a:p>
        </p:txBody>
      </p:sp>
      <p:pic>
        <p:nvPicPr>
          <p:cNvPr id="232" name="Google Shape;107;p13">
            <a:extLst>
              <a:ext uri="{FF2B5EF4-FFF2-40B4-BE49-F238E27FC236}">
                <a16:creationId xmlns:a16="http://schemas.microsoft.com/office/drawing/2014/main" id="{17B37782-3AB9-FA7E-AC20-3B6FDA78FEE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79017" y="1849663"/>
            <a:ext cx="1202631" cy="2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107;p13">
            <a:extLst>
              <a:ext uri="{FF2B5EF4-FFF2-40B4-BE49-F238E27FC236}">
                <a16:creationId xmlns:a16="http://schemas.microsoft.com/office/drawing/2014/main" id="{3D297467-741D-137D-223C-EB257A4CB0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2816" y="1788551"/>
            <a:ext cx="1322474" cy="21703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Shape 4">
            <a:extLst>
              <a:ext uri="{FF2B5EF4-FFF2-40B4-BE49-F238E27FC236}">
                <a16:creationId xmlns:a16="http://schemas.microsoft.com/office/drawing/2014/main" id="{ECE9FB48-83AE-F7DA-6507-256ADE9B5F2E}"/>
              </a:ext>
            </a:extLst>
          </p:cNvPr>
          <p:cNvSpPr/>
          <p:nvPr/>
        </p:nvSpPr>
        <p:spPr>
          <a:xfrm>
            <a:off x="2550149" y="1280572"/>
            <a:ext cx="3706362" cy="3170902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9307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5E1D-DF62-198A-D5BE-0F868F15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305033C6-F08C-52D7-A25E-D02584E93CAA}"/>
              </a:ext>
            </a:extLst>
          </p:cNvPr>
          <p:cNvCxnSpPr/>
          <p:nvPr/>
        </p:nvCxnSpPr>
        <p:spPr>
          <a:xfrm>
            <a:off x="594360" y="1679076"/>
            <a:ext cx="8001000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사각형: 둥근 모서리 229">
            <a:extLst>
              <a:ext uri="{FF2B5EF4-FFF2-40B4-BE49-F238E27FC236}">
                <a16:creationId xmlns:a16="http://schemas.microsoft.com/office/drawing/2014/main" id="{9C431CDF-20FD-D41F-6E9E-31BD44ECCB50}"/>
              </a:ext>
            </a:extLst>
          </p:cNvPr>
          <p:cNvSpPr/>
          <p:nvPr/>
        </p:nvSpPr>
        <p:spPr>
          <a:xfrm>
            <a:off x="193168" y="1427730"/>
            <a:ext cx="2085212" cy="864533"/>
          </a:xfrm>
          <a:prstGeom prst="roundRect">
            <a:avLst>
              <a:gd name="adj" fmla="val 1070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DF69F15-AAFA-AB9B-17E5-11383C171F80}"/>
              </a:ext>
            </a:extLst>
          </p:cNvPr>
          <p:cNvSpPr txBox="1"/>
          <p:nvPr/>
        </p:nvSpPr>
        <p:spPr>
          <a:xfrm>
            <a:off x="270510" y="1842539"/>
            <a:ext cx="1954321" cy="40972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텍스트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도형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표가 혼재된 비정형 문서 및 정량적 엑셀 데이터를 포맷의 제약 없이 일괄 수집합니다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50F4427-E927-A386-025B-9D1DF1653E76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D8836587-772D-6EF3-DEA9-B6A5587F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solidFill>
                  <a:srgbClr val="334155"/>
                </a:solidFill>
                <a:latin typeface="SUIT ExtraBold" pitchFamily="2" charset="-127"/>
                <a:ea typeface="SUIT ExtraBold" pitchFamily="2" charset="-127"/>
              </a:rPr>
              <a:t>Document Parser - </a:t>
            </a:r>
            <a:r>
              <a:rPr lang="ko-KR" altLang="en-US" b="0" dirty="0">
                <a:solidFill>
                  <a:srgbClr val="334155"/>
                </a:solidFill>
                <a:latin typeface="SUIT ExtraBold" pitchFamily="2" charset="-127"/>
                <a:ea typeface="SUIT ExtraBold" pitchFamily="2" charset="-127"/>
              </a:rPr>
              <a:t>지식 자산화 파이프라인 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68B9D4DA-3E92-63EC-9058-B63354E6E0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B491B26-63B1-3191-EF62-F65F4B8C44A2}"/>
              </a:ext>
            </a:extLst>
          </p:cNvPr>
          <p:cNvSpPr txBox="1"/>
          <p:nvPr/>
        </p:nvSpPr>
        <p:spPr>
          <a:xfrm>
            <a:off x="256032" y="647946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100" b="0" i="0" dirty="0">
                <a:solidFill>
                  <a:srgbClr val="334155"/>
                </a:solidFill>
                <a:effectLst/>
                <a:latin typeface="+mn-ea"/>
                <a:ea typeface="+mn-ea"/>
              </a:rPr>
              <a:t>기업 내 방치된 </a:t>
            </a:r>
            <a:r>
              <a:rPr lang="ko-KR" altLang="ko-KR" sz="1100" b="1" i="0" dirty="0" err="1">
                <a:solidFill>
                  <a:srgbClr val="0D9488"/>
                </a:solidFill>
                <a:effectLst/>
                <a:latin typeface="+mn-ea"/>
                <a:ea typeface="+mn-ea"/>
              </a:rPr>
              <a:t>정성·정량</a:t>
            </a:r>
            <a:r>
              <a:rPr lang="ko-KR" altLang="ko-KR" sz="1100" b="1" i="0" dirty="0">
                <a:solidFill>
                  <a:srgbClr val="0D9488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ko-KR" sz="1100" b="1" i="0" dirty="0" err="1">
                <a:solidFill>
                  <a:srgbClr val="0D9488"/>
                </a:solidFill>
                <a:effectLst/>
                <a:latin typeface="+mn-ea"/>
                <a:ea typeface="+mn-ea"/>
              </a:rPr>
              <a:t>정형·비정형</a:t>
            </a:r>
            <a:r>
              <a:rPr lang="ko-KR" altLang="ko-KR" sz="1100" b="1" i="0" dirty="0">
                <a:solidFill>
                  <a:srgbClr val="0D9488"/>
                </a:solidFill>
                <a:effectLst/>
                <a:latin typeface="+mn-ea"/>
                <a:ea typeface="+mn-ea"/>
              </a:rPr>
              <a:t> 문서(PDF, 엑셀</a:t>
            </a:r>
            <a:r>
              <a:rPr lang="en-US" altLang="ko-KR" sz="1100" b="1" i="0" dirty="0">
                <a:solidFill>
                  <a:srgbClr val="0D9488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ko-KR" sz="1100" b="1" i="0" dirty="0">
                <a:solidFill>
                  <a:srgbClr val="0D9488"/>
                </a:solidFill>
                <a:effectLst/>
                <a:latin typeface="+mn-ea"/>
                <a:ea typeface="+mn-ea"/>
              </a:rPr>
              <a:t>등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)</a:t>
            </a:r>
            <a:r>
              <a:rPr lang="ko-KR" altLang="ko-KR" sz="1100" b="0" i="0" dirty="0">
                <a:solidFill>
                  <a:srgbClr val="334155"/>
                </a:solidFill>
                <a:effectLst/>
                <a:latin typeface="+mn-ea"/>
                <a:ea typeface="+mn-ea"/>
              </a:rPr>
              <a:t>를 </a:t>
            </a:r>
            <a:r>
              <a:rPr lang="ko-KR" altLang="ko-KR" sz="1100" b="0" i="0" dirty="0" err="1">
                <a:solidFill>
                  <a:srgbClr val="334155"/>
                </a:solidFill>
                <a:effectLst/>
                <a:latin typeface="+mn-ea"/>
                <a:ea typeface="+mn-ea"/>
              </a:rPr>
              <a:t>AI가</a:t>
            </a:r>
            <a:r>
              <a:rPr lang="ko-KR" altLang="ko-KR" sz="1100" b="0" i="0" dirty="0">
                <a:solidFill>
                  <a:srgbClr val="334155"/>
                </a:solidFill>
                <a:effectLst/>
                <a:latin typeface="+mn-ea"/>
                <a:ea typeface="+mn-ea"/>
              </a:rPr>
              <a:t> 스스로 읽고 해석하여 데이터로</a:t>
            </a:r>
            <a:r>
              <a:rPr lang="ko-KR" altLang="ko-KR" sz="1100" b="0" i="0" dirty="0">
                <a:solidFill>
                  <a:srgbClr val="0D9488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ko-KR" sz="1100" b="1" i="0" dirty="0">
                <a:solidFill>
                  <a:srgbClr val="0D9488"/>
                </a:solidFill>
                <a:effectLst/>
                <a:latin typeface="+mn-ea"/>
                <a:ea typeface="+mn-ea"/>
              </a:rPr>
              <a:t>자동 마이그레이션</a:t>
            </a:r>
            <a:r>
              <a:rPr lang="ko-KR" altLang="ko-KR" sz="1100" b="0" i="0" dirty="0">
                <a:solidFill>
                  <a:srgbClr val="334155"/>
                </a:solidFill>
                <a:effectLst/>
                <a:latin typeface="+mn-ea"/>
                <a:ea typeface="+mn-ea"/>
              </a:rPr>
              <a:t>합니다. 단순 텍스트 추출을 넘어 다단 레이아웃, 복잡한 표(</a:t>
            </a:r>
            <a:r>
              <a:rPr lang="ko-KR" altLang="ko-KR" sz="1100" b="0" i="0" dirty="0" err="1">
                <a:solidFill>
                  <a:srgbClr val="334155"/>
                </a:solidFill>
                <a:effectLst/>
                <a:latin typeface="+mn-ea"/>
                <a:ea typeface="+mn-ea"/>
              </a:rPr>
              <a:t>Table</a:t>
            </a:r>
            <a:r>
              <a:rPr lang="ko-KR" altLang="ko-KR" sz="1100" b="0" i="0" dirty="0">
                <a:solidFill>
                  <a:srgbClr val="334155"/>
                </a:solidFill>
                <a:effectLst/>
                <a:latin typeface="+mn-ea"/>
                <a:ea typeface="+mn-ea"/>
              </a:rPr>
              <a:t>) 구조의 맥락까지 </a:t>
            </a:r>
            <a:r>
              <a:rPr lang="ko-KR" altLang="ko-KR" sz="1100" b="0" i="0" dirty="0" err="1">
                <a:solidFill>
                  <a:srgbClr val="334155"/>
                </a:solidFill>
                <a:effectLst/>
                <a:latin typeface="+mn-ea"/>
                <a:ea typeface="+mn-ea"/>
              </a:rPr>
              <a:t>파싱하는</a:t>
            </a:r>
            <a:r>
              <a:rPr lang="ko-KR" altLang="ko-KR" sz="1100" b="0" i="0" dirty="0">
                <a:solidFill>
                  <a:srgbClr val="334155"/>
                </a:solidFill>
                <a:effectLst/>
                <a:latin typeface="+mn-ea"/>
                <a:ea typeface="+mn-ea"/>
              </a:rPr>
              <a:t> '완전 자동화 지식 </a:t>
            </a:r>
            <a:r>
              <a:rPr lang="ko-KR" altLang="ko-KR" sz="1100" b="0" i="0" dirty="0" err="1">
                <a:solidFill>
                  <a:srgbClr val="334155"/>
                </a:solidFill>
                <a:effectLst/>
                <a:latin typeface="+mn-ea"/>
                <a:ea typeface="+mn-ea"/>
              </a:rPr>
              <a:t>자산화'를</a:t>
            </a:r>
            <a:r>
              <a:rPr lang="ko-KR" altLang="ko-KR" sz="1100" b="0" i="0" dirty="0">
                <a:solidFill>
                  <a:srgbClr val="334155"/>
                </a:solidFill>
                <a:effectLst/>
                <a:latin typeface="+mn-ea"/>
                <a:ea typeface="+mn-ea"/>
              </a:rPr>
              <a:t> 구현합니다.</a:t>
            </a:r>
            <a:endParaRPr lang="en-US" altLang="ko-KR" sz="1100" dirty="0">
              <a:solidFill>
                <a:srgbClr val="334155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65B75-E400-40B6-9470-BA95A6FD573C}"/>
              </a:ext>
            </a:extLst>
          </p:cNvPr>
          <p:cNvSpPr txBox="1"/>
          <p:nvPr/>
        </p:nvSpPr>
        <p:spPr>
          <a:xfrm>
            <a:off x="619505" y="1549533"/>
            <a:ext cx="1658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b="1" i="0" dirty="0">
                <a:solidFill>
                  <a:srgbClr val="0F172A"/>
                </a:solidFill>
                <a:effectLst/>
                <a:latin typeface="+mn-ea"/>
              </a:rPr>
              <a:t>멀티 포맷 데이터 </a:t>
            </a:r>
            <a:r>
              <a:rPr lang="ko-KR" altLang="en-US" sz="1050" b="1" i="0" dirty="0" err="1">
                <a:solidFill>
                  <a:srgbClr val="0F172A"/>
                </a:solidFill>
                <a:effectLst/>
                <a:latin typeface="+mn-ea"/>
              </a:rPr>
              <a:t>인입</a:t>
            </a:r>
            <a:endParaRPr lang="ko-KR" altLang="ko-KR" sz="400" b="1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12242DC4-01D4-6BE7-02CD-D23460132321}"/>
              </a:ext>
            </a:extLst>
          </p:cNvPr>
          <p:cNvSpPr/>
          <p:nvPr/>
        </p:nvSpPr>
        <p:spPr>
          <a:xfrm>
            <a:off x="4383249" y="2838532"/>
            <a:ext cx="4314335" cy="1780709"/>
          </a:xfrm>
          <a:prstGeom prst="roundRect">
            <a:avLst>
              <a:gd name="adj" fmla="val 12528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F8BE98-4245-7F3E-AB6B-DDCF853AE41E}"/>
              </a:ext>
            </a:extLst>
          </p:cNvPr>
          <p:cNvSpPr txBox="1"/>
          <p:nvPr/>
        </p:nvSpPr>
        <p:spPr>
          <a:xfrm>
            <a:off x="4545249" y="3593406"/>
            <a:ext cx="4061947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단순 문서 저장을 넘어 사내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각 종 문서</a:t>
            </a:r>
            <a:r>
              <a:rPr lang="ko-KR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통합·적재하고, 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문서 위키화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’-‘</a:t>
            </a:r>
            <a:r>
              <a:rPr lang="ko-KR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지식 관계망 형성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’-‘</a:t>
            </a:r>
            <a:r>
              <a:rPr lang="ko-KR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태그 기반 연관 탐색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으로 이어지는 답변 제공 플로우를 구현합니다. 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C0A6FC8-DC3C-2914-1312-15AD2EA79CD4}"/>
              </a:ext>
            </a:extLst>
          </p:cNvPr>
          <p:cNvSpPr txBox="1"/>
          <p:nvPr/>
        </p:nvSpPr>
        <p:spPr>
          <a:xfrm>
            <a:off x="5067807" y="2988960"/>
            <a:ext cx="3527553" cy="63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400" b="1" i="0" dirty="0">
                <a:solidFill>
                  <a:srgbClr val="0D9488"/>
                </a:solidFill>
                <a:effectLst/>
                <a:latin typeface="+mn-ea"/>
              </a:rPr>
              <a:t>문서</a:t>
            </a:r>
            <a:r>
              <a:rPr lang="en-US" altLang="ko-KR" sz="1400" b="1" i="0" dirty="0">
                <a:solidFill>
                  <a:srgbClr val="0D9488"/>
                </a:solidFill>
                <a:effectLst/>
                <a:latin typeface="+mn-ea"/>
              </a:rPr>
              <a:t>'</a:t>
            </a:r>
            <a:r>
              <a:rPr lang="ko-KR" altLang="en-US" sz="1400" b="1" i="0" dirty="0">
                <a:solidFill>
                  <a:srgbClr val="0D9488"/>
                </a:solidFill>
                <a:effectLst/>
                <a:latin typeface="+mn-ea"/>
              </a:rPr>
              <a:t>를 </a:t>
            </a:r>
            <a:r>
              <a:rPr lang="en-US" altLang="ko-KR" sz="1400" b="1" i="0" dirty="0">
                <a:solidFill>
                  <a:srgbClr val="0D9488"/>
                </a:solidFill>
                <a:effectLst/>
                <a:latin typeface="+mn-ea"/>
              </a:rPr>
              <a:t>'</a:t>
            </a:r>
            <a:r>
              <a:rPr lang="ko-KR" altLang="en-US" sz="1400" b="1" i="0" dirty="0">
                <a:solidFill>
                  <a:srgbClr val="0D9488"/>
                </a:solidFill>
                <a:effectLst/>
                <a:latin typeface="+mn-ea"/>
              </a:rPr>
              <a:t>살아있는 </a:t>
            </a:r>
            <a:r>
              <a:rPr lang="en-US" altLang="ko-KR" sz="1400" b="1" i="0" dirty="0">
                <a:solidFill>
                  <a:srgbClr val="0D9488"/>
                </a:solidFill>
                <a:effectLst/>
                <a:latin typeface="+mn-ea"/>
              </a:rPr>
              <a:t>AI </a:t>
            </a:r>
            <a:r>
              <a:rPr lang="ko-KR" altLang="en-US" sz="1400" b="1" i="0" dirty="0">
                <a:solidFill>
                  <a:srgbClr val="0D9488"/>
                </a:solidFill>
                <a:effectLst/>
                <a:latin typeface="+mn-ea"/>
              </a:rPr>
              <a:t>데이터 베이스</a:t>
            </a:r>
            <a:r>
              <a:rPr lang="en-US" altLang="ko-KR" sz="1400" b="1" i="0" dirty="0">
                <a:solidFill>
                  <a:srgbClr val="0D9488"/>
                </a:solidFill>
                <a:effectLst/>
                <a:latin typeface="+mn-ea"/>
              </a:rPr>
              <a:t>’</a:t>
            </a:r>
            <a:r>
              <a:rPr lang="ko-KR" altLang="en-US" sz="1400" b="1" i="0" dirty="0">
                <a:solidFill>
                  <a:srgbClr val="0D9488"/>
                </a:solidFill>
                <a:effectLst/>
                <a:latin typeface="+mn-ea"/>
              </a:rPr>
              <a:t>로 </a:t>
            </a:r>
            <a:endParaRPr lang="en-US" altLang="ko-KR" sz="1400" b="1" i="0" dirty="0">
              <a:solidFill>
                <a:srgbClr val="0D9488"/>
              </a:solidFill>
              <a:effectLst/>
              <a:latin typeface="+mn-ea"/>
            </a:endParaRPr>
          </a:p>
          <a:p>
            <a:pPr algn="l">
              <a:spcAft>
                <a:spcPts val="900"/>
              </a:spcAft>
              <a:buNone/>
            </a:pPr>
            <a:r>
              <a:rPr lang="ko-KR" altLang="en-US" sz="1400" b="1" i="0" dirty="0">
                <a:solidFill>
                  <a:srgbClr val="0D9488"/>
                </a:solidFill>
                <a:effectLst/>
                <a:latin typeface="+mn-ea"/>
              </a:rPr>
              <a:t>실시간 마이그레이션</a:t>
            </a:r>
          </a:p>
        </p:txBody>
      </p:sp>
      <p:sp>
        <p:nvSpPr>
          <p:cNvPr id="241" name="Shape 4">
            <a:extLst>
              <a:ext uri="{FF2B5EF4-FFF2-40B4-BE49-F238E27FC236}">
                <a16:creationId xmlns:a16="http://schemas.microsoft.com/office/drawing/2014/main" id="{1C620C06-7E28-9AA5-0EC6-7E1DDA2E5D26}"/>
              </a:ext>
            </a:extLst>
          </p:cNvPr>
          <p:cNvSpPr/>
          <p:nvPr/>
        </p:nvSpPr>
        <p:spPr>
          <a:xfrm>
            <a:off x="317640" y="1524258"/>
            <a:ext cx="301865" cy="261611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0" name="사각형: 둥근 모서리 289">
            <a:extLst>
              <a:ext uri="{FF2B5EF4-FFF2-40B4-BE49-F238E27FC236}">
                <a16:creationId xmlns:a16="http://schemas.microsoft.com/office/drawing/2014/main" id="{D3B7EDCA-2C4D-5AA2-EABA-125EC506B928}"/>
              </a:ext>
            </a:extLst>
          </p:cNvPr>
          <p:cNvSpPr/>
          <p:nvPr/>
        </p:nvSpPr>
        <p:spPr>
          <a:xfrm>
            <a:off x="2421649" y="1427730"/>
            <a:ext cx="2085212" cy="864533"/>
          </a:xfrm>
          <a:prstGeom prst="roundRect">
            <a:avLst>
              <a:gd name="adj" fmla="val 10705"/>
            </a:avLst>
          </a:prstGeom>
          <a:solidFill>
            <a:schemeClr val="bg1"/>
          </a:solidFill>
          <a:ln w="12700" cap="flat" cmpd="sng" algn="ctr">
            <a:solidFill>
              <a:srgbClr val="13CE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291" name="사각형: 둥근 모서리 290">
            <a:extLst>
              <a:ext uri="{FF2B5EF4-FFF2-40B4-BE49-F238E27FC236}">
                <a16:creationId xmlns:a16="http://schemas.microsoft.com/office/drawing/2014/main" id="{86956B86-25E1-B3E0-8D9D-E98204BFF639}"/>
              </a:ext>
            </a:extLst>
          </p:cNvPr>
          <p:cNvSpPr/>
          <p:nvPr/>
        </p:nvSpPr>
        <p:spPr>
          <a:xfrm>
            <a:off x="4650130" y="1427730"/>
            <a:ext cx="2085212" cy="864533"/>
          </a:xfrm>
          <a:prstGeom prst="roundRect">
            <a:avLst>
              <a:gd name="adj" fmla="val 1070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2CE7CBA5-13D9-020E-0D9B-CC12DAFF2F98}"/>
              </a:ext>
            </a:extLst>
          </p:cNvPr>
          <p:cNvSpPr/>
          <p:nvPr/>
        </p:nvSpPr>
        <p:spPr>
          <a:xfrm>
            <a:off x="6878612" y="1427730"/>
            <a:ext cx="2085212" cy="864533"/>
          </a:xfrm>
          <a:prstGeom prst="roundRect">
            <a:avLst>
              <a:gd name="adj" fmla="val 1070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429132C7-1CC2-B531-AC56-BD44B1380750}"/>
              </a:ext>
            </a:extLst>
          </p:cNvPr>
          <p:cNvSpPr txBox="1"/>
          <p:nvPr/>
        </p:nvSpPr>
        <p:spPr>
          <a:xfrm>
            <a:off x="2843656" y="1549533"/>
            <a:ext cx="1658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b="1" i="0" dirty="0">
                <a:solidFill>
                  <a:srgbClr val="0F172A"/>
                </a:solidFill>
                <a:effectLst/>
                <a:latin typeface="+mn-ea"/>
              </a:rPr>
              <a:t>지능형 구조 분석 </a:t>
            </a:r>
            <a:r>
              <a:rPr lang="en-US" altLang="ko-KR" sz="1050" b="1" i="0" dirty="0">
                <a:solidFill>
                  <a:srgbClr val="0F172A"/>
                </a:solidFill>
                <a:effectLst/>
                <a:latin typeface="+mn-ea"/>
              </a:rPr>
              <a:t>(Parsing)</a:t>
            </a:r>
            <a:endParaRPr lang="ko-KR" altLang="en-US" sz="1050" b="1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296" name="Shape 4">
            <a:extLst>
              <a:ext uri="{FF2B5EF4-FFF2-40B4-BE49-F238E27FC236}">
                <a16:creationId xmlns:a16="http://schemas.microsoft.com/office/drawing/2014/main" id="{4C07E511-718C-3540-C085-01192C9906AB}"/>
              </a:ext>
            </a:extLst>
          </p:cNvPr>
          <p:cNvSpPr/>
          <p:nvPr/>
        </p:nvSpPr>
        <p:spPr>
          <a:xfrm>
            <a:off x="2548572" y="1524258"/>
            <a:ext cx="301865" cy="261611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9704D61D-D9F8-ED91-1270-09A23C5C08A7}"/>
              </a:ext>
            </a:extLst>
          </p:cNvPr>
          <p:cNvSpPr txBox="1"/>
          <p:nvPr/>
        </p:nvSpPr>
        <p:spPr>
          <a:xfrm>
            <a:off x="5067807" y="1549533"/>
            <a:ext cx="1658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b="1" i="0" dirty="0">
                <a:solidFill>
                  <a:srgbClr val="0F172A"/>
                </a:solidFill>
                <a:effectLst/>
                <a:latin typeface="+mn-ea"/>
              </a:rPr>
              <a:t>마크다운</a:t>
            </a:r>
            <a:r>
              <a:rPr lang="en-US" altLang="ko-KR" sz="1050" b="1" i="0" dirty="0">
                <a:solidFill>
                  <a:srgbClr val="0F172A"/>
                </a:solidFill>
                <a:effectLst/>
                <a:latin typeface="+mn-ea"/>
              </a:rPr>
              <a:t>(MD) </a:t>
            </a:r>
            <a:r>
              <a:rPr lang="ko-KR" altLang="en-US" sz="1050" b="1" i="0" dirty="0">
                <a:solidFill>
                  <a:srgbClr val="0F172A"/>
                </a:solidFill>
                <a:effectLst/>
                <a:latin typeface="+mn-ea"/>
              </a:rPr>
              <a:t>최적화 변환</a:t>
            </a:r>
            <a:endParaRPr lang="ko-KR" altLang="ko-KR" sz="400" b="1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43F99788-F448-A30A-44D6-D951F72AFCBB}"/>
              </a:ext>
            </a:extLst>
          </p:cNvPr>
          <p:cNvSpPr txBox="1"/>
          <p:nvPr/>
        </p:nvSpPr>
        <p:spPr>
          <a:xfrm>
            <a:off x="7291957" y="1549533"/>
            <a:ext cx="1658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b="1" i="0" dirty="0">
                <a:solidFill>
                  <a:srgbClr val="0F172A"/>
                </a:solidFill>
                <a:effectLst/>
                <a:latin typeface="+mn-ea"/>
              </a:rPr>
              <a:t>지식 </a:t>
            </a:r>
            <a:r>
              <a:rPr lang="en-US" altLang="ko-KR" sz="1050" b="1" i="0" dirty="0">
                <a:solidFill>
                  <a:srgbClr val="0F172A"/>
                </a:solidFill>
                <a:effectLst/>
                <a:latin typeface="+mn-ea"/>
              </a:rPr>
              <a:t>DB </a:t>
            </a:r>
            <a:r>
              <a:rPr lang="ko-KR" altLang="en-US" sz="1050" b="1" i="0" dirty="0">
                <a:solidFill>
                  <a:srgbClr val="0F172A"/>
                </a:solidFill>
                <a:effectLst/>
                <a:latin typeface="+mn-ea"/>
              </a:rPr>
              <a:t>자동 마이그레이션</a:t>
            </a:r>
            <a:endParaRPr lang="ko-KR" altLang="ko-KR" sz="400" b="1" i="0" dirty="0">
              <a:solidFill>
                <a:srgbClr val="0F172A"/>
              </a:solidFill>
              <a:effectLst/>
              <a:latin typeface="+mn-ea"/>
            </a:endParaRPr>
          </a:p>
        </p:txBody>
      </p:sp>
      <p:sp>
        <p:nvSpPr>
          <p:cNvPr id="299" name="Shape 4">
            <a:extLst>
              <a:ext uri="{FF2B5EF4-FFF2-40B4-BE49-F238E27FC236}">
                <a16:creationId xmlns:a16="http://schemas.microsoft.com/office/drawing/2014/main" id="{E6AD4017-9291-5B00-3A79-9EA9468632D9}"/>
              </a:ext>
            </a:extLst>
          </p:cNvPr>
          <p:cNvSpPr/>
          <p:nvPr/>
        </p:nvSpPr>
        <p:spPr>
          <a:xfrm>
            <a:off x="4779504" y="1524258"/>
            <a:ext cx="301865" cy="261611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0" name="Shape 4">
            <a:extLst>
              <a:ext uri="{FF2B5EF4-FFF2-40B4-BE49-F238E27FC236}">
                <a16:creationId xmlns:a16="http://schemas.microsoft.com/office/drawing/2014/main" id="{C78488BB-C808-7A18-2C17-190771BF94D6}"/>
              </a:ext>
            </a:extLst>
          </p:cNvPr>
          <p:cNvSpPr/>
          <p:nvPr/>
        </p:nvSpPr>
        <p:spPr>
          <a:xfrm>
            <a:off x="7010436" y="1524258"/>
            <a:ext cx="301865" cy="261611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926DCA33-ABD3-7501-570D-19F9E40A6134}"/>
              </a:ext>
            </a:extLst>
          </p:cNvPr>
          <p:cNvSpPr txBox="1"/>
          <p:nvPr/>
        </p:nvSpPr>
        <p:spPr>
          <a:xfrm>
            <a:off x="2495026" y="1842539"/>
            <a:ext cx="2007505" cy="40972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다중 레이아웃 등 구조를 완벽히 식별하여 원본 데이터의 문서 및 흐름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맥락을 정확히 추출합니다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E27A7EEE-053F-3EE9-EF36-EAB66408D60C}"/>
              </a:ext>
            </a:extLst>
          </p:cNvPr>
          <p:cNvSpPr txBox="1"/>
          <p:nvPr/>
        </p:nvSpPr>
        <p:spPr>
          <a:xfrm>
            <a:off x="4719542" y="1842539"/>
            <a:ext cx="2007140" cy="40972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추출된 데이터를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LLM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 가장 잘 이해하는 마크다운 규격으로 자동 변환하고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최적의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시맨틱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단위로 분할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(Chunking)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합니다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D1E77D6B-176D-B764-7D06-549177D73A57}"/>
              </a:ext>
            </a:extLst>
          </p:cNvPr>
          <p:cNvSpPr txBox="1"/>
          <p:nvPr/>
        </p:nvSpPr>
        <p:spPr>
          <a:xfrm>
            <a:off x="6944057" y="1842539"/>
            <a:ext cx="1954321" cy="40972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가공 완료된 정성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정량 데이터를 사내 지식 위키 및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Vector DB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로 영구 이관하여 즉시 검색 가능한 자산으로 편입시킵니다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305" name="그래픽 304">
            <a:extLst>
              <a:ext uri="{FF2B5EF4-FFF2-40B4-BE49-F238E27FC236}">
                <a16:creationId xmlns:a16="http://schemas.microsoft.com/office/drawing/2014/main" id="{A88F85D8-904E-CA12-B067-7CD89B153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7487" y="1553347"/>
            <a:ext cx="145633" cy="194177"/>
          </a:xfrm>
          <a:prstGeom prst="rect">
            <a:avLst/>
          </a:prstGeom>
        </p:spPr>
      </p:pic>
      <p:sp>
        <p:nvSpPr>
          <p:cNvPr id="327" name="사각형: 둥근 모서리 326">
            <a:extLst>
              <a:ext uri="{FF2B5EF4-FFF2-40B4-BE49-F238E27FC236}">
                <a16:creationId xmlns:a16="http://schemas.microsoft.com/office/drawing/2014/main" id="{82EFF04A-0930-589D-7B8F-245EE984C769}"/>
              </a:ext>
            </a:extLst>
          </p:cNvPr>
          <p:cNvSpPr/>
          <p:nvPr/>
        </p:nvSpPr>
        <p:spPr>
          <a:xfrm>
            <a:off x="205064" y="2524769"/>
            <a:ext cx="8758760" cy="2339604"/>
          </a:xfrm>
          <a:prstGeom prst="roundRect">
            <a:avLst>
              <a:gd name="adj" fmla="val 4210"/>
            </a:avLst>
          </a:prstGeom>
          <a:noFill/>
          <a:ln w="9525" cap="flat" cmpd="sng" algn="ctr">
            <a:solidFill>
              <a:srgbClr val="0D9488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329" name="Shape 4">
            <a:extLst>
              <a:ext uri="{FF2B5EF4-FFF2-40B4-BE49-F238E27FC236}">
                <a16:creationId xmlns:a16="http://schemas.microsoft.com/office/drawing/2014/main" id="{E6B9BCB3-ADF1-A989-FEFB-10CBF278C79F}"/>
              </a:ext>
            </a:extLst>
          </p:cNvPr>
          <p:cNvSpPr/>
          <p:nvPr/>
        </p:nvSpPr>
        <p:spPr>
          <a:xfrm>
            <a:off x="196075" y="2402907"/>
            <a:ext cx="3216725" cy="271263"/>
          </a:xfrm>
          <a:prstGeom prst="roundRect">
            <a:avLst>
              <a:gd name="adj" fmla="val 47991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fr-FR" altLang="ko-KR" sz="1000" dirty="0" err="1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fr-FR" altLang="ko-KR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 Document </a:t>
            </a:r>
            <a:r>
              <a:rPr lang="fr-FR" altLang="ko-KR" sz="1000" dirty="0" err="1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Parser</a:t>
            </a:r>
            <a:r>
              <a:rPr lang="fr-FR" altLang="ko-KR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 Core Engine</a:t>
            </a:r>
            <a:endParaRPr lang="ko-KR" altLang="en-US" sz="10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F5E3000C-03FB-8E20-371D-C7E0A27B9E6B}"/>
              </a:ext>
            </a:extLst>
          </p:cNvPr>
          <p:cNvSpPr/>
          <p:nvPr/>
        </p:nvSpPr>
        <p:spPr>
          <a:xfrm rot="10800000">
            <a:off x="446416" y="2792727"/>
            <a:ext cx="1676162" cy="896506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0D4C5"/>
              </a:gs>
              <a:gs pos="2273">
                <a:srgbClr val="00D4C5"/>
              </a:gs>
              <a:gs pos="2274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81B63F-E405-7165-448B-B833E5E146DC}"/>
              </a:ext>
            </a:extLst>
          </p:cNvPr>
          <p:cNvSpPr txBox="1"/>
          <p:nvPr/>
        </p:nvSpPr>
        <p:spPr>
          <a:xfrm>
            <a:off x="543401" y="2868517"/>
            <a:ext cx="1579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D9488"/>
                </a:solidFill>
              </a:rPr>
              <a:t>정성</a:t>
            </a:r>
            <a:r>
              <a:rPr lang="en-US" altLang="ko-KR" sz="1000" b="1" dirty="0">
                <a:solidFill>
                  <a:srgbClr val="0D9488"/>
                </a:solidFill>
              </a:rPr>
              <a:t>·</a:t>
            </a:r>
            <a:r>
              <a:rPr lang="ko-KR" altLang="en-US" sz="1000" b="1" dirty="0">
                <a:solidFill>
                  <a:srgbClr val="0D9488"/>
                </a:solidFill>
              </a:rPr>
              <a:t>정량 데이터 통합</a:t>
            </a:r>
          </a:p>
          <a:p>
            <a:r>
              <a:rPr lang="ko-KR" altLang="en-US" sz="1000" b="1" dirty="0">
                <a:solidFill>
                  <a:srgbClr val="0D9488"/>
                </a:solidFill>
              </a:rPr>
              <a:t>마이그레이션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349AF0-6DAB-22C7-4550-89A2AFBF9B06}"/>
              </a:ext>
            </a:extLst>
          </p:cNvPr>
          <p:cNvSpPr txBox="1"/>
          <p:nvPr/>
        </p:nvSpPr>
        <p:spPr>
          <a:xfrm>
            <a:off x="543401" y="3207735"/>
            <a:ext cx="151157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700" dirty="0"/>
              <a:t>내부 </a:t>
            </a:r>
            <a:r>
              <a:rPr lang="ko-KR" altLang="en-US" sz="700" dirty="0"/>
              <a:t>문서</a:t>
            </a:r>
            <a:r>
              <a:rPr lang="en-US" altLang="ko-KR" sz="700" dirty="0"/>
              <a:t> </a:t>
            </a:r>
            <a:r>
              <a:rPr lang="ko-KR" altLang="en-US" sz="700" dirty="0"/>
              <a:t>및</a:t>
            </a:r>
            <a:r>
              <a:rPr lang="en-US" altLang="ko-KR" sz="700" dirty="0"/>
              <a:t> </a:t>
            </a:r>
            <a:r>
              <a:rPr lang="ko-KR" altLang="en-US" sz="700" dirty="0"/>
              <a:t>외부 문서</a:t>
            </a:r>
            <a:r>
              <a:rPr lang="ko-KR" altLang="ko-KR" sz="700" dirty="0"/>
              <a:t> 업로드 즉시 파싱 파이프라인으로 이관하여 </a:t>
            </a:r>
            <a:r>
              <a:rPr lang="ko-KR" altLang="en-US" sz="700" dirty="0"/>
              <a:t>지식 관계 </a:t>
            </a:r>
            <a:r>
              <a:rPr lang="ko-KR" altLang="ko-KR" sz="700" dirty="0"/>
              <a:t>구조화</a:t>
            </a:r>
            <a:endParaRPr lang="ko-KR" altLang="en-US" sz="700" dirty="0"/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D3A9367D-E0FD-1ABC-A063-C69D9E2E5BBB}"/>
              </a:ext>
            </a:extLst>
          </p:cNvPr>
          <p:cNvSpPr/>
          <p:nvPr/>
        </p:nvSpPr>
        <p:spPr>
          <a:xfrm rot="10800000">
            <a:off x="446413" y="3806652"/>
            <a:ext cx="1676163" cy="894455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0D4C5"/>
              </a:gs>
              <a:gs pos="2273">
                <a:srgbClr val="00D4C5"/>
              </a:gs>
              <a:gs pos="2274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0567E1-15CC-106E-89A6-D99BD6C50801}"/>
              </a:ext>
            </a:extLst>
          </p:cNvPr>
          <p:cNvSpPr txBox="1"/>
          <p:nvPr/>
        </p:nvSpPr>
        <p:spPr>
          <a:xfrm>
            <a:off x="543401" y="3859003"/>
            <a:ext cx="15115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D9488"/>
                </a:solidFill>
              </a:rPr>
              <a:t>메타데이터 자동 추출 및 </a:t>
            </a:r>
            <a:r>
              <a:rPr lang="ko-KR" altLang="en-US" sz="1000" b="1" dirty="0" err="1">
                <a:solidFill>
                  <a:srgbClr val="0D9488"/>
                </a:solidFill>
              </a:rPr>
              <a:t>태깅</a:t>
            </a:r>
            <a:endParaRPr lang="ko-KR" altLang="en-US" sz="1000" b="1" dirty="0">
              <a:solidFill>
                <a:srgbClr val="0D9488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F4759E-7FD4-56F1-BF84-ADFBD7483E99}"/>
              </a:ext>
            </a:extLst>
          </p:cNvPr>
          <p:cNvSpPr txBox="1"/>
          <p:nvPr/>
        </p:nvSpPr>
        <p:spPr>
          <a:xfrm>
            <a:off x="529603" y="4197456"/>
            <a:ext cx="1490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700"/>
            </a:lvl1pPr>
          </a:lstStyle>
          <a:p>
            <a:r>
              <a:rPr lang="ko-KR" altLang="ko-KR" dirty="0"/>
              <a:t>문서 내 핵심 엔티티(부서명, 날짜, 제품명 등)</a:t>
            </a:r>
            <a:r>
              <a:rPr lang="ko-KR" altLang="ko-KR" dirty="0" err="1"/>
              <a:t>를</a:t>
            </a:r>
            <a:r>
              <a:rPr lang="ko-KR" altLang="ko-KR" dirty="0"/>
              <a:t> 자동 식별하여 검색 효율성을 극대화하는 태그를 부여합니다.</a:t>
            </a:r>
            <a:endParaRPr lang="ko-KR" altLang="en-US" dirty="0"/>
          </a:p>
        </p:txBody>
      </p:sp>
      <p:sp>
        <p:nvSpPr>
          <p:cNvPr id="50" name="Rounded Rectangle 8">
            <a:extLst>
              <a:ext uri="{FF2B5EF4-FFF2-40B4-BE49-F238E27FC236}">
                <a16:creationId xmlns:a16="http://schemas.microsoft.com/office/drawing/2014/main" id="{AB1EFABE-6F5B-9704-3FCE-DDF385A74338}"/>
              </a:ext>
            </a:extLst>
          </p:cNvPr>
          <p:cNvSpPr/>
          <p:nvPr/>
        </p:nvSpPr>
        <p:spPr>
          <a:xfrm rot="10800000">
            <a:off x="2414833" y="2811244"/>
            <a:ext cx="1676162" cy="896506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0D4C5"/>
              </a:gs>
              <a:gs pos="2273">
                <a:srgbClr val="00D4C5"/>
              </a:gs>
              <a:gs pos="2274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F67622-9B1A-460F-0427-9E5FD853FF30}"/>
              </a:ext>
            </a:extLst>
          </p:cNvPr>
          <p:cNvSpPr txBox="1"/>
          <p:nvPr/>
        </p:nvSpPr>
        <p:spPr>
          <a:xfrm>
            <a:off x="2495026" y="2879342"/>
            <a:ext cx="1527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>
              <a:defRPr sz="1000" b="1"/>
            </a:lvl1pPr>
          </a:lstStyle>
          <a:p>
            <a:pPr algn="l"/>
            <a:r>
              <a:rPr lang="ko-KR" altLang="en-US" dirty="0">
                <a:solidFill>
                  <a:srgbClr val="0D9488"/>
                </a:solidFill>
              </a:rPr>
              <a:t>표</a:t>
            </a:r>
            <a:r>
              <a:rPr lang="en-US" altLang="ko-KR" dirty="0">
                <a:solidFill>
                  <a:srgbClr val="0D9488"/>
                </a:solidFill>
              </a:rPr>
              <a:t>/</a:t>
            </a:r>
            <a:r>
              <a:rPr lang="ko-KR" altLang="en-US" dirty="0">
                <a:solidFill>
                  <a:srgbClr val="0D9488"/>
                </a:solidFill>
              </a:rPr>
              <a:t>이미지 맥락 이해 </a:t>
            </a:r>
            <a:r>
              <a:rPr lang="en-US" altLang="ko-KR" dirty="0">
                <a:solidFill>
                  <a:srgbClr val="0D9488"/>
                </a:solidFill>
              </a:rPr>
              <a:t>(Vision)</a:t>
            </a:r>
            <a:endParaRPr lang="ko-KR" altLang="en-US" dirty="0">
              <a:solidFill>
                <a:srgbClr val="0D9488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4317B3-C7A1-C2FE-A794-89AE44D7E890}"/>
              </a:ext>
            </a:extLst>
          </p:cNvPr>
          <p:cNvSpPr txBox="1"/>
          <p:nvPr/>
        </p:nvSpPr>
        <p:spPr>
          <a:xfrm>
            <a:off x="2495026" y="3219052"/>
            <a:ext cx="15283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700"/>
            </a:lvl1pPr>
          </a:lstStyle>
          <a:p>
            <a:r>
              <a:rPr lang="ko-KR" altLang="ko-KR" dirty="0"/>
              <a:t>단순 </a:t>
            </a:r>
            <a:r>
              <a:rPr lang="en-US" altLang="ko-KR" dirty="0"/>
              <a:t>Parser</a:t>
            </a:r>
            <a:r>
              <a:rPr lang="ko-KR" altLang="en-US" dirty="0"/>
              <a:t>를</a:t>
            </a:r>
            <a:r>
              <a:rPr lang="ko-KR" altLang="ko-KR" dirty="0"/>
              <a:t> 넘어, 표의 헤더와 본문 관계, 이미지 내 객체의 의미까지 파악하여 데이터의 손실을 방지합니다.</a:t>
            </a:r>
            <a:endParaRPr lang="ko-KR" altLang="en-US" dirty="0"/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6A581D36-30D7-2D72-6F20-BB41418F60D0}"/>
              </a:ext>
            </a:extLst>
          </p:cNvPr>
          <p:cNvSpPr/>
          <p:nvPr/>
        </p:nvSpPr>
        <p:spPr>
          <a:xfrm rot="10800000">
            <a:off x="2414833" y="3814344"/>
            <a:ext cx="1676162" cy="894455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0D4C5"/>
              </a:gs>
              <a:gs pos="2273">
                <a:srgbClr val="00D4C5"/>
              </a:gs>
              <a:gs pos="2274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BEB677D-B1E3-E46D-378B-42F73060253C}"/>
              </a:ext>
            </a:extLst>
          </p:cNvPr>
          <p:cNvSpPr txBox="1"/>
          <p:nvPr/>
        </p:nvSpPr>
        <p:spPr>
          <a:xfrm>
            <a:off x="2495026" y="3859003"/>
            <a:ext cx="15283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D9488"/>
                </a:solidFill>
              </a:rPr>
              <a:t>무인</a:t>
            </a:r>
            <a:r>
              <a:rPr lang="en-US" altLang="ko-KR" sz="1000" b="1" dirty="0">
                <a:solidFill>
                  <a:srgbClr val="0D9488"/>
                </a:solidFill>
              </a:rPr>
              <a:t>(Human-less)  </a:t>
            </a:r>
            <a:r>
              <a:rPr lang="ko-KR" altLang="en-US" sz="1000" b="1" dirty="0">
                <a:solidFill>
                  <a:srgbClr val="0D9488"/>
                </a:solidFill>
              </a:rPr>
              <a:t>파이프라인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995E50-D148-BF7F-46B5-D9DDB8501101}"/>
              </a:ext>
            </a:extLst>
          </p:cNvPr>
          <p:cNvSpPr txBox="1"/>
          <p:nvPr/>
        </p:nvSpPr>
        <p:spPr>
          <a:xfrm>
            <a:off x="2495026" y="4176348"/>
            <a:ext cx="1528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문서 업로드 즉시 파싱</a:t>
            </a:r>
            <a:r>
              <a:rPr lang="en-US" altLang="ko-KR" sz="700" dirty="0"/>
              <a:t>-</a:t>
            </a:r>
            <a:r>
              <a:rPr lang="ko-KR" altLang="en-US" sz="700" dirty="0" err="1"/>
              <a:t>청킹</a:t>
            </a:r>
            <a:r>
              <a:rPr lang="en-US" altLang="ko-KR" sz="700" dirty="0"/>
              <a:t>-</a:t>
            </a:r>
            <a:r>
              <a:rPr lang="ko-KR" altLang="en-US" sz="700" dirty="0" err="1"/>
              <a:t>임베딩</a:t>
            </a:r>
            <a:r>
              <a:rPr lang="en-US" altLang="ko-KR" sz="700" dirty="0"/>
              <a:t>-</a:t>
            </a:r>
            <a:r>
              <a:rPr lang="ko-KR" altLang="en-US" sz="700" dirty="0"/>
              <a:t>적재까지 사람의 개입 없이 완전 자동화된 </a:t>
            </a:r>
            <a:r>
              <a:rPr lang="ko-KR" altLang="en-US" sz="700" dirty="0" err="1"/>
              <a:t>백엔드</a:t>
            </a:r>
            <a:r>
              <a:rPr lang="ko-KR" altLang="en-US" sz="700" dirty="0"/>
              <a:t> 프로세스로 작동합니다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pic>
        <p:nvPicPr>
          <p:cNvPr id="334" name="그래픽 333" descr="전구 단색으로 채워진">
            <a:extLst>
              <a:ext uri="{FF2B5EF4-FFF2-40B4-BE49-F238E27FC236}">
                <a16:creationId xmlns:a16="http://schemas.microsoft.com/office/drawing/2014/main" id="{E27C6263-F815-F6E3-8425-57A4923212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8234" y="3036814"/>
            <a:ext cx="534386" cy="534386"/>
          </a:xfrm>
          <a:prstGeom prst="rect">
            <a:avLst/>
          </a:prstGeom>
        </p:spPr>
      </p:pic>
      <p:pic>
        <p:nvPicPr>
          <p:cNvPr id="336" name="그래픽 335" descr="폴더 검색 단색으로 채워진">
            <a:extLst>
              <a:ext uri="{FF2B5EF4-FFF2-40B4-BE49-F238E27FC236}">
                <a16:creationId xmlns:a16="http://schemas.microsoft.com/office/drawing/2014/main" id="{4C140F8F-B519-30CA-2540-297151DCF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676" y="1532998"/>
            <a:ext cx="231117" cy="231117"/>
          </a:xfrm>
          <a:prstGeom prst="rect">
            <a:avLst/>
          </a:prstGeom>
        </p:spPr>
      </p:pic>
      <p:pic>
        <p:nvPicPr>
          <p:cNvPr id="338" name="그래픽 337">
            <a:extLst>
              <a:ext uri="{FF2B5EF4-FFF2-40B4-BE49-F238E27FC236}">
                <a16:creationId xmlns:a16="http://schemas.microsoft.com/office/drawing/2014/main" id="{0A859A34-4747-506F-C7C5-C1DD98D563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3121" y="1571731"/>
            <a:ext cx="176493" cy="166663"/>
          </a:xfrm>
          <a:prstGeom prst="rect">
            <a:avLst/>
          </a:prstGeom>
        </p:spPr>
      </p:pic>
      <p:pic>
        <p:nvPicPr>
          <p:cNvPr id="340" name="그래픽 339" descr="테이블 단색으로 채워진">
            <a:extLst>
              <a:ext uri="{FF2B5EF4-FFF2-40B4-BE49-F238E27FC236}">
                <a16:creationId xmlns:a16="http://schemas.microsoft.com/office/drawing/2014/main" id="{14D976AB-8B40-71F6-D0A4-19C8F43028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9398" y="1539984"/>
            <a:ext cx="239893" cy="23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08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5730-4598-3AD6-089A-C2327F94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4">
            <a:extLst>
              <a:ext uri="{FF2B5EF4-FFF2-40B4-BE49-F238E27FC236}">
                <a16:creationId xmlns:a16="http://schemas.microsoft.com/office/drawing/2014/main" id="{B76B31F2-E932-A1A1-25DE-5D2274E94EA6}"/>
              </a:ext>
            </a:extLst>
          </p:cNvPr>
          <p:cNvSpPr/>
          <p:nvPr/>
        </p:nvSpPr>
        <p:spPr>
          <a:xfrm>
            <a:off x="5305409" y="2324599"/>
            <a:ext cx="1381522" cy="140155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rgbClr val="41C0C2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8" name="Shape 4">
            <a:extLst>
              <a:ext uri="{FF2B5EF4-FFF2-40B4-BE49-F238E27FC236}">
                <a16:creationId xmlns:a16="http://schemas.microsoft.com/office/drawing/2014/main" id="{D1D2B9D7-9997-FDD4-770A-79483F5F52EE}"/>
              </a:ext>
            </a:extLst>
          </p:cNvPr>
          <p:cNvSpPr/>
          <p:nvPr/>
        </p:nvSpPr>
        <p:spPr>
          <a:xfrm>
            <a:off x="5373517" y="2638702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2B18CA-F8BF-CCCE-46B3-D1C936951C2E}"/>
              </a:ext>
            </a:extLst>
          </p:cNvPr>
          <p:cNvSpPr/>
          <p:nvPr/>
        </p:nvSpPr>
        <p:spPr>
          <a:xfrm>
            <a:off x="188976" y="1955751"/>
            <a:ext cx="4559866" cy="2294627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7A316C2-4E03-1186-A7F4-2B9D87D7A11E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37C3587D-D493-02F5-FE6C-0C8E7A3C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Tableau Extension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지원 아키텍처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CEB9BE04-26A4-BA41-5A43-A36E84358C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17E770E-274D-8027-C141-830C81870C40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Extension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을 통해 쉽게 기존 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Tableau Server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에 통합되며 분석 데이터셋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, LLM 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답변의 연결 관계를 한 장에 요약해서 보여줍니다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.</a:t>
            </a:r>
          </a:p>
          <a:p>
            <a:pPr lvl="0">
              <a:lnSpc>
                <a:spcPct val="140000"/>
              </a:lnSpc>
            </a:pP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또한 분석 결과에 대하여 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Tableau 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대시보드와 연동되어 즉시 화면에서 데이터를 확인할 수 있습니다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317161-98D3-221C-4AD0-CF5232BC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992863"/>
            <a:ext cx="3304032" cy="222672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23B0CF-20D3-BA7F-47A8-F5F452B32E00}"/>
              </a:ext>
            </a:extLst>
          </p:cNvPr>
          <p:cNvSpPr>
            <a:spLocks noChangeAspect="1"/>
          </p:cNvSpPr>
          <p:nvPr/>
        </p:nvSpPr>
        <p:spPr>
          <a:xfrm>
            <a:off x="3560064" y="2747079"/>
            <a:ext cx="1179549" cy="14725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AD2788-7CCC-E0F7-99E2-1564CD2E865A}"/>
              </a:ext>
            </a:extLst>
          </p:cNvPr>
          <p:cNvSpPr>
            <a:spLocks noChangeAspect="1"/>
          </p:cNvSpPr>
          <p:nvPr/>
        </p:nvSpPr>
        <p:spPr>
          <a:xfrm>
            <a:off x="3560064" y="1992863"/>
            <a:ext cx="1179549" cy="14725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F9C7E2A-686A-D174-78C8-3CBADA92A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100" y="2967740"/>
            <a:ext cx="1141476" cy="47762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E7CDCFA-0159-6768-4335-256F2EF80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836" y="3666028"/>
            <a:ext cx="601740" cy="323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512CFD-FA33-3486-B5D6-FC2464E46590}"/>
              </a:ext>
            </a:extLst>
          </p:cNvPr>
          <p:cNvSpPr/>
          <p:nvPr/>
        </p:nvSpPr>
        <p:spPr>
          <a:xfrm>
            <a:off x="3579100" y="3395980"/>
            <a:ext cx="1141476" cy="59379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1FA5641-08E1-19BE-8FF5-E0647508746C}"/>
              </a:ext>
            </a:extLst>
          </p:cNvPr>
          <p:cNvSpPr/>
          <p:nvPr/>
        </p:nvSpPr>
        <p:spPr>
          <a:xfrm>
            <a:off x="675822" y="4408435"/>
            <a:ext cx="2600778" cy="473340"/>
          </a:xfrm>
          <a:prstGeom prst="roundRect">
            <a:avLst>
              <a:gd name="adj" fmla="val 39027"/>
            </a:avLst>
          </a:prstGeom>
          <a:solidFill>
            <a:srgbClr val="FFFFFF"/>
          </a:solidFill>
          <a:ln>
            <a:solidFill>
              <a:srgbClr val="41C0C2"/>
            </a:solidFill>
            <a:prstDash val="dash"/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en-US" altLang="ko-KR" sz="1050" b="1" dirty="0">
                <a:latin typeface="SUIT" pitchFamily="2" charset="-127"/>
                <a:ea typeface="SUIT" pitchFamily="2" charset="-127"/>
              </a:rPr>
              <a:t>Tableau </a:t>
            </a:r>
            <a:r>
              <a:rPr lang="ko-KR" altLang="en-US" sz="1050" b="1" dirty="0">
                <a:latin typeface="SUIT" pitchFamily="2" charset="-127"/>
                <a:ea typeface="SUIT" pitchFamily="2" charset="-127"/>
              </a:rPr>
              <a:t>화면에서 바로 묻고 바로 확인 </a:t>
            </a:r>
            <a:endParaRPr lang="en-US" altLang="ko-KR" sz="1050" b="1" dirty="0">
              <a:latin typeface="SUIT" pitchFamily="2" charset="-127"/>
              <a:ea typeface="SUIT" pitchFamily="2" charset="-127"/>
            </a:endParaRPr>
          </a:p>
          <a:p>
            <a:pPr algn="ctr"/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SUIT" pitchFamily="2" charset="-127"/>
                <a:ea typeface="SUIT" pitchFamily="2" charset="-127"/>
              </a:rPr>
              <a:t> 현재 보고 있는 데이터에 연결된 답변을 즉시 확인합니다</a:t>
            </a:r>
            <a:r>
              <a:rPr lang="en-US" altLang="ko-KR" sz="800" b="1" dirty="0">
                <a:latin typeface="SUIT" pitchFamily="2" charset="-127"/>
                <a:ea typeface="SUIT" pitchFamily="2" charset="-127"/>
              </a:rPr>
              <a:t>.</a:t>
            </a:r>
            <a:endParaRPr lang="ko-KR" altLang="en-US" sz="800" b="1" dirty="0">
              <a:latin typeface="SUIT" pitchFamily="2" charset="-127"/>
              <a:ea typeface="SUIT" pitchFamily="2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350018FF-4313-574E-6DAF-21D584A8AF19}"/>
              </a:ext>
            </a:extLst>
          </p:cNvPr>
          <p:cNvCxnSpPr>
            <a:stCxn id="21" idx="3"/>
            <a:endCxn id="13" idx="2"/>
          </p:cNvCxnSpPr>
          <p:nvPr/>
        </p:nvCxnSpPr>
        <p:spPr>
          <a:xfrm flipV="1">
            <a:off x="3276600" y="4219591"/>
            <a:ext cx="873239" cy="425514"/>
          </a:xfrm>
          <a:prstGeom prst="bentConnector2">
            <a:avLst/>
          </a:prstGeom>
          <a:ln w="12700">
            <a:solidFill>
              <a:srgbClr val="41C0C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Google Shape;154;p13">
            <a:extLst>
              <a:ext uri="{FF2B5EF4-FFF2-40B4-BE49-F238E27FC236}">
                <a16:creationId xmlns:a16="http://schemas.microsoft.com/office/drawing/2014/main" id="{89D350E4-957B-399A-728F-A0B33F605FCF}"/>
              </a:ext>
            </a:extLst>
          </p:cNvPr>
          <p:cNvSpPr txBox="1"/>
          <p:nvPr/>
        </p:nvSpPr>
        <p:spPr>
          <a:xfrm>
            <a:off x="5699378" y="2388286"/>
            <a:ext cx="82296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800" b="1" dirty="0">
                <a:solidFill>
                  <a:srgbClr val="0F172A"/>
                </a:solidFill>
                <a:latin typeface="SUIT ExtraBold" pitchFamily="50" charset="-127"/>
                <a:ea typeface="SUIT ExtraBold" pitchFamily="50" charset="-127"/>
                <a:cs typeface="SUIT"/>
                <a:sym typeface="SUIT"/>
              </a:rPr>
              <a:t>aisight Server</a:t>
            </a:r>
            <a:endParaRPr sz="1600" dirty="0">
              <a:solidFill>
                <a:srgbClr val="0F172A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4F8772AF-B80F-46B7-E640-EAE6D179F085}"/>
              </a:ext>
            </a:extLst>
          </p:cNvPr>
          <p:cNvCxnSpPr>
            <a:cxnSpLocks/>
          </p:cNvCxnSpPr>
          <p:nvPr/>
        </p:nvCxnSpPr>
        <p:spPr>
          <a:xfrm>
            <a:off x="5373517" y="2575082"/>
            <a:ext cx="1232944" cy="0"/>
          </a:xfrm>
          <a:prstGeom prst="line">
            <a:avLst/>
          </a:prstGeom>
          <a:ln>
            <a:solidFill>
              <a:srgbClr val="41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" name="그래픽 214" descr="방패 선택 표시 단색으로 채워진">
            <a:extLst>
              <a:ext uri="{FF2B5EF4-FFF2-40B4-BE49-F238E27FC236}">
                <a16:creationId xmlns:a16="http://schemas.microsoft.com/office/drawing/2014/main" id="{375FD4A5-CE43-441F-3C83-CDC642C28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8396" y="2674490"/>
            <a:ext cx="144293" cy="144293"/>
          </a:xfrm>
          <a:prstGeom prst="rect">
            <a:avLst/>
          </a:prstGeom>
        </p:spPr>
      </p:pic>
      <p:sp>
        <p:nvSpPr>
          <p:cNvPr id="219" name="Google Shape;238;p13">
            <a:extLst>
              <a:ext uri="{FF2B5EF4-FFF2-40B4-BE49-F238E27FC236}">
                <a16:creationId xmlns:a16="http://schemas.microsoft.com/office/drawing/2014/main" id="{92957435-275D-0B49-E645-EB9504F610B0}"/>
              </a:ext>
            </a:extLst>
          </p:cNvPr>
          <p:cNvSpPr txBox="1"/>
          <p:nvPr/>
        </p:nvSpPr>
        <p:spPr>
          <a:xfrm>
            <a:off x="5581649" y="2698907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권한</a:t>
            </a:r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확인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컨텍스트 수신</a:t>
            </a:r>
            <a:endParaRPr sz="1600" dirty="0"/>
          </a:p>
        </p:txBody>
      </p:sp>
      <p:sp>
        <p:nvSpPr>
          <p:cNvPr id="221" name="Shape 4">
            <a:extLst>
              <a:ext uri="{FF2B5EF4-FFF2-40B4-BE49-F238E27FC236}">
                <a16:creationId xmlns:a16="http://schemas.microsoft.com/office/drawing/2014/main" id="{B4746CC1-D81C-970A-7D91-1CBCAA1158D3}"/>
              </a:ext>
            </a:extLst>
          </p:cNvPr>
          <p:cNvSpPr/>
          <p:nvPr/>
        </p:nvSpPr>
        <p:spPr>
          <a:xfrm>
            <a:off x="5373517" y="2903315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3" name="Google Shape;238;p13">
            <a:extLst>
              <a:ext uri="{FF2B5EF4-FFF2-40B4-BE49-F238E27FC236}">
                <a16:creationId xmlns:a16="http://schemas.microsoft.com/office/drawing/2014/main" id="{D128C566-B9DF-84DD-8FC8-87DC6565EB2C}"/>
              </a:ext>
            </a:extLst>
          </p:cNvPr>
          <p:cNvSpPr txBox="1"/>
          <p:nvPr/>
        </p:nvSpPr>
        <p:spPr>
          <a:xfrm>
            <a:off x="5581649" y="2963520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Skill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선택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도구 실행</a:t>
            </a:r>
            <a:endParaRPr sz="1600" dirty="0"/>
          </a:p>
        </p:txBody>
      </p:sp>
      <p:sp>
        <p:nvSpPr>
          <p:cNvPr id="224" name="Shape 4">
            <a:extLst>
              <a:ext uri="{FF2B5EF4-FFF2-40B4-BE49-F238E27FC236}">
                <a16:creationId xmlns:a16="http://schemas.microsoft.com/office/drawing/2014/main" id="{F2CEF951-2970-47B4-07C7-71F555357C69}"/>
              </a:ext>
            </a:extLst>
          </p:cNvPr>
          <p:cNvSpPr/>
          <p:nvPr/>
        </p:nvSpPr>
        <p:spPr>
          <a:xfrm>
            <a:off x="5373517" y="3161325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6" name="Google Shape;238;p13">
            <a:extLst>
              <a:ext uri="{FF2B5EF4-FFF2-40B4-BE49-F238E27FC236}">
                <a16:creationId xmlns:a16="http://schemas.microsoft.com/office/drawing/2014/main" id="{3A33AF9A-568B-ECD1-765C-E56673278428}"/>
              </a:ext>
            </a:extLst>
          </p:cNvPr>
          <p:cNvSpPr txBox="1"/>
          <p:nvPr/>
        </p:nvSpPr>
        <p:spPr>
          <a:xfrm>
            <a:off x="5581649" y="3221530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쿼리 생성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최적화</a:t>
            </a:r>
            <a:endParaRPr sz="1600" dirty="0"/>
          </a:p>
        </p:txBody>
      </p:sp>
      <p:sp>
        <p:nvSpPr>
          <p:cNvPr id="227" name="Shape 4">
            <a:extLst>
              <a:ext uri="{FF2B5EF4-FFF2-40B4-BE49-F238E27FC236}">
                <a16:creationId xmlns:a16="http://schemas.microsoft.com/office/drawing/2014/main" id="{49B7B12B-BA34-56C9-7E2E-29ED5C0CD159}"/>
              </a:ext>
            </a:extLst>
          </p:cNvPr>
          <p:cNvSpPr/>
          <p:nvPr/>
        </p:nvSpPr>
        <p:spPr>
          <a:xfrm>
            <a:off x="5373517" y="3421931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9" name="Google Shape;238;p13">
            <a:extLst>
              <a:ext uri="{FF2B5EF4-FFF2-40B4-BE49-F238E27FC236}">
                <a16:creationId xmlns:a16="http://schemas.microsoft.com/office/drawing/2014/main" id="{6B66DEF1-FD6B-BAEB-352D-B5C9746BAA6C}"/>
              </a:ext>
            </a:extLst>
          </p:cNvPr>
          <p:cNvSpPr txBox="1"/>
          <p:nvPr/>
        </p:nvSpPr>
        <p:spPr>
          <a:xfrm>
            <a:off x="5581649" y="3482136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결과 통합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요약</a:t>
            </a:r>
            <a:endParaRPr sz="1600" dirty="0"/>
          </a:p>
        </p:txBody>
      </p:sp>
      <p:pic>
        <p:nvPicPr>
          <p:cNvPr id="212" name="그래픽 211" descr="합병 단색으로 채워진">
            <a:extLst>
              <a:ext uri="{FF2B5EF4-FFF2-40B4-BE49-F238E27FC236}">
                <a16:creationId xmlns:a16="http://schemas.microsoft.com/office/drawing/2014/main" id="{5D038C47-E143-1F8F-5133-B88328B39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6801" y="3463997"/>
            <a:ext cx="144000" cy="144000"/>
          </a:xfrm>
          <a:prstGeom prst="rect">
            <a:avLst/>
          </a:prstGeom>
        </p:spPr>
      </p:pic>
      <p:pic>
        <p:nvPicPr>
          <p:cNvPr id="214" name="그래픽 213" descr="데이터베이스 단색으로 채워진">
            <a:extLst>
              <a:ext uri="{FF2B5EF4-FFF2-40B4-BE49-F238E27FC236}">
                <a16:creationId xmlns:a16="http://schemas.microsoft.com/office/drawing/2014/main" id="{64F19D13-9896-C676-EFDC-F33D25668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16801" y="3198681"/>
            <a:ext cx="144000" cy="144000"/>
          </a:xfrm>
          <a:prstGeom prst="rect">
            <a:avLst/>
          </a:prstGeom>
        </p:spPr>
      </p:pic>
      <p:pic>
        <p:nvPicPr>
          <p:cNvPr id="216" name="그래픽 215" descr="퍼즐 단색으로 채워진">
            <a:extLst>
              <a:ext uri="{FF2B5EF4-FFF2-40B4-BE49-F238E27FC236}">
                <a16:creationId xmlns:a16="http://schemas.microsoft.com/office/drawing/2014/main" id="{79B677A4-A57F-7EE4-E9A7-F37BC7509C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6801" y="2947815"/>
            <a:ext cx="144000" cy="144000"/>
          </a:xfrm>
          <a:prstGeom prst="rect">
            <a:avLst/>
          </a:prstGeom>
        </p:spPr>
      </p:pic>
      <p:sp>
        <p:nvSpPr>
          <p:cNvPr id="233" name="Shape 4">
            <a:extLst>
              <a:ext uri="{FF2B5EF4-FFF2-40B4-BE49-F238E27FC236}">
                <a16:creationId xmlns:a16="http://schemas.microsoft.com/office/drawing/2014/main" id="{C9EDFDBF-387A-81AD-C05D-661061588E06}"/>
              </a:ext>
            </a:extLst>
          </p:cNvPr>
          <p:cNvSpPr/>
          <p:nvPr/>
        </p:nvSpPr>
        <p:spPr>
          <a:xfrm>
            <a:off x="7385650" y="1686040"/>
            <a:ext cx="1569374" cy="1231326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2428">
                <a:srgbClr val="00D4C5"/>
              </a:gs>
              <a:gs pos="242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3E94774-DC7A-AB32-979F-02603624BCEC}"/>
              </a:ext>
            </a:extLst>
          </p:cNvPr>
          <p:cNvSpPr txBox="1"/>
          <p:nvPr/>
        </p:nvSpPr>
        <p:spPr>
          <a:xfrm>
            <a:off x="7708311" y="1738699"/>
            <a:ext cx="1246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Tableau </a:t>
            </a:r>
            <a:r>
              <a:rPr lang="ko-KR" altLang="en-US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분석 데이터 </a:t>
            </a:r>
            <a:endParaRPr lang="en-US" altLang="ko-KR" sz="8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B1373F10-2B8C-4A70-A6E6-27584DBE62F4}"/>
              </a:ext>
            </a:extLst>
          </p:cNvPr>
          <p:cNvSpPr txBox="1"/>
          <p:nvPr/>
        </p:nvSpPr>
        <p:spPr>
          <a:xfrm>
            <a:off x="7491687" y="1994943"/>
            <a:ext cx="1381521" cy="92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Tableau </a:t>
            </a:r>
            <a:r>
              <a:rPr lang="ko-KR" altLang="en-US" sz="8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추출본을 분석</a:t>
            </a:r>
            <a:endParaRPr lang="en-US" altLang="ko-KR" sz="800" b="0" i="0" dirty="0">
              <a:solidFill>
                <a:srgbClr val="64748B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ko-KR" altLang="en-US" sz="800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질의에 최적화해 보관</a:t>
            </a:r>
            <a:endParaRPr lang="en-US" altLang="ko-KR" sz="800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en-US" altLang="ko-KR" sz="100" b="1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  </a:t>
            </a:r>
          </a:p>
          <a:p>
            <a:pPr marL="171450" indent="-17145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집계 데이터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171450" indent="-17145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차원 데이터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171450" indent="-17145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메타 데이터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42" name="Shape 4">
            <a:extLst>
              <a:ext uri="{FF2B5EF4-FFF2-40B4-BE49-F238E27FC236}">
                <a16:creationId xmlns:a16="http://schemas.microsoft.com/office/drawing/2014/main" id="{24BD6A4D-F760-4B4A-6B4D-36EB42E38D22}"/>
              </a:ext>
            </a:extLst>
          </p:cNvPr>
          <p:cNvSpPr/>
          <p:nvPr/>
        </p:nvSpPr>
        <p:spPr>
          <a:xfrm>
            <a:off x="7385650" y="3488267"/>
            <a:ext cx="1569374" cy="1267756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2428">
                <a:srgbClr val="00D4C5"/>
              </a:gs>
              <a:gs pos="242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C513B7E2-F61B-0C05-AB95-B5A5F884505E}"/>
              </a:ext>
            </a:extLst>
          </p:cNvPr>
          <p:cNvSpPr txBox="1"/>
          <p:nvPr/>
        </p:nvSpPr>
        <p:spPr>
          <a:xfrm>
            <a:off x="7708311" y="3540926"/>
            <a:ext cx="1246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LLM </a:t>
            </a:r>
            <a:r>
              <a:rPr lang="ko-KR" altLang="en-US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답변</a:t>
            </a:r>
            <a:endParaRPr lang="en-US" altLang="ko-KR" sz="8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8011F083-DF81-00F8-D23E-6CFE4F9D0056}"/>
              </a:ext>
            </a:extLst>
          </p:cNvPr>
          <p:cNvSpPr txBox="1"/>
          <p:nvPr/>
        </p:nvSpPr>
        <p:spPr>
          <a:xfrm>
            <a:off x="7491687" y="3797170"/>
            <a:ext cx="1381521" cy="91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분석 결과를 업무 문장으로</a:t>
            </a:r>
            <a:endParaRPr lang="en-US" altLang="ko-KR" sz="800" b="0" i="0" dirty="0">
              <a:solidFill>
                <a:srgbClr val="64748B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ko-KR" altLang="en-US" sz="800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요약하고 후속 질문 제안</a:t>
            </a:r>
            <a:endParaRPr lang="en-US" altLang="ko-KR" sz="800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en-US" altLang="ko-KR" sz="100" b="1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</a:t>
            </a:r>
          </a:p>
          <a:p>
            <a:pPr marL="228600" indent="-22860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원인 분석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228600" indent="-22860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핵심 지표 도출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228600" indent="-22860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맞춤형 인사이트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pic>
        <p:nvPicPr>
          <p:cNvPr id="246" name="그래픽 245" descr="좌뇌 단색으로 채워진">
            <a:extLst>
              <a:ext uri="{FF2B5EF4-FFF2-40B4-BE49-F238E27FC236}">
                <a16:creationId xmlns:a16="http://schemas.microsoft.com/office/drawing/2014/main" id="{66EFE40E-2C77-8148-547A-189D7B26C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66054" y="3540926"/>
            <a:ext cx="216104" cy="216104"/>
          </a:xfrm>
          <a:prstGeom prst="rect">
            <a:avLst/>
          </a:prstGeom>
        </p:spPr>
      </p:pic>
      <p:pic>
        <p:nvPicPr>
          <p:cNvPr id="248" name="그래픽 247" descr="테이블 단색으로 채워진">
            <a:extLst>
              <a:ext uri="{FF2B5EF4-FFF2-40B4-BE49-F238E27FC236}">
                <a16:creationId xmlns:a16="http://schemas.microsoft.com/office/drawing/2014/main" id="{1DED7FD9-C6FD-0963-DC33-29D517DE8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58526" y="1745345"/>
            <a:ext cx="216000" cy="216000"/>
          </a:xfrm>
          <a:prstGeom prst="rect">
            <a:avLst/>
          </a:prstGeom>
        </p:spPr>
      </p:pic>
      <p:sp>
        <p:nvSpPr>
          <p:cNvPr id="249" name="Shape 4">
            <a:extLst>
              <a:ext uri="{FF2B5EF4-FFF2-40B4-BE49-F238E27FC236}">
                <a16:creationId xmlns:a16="http://schemas.microsoft.com/office/drawing/2014/main" id="{05A1709B-22CA-DFB9-44E9-B19CE18A1A0D}"/>
              </a:ext>
            </a:extLst>
          </p:cNvPr>
          <p:cNvSpPr/>
          <p:nvPr/>
        </p:nvSpPr>
        <p:spPr>
          <a:xfrm>
            <a:off x="3579100" y="1825525"/>
            <a:ext cx="1160513" cy="144000"/>
          </a:xfrm>
          <a:prstGeom prst="rect">
            <a:avLst/>
          </a:prstGeom>
          <a:solidFill>
            <a:srgbClr val="41C0C2"/>
          </a:solidFill>
          <a:ln>
            <a:solidFill>
              <a:schemeClr val="tx1"/>
            </a:solidFill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" pitchFamily="2" charset="-127"/>
                <a:ea typeface="SUIT" pitchFamily="2" charset="-127"/>
              </a:rPr>
              <a:t>Agent Embed</a:t>
            </a:r>
            <a:endParaRPr lang="ko-KR" altLang="en-US" sz="7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50" name="Shape 4">
            <a:extLst>
              <a:ext uri="{FF2B5EF4-FFF2-40B4-BE49-F238E27FC236}">
                <a16:creationId xmlns:a16="http://schemas.microsoft.com/office/drawing/2014/main" id="{8EA55866-F2C1-0D2E-13D3-502B589B4DB0}"/>
              </a:ext>
            </a:extLst>
          </p:cNvPr>
          <p:cNvSpPr/>
          <p:nvPr/>
        </p:nvSpPr>
        <p:spPr>
          <a:xfrm>
            <a:off x="188976" y="1825525"/>
            <a:ext cx="3390124" cy="144000"/>
          </a:xfrm>
          <a:prstGeom prst="rect">
            <a:avLst/>
          </a:prstGeom>
          <a:solidFill>
            <a:srgbClr val="0F172A"/>
          </a:solidFill>
          <a:ln>
            <a:solidFill>
              <a:schemeClr val="tx1"/>
            </a:solidFill>
          </a:ln>
        </p:spPr>
        <p:txBody>
          <a:bodyPr wrap="square" lIns="36000" tIns="10800" rIns="36000" bIns="1080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" pitchFamily="2" charset="-127"/>
                <a:ea typeface="SUIT" pitchFamily="2" charset="-127"/>
              </a:rPr>
              <a:t>Tableau Dashboard</a:t>
            </a:r>
            <a:endParaRPr lang="ko-KR" altLang="en-US" sz="7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pic>
        <p:nvPicPr>
          <p:cNvPr id="251" name="그래픽 250" descr="배지 1 단색으로 채워진">
            <a:extLst>
              <a:ext uri="{FF2B5EF4-FFF2-40B4-BE49-F238E27FC236}">
                <a16:creationId xmlns:a16="http://schemas.microsoft.com/office/drawing/2014/main" id="{13981E02-6F8F-5A4F-94BD-ECC627C13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8842" y="1630685"/>
            <a:ext cx="252000" cy="252000"/>
          </a:xfrm>
          <a:prstGeom prst="rect">
            <a:avLst/>
          </a:prstGeom>
        </p:spPr>
      </p:pic>
      <p:pic>
        <p:nvPicPr>
          <p:cNvPr id="252" name="그래픽 251" descr="배지 단색으로 채워진">
            <a:extLst>
              <a:ext uri="{FF2B5EF4-FFF2-40B4-BE49-F238E27FC236}">
                <a16:creationId xmlns:a16="http://schemas.microsoft.com/office/drawing/2014/main" id="{E2B17FC6-33AC-47A0-86E7-036A6C695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44804" y="2957633"/>
            <a:ext cx="252000" cy="252000"/>
          </a:xfrm>
          <a:prstGeom prst="rect">
            <a:avLst/>
          </a:prstGeom>
        </p:spPr>
      </p:pic>
      <p:pic>
        <p:nvPicPr>
          <p:cNvPr id="253" name="그래픽 252" descr="배지 3 단색으로 채워진">
            <a:extLst>
              <a:ext uri="{FF2B5EF4-FFF2-40B4-BE49-F238E27FC236}">
                <a16:creationId xmlns:a16="http://schemas.microsoft.com/office/drawing/2014/main" id="{ABC39ECF-56CF-805A-FEB3-AF56A0C2D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44170" y="4108032"/>
            <a:ext cx="252000" cy="252000"/>
          </a:xfrm>
          <a:prstGeom prst="rect">
            <a:avLst/>
          </a:prstGeom>
        </p:spPr>
      </p:pic>
      <p:pic>
        <p:nvPicPr>
          <p:cNvPr id="254" name="그래픽 253" descr="배지 4 단색으로 채워진">
            <a:extLst>
              <a:ext uri="{FF2B5EF4-FFF2-40B4-BE49-F238E27FC236}">
                <a16:creationId xmlns:a16="http://schemas.microsoft.com/office/drawing/2014/main" id="{095E733E-9999-DA71-1104-B8CBE8466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05409" y="4540634"/>
            <a:ext cx="252000" cy="252000"/>
          </a:xfrm>
          <a:prstGeom prst="rect">
            <a:avLst/>
          </a:prstGeom>
        </p:spPr>
      </p:pic>
      <p:cxnSp>
        <p:nvCxnSpPr>
          <p:cNvPr id="1089" name="연결선: 꺾임 1088">
            <a:extLst>
              <a:ext uri="{FF2B5EF4-FFF2-40B4-BE49-F238E27FC236}">
                <a16:creationId xmlns:a16="http://schemas.microsoft.com/office/drawing/2014/main" id="{FF48D5DD-1957-D174-71A4-1A94092CA8F8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758648" y="1890293"/>
            <a:ext cx="1237522" cy="434306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6" name="Google Shape;238;p13">
            <a:extLst>
              <a:ext uri="{FF2B5EF4-FFF2-40B4-BE49-F238E27FC236}">
                <a16:creationId xmlns:a16="http://schemas.microsoft.com/office/drawing/2014/main" id="{E59897B1-D3AB-B5F8-FE1B-8C6D28D144C5}"/>
              </a:ext>
            </a:extLst>
          </p:cNvPr>
          <p:cNvSpPr txBox="1"/>
          <p:nvPr/>
        </p:nvSpPr>
        <p:spPr>
          <a:xfrm>
            <a:off x="5018151" y="1715658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화면</a:t>
            </a:r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컨텍스트</a:t>
            </a:r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+ 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사용자 질문 전달</a:t>
            </a:r>
            <a:endParaRPr dirty="0"/>
          </a:p>
        </p:txBody>
      </p:sp>
      <p:cxnSp>
        <p:nvCxnSpPr>
          <p:cNvPr id="1098" name="연결선: 꺾임 1097">
            <a:extLst>
              <a:ext uri="{FF2B5EF4-FFF2-40B4-BE49-F238E27FC236}">
                <a16:creationId xmlns:a16="http://schemas.microsoft.com/office/drawing/2014/main" id="{6DFF0B1C-D03D-67B0-A152-FDE78D0577D0}"/>
              </a:ext>
            </a:extLst>
          </p:cNvPr>
          <p:cNvCxnSpPr>
            <a:cxnSpLocks/>
            <a:stCxn id="26" idx="3"/>
            <a:endCxn id="233" idx="1"/>
          </p:cNvCxnSpPr>
          <p:nvPr/>
        </p:nvCxnSpPr>
        <p:spPr>
          <a:xfrm flipV="1">
            <a:off x="6686931" y="2301703"/>
            <a:ext cx="698719" cy="723674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2" name="Google Shape;238;p13">
            <a:extLst>
              <a:ext uri="{FF2B5EF4-FFF2-40B4-BE49-F238E27FC236}">
                <a16:creationId xmlns:a16="http://schemas.microsoft.com/office/drawing/2014/main" id="{E47B1967-6321-CC8D-C42E-48D4BA4C736B}"/>
              </a:ext>
            </a:extLst>
          </p:cNvPr>
          <p:cNvSpPr txBox="1"/>
          <p:nvPr/>
        </p:nvSpPr>
        <p:spPr>
          <a:xfrm>
            <a:off x="7296804" y="3024874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Parquet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분석 데이터 쿼리 실행</a:t>
            </a:r>
            <a:endParaRPr dirty="0"/>
          </a:p>
        </p:txBody>
      </p:sp>
      <p:cxnSp>
        <p:nvCxnSpPr>
          <p:cNvPr id="1103" name="연결선: 꺾임 1102">
            <a:extLst>
              <a:ext uri="{FF2B5EF4-FFF2-40B4-BE49-F238E27FC236}">
                <a16:creationId xmlns:a16="http://schemas.microsoft.com/office/drawing/2014/main" id="{21F2465D-2C49-81C9-B685-B056A250BB37}"/>
              </a:ext>
            </a:extLst>
          </p:cNvPr>
          <p:cNvCxnSpPr>
            <a:cxnSpLocks/>
            <a:stCxn id="241" idx="2"/>
          </p:cNvCxnSpPr>
          <p:nvPr/>
        </p:nvCxnSpPr>
        <p:spPr>
          <a:xfrm rot="5400000">
            <a:off x="7256244" y="2342754"/>
            <a:ext cx="344530" cy="1507879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" name="Google Shape;238;p13">
            <a:extLst>
              <a:ext uri="{FF2B5EF4-FFF2-40B4-BE49-F238E27FC236}">
                <a16:creationId xmlns:a16="http://schemas.microsoft.com/office/drawing/2014/main" id="{9C7B18DA-1B61-68F0-D963-BC1216E94743}"/>
              </a:ext>
            </a:extLst>
          </p:cNvPr>
          <p:cNvSpPr txBox="1"/>
          <p:nvPr/>
        </p:nvSpPr>
        <p:spPr>
          <a:xfrm>
            <a:off x="7279104" y="3285745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결과 전달</a:t>
            </a:r>
            <a:endParaRPr dirty="0"/>
          </a:p>
        </p:txBody>
      </p:sp>
      <p:cxnSp>
        <p:nvCxnSpPr>
          <p:cNvPr id="1107" name="연결선: 꺾임 1106">
            <a:extLst>
              <a:ext uri="{FF2B5EF4-FFF2-40B4-BE49-F238E27FC236}">
                <a16:creationId xmlns:a16="http://schemas.microsoft.com/office/drawing/2014/main" id="{143BFBBA-E1C5-07A4-43CA-B11FD5FAA2BE}"/>
              </a:ext>
            </a:extLst>
          </p:cNvPr>
          <p:cNvCxnSpPr>
            <a:cxnSpLocks/>
            <a:stCxn id="26" idx="2"/>
            <a:endCxn id="242" idx="1"/>
          </p:cNvCxnSpPr>
          <p:nvPr/>
        </p:nvCxnSpPr>
        <p:spPr>
          <a:xfrm rot="16200000" flipH="1">
            <a:off x="6492915" y="3229410"/>
            <a:ext cx="395990" cy="1389480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3" name="Google Shape;238;p13">
            <a:extLst>
              <a:ext uri="{FF2B5EF4-FFF2-40B4-BE49-F238E27FC236}">
                <a16:creationId xmlns:a16="http://schemas.microsoft.com/office/drawing/2014/main" id="{A2F3F853-0606-DC19-9994-8A1D726F0F7D}"/>
              </a:ext>
            </a:extLst>
          </p:cNvPr>
          <p:cNvSpPr txBox="1"/>
          <p:nvPr/>
        </p:nvSpPr>
        <p:spPr>
          <a:xfrm>
            <a:off x="6051993" y="4188822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분석 결과 기반 프롬프트</a:t>
            </a:r>
            <a:endParaRPr dirty="0"/>
          </a:p>
        </p:txBody>
      </p:sp>
      <p:cxnSp>
        <p:nvCxnSpPr>
          <p:cNvPr id="1114" name="연결선: 꺾임 1113">
            <a:extLst>
              <a:ext uri="{FF2B5EF4-FFF2-40B4-BE49-F238E27FC236}">
                <a16:creationId xmlns:a16="http://schemas.microsoft.com/office/drawing/2014/main" id="{71C70F15-BC53-1405-78E4-C475E72E77A2}"/>
              </a:ext>
            </a:extLst>
          </p:cNvPr>
          <p:cNvCxnSpPr>
            <a:cxnSpLocks/>
          </p:cNvCxnSpPr>
          <p:nvPr/>
        </p:nvCxnSpPr>
        <p:spPr>
          <a:xfrm rot="10800000">
            <a:off x="4748842" y="4122145"/>
            <a:ext cx="2636808" cy="423452"/>
          </a:xfrm>
          <a:prstGeom prst="bentConnector3">
            <a:avLst>
              <a:gd name="adj1" fmla="val 79477"/>
            </a:avLst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Google Shape;238;p13">
            <a:extLst>
              <a:ext uri="{FF2B5EF4-FFF2-40B4-BE49-F238E27FC236}">
                <a16:creationId xmlns:a16="http://schemas.microsoft.com/office/drawing/2014/main" id="{E84C87C4-5DBE-431A-C995-669F202E3807}"/>
              </a:ext>
            </a:extLst>
          </p:cNvPr>
          <p:cNvSpPr txBox="1"/>
          <p:nvPr/>
        </p:nvSpPr>
        <p:spPr>
          <a:xfrm>
            <a:off x="5564885" y="4598953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생성 답변 스트리밍 전송</a:t>
            </a:r>
            <a:endParaRPr dirty="0"/>
          </a:p>
        </p:txBody>
      </p:sp>
      <p:cxnSp>
        <p:nvCxnSpPr>
          <p:cNvPr id="1120" name="연결선: 꺾임 1119">
            <a:extLst>
              <a:ext uri="{FF2B5EF4-FFF2-40B4-BE49-F238E27FC236}">
                <a16:creationId xmlns:a16="http://schemas.microsoft.com/office/drawing/2014/main" id="{D11F306E-D4CF-D671-17E3-8D9330654628}"/>
              </a:ext>
            </a:extLst>
          </p:cNvPr>
          <p:cNvCxnSpPr>
            <a:cxnSpLocks/>
            <a:stCxn id="1119" idx="1"/>
          </p:cNvCxnSpPr>
          <p:nvPr/>
        </p:nvCxnSpPr>
        <p:spPr>
          <a:xfrm rot="10800000" flipV="1">
            <a:off x="311270" y="1440578"/>
            <a:ext cx="357258" cy="387757"/>
          </a:xfrm>
          <a:prstGeom prst="bentConnector2">
            <a:avLst/>
          </a:prstGeom>
          <a:ln w="12700">
            <a:solidFill>
              <a:srgbClr val="41C0C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9" name="Shape 4">
            <a:extLst>
              <a:ext uri="{FF2B5EF4-FFF2-40B4-BE49-F238E27FC236}">
                <a16:creationId xmlns:a16="http://schemas.microsoft.com/office/drawing/2014/main" id="{2AB8E6F5-F585-5A3F-6D45-15A3A7166D7A}"/>
              </a:ext>
            </a:extLst>
          </p:cNvPr>
          <p:cNvSpPr/>
          <p:nvPr/>
        </p:nvSpPr>
        <p:spPr>
          <a:xfrm>
            <a:off x="668528" y="1292302"/>
            <a:ext cx="3717543" cy="296554"/>
          </a:xfrm>
          <a:prstGeom prst="roundRect">
            <a:avLst>
              <a:gd name="adj" fmla="val 39027"/>
            </a:avLst>
          </a:prstGeom>
          <a:solidFill>
            <a:schemeClr val="bg1"/>
          </a:solidFill>
          <a:ln>
            <a:solidFill>
              <a:srgbClr val="41C0C2"/>
            </a:solidFill>
            <a:prstDash val="dash"/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ko-KR" altLang="en-US" sz="1050" b="1" dirty="0">
                <a:latin typeface="SUIT" pitchFamily="2" charset="-127"/>
                <a:ea typeface="SUIT" pitchFamily="2" charset="-127"/>
              </a:rPr>
              <a:t>현재 </a:t>
            </a:r>
            <a:r>
              <a:rPr lang="en-US" altLang="ko-KR" sz="1050" b="1" dirty="0">
                <a:latin typeface="SUIT" pitchFamily="2" charset="-127"/>
                <a:ea typeface="SUIT" pitchFamily="2" charset="-127"/>
              </a:rPr>
              <a:t>Tableau </a:t>
            </a:r>
            <a:r>
              <a:rPr lang="ko-KR" altLang="en-US" sz="1050" b="1" dirty="0">
                <a:latin typeface="SUIT" pitchFamily="2" charset="-127"/>
                <a:ea typeface="SUIT" pitchFamily="2" charset="-127"/>
              </a:rPr>
              <a:t>화면 컨텍스트가 분석 답변의 기준이 됩니다</a:t>
            </a:r>
            <a:r>
              <a:rPr lang="en-US" altLang="ko-KR" sz="1050" b="1" dirty="0">
                <a:latin typeface="SUIT" pitchFamily="2" charset="-127"/>
                <a:ea typeface="SUIT" pitchFamily="2" charset="-127"/>
              </a:rPr>
              <a:t>.</a:t>
            </a:r>
            <a:endParaRPr lang="ko-KR" altLang="en-US" sz="800" b="1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1121" name="그래픽 1120" descr="배지 체크 표시1 단색으로 채워진">
            <a:extLst>
              <a:ext uri="{FF2B5EF4-FFF2-40B4-BE49-F238E27FC236}">
                <a16:creationId xmlns:a16="http://schemas.microsoft.com/office/drawing/2014/main" id="{B652FCCE-59F6-AD44-2981-2FBA9191B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9718" y="1317073"/>
            <a:ext cx="216000" cy="216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EC08A5C-BF91-ADA9-AD58-4EDE81453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454" y="3530987"/>
            <a:ext cx="852737" cy="45879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111D93-52A9-6C6F-8D7A-22FDEC172B8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6790" y="2384713"/>
            <a:ext cx="97460" cy="11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46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A5E9-F4AC-A09C-8B0D-6FB45BF0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4">
            <a:extLst>
              <a:ext uri="{FF2B5EF4-FFF2-40B4-BE49-F238E27FC236}">
                <a16:creationId xmlns:a16="http://schemas.microsoft.com/office/drawing/2014/main" id="{E067D5D1-1C25-7315-3A9B-BAAAA37ED62D}"/>
              </a:ext>
            </a:extLst>
          </p:cNvPr>
          <p:cNvSpPr/>
          <p:nvPr/>
        </p:nvSpPr>
        <p:spPr>
          <a:xfrm rot="16200000">
            <a:off x="6187252" y="1884717"/>
            <a:ext cx="3281876" cy="2097205"/>
          </a:xfrm>
          <a:prstGeom prst="roundRect">
            <a:avLst>
              <a:gd name="adj" fmla="val 4680"/>
            </a:avLst>
          </a:prstGeom>
          <a:gradFill rotWithShape="1">
            <a:gsLst>
              <a:gs pos="0">
                <a:srgbClr val="00D4C5"/>
              </a:gs>
              <a:gs pos="1161">
                <a:srgbClr val="00D4C5"/>
              </a:gs>
              <a:gs pos="1162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0" name="Shape 4">
            <a:extLst>
              <a:ext uri="{FF2B5EF4-FFF2-40B4-BE49-F238E27FC236}">
                <a16:creationId xmlns:a16="http://schemas.microsoft.com/office/drawing/2014/main" id="{69FEC169-B2AE-2C9E-24B2-C1E0AE6E4095}"/>
              </a:ext>
            </a:extLst>
          </p:cNvPr>
          <p:cNvSpPr/>
          <p:nvPr/>
        </p:nvSpPr>
        <p:spPr>
          <a:xfrm rot="16200000">
            <a:off x="4008609" y="1884718"/>
            <a:ext cx="3281876" cy="2097205"/>
          </a:xfrm>
          <a:prstGeom prst="roundRect">
            <a:avLst>
              <a:gd name="adj" fmla="val 4680"/>
            </a:avLst>
          </a:prstGeom>
          <a:gradFill rotWithShape="1">
            <a:gsLst>
              <a:gs pos="0">
                <a:srgbClr val="00D4C5"/>
              </a:gs>
              <a:gs pos="1161">
                <a:srgbClr val="00D4C5"/>
              </a:gs>
              <a:gs pos="1162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7" name="Shape 4">
            <a:extLst>
              <a:ext uri="{FF2B5EF4-FFF2-40B4-BE49-F238E27FC236}">
                <a16:creationId xmlns:a16="http://schemas.microsoft.com/office/drawing/2014/main" id="{A27D8E2D-CC80-72B0-E399-6C09C7820172}"/>
              </a:ext>
            </a:extLst>
          </p:cNvPr>
          <p:cNvSpPr/>
          <p:nvPr/>
        </p:nvSpPr>
        <p:spPr>
          <a:xfrm rot="16200000">
            <a:off x="1829966" y="1884718"/>
            <a:ext cx="3281876" cy="2097205"/>
          </a:xfrm>
          <a:prstGeom prst="roundRect">
            <a:avLst>
              <a:gd name="adj" fmla="val 4680"/>
            </a:avLst>
          </a:prstGeom>
          <a:gradFill rotWithShape="1">
            <a:gsLst>
              <a:gs pos="0">
                <a:srgbClr val="00D4C5"/>
              </a:gs>
              <a:gs pos="1161">
                <a:srgbClr val="00D4C5"/>
              </a:gs>
              <a:gs pos="1162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6" name="Shape 4">
            <a:extLst>
              <a:ext uri="{FF2B5EF4-FFF2-40B4-BE49-F238E27FC236}">
                <a16:creationId xmlns:a16="http://schemas.microsoft.com/office/drawing/2014/main" id="{76C6DA2B-462F-F17F-E273-9CDCED42194D}"/>
              </a:ext>
            </a:extLst>
          </p:cNvPr>
          <p:cNvSpPr/>
          <p:nvPr/>
        </p:nvSpPr>
        <p:spPr>
          <a:xfrm rot="16200000">
            <a:off x="-348677" y="1884718"/>
            <a:ext cx="3281876" cy="2097205"/>
          </a:xfrm>
          <a:prstGeom prst="roundRect">
            <a:avLst>
              <a:gd name="adj" fmla="val 4680"/>
            </a:avLst>
          </a:prstGeom>
          <a:gradFill rotWithShape="1">
            <a:gsLst>
              <a:gs pos="0">
                <a:srgbClr val="00D4C5"/>
              </a:gs>
              <a:gs pos="1161">
                <a:srgbClr val="00D4C5"/>
              </a:gs>
              <a:gs pos="1162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464F6D8-F887-2BAE-F6FC-E995466C74F3}"/>
              </a:ext>
            </a:extLst>
          </p:cNvPr>
          <p:cNvSpPr/>
          <p:nvPr/>
        </p:nvSpPr>
        <p:spPr>
          <a:xfrm>
            <a:off x="0" y="569241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F34CF55B-32B0-B29C-59C5-B02D6D2E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aisight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가 신뢰를 만드는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4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가지 방식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1F05199-ED2A-1605-9A2F-DBFFCD7C19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Solution Deep Dive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0C1A2A2-3DBC-73E0-9810-25801FD91DD3}"/>
              </a:ext>
            </a:extLst>
          </p:cNvPr>
          <p:cNvSpPr txBox="1"/>
          <p:nvPr/>
        </p:nvSpPr>
        <p:spPr>
          <a:xfrm>
            <a:off x="402336" y="152527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50" b="1">
                <a:solidFill>
                  <a:srgbClr val="0D9488"/>
                </a:solidFill>
                <a:latin typeface="SUIT ExtraBold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79CA804-5D7D-E1E4-B3C2-A5FD726F6C56}"/>
              </a:ext>
            </a:extLst>
          </p:cNvPr>
          <p:cNvSpPr txBox="1"/>
          <p:nvPr/>
        </p:nvSpPr>
        <p:spPr>
          <a:xfrm>
            <a:off x="402336" y="1689862"/>
            <a:ext cx="17967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SUIT ExtraBold"/>
              </a:rPr>
              <a:t>검증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0AE4661-E2CA-F54D-2D9C-0767C185DF96}"/>
              </a:ext>
            </a:extLst>
          </p:cNvPr>
          <p:cNvSpPr txBox="1"/>
          <p:nvPr/>
        </p:nvSpPr>
        <p:spPr>
          <a:xfrm>
            <a:off x="402336" y="1982470"/>
            <a:ext cx="1796795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SUIT Light"/>
              </a:rPr>
              <a:t>Verification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7B3C359-3235-6472-A25B-5A553FBA62A5}"/>
              </a:ext>
            </a:extLst>
          </p:cNvPr>
          <p:cNvSpPr txBox="1"/>
          <p:nvPr/>
        </p:nvSpPr>
        <p:spPr>
          <a:xfrm>
            <a:off x="402336" y="2183638"/>
            <a:ext cx="17967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50" b="1">
                <a:solidFill>
                  <a:srgbClr val="0F172A"/>
                </a:solidFill>
                <a:latin typeface="SUIT ExtraBold"/>
              </a:rPr>
              <a:t>환각 없는 결정론적 실행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4B39AE1-B993-03FC-D43B-A59698427179}"/>
              </a:ext>
            </a:extLst>
          </p:cNvPr>
          <p:cNvSpPr txBox="1"/>
          <p:nvPr/>
        </p:nvSpPr>
        <p:spPr>
          <a:xfrm>
            <a:off x="402336" y="2384806"/>
            <a:ext cx="17967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2000"/>
              </a:lnSpc>
            </a:pPr>
            <a:r>
              <a:rPr sz="700" b="0">
                <a:solidFill>
                  <a:srgbClr val="334155"/>
                </a:solidFill>
                <a:latin typeface="SUIT Light"/>
              </a:rPr>
              <a:t>LLM이 비즈니스 로직을 상상하지 않습니다. 검증된 Skill과 의도 그래프만이 실행 경로를 만듭니다.</a:t>
            </a:r>
          </a:p>
        </p:txBody>
      </p:sp>
      <p:cxnSp>
        <p:nvCxnSpPr>
          <p:cNvPr id="12" name="Connector 12">
            <a:extLst>
              <a:ext uri="{FF2B5EF4-FFF2-40B4-BE49-F238E27FC236}">
                <a16:creationId xmlns:a16="http://schemas.microsoft.com/office/drawing/2014/main" id="{5922DF32-7D1D-CF65-8B7E-6EF84FCC2CA9}"/>
              </a:ext>
            </a:extLst>
          </p:cNvPr>
          <p:cNvCxnSpPr/>
          <p:nvPr/>
        </p:nvCxnSpPr>
        <p:spPr>
          <a:xfrm>
            <a:off x="402336" y="2860294"/>
            <a:ext cx="17967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3">
            <a:extLst>
              <a:ext uri="{FF2B5EF4-FFF2-40B4-BE49-F238E27FC236}">
                <a16:creationId xmlns:a16="http://schemas.microsoft.com/office/drawing/2014/main" id="{CB2157EA-B7E1-D497-70B2-0659BA9EDEC3}"/>
              </a:ext>
            </a:extLst>
          </p:cNvPr>
          <p:cNvSpPr txBox="1"/>
          <p:nvPr/>
        </p:nvSpPr>
        <p:spPr>
          <a:xfrm>
            <a:off x="402336" y="2915158"/>
            <a:ext cx="1796795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650" b="1">
                <a:solidFill>
                  <a:srgbClr val="0D9488"/>
                </a:solidFill>
                <a:latin typeface="SUIT ExtraBold"/>
              </a:rPr>
              <a:t>메커니즘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DD465E26-9E21-97E9-8EEC-E930391FE922}"/>
              </a:ext>
            </a:extLst>
          </p:cNvPr>
          <p:cNvSpPr/>
          <p:nvPr/>
        </p:nvSpPr>
        <p:spPr>
          <a:xfrm>
            <a:off x="402336" y="3098038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7815FAE-A670-17D8-F42D-36ECCE773C3D}"/>
              </a:ext>
            </a:extLst>
          </p:cNvPr>
          <p:cNvSpPr txBox="1"/>
          <p:nvPr/>
        </p:nvSpPr>
        <p:spPr>
          <a:xfrm>
            <a:off x="502920" y="3052318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Intent Graph Traversal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CE07E42-7A06-01FB-13B2-6E1E71EB743B}"/>
              </a:ext>
            </a:extLst>
          </p:cNvPr>
          <p:cNvSpPr txBox="1"/>
          <p:nvPr/>
        </p:nvSpPr>
        <p:spPr>
          <a:xfrm>
            <a:off x="502920" y="3171190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Neo4j Cypher로 Intent→Modifier→Tool 시퀀스 결정론적 산출</a:t>
            </a: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60EBDA70-2332-367A-7B99-888BB685DCBC}"/>
              </a:ext>
            </a:extLst>
          </p:cNvPr>
          <p:cNvSpPr/>
          <p:nvPr/>
        </p:nvSpPr>
        <p:spPr>
          <a:xfrm>
            <a:off x="402336" y="3482086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98BDA86-FE51-FA74-29AD-5103E8A3D94B}"/>
              </a:ext>
            </a:extLst>
          </p:cNvPr>
          <p:cNvSpPr txBox="1"/>
          <p:nvPr/>
        </p:nvSpPr>
        <p:spPr>
          <a:xfrm>
            <a:off x="502920" y="3436366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Skill Registry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1454C03-9941-C422-FEA6-1E83B34DB1AE}"/>
              </a:ext>
            </a:extLst>
          </p:cNvPr>
          <p:cNvSpPr txBox="1"/>
          <p:nvPr/>
        </p:nvSpPr>
        <p:spPr>
          <a:xfrm>
            <a:off x="502920" y="3555238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Admin이 사전 등록·검증한 SQL 템플릿·프롬프트만 실행</a:t>
            </a: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30A37DA2-BA23-B323-4E71-B6833CE6FF2E}"/>
              </a:ext>
            </a:extLst>
          </p:cNvPr>
          <p:cNvSpPr/>
          <p:nvPr/>
        </p:nvSpPr>
        <p:spPr>
          <a:xfrm>
            <a:off x="402336" y="3866134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153BB75-7B45-BCAA-AC2B-730FDA682A59}"/>
              </a:ext>
            </a:extLst>
          </p:cNvPr>
          <p:cNvSpPr txBox="1"/>
          <p:nvPr/>
        </p:nvSpPr>
        <p:spPr>
          <a:xfrm>
            <a:off x="502920" y="3820414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Multi-LLM Routing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BCF1A06F-45F3-A560-E585-41D5C5A94B7C}"/>
              </a:ext>
            </a:extLst>
          </p:cNvPr>
          <p:cNvSpPr txBox="1"/>
          <p:nvPr/>
        </p:nvSpPr>
        <p:spPr>
          <a:xfrm>
            <a:off x="502920" y="3939285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성능·비용·보안 기준 동적 라우팅, 모델 교체에도 로직 유지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D5D0EE90-E288-28BB-39E9-0B251C0F1D2C}"/>
              </a:ext>
            </a:extLst>
          </p:cNvPr>
          <p:cNvSpPr/>
          <p:nvPr/>
        </p:nvSpPr>
        <p:spPr>
          <a:xfrm>
            <a:off x="310896" y="4231894"/>
            <a:ext cx="1979675" cy="237744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FD81023D-8A3C-FF34-762D-E397A6121333}"/>
              </a:ext>
            </a:extLst>
          </p:cNvPr>
          <p:cNvSpPr txBox="1"/>
          <p:nvPr/>
        </p:nvSpPr>
        <p:spPr>
          <a:xfrm>
            <a:off x="384048" y="4268470"/>
            <a:ext cx="183337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680" b="1">
                <a:solidFill>
                  <a:srgbClr val="0D9488"/>
                </a:solidFill>
                <a:latin typeface="SUIT ExtraBold"/>
              </a:rPr>
              <a:t>→  같은 질문에 같은 답. 환각·랜덤성 원천 차단.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A218F870-946F-4681-AC31-AC4A7FFE7AB5}"/>
              </a:ext>
            </a:extLst>
          </p:cNvPr>
          <p:cNvSpPr txBox="1"/>
          <p:nvPr/>
        </p:nvSpPr>
        <p:spPr>
          <a:xfrm>
            <a:off x="2583180" y="152527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50" b="1">
                <a:solidFill>
                  <a:srgbClr val="0D9488"/>
                </a:solidFill>
                <a:latin typeface="SUIT ExtraBold"/>
              </a:rPr>
              <a:t>02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222CB00C-06CB-FEFD-D2C1-DBE9659BE41F}"/>
              </a:ext>
            </a:extLst>
          </p:cNvPr>
          <p:cNvSpPr txBox="1"/>
          <p:nvPr/>
        </p:nvSpPr>
        <p:spPr>
          <a:xfrm>
            <a:off x="2583180" y="1689862"/>
            <a:ext cx="17967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SUIT ExtraBold"/>
              </a:rPr>
              <a:t>격리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E09B7D0F-5BA7-2C2F-D504-51E33D23136C}"/>
              </a:ext>
            </a:extLst>
          </p:cNvPr>
          <p:cNvSpPr txBox="1"/>
          <p:nvPr/>
        </p:nvSpPr>
        <p:spPr>
          <a:xfrm>
            <a:off x="2583180" y="1982470"/>
            <a:ext cx="1796795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SUIT Light"/>
              </a:rPr>
              <a:t>Isolation</a:t>
            </a: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B08998C-77F8-26F8-E3DE-3413C76FC888}"/>
              </a:ext>
            </a:extLst>
          </p:cNvPr>
          <p:cNvSpPr txBox="1"/>
          <p:nvPr/>
        </p:nvSpPr>
        <p:spPr>
          <a:xfrm>
            <a:off x="2583180" y="2183638"/>
            <a:ext cx="17967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50" b="1" dirty="0" err="1">
                <a:solidFill>
                  <a:srgbClr val="0F172A"/>
                </a:solidFill>
                <a:latin typeface="SUIT ExtraBold"/>
              </a:rPr>
              <a:t>쓰기·우회</a:t>
            </a:r>
            <a:r>
              <a:rPr sz="950" b="1" dirty="0">
                <a:solidFill>
                  <a:srgbClr val="0F172A"/>
                </a:solidFill>
                <a:latin typeface="SUIT ExtraBold"/>
              </a:rPr>
              <a:t> </a:t>
            </a:r>
            <a:r>
              <a:rPr sz="950" b="1" dirty="0" err="1">
                <a:solidFill>
                  <a:srgbClr val="0F172A"/>
                </a:solidFill>
                <a:latin typeface="SUIT ExtraBold"/>
              </a:rPr>
              <a:t>불가능한</a:t>
            </a:r>
            <a:r>
              <a:rPr sz="950" b="1" dirty="0">
                <a:solidFill>
                  <a:srgbClr val="0F172A"/>
                </a:solidFill>
                <a:latin typeface="SUIT ExtraBold"/>
              </a:rPr>
              <a:t> </a:t>
            </a:r>
            <a:r>
              <a:rPr sz="950" b="1" dirty="0" err="1">
                <a:solidFill>
                  <a:srgbClr val="0F172A"/>
                </a:solidFill>
                <a:latin typeface="SUIT ExtraBold"/>
              </a:rPr>
              <a:t>안전</a:t>
            </a:r>
            <a:r>
              <a:rPr sz="950" b="1" dirty="0">
                <a:solidFill>
                  <a:srgbClr val="0F172A"/>
                </a:solidFill>
                <a:latin typeface="SUIT ExtraBold"/>
              </a:rPr>
              <a:t> </a:t>
            </a:r>
            <a:r>
              <a:rPr sz="950" b="1" dirty="0" err="1">
                <a:solidFill>
                  <a:srgbClr val="0F172A"/>
                </a:solidFill>
                <a:latin typeface="SUIT ExtraBold"/>
              </a:rPr>
              <a:t>경계</a:t>
            </a:r>
            <a:endParaRPr sz="95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33" name="TextBox 31">
            <a:extLst>
              <a:ext uri="{FF2B5EF4-FFF2-40B4-BE49-F238E27FC236}">
                <a16:creationId xmlns:a16="http://schemas.microsoft.com/office/drawing/2014/main" id="{BBF5B18A-15FD-F4B5-051A-820E28935AB2}"/>
              </a:ext>
            </a:extLst>
          </p:cNvPr>
          <p:cNvSpPr txBox="1"/>
          <p:nvPr/>
        </p:nvSpPr>
        <p:spPr>
          <a:xfrm>
            <a:off x="2583180" y="2384806"/>
            <a:ext cx="17967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2000"/>
              </a:lnSpc>
            </a:pPr>
            <a:r>
              <a:rPr sz="700" b="0">
                <a:solidFill>
                  <a:srgbClr val="334155"/>
                </a:solidFill>
                <a:latin typeface="SUIT Light"/>
              </a:rPr>
              <a:t>LLM이 무엇을 생성하든 서버 단에서 SELECT 계열 외 실행은 차단됩니다.</a:t>
            </a:r>
          </a:p>
        </p:txBody>
      </p:sp>
      <p:cxnSp>
        <p:nvCxnSpPr>
          <p:cNvPr id="34" name="Connector 32">
            <a:extLst>
              <a:ext uri="{FF2B5EF4-FFF2-40B4-BE49-F238E27FC236}">
                <a16:creationId xmlns:a16="http://schemas.microsoft.com/office/drawing/2014/main" id="{F0AF1387-0B1F-BE11-948D-BD5038513B56}"/>
              </a:ext>
            </a:extLst>
          </p:cNvPr>
          <p:cNvCxnSpPr/>
          <p:nvPr/>
        </p:nvCxnSpPr>
        <p:spPr>
          <a:xfrm>
            <a:off x="2583180" y="2860294"/>
            <a:ext cx="17967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3">
            <a:extLst>
              <a:ext uri="{FF2B5EF4-FFF2-40B4-BE49-F238E27FC236}">
                <a16:creationId xmlns:a16="http://schemas.microsoft.com/office/drawing/2014/main" id="{68C432B9-3B95-638D-A8A4-4E7A8276CC2D}"/>
              </a:ext>
            </a:extLst>
          </p:cNvPr>
          <p:cNvSpPr txBox="1"/>
          <p:nvPr/>
        </p:nvSpPr>
        <p:spPr>
          <a:xfrm>
            <a:off x="2583180" y="2915158"/>
            <a:ext cx="1796795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650" b="1">
                <a:solidFill>
                  <a:srgbClr val="0D9488"/>
                </a:solidFill>
                <a:latin typeface="SUIT ExtraBold"/>
              </a:rPr>
              <a:t>5단계 안전 게이트</a:t>
            </a:r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4C399B08-D039-6EBD-DF55-C6AEA541F94A}"/>
              </a:ext>
            </a:extLst>
          </p:cNvPr>
          <p:cNvSpPr/>
          <p:nvPr/>
        </p:nvSpPr>
        <p:spPr>
          <a:xfrm>
            <a:off x="2583180" y="3098038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7" name="TextBox 35">
            <a:extLst>
              <a:ext uri="{FF2B5EF4-FFF2-40B4-BE49-F238E27FC236}">
                <a16:creationId xmlns:a16="http://schemas.microsoft.com/office/drawing/2014/main" id="{F14E68EF-8F05-0D26-2FF4-E30A148DECB9}"/>
              </a:ext>
            </a:extLst>
          </p:cNvPr>
          <p:cNvSpPr txBox="1"/>
          <p:nvPr/>
        </p:nvSpPr>
        <p:spPr>
          <a:xfrm>
            <a:off x="2683764" y="3052318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AST Parsing · SELECT/WITH 허용</a:t>
            </a:r>
          </a:p>
        </p:txBody>
      </p:sp>
      <p:sp>
        <p:nvSpPr>
          <p:cNvPr id="38" name="TextBox 36">
            <a:extLst>
              <a:ext uri="{FF2B5EF4-FFF2-40B4-BE49-F238E27FC236}">
                <a16:creationId xmlns:a16="http://schemas.microsoft.com/office/drawing/2014/main" id="{E4BAF7D5-CC9A-96EE-685A-2B7514457098}"/>
              </a:ext>
            </a:extLst>
          </p:cNvPr>
          <p:cNvSpPr txBox="1"/>
          <p:nvPr/>
        </p:nvSpPr>
        <p:spPr>
          <a:xfrm>
            <a:off x="2683764" y="3171190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구문 트리 검증, INSERT·UPDATE·DELETE·DROP 차단</a:t>
            </a: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ECEDB166-2822-68E8-FE85-8AFD1898ED13}"/>
              </a:ext>
            </a:extLst>
          </p:cNvPr>
          <p:cNvSpPr/>
          <p:nvPr/>
        </p:nvSpPr>
        <p:spPr>
          <a:xfrm>
            <a:off x="2583180" y="3482086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0" name="TextBox 38">
            <a:extLst>
              <a:ext uri="{FF2B5EF4-FFF2-40B4-BE49-F238E27FC236}">
                <a16:creationId xmlns:a16="http://schemas.microsoft.com/office/drawing/2014/main" id="{D940ADC1-C7FD-EE62-FCD0-980FB65344E2}"/>
              </a:ext>
            </a:extLst>
          </p:cNvPr>
          <p:cNvSpPr txBox="1"/>
          <p:nvPr/>
        </p:nvSpPr>
        <p:spPr>
          <a:xfrm>
            <a:off x="2683764" y="3436366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LIMIT 자동 주입</a:t>
            </a:r>
          </a:p>
        </p:txBody>
      </p:sp>
      <p:sp>
        <p:nvSpPr>
          <p:cNvPr id="41" name="TextBox 39">
            <a:extLst>
              <a:ext uri="{FF2B5EF4-FFF2-40B4-BE49-F238E27FC236}">
                <a16:creationId xmlns:a16="http://schemas.microsoft.com/office/drawing/2014/main" id="{6E85DD9E-4495-EF28-29CA-AFE8E9D3A38A}"/>
              </a:ext>
            </a:extLst>
          </p:cNvPr>
          <p:cNvSpPr txBox="1"/>
          <p:nvPr/>
        </p:nvSpPr>
        <p:spPr>
          <a:xfrm>
            <a:off x="2683764" y="3555238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기본 1000건 강제, 결과 폭주·DoS 방지</a:t>
            </a: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87A015ED-C5E6-2803-32E0-2692DC815D7B}"/>
              </a:ext>
            </a:extLst>
          </p:cNvPr>
          <p:cNvSpPr/>
          <p:nvPr/>
        </p:nvSpPr>
        <p:spPr>
          <a:xfrm>
            <a:off x="2583180" y="3866134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3" name="TextBox 41">
            <a:extLst>
              <a:ext uri="{FF2B5EF4-FFF2-40B4-BE49-F238E27FC236}">
                <a16:creationId xmlns:a16="http://schemas.microsoft.com/office/drawing/2014/main" id="{175F6A0A-CE48-2AA5-5254-7ED5492886AD}"/>
              </a:ext>
            </a:extLst>
          </p:cNvPr>
          <p:cNvSpPr txBox="1"/>
          <p:nvPr/>
        </p:nvSpPr>
        <p:spPr>
          <a:xfrm>
            <a:off x="2683764" y="3820414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 dirty="0">
                <a:solidFill>
                  <a:srgbClr val="0F172A"/>
                </a:solidFill>
                <a:latin typeface="SUIT ExtraBold"/>
              </a:rPr>
              <a:t>READ ONLY · 10s Timeout</a:t>
            </a:r>
          </a:p>
        </p:txBody>
      </p:sp>
      <p:sp>
        <p:nvSpPr>
          <p:cNvPr id="44" name="TextBox 42">
            <a:extLst>
              <a:ext uri="{FF2B5EF4-FFF2-40B4-BE49-F238E27FC236}">
                <a16:creationId xmlns:a16="http://schemas.microsoft.com/office/drawing/2014/main" id="{24BAA1E3-73BE-4F76-185F-7C0095CD9CFC}"/>
              </a:ext>
            </a:extLst>
          </p:cNvPr>
          <p:cNvSpPr txBox="1"/>
          <p:nvPr/>
        </p:nvSpPr>
        <p:spPr>
          <a:xfrm>
            <a:off x="2683764" y="3939285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트랜잭션 강제 READ ONLY, 장시간 락 방지</a:t>
            </a:r>
          </a:p>
        </p:txBody>
      </p:sp>
      <p:sp>
        <p:nvSpPr>
          <p:cNvPr id="45" name="Rectangle 43">
            <a:extLst>
              <a:ext uri="{FF2B5EF4-FFF2-40B4-BE49-F238E27FC236}">
                <a16:creationId xmlns:a16="http://schemas.microsoft.com/office/drawing/2014/main" id="{9BA94D0D-F46E-B092-14C1-FF6937F2758B}"/>
              </a:ext>
            </a:extLst>
          </p:cNvPr>
          <p:cNvSpPr/>
          <p:nvPr/>
        </p:nvSpPr>
        <p:spPr>
          <a:xfrm>
            <a:off x="2491740" y="4231894"/>
            <a:ext cx="1979675" cy="237744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6" name="TextBox 44">
            <a:extLst>
              <a:ext uri="{FF2B5EF4-FFF2-40B4-BE49-F238E27FC236}">
                <a16:creationId xmlns:a16="http://schemas.microsoft.com/office/drawing/2014/main" id="{804E62AE-0FAB-31B7-04BC-3FD0454A3F24}"/>
              </a:ext>
            </a:extLst>
          </p:cNvPr>
          <p:cNvSpPr txBox="1"/>
          <p:nvPr/>
        </p:nvSpPr>
        <p:spPr>
          <a:xfrm>
            <a:off x="2564892" y="4304157"/>
            <a:ext cx="1833372" cy="111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68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→  </a:t>
            </a:r>
            <a:r>
              <a:rPr sz="680" b="1" dirty="0" err="1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LLM이 위험 쿼리를 생성해도 실제 데이터에 닿지 못함</a:t>
            </a:r>
            <a:endParaRPr sz="680" b="1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9" name="TextBox 47">
            <a:extLst>
              <a:ext uri="{FF2B5EF4-FFF2-40B4-BE49-F238E27FC236}">
                <a16:creationId xmlns:a16="http://schemas.microsoft.com/office/drawing/2014/main" id="{4D1C7E22-9C13-DCC4-83F8-FA50CD6EE2D1}"/>
              </a:ext>
            </a:extLst>
          </p:cNvPr>
          <p:cNvSpPr txBox="1"/>
          <p:nvPr/>
        </p:nvSpPr>
        <p:spPr>
          <a:xfrm>
            <a:off x="4764024" y="152527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50" b="1">
                <a:solidFill>
                  <a:srgbClr val="0D9488"/>
                </a:solidFill>
                <a:latin typeface="SUIT ExtraBold"/>
              </a:rPr>
              <a:t>03</a:t>
            </a:r>
          </a:p>
        </p:txBody>
      </p:sp>
      <p:sp>
        <p:nvSpPr>
          <p:cNvPr id="50" name="TextBox 48">
            <a:extLst>
              <a:ext uri="{FF2B5EF4-FFF2-40B4-BE49-F238E27FC236}">
                <a16:creationId xmlns:a16="http://schemas.microsoft.com/office/drawing/2014/main" id="{674A23CC-D2E8-E923-71B8-F083F7306C4B}"/>
              </a:ext>
            </a:extLst>
          </p:cNvPr>
          <p:cNvSpPr txBox="1"/>
          <p:nvPr/>
        </p:nvSpPr>
        <p:spPr>
          <a:xfrm>
            <a:off x="4764024" y="1689862"/>
            <a:ext cx="17967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SUIT ExtraBold"/>
              </a:rPr>
              <a:t>추적</a:t>
            </a:r>
          </a:p>
        </p:txBody>
      </p:sp>
      <p:sp>
        <p:nvSpPr>
          <p:cNvPr id="51" name="TextBox 49">
            <a:extLst>
              <a:ext uri="{FF2B5EF4-FFF2-40B4-BE49-F238E27FC236}">
                <a16:creationId xmlns:a16="http://schemas.microsoft.com/office/drawing/2014/main" id="{14BA0F7D-D968-8BD1-544A-D29B14D08CDA}"/>
              </a:ext>
            </a:extLst>
          </p:cNvPr>
          <p:cNvSpPr txBox="1"/>
          <p:nvPr/>
        </p:nvSpPr>
        <p:spPr>
          <a:xfrm>
            <a:off x="4764024" y="1982470"/>
            <a:ext cx="1796795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SUIT Light"/>
              </a:rPr>
              <a:t>Traceability</a:t>
            </a:r>
          </a:p>
        </p:txBody>
      </p:sp>
      <p:sp>
        <p:nvSpPr>
          <p:cNvPr id="52" name="TextBox 50">
            <a:extLst>
              <a:ext uri="{FF2B5EF4-FFF2-40B4-BE49-F238E27FC236}">
                <a16:creationId xmlns:a16="http://schemas.microsoft.com/office/drawing/2014/main" id="{E1C6CF6A-E570-EFC7-E3E5-DE0B16CA532A}"/>
              </a:ext>
            </a:extLst>
          </p:cNvPr>
          <p:cNvSpPr txBox="1"/>
          <p:nvPr/>
        </p:nvSpPr>
        <p:spPr>
          <a:xfrm>
            <a:off x="4764024" y="2183638"/>
            <a:ext cx="17967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50" b="1">
                <a:solidFill>
                  <a:srgbClr val="0F172A"/>
                </a:solidFill>
                <a:latin typeface="SUIT ExtraBold"/>
              </a:rPr>
              <a:t>전수 역추적과 규제 컴플라이언스</a:t>
            </a:r>
          </a:p>
        </p:txBody>
      </p:sp>
      <p:sp>
        <p:nvSpPr>
          <p:cNvPr id="53" name="TextBox 51">
            <a:extLst>
              <a:ext uri="{FF2B5EF4-FFF2-40B4-BE49-F238E27FC236}">
                <a16:creationId xmlns:a16="http://schemas.microsoft.com/office/drawing/2014/main" id="{C1E3F0D1-ABB8-2FE7-6F9C-56825073640A}"/>
              </a:ext>
            </a:extLst>
          </p:cNvPr>
          <p:cNvSpPr txBox="1"/>
          <p:nvPr/>
        </p:nvSpPr>
        <p:spPr>
          <a:xfrm>
            <a:off x="4764024" y="2384806"/>
            <a:ext cx="17967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2000"/>
              </a:lnSpc>
            </a:pPr>
            <a:r>
              <a:rPr sz="700" b="0">
                <a:solidFill>
                  <a:srgbClr val="334155"/>
                </a:solidFill>
                <a:latin typeface="SUIT Light"/>
              </a:rPr>
              <a:t>모든 답변이 어떤 사용자·Skill·SQL·원본 데이터에서 왔는지 한 trace_id로 재구성됩니다.</a:t>
            </a:r>
          </a:p>
        </p:txBody>
      </p:sp>
      <p:cxnSp>
        <p:nvCxnSpPr>
          <p:cNvPr id="54" name="Connector 52">
            <a:extLst>
              <a:ext uri="{FF2B5EF4-FFF2-40B4-BE49-F238E27FC236}">
                <a16:creationId xmlns:a16="http://schemas.microsoft.com/office/drawing/2014/main" id="{9144E198-EA6B-9060-9A0A-DDC1ED060E97}"/>
              </a:ext>
            </a:extLst>
          </p:cNvPr>
          <p:cNvCxnSpPr/>
          <p:nvPr/>
        </p:nvCxnSpPr>
        <p:spPr>
          <a:xfrm>
            <a:off x="4764024" y="2860294"/>
            <a:ext cx="17967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3">
            <a:extLst>
              <a:ext uri="{FF2B5EF4-FFF2-40B4-BE49-F238E27FC236}">
                <a16:creationId xmlns:a16="http://schemas.microsoft.com/office/drawing/2014/main" id="{7BD720B0-2D2E-C21F-AC82-746AC66C9F64}"/>
              </a:ext>
            </a:extLst>
          </p:cNvPr>
          <p:cNvSpPr txBox="1"/>
          <p:nvPr/>
        </p:nvSpPr>
        <p:spPr>
          <a:xfrm>
            <a:off x="4764024" y="2915158"/>
            <a:ext cx="1796795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650" b="1">
                <a:solidFill>
                  <a:srgbClr val="0D9488"/>
                </a:solidFill>
                <a:latin typeface="SUIT ExtraBold"/>
              </a:rPr>
              <a:t>추적 자산</a:t>
            </a:r>
          </a:p>
        </p:txBody>
      </p:sp>
      <p:sp>
        <p:nvSpPr>
          <p:cNvPr id="56" name="Rectangle 54">
            <a:extLst>
              <a:ext uri="{FF2B5EF4-FFF2-40B4-BE49-F238E27FC236}">
                <a16:creationId xmlns:a16="http://schemas.microsoft.com/office/drawing/2014/main" id="{523D65E2-1462-8342-76F6-434CA26D2719}"/>
              </a:ext>
            </a:extLst>
          </p:cNvPr>
          <p:cNvSpPr/>
          <p:nvPr/>
        </p:nvSpPr>
        <p:spPr>
          <a:xfrm>
            <a:off x="4764024" y="3098038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7" name="TextBox 55">
            <a:extLst>
              <a:ext uri="{FF2B5EF4-FFF2-40B4-BE49-F238E27FC236}">
                <a16:creationId xmlns:a16="http://schemas.microsoft.com/office/drawing/2014/main" id="{AF0D777E-7F1A-F52B-F020-BA772528E195}"/>
              </a:ext>
            </a:extLst>
          </p:cNvPr>
          <p:cNvSpPr txBox="1"/>
          <p:nvPr/>
        </p:nvSpPr>
        <p:spPr>
          <a:xfrm>
            <a:off x="4864608" y="3052318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Audit Trail 전수 기록</a:t>
            </a:r>
          </a:p>
        </p:txBody>
      </p:sp>
      <p:sp>
        <p:nvSpPr>
          <p:cNvPr id="58" name="TextBox 56">
            <a:extLst>
              <a:ext uri="{FF2B5EF4-FFF2-40B4-BE49-F238E27FC236}">
                <a16:creationId xmlns:a16="http://schemas.microsoft.com/office/drawing/2014/main" id="{7F577DF4-97D1-5DDD-59AC-77D7AB555A7C}"/>
              </a:ext>
            </a:extLst>
          </p:cNvPr>
          <p:cNvSpPr txBox="1"/>
          <p:nvPr/>
        </p:nvSpPr>
        <p:spPr>
          <a:xfrm>
            <a:off x="4864608" y="3171190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질의·SQL·도구 호출·응답을 trace_id 단위로 묶어 보관</a:t>
            </a: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AAB16A6A-9002-9241-B1EC-D1CADA0A2603}"/>
              </a:ext>
            </a:extLst>
          </p:cNvPr>
          <p:cNvSpPr/>
          <p:nvPr/>
        </p:nvSpPr>
        <p:spPr>
          <a:xfrm>
            <a:off x="4764024" y="3482086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0" name="TextBox 58">
            <a:extLst>
              <a:ext uri="{FF2B5EF4-FFF2-40B4-BE49-F238E27FC236}">
                <a16:creationId xmlns:a16="http://schemas.microsoft.com/office/drawing/2014/main" id="{CE92FBA8-ED60-89D1-4FC8-7487B29B67D9}"/>
              </a:ext>
            </a:extLst>
          </p:cNvPr>
          <p:cNvSpPr txBox="1"/>
          <p:nvPr/>
        </p:nvSpPr>
        <p:spPr>
          <a:xfrm>
            <a:off x="4864608" y="3436366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Lineage Graph 데이터 계보</a:t>
            </a:r>
          </a:p>
        </p:txBody>
      </p:sp>
      <p:sp>
        <p:nvSpPr>
          <p:cNvPr id="61" name="TextBox 59">
            <a:extLst>
              <a:ext uri="{FF2B5EF4-FFF2-40B4-BE49-F238E27FC236}">
                <a16:creationId xmlns:a16="http://schemas.microsoft.com/office/drawing/2014/main" id="{68D50644-6E84-4F90-9675-C81B2380A0DC}"/>
              </a:ext>
            </a:extLst>
          </p:cNvPr>
          <p:cNvSpPr txBox="1"/>
          <p:nvPr/>
        </p:nvSpPr>
        <p:spPr>
          <a:xfrm>
            <a:off x="4864608" y="3555238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KPI·테이블·답변의 의존 관계로 '이 수치가 어디서 왔는가' 즉시 분석</a:t>
            </a:r>
          </a:p>
        </p:txBody>
      </p:sp>
      <p:sp>
        <p:nvSpPr>
          <p:cNvPr id="62" name="Rectangle 60">
            <a:extLst>
              <a:ext uri="{FF2B5EF4-FFF2-40B4-BE49-F238E27FC236}">
                <a16:creationId xmlns:a16="http://schemas.microsoft.com/office/drawing/2014/main" id="{85F785F8-0140-3549-D709-B3FD47FE58DD}"/>
              </a:ext>
            </a:extLst>
          </p:cNvPr>
          <p:cNvSpPr/>
          <p:nvPr/>
        </p:nvSpPr>
        <p:spPr>
          <a:xfrm>
            <a:off x="4764024" y="3866134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3" name="TextBox 61">
            <a:extLst>
              <a:ext uri="{FF2B5EF4-FFF2-40B4-BE49-F238E27FC236}">
                <a16:creationId xmlns:a16="http://schemas.microsoft.com/office/drawing/2014/main" id="{40150D85-23CC-FF8D-F7C7-FABA02352235}"/>
              </a:ext>
            </a:extLst>
          </p:cNvPr>
          <p:cNvSpPr txBox="1"/>
          <p:nvPr/>
        </p:nvSpPr>
        <p:spPr>
          <a:xfrm>
            <a:off x="4864608" y="3820414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Data Provenance 출처 추적</a:t>
            </a:r>
          </a:p>
        </p:txBody>
      </p:sp>
      <p:sp>
        <p:nvSpPr>
          <p:cNvPr id="192" name="TextBox 62">
            <a:extLst>
              <a:ext uri="{FF2B5EF4-FFF2-40B4-BE49-F238E27FC236}">
                <a16:creationId xmlns:a16="http://schemas.microsoft.com/office/drawing/2014/main" id="{0E71577D-04F3-BECB-04AA-0822D2C1FB2C}"/>
              </a:ext>
            </a:extLst>
          </p:cNvPr>
          <p:cNvSpPr txBox="1"/>
          <p:nvPr/>
        </p:nvSpPr>
        <p:spPr>
          <a:xfrm>
            <a:off x="4864608" y="3939285"/>
            <a:ext cx="1687067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 dirty="0" err="1">
                <a:solidFill>
                  <a:srgbClr val="64748B"/>
                </a:solidFill>
                <a:latin typeface="SUIT Light"/>
              </a:rPr>
              <a:t>답변에</a:t>
            </a:r>
            <a:r>
              <a:rPr sz="63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630" b="0" dirty="0" err="1">
                <a:solidFill>
                  <a:srgbClr val="64748B"/>
                </a:solidFill>
                <a:latin typeface="SUIT Light"/>
              </a:rPr>
              <a:t>사용된</a:t>
            </a:r>
            <a:r>
              <a:rPr sz="63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630" b="0" dirty="0" err="1">
                <a:solidFill>
                  <a:srgbClr val="64748B"/>
                </a:solidFill>
                <a:latin typeface="SUIT Light"/>
              </a:rPr>
              <a:t>원본</a:t>
            </a:r>
            <a:r>
              <a:rPr sz="63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630" b="0" dirty="0" err="1">
                <a:solidFill>
                  <a:srgbClr val="64748B"/>
                </a:solidFill>
                <a:latin typeface="SUIT Light"/>
              </a:rPr>
              <a:t>데이터·KPI</a:t>
            </a:r>
            <a:r>
              <a:rPr sz="63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630" b="0" dirty="0" err="1">
                <a:solidFill>
                  <a:srgbClr val="64748B"/>
                </a:solidFill>
                <a:latin typeface="SUIT Light"/>
              </a:rPr>
              <a:t>정의</a:t>
            </a:r>
            <a:r>
              <a:rPr sz="63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630" b="0" dirty="0" err="1">
                <a:solidFill>
                  <a:srgbClr val="64748B"/>
                </a:solidFill>
                <a:latin typeface="SUIT Light"/>
              </a:rPr>
              <a:t>시점</a:t>
            </a:r>
            <a:r>
              <a:rPr lang="en-US" sz="63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lang="ko-KR" altLang="en-US" sz="630" b="0" dirty="0">
                <a:solidFill>
                  <a:srgbClr val="64748B"/>
                </a:solidFill>
                <a:latin typeface="SUIT Light"/>
              </a:rPr>
              <a:t>이전 추출과 비교 검증 </a:t>
            </a:r>
            <a:r>
              <a:rPr sz="630" b="0" dirty="0" err="1">
                <a:solidFill>
                  <a:srgbClr val="64748B"/>
                </a:solidFill>
                <a:latin typeface="SUIT Light"/>
              </a:rPr>
              <a:t>까지</a:t>
            </a:r>
            <a:r>
              <a:rPr sz="630" b="0" dirty="0">
                <a:solidFill>
                  <a:srgbClr val="64748B"/>
                </a:solidFill>
                <a:latin typeface="SUIT Light"/>
              </a:rPr>
              <a:t> </a:t>
            </a:r>
            <a:r>
              <a:rPr sz="630" b="0" dirty="0" err="1">
                <a:solidFill>
                  <a:srgbClr val="64748B"/>
                </a:solidFill>
                <a:latin typeface="SUIT Light"/>
              </a:rPr>
              <a:t>표시</a:t>
            </a:r>
            <a:endParaRPr sz="63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193" name="Rectangle 63">
            <a:extLst>
              <a:ext uri="{FF2B5EF4-FFF2-40B4-BE49-F238E27FC236}">
                <a16:creationId xmlns:a16="http://schemas.microsoft.com/office/drawing/2014/main" id="{30168046-C9CF-6A9B-D884-111C44701F3C}"/>
              </a:ext>
            </a:extLst>
          </p:cNvPr>
          <p:cNvSpPr/>
          <p:nvPr/>
        </p:nvSpPr>
        <p:spPr>
          <a:xfrm>
            <a:off x="4672583" y="4231894"/>
            <a:ext cx="1979675" cy="237744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4" name="TextBox 64">
            <a:extLst>
              <a:ext uri="{FF2B5EF4-FFF2-40B4-BE49-F238E27FC236}">
                <a16:creationId xmlns:a16="http://schemas.microsoft.com/office/drawing/2014/main" id="{FF9244D8-9F0F-5166-6160-58BDFB29713E}"/>
              </a:ext>
            </a:extLst>
          </p:cNvPr>
          <p:cNvSpPr txBox="1"/>
          <p:nvPr/>
        </p:nvSpPr>
        <p:spPr>
          <a:xfrm>
            <a:off x="4745736" y="4268470"/>
            <a:ext cx="183337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680" b="1" dirty="0">
                <a:solidFill>
                  <a:srgbClr val="0D9488"/>
                </a:solidFill>
                <a:latin typeface="SUIT ExtraBold"/>
              </a:rPr>
              <a:t>→  SOX·GDPR 등 </a:t>
            </a:r>
            <a:r>
              <a:rPr sz="680" b="1" dirty="0" err="1">
                <a:solidFill>
                  <a:srgbClr val="0D9488"/>
                </a:solidFill>
                <a:latin typeface="SUIT ExtraBold"/>
              </a:rPr>
              <a:t>규제</a:t>
            </a:r>
            <a:r>
              <a:rPr sz="680" b="1" dirty="0">
                <a:solidFill>
                  <a:srgbClr val="0D9488"/>
                </a:solidFill>
                <a:latin typeface="SUIT ExtraBold"/>
              </a:rPr>
              <a:t> </a:t>
            </a:r>
            <a:r>
              <a:rPr sz="680" b="1" dirty="0" err="1">
                <a:solidFill>
                  <a:srgbClr val="0D9488"/>
                </a:solidFill>
                <a:latin typeface="SUIT ExtraBold"/>
              </a:rPr>
              <a:t>산업의</a:t>
            </a:r>
            <a:r>
              <a:rPr sz="680" b="1" dirty="0">
                <a:solidFill>
                  <a:srgbClr val="0D9488"/>
                </a:solidFill>
                <a:latin typeface="SUIT ExtraBold"/>
              </a:rPr>
              <a:t> AI </a:t>
            </a:r>
            <a:r>
              <a:rPr sz="680" b="1" dirty="0" err="1">
                <a:solidFill>
                  <a:srgbClr val="0D9488"/>
                </a:solidFill>
                <a:latin typeface="SUIT ExtraBold"/>
              </a:rPr>
              <a:t>도입</a:t>
            </a:r>
            <a:r>
              <a:rPr sz="680" b="1" dirty="0">
                <a:solidFill>
                  <a:srgbClr val="0D9488"/>
                </a:solidFill>
                <a:latin typeface="SUIT ExtraBold"/>
              </a:rPr>
              <a:t> </a:t>
            </a:r>
            <a:r>
              <a:rPr sz="680" b="1" dirty="0" err="1">
                <a:solidFill>
                  <a:srgbClr val="0D9488"/>
                </a:solidFill>
                <a:latin typeface="SUIT ExtraBold"/>
              </a:rPr>
              <a:t>요건</a:t>
            </a:r>
            <a:r>
              <a:rPr sz="680" b="1" dirty="0">
                <a:solidFill>
                  <a:srgbClr val="0D9488"/>
                </a:solidFill>
                <a:latin typeface="SUIT ExtraBold"/>
              </a:rPr>
              <a:t> </a:t>
            </a:r>
            <a:r>
              <a:rPr sz="680" b="1" dirty="0" err="1">
                <a:solidFill>
                  <a:srgbClr val="0D9488"/>
                </a:solidFill>
                <a:latin typeface="SUIT ExtraBold"/>
              </a:rPr>
              <a:t>충족</a:t>
            </a:r>
            <a:r>
              <a:rPr sz="680" b="1" dirty="0">
                <a:solidFill>
                  <a:srgbClr val="0D9488"/>
                </a:solidFill>
                <a:latin typeface="SUIT ExtraBold"/>
              </a:rPr>
              <a:t>.</a:t>
            </a:r>
          </a:p>
        </p:txBody>
      </p:sp>
      <p:sp>
        <p:nvSpPr>
          <p:cNvPr id="197" name="TextBox 67">
            <a:extLst>
              <a:ext uri="{FF2B5EF4-FFF2-40B4-BE49-F238E27FC236}">
                <a16:creationId xmlns:a16="http://schemas.microsoft.com/office/drawing/2014/main" id="{71C4B949-D85A-DA75-43C9-F55D26D58AC2}"/>
              </a:ext>
            </a:extLst>
          </p:cNvPr>
          <p:cNvSpPr txBox="1"/>
          <p:nvPr/>
        </p:nvSpPr>
        <p:spPr>
          <a:xfrm>
            <a:off x="6944868" y="152527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50" b="1">
                <a:solidFill>
                  <a:srgbClr val="0D9488"/>
                </a:solidFill>
                <a:latin typeface="SUIT ExtraBold"/>
              </a:rPr>
              <a:t>04</a:t>
            </a:r>
          </a:p>
        </p:txBody>
      </p:sp>
      <p:sp>
        <p:nvSpPr>
          <p:cNvPr id="198" name="TextBox 68">
            <a:extLst>
              <a:ext uri="{FF2B5EF4-FFF2-40B4-BE49-F238E27FC236}">
                <a16:creationId xmlns:a16="http://schemas.microsoft.com/office/drawing/2014/main" id="{19AFBB67-3C7F-E4E4-E762-CDA13CA52E79}"/>
              </a:ext>
            </a:extLst>
          </p:cNvPr>
          <p:cNvSpPr txBox="1"/>
          <p:nvPr/>
        </p:nvSpPr>
        <p:spPr>
          <a:xfrm>
            <a:off x="6944868" y="1689862"/>
            <a:ext cx="17967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SUIT ExtraBold"/>
              </a:rPr>
              <a:t>보정</a:t>
            </a:r>
          </a:p>
        </p:txBody>
      </p:sp>
      <p:sp>
        <p:nvSpPr>
          <p:cNvPr id="199" name="TextBox 69">
            <a:extLst>
              <a:ext uri="{FF2B5EF4-FFF2-40B4-BE49-F238E27FC236}">
                <a16:creationId xmlns:a16="http://schemas.microsoft.com/office/drawing/2014/main" id="{553F35BD-42BE-B456-2900-B6E2EEAABA14}"/>
              </a:ext>
            </a:extLst>
          </p:cNvPr>
          <p:cNvSpPr txBox="1"/>
          <p:nvPr/>
        </p:nvSpPr>
        <p:spPr>
          <a:xfrm>
            <a:off x="6944868" y="1982470"/>
            <a:ext cx="1796795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SUIT Light"/>
              </a:rPr>
              <a:t>Correction</a:t>
            </a:r>
          </a:p>
        </p:txBody>
      </p:sp>
      <p:sp>
        <p:nvSpPr>
          <p:cNvPr id="200" name="TextBox 70">
            <a:extLst>
              <a:ext uri="{FF2B5EF4-FFF2-40B4-BE49-F238E27FC236}">
                <a16:creationId xmlns:a16="http://schemas.microsoft.com/office/drawing/2014/main" id="{79BA4B91-9FB5-4D44-923F-140072DB31FF}"/>
              </a:ext>
            </a:extLst>
          </p:cNvPr>
          <p:cNvSpPr txBox="1"/>
          <p:nvPr/>
        </p:nvSpPr>
        <p:spPr>
          <a:xfrm>
            <a:off x="6944868" y="2183638"/>
            <a:ext cx="17967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950" b="1">
                <a:solidFill>
                  <a:srgbClr val="0F172A"/>
                </a:solidFill>
                <a:latin typeface="SUIT ExtraBold"/>
              </a:rPr>
              <a:t>통제된 자기개선 루프</a:t>
            </a:r>
          </a:p>
        </p:txBody>
      </p:sp>
      <p:sp>
        <p:nvSpPr>
          <p:cNvPr id="201" name="TextBox 71">
            <a:extLst>
              <a:ext uri="{FF2B5EF4-FFF2-40B4-BE49-F238E27FC236}">
                <a16:creationId xmlns:a16="http://schemas.microsoft.com/office/drawing/2014/main" id="{F68CCF88-FE56-2730-702E-74DD24FA2C92}"/>
              </a:ext>
            </a:extLst>
          </p:cNvPr>
          <p:cNvSpPr txBox="1"/>
          <p:nvPr/>
        </p:nvSpPr>
        <p:spPr>
          <a:xfrm>
            <a:off x="6944868" y="2384806"/>
            <a:ext cx="17967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2000"/>
              </a:lnSpc>
            </a:pPr>
            <a:r>
              <a:rPr sz="700" b="0">
                <a:solidFill>
                  <a:srgbClr val="334155"/>
                </a:solidFill>
                <a:latin typeface="SUIT Light"/>
              </a:rPr>
              <a:t>실패와 거부 신호가 자동 트리거되고, 권한 위계를 거쳐 시스템이 스스로 학습합니다.</a:t>
            </a:r>
          </a:p>
        </p:txBody>
      </p:sp>
      <p:cxnSp>
        <p:nvCxnSpPr>
          <p:cNvPr id="202" name="Connector 72">
            <a:extLst>
              <a:ext uri="{FF2B5EF4-FFF2-40B4-BE49-F238E27FC236}">
                <a16:creationId xmlns:a16="http://schemas.microsoft.com/office/drawing/2014/main" id="{679899C2-477C-E936-1672-F9D7729D0389}"/>
              </a:ext>
            </a:extLst>
          </p:cNvPr>
          <p:cNvCxnSpPr/>
          <p:nvPr/>
        </p:nvCxnSpPr>
        <p:spPr>
          <a:xfrm>
            <a:off x="6944868" y="2860294"/>
            <a:ext cx="17967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73">
            <a:extLst>
              <a:ext uri="{FF2B5EF4-FFF2-40B4-BE49-F238E27FC236}">
                <a16:creationId xmlns:a16="http://schemas.microsoft.com/office/drawing/2014/main" id="{381D298D-65F8-755B-44F3-1F0537C6E6DD}"/>
              </a:ext>
            </a:extLst>
          </p:cNvPr>
          <p:cNvSpPr txBox="1"/>
          <p:nvPr/>
        </p:nvSpPr>
        <p:spPr>
          <a:xfrm>
            <a:off x="6944868" y="2915158"/>
            <a:ext cx="1796795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650" b="1">
                <a:solidFill>
                  <a:srgbClr val="0D9488"/>
                </a:solidFill>
                <a:latin typeface="SUIT ExtraBold"/>
              </a:rPr>
              <a:t>4 TRIGGERS × 3 STEPS</a:t>
            </a:r>
          </a:p>
        </p:txBody>
      </p:sp>
      <p:sp>
        <p:nvSpPr>
          <p:cNvPr id="204" name="Rectangle 74">
            <a:extLst>
              <a:ext uri="{FF2B5EF4-FFF2-40B4-BE49-F238E27FC236}">
                <a16:creationId xmlns:a16="http://schemas.microsoft.com/office/drawing/2014/main" id="{8BF51BB0-9266-0BF9-4879-758F73B42F92}"/>
              </a:ext>
            </a:extLst>
          </p:cNvPr>
          <p:cNvSpPr/>
          <p:nvPr/>
        </p:nvSpPr>
        <p:spPr>
          <a:xfrm>
            <a:off x="6944868" y="3098038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5" name="TextBox 75">
            <a:extLst>
              <a:ext uri="{FF2B5EF4-FFF2-40B4-BE49-F238E27FC236}">
                <a16:creationId xmlns:a16="http://schemas.microsoft.com/office/drawing/2014/main" id="{1751E93C-2E2F-FBE5-C3FE-CFE8550A8084}"/>
              </a:ext>
            </a:extLst>
          </p:cNvPr>
          <p:cNvSpPr txBox="1"/>
          <p:nvPr/>
        </p:nvSpPr>
        <p:spPr>
          <a:xfrm>
            <a:off x="7045452" y="3052318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4가지 자동 트리거</a:t>
            </a:r>
          </a:p>
        </p:txBody>
      </p:sp>
      <p:sp>
        <p:nvSpPr>
          <p:cNvPr id="206" name="TextBox 76">
            <a:extLst>
              <a:ext uri="{FF2B5EF4-FFF2-40B4-BE49-F238E27FC236}">
                <a16:creationId xmlns:a16="http://schemas.microsoft.com/office/drawing/2014/main" id="{B79331A0-58B2-4605-1083-F026537620B1}"/>
              </a:ext>
            </a:extLst>
          </p:cNvPr>
          <p:cNvSpPr txBox="1"/>
          <p:nvPr/>
        </p:nvSpPr>
        <p:spPr>
          <a:xfrm>
            <a:off x="7045452" y="3171190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매칭 실패 · 저신뢰 · 실행 오류 · 사용자 거부 신호</a:t>
            </a:r>
          </a:p>
        </p:txBody>
      </p:sp>
      <p:sp>
        <p:nvSpPr>
          <p:cNvPr id="207" name="Rectangle 77">
            <a:extLst>
              <a:ext uri="{FF2B5EF4-FFF2-40B4-BE49-F238E27FC236}">
                <a16:creationId xmlns:a16="http://schemas.microsoft.com/office/drawing/2014/main" id="{76C945B2-1D6B-91B7-E982-9984633AFDE8}"/>
              </a:ext>
            </a:extLst>
          </p:cNvPr>
          <p:cNvSpPr/>
          <p:nvPr/>
        </p:nvSpPr>
        <p:spPr>
          <a:xfrm>
            <a:off x="6944868" y="3482086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8" name="TextBox 78">
            <a:extLst>
              <a:ext uri="{FF2B5EF4-FFF2-40B4-BE49-F238E27FC236}">
                <a16:creationId xmlns:a16="http://schemas.microsoft.com/office/drawing/2014/main" id="{66F9BC58-0E65-369E-41B9-F619F8CF2816}"/>
              </a:ext>
            </a:extLst>
          </p:cNvPr>
          <p:cNvSpPr txBox="1"/>
          <p:nvPr/>
        </p:nvSpPr>
        <p:spPr>
          <a:xfrm>
            <a:off x="7045452" y="3436366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Step 1 자동 / Step 2 LLM 제안</a:t>
            </a:r>
          </a:p>
        </p:txBody>
      </p:sp>
      <p:sp>
        <p:nvSpPr>
          <p:cNvPr id="209" name="TextBox 79">
            <a:extLst>
              <a:ext uri="{FF2B5EF4-FFF2-40B4-BE49-F238E27FC236}">
                <a16:creationId xmlns:a16="http://schemas.microsoft.com/office/drawing/2014/main" id="{5A817A0F-3C5F-C9DB-2D1E-EBCAA09346AB}"/>
              </a:ext>
            </a:extLst>
          </p:cNvPr>
          <p:cNvSpPr txBox="1"/>
          <p:nvPr/>
        </p:nvSpPr>
        <p:spPr>
          <a:xfrm>
            <a:off x="7045452" y="3555238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동의어·오탈자 자동 학습, 신규 Intent는 PR처럼 리뷰 대기</a:t>
            </a:r>
          </a:p>
        </p:txBody>
      </p:sp>
      <p:sp>
        <p:nvSpPr>
          <p:cNvPr id="210" name="Rectangle 80">
            <a:extLst>
              <a:ext uri="{FF2B5EF4-FFF2-40B4-BE49-F238E27FC236}">
                <a16:creationId xmlns:a16="http://schemas.microsoft.com/office/drawing/2014/main" id="{9036064A-9627-9242-0F5D-410397EA522C}"/>
              </a:ext>
            </a:extLst>
          </p:cNvPr>
          <p:cNvSpPr/>
          <p:nvPr/>
        </p:nvSpPr>
        <p:spPr>
          <a:xfrm>
            <a:off x="6944868" y="3866134"/>
            <a:ext cx="45720" cy="45720"/>
          </a:xfrm>
          <a:prstGeom prst="rect">
            <a:avLst/>
          </a:prstGeom>
          <a:solidFill>
            <a:srgbClr val="0F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1" name="TextBox 81">
            <a:extLst>
              <a:ext uri="{FF2B5EF4-FFF2-40B4-BE49-F238E27FC236}">
                <a16:creationId xmlns:a16="http://schemas.microsoft.com/office/drawing/2014/main" id="{63431697-2B6C-5CA9-BB68-E4894F24FAC3}"/>
              </a:ext>
            </a:extLst>
          </p:cNvPr>
          <p:cNvSpPr txBox="1"/>
          <p:nvPr/>
        </p:nvSpPr>
        <p:spPr>
          <a:xfrm>
            <a:off x="7045452" y="3820414"/>
            <a:ext cx="168706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700" b="1">
                <a:solidFill>
                  <a:srgbClr val="0F172A"/>
                </a:solidFill>
                <a:latin typeface="SUIT ExtraBold"/>
              </a:rPr>
              <a:t>Step 3 사람 승인</a:t>
            </a:r>
          </a:p>
        </p:txBody>
      </p:sp>
      <p:sp>
        <p:nvSpPr>
          <p:cNvPr id="212" name="TextBox 82">
            <a:extLst>
              <a:ext uri="{FF2B5EF4-FFF2-40B4-BE49-F238E27FC236}">
                <a16:creationId xmlns:a16="http://schemas.microsoft.com/office/drawing/2014/main" id="{D1676BB9-AC62-22BB-FF2E-E6C14698B2E4}"/>
              </a:ext>
            </a:extLst>
          </p:cNvPr>
          <p:cNvSpPr txBox="1"/>
          <p:nvPr/>
        </p:nvSpPr>
        <p:spPr>
          <a:xfrm>
            <a:off x="7045452" y="3939285"/>
            <a:ext cx="16870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sz="630" b="0">
                <a:solidFill>
                  <a:srgbClr val="64748B"/>
                </a:solidFill>
                <a:latin typeface="SUIT Light"/>
              </a:rPr>
              <a:t>핵심 룰 변경은 도메인 SME 최종 승인 후 반영</a:t>
            </a:r>
          </a:p>
        </p:txBody>
      </p:sp>
      <p:sp>
        <p:nvSpPr>
          <p:cNvPr id="213" name="Rectangle 83">
            <a:extLst>
              <a:ext uri="{FF2B5EF4-FFF2-40B4-BE49-F238E27FC236}">
                <a16:creationId xmlns:a16="http://schemas.microsoft.com/office/drawing/2014/main" id="{6F15F52F-F3D9-1A5A-DC7C-98FA591C6E5F}"/>
              </a:ext>
            </a:extLst>
          </p:cNvPr>
          <p:cNvSpPr/>
          <p:nvPr/>
        </p:nvSpPr>
        <p:spPr>
          <a:xfrm>
            <a:off x="6853427" y="4231894"/>
            <a:ext cx="1979675" cy="237744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4" name="TextBox 84">
            <a:extLst>
              <a:ext uri="{FF2B5EF4-FFF2-40B4-BE49-F238E27FC236}">
                <a16:creationId xmlns:a16="http://schemas.microsoft.com/office/drawing/2014/main" id="{00837A42-C986-2833-B81C-8AA19C424041}"/>
              </a:ext>
            </a:extLst>
          </p:cNvPr>
          <p:cNvSpPr txBox="1"/>
          <p:nvPr/>
        </p:nvSpPr>
        <p:spPr>
          <a:xfrm>
            <a:off x="6926579" y="4268470"/>
            <a:ext cx="183337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sz="680" b="1">
                <a:solidFill>
                  <a:srgbClr val="0D9488"/>
                </a:solidFill>
                <a:latin typeface="SUIT ExtraBold"/>
              </a:rPr>
              <a:t>→  실패가 통제된 절차로 다음 답변의 자산이 됩니다.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D3AC0C5-BC05-A200-9665-E91DAFCCDA84}"/>
              </a:ext>
            </a:extLst>
          </p:cNvPr>
          <p:cNvSpPr txBox="1"/>
          <p:nvPr/>
        </p:nvSpPr>
        <p:spPr>
          <a:xfrm>
            <a:off x="256032" y="666744"/>
            <a:ext cx="8595360" cy="2396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b="1" dirty="0">
                <a:latin typeface="+mn-ea"/>
                <a:ea typeface="+mn-ea"/>
              </a:rPr>
              <a:t>검증 </a:t>
            </a:r>
            <a:r>
              <a:rPr lang="en-US" altLang="ko-KR" sz="1400" b="1" dirty="0">
                <a:latin typeface="+mn-ea"/>
                <a:ea typeface="+mn-ea"/>
              </a:rPr>
              <a:t>· </a:t>
            </a:r>
            <a:r>
              <a:rPr lang="ko-KR" altLang="en-US" sz="1400" b="1" dirty="0">
                <a:latin typeface="+mn-ea"/>
                <a:ea typeface="+mn-ea"/>
              </a:rPr>
              <a:t>격리 </a:t>
            </a:r>
            <a:r>
              <a:rPr lang="en-US" altLang="ko-KR" sz="1400" b="1" dirty="0">
                <a:latin typeface="+mn-ea"/>
                <a:ea typeface="+mn-ea"/>
              </a:rPr>
              <a:t>· </a:t>
            </a:r>
            <a:r>
              <a:rPr lang="ko-KR" altLang="en-US" sz="1400" b="1" dirty="0">
                <a:latin typeface="+mn-ea"/>
                <a:ea typeface="+mn-ea"/>
              </a:rPr>
              <a:t>추적 </a:t>
            </a:r>
            <a:r>
              <a:rPr lang="en-US" altLang="ko-KR" sz="1400" b="1" dirty="0">
                <a:latin typeface="+mn-ea"/>
                <a:ea typeface="+mn-ea"/>
              </a:rPr>
              <a:t>· </a:t>
            </a:r>
            <a:r>
              <a:rPr lang="ko-KR" altLang="en-US" sz="1400" b="1" dirty="0">
                <a:latin typeface="+mn-ea"/>
                <a:ea typeface="+mn-ea"/>
              </a:rPr>
              <a:t>보정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일반 </a:t>
            </a:r>
            <a:r>
              <a:rPr lang="en-US" altLang="ko-KR" sz="1400" b="1" dirty="0">
                <a:latin typeface="+mn-ea"/>
                <a:ea typeface="+mn-ea"/>
              </a:rPr>
              <a:t>LLM </a:t>
            </a:r>
            <a:r>
              <a:rPr lang="ko-KR" altLang="en-US" sz="1400" b="1" dirty="0" err="1">
                <a:latin typeface="+mn-ea"/>
                <a:ea typeface="+mn-ea"/>
              </a:rPr>
              <a:t>챗봇이</a:t>
            </a:r>
            <a:r>
              <a:rPr lang="ko-KR" altLang="en-US" sz="1400" b="1" dirty="0">
                <a:latin typeface="+mn-ea"/>
                <a:ea typeface="+mn-ea"/>
              </a:rPr>
              <a:t> 못 하는 </a:t>
            </a:r>
            <a:r>
              <a:rPr lang="en-US" altLang="ko-KR" sz="1400" b="1" dirty="0">
                <a:latin typeface="+mn-ea"/>
                <a:ea typeface="+mn-ea"/>
              </a:rPr>
              <a:t>4</a:t>
            </a:r>
            <a:r>
              <a:rPr lang="ko-KR" altLang="en-US" sz="1400" b="1" dirty="0">
                <a:latin typeface="+mn-ea"/>
                <a:ea typeface="+mn-ea"/>
              </a:rPr>
              <a:t>대 통제를 구조로 보장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783F060A-ACAA-8B43-318E-AAE5B9C804A9}"/>
              </a:ext>
            </a:extLst>
          </p:cNvPr>
          <p:cNvSpPr txBox="1"/>
          <p:nvPr/>
        </p:nvSpPr>
        <p:spPr>
          <a:xfrm>
            <a:off x="256032" y="943032"/>
            <a:ext cx="8595360" cy="145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3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계층 분리 설계가 만들어내는 </a:t>
            </a: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4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대 보장과 각 메커니즘</a:t>
            </a: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. 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분석 결과를 신뢰할 수 있는 구조적 근거</a:t>
            </a: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9962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39343-4097-0480-5CEC-B15C8146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50B78AC2-8587-C3D0-E0B3-91BD4059B3F5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E615AA9E-859D-3735-0B9A-5C92D593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엔터프라이즈급 보안 및 권한 제어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(Security &amp; Governance)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6EBF1851-0085-12CC-1814-0BB2BFF038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  <a:cs typeface="+mn-cs"/>
              </a:rPr>
              <a:t>02 ·  Solution Deep Dive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72D24A9C-7328-5827-2CCE-6F1CEF3CD8B9}"/>
              </a:ext>
            </a:extLst>
          </p:cNvPr>
          <p:cNvSpPr txBox="1"/>
          <p:nvPr/>
        </p:nvSpPr>
        <p:spPr>
          <a:xfrm>
            <a:off x="256032" y="647946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기업의 핵심 자산을 다루는 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aisight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는 인프라 격리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역할 기반 접근 통제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(RBAC),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데이터 </a:t>
            </a:r>
            <a:r>
              <a:rPr lang="ko-KR" altLang="en-US" sz="1100" dirty="0" err="1">
                <a:solidFill>
                  <a:srgbClr val="334155"/>
                </a:solidFill>
                <a:latin typeface="+mn-ea"/>
                <a:ea typeface="+mn-ea"/>
              </a:rPr>
              <a:t>마스킹을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 결합한 다중 방어 체계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(Multi-Layer Security)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를 통해 빈틈없는 거버넌스를 구현합니다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</a:t>
            </a:r>
            <a:endParaRPr lang="ko-KR" altLang="en-US" sz="1100" dirty="0">
              <a:solidFill>
                <a:srgbClr val="334155"/>
              </a:solidFill>
              <a:latin typeface="+mn-ea"/>
              <a:ea typeface="+mn-ea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4E3629C3-DF45-54D1-A8E3-F2D8C261EC29}"/>
              </a:ext>
            </a:extLst>
          </p:cNvPr>
          <p:cNvSpPr/>
          <p:nvPr/>
        </p:nvSpPr>
        <p:spPr>
          <a:xfrm>
            <a:off x="237744" y="1266694"/>
            <a:ext cx="8705088" cy="1209044"/>
          </a:xfrm>
          <a:prstGeom prst="roundRect">
            <a:avLst>
              <a:gd name="adj" fmla="val 10372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A44D2D3-38D2-08DB-874B-5FDB97DC5931}"/>
              </a:ext>
            </a:extLst>
          </p:cNvPr>
          <p:cNvCxnSpPr/>
          <p:nvPr/>
        </p:nvCxnSpPr>
        <p:spPr>
          <a:xfrm>
            <a:off x="594360" y="1751076"/>
            <a:ext cx="80010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F519240-F819-C087-212B-493B461DDD00}"/>
              </a:ext>
            </a:extLst>
          </p:cNvPr>
          <p:cNvGrpSpPr/>
          <p:nvPr/>
        </p:nvGrpSpPr>
        <p:grpSpPr>
          <a:xfrm>
            <a:off x="7915268" y="1540570"/>
            <a:ext cx="421012" cy="421012"/>
            <a:chOff x="7915268" y="1709734"/>
            <a:chExt cx="421012" cy="421012"/>
          </a:xfrm>
          <a:solidFill>
            <a:srgbClr val="00A896"/>
          </a:solidFill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F283C2B-8994-A7F0-A501-F16C693280F3}"/>
                </a:ext>
              </a:extLst>
            </p:cNvPr>
            <p:cNvSpPr/>
            <p:nvPr/>
          </p:nvSpPr>
          <p:spPr>
            <a:xfrm>
              <a:off x="7915268" y="1709734"/>
              <a:ext cx="421012" cy="421012"/>
            </a:xfrm>
            <a:prstGeom prst="ellipse">
              <a:avLst/>
            </a:prstGeom>
            <a:grpFill/>
            <a:ln>
              <a:solidFill>
                <a:srgbClr val="DDFF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1" name="그래픽 30" descr="체크리스트 단색으로 채워진">
              <a:extLst>
                <a:ext uri="{FF2B5EF4-FFF2-40B4-BE49-F238E27FC236}">
                  <a16:creationId xmlns:a16="http://schemas.microsoft.com/office/drawing/2014/main" id="{A4DE62A2-81D0-FC26-E85D-28CCE9B554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08727" y="1814530"/>
              <a:ext cx="234094" cy="234094"/>
            </a:xfrm>
            <a:prstGeom prst="rect">
              <a:avLst/>
            </a:prstGeom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610405D-552E-24A7-4B71-0CDA182EE1E4}"/>
              </a:ext>
            </a:extLst>
          </p:cNvPr>
          <p:cNvGrpSpPr/>
          <p:nvPr/>
        </p:nvGrpSpPr>
        <p:grpSpPr>
          <a:xfrm>
            <a:off x="6175368" y="1540570"/>
            <a:ext cx="421012" cy="421012"/>
            <a:chOff x="6141740" y="1709734"/>
            <a:chExt cx="421012" cy="42101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235701B-82CB-E367-E307-9CDD1E0D2FC1}"/>
                </a:ext>
              </a:extLst>
            </p:cNvPr>
            <p:cNvSpPr/>
            <p:nvPr/>
          </p:nvSpPr>
          <p:spPr>
            <a:xfrm>
              <a:off x="6141740" y="1709734"/>
              <a:ext cx="421012" cy="421012"/>
            </a:xfrm>
            <a:prstGeom prst="ellipse">
              <a:avLst/>
            </a:prstGeom>
            <a:solidFill>
              <a:srgbClr val="00A896"/>
            </a:solidFill>
            <a:ln>
              <a:solidFill>
                <a:srgbClr val="DDFF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" name="그래픽 32" descr="프로세서 단색으로 채워진">
              <a:extLst>
                <a:ext uri="{FF2B5EF4-FFF2-40B4-BE49-F238E27FC236}">
                  <a16:creationId xmlns:a16="http://schemas.microsoft.com/office/drawing/2014/main" id="{1D19D7B7-715F-6A23-16CD-643AF7D22B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1295" y="1796242"/>
              <a:ext cx="234094" cy="234094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7EDE1CE-3125-1D93-F8F8-05A9B69A0EDC}"/>
              </a:ext>
            </a:extLst>
          </p:cNvPr>
          <p:cNvGrpSpPr/>
          <p:nvPr/>
        </p:nvGrpSpPr>
        <p:grpSpPr>
          <a:xfrm>
            <a:off x="4435468" y="1538210"/>
            <a:ext cx="421012" cy="421012"/>
            <a:chOff x="4379782" y="1707374"/>
            <a:chExt cx="421012" cy="42101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C72D68D-BB0E-572F-2B0B-23B19CDCE738}"/>
                </a:ext>
              </a:extLst>
            </p:cNvPr>
            <p:cNvSpPr/>
            <p:nvPr/>
          </p:nvSpPr>
          <p:spPr>
            <a:xfrm>
              <a:off x="4379782" y="1707374"/>
              <a:ext cx="421012" cy="421012"/>
            </a:xfrm>
            <a:prstGeom prst="ellipse">
              <a:avLst/>
            </a:prstGeom>
            <a:solidFill>
              <a:srgbClr val="00A896"/>
            </a:solidFill>
            <a:ln>
              <a:solidFill>
                <a:srgbClr val="F63F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5" name="그래픽 34" descr="선글라스 윤곽선">
              <a:extLst>
                <a:ext uri="{FF2B5EF4-FFF2-40B4-BE49-F238E27FC236}">
                  <a16:creationId xmlns:a16="http://schemas.microsoft.com/office/drawing/2014/main" id="{631B1CE7-977D-59B1-FE69-2DEF24672B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45294" y="1788568"/>
              <a:ext cx="305776" cy="271486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F8DBF36-D3F4-F53E-1282-CE317C0671D9}"/>
              </a:ext>
            </a:extLst>
          </p:cNvPr>
          <p:cNvGrpSpPr/>
          <p:nvPr/>
        </p:nvGrpSpPr>
        <p:grpSpPr>
          <a:xfrm>
            <a:off x="2695568" y="1540570"/>
            <a:ext cx="421012" cy="421012"/>
            <a:chOff x="2717626" y="1709734"/>
            <a:chExt cx="421012" cy="42101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A425E38-308A-D85D-59BB-C85864C89191}"/>
                </a:ext>
              </a:extLst>
            </p:cNvPr>
            <p:cNvSpPr/>
            <p:nvPr/>
          </p:nvSpPr>
          <p:spPr>
            <a:xfrm>
              <a:off x="2717626" y="1709734"/>
              <a:ext cx="421012" cy="421012"/>
            </a:xfrm>
            <a:prstGeom prst="ellipse">
              <a:avLst/>
            </a:prstGeom>
            <a:solidFill>
              <a:srgbClr val="00A896"/>
            </a:solidFill>
            <a:ln>
              <a:solidFill>
                <a:srgbClr val="F63F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7" name="그래픽 36" descr="사원증 단색으로 채워진">
              <a:extLst>
                <a:ext uri="{FF2B5EF4-FFF2-40B4-BE49-F238E27FC236}">
                  <a16:creationId xmlns:a16="http://schemas.microsoft.com/office/drawing/2014/main" id="{960C522B-03E4-EC61-6C2D-C1D6993933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12749" y="1785649"/>
              <a:ext cx="234094" cy="234094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0B088F4-8C5C-F05A-FB30-B5B6CEEC13F8}"/>
              </a:ext>
            </a:extLst>
          </p:cNvPr>
          <p:cNvGrpSpPr/>
          <p:nvPr/>
        </p:nvGrpSpPr>
        <p:grpSpPr>
          <a:xfrm>
            <a:off x="955668" y="1540570"/>
            <a:ext cx="421012" cy="421012"/>
            <a:chOff x="955668" y="1709734"/>
            <a:chExt cx="421012" cy="42101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5D683A8-CE63-82EF-D1DF-AA61DA27493A}"/>
                </a:ext>
              </a:extLst>
            </p:cNvPr>
            <p:cNvSpPr/>
            <p:nvPr/>
          </p:nvSpPr>
          <p:spPr>
            <a:xfrm>
              <a:off x="955668" y="1709734"/>
              <a:ext cx="421012" cy="421012"/>
            </a:xfrm>
            <a:prstGeom prst="ellipse">
              <a:avLst/>
            </a:prstGeom>
            <a:solidFill>
              <a:srgbClr val="272F4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9" name="그래픽 38" descr="말풍선 단색으로 채워진">
              <a:extLst>
                <a:ext uri="{FF2B5EF4-FFF2-40B4-BE49-F238E27FC236}">
                  <a16:creationId xmlns:a16="http://schemas.microsoft.com/office/drawing/2014/main" id="{E1688958-7C5C-0E66-4CC2-72AC692F8E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9127" y="1811418"/>
              <a:ext cx="234094" cy="234094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8538C9D-2D40-8584-8B82-0778ADAA5D80}"/>
              </a:ext>
            </a:extLst>
          </p:cNvPr>
          <p:cNvSpPr txBox="1"/>
          <p:nvPr/>
        </p:nvSpPr>
        <p:spPr>
          <a:xfrm>
            <a:off x="857305" y="1985084"/>
            <a:ext cx="617737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1. </a:t>
            </a: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질의 입력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30165F-B0B2-E2C2-5939-CE2A1CDDA107}"/>
              </a:ext>
            </a:extLst>
          </p:cNvPr>
          <p:cNvSpPr txBox="1"/>
          <p:nvPr/>
        </p:nvSpPr>
        <p:spPr>
          <a:xfrm>
            <a:off x="2493986" y="1965055"/>
            <a:ext cx="824175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2. RBAC </a:t>
            </a: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검증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167F65-C951-4AA9-69C2-544C869E4E5A}"/>
              </a:ext>
            </a:extLst>
          </p:cNvPr>
          <p:cNvSpPr txBox="1"/>
          <p:nvPr/>
        </p:nvSpPr>
        <p:spPr>
          <a:xfrm>
            <a:off x="3955812" y="1965055"/>
            <a:ext cx="1479418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3. PII</a:t>
            </a: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마스킹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8F379B-D53E-080A-5F46-67040C32585D}"/>
              </a:ext>
            </a:extLst>
          </p:cNvPr>
          <p:cNvSpPr txBox="1"/>
          <p:nvPr/>
        </p:nvSpPr>
        <p:spPr>
          <a:xfrm>
            <a:off x="5989574" y="1978427"/>
            <a:ext cx="824175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4. </a:t>
            </a: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안전한 추론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397E4E-5534-EA19-5C20-8702D49CA4DD}"/>
              </a:ext>
            </a:extLst>
          </p:cNvPr>
          <p:cNvSpPr txBox="1"/>
          <p:nvPr/>
        </p:nvSpPr>
        <p:spPr>
          <a:xfrm>
            <a:off x="7737368" y="1984627"/>
            <a:ext cx="824175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5. </a:t>
            </a: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전수 감사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4E39C33E-D48F-9FDB-0039-752EB9EC3065}"/>
              </a:ext>
            </a:extLst>
          </p:cNvPr>
          <p:cNvSpPr/>
          <p:nvPr/>
        </p:nvSpPr>
        <p:spPr>
          <a:xfrm>
            <a:off x="2655887" y="1338652"/>
            <a:ext cx="500372" cy="147261"/>
          </a:xfrm>
          <a:prstGeom prst="roundRect">
            <a:avLst>
              <a:gd name="adj" fmla="val 39027"/>
            </a:avLst>
          </a:prstGeom>
          <a:solidFill>
            <a:srgbClr val="FFE4E6"/>
          </a:solidFill>
          <a:ln>
            <a:solidFill>
              <a:srgbClr val="E8A7B1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en-US" altLang="ko-KR" sz="600" dirty="0">
                <a:solidFill>
                  <a:srgbClr val="E11D48"/>
                </a:solidFill>
                <a:latin typeface="SUIT ExtraBold" pitchFamily="50" charset="-127"/>
                <a:ea typeface="SUIT ExtraBold" pitchFamily="50" charset="-127"/>
              </a:rPr>
              <a:t>SECURITY</a:t>
            </a:r>
            <a:endParaRPr lang="ko-KR" altLang="en-US" sz="600" dirty="0">
              <a:solidFill>
                <a:srgbClr val="E11D4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AD6FAF21-DAEB-1DAA-999F-C42D8FC02B2F}"/>
              </a:ext>
            </a:extLst>
          </p:cNvPr>
          <p:cNvSpPr/>
          <p:nvPr/>
        </p:nvSpPr>
        <p:spPr>
          <a:xfrm>
            <a:off x="4451804" y="1341784"/>
            <a:ext cx="382231" cy="147261"/>
          </a:xfrm>
          <a:prstGeom prst="roundRect">
            <a:avLst>
              <a:gd name="adj" fmla="val 39027"/>
            </a:avLst>
          </a:prstGeom>
          <a:solidFill>
            <a:srgbClr val="FFE4E6"/>
          </a:solidFill>
          <a:ln>
            <a:solidFill>
              <a:srgbClr val="E8A7B1"/>
            </a:solidFill>
          </a:ln>
        </p:spPr>
        <p:txBody>
          <a:bodyPr wrap="none" lIns="36000" tIns="10800" rIns="36000" bIns="10800">
            <a:spAutoFit/>
          </a:bodyPr>
          <a:lstStyle/>
          <a:p>
            <a:r>
              <a:rPr lang="en-US" altLang="ko-KR" sz="600" dirty="0">
                <a:solidFill>
                  <a:srgbClr val="E11D48"/>
                </a:solidFill>
                <a:latin typeface="SUIT ExtraBold" pitchFamily="50" charset="-127"/>
                <a:ea typeface="SUIT ExtraBold" pitchFamily="50" charset="-127"/>
              </a:rPr>
              <a:t>SHIELD</a:t>
            </a:r>
            <a:endParaRPr lang="ko-KR" altLang="en-US" sz="600" dirty="0">
              <a:solidFill>
                <a:srgbClr val="E11D4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305A64-D14E-CC4A-F69E-3F9E45A4F50E}"/>
              </a:ext>
            </a:extLst>
          </p:cNvPr>
          <p:cNvSpPr txBox="1"/>
          <p:nvPr/>
        </p:nvSpPr>
        <p:spPr>
          <a:xfrm>
            <a:off x="2559628" y="2121931"/>
            <a:ext cx="818638" cy="225057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사용자 부서</a:t>
            </a:r>
            <a:r>
              <a:rPr lang="en-US" altLang="ko-KR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·</a:t>
            </a:r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직급별</a:t>
            </a:r>
          </a:p>
          <a:p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인가 스킬</a:t>
            </a:r>
            <a:r>
              <a:rPr lang="en-US" altLang="ko-KR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/</a:t>
            </a:r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데이터 확인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8D9B6CB-4228-0D56-6808-5980AAF92571}"/>
              </a:ext>
            </a:extLst>
          </p:cNvPr>
          <p:cNvSpPr txBox="1"/>
          <p:nvPr/>
        </p:nvSpPr>
        <p:spPr>
          <a:xfrm>
            <a:off x="4264118" y="2133966"/>
            <a:ext cx="992481" cy="225057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사전 정의된 </a:t>
            </a:r>
            <a:r>
              <a:rPr lang="en-US" altLang="ko-KR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PII </a:t>
            </a:r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패턴 기반</a:t>
            </a:r>
          </a:p>
          <a:p>
            <a:r>
              <a:rPr lang="en-US" altLang="ko-KR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`***` </a:t>
            </a:r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비식별화 처리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FE2838-A65E-CDFE-6162-351B3FFCE6C5}"/>
              </a:ext>
            </a:extLst>
          </p:cNvPr>
          <p:cNvSpPr txBox="1"/>
          <p:nvPr/>
        </p:nvSpPr>
        <p:spPr>
          <a:xfrm>
            <a:off x="6012776" y="2131689"/>
            <a:ext cx="992481" cy="225057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검증을 통과한 데이터로만</a:t>
            </a:r>
          </a:p>
          <a:p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제한된 내부 런타임 실행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DBD689-3B47-F917-C953-E987D9C8932D}"/>
              </a:ext>
            </a:extLst>
          </p:cNvPr>
          <p:cNvSpPr txBox="1"/>
          <p:nvPr/>
        </p:nvSpPr>
        <p:spPr>
          <a:xfrm>
            <a:off x="7737368" y="2143761"/>
            <a:ext cx="992481" cy="225057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모든 트랜잭션</a:t>
            </a:r>
            <a:r>
              <a:rPr lang="en-US" altLang="ko-KR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(SQL, </a:t>
            </a:r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조회</a:t>
            </a:r>
            <a:r>
              <a:rPr lang="en-US" altLang="ko-KR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)</a:t>
            </a:r>
          </a:p>
          <a:p>
            <a:r>
              <a:rPr lang="en-US" altLang="ko-KR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100% </a:t>
            </a:r>
            <a:r>
              <a:rPr lang="ko-KR" altLang="en-US" sz="6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로깅 추적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4C3371C-5683-2078-B290-76A8D9033061}"/>
              </a:ext>
            </a:extLst>
          </p:cNvPr>
          <p:cNvSpPr/>
          <p:nvPr/>
        </p:nvSpPr>
        <p:spPr>
          <a:xfrm>
            <a:off x="237744" y="2580291"/>
            <a:ext cx="8712000" cy="684000"/>
          </a:xfrm>
          <a:prstGeom prst="roundRect">
            <a:avLst>
              <a:gd name="adj" fmla="val 10143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FE0BE8-1FCC-02D1-1819-11E508E42B78}"/>
              </a:ext>
            </a:extLst>
          </p:cNvPr>
          <p:cNvSpPr/>
          <p:nvPr/>
        </p:nvSpPr>
        <p:spPr>
          <a:xfrm>
            <a:off x="237744" y="3386155"/>
            <a:ext cx="8705088" cy="684000"/>
          </a:xfrm>
          <a:prstGeom prst="roundRect">
            <a:avLst>
              <a:gd name="adj" fmla="val 10143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E14578F-D2B8-8B6D-C88F-B318E0D55D5B}"/>
              </a:ext>
            </a:extLst>
          </p:cNvPr>
          <p:cNvSpPr/>
          <p:nvPr/>
        </p:nvSpPr>
        <p:spPr>
          <a:xfrm>
            <a:off x="237744" y="4192018"/>
            <a:ext cx="8705088" cy="684000"/>
          </a:xfrm>
          <a:prstGeom prst="roundRect">
            <a:avLst>
              <a:gd name="adj" fmla="val 10143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7EBFACB-AD0F-A096-8D94-0A5112EA2BE5}"/>
              </a:ext>
            </a:extLst>
          </p:cNvPr>
          <p:cNvSpPr/>
          <p:nvPr/>
        </p:nvSpPr>
        <p:spPr>
          <a:xfrm>
            <a:off x="406164" y="2750283"/>
            <a:ext cx="376392" cy="363396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283CAF3E-E038-0442-2AA9-AB774780A633}"/>
              </a:ext>
            </a:extLst>
          </p:cNvPr>
          <p:cNvSpPr/>
          <p:nvPr/>
        </p:nvSpPr>
        <p:spPr>
          <a:xfrm>
            <a:off x="406164" y="3549984"/>
            <a:ext cx="376392" cy="363396"/>
          </a:xfrm>
          <a:prstGeom prst="roundRect">
            <a:avLst>
              <a:gd name="adj" fmla="val 14302"/>
            </a:avLst>
          </a:prstGeom>
          <a:solidFill>
            <a:srgbClr val="FFE4E6"/>
          </a:solidFill>
          <a:ln>
            <a:solidFill>
              <a:srgbClr val="FDB7C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1B0121D5-1BE1-2F40-DF52-665E5BEC83A7}"/>
              </a:ext>
            </a:extLst>
          </p:cNvPr>
          <p:cNvSpPr/>
          <p:nvPr/>
        </p:nvSpPr>
        <p:spPr>
          <a:xfrm>
            <a:off x="406164" y="4349685"/>
            <a:ext cx="376392" cy="363396"/>
          </a:xfrm>
          <a:prstGeom prst="roundRect">
            <a:avLst>
              <a:gd name="adj" fmla="val 14302"/>
            </a:avLst>
          </a:prstGeom>
          <a:solidFill>
            <a:srgbClr val="FFE4E6"/>
          </a:solidFill>
          <a:ln>
            <a:solidFill>
              <a:srgbClr val="FDB7C0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그래픽 18" descr="형사 남성 단색으로 채워진">
            <a:extLst>
              <a:ext uri="{FF2B5EF4-FFF2-40B4-BE49-F238E27FC236}">
                <a16:creationId xmlns:a16="http://schemas.microsoft.com/office/drawing/2014/main" id="{82798C5F-B534-85E4-3167-6DA53ECE3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259" y="4388537"/>
            <a:ext cx="266304" cy="266304"/>
          </a:xfrm>
          <a:prstGeom prst="rect">
            <a:avLst/>
          </a:prstGeom>
        </p:spPr>
      </p:pic>
      <p:pic>
        <p:nvPicPr>
          <p:cNvPr id="21" name="그래픽 20" descr="사용자 단색으로 채워진">
            <a:extLst>
              <a:ext uri="{FF2B5EF4-FFF2-40B4-BE49-F238E27FC236}">
                <a16:creationId xmlns:a16="http://schemas.microsoft.com/office/drawing/2014/main" id="{8DEB21AF-C155-D981-6AB9-04659FEB93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5719" y="3577985"/>
            <a:ext cx="297281" cy="297281"/>
          </a:xfrm>
          <a:prstGeom prst="rect">
            <a:avLst/>
          </a:prstGeom>
        </p:spPr>
      </p:pic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75CAB032-A1A6-41BA-557D-ADECA9B9E0EB}"/>
              </a:ext>
            </a:extLst>
          </p:cNvPr>
          <p:cNvSpPr/>
          <p:nvPr/>
        </p:nvSpPr>
        <p:spPr>
          <a:xfrm rot="5400000">
            <a:off x="637589" y="3741645"/>
            <a:ext cx="113142" cy="122905"/>
          </a:xfrm>
          <a:custGeom>
            <a:avLst/>
            <a:gdLst>
              <a:gd name="csX0" fmla="*/ 50628 w 101256"/>
              <a:gd name="csY0" fmla="*/ 68455 h 101018"/>
              <a:gd name="csX1" fmla="*/ 32801 w 101256"/>
              <a:gd name="csY1" fmla="*/ 50628 h 101018"/>
              <a:gd name="csX2" fmla="*/ 50628 w 101256"/>
              <a:gd name="csY2" fmla="*/ 32801 h 101018"/>
              <a:gd name="csX3" fmla="*/ 68455 w 101256"/>
              <a:gd name="csY3" fmla="*/ 50628 h 101018"/>
              <a:gd name="csX4" fmla="*/ 50628 w 101256"/>
              <a:gd name="csY4" fmla="*/ 68455 h 101018"/>
              <a:gd name="csX5" fmla="*/ 50628 w 101256"/>
              <a:gd name="csY5" fmla="*/ 68455 h 101018"/>
              <a:gd name="csX6" fmla="*/ 86995 w 101256"/>
              <a:gd name="csY6" fmla="*/ 30187 h 101018"/>
              <a:gd name="csX7" fmla="*/ 90798 w 101256"/>
              <a:gd name="csY7" fmla="*/ 19015 h 101018"/>
              <a:gd name="csX8" fmla="*/ 82241 w 101256"/>
              <a:gd name="csY8" fmla="*/ 10458 h 101018"/>
              <a:gd name="csX9" fmla="*/ 71069 w 101256"/>
              <a:gd name="csY9" fmla="*/ 14261 h 101018"/>
              <a:gd name="csX10" fmla="*/ 61800 w 101256"/>
              <a:gd name="csY10" fmla="*/ 10458 h 101018"/>
              <a:gd name="csX11" fmla="*/ 56570 w 101256"/>
              <a:gd name="csY11" fmla="*/ 0 h 101018"/>
              <a:gd name="csX12" fmla="*/ 44686 w 101256"/>
              <a:gd name="csY12" fmla="*/ 0 h 101018"/>
              <a:gd name="csX13" fmla="*/ 39457 w 101256"/>
              <a:gd name="csY13" fmla="*/ 10458 h 101018"/>
              <a:gd name="csX14" fmla="*/ 30187 w 101256"/>
              <a:gd name="csY14" fmla="*/ 14261 h 101018"/>
              <a:gd name="csX15" fmla="*/ 19015 w 101256"/>
              <a:gd name="csY15" fmla="*/ 10458 h 101018"/>
              <a:gd name="csX16" fmla="*/ 10696 w 101256"/>
              <a:gd name="csY16" fmla="*/ 18778 h 101018"/>
              <a:gd name="csX17" fmla="*/ 14261 w 101256"/>
              <a:gd name="csY17" fmla="*/ 29949 h 101018"/>
              <a:gd name="csX18" fmla="*/ 10458 w 101256"/>
              <a:gd name="csY18" fmla="*/ 39219 h 101018"/>
              <a:gd name="csX19" fmla="*/ 0 w 101256"/>
              <a:gd name="csY19" fmla="*/ 44448 h 101018"/>
              <a:gd name="csX20" fmla="*/ 0 w 101256"/>
              <a:gd name="csY20" fmla="*/ 56333 h 101018"/>
              <a:gd name="csX21" fmla="*/ 10458 w 101256"/>
              <a:gd name="csY21" fmla="*/ 61562 h 101018"/>
              <a:gd name="csX22" fmla="*/ 14261 w 101256"/>
              <a:gd name="csY22" fmla="*/ 70832 h 101018"/>
              <a:gd name="csX23" fmla="*/ 10696 w 101256"/>
              <a:gd name="csY23" fmla="*/ 82003 h 101018"/>
              <a:gd name="csX24" fmla="*/ 19015 w 101256"/>
              <a:gd name="csY24" fmla="*/ 90322 h 101018"/>
              <a:gd name="csX25" fmla="*/ 30187 w 101256"/>
              <a:gd name="csY25" fmla="*/ 86757 h 101018"/>
              <a:gd name="csX26" fmla="*/ 39457 w 101256"/>
              <a:gd name="csY26" fmla="*/ 90560 h 101018"/>
              <a:gd name="csX27" fmla="*/ 44686 w 101256"/>
              <a:gd name="csY27" fmla="*/ 101019 h 101018"/>
              <a:gd name="csX28" fmla="*/ 56570 w 101256"/>
              <a:gd name="csY28" fmla="*/ 101019 h 101018"/>
              <a:gd name="csX29" fmla="*/ 61800 w 101256"/>
              <a:gd name="csY29" fmla="*/ 90560 h 101018"/>
              <a:gd name="csX30" fmla="*/ 71069 w 101256"/>
              <a:gd name="csY30" fmla="*/ 86757 h 101018"/>
              <a:gd name="csX31" fmla="*/ 82241 w 101256"/>
              <a:gd name="csY31" fmla="*/ 90560 h 101018"/>
              <a:gd name="csX32" fmla="*/ 90560 w 101256"/>
              <a:gd name="csY32" fmla="*/ 82003 h 101018"/>
              <a:gd name="csX33" fmla="*/ 86995 w 101256"/>
              <a:gd name="csY33" fmla="*/ 71070 h 101018"/>
              <a:gd name="csX34" fmla="*/ 90798 w 101256"/>
              <a:gd name="csY34" fmla="*/ 61800 h 101018"/>
              <a:gd name="csX35" fmla="*/ 101256 w 101256"/>
              <a:gd name="csY35" fmla="*/ 56570 h 101018"/>
              <a:gd name="csX36" fmla="*/ 101256 w 101256"/>
              <a:gd name="csY36" fmla="*/ 44686 h 101018"/>
              <a:gd name="csX37" fmla="*/ 90798 w 101256"/>
              <a:gd name="csY37" fmla="*/ 39457 h 101018"/>
              <a:gd name="csX38" fmla="*/ 86995 w 101256"/>
              <a:gd name="csY38" fmla="*/ 30187 h 101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101256" h="101018">
                <a:moveTo>
                  <a:pt x="50628" y="68455"/>
                </a:moveTo>
                <a:cubicBezTo>
                  <a:pt x="40645" y="68455"/>
                  <a:pt x="32801" y="60373"/>
                  <a:pt x="32801" y="50628"/>
                </a:cubicBezTo>
                <a:cubicBezTo>
                  <a:pt x="32801" y="40645"/>
                  <a:pt x="40883" y="32801"/>
                  <a:pt x="50628" y="32801"/>
                </a:cubicBezTo>
                <a:cubicBezTo>
                  <a:pt x="60611" y="32801"/>
                  <a:pt x="68455" y="40883"/>
                  <a:pt x="68455" y="50628"/>
                </a:cubicBezTo>
                <a:cubicBezTo>
                  <a:pt x="68455" y="60373"/>
                  <a:pt x="60611" y="68455"/>
                  <a:pt x="50628" y="68455"/>
                </a:cubicBezTo>
                <a:lnTo>
                  <a:pt x="50628" y="68455"/>
                </a:lnTo>
                <a:close/>
                <a:moveTo>
                  <a:pt x="86995" y="30187"/>
                </a:moveTo>
                <a:lnTo>
                  <a:pt x="90798" y="19015"/>
                </a:lnTo>
                <a:lnTo>
                  <a:pt x="82241" y="10458"/>
                </a:lnTo>
                <a:lnTo>
                  <a:pt x="71069" y="14261"/>
                </a:lnTo>
                <a:cubicBezTo>
                  <a:pt x="68217" y="12598"/>
                  <a:pt x="64890" y="11409"/>
                  <a:pt x="61800" y="10458"/>
                </a:cubicBezTo>
                <a:lnTo>
                  <a:pt x="56570" y="0"/>
                </a:lnTo>
                <a:lnTo>
                  <a:pt x="44686" y="0"/>
                </a:lnTo>
                <a:lnTo>
                  <a:pt x="39457" y="10458"/>
                </a:lnTo>
                <a:cubicBezTo>
                  <a:pt x="36129" y="11409"/>
                  <a:pt x="33039" y="12598"/>
                  <a:pt x="30187" y="14261"/>
                </a:cubicBezTo>
                <a:lnTo>
                  <a:pt x="19015" y="10458"/>
                </a:lnTo>
                <a:lnTo>
                  <a:pt x="10696" y="18778"/>
                </a:lnTo>
                <a:lnTo>
                  <a:pt x="14261" y="29949"/>
                </a:lnTo>
                <a:cubicBezTo>
                  <a:pt x="12598" y="32801"/>
                  <a:pt x="11409" y="36129"/>
                  <a:pt x="10458" y="39219"/>
                </a:cubicBezTo>
                <a:lnTo>
                  <a:pt x="0" y="44448"/>
                </a:lnTo>
                <a:lnTo>
                  <a:pt x="0" y="56333"/>
                </a:lnTo>
                <a:lnTo>
                  <a:pt x="10458" y="61562"/>
                </a:lnTo>
                <a:cubicBezTo>
                  <a:pt x="11409" y="64890"/>
                  <a:pt x="12598" y="67980"/>
                  <a:pt x="14261" y="70832"/>
                </a:cubicBezTo>
                <a:lnTo>
                  <a:pt x="10696" y="82003"/>
                </a:lnTo>
                <a:lnTo>
                  <a:pt x="19015" y="90322"/>
                </a:lnTo>
                <a:lnTo>
                  <a:pt x="30187" y="86757"/>
                </a:lnTo>
                <a:cubicBezTo>
                  <a:pt x="33039" y="88421"/>
                  <a:pt x="36129" y="89609"/>
                  <a:pt x="39457" y="90560"/>
                </a:cubicBezTo>
                <a:lnTo>
                  <a:pt x="44686" y="101019"/>
                </a:lnTo>
                <a:lnTo>
                  <a:pt x="56570" y="101019"/>
                </a:lnTo>
                <a:lnTo>
                  <a:pt x="61800" y="90560"/>
                </a:lnTo>
                <a:cubicBezTo>
                  <a:pt x="65127" y="89609"/>
                  <a:pt x="68217" y="88421"/>
                  <a:pt x="71069" y="86757"/>
                </a:cubicBezTo>
                <a:lnTo>
                  <a:pt x="82241" y="90560"/>
                </a:lnTo>
                <a:lnTo>
                  <a:pt x="90560" y="82003"/>
                </a:lnTo>
                <a:lnTo>
                  <a:pt x="86995" y="71070"/>
                </a:lnTo>
                <a:cubicBezTo>
                  <a:pt x="88659" y="68217"/>
                  <a:pt x="89847" y="65127"/>
                  <a:pt x="90798" y="61800"/>
                </a:cubicBezTo>
                <a:lnTo>
                  <a:pt x="101256" y="56570"/>
                </a:lnTo>
                <a:lnTo>
                  <a:pt x="101256" y="44686"/>
                </a:lnTo>
                <a:lnTo>
                  <a:pt x="90798" y="39457"/>
                </a:lnTo>
                <a:cubicBezTo>
                  <a:pt x="89847" y="36129"/>
                  <a:pt x="88659" y="33039"/>
                  <a:pt x="86995" y="30187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FFE4E6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그래픽 31" descr="서버 단색으로 채워진">
            <a:extLst>
              <a:ext uri="{FF2B5EF4-FFF2-40B4-BE49-F238E27FC236}">
                <a16:creationId xmlns:a16="http://schemas.microsoft.com/office/drawing/2014/main" id="{3D92769E-EB30-2386-9FDD-D8A0717695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47153"/>
          <a:stretch>
            <a:fillRect/>
          </a:stretch>
        </p:blipFill>
        <p:spPr>
          <a:xfrm rot="10800000">
            <a:off x="439939" y="2843343"/>
            <a:ext cx="321349" cy="2029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CC923AF-A9B7-7394-4752-9470AB02F0B3}"/>
              </a:ext>
            </a:extLst>
          </p:cNvPr>
          <p:cNvSpPr txBox="1"/>
          <p:nvPr/>
        </p:nvSpPr>
        <p:spPr>
          <a:xfrm>
            <a:off x="857305" y="2758359"/>
            <a:ext cx="1641098" cy="37856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인프라 보안 및 격리</a:t>
            </a:r>
            <a:b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</a:b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01. Infrastructure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ED92910-64B2-A96D-71E5-5D71604479C2}"/>
              </a:ext>
            </a:extLst>
          </p:cNvPr>
          <p:cNvSpPr txBox="1"/>
          <p:nvPr/>
        </p:nvSpPr>
        <p:spPr>
          <a:xfrm>
            <a:off x="857305" y="3572400"/>
            <a:ext cx="1641098" cy="37856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스킬 및 권한 통제</a:t>
            </a:r>
            <a:b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</a:b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02. Access Control(RBAC)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0CD394-D0B1-9A65-214B-C1833068DEEB}"/>
              </a:ext>
            </a:extLst>
          </p:cNvPr>
          <p:cNvSpPr txBox="1"/>
          <p:nvPr/>
        </p:nvSpPr>
        <p:spPr>
          <a:xfrm>
            <a:off x="857305" y="4364994"/>
            <a:ext cx="1641098" cy="37856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데이터 보호 및 감사</a:t>
            </a:r>
            <a:b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</a:b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03. Data Protection &amp; Audit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CA3CF2C-9303-B337-734E-1C2276C47D5B}"/>
              </a:ext>
            </a:extLst>
          </p:cNvPr>
          <p:cNvCxnSpPr>
            <a:cxnSpLocks/>
          </p:cNvCxnSpPr>
          <p:nvPr/>
        </p:nvCxnSpPr>
        <p:spPr>
          <a:xfrm flipV="1">
            <a:off x="2553856" y="2687320"/>
            <a:ext cx="0" cy="497840"/>
          </a:xfrm>
          <a:prstGeom prst="line">
            <a:avLst/>
          </a:prstGeom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712C6F30-27CC-F57C-D3F6-2C1E3FD847E6}"/>
              </a:ext>
            </a:extLst>
          </p:cNvPr>
          <p:cNvCxnSpPr>
            <a:cxnSpLocks/>
          </p:cNvCxnSpPr>
          <p:nvPr/>
        </p:nvCxnSpPr>
        <p:spPr>
          <a:xfrm flipV="1">
            <a:off x="2553856" y="3494035"/>
            <a:ext cx="0" cy="497840"/>
          </a:xfrm>
          <a:prstGeom prst="line">
            <a:avLst/>
          </a:prstGeom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782D838-3558-CC56-CF9F-0BB3675AA968}"/>
              </a:ext>
            </a:extLst>
          </p:cNvPr>
          <p:cNvCxnSpPr>
            <a:cxnSpLocks/>
          </p:cNvCxnSpPr>
          <p:nvPr/>
        </p:nvCxnSpPr>
        <p:spPr>
          <a:xfrm flipV="1">
            <a:off x="2553856" y="4300751"/>
            <a:ext cx="0" cy="497840"/>
          </a:xfrm>
          <a:prstGeom prst="line">
            <a:avLst/>
          </a:prstGeom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AEB9AD62-CBAF-B937-54C7-57986BA601E6}"/>
              </a:ext>
            </a:extLst>
          </p:cNvPr>
          <p:cNvSpPr txBox="1"/>
          <p:nvPr/>
        </p:nvSpPr>
        <p:spPr>
          <a:xfrm>
            <a:off x="2681944" y="2644169"/>
            <a:ext cx="6169448" cy="36009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외부망과 완전히 단절된 기업 내부 망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(Air-gapped)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또는 전용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VPC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환경에 시스템을 구축하여 외부 데이터 유출을 물리적으로 원천 차단합니다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외부 상용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API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연동 시에는 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익명화된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범용 데이터만 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라우팅되도록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철저히 통제합니다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CE8ABD3-4356-89F4-CD1C-A31E2A49EA42}"/>
              </a:ext>
            </a:extLst>
          </p:cNvPr>
          <p:cNvSpPr txBox="1"/>
          <p:nvPr/>
        </p:nvSpPr>
        <p:spPr>
          <a:xfrm>
            <a:off x="2695568" y="3510007"/>
            <a:ext cx="6169448" cy="36009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기존 사내 인사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/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조직 시스템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(SSO/AD)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과 연동하여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사용자의 직급과 소속 부서에 따라 사용할 수 있는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'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스킬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(Skill)'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과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'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열람 가능한 데이터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(Wiki Node/DB)'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의 범위를 실시간으로 엄격하게 통제합니다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94450A0-9532-0E22-F85F-A53B7CE8444D}"/>
              </a:ext>
            </a:extLst>
          </p:cNvPr>
          <p:cNvSpPr txBox="1"/>
          <p:nvPr/>
        </p:nvSpPr>
        <p:spPr>
          <a:xfrm>
            <a:off x="2652805" y="4246927"/>
            <a:ext cx="6169448" cy="36009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주민등록번호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전화번호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금융 계좌 등 사전에 정의된 민감 개인정보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(PII)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패턴을 기반으로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데이터가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LLM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으로 전송되기 전 완벽히 비식별화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(Sanitization)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처리됩니다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또한 누가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언제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어떤 질의를 했는지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100%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로깅합니다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4944D4F8-28E3-9933-B80E-4B9AAC799051}"/>
              </a:ext>
            </a:extLst>
          </p:cNvPr>
          <p:cNvSpPr/>
          <p:nvPr/>
        </p:nvSpPr>
        <p:spPr>
          <a:xfrm>
            <a:off x="2743045" y="3050652"/>
            <a:ext cx="826427" cy="143313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spAutoFit/>
          </a:bodyPr>
          <a:lstStyle/>
          <a:p>
            <a:pPr algn="ctr"/>
            <a:r>
              <a:rPr lang="ko-KR" altLang="ko-KR" sz="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On-Premise</a:t>
            </a:r>
            <a:r>
              <a:rPr lang="ko-KR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구축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DACDC032-32D0-0B4D-3BE7-30A662E49BF8}"/>
              </a:ext>
            </a:extLst>
          </p:cNvPr>
          <p:cNvSpPr/>
          <p:nvPr/>
        </p:nvSpPr>
        <p:spPr>
          <a:xfrm>
            <a:off x="3651598" y="3050652"/>
            <a:ext cx="1043922" cy="143313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spAutoFit/>
          </a:bodyPr>
          <a:lstStyle/>
          <a:p>
            <a:pPr algn="ctr"/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하이브리드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LLM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라우팅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D159F415-662F-D3EB-DDD4-98162B2099EA}"/>
              </a:ext>
            </a:extLst>
          </p:cNvPr>
          <p:cNvSpPr/>
          <p:nvPr/>
        </p:nvSpPr>
        <p:spPr>
          <a:xfrm>
            <a:off x="2743046" y="3892651"/>
            <a:ext cx="1622580" cy="143313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spAutoFit/>
          </a:bodyPr>
          <a:lstStyle/>
          <a:p>
            <a:pPr algn="ctr"/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마케팅팀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마케팅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ROI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분석 스킬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허용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D10C21C5-76F1-A1FC-56D6-1DFDE0FD2DC5}"/>
              </a:ext>
            </a:extLst>
          </p:cNvPr>
          <p:cNvSpPr/>
          <p:nvPr/>
        </p:nvSpPr>
        <p:spPr>
          <a:xfrm>
            <a:off x="4435467" y="3889326"/>
            <a:ext cx="1577309" cy="143313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FFE4E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spAutoFit/>
          </a:bodyPr>
          <a:lstStyle/>
          <a:p>
            <a:pPr algn="ctr"/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일반직원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임원용 재무 마트 스킬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차단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DA630973-2DEB-E58A-949C-3A3EF59CC4A0}"/>
              </a:ext>
            </a:extLst>
          </p:cNvPr>
          <p:cNvSpPr/>
          <p:nvPr/>
        </p:nvSpPr>
        <p:spPr>
          <a:xfrm>
            <a:off x="2697495" y="4657227"/>
            <a:ext cx="954103" cy="143313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spAutoFit/>
          </a:bodyPr>
          <a:lstStyle/>
          <a:p>
            <a:pPr algn="ctr"/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사전 정의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PII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마스킹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룰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60DEAD50-EA3B-70B6-CF84-EA1970E8431C}"/>
              </a:ext>
            </a:extLst>
          </p:cNvPr>
          <p:cNvSpPr/>
          <p:nvPr/>
        </p:nvSpPr>
        <p:spPr>
          <a:xfrm>
            <a:off x="3733048" y="4657227"/>
            <a:ext cx="1385052" cy="143313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spAutoFit/>
          </a:bodyPr>
          <a:lstStyle/>
          <a:p>
            <a:pPr algn="ctr"/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전수 트랜잭션 추적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(Audit Trail)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075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03.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활용 시나리오 및 기대 효과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Business Scenarios &amp; Value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3C720-E11A-5369-118B-9CC60A08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4">
            <a:extLst>
              <a:ext uri="{FF2B5EF4-FFF2-40B4-BE49-F238E27FC236}">
                <a16:creationId xmlns:a16="http://schemas.microsoft.com/office/drawing/2014/main" id="{BE4F3127-9D0D-87B0-5BF1-E6E9370FB6E6}"/>
              </a:ext>
            </a:extLst>
          </p:cNvPr>
          <p:cNvSpPr/>
          <p:nvPr/>
        </p:nvSpPr>
        <p:spPr>
          <a:xfrm rot="10800000">
            <a:off x="4701538" y="2400802"/>
            <a:ext cx="4201641" cy="766875"/>
          </a:xfrm>
          <a:prstGeom prst="roundRect">
            <a:avLst>
              <a:gd name="adj" fmla="val 12877"/>
            </a:avLst>
          </a:prstGeom>
          <a:gradFill rotWithShape="1">
            <a:gsLst>
              <a:gs pos="0">
                <a:srgbClr val="00D4C5"/>
              </a:gs>
              <a:gs pos="907">
                <a:srgbClr val="00D4C5"/>
              </a:gs>
              <a:gs pos="908">
                <a:srgbClr val="0F172A"/>
              </a:gs>
              <a:gs pos="100000">
                <a:srgbClr val="0F172A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3" name="Shape 4">
            <a:extLst>
              <a:ext uri="{FF2B5EF4-FFF2-40B4-BE49-F238E27FC236}">
                <a16:creationId xmlns:a16="http://schemas.microsoft.com/office/drawing/2014/main" id="{8661089C-83B9-A6E9-81E3-A62D167CC96C}"/>
              </a:ext>
            </a:extLst>
          </p:cNvPr>
          <p:cNvSpPr/>
          <p:nvPr/>
        </p:nvSpPr>
        <p:spPr>
          <a:xfrm rot="10800000">
            <a:off x="4698440" y="3224440"/>
            <a:ext cx="4201641" cy="766875"/>
          </a:xfrm>
          <a:prstGeom prst="roundRect">
            <a:avLst>
              <a:gd name="adj" fmla="val 12877"/>
            </a:avLst>
          </a:prstGeom>
          <a:gradFill rotWithShape="1">
            <a:gsLst>
              <a:gs pos="0">
                <a:srgbClr val="00D4C5"/>
              </a:gs>
              <a:gs pos="907">
                <a:srgbClr val="00D4C5"/>
              </a:gs>
              <a:gs pos="908">
                <a:srgbClr val="0F172A"/>
              </a:gs>
              <a:gs pos="100000">
                <a:srgbClr val="0F172A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5" name="Shape 4">
            <a:extLst>
              <a:ext uri="{FF2B5EF4-FFF2-40B4-BE49-F238E27FC236}">
                <a16:creationId xmlns:a16="http://schemas.microsoft.com/office/drawing/2014/main" id="{A0899031-2266-F4F7-6E0F-9B36702FDE7E}"/>
              </a:ext>
            </a:extLst>
          </p:cNvPr>
          <p:cNvSpPr/>
          <p:nvPr/>
        </p:nvSpPr>
        <p:spPr>
          <a:xfrm rot="10800000">
            <a:off x="4698440" y="4084782"/>
            <a:ext cx="4201641" cy="766875"/>
          </a:xfrm>
          <a:prstGeom prst="roundRect">
            <a:avLst>
              <a:gd name="adj" fmla="val 12877"/>
            </a:avLst>
          </a:prstGeom>
          <a:gradFill rotWithShape="1">
            <a:gsLst>
              <a:gs pos="0">
                <a:srgbClr val="00D4C5"/>
              </a:gs>
              <a:gs pos="907">
                <a:srgbClr val="00D4C5"/>
              </a:gs>
              <a:gs pos="908">
                <a:srgbClr val="0F172A"/>
              </a:gs>
              <a:gs pos="100000">
                <a:srgbClr val="0F172A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E9210936-F2B8-969C-62F4-0FB9666BF050}"/>
              </a:ext>
            </a:extLst>
          </p:cNvPr>
          <p:cNvSpPr txBox="1"/>
          <p:nvPr/>
        </p:nvSpPr>
        <p:spPr>
          <a:xfrm>
            <a:off x="4950751" y="4146580"/>
            <a:ext cx="3676009" cy="58438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     </a:t>
            </a:r>
            <a:r>
              <a:rPr lang="ko-KR" altLang="en-US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지능형 리포팅 자동화 </a:t>
            </a:r>
            <a:r>
              <a:rPr lang="en-US" altLang="ko-KR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(Insight to Action)</a:t>
            </a: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대화로 도출된 인사이트를 클릭 한 번에 </a:t>
            </a: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분석 보고서 생성</a:t>
            </a:r>
            <a:r>
              <a:rPr lang="ko-KR" altLang="en-US" sz="900" b="1" dirty="0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 </a:t>
            </a:r>
            <a:endParaRPr lang="en-US" altLang="ko-KR" sz="900" b="1" dirty="0">
              <a:solidFill>
                <a:schemeClr val="bg1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유저 대상 정기 메일</a:t>
            </a:r>
            <a:r>
              <a:rPr lang="en-US" altLang="ko-KR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메신저 자동 배포 및 스케줄링</a:t>
            </a:r>
            <a:r>
              <a:rPr lang="en-US" altLang="ko-KR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(</a:t>
            </a: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구독</a:t>
            </a:r>
            <a:r>
              <a:rPr lang="en-US" altLang="ko-KR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) </a:t>
            </a: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지원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C3706DBA-83F2-3E79-52D6-8F2561B9B0F9}"/>
              </a:ext>
            </a:extLst>
          </p:cNvPr>
          <p:cNvSpPr txBox="1"/>
          <p:nvPr/>
        </p:nvSpPr>
        <p:spPr>
          <a:xfrm>
            <a:off x="4950751" y="2465000"/>
            <a:ext cx="3676009" cy="58438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b="1" i="0" u="none" strike="noStrike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     AI </a:t>
            </a:r>
            <a:r>
              <a:rPr lang="ko-KR" altLang="en-US" sz="1000" b="1" i="0" u="none" strike="noStrike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기반 </a:t>
            </a:r>
            <a:r>
              <a:rPr lang="ko-KR" altLang="en-US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원인 자동 추론 </a:t>
            </a:r>
            <a:r>
              <a:rPr lang="en-US" altLang="ko-KR" sz="1000" b="1" i="0" u="none" strike="noStrike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(What + Why)</a:t>
            </a: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데이터 </a:t>
            </a:r>
            <a:r>
              <a:rPr lang="ko-KR" altLang="en-US" sz="900" b="1" dirty="0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이면의 핵심 원인</a:t>
            </a:r>
            <a:r>
              <a:rPr lang="en-US" altLang="ko-KR" sz="900" b="1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(Root-Cause)</a:t>
            </a:r>
            <a:r>
              <a:rPr lang="ko-KR" altLang="en-US" sz="900" b="1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을 </a:t>
            </a:r>
            <a:r>
              <a:rPr lang="ko-KR" altLang="en-US" sz="900" b="1" dirty="0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자연어로 브리핑</a:t>
            </a:r>
            <a:endParaRPr lang="en-US" altLang="ko-KR" sz="900" b="1">
              <a:solidFill>
                <a:schemeClr val="bg1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en-US" altLang="ko-KR" sz="900" b="1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"A</a:t>
            </a:r>
            <a:r>
              <a:rPr lang="ko-KR" altLang="en-US" sz="900" b="1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지점 </a:t>
            </a: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예산 축소와 단가 인상으로 </a:t>
            </a:r>
            <a:r>
              <a:rPr lang="en-US" altLang="ko-KR" sz="900" b="1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15% </a:t>
            </a:r>
            <a:r>
              <a:rPr lang="ko-KR" altLang="en-US" sz="900" b="1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하락</a:t>
            </a:r>
            <a:r>
              <a:rPr lang="en-US" altLang="ko-KR" sz="900" b="1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" </a:t>
            </a:r>
            <a:r>
              <a:rPr lang="ko-KR" altLang="en-US" sz="900" b="1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등 </a:t>
            </a: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즉각 설명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89A15F6-DC8A-DCD1-5CD9-CC1539726956}"/>
              </a:ext>
            </a:extLst>
          </p:cNvPr>
          <p:cNvSpPr txBox="1"/>
          <p:nvPr/>
        </p:nvSpPr>
        <p:spPr>
          <a:xfrm>
            <a:off x="4950751" y="3305790"/>
            <a:ext cx="3676009" cy="58438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     Zero-IT </a:t>
            </a:r>
            <a:r>
              <a:rPr lang="ko-KR" altLang="en-US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즉시 데이터 추출 </a:t>
            </a:r>
            <a:r>
              <a:rPr lang="en-US" altLang="ko-KR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(Real-time)</a:t>
            </a: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en-US" altLang="ko-KR" sz="900" b="1" dirty="0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IT </a:t>
            </a:r>
            <a:r>
              <a:rPr lang="ko-KR" altLang="en-US" sz="900" b="1" dirty="0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부서 개입 없이 권한 내에서 에이전트가 쿼리 자동 작성</a:t>
            </a:r>
            <a:endParaRPr lang="en-US" altLang="ko-KR" sz="900" b="1" dirty="0">
              <a:solidFill>
                <a:schemeClr val="bg1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즉각적인 데이터 연산 및 엑셀</a:t>
            </a:r>
            <a:r>
              <a:rPr lang="en-US" altLang="ko-KR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(CSV) </a:t>
            </a: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다운로드 실시간 제공</a:t>
            </a:r>
          </a:p>
        </p:txBody>
      </p:sp>
      <p:sp>
        <p:nvSpPr>
          <p:cNvPr id="230" name="사각형: 둥근 모서리 229">
            <a:extLst>
              <a:ext uri="{FF2B5EF4-FFF2-40B4-BE49-F238E27FC236}">
                <a16:creationId xmlns:a16="http://schemas.microsoft.com/office/drawing/2014/main" id="{92FF2FDF-36C1-49D4-AEC5-2F1179F198ED}"/>
              </a:ext>
            </a:extLst>
          </p:cNvPr>
          <p:cNvSpPr/>
          <p:nvPr/>
        </p:nvSpPr>
        <p:spPr>
          <a:xfrm>
            <a:off x="1327960" y="1540465"/>
            <a:ext cx="3263402" cy="766870"/>
          </a:xfrm>
          <a:prstGeom prst="roundRect">
            <a:avLst>
              <a:gd name="adj" fmla="val 10705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BCA6E27F-472A-FD42-B957-E35CEB98C20A}"/>
              </a:ext>
            </a:extLst>
          </p:cNvPr>
          <p:cNvSpPr txBox="1"/>
          <p:nvPr/>
        </p:nvSpPr>
        <p:spPr>
          <a:xfrm>
            <a:off x="1416158" y="1592821"/>
            <a:ext cx="3092342" cy="58438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    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고정된 화면의 제약 </a:t>
            </a: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(Pre-built)</a:t>
            </a: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사전 개발된 대시보드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, </a:t>
            </a:r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레포트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 내에서만 확인 가능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새로운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분석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차원 추가에 대한 한계 발생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F2C3B99-F480-B967-65CD-B25C3762661B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57F5AD5C-5F3F-D0B2-1668-507006D7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>
                <a:latin typeface="SUIT ExtraBold" pitchFamily="2" charset="-127"/>
                <a:ea typeface="SUIT ExtraBold" pitchFamily="2" charset="-127"/>
              </a:rPr>
              <a:t>업무 환경의 혁신 :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기존 시스템 </a:t>
            </a:r>
            <a:r>
              <a:rPr lang="ko-KR" altLang="ko-KR" b="0" dirty="0">
                <a:latin typeface="SUIT ExtraBold" pitchFamily="2" charset="-127"/>
                <a:ea typeface="SUIT ExtraBold" pitchFamily="2" charset="-127"/>
              </a:rPr>
              <a:t>한계 극복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8659548-E272-9893-5628-AE2871524B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98A2A3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03 ·  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8A2A3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Business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98A2A3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 Scenarios &amp; Value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EE06CF31-CCFC-3213-E0D6-5D273F034C94}"/>
              </a:ext>
            </a:extLst>
          </p:cNvPr>
          <p:cNvSpPr txBox="1"/>
          <p:nvPr/>
        </p:nvSpPr>
        <p:spPr>
          <a:xfrm>
            <a:off x="256032" y="647946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"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단순한 결과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(What)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조회를 넘어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원인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(Why)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분석부터 리포트 자동화까지 완벽한 패러다임 전환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"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을 이룹니다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기존 레거시 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BI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가 가진 파편화된 탐색 한계와 병목을 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aisight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에이전트가 어떻게 혁신하는지 대조합니다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</a:t>
            </a:r>
            <a:endParaRPr lang="ko-KR" altLang="en-US" sz="1100" dirty="0">
              <a:solidFill>
                <a:srgbClr val="334155"/>
              </a:solidFill>
              <a:latin typeface="+mn-ea"/>
              <a:ea typeface="+mn-ea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C6D6F9B-63FE-E3FD-1B1C-906D60FDD450}"/>
              </a:ext>
            </a:extLst>
          </p:cNvPr>
          <p:cNvSpPr/>
          <p:nvPr/>
        </p:nvSpPr>
        <p:spPr>
          <a:xfrm rot="10800000">
            <a:off x="4701538" y="1540460"/>
            <a:ext cx="4201641" cy="766875"/>
          </a:xfrm>
          <a:prstGeom prst="roundRect">
            <a:avLst>
              <a:gd name="adj" fmla="val 12877"/>
            </a:avLst>
          </a:prstGeom>
          <a:gradFill rotWithShape="1">
            <a:gsLst>
              <a:gs pos="0">
                <a:srgbClr val="00D4C5"/>
              </a:gs>
              <a:gs pos="907">
                <a:srgbClr val="00D4C5"/>
              </a:gs>
              <a:gs pos="908">
                <a:srgbClr val="0F172A"/>
              </a:gs>
              <a:gs pos="100000">
                <a:srgbClr val="0F172A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5F9FDB6-6513-2493-BC88-43FE5FC1EE38}"/>
              </a:ext>
            </a:extLst>
          </p:cNvPr>
          <p:cNvSpPr/>
          <p:nvPr/>
        </p:nvSpPr>
        <p:spPr>
          <a:xfrm>
            <a:off x="144780" y="1540464"/>
            <a:ext cx="1080562" cy="766872"/>
          </a:xfrm>
          <a:prstGeom prst="roundRect">
            <a:avLst>
              <a:gd name="adj" fmla="val 10182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AEAB1E5-F0B6-6462-2E8B-2CC9D51908E4}"/>
              </a:ext>
            </a:extLst>
          </p:cNvPr>
          <p:cNvGrpSpPr/>
          <p:nvPr/>
        </p:nvGrpSpPr>
        <p:grpSpPr>
          <a:xfrm>
            <a:off x="492775" y="1624973"/>
            <a:ext cx="416617" cy="417143"/>
            <a:chOff x="1005585" y="2172863"/>
            <a:chExt cx="235386" cy="235683"/>
          </a:xfrm>
          <a:solidFill>
            <a:schemeClr val="tx1"/>
          </a:solidFill>
        </p:grpSpPr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80DAE360-CC3D-169D-929D-94DF07E880BA}"/>
                </a:ext>
              </a:extLst>
            </p:cNvPr>
            <p:cNvSpPr/>
            <p:nvPr/>
          </p:nvSpPr>
          <p:spPr>
            <a:xfrm>
              <a:off x="1005585" y="2172863"/>
              <a:ext cx="235386" cy="235683"/>
            </a:xfrm>
            <a:custGeom>
              <a:avLst/>
              <a:gdLst>
                <a:gd name="csX0" fmla="*/ 192474 w 235386"/>
                <a:gd name="csY0" fmla="*/ 163023 h 235683"/>
                <a:gd name="csX1" fmla="*/ 174030 w 235386"/>
                <a:gd name="csY1" fmla="*/ 157371 h 235683"/>
                <a:gd name="csX2" fmla="*/ 160643 w 235386"/>
                <a:gd name="csY2" fmla="*/ 144282 h 235683"/>
                <a:gd name="csX3" fmla="*/ 179087 w 235386"/>
                <a:gd name="csY3" fmla="*/ 90139 h 235683"/>
                <a:gd name="csX4" fmla="*/ 89842 w 235386"/>
                <a:gd name="csY4" fmla="*/ 2 h 235683"/>
                <a:gd name="csX5" fmla="*/ 2 w 235386"/>
                <a:gd name="csY5" fmla="*/ 89247 h 235683"/>
                <a:gd name="csX6" fmla="*/ 89247 w 235386"/>
                <a:gd name="csY6" fmla="*/ 179087 h 235683"/>
                <a:gd name="csX7" fmla="*/ 143984 w 235386"/>
                <a:gd name="csY7" fmla="*/ 160643 h 235683"/>
                <a:gd name="csX8" fmla="*/ 157073 w 235386"/>
                <a:gd name="csY8" fmla="*/ 173733 h 235683"/>
                <a:gd name="csX9" fmla="*/ 162726 w 235386"/>
                <a:gd name="csY9" fmla="*/ 192474 h 235683"/>
                <a:gd name="csX10" fmla="*/ 199911 w 235386"/>
                <a:gd name="csY10" fmla="*/ 229660 h 235683"/>
                <a:gd name="csX11" fmla="*/ 229362 w 235386"/>
                <a:gd name="csY11" fmla="*/ 229660 h 235683"/>
                <a:gd name="csX12" fmla="*/ 229362 w 235386"/>
                <a:gd name="csY12" fmla="*/ 200209 h 235683"/>
                <a:gd name="csX13" fmla="*/ 192474 w 235386"/>
                <a:gd name="csY13" fmla="*/ 163023 h 235683"/>
                <a:gd name="csX14" fmla="*/ 89842 w 235386"/>
                <a:gd name="csY14" fmla="*/ 161238 h 235683"/>
                <a:gd name="csX15" fmla="*/ 18446 w 235386"/>
                <a:gd name="csY15" fmla="*/ 89842 h 235683"/>
                <a:gd name="csX16" fmla="*/ 89842 w 235386"/>
                <a:gd name="csY16" fmla="*/ 18446 h 235683"/>
                <a:gd name="csX17" fmla="*/ 161238 w 235386"/>
                <a:gd name="csY17" fmla="*/ 89842 h 235683"/>
                <a:gd name="csX18" fmla="*/ 89842 w 235386"/>
                <a:gd name="csY18" fmla="*/ 161238 h 235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35386" h="235683">
                  <a:moveTo>
                    <a:pt x="192474" y="163023"/>
                  </a:moveTo>
                  <a:cubicBezTo>
                    <a:pt x="187714" y="158263"/>
                    <a:pt x="180575" y="155883"/>
                    <a:pt x="174030" y="157371"/>
                  </a:cubicBezTo>
                  <a:lnTo>
                    <a:pt x="160643" y="144282"/>
                  </a:lnTo>
                  <a:cubicBezTo>
                    <a:pt x="172543" y="128812"/>
                    <a:pt x="179087" y="109773"/>
                    <a:pt x="179087" y="90139"/>
                  </a:cubicBezTo>
                  <a:cubicBezTo>
                    <a:pt x="179385" y="40460"/>
                    <a:pt x="139224" y="299"/>
                    <a:pt x="89842" y="2"/>
                  </a:cubicBezTo>
                  <a:cubicBezTo>
                    <a:pt x="40460" y="-296"/>
                    <a:pt x="299" y="39865"/>
                    <a:pt x="2" y="89247"/>
                  </a:cubicBezTo>
                  <a:cubicBezTo>
                    <a:pt x="-296" y="138629"/>
                    <a:pt x="39865" y="178790"/>
                    <a:pt x="89247" y="179087"/>
                  </a:cubicBezTo>
                  <a:cubicBezTo>
                    <a:pt x="108881" y="179087"/>
                    <a:pt x="128217" y="172543"/>
                    <a:pt x="143984" y="160643"/>
                  </a:cubicBezTo>
                  <a:lnTo>
                    <a:pt x="157073" y="173733"/>
                  </a:lnTo>
                  <a:cubicBezTo>
                    <a:pt x="155883" y="180575"/>
                    <a:pt x="157966" y="187417"/>
                    <a:pt x="162726" y="192474"/>
                  </a:cubicBezTo>
                  <a:lnTo>
                    <a:pt x="199911" y="229660"/>
                  </a:lnTo>
                  <a:cubicBezTo>
                    <a:pt x="207943" y="237692"/>
                    <a:pt x="221330" y="237692"/>
                    <a:pt x="229362" y="229660"/>
                  </a:cubicBezTo>
                  <a:cubicBezTo>
                    <a:pt x="237394" y="221628"/>
                    <a:pt x="237394" y="208241"/>
                    <a:pt x="229362" y="200209"/>
                  </a:cubicBezTo>
                  <a:lnTo>
                    <a:pt x="192474" y="163023"/>
                  </a:lnTo>
                  <a:close/>
                  <a:moveTo>
                    <a:pt x="89842" y="161238"/>
                  </a:moveTo>
                  <a:cubicBezTo>
                    <a:pt x="50277" y="161238"/>
                    <a:pt x="18446" y="129407"/>
                    <a:pt x="18446" y="89842"/>
                  </a:cubicBezTo>
                  <a:cubicBezTo>
                    <a:pt x="18446" y="50277"/>
                    <a:pt x="50277" y="18446"/>
                    <a:pt x="89842" y="18446"/>
                  </a:cubicBezTo>
                  <a:cubicBezTo>
                    <a:pt x="129407" y="18446"/>
                    <a:pt x="161238" y="50277"/>
                    <a:pt x="161238" y="89842"/>
                  </a:cubicBezTo>
                  <a:cubicBezTo>
                    <a:pt x="161238" y="129110"/>
                    <a:pt x="129110" y="161238"/>
                    <a:pt x="89842" y="161238"/>
                  </a:cubicBezTo>
                  <a:close/>
                </a:path>
              </a:pathLst>
            </a:custGeom>
            <a:grpFill/>
            <a:ln w="287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632A8DA-CDD4-48A2-BECB-ED50ED4371AC}"/>
                </a:ext>
              </a:extLst>
            </p:cNvPr>
            <p:cNvSpPr/>
            <p:nvPr/>
          </p:nvSpPr>
          <p:spPr>
            <a:xfrm>
              <a:off x="1072881" y="2258604"/>
              <a:ext cx="15755" cy="36012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F81B50B-34F6-64D6-C526-C435FC432CAD}"/>
                </a:ext>
              </a:extLst>
            </p:cNvPr>
            <p:cNvSpPr/>
            <p:nvPr/>
          </p:nvSpPr>
          <p:spPr>
            <a:xfrm>
              <a:off x="1093137" y="2238348"/>
              <a:ext cx="15755" cy="56268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F927D7C-7F94-998F-70A8-36AA0F69982C}"/>
                </a:ext>
              </a:extLst>
            </p:cNvPr>
            <p:cNvSpPr/>
            <p:nvPr/>
          </p:nvSpPr>
          <p:spPr>
            <a:xfrm>
              <a:off x="1113394" y="2218091"/>
              <a:ext cx="15755" cy="76525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01F1170-B0CA-A343-C48F-5B9F87255E8A}"/>
                </a:ext>
              </a:extLst>
            </p:cNvPr>
            <p:cNvSpPr/>
            <p:nvPr/>
          </p:nvSpPr>
          <p:spPr>
            <a:xfrm>
              <a:off x="1052624" y="2278861"/>
              <a:ext cx="15755" cy="15755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4" name="TextBox 213">
            <a:extLst>
              <a:ext uri="{FF2B5EF4-FFF2-40B4-BE49-F238E27FC236}">
                <a16:creationId xmlns:a16="http://schemas.microsoft.com/office/drawing/2014/main" id="{40A34C39-E3DB-B99F-88B3-259B9DE31435}"/>
              </a:ext>
            </a:extLst>
          </p:cNvPr>
          <p:cNvSpPr txBox="1"/>
          <p:nvPr/>
        </p:nvSpPr>
        <p:spPr>
          <a:xfrm>
            <a:off x="225579" y="2079978"/>
            <a:ext cx="96266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데이터 탐색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22" name="사각형: 둥근 모서리 221">
            <a:extLst>
              <a:ext uri="{FF2B5EF4-FFF2-40B4-BE49-F238E27FC236}">
                <a16:creationId xmlns:a16="http://schemas.microsoft.com/office/drawing/2014/main" id="{DD7D5D69-71B2-FF1B-0D5D-89121F6B1AB2}"/>
              </a:ext>
            </a:extLst>
          </p:cNvPr>
          <p:cNvSpPr/>
          <p:nvPr/>
        </p:nvSpPr>
        <p:spPr>
          <a:xfrm>
            <a:off x="144780" y="2393077"/>
            <a:ext cx="1080562" cy="766872"/>
          </a:xfrm>
          <a:prstGeom prst="roundRect">
            <a:avLst>
              <a:gd name="adj" fmla="val 10182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FF8B181A-B30F-6B4B-32F2-5A3F198C52AD}"/>
              </a:ext>
            </a:extLst>
          </p:cNvPr>
          <p:cNvSpPr/>
          <p:nvPr/>
        </p:nvSpPr>
        <p:spPr>
          <a:xfrm>
            <a:off x="135340" y="3230364"/>
            <a:ext cx="1080562" cy="766872"/>
          </a:xfrm>
          <a:prstGeom prst="roundRect">
            <a:avLst>
              <a:gd name="adj" fmla="val 10182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BEF4A8FF-2F0B-A998-F071-DF26CBD73556}"/>
              </a:ext>
            </a:extLst>
          </p:cNvPr>
          <p:cNvSpPr/>
          <p:nvPr/>
        </p:nvSpPr>
        <p:spPr>
          <a:xfrm>
            <a:off x="150651" y="4078143"/>
            <a:ext cx="1080562" cy="766872"/>
          </a:xfrm>
          <a:prstGeom prst="roundRect">
            <a:avLst>
              <a:gd name="adj" fmla="val 10182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A5731BC3-C944-7D18-44CB-EA5A74E829B7}"/>
              </a:ext>
            </a:extLst>
          </p:cNvPr>
          <p:cNvGrpSpPr/>
          <p:nvPr/>
        </p:nvGrpSpPr>
        <p:grpSpPr>
          <a:xfrm>
            <a:off x="453718" y="2514992"/>
            <a:ext cx="386009" cy="353874"/>
            <a:chOff x="1891724" y="3181554"/>
            <a:chExt cx="752474" cy="663984"/>
          </a:xfrm>
          <a:solidFill>
            <a:schemeClr val="tx1"/>
          </a:solidFill>
        </p:grpSpPr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D2579E11-D3C3-220F-23AE-36CBAF668632}"/>
                </a:ext>
              </a:extLst>
            </p:cNvPr>
            <p:cNvSpPr/>
            <p:nvPr/>
          </p:nvSpPr>
          <p:spPr>
            <a:xfrm>
              <a:off x="2348923" y="3199612"/>
              <a:ext cx="295275" cy="615894"/>
            </a:xfrm>
            <a:custGeom>
              <a:avLst/>
              <a:gdLst>
                <a:gd name="csX0" fmla="*/ 295275 w 295275"/>
                <a:gd name="csY0" fmla="*/ 388113 h 615894"/>
                <a:gd name="csX1" fmla="*/ 264557 w 295275"/>
                <a:gd name="csY1" fmla="*/ 315551 h 615894"/>
                <a:gd name="csX2" fmla="*/ 231570 w 295275"/>
                <a:gd name="csY2" fmla="*/ 182837 h 615894"/>
                <a:gd name="csX3" fmla="*/ 224438 w 295275"/>
                <a:gd name="csY3" fmla="*/ 178944 h 615894"/>
                <a:gd name="csX4" fmla="*/ 170618 w 295275"/>
                <a:gd name="csY4" fmla="*/ 79411 h 615894"/>
                <a:gd name="csX5" fmla="*/ 168450 w 295275"/>
                <a:gd name="csY5" fmla="*/ 78798 h 615894"/>
                <a:gd name="csX6" fmla="*/ 78795 w 295275"/>
                <a:gd name="csY6" fmla="*/ 184 h 615894"/>
                <a:gd name="csX7" fmla="*/ 0 w 295275"/>
                <a:gd name="csY7" fmla="*/ 84408 h 615894"/>
                <a:gd name="csX8" fmla="*/ 0 w 295275"/>
                <a:gd name="csY8" fmla="*/ 552628 h 615894"/>
                <a:gd name="csX9" fmla="*/ 63302 w 295275"/>
                <a:gd name="csY9" fmla="*/ 615894 h 615894"/>
                <a:gd name="csX10" fmla="*/ 123663 w 295275"/>
                <a:gd name="csY10" fmla="*/ 571564 h 615894"/>
                <a:gd name="csX11" fmla="*/ 234067 w 295275"/>
                <a:gd name="csY11" fmla="*/ 500879 h 615894"/>
                <a:gd name="csX12" fmla="*/ 236220 w 295275"/>
                <a:gd name="csY12" fmla="*/ 480915 h 615894"/>
                <a:gd name="csX13" fmla="*/ 236220 w 295275"/>
                <a:gd name="csY13" fmla="*/ 480076 h 615894"/>
                <a:gd name="csX14" fmla="*/ 295275 w 295275"/>
                <a:gd name="csY14" fmla="*/ 388113 h 6158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95275" h="615894">
                  <a:moveTo>
                    <a:pt x="295275" y="388113"/>
                  </a:moveTo>
                  <a:cubicBezTo>
                    <a:pt x="295294" y="360761"/>
                    <a:pt x="284208" y="334575"/>
                    <a:pt x="264557" y="315551"/>
                  </a:cubicBezTo>
                  <a:cubicBezTo>
                    <a:pt x="292096" y="269794"/>
                    <a:pt x="277327" y="210377"/>
                    <a:pt x="231570" y="182837"/>
                  </a:cubicBezTo>
                  <a:cubicBezTo>
                    <a:pt x="229249" y="181440"/>
                    <a:pt x="226868" y="180141"/>
                    <a:pt x="224438" y="178944"/>
                  </a:cubicBezTo>
                  <a:cubicBezTo>
                    <a:pt x="237061" y="136596"/>
                    <a:pt x="212966" y="92035"/>
                    <a:pt x="170618" y="79411"/>
                  </a:cubicBezTo>
                  <a:cubicBezTo>
                    <a:pt x="169898" y="79197"/>
                    <a:pt x="169175" y="78992"/>
                    <a:pt x="168450" y="78798"/>
                  </a:cubicBezTo>
                  <a:cubicBezTo>
                    <a:pt x="165401" y="32332"/>
                    <a:pt x="125260" y="-2865"/>
                    <a:pt x="78795" y="184"/>
                  </a:cubicBezTo>
                  <a:cubicBezTo>
                    <a:pt x="34433" y="3095"/>
                    <a:pt x="-48" y="39951"/>
                    <a:pt x="0" y="84408"/>
                  </a:cubicBezTo>
                  <a:lnTo>
                    <a:pt x="0" y="552628"/>
                  </a:lnTo>
                  <a:cubicBezTo>
                    <a:pt x="11" y="587579"/>
                    <a:pt x="28351" y="615904"/>
                    <a:pt x="63302" y="615894"/>
                  </a:cubicBezTo>
                  <a:cubicBezTo>
                    <a:pt x="90945" y="615886"/>
                    <a:pt x="115384" y="597938"/>
                    <a:pt x="123663" y="571564"/>
                  </a:cubicBezTo>
                  <a:cubicBezTo>
                    <a:pt x="173669" y="582532"/>
                    <a:pt x="223099" y="550885"/>
                    <a:pt x="234067" y="500879"/>
                  </a:cubicBezTo>
                  <a:cubicBezTo>
                    <a:pt x="235506" y="494322"/>
                    <a:pt x="236228" y="487628"/>
                    <a:pt x="236220" y="480915"/>
                  </a:cubicBezTo>
                  <a:cubicBezTo>
                    <a:pt x="236220" y="480638"/>
                    <a:pt x="236220" y="480362"/>
                    <a:pt x="236220" y="480076"/>
                  </a:cubicBezTo>
                  <a:cubicBezTo>
                    <a:pt x="272195" y="463608"/>
                    <a:pt x="295267" y="427677"/>
                    <a:pt x="295275" y="3881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92" name="자유형: 도형 191">
              <a:extLst>
                <a:ext uri="{FF2B5EF4-FFF2-40B4-BE49-F238E27FC236}">
                  <a16:creationId xmlns:a16="http://schemas.microsoft.com/office/drawing/2014/main" id="{06F50E5A-075E-D4FA-8B52-E82B8373CD9D}"/>
                </a:ext>
              </a:extLst>
            </p:cNvPr>
            <p:cNvSpPr/>
            <p:nvPr/>
          </p:nvSpPr>
          <p:spPr>
            <a:xfrm>
              <a:off x="2000732" y="3181554"/>
              <a:ext cx="78734" cy="78748"/>
            </a:xfrm>
            <a:custGeom>
              <a:avLst/>
              <a:gdLst>
                <a:gd name="csX0" fmla="*/ 59689 w 78734"/>
                <a:gd name="csY0" fmla="*/ 78749 h 78748"/>
                <a:gd name="csX1" fmla="*/ 46221 w 78734"/>
                <a:gd name="csY1" fmla="*/ 73167 h 78748"/>
                <a:gd name="csX2" fmla="*/ 5816 w 78734"/>
                <a:gd name="csY2" fmla="*/ 32752 h 78748"/>
                <a:gd name="csX3" fmla="*/ 5347 w 78734"/>
                <a:gd name="csY3" fmla="*/ 5816 h 78748"/>
                <a:gd name="csX4" fmla="*/ 32284 w 78734"/>
                <a:gd name="csY4" fmla="*/ 5347 h 78748"/>
                <a:gd name="csX5" fmla="*/ 32752 w 78734"/>
                <a:gd name="csY5" fmla="*/ 5816 h 78748"/>
                <a:gd name="csX6" fmla="*/ 73158 w 78734"/>
                <a:gd name="csY6" fmla="*/ 46230 h 78748"/>
                <a:gd name="csX7" fmla="*/ 73154 w 78734"/>
                <a:gd name="csY7" fmla="*/ 73171 h 78748"/>
                <a:gd name="csX8" fmla="*/ 59689 w 78734"/>
                <a:gd name="csY8" fmla="*/ 78749 h 78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8734" h="78748">
                  <a:moveTo>
                    <a:pt x="59689" y="78749"/>
                  </a:moveTo>
                  <a:cubicBezTo>
                    <a:pt x="54635" y="78756"/>
                    <a:pt x="49788" y="76747"/>
                    <a:pt x="46221" y="73167"/>
                  </a:cubicBezTo>
                  <a:lnTo>
                    <a:pt x="5816" y="32752"/>
                  </a:lnTo>
                  <a:cubicBezTo>
                    <a:pt x="-1752" y="25443"/>
                    <a:pt x="-1961" y="13383"/>
                    <a:pt x="5347" y="5816"/>
                  </a:cubicBezTo>
                  <a:cubicBezTo>
                    <a:pt x="12657" y="-1752"/>
                    <a:pt x="24716" y="-1961"/>
                    <a:pt x="32284" y="5347"/>
                  </a:cubicBezTo>
                  <a:cubicBezTo>
                    <a:pt x="32443" y="5500"/>
                    <a:pt x="32599" y="5657"/>
                    <a:pt x="32752" y="5816"/>
                  </a:cubicBezTo>
                  <a:lnTo>
                    <a:pt x="73158" y="46230"/>
                  </a:lnTo>
                  <a:cubicBezTo>
                    <a:pt x="80596" y="53671"/>
                    <a:pt x="80594" y="65733"/>
                    <a:pt x="73154" y="73171"/>
                  </a:cubicBezTo>
                  <a:cubicBezTo>
                    <a:pt x="69582" y="76742"/>
                    <a:pt x="64739" y="78748"/>
                    <a:pt x="59689" y="787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3" name="자유형: 도형 192">
              <a:extLst>
                <a:ext uri="{FF2B5EF4-FFF2-40B4-BE49-F238E27FC236}">
                  <a16:creationId xmlns:a16="http://schemas.microsoft.com/office/drawing/2014/main" id="{194856E5-0CC6-BB33-B45C-448BCA59DDAC}"/>
                </a:ext>
              </a:extLst>
            </p:cNvPr>
            <p:cNvSpPr/>
            <p:nvPr/>
          </p:nvSpPr>
          <p:spPr>
            <a:xfrm>
              <a:off x="1916016" y="3324853"/>
              <a:ext cx="97727" cy="63313"/>
            </a:xfrm>
            <a:custGeom>
              <a:avLst/>
              <a:gdLst>
                <a:gd name="csX0" fmla="*/ 78664 w 97727"/>
                <a:gd name="csY0" fmla="*/ 63313 h 63313"/>
                <a:gd name="csX1" fmla="*/ 71244 w 97727"/>
                <a:gd name="csY1" fmla="*/ 61808 h 63313"/>
                <a:gd name="csX2" fmla="*/ 11512 w 97727"/>
                <a:gd name="csY2" fmla="*/ 36548 h 63313"/>
                <a:gd name="csX3" fmla="*/ 1562 w 97727"/>
                <a:gd name="csY3" fmla="*/ 11513 h 63313"/>
                <a:gd name="csX4" fmla="*/ 26352 w 97727"/>
                <a:gd name="csY4" fmla="*/ 1458 h 63313"/>
                <a:gd name="csX5" fmla="*/ 86093 w 97727"/>
                <a:gd name="csY5" fmla="*/ 26718 h 63313"/>
                <a:gd name="csX6" fmla="*/ 96217 w 97727"/>
                <a:gd name="csY6" fmla="*/ 51684 h 63313"/>
                <a:gd name="csX7" fmla="*/ 78664 w 97727"/>
                <a:gd name="csY7" fmla="*/ 63313 h 63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727" h="63313">
                  <a:moveTo>
                    <a:pt x="78664" y="63313"/>
                  </a:moveTo>
                  <a:cubicBezTo>
                    <a:pt x="76115" y="63315"/>
                    <a:pt x="73591" y="62804"/>
                    <a:pt x="71244" y="61808"/>
                  </a:cubicBezTo>
                  <a:lnTo>
                    <a:pt x="11512" y="36548"/>
                  </a:lnTo>
                  <a:cubicBezTo>
                    <a:pt x="1851" y="32383"/>
                    <a:pt x="-2604" y="21174"/>
                    <a:pt x="1562" y="11513"/>
                  </a:cubicBezTo>
                  <a:cubicBezTo>
                    <a:pt x="5686" y="1947"/>
                    <a:pt x="16730" y="-2533"/>
                    <a:pt x="26352" y="1458"/>
                  </a:cubicBezTo>
                  <a:lnTo>
                    <a:pt x="86093" y="26718"/>
                  </a:lnTo>
                  <a:cubicBezTo>
                    <a:pt x="95783" y="30817"/>
                    <a:pt x="100316" y="41994"/>
                    <a:pt x="96217" y="51684"/>
                  </a:cubicBezTo>
                  <a:cubicBezTo>
                    <a:pt x="93234" y="58736"/>
                    <a:pt x="86320" y="63317"/>
                    <a:pt x="78664" y="633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" name="자유형: 도형 193">
              <a:extLst>
                <a:ext uri="{FF2B5EF4-FFF2-40B4-BE49-F238E27FC236}">
                  <a16:creationId xmlns:a16="http://schemas.microsoft.com/office/drawing/2014/main" id="{5EF4A5C9-9296-0B03-FBEF-78189FC818B5}"/>
                </a:ext>
              </a:extLst>
            </p:cNvPr>
            <p:cNvSpPr/>
            <p:nvPr/>
          </p:nvSpPr>
          <p:spPr>
            <a:xfrm>
              <a:off x="1891724" y="3491665"/>
              <a:ext cx="90849" cy="38100"/>
            </a:xfrm>
            <a:custGeom>
              <a:avLst/>
              <a:gdLst>
                <a:gd name="csX0" fmla="*/ 71799 w 90849"/>
                <a:gd name="csY0" fmla="*/ 38100 h 38100"/>
                <a:gd name="csX1" fmla="*/ 19050 w 90849"/>
                <a:gd name="csY1" fmla="*/ 38100 h 38100"/>
                <a:gd name="csX2" fmla="*/ 0 w 90849"/>
                <a:gd name="csY2" fmla="*/ 19050 h 38100"/>
                <a:gd name="csX3" fmla="*/ 19050 w 90849"/>
                <a:gd name="csY3" fmla="*/ 0 h 38100"/>
                <a:gd name="csX4" fmla="*/ 71799 w 90849"/>
                <a:gd name="csY4" fmla="*/ 0 h 38100"/>
                <a:gd name="csX5" fmla="*/ 90849 w 90849"/>
                <a:gd name="csY5" fmla="*/ 19050 h 38100"/>
                <a:gd name="csX6" fmla="*/ 71799 w 90849"/>
                <a:gd name="csY6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0849" h="38100">
                  <a:moveTo>
                    <a:pt x="71799" y="38100"/>
                  </a:move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lnTo>
                    <a:pt x="71799" y="0"/>
                  </a:lnTo>
                  <a:cubicBezTo>
                    <a:pt x="82321" y="0"/>
                    <a:pt x="90849" y="8529"/>
                    <a:pt x="90849" y="19050"/>
                  </a:cubicBezTo>
                  <a:cubicBezTo>
                    <a:pt x="90849" y="29571"/>
                    <a:pt x="82321" y="38100"/>
                    <a:pt x="71799" y="38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5" name="자유형: 도형 194">
              <a:extLst>
                <a:ext uri="{FF2B5EF4-FFF2-40B4-BE49-F238E27FC236}">
                  <a16:creationId xmlns:a16="http://schemas.microsoft.com/office/drawing/2014/main" id="{D037FB30-8941-BF91-CC87-CAEB92B605FE}"/>
                </a:ext>
              </a:extLst>
            </p:cNvPr>
            <p:cNvSpPr/>
            <p:nvPr/>
          </p:nvSpPr>
          <p:spPr>
            <a:xfrm>
              <a:off x="1901279" y="3641479"/>
              <a:ext cx="88685" cy="61203"/>
            </a:xfrm>
            <a:custGeom>
              <a:avLst/>
              <a:gdLst>
                <a:gd name="csX0" fmla="*/ 19077 w 88685"/>
                <a:gd name="csY0" fmla="*/ 61203 h 61203"/>
                <a:gd name="csX1" fmla="*/ 0 w 88685"/>
                <a:gd name="csY1" fmla="*/ 42180 h 61203"/>
                <a:gd name="csX2" fmla="*/ 11152 w 88685"/>
                <a:gd name="csY2" fmla="*/ 24818 h 61203"/>
                <a:gd name="csX3" fmla="*/ 61710 w 88685"/>
                <a:gd name="csY3" fmla="*/ 1729 h 61203"/>
                <a:gd name="csX4" fmla="*/ 86957 w 88685"/>
                <a:gd name="csY4" fmla="*/ 11135 h 61203"/>
                <a:gd name="csX5" fmla="*/ 77551 w 88685"/>
                <a:gd name="csY5" fmla="*/ 36381 h 61203"/>
                <a:gd name="csX6" fmla="*/ 26982 w 88685"/>
                <a:gd name="csY6" fmla="*/ 59479 h 61203"/>
                <a:gd name="csX7" fmla="*/ 19077 w 88685"/>
                <a:gd name="csY7" fmla="*/ 61203 h 61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88685" h="61203">
                  <a:moveTo>
                    <a:pt x="19077" y="61203"/>
                  </a:moveTo>
                  <a:cubicBezTo>
                    <a:pt x="8556" y="61217"/>
                    <a:pt x="15" y="52701"/>
                    <a:pt x="0" y="42180"/>
                  </a:cubicBezTo>
                  <a:cubicBezTo>
                    <a:pt x="-10" y="34705"/>
                    <a:pt x="4351" y="27916"/>
                    <a:pt x="11152" y="24818"/>
                  </a:cubicBezTo>
                  <a:lnTo>
                    <a:pt x="61710" y="1729"/>
                  </a:lnTo>
                  <a:cubicBezTo>
                    <a:pt x="71279" y="-2645"/>
                    <a:pt x="82583" y="1566"/>
                    <a:pt x="86957" y="11135"/>
                  </a:cubicBezTo>
                  <a:cubicBezTo>
                    <a:pt x="91330" y="20704"/>
                    <a:pt x="87119" y="32007"/>
                    <a:pt x="77551" y="36381"/>
                  </a:cubicBezTo>
                  <a:lnTo>
                    <a:pt x="26982" y="59479"/>
                  </a:lnTo>
                  <a:cubicBezTo>
                    <a:pt x="24501" y="60613"/>
                    <a:pt x="21805" y="61201"/>
                    <a:pt x="19077" y="6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6" name="자유형: 도형 195">
              <a:extLst>
                <a:ext uri="{FF2B5EF4-FFF2-40B4-BE49-F238E27FC236}">
                  <a16:creationId xmlns:a16="http://schemas.microsoft.com/office/drawing/2014/main" id="{7BD32946-6AF8-CC86-0FF3-6C3CDAF16A4C}"/>
                </a:ext>
              </a:extLst>
            </p:cNvPr>
            <p:cNvSpPr/>
            <p:nvPr/>
          </p:nvSpPr>
          <p:spPr>
            <a:xfrm>
              <a:off x="1995035" y="3767525"/>
              <a:ext cx="78003" cy="78013"/>
            </a:xfrm>
            <a:custGeom>
              <a:avLst/>
              <a:gdLst>
                <a:gd name="csX0" fmla="*/ 19056 w 78003"/>
                <a:gd name="csY0" fmla="*/ 78013 h 78013"/>
                <a:gd name="csX1" fmla="*/ 0 w 78003"/>
                <a:gd name="csY1" fmla="*/ 58969 h 78013"/>
                <a:gd name="csX2" fmla="*/ 5587 w 78003"/>
                <a:gd name="csY2" fmla="*/ 45485 h 78013"/>
                <a:gd name="csX3" fmla="*/ 46002 w 78003"/>
                <a:gd name="csY3" fmla="*/ 5080 h 78013"/>
                <a:gd name="csX4" fmla="*/ 72923 w 78003"/>
                <a:gd name="csY4" fmla="*/ 6099 h 78013"/>
                <a:gd name="csX5" fmla="*/ 72901 w 78003"/>
                <a:gd name="csY5" fmla="*/ 32027 h 78013"/>
                <a:gd name="csX6" fmla="*/ 32524 w 78003"/>
                <a:gd name="csY6" fmla="*/ 72441 h 78013"/>
                <a:gd name="csX7" fmla="*/ 19056 w 78003"/>
                <a:gd name="csY7" fmla="*/ 78013 h 78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003" h="78013">
                  <a:moveTo>
                    <a:pt x="19056" y="78013"/>
                  </a:moveTo>
                  <a:cubicBezTo>
                    <a:pt x="8534" y="78016"/>
                    <a:pt x="3" y="69489"/>
                    <a:pt x="0" y="58969"/>
                  </a:cubicBezTo>
                  <a:cubicBezTo>
                    <a:pt x="-1" y="53911"/>
                    <a:pt x="2009" y="49060"/>
                    <a:pt x="5587" y="45485"/>
                  </a:cubicBezTo>
                  <a:lnTo>
                    <a:pt x="46002" y="5080"/>
                  </a:lnTo>
                  <a:cubicBezTo>
                    <a:pt x="53717" y="-2073"/>
                    <a:pt x="65770" y="-1617"/>
                    <a:pt x="72923" y="6099"/>
                  </a:cubicBezTo>
                  <a:cubicBezTo>
                    <a:pt x="79706" y="13414"/>
                    <a:pt x="79696" y="24723"/>
                    <a:pt x="72901" y="32027"/>
                  </a:cubicBezTo>
                  <a:lnTo>
                    <a:pt x="32524" y="72441"/>
                  </a:lnTo>
                  <a:cubicBezTo>
                    <a:pt x="28954" y="76016"/>
                    <a:pt x="24108" y="78021"/>
                    <a:pt x="19056" y="780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7" name="자유형: 도형 196">
              <a:extLst>
                <a:ext uri="{FF2B5EF4-FFF2-40B4-BE49-F238E27FC236}">
                  <a16:creationId xmlns:a16="http://schemas.microsoft.com/office/drawing/2014/main" id="{55989AEC-40C8-5600-7D35-F17F95CCDFAC}"/>
                </a:ext>
              </a:extLst>
            </p:cNvPr>
            <p:cNvSpPr/>
            <p:nvPr/>
          </p:nvSpPr>
          <p:spPr>
            <a:xfrm>
              <a:off x="2119494" y="3362325"/>
              <a:ext cx="163706" cy="163713"/>
            </a:xfrm>
            <a:custGeom>
              <a:avLst/>
              <a:gdLst>
                <a:gd name="csX0" fmla="*/ 17603 w 49428"/>
                <a:gd name="csY0" fmla="*/ 1054 h 49430"/>
                <a:gd name="csX1" fmla="*/ 1052 w 49428"/>
                <a:gd name="csY1" fmla="*/ 31829 h 49430"/>
                <a:gd name="csX2" fmla="*/ 31826 w 49428"/>
                <a:gd name="csY2" fmla="*/ 48378 h 49430"/>
                <a:gd name="csX3" fmla="*/ 48378 w 49428"/>
                <a:gd name="csY3" fmla="*/ 17609 h 49430"/>
                <a:gd name="csX4" fmla="*/ 17624 w 49428"/>
                <a:gd name="csY4" fmla="*/ 1048 h 49430"/>
                <a:gd name="csX5" fmla="*/ 17603 w 49428"/>
                <a:gd name="csY5" fmla="*/ 1054 h 4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9428" h="49430">
                  <a:moveTo>
                    <a:pt x="17603" y="1054"/>
                  </a:moveTo>
                  <a:cubicBezTo>
                    <a:pt x="4534" y="4982"/>
                    <a:pt x="-2875" y="18760"/>
                    <a:pt x="1052" y="31829"/>
                  </a:cubicBezTo>
                  <a:cubicBezTo>
                    <a:pt x="4980" y="44897"/>
                    <a:pt x="18758" y="52306"/>
                    <a:pt x="31826" y="48378"/>
                  </a:cubicBezTo>
                  <a:cubicBezTo>
                    <a:pt x="44893" y="44451"/>
                    <a:pt x="52303" y="30676"/>
                    <a:pt x="48378" y="17609"/>
                  </a:cubicBezTo>
                  <a:cubicBezTo>
                    <a:pt x="44459" y="4543"/>
                    <a:pt x="30690" y="-2871"/>
                    <a:pt x="17624" y="1048"/>
                  </a:cubicBezTo>
                  <a:cubicBezTo>
                    <a:pt x="17618" y="1050"/>
                    <a:pt x="17610" y="1052"/>
                    <a:pt x="17603" y="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8" name="자유형: 도형 197">
              <a:extLst>
                <a:ext uri="{FF2B5EF4-FFF2-40B4-BE49-F238E27FC236}">
                  <a16:creationId xmlns:a16="http://schemas.microsoft.com/office/drawing/2014/main" id="{495FA067-AB23-6049-E844-C610A39E3451}"/>
                </a:ext>
              </a:extLst>
            </p:cNvPr>
            <p:cNvSpPr/>
            <p:nvPr/>
          </p:nvSpPr>
          <p:spPr>
            <a:xfrm>
              <a:off x="2133572" y="3555391"/>
              <a:ext cx="49428" cy="49430"/>
            </a:xfrm>
            <a:custGeom>
              <a:avLst/>
              <a:gdLst>
                <a:gd name="csX0" fmla="*/ 17603 w 49428"/>
                <a:gd name="csY0" fmla="*/ 1054 h 49430"/>
                <a:gd name="csX1" fmla="*/ 1052 w 49428"/>
                <a:gd name="csY1" fmla="*/ 31829 h 49430"/>
                <a:gd name="csX2" fmla="*/ 31826 w 49428"/>
                <a:gd name="csY2" fmla="*/ 48378 h 49430"/>
                <a:gd name="csX3" fmla="*/ 48378 w 49428"/>
                <a:gd name="csY3" fmla="*/ 17609 h 49430"/>
                <a:gd name="csX4" fmla="*/ 17624 w 49428"/>
                <a:gd name="csY4" fmla="*/ 1048 h 49430"/>
                <a:gd name="csX5" fmla="*/ 17603 w 49428"/>
                <a:gd name="csY5" fmla="*/ 1054 h 4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9428" h="49430">
                  <a:moveTo>
                    <a:pt x="17603" y="1054"/>
                  </a:moveTo>
                  <a:cubicBezTo>
                    <a:pt x="4534" y="4982"/>
                    <a:pt x="-2875" y="18760"/>
                    <a:pt x="1052" y="31829"/>
                  </a:cubicBezTo>
                  <a:cubicBezTo>
                    <a:pt x="4980" y="44897"/>
                    <a:pt x="18758" y="52306"/>
                    <a:pt x="31826" y="48378"/>
                  </a:cubicBezTo>
                  <a:cubicBezTo>
                    <a:pt x="44893" y="44451"/>
                    <a:pt x="52303" y="30676"/>
                    <a:pt x="48378" y="17609"/>
                  </a:cubicBezTo>
                  <a:cubicBezTo>
                    <a:pt x="44459" y="4543"/>
                    <a:pt x="30690" y="-2871"/>
                    <a:pt x="17624" y="1048"/>
                  </a:cubicBezTo>
                  <a:cubicBezTo>
                    <a:pt x="17618" y="1050"/>
                    <a:pt x="17610" y="1052"/>
                    <a:pt x="17603" y="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9" name="자유형: 도형 198">
              <a:extLst>
                <a:ext uri="{FF2B5EF4-FFF2-40B4-BE49-F238E27FC236}">
                  <a16:creationId xmlns:a16="http://schemas.microsoft.com/office/drawing/2014/main" id="{3BB9072F-E0CB-03FE-4331-11B0CA7599D8}"/>
                </a:ext>
              </a:extLst>
            </p:cNvPr>
            <p:cNvSpPr/>
            <p:nvPr/>
          </p:nvSpPr>
          <p:spPr>
            <a:xfrm>
              <a:off x="2015552" y="3199648"/>
              <a:ext cx="295271" cy="615747"/>
            </a:xfrm>
            <a:custGeom>
              <a:avLst/>
              <a:gdLst>
                <a:gd name="csX0" fmla="*/ 210909 w 295271"/>
                <a:gd name="csY0" fmla="*/ 0 h 615747"/>
                <a:gd name="csX1" fmla="*/ 126832 w 295271"/>
                <a:gd name="csY1" fmla="*/ 78753 h 615747"/>
                <a:gd name="csX2" fmla="*/ 70216 w 295271"/>
                <a:gd name="csY2" fmla="*/ 176721 h 615747"/>
                <a:gd name="csX3" fmla="*/ 70834 w 295271"/>
                <a:gd name="csY3" fmla="*/ 178908 h 615747"/>
                <a:gd name="csX4" fmla="*/ 26813 w 295271"/>
                <a:gd name="csY4" fmla="*/ 308352 h 615747"/>
                <a:gd name="csX5" fmla="*/ 30724 w 295271"/>
                <a:gd name="csY5" fmla="*/ 315516 h 615747"/>
                <a:gd name="csX6" fmla="*/ 28503 w 295271"/>
                <a:gd name="csY6" fmla="*/ 458446 h 615747"/>
                <a:gd name="csX7" fmla="*/ 59099 w 295271"/>
                <a:gd name="csY7" fmla="*/ 480041 h 615747"/>
                <a:gd name="csX8" fmla="*/ 59099 w 295271"/>
                <a:gd name="csY8" fmla="*/ 480879 h 615747"/>
                <a:gd name="csX9" fmla="*/ 151711 w 295271"/>
                <a:gd name="csY9" fmla="*/ 573680 h 615747"/>
                <a:gd name="csX10" fmla="*/ 171666 w 295271"/>
                <a:gd name="csY10" fmla="*/ 571529 h 615747"/>
                <a:gd name="csX11" fmla="*/ 251070 w 295271"/>
                <a:gd name="csY11" fmla="*/ 612787 h 615747"/>
                <a:gd name="csX12" fmla="*/ 295272 w 295271"/>
                <a:gd name="csY12" fmla="*/ 552593 h 615747"/>
                <a:gd name="csX13" fmla="*/ 295272 w 295271"/>
                <a:gd name="csY13" fmla="*/ 84372 h 615747"/>
                <a:gd name="csX14" fmla="*/ 210918 w 295271"/>
                <a:gd name="csY14" fmla="*/ 0 h 615747"/>
                <a:gd name="csX15" fmla="*/ 210909 w 295271"/>
                <a:gd name="csY15" fmla="*/ 0 h 615747"/>
                <a:gd name="csX16" fmla="*/ 208309 w 295271"/>
                <a:gd name="csY16" fmla="*/ 406432 h 615747"/>
                <a:gd name="csX17" fmla="*/ 200498 w 295271"/>
                <a:gd name="csY17" fmla="*/ 420986 h 615747"/>
                <a:gd name="csX18" fmla="*/ 184306 w 295271"/>
                <a:gd name="csY18" fmla="*/ 420500 h 615747"/>
                <a:gd name="csX19" fmla="*/ 173438 w 295271"/>
                <a:gd name="csY19" fmla="*/ 429187 h 615747"/>
                <a:gd name="csX20" fmla="*/ 170723 w 295271"/>
                <a:gd name="csY20" fmla="*/ 445170 h 615747"/>
                <a:gd name="csX21" fmla="*/ 154988 w 295271"/>
                <a:gd name="csY21" fmla="*/ 449932 h 615747"/>
                <a:gd name="csX22" fmla="*/ 143881 w 295271"/>
                <a:gd name="csY22" fmla="*/ 438207 h 615747"/>
                <a:gd name="csX23" fmla="*/ 130089 w 295271"/>
                <a:gd name="csY23" fmla="*/ 436826 h 615747"/>
                <a:gd name="csX24" fmla="*/ 116754 w 295271"/>
                <a:gd name="csY24" fmla="*/ 446084 h 615747"/>
                <a:gd name="csX25" fmla="*/ 102305 w 295271"/>
                <a:gd name="csY25" fmla="*/ 438312 h 615747"/>
                <a:gd name="csX26" fmla="*/ 102676 w 295271"/>
                <a:gd name="csY26" fmla="*/ 422119 h 615747"/>
                <a:gd name="csX27" fmla="*/ 93999 w 295271"/>
                <a:gd name="csY27" fmla="*/ 411280 h 615747"/>
                <a:gd name="csX28" fmla="*/ 78007 w 295271"/>
                <a:gd name="csY28" fmla="*/ 408499 h 615747"/>
                <a:gd name="csX29" fmla="*/ 73244 w 295271"/>
                <a:gd name="csY29" fmla="*/ 392763 h 615747"/>
                <a:gd name="csX30" fmla="*/ 85103 w 295271"/>
                <a:gd name="csY30" fmla="*/ 381762 h 615747"/>
                <a:gd name="csX31" fmla="*/ 86360 w 295271"/>
                <a:gd name="csY31" fmla="*/ 367894 h 615747"/>
                <a:gd name="csX32" fmla="*/ 77073 w 295271"/>
                <a:gd name="csY32" fmla="*/ 354568 h 615747"/>
                <a:gd name="csX33" fmla="*/ 84884 w 295271"/>
                <a:gd name="csY33" fmla="*/ 340043 h 615747"/>
                <a:gd name="csX34" fmla="*/ 101152 w 295271"/>
                <a:gd name="csY34" fmla="*/ 340509 h 615747"/>
                <a:gd name="csX35" fmla="*/ 111906 w 295271"/>
                <a:gd name="csY35" fmla="*/ 331756 h 615747"/>
                <a:gd name="csX36" fmla="*/ 114621 w 295271"/>
                <a:gd name="csY36" fmla="*/ 315773 h 615747"/>
                <a:gd name="csX37" fmla="*/ 130356 w 295271"/>
                <a:gd name="csY37" fmla="*/ 311010 h 615747"/>
                <a:gd name="csX38" fmla="*/ 141481 w 295271"/>
                <a:gd name="csY38" fmla="*/ 322831 h 615747"/>
                <a:gd name="csX39" fmla="*/ 155378 w 295271"/>
                <a:gd name="csY39" fmla="*/ 324183 h 615747"/>
                <a:gd name="csX40" fmla="*/ 168627 w 295271"/>
                <a:gd name="csY40" fmla="*/ 314849 h 615747"/>
                <a:gd name="csX41" fmla="*/ 183153 w 295271"/>
                <a:gd name="csY41" fmla="*/ 322669 h 615747"/>
                <a:gd name="csX42" fmla="*/ 182667 w 295271"/>
                <a:gd name="csY42" fmla="*/ 338861 h 615747"/>
                <a:gd name="csX43" fmla="*/ 191449 w 295271"/>
                <a:gd name="csY43" fmla="*/ 349710 h 615747"/>
                <a:gd name="csX44" fmla="*/ 207432 w 295271"/>
                <a:gd name="csY44" fmla="*/ 352415 h 615747"/>
                <a:gd name="csX45" fmla="*/ 212195 w 295271"/>
                <a:gd name="csY45" fmla="*/ 368151 h 615747"/>
                <a:gd name="csX46" fmla="*/ 200336 w 295271"/>
                <a:gd name="csY46" fmla="*/ 379333 h 615747"/>
                <a:gd name="csX47" fmla="*/ 198955 w 295271"/>
                <a:gd name="csY47" fmla="*/ 393125 h 615747"/>
                <a:gd name="csX48" fmla="*/ 244789 w 295271"/>
                <a:gd name="csY48" fmla="*/ 264081 h 615747"/>
                <a:gd name="csX49" fmla="*/ 236979 w 295271"/>
                <a:gd name="csY49" fmla="*/ 278606 h 615747"/>
                <a:gd name="csX50" fmla="*/ 220786 w 295271"/>
                <a:gd name="csY50" fmla="*/ 278121 h 615747"/>
                <a:gd name="csX51" fmla="*/ 210023 w 295271"/>
                <a:gd name="csY51" fmla="*/ 286941 h 615747"/>
                <a:gd name="csX52" fmla="*/ 207242 w 295271"/>
                <a:gd name="csY52" fmla="*/ 302943 h 615747"/>
                <a:gd name="csX53" fmla="*/ 191506 w 295271"/>
                <a:gd name="csY53" fmla="*/ 307705 h 615747"/>
                <a:gd name="csX54" fmla="*/ 180381 w 295271"/>
                <a:gd name="csY54" fmla="*/ 295885 h 615747"/>
                <a:gd name="csX55" fmla="*/ 166580 w 295271"/>
                <a:gd name="csY55" fmla="*/ 294503 h 615747"/>
                <a:gd name="csX56" fmla="*/ 153330 w 295271"/>
                <a:gd name="csY56" fmla="*/ 303838 h 615747"/>
                <a:gd name="csX57" fmla="*/ 138805 w 295271"/>
                <a:gd name="csY57" fmla="*/ 296018 h 615747"/>
                <a:gd name="csX58" fmla="*/ 139405 w 295271"/>
                <a:gd name="csY58" fmla="*/ 279645 h 615747"/>
                <a:gd name="csX59" fmla="*/ 130651 w 295271"/>
                <a:gd name="csY59" fmla="*/ 268891 h 615747"/>
                <a:gd name="csX60" fmla="*/ 114678 w 295271"/>
                <a:gd name="csY60" fmla="*/ 266186 h 615747"/>
                <a:gd name="csX61" fmla="*/ 109915 w 295271"/>
                <a:gd name="csY61" fmla="*/ 250450 h 615747"/>
                <a:gd name="csX62" fmla="*/ 121736 w 295271"/>
                <a:gd name="csY62" fmla="*/ 239316 h 615747"/>
                <a:gd name="csX63" fmla="*/ 123088 w 295271"/>
                <a:gd name="csY63" fmla="*/ 225523 h 615747"/>
                <a:gd name="csX64" fmla="*/ 113611 w 295271"/>
                <a:gd name="csY64" fmla="*/ 212246 h 615747"/>
                <a:gd name="csX65" fmla="*/ 121545 w 295271"/>
                <a:gd name="csY65" fmla="*/ 197653 h 615747"/>
                <a:gd name="csX66" fmla="*/ 137738 w 295271"/>
                <a:gd name="csY66" fmla="*/ 198139 h 615747"/>
                <a:gd name="csX67" fmla="*/ 148577 w 295271"/>
                <a:gd name="csY67" fmla="*/ 189462 h 615747"/>
                <a:gd name="csX68" fmla="*/ 151359 w 295271"/>
                <a:gd name="csY68" fmla="*/ 173460 h 615747"/>
                <a:gd name="csX69" fmla="*/ 167094 w 295271"/>
                <a:gd name="csY69" fmla="*/ 168697 h 615747"/>
                <a:gd name="csX70" fmla="*/ 178200 w 295271"/>
                <a:gd name="csY70" fmla="*/ 180423 h 615747"/>
                <a:gd name="csX71" fmla="*/ 191992 w 295271"/>
                <a:gd name="csY71" fmla="*/ 181804 h 615747"/>
                <a:gd name="csX72" fmla="*/ 205251 w 295271"/>
                <a:gd name="csY72" fmla="*/ 172507 h 615747"/>
                <a:gd name="csX73" fmla="*/ 219777 w 295271"/>
                <a:gd name="csY73" fmla="*/ 180318 h 615747"/>
                <a:gd name="csX74" fmla="*/ 219281 w 295271"/>
                <a:gd name="csY74" fmla="*/ 196596 h 615747"/>
                <a:gd name="csX75" fmla="*/ 228035 w 295271"/>
                <a:gd name="csY75" fmla="*/ 207350 h 615747"/>
                <a:gd name="csX76" fmla="*/ 244018 w 295271"/>
                <a:gd name="csY76" fmla="*/ 210055 h 615747"/>
                <a:gd name="csX77" fmla="*/ 248780 w 295271"/>
                <a:gd name="csY77" fmla="*/ 225800 h 615747"/>
                <a:gd name="csX78" fmla="*/ 236960 w 295271"/>
                <a:gd name="csY78" fmla="*/ 236925 h 615747"/>
                <a:gd name="csX79" fmla="*/ 235455 w 295271"/>
                <a:gd name="csY79" fmla="*/ 250898 h 6157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</a:cxnLst>
              <a:rect l="l" t="t" r="r" b="b"/>
              <a:pathLst>
                <a:path w="295271" h="615747">
                  <a:moveTo>
                    <a:pt x="210909" y="0"/>
                  </a:moveTo>
                  <a:cubicBezTo>
                    <a:pt x="166520" y="19"/>
                    <a:pt x="129751" y="34460"/>
                    <a:pt x="126832" y="78753"/>
                  </a:cubicBezTo>
                  <a:cubicBezTo>
                    <a:pt x="84144" y="90172"/>
                    <a:pt x="58797" y="134034"/>
                    <a:pt x="70216" y="176721"/>
                  </a:cubicBezTo>
                  <a:cubicBezTo>
                    <a:pt x="70411" y="177453"/>
                    <a:pt x="70618" y="178182"/>
                    <a:pt x="70834" y="178908"/>
                  </a:cubicBezTo>
                  <a:cubicBezTo>
                    <a:pt x="22933" y="202497"/>
                    <a:pt x="3224" y="260451"/>
                    <a:pt x="26813" y="308352"/>
                  </a:cubicBezTo>
                  <a:cubicBezTo>
                    <a:pt x="28016" y="310794"/>
                    <a:pt x="29320" y="313184"/>
                    <a:pt x="30724" y="315516"/>
                  </a:cubicBezTo>
                  <a:cubicBezTo>
                    <a:pt x="-9358" y="354372"/>
                    <a:pt x="-10352" y="418364"/>
                    <a:pt x="28503" y="458446"/>
                  </a:cubicBezTo>
                  <a:cubicBezTo>
                    <a:pt x="37268" y="467487"/>
                    <a:pt x="47645" y="474812"/>
                    <a:pt x="59099" y="480041"/>
                  </a:cubicBezTo>
                  <a:cubicBezTo>
                    <a:pt x="59099" y="480327"/>
                    <a:pt x="59099" y="480603"/>
                    <a:pt x="59099" y="480879"/>
                  </a:cubicBezTo>
                  <a:cubicBezTo>
                    <a:pt x="59047" y="532080"/>
                    <a:pt x="100511" y="573628"/>
                    <a:pt x="151711" y="573680"/>
                  </a:cubicBezTo>
                  <a:cubicBezTo>
                    <a:pt x="158421" y="573688"/>
                    <a:pt x="165112" y="572966"/>
                    <a:pt x="171666" y="571529"/>
                  </a:cubicBezTo>
                  <a:cubicBezTo>
                    <a:pt x="182200" y="604849"/>
                    <a:pt x="217751" y="623321"/>
                    <a:pt x="251070" y="612787"/>
                  </a:cubicBezTo>
                  <a:cubicBezTo>
                    <a:pt x="277336" y="604483"/>
                    <a:pt x="295212" y="580140"/>
                    <a:pt x="295272" y="552593"/>
                  </a:cubicBezTo>
                  <a:lnTo>
                    <a:pt x="295272" y="84372"/>
                  </a:lnTo>
                  <a:cubicBezTo>
                    <a:pt x="295278" y="37780"/>
                    <a:pt x="257511" y="6"/>
                    <a:pt x="210918" y="0"/>
                  </a:cubicBezTo>
                  <a:cubicBezTo>
                    <a:pt x="210916" y="0"/>
                    <a:pt x="210912" y="0"/>
                    <a:pt x="210909" y="0"/>
                  </a:cubicBezTo>
                  <a:close/>
                  <a:moveTo>
                    <a:pt x="208309" y="406432"/>
                  </a:moveTo>
                  <a:lnTo>
                    <a:pt x="200498" y="420986"/>
                  </a:lnTo>
                  <a:lnTo>
                    <a:pt x="184306" y="420500"/>
                  </a:lnTo>
                  <a:cubicBezTo>
                    <a:pt x="181050" y="423827"/>
                    <a:pt x="177400" y="426745"/>
                    <a:pt x="173438" y="429187"/>
                  </a:cubicBezTo>
                  <a:lnTo>
                    <a:pt x="170723" y="445170"/>
                  </a:lnTo>
                  <a:lnTo>
                    <a:pt x="154988" y="449932"/>
                  </a:lnTo>
                  <a:lnTo>
                    <a:pt x="143881" y="438207"/>
                  </a:lnTo>
                  <a:cubicBezTo>
                    <a:pt x="139245" y="438306"/>
                    <a:pt x="134614" y="437842"/>
                    <a:pt x="130089" y="436826"/>
                  </a:cubicBezTo>
                  <a:lnTo>
                    <a:pt x="116754" y="446084"/>
                  </a:lnTo>
                  <a:lnTo>
                    <a:pt x="102305" y="438312"/>
                  </a:lnTo>
                  <a:lnTo>
                    <a:pt x="102676" y="422119"/>
                  </a:lnTo>
                  <a:cubicBezTo>
                    <a:pt x="99356" y="418871"/>
                    <a:pt x="96442" y="415231"/>
                    <a:pt x="93999" y="411280"/>
                  </a:cubicBezTo>
                  <a:lnTo>
                    <a:pt x="78007" y="408499"/>
                  </a:lnTo>
                  <a:lnTo>
                    <a:pt x="73244" y="392763"/>
                  </a:lnTo>
                  <a:lnTo>
                    <a:pt x="85103" y="381762"/>
                  </a:lnTo>
                  <a:cubicBezTo>
                    <a:pt x="84958" y="377105"/>
                    <a:pt x="85380" y="372448"/>
                    <a:pt x="86360" y="367894"/>
                  </a:cubicBezTo>
                  <a:lnTo>
                    <a:pt x="77073" y="354568"/>
                  </a:lnTo>
                  <a:lnTo>
                    <a:pt x="84884" y="340043"/>
                  </a:lnTo>
                  <a:lnTo>
                    <a:pt x="101152" y="340509"/>
                  </a:lnTo>
                  <a:cubicBezTo>
                    <a:pt x="104369" y="337166"/>
                    <a:pt x="107980" y="334227"/>
                    <a:pt x="111906" y="331756"/>
                  </a:cubicBezTo>
                  <a:lnTo>
                    <a:pt x="114621" y="315773"/>
                  </a:lnTo>
                  <a:lnTo>
                    <a:pt x="130356" y="311010"/>
                  </a:lnTo>
                  <a:lnTo>
                    <a:pt x="141481" y="322831"/>
                  </a:lnTo>
                  <a:cubicBezTo>
                    <a:pt x="146151" y="322713"/>
                    <a:pt x="150819" y="323167"/>
                    <a:pt x="155378" y="324183"/>
                  </a:cubicBezTo>
                  <a:lnTo>
                    <a:pt x="168627" y="314849"/>
                  </a:lnTo>
                  <a:lnTo>
                    <a:pt x="183153" y="322669"/>
                  </a:lnTo>
                  <a:lnTo>
                    <a:pt x="182667" y="338861"/>
                  </a:lnTo>
                  <a:cubicBezTo>
                    <a:pt x="186031" y="342102"/>
                    <a:pt x="188980" y="345746"/>
                    <a:pt x="191449" y="349710"/>
                  </a:cubicBezTo>
                  <a:lnTo>
                    <a:pt x="207432" y="352415"/>
                  </a:lnTo>
                  <a:lnTo>
                    <a:pt x="212195" y="368151"/>
                  </a:lnTo>
                  <a:lnTo>
                    <a:pt x="200336" y="379333"/>
                  </a:lnTo>
                  <a:cubicBezTo>
                    <a:pt x="200440" y="383970"/>
                    <a:pt x="199976" y="388601"/>
                    <a:pt x="198955" y="393125"/>
                  </a:cubicBezTo>
                  <a:close/>
                  <a:moveTo>
                    <a:pt x="244789" y="264081"/>
                  </a:moveTo>
                  <a:lnTo>
                    <a:pt x="236979" y="278606"/>
                  </a:lnTo>
                  <a:lnTo>
                    <a:pt x="220786" y="278121"/>
                  </a:lnTo>
                  <a:cubicBezTo>
                    <a:pt x="217571" y="281488"/>
                    <a:pt x="213957" y="284450"/>
                    <a:pt x="210023" y="286941"/>
                  </a:cubicBezTo>
                  <a:lnTo>
                    <a:pt x="207242" y="302943"/>
                  </a:lnTo>
                  <a:lnTo>
                    <a:pt x="191506" y="307705"/>
                  </a:lnTo>
                  <a:lnTo>
                    <a:pt x="180381" y="295885"/>
                  </a:lnTo>
                  <a:cubicBezTo>
                    <a:pt x="175742" y="295988"/>
                    <a:pt x="171107" y="295525"/>
                    <a:pt x="166580" y="294503"/>
                  </a:cubicBezTo>
                  <a:lnTo>
                    <a:pt x="153330" y="303838"/>
                  </a:lnTo>
                  <a:lnTo>
                    <a:pt x="138805" y="296018"/>
                  </a:lnTo>
                  <a:lnTo>
                    <a:pt x="139405" y="279645"/>
                  </a:lnTo>
                  <a:cubicBezTo>
                    <a:pt x="136060" y="276430"/>
                    <a:pt x="133120" y="272818"/>
                    <a:pt x="130651" y="268891"/>
                  </a:cubicBezTo>
                  <a:lnTo>
                    <a:pt x="114678" y="266186"/>
                  </a:lnTo>
                  <a:lnTo>
                    <a:pt x="109915" y="250450"/>
                  </a:lnTo>
                  <a:lnTo>
                    <a:pt x="121736" y="239316"/>
                  </a:lnTo>
                  <a:cubicBezTo>
                    <a:pt x="121632" y="234681"/>
                    <a:pt x="122086" y="230050"/>
                    <a:pt x="123088" y="225523"/>
                  </a:cubicBezTo>
                  <a:lnTo>
                    <a:pt x="113611" y="212246"/>
                  </a:lnTo>
                  <a:lnTo>
                    <a:pt x="121545" y="197653"/>
                  </a:lnTo>
                  <a:lnTo>
                    <a:pt x="137738" y="198139"/>
                  </a:lnTo>
                  <a:cubicBezTo>
                    <a:pt x="140984" y="194816"/>
                    <a:pt x="144623" y="191901"/>
                    <a:pt x="148577" y="189462"/>
                  </a:cubicBezTo>
                  <a:lnTo>
                    <a:pt x="151359" y="173460"/>
                  </a:lnTo>
                  <a:lnTo>
                    <a:pt x="167094" y="168697"/>
                  </a:lnTo>
                  <a:lnTo>
                    <a:pt x="178200" y="180423"/>
                  </a:lnTo>
                  <a:cubicBezTo>
                    <a:pt x="182837" y="180324"/>
                    <a:pt x="187468" y="180788"/>
                    <a:pt x="191992" y="181804"/>
                  </a:cubicBezTo>
                  <a:lnTo>
                    <a:pt x="205251" y="172507"/>
                  </a:lnTo>
                  <a:lnTo>
                    <a:pt x="219777" y="180318"/>
                  </a:lnTo>
                  <a:lnTo>
                    <a:pt x="219281" y="196596"/>
                  </a:lnTo>
                  <a:cubicBezTo>
                    <a:pt x="222627" y="199811"/>
                    <a:pt x="225566" y="203422"/>
                    <a:pt x="228035" y="207350"/>
                  </a:cubicBezTo>
                  <a:lnTo>
                    <a:pt x="244018" y="210055"/>
                  </a:lnTo>
                  <a:lnTo>
                    <a:pt x="248780" y="225800"/>
                  </a:lnTo>
                  <a:lnTo>
                    <a:pt x="236960" y="236925"/>
                  </a:lnTo>
                  <a:cubicBezTo>
                    <a:pt x="237036" y="241626"/>
                    <a:pt x="236531" y="246320"/>
                    <a:pt x="235455" y="2508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0" name="자유형: 도형 199">
              <a:extLst>
                <a:ext uri="{FF2B5EF4-FFF2-40B4-BE49-F238E27FC236}">
                  <a16:creationId xmlns:a16="http://schemas.microsoft.com/office/drawing/2014/main" id="{6C87339F-23D5-8ED8-2054-A1B76D41447D}"/>
                </a:ext>
              </a:extLst>
            </p:cNvPr>
            <p:cNvSpPr/>
            <p:nvPr/>
          </p:nvSpPr>
          <p:spPr>
            <a:xfrm>
              <a:off x="2082944" y="3494446"/>
              <a:ext cx="163706" cy="163713"/>
            </a:xfrm>
            <a:custGeom>
              <a:avLst/>
              <a:gdLst>
                <a:gd name="csX0" fmla="*/ 17603 w 49428"/>
                <a:gd name="csY0" fmla="*/ 1054 h 49430"/>
                <a:gd name="csX1" fmla="*/ 1052 w 49428"/>
                <a:gd name="csY1" fmla="*/ 31829 h 49430"/>
                <a:gd name="csX2" fmla="*/ 31826 w 49428"/>
                <a:gd name="csY2" fmla="*/ 48378 h 49430"/>
                <a:gd name="csX3" fmla="*/ 48378 w 49428"/>
                <a:gd name="csY3" fmla="*/ 17609 h 49430"/>
                <a:gd name="csX4" fmla="*/ 17624 w 49428"/>
                <a:gd name="csY4" fmla="*/ 1048 h 49430"/>
                <a:gd name="csX5" fmla="*/ 17603 w 49428"/>
                <a:gd name="csY5" fmla="*/ 1054 h 4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9428" h="49430">
                  <a:moveTo>
                    <a:pt x="17603" y="1054"/>
                  </a:moveTo>
                  <a:cubicBezTo>
                    <a:pt x="4534" y="4982"/>
                    <a:pt x="-2875" y="18760"/>
                    <a:pt x="1052" y="31829"/>
                  </a:cubicBezTo>
                  <a:cubicBezTo>
                    <a:pt x="4980" y="44897"/>
                    <a:pt x="18758" y="52306"/>
                    <a:pt x="31826" y="48378"/>
                  </a:cubicBezTo>
                  <a:cubicBezTo>
                    <a:pt x="44893" y="44451"/>
                    <a:pt x="52303" y="30676"/>
                    <a:pt x="48378" y="17609"/>
                  </a:cubicBezTo>
                  <a:cubicBezTo>
                    <a:pt x="44459" y="4543"/>
                    <a:pt x="30690" y="-2871"/>
                    <a:pt x="17624" y="1048"/>
                  </a:cubicBezTo>
                  <a:cubicBezTo>
                    <a:pt x="17618" y="1050"/>
                    <a:pt x="17610" y="1052"/>
                    <a:pt x="17603" y="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03074E82-3E7B-8A3E-3750-33F167793C88}"/>
              </a:ext>
            </a:extLst>
          </p:cNvPr>
          <p:cNvGrpSpPr/>
          <p:nvPr/>
        </p:nvGrpSpPr>
        <p:grpSpPr>
          <a:xfrm>
            <a:off x="453720" y="3306405"/>
            <a:ext cx="566553" cy="440924"/>
            <a:chOff x="1864833" y="3584780"/>
            <a:chExt cx="317246" cy="246899"/>
          </a:xfrm>
        </p:grpSpPr>
        <p:pic>
          <p:nvPicPr>
            <p:cNvPr id="203" name="그래픽 202" descr="용지 단색으로 채워진">
              <a:extLst>
                <a:ext uri="{FF2B5EF4-FFF2-40B4-BE49-F238E27FC236}">
                  <a16:creationId xmlns:a16="http://schemas.microsoft.com/office/drawing/2014/main" id="{F858ECCC-DB21-EF44-B733-4D6E30BA4F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64833" y="3584780"/>
              <a:ext cx="246899" cy="246899"/>
            </a:xfrm>
            <a:prstGeom prst="rect">
              <a:avLst/>
            </a:prstGeom>
          </p:spPr>
        </p:pic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D10A04B-B75D-4845-C853-4C714D9CFB23}"/>
                </a:ext>
              </a:extLst>
            </p:cNvPr>
            <p:cNvSpPr txBox="1"/>
            <p:nvPr/>
          </p:nvSpPr>
          <p:spPr>
            <a:xfrm>
              <a:off x="1981282" y="3769261"/>
              <a:ext cx="200797" cy="60320"/>
            </a:xfrm>
            <a:prstGeom prst="rect">
              <a:avLst/>
            </a:prstGeom>
            <a:noFill/>
            <a:effectLst>
              <a:glow rad="228600">
                <a:schemeClr val="bg1">
                  <a:alpha val="40000"/>
                </a:schemeClr>
              </a:glow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effectLst>
                    <a:glow rad="177800">
                      <a:schemeClr val="bg1"/>
                    </a:glow>
                  </a:effectLst>
                  <a:latin typeface="SUIT ExtraBold" pitchFamily="50" charset="-127"/>
                  <a:ea typeface="SUIT ExtraBold" pitchFamily="50" charset="-127"/>
                </a:rPr>
                <a:t>CSV</a:t>
              </a:r>
              <a:endParaRPr lang="ko-KR" altLang="en-US" sz="700" dirty="0">
                <a:effectLst>
                  <a:glow rad="177800">
                    <a:schemeClr val="bg1"/>
                  </a:glow>
                </a:effectLst>
                <a:latin typeface="SUIT ExtraBold" pitchFamily="50" charset="-127"/>
                <a:ea typeface="SUIT ExtraBold" pitchFamily="50" charset="-127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ED8F7220-5546-94F5-4AEF-05DEF33B7468}"/>
              </a:ext>
            </a:extLst>
          </p:cNvPr>
          <p:cNvGrpSpPr/>
          <p:nvPr/>
        </p:nvGrpSpPr>
        <p:grpSpPr>
          <a:xfrm>
            <a:off x="468791" y="4119089"/>
            <a:ext cx="420720" cy="420720"/>
            <a:chOff x="2530648" y="3916717"/>
            <a:chExt cx="246899" cy="246899"/>
          </a:xfrm>
        </p:grpSpPr>
        <p:pic>
          <p:nvPicPr>
            <p:cNvPr id="205" name="그래픽 204" descr="용지 단색으로 채워진">
              <a:extLst>
                <a:ext uri="{FF2B5EF4-FFF2-40B4-BE49-F238E27FC236}">
                  <a16:creationId xmlns:a16="http://schemas.microsoft.com/office/drawing/2014/main" id="{82C98EF6-1771-70CB-245E-6D807CFF37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530648" y="3916717"/>
              <a:ext cx="246899" cy="246899"/>
            </a:xfrm>
            <a:prstGeom prst="rect">
              <a:avLst/>
            </a:prstGeom>
          </p:spPr>
        </p:pic>
        <p:pic>
          <p:nvPicPr>
            <p:cNvPr id="207" name="그래픽 206" descr="서명 단색으로 채워진">
              <a:extLst>
                <a:ext uri="{FF2B5EF4-FFF2-40B4-BE49-F238E27FC236}">
                  <a16:creationId xmlns:a16="http://schemas.microsoft.com/office/drawing/2014/main" id="{F6DB81A9-2310-642C-4CFF-B4D37FCB72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86990" y="3999992"/>
              <a:ext cx="137160" cy="137160"/>
            </a:xfrm>
            <a:prstGeom prst="rect">
              <a:avLst/>
            </a:prstGeom>
          </p:spPr>
        </p:pic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4557CA9B-3699-AA77-15FD-1B01245DC523}"/>
              </a:ext>
            </a:extLst>
          </p:cNvPr>
          <p:cNvSpPr txBox="1"/>
          <p:nvPr/>
        </p:nvSpPr>
        <p:spPr>
          <a:xfrm>
            <a:off x="187380" y="2931424"/>
            <a:ext cx="96266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인사이트 해석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23957CB-D209-C167-8BEC-C2869BB448DD}"/>
              </a:ext>
            </a:extLst>
          </p:cNvPr>
          <p:cNvSpPr txBox="1"/>
          <p:nvPr/>
        </p:nvSpPr>
        <p:spPr>
          <a:xfrm>
            <a:off x="194291" y="3757103"/>
            <a:ext cx="96266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데이터 추출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F9A2C14-1707-1A84-EEB9-A52A40B57F41}"/>
              </a:ext>
            </a:extLst>
          </p:cNvPr>
          <p:cNvSpPr txBox="1"/>
          <p:nvPr/>
        </p:nvSpPr>
        <p:spPr>
          <a:xfrm>
            <a:off x="173210" y="4560424"/>
            <a:ext cx="96266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작성 및 자산화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6E5FA1B8-5F7E-88EA-3DBC-C502B23E351B}"/>
              </a:ext>
            </a:extLst>
          </p:cNvPr>
          <p:cNvSpPr/>
          <p:nvPr/>
        </p:nvSpPr>
        <p:spPr>
          <a:xfrm>
            <a:off x="1327960" y="2400807"/>
            <a:ext cx="3263402" cy="766870"/>
          </a:xfrm>
          <a:prstGeom prst="roundRect">
            <a:avLst>
              <a:gd name="adj" fmla="val 10705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096FB585-CBEF-C892-82B8-2A9496956410}"/>
              </a:ext>
            </a:extLst>
          </p:cNvPr>
          <p:cNvSpPr/>
          <p:nvPr/>
        </p:nvSpPr>
        <p:spPr>
          <a:xfrm>
            <a:off x="1324862" y="3224445"/>
            <a:ext cx="3263402" cy="766870"/>
          </a:xfrm>
          <a:prstGeom prst="roundRect">
            <a:avLst>
              <a:gd name="adj" fmla="val 10705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53328028-32D8-E05D-DC46-02F9BF9104BC}"/>
              </a:ext>
            </a:extLst>
          </p:cNvPr>
          <p:cNvSpPr/>
          <p:nvPr/>
        </p:nvSpPr>
        <p:spPr>
          <a:xfrm>
            <a:off x="1324862" y="4084787"/>
            <a:ext cx="3263402" cy="766870"/>
          </a:xfrm>
          <a:prstGeom prst="roundRect">
            <a:avLst>
              <a:gd name="adj" fmla="val 10705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62611DB-8452-C4CA-9D77-D2E7F1749CE8}"/>
              </a:ext>
            </a:extLst>
          </p:cNvPr>
          <p:cNvSpPr txBox="1"/>
          <p:nvPr/>
        </p:nvSpPr>
        <p:spPr>
          <a:xfrm>
            <a:off x="1405040" y="2472324"/>
            <a:ext cx="3092342" cy="58438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    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결과 중심의 시각화 </a:t>
            </a: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(Only What)</a:t>
            </a: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매출 하락 등 지표의 결과만 수치적으로 제공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(Why)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떨어졌는지는 실무자가 다시 데이터를 뒤져야 함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B2E099ED-91BD-6BF0-A41B-3D1A263D5734}"/>
              </a:ext>
            </a:extLst>
          </p:cNvPr>
          <p:cNvSpPr txBox="1"/>
          <p:nvPr/>
        </p:nvSpPr>
        <p:spPr>
          <a:xfrm>
            <a:off x="1423862" y="3298003"/>
            <a:ext cx="3092342" cy="58438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    IT 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부서 병목 및 </a:t>
            </a:r>
            <a:r>
              <a:rPr lang="ko-KR" altLang="en-US" sz="1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대기열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</a:t>
            </a: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(Delay)</a:t>
            </a: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화면에 없는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Raw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데이터 필요 시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IT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부서에 쿼리 요청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승인 및 수령 등 작업에 </a:t>
            </a:r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대기열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 발생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9CF27E0-2EF7-20DB-C810-B6A845CF56D3}"/>
              </a:ext>
            </a:extLst>
          </p:cNvPr>
          <p:cNvSpPr txBox="1"/>
          <p:nvPr/>
        </p:nvSpPr>
        <p:spPr>
          <a:xfrm>
            <a:off x="1423862" y="4157311"/>
            <a:ext cx="3092342" cy="58438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    100% 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파편화된 수작업 </a:t>
            </a: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(</a:t>
            </a:r>
            <a:r>
              <a:rPr lang="en-US" altLang="ko-KR" sz="1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Copy&amp;Paste</a:t>
            </a: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)</a:t>
            </a: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화면 캡처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,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엑셀 다운로드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, PPT </a:t>
            </a:r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복붙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Light" pitchFamily="50" charset="-127"/>
                <a:ea typeface="SUIT Light" pitchFamily="50" charset="-127"/>
              </a:rPr>
              <a:t> 등 단순 반복 작업 발생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매주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/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Light" pitchFamily="50" charset="-127"/>
                <a:ea typeface="SUIT Light" pitchFamily="50" charset="-127"/>
              </a:rPr>
              <a:t>매월 반복되는 정기 보고서 취합 비효율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E0AD48B9-6DD4-D9A4-2CD2-9E50943059A9}"/>
              </a:ext>
            </a:extLst>
          </p:cNvPr>
          <p:cNvSpPr txBox="1"/>
          <p:nvPr/>
        </p:nvSpPr>
        <p:spPr>
          <a:xfrm>
            <a:off x="1324862" y="1264518"/>
            <a:ext cx="3263402" cy="22249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As-Is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기존 레거시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BI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BF31B627-9A1A-EEF9-2163-FB9DF15E4F34}"/>
              </a:ext>
            </a:extLst>
          </p:cNvPr>
          <p:cNvSpPr txBox="1"/>
          <p:nvPr/>
        </p:nvSpPr>
        <p:spPr>
          <a:xfrm>
            <a:off x="5116365" y="1246965"/>
            <a:ext cx="3263402" cy="22249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To-Be (aisight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에이전트 환경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UIT ExtraBold" pitchFamily="50" charset="-127"/>
                <a:ea typeface="SUIT ExtraBold" pitchFamily="50" charset="-127"/>
              </a:rPr>
              <a:t>)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pic>
        <p:nvPicPr>
          <p:cNvPr id="250" name="그래픽 249" descr="금지 표지 단색으로 채워진">
            <a:extLst>
              <a:ext uri="{FF2B5EF4-FFF2-40B4-BE49-F238E27FC236}">
                <a16:creationId xmlns:a16="http://schemas.microsoft.com/office/drawing/2014/main" id="{1A9F9258-FD29-2CCC-3912-0817BBD0BE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4248" y="1273251"/>
            <a:ext cx="208187" cy="208187"/>
          </a:xfrm>
          <a:prstGeom prst="rect">
            <a:avLst/>
          </a:prstGeom>
        </p:spPr>
      </p:pic>
      <p:pic>
        <p:nvPicPr>
          <p:cNvPr id="252" name="그래픽 251" descr="엄지척 기호 단색으로 채워진">
            <a:extLst>
              <a:ext uri="{FF2B5EF4-FFF2-40B4-BE49-F238E27FC236}">
                <a16:creationId xmlns:a16="http://schemas.microsoft.com/office/drawing/2014/main" id="{2897A415-99AC-7111-D363-C89EAB52C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1195" y="1215204"/>
            <a:ext cx="263061" cy="263061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64AE5984-FF91-7F8D-5174-87D3502F550F}"/>
              </a:ext>
            </a:extLst>
          </p:cNvPr>
          <p:cNvSpPr txBox="1"/>
          <p:nvPr/>
        </p:nvSpPr>
        <p:spPr>
          <a:xfrm>
            <a:off x="4950751" y="1624210"/>
            <a:ext cx="3676009" cy="58438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     </a:t>
            </a:r>
            <a:r>
              <a:rPr lang="ko-KR" altLang="en-US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화면 제약 없는 동적 탐색 </a:t>
            </a:r>
            <a:r>
              <a:rPr lang="en-US" altLang="ko-KR" sz="1000" b="1" i="0" u="none" strike="noStrike" dirty="0">
                <a:solidFill>
                  <a:schemeClr val="bg1"/>
                </a:solidFill>
                <a:effectLst/>
                <a:ea typeface="Noto Sans KR" panose="020B0200000000000000" pitchFamily="50" charset="-127"/>
              </a:rPr>
              <a:t>(Dynamic Explore)</a:t>
            </a: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질문 즉시 대시보드 필터 및 </a:t>
            </a:r>
            <a:r>
              <a:rPr lang="en-US" altLang="ko-KR" sz="900" b="1" dirty="0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UI</a:t>
            </a:r>
            <a:r>
              <a:rPr lang="ko-KR" altLang="en-US" sz="900" b="1" dirty="0">
                <a:solidFill>
                  <a:schemeClr val="bg1"/>
                </a:solidFill>
                <a:effectLst/>
                <a:latin typeface="SUIT Light" pitchFamily="50" charset="-127"/>
                <a:ea typeface="SUIT Light" pitchFamily="50" charset="-127"/>
              </a:rPr>
              <a:t>를 자동 제어</a:t>
            </a:r>
            <a:endParaRPr lang="en-US" altLang="ko-KR" sz="900" b="1" dirty="0">
              <a:solidFill>
                <a:schemeClr val="bg1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화면 밖의 데이터도 </a:t>
            </a:r>
            <a:r>
              <a:rPr lang="en-US" altLang="ko-KR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Data Mart</a:t>
            </a:r>
            <a:r>
              <a:rPr lang="ko-KR" altLang="en-US" sz="900" b="1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와 연동하여 즉시 교차 분석</a:t>
            </a:r>
          </a:p>
        </p:txBody>
      </p:sp>
      <p:pic>
        <p:nvPicPr>
          <p:cNvPr id="254" name="그래픽 253" descr="금지 표지 단색으로 채워진">
            <a:extLst>
              <a:ext uri="{FF2B5EF4-FFF2-40B4-BE49-F238E27FC236}">
                <a16:creationId xmlns:a16="http://schemas.microsoft.com/office/drawing/2014/main" id="{78BC57A5-AC81-67FD-DE4E-F8C375363B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3337" y="1632190"/>
            <a:ext cx="159050" cy="159050"/>
          </a:xfrm>
          <a:prstGeom prst="rect">
            <a:avLst/>
          </a:prstGeom>
        </p:spPr>
      </p:pic>
      <p:pic>
        <p:nvPicPr>
          <p:cNvPr id="255" name="그래픽 254" descr="금지 표지 단색으로 채워진">
            <a:extLst>
              <a:ext uri="{FF2B5EF4-FFF2-40B4-BE49-F238E27FC236}">
                <a16:creationId xmlns:a16="http://schemas.microsoft.com/office/drawing/2014/main" id="{AAD04916-B16D-2221-5FDE-C3297DD439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3337" y="2521217"/>
            <a:ext cx="159050" cy="159050"/>
          </a:xfrm>
          <a:prstGeom prst="rect">
            <a:avLst/>
          </a:prstGeom>
        </p:spPr>
      </p:pic>
      <p:pic>
        <p:nvPicPr>
          <p:cNvPr id="256" name="그래픽 255" descr="금지 표지 단색으로 채워진">
            <a:extLst>
              <a:ext uri="{FF2B5EF4-FFF2-40B4-BE49-F238E27FC236}">
                <a16:creationId xmlns:a16="http://schemas.microsoft.com/office/drawing/2014/main" id="{712F4F4C-D588-FBD1-8C62-252D26E6BD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3337" y="3338093"/>
            <a:ext cx="159050" cy="159050"/>
          </a:xfrm>
          <a:prstGeom prst="rect">
            <a:avLst/>
          </a:prstGeom>
        </p:spPr>
      </p:pic>
      <p:pic>
        <p:nvPicPr>
          <p:cNvPr id="257" name="그래픽 256" descr="금지 표지 단색으로 채워진">
            <a:extLst>
              <a:ext uri="{FF2B5EF4-FFF2-40B4-BE49-F238E27FC236}">
                <a16:creationId xmlns:a16="http://schemas.microsoft.com/office/drawing/2014/main" id="{DDC1F637-BCD6-B557-A093-604D0E0CB6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3337" y="4200516"/>
            <a:ext cx="159050" cy="159050"/>
          </a:xfrm>
          <a:prstGeom prst="rect">
            <a:avLst/>
          </a:prstGeom>
        </p:spPr>
      </p:pic>
      <p:pic>
        <p:nvPicPr>
          <p:cNvPr id="260" name="그래픽 259" descr="보내다 단색으로 채워진">
            <a:extLst>
              <a:ext uri="{FF2B5EF4-FFF2-40B4-BE49-F238E27FC236}">
                <a16:creationId xmlns:a16="http://schemas.microsoft.com/office/drawing/2014/main" id="{E273F70A-FB3A-A9F5-1CBF-AACCAFD96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9483" y="4183685"/>
            <a:ext cx="197646" cy="197646"/>
          </a:xfrm>
          <a:prstGeom prst="rect">
            <a:avLst/>
          </a:prstGeom>
        </p:spPr>
      </p:pic>
      <p:pic>
        <p:nvPicPr>
          <p:cNvPr id="262" name="그래픽 261" descr="번개 표시 단색으로 채워진">
            <a:extLst>
              <a:ext uri="{FF2B5EF4-FFF2-40B4-BE49-F238E27FC236}">
                <a16:creationId xmlns:a16="http://schemas.microsoft.com/office/drawing/2014/main" id="{D785A4A7-06BF-FB2F-D96E-B3BCAD047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631" y="3329935"/>
            <a:ext cx="197646" cy="197646"/>
          </a:xfrm>
          <a:prstGeom prst="rect">
            <a:avLst/>
          </a:prstGeom>
        </p:spPr>
      </p:pic>
      <p:pic>
        <p:nvPicPr>
          <p:cNvPr id="264" name="그래픽 263" descr="전구 단색으로 채워진">
            <a:extLst>
              <a:ext uri="{FF2B5EF4-FFF2-40B4-BE49-F238E27FC236}">
                <a16:creationId xmlns:a16="http://schemas.microsoft.com/office/drawing/2014/main" id="{E210327C-FF69-4C87-8E21-5994089B4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48138" y="2493495"/>
            <a:ext cx="197646" cy="197646"/>
          </a:xfrm>
          <a:prstGeom prst="rect">
            <a:avLst/>
          </a:prstGeom>
        </p:spPr>
      </p:pic>
      <p:pic>
        <p:nvPicPr>
          <p:cNvPr id="266" name="그래픽 265" descr="마법 지팡이 자동 단색으로 채워진">
            <a:extLst>
              <a:ext uri="{FF2B5EF4-FFF2-40B4-BE49-F238E27FC236}">
                <a16:creationId xmlns:a16="http://schemas.microsoft.com/office/drawing/2014/main" id="{667D0B27-4A5C-4728-D2A7-7716EF6ACB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5124" y="1650330"/>
            <a:ext cx="197646" cy="19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51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6BFE-E40E-0A60-CE93-1DDEC370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사각형: 둥근 모서리 1028">
            <a:extLst>
              <a:ext uri="{FF2B5EF4-FFF2-40B4-BE49-F238E27FC236}">
                <a16:creationId xmlns:a16="http://schemas.microsoft.com/office/drawing/2014/main" id="{29984745-45DB-AFC1-7175-FCACDD3F673D}"/>
              </a:ext>
            </a:extLst>
          </p:cNvPr>
          <p:cNvSpPr/>
          <p:nvPr/>
        </p:nvSpPr>
        <p:spPr>
          <a:xfrm>
            <a:off x="3531524" y="1300822"/>
            <a:ext cx="5500757" cy="2834354"/>
          </a:xfrm>
          <a:prstGeom prst="roundRect">
            <a:avLst>
              <a:gd name="adj" fmla="val 2487"/>
            </a:avLst>
          </a:prstGeom>
          <a:solidFill>
            <a:srgbClr val="F5F5F3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D606822-64C6-8EE0-3B04-4A122FFDC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83" y="1332189"/>
            <a:ext cx="5329874" cy="2661031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373C2C1-7308-313E-D2A7-2909923663C0}"/>
              </a:ext>
            </a:extLst>
          </p:cNvPr>
          <p:cNvSpPr/>
          <p:nvPr/>
        </p:nvSpPr>
        <p:spPr>
          <a:xfrm>
            <a:off x="184515" y="1292300"/>
            <a:ext cx="3236845" cy="2834354"/>
          </a:xfrm>
          <a:prstGeom prst="roundRect">
            <a:avLst>
              <a:gd name="adj" fmla="val 2487"/>
            </a:avLst>
          </a:prstGeom>
          <a:solidFill>
            <a:srgbClr val="F5F5F3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9D119A6-229E-C7CE-7FD1-F6D8FCE844B9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10E76B2C-6156-0147-4D20-ED3DE377E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실무 활용 시나리오 ①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: Dashboard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양방향 대화형 자동 제어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288B67DD-A093-55E6-02EE-E6A8DD8EF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98A2A3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03 ·  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8A2A3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Business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98A2A3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 Scenarios &amp; Value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13B0475-D1BF-6C4D-D4C2-02A8A39037CE}"/>
              </a:ext>
            </a:extLst>
          </p:cNvPr>
          <p:cNvSpPr txBox="1"/>
          <p:nvPr/>
        </p:nvSpPr>
        <p:spPr>
          <a:xfrm>
            <a:off x="256032" y="647946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aisight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에이전트는 </a:t>
            </a:r>
            <a:r>
              <a:rPr lang="ko-KR" altLang="en-US" sz="1100" dirty="0" err="1">
                <a:solidFill>
                  <a:srgbClr val="334155"/>
                </a:solidFill>
                <a:latin typeface="+mn-ea"/>
                <a:ea typeface="+mn-ea"/>
              </a:rPr>
              <a:t>챗봇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 창에 갇혀 있지 않습니다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대시보드를 보며 질문하면 데이터의 원인을 즉각 분석할 뿐만 아니라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</a:p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사용자의 화면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(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필터 및 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View)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을 스스로 조작하여 가장 직관적인 해답을 눈앞에 제시합니다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</a:t>
            </a:r>
            <a:endParaRPr lang="ko-KR" altLang="en-US" sz="1100" dirty="0">
              <a:solidFill>
                <a:srgbClr val="334155"/>
              </a:solidFill>
              <a:latin typeface="+mn-ea"/>
              <a:ea typeface="+mn-ea"/>
            </a:endParaRPr>
          </a:p>
        </p:txBody>
      </p:sp>
      <p:pic>
        <p:nvPicPr>
          <p:cNvPr id="3" name="Google Shape;141;p13" descr="image.png">
            <a:extLst>
              <a:ext uri="{FF2B5EF4-FFF2-40B4-BE49-F238E27FC236}">
                <a16:creationId xmlns:a16="http://schemas.microsoft.com/office/drawing/2014/main" id="{185DAABD-CACC-8FFB-48A5-F633CE3DA6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4159548"/>
            <a:ext cx="8572500" cy="79472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2;p13">
            <a:extLst>
              <a:ext uri="{FF2B5EF4-FFF2-40B4-BE49-F238E27FC236}">
                <a16:creationId xmlns:a16="http://schemas.microsoft.com/office/drawing/2014/main" id="{1B962953-79A8-1B5A-D9F7-9FB22108CFD7}"/>
              </a:ext>
            </a:extLst>
          </p:cNvPr>
          <p:cNvSpPr txBox="1"/>
          <p:nvPr/>
        </p:nvSpPr>
        <p:spPr>
          <a:xfrm>
            <a:off x="407194" y="4243745"/>
            <a:ext cx="2038379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화면 맥락 인지 </a:t>
            </a:r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(Context-Aware)</a:t>
            </a:r>
          </a:p>
        </p:txBody>
      </p:sp>
      <p:sp>
        <p:nvSpPr>
          <p:cNvPr id="7" name="Google Shape;143;p13">
            <a:extLst>
              <a:ext uri="{FF2B5EF4-FFF2-40B4-BE49-F238E27FC236}">
                <a16:creationId xmlns:a16="http://schemas.microsoft.com/office/drawing/2014/main" id="{036AE686-3BD5-AC86-045C-3366FA28718F}"/>
              </a:ext>
            </a:extLst>
          </p:cNvPr>
          <p:cNvSpPr txBox="1"/>
          <p:nvPr/>
        </p:nvSpPr>
        <p:spPr>
          <a:xfrm>
            <a:off x="321762" y="4414113"/>
            <a:ext cx="2062757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현재 보고 있는 대시보드의 필터 상태를 에이전트가 인지하고 대화에 즉각 반영합니다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.</a:t>
            </a:r>
          </a:p>
        </p:txBody>
      </p:sp>
      <p:sp>
        <p:nvSpPr>
          <p:cNvPr id="10" name="Google Shape;146;p13">
            <a:extLst>
              <a:ext uri="{FF2B5EF4-FFF2-40B4-BE49-F238E27FC236}">
                <a16:creationId xmlns:a16="http://schemas.microsoft.com/office/drawing/2014/main" id="{2E2707BA-D768-67FA-2DC7-2197C3367CC1}"/>
              </a:ext>
            </a:extLst>
          </p:cNvPr>
          <p:cNvSpPr txBox="1"/>
          <p:nvPr/>
        </p:nvSpPr>
        <p:spPr>
          <a:xfrm>
            <a:off x="2603262" y="4243745"/>
            <a:ext cx="2038379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800" b="1" dirty="0">
                <a:latin typeface="SUIT" pitchFamily="2" charset="-127"/>
                <a:sym typeface="SUIT"/>
              </a:rPr>
              <a:t>Zero-Click </a:t>
            </a:r>
            <a:r>
              <a:rPr lang="ko-KR" altLang="en-US" sz="800" b="1" dirty="0">
                <a:latin typeface="SUIT" pitchFamily="2" charset="-127"/>
                <a:sym typeface="SUIT"/>
              </a:rPr>
              <a:t>드릴다운 </a:t>
            </a:r>
            <a:r>
              <a:rPr lang="en-US" altLang="ko-KR" sz="800" b="1" dirty="0">
                <a:latin typeface="SUIT" pitchFamily="2" charset="-127"/>
                <a:sym typeface="SUIT"/>
              </a:rPr>
              <a:t>(Drill-down)</a:t>
            </a:r>
          </a:p>
        </p:txBody>
      </p:sp>
      <p:sp>
        <p:nvSpPr>
          <p:cNvPr id="12" name="Google Shape;147;p13">
            <a:extLst>
              <a:ext uri="{FF2B5EF4-FFF2-40B4-BE49-F238E27FC236}">
                <a16:creationId xmlns:a16="http://schemas.microsoft.com/office/drawing/2014/main" id="{3F74F9C7-7436-65D0-E2ED-8E9E3076B1F2}"/>
              </a:ext>
            </a:extLst>
          </p:cNvPr>
          <p:cNvSpPr txBox="1"/>
          <p:nvPr/>
        </p:nvSpPr>
        <p:spPr>
          <a:xfrm>
            <a:off x="2481819" y="4426745"/>
            <a:ext cx="2033032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수많은 필터와 탭을 마우스로 클릭할 필요 없이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,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말 한마디로 심층 데이터 화면으로 자동 전환합니다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.</a:t>
            </a:r>
          </a:p>
        </p:txBody>
      </p:sp>
      <p:sp>
        <p:nvSpPr>
          <p:cNvPr id="14" name="Google Shape;148;p13">
            <a:extLst>
              <a:ext uri="{FF2B5EF4-FFF2-40B4-BE49-F238E27FC236}">
                <a16:creationId xmlns:a16="http://schemas.microsoft.com/office/drawing/2014/main" id="{565BA0DE-B496-6995-D94D-0144197447CE}"/>
              </a:ext>
            </a:extLst>
          </p:cNvPr>
          <p:cNvSpPr txBox="1"/>
          <p:nvPr/>
        </p:nvSpPr>
        <p:spPr>
          <a:xfrm>
            <a:off x="6808986" y="4243745"/>
            <a:ext cx="2038379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데이터 환각 원천 차단</a:t>
            </a:r>
            <a:endParaRPr sz="1600" dirty="0"/>
          </a:p>
        </p:txBody>
      </p:sp>
      <p:sp>
        <p:nvSpPr>
          <p:cNvPr id="15" name="Google Shape;149;p13">
            <a:extLst>
              <a:ext uri="{FF2B5EF4-FFF2-40B4-BE49-F238E27FC236}">
                <a16:creationId xmlns:a16="http://schemas.microsoft.com/office/drawing/2014/main" id="{AADFCFB5-9870-648C-29FD-5C33CF6709B6}"/>
              </a:ext>
            </a:extLst>
          </p:cNvPr>
          <p:cNvSpPr txBox="1"/>
          <p:nvPr/>
        </p:nvSpPr>
        <p:spPr>
          <a:xfrm>
            <a:off x="6687543" y="4426744"/>
            <a:ext cx="2399307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이미 데이터 정합성과 기능 검증이 완료된 사내 대시보드를 기반으로 작동합니다</a:t>
            </a:r>
            <a:r>
              <a:rPr lang="en-US" altLang="ko-KR" sz="600" dirty="0">
                <a:solidFill>
                  <a:srgbClr val="64748B"/>
                </a:solidFill>
                <a:ea typeface="SUIT"/>
                <a:sym typeface="SUIT"/>
              </a:rPr>
              <a:t>. 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생성형 </a:t>
            </a:r>
            <a:r>
              <a:rPr lang="en-US" altLang="ko-KR" sz="600" dirty="0">
                <a:solidFill>
                  <a:srgbClr val="64748B"/>
                </a:solidFill>
                <a:ea typeface="SUIT"/>
                <a:sym typeface="SUIT"/>
              </a:rPr>
              <a:t>AI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의 치명적 약점인 임의적인 숫자 생성이나 이상 상태</a:t>
            </a:r>
            <a:r>
              <a:rPr lang="en-US" altLang="ko-KR" sz="600" dirty="0">
                <a:solidFill>
                  <a:srgbClr val="64748B"/>
                </a:solidFill>
                <a:ea typeface="SUIT"/>
                <a:sym typeface="SUIT"/>
              </a:rPr>
              <a:t>(Hallucination)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를 완벽히 차단하여</a:t>
            </a:r>
            <a:r>
              <a:rPr lang="en-US" altLang="ko-KR" sz="600" dirty="0">
                <a:solidFill>
                  <a:srgbClr val="64748B"/>
                </a:solidFill>
                <a:ea typeface="SUIT"/>
                <a:sym typeface="SUIT"/>
              </a:rPr>
              <a:t>, 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신뢰할 수 있는 데이터 로직으로만 결과를 보여줍니다</a:t>
            </a:r>
            <a:r>
              <a:rPr lang="en-US" altLang="ko-KR" sz="600" dirty="0">
                <a:solidFill>
                  <a:srgbClr val="64748B"/>
                </a:solidFill>
                <a:ea typeface="SUIT"/>
                <a:sym typeface="SUIT"/>
              </a:rPr>
              <a:t>.</a:t>
            </a:r>
            <a:endParaRPr sz="1400" dirty="0"/>
          </a:p>
        </p:txBody>
      </p:sp>
      <p:pic>
        <p:nvPicPr>
          <p:cNvPr id="20" name="그래픽 19" descr="배지 체크 표시1 단색으로 채워진">
            <a:extLst>
              <a:ext uri="{FF2B5EF4-FFF2-40B4-BE49-F238E27FC236}">
                <a16:creationId xmlns:a16="http://schemas.microsoft.com/office/drawing/2014/main" id="{83D73D4C-F78E-3589-29A4-8B1F8E71B8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980" y="4249830"/>
            <a:ext cx="105267" cy="105267"/>
          </a:xfrm>
          <a:prstGeom prst="rect">
            <a:avLst/>
          </a:prstGeom>
        </p:spPr>
      </p:pic>
      <p:pic>
        <p:nvPicPr>
          <p:cNvPr id="21" name="그래픽 20" descr="배지 체크 표시1 단색으로 채워진">
            <a:extLst>
              <a:ext uri="{FF2B5EF4-FFF2-40B4-BE49-F238E27FC236}">
                <a16:creationId xmlns:a16="http://schemas.microsoft.com/office/drawing/2014/main" id="{5E98F2F8-A37D-2900-77A2-5556980FAE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1818" y="4252666"/>
            <a:ext cx="105267" cy="105267"/>
          </a:xfrm>
          <a:prstGeom prst="rect">
            <a:avLst/>
          </a:prstGeom>
        </p:spPr>
      </p:pic>
      <p:pic>
        <p:nvPicPr>
          <p:cNvPr id="25" name="그래픽 24" descr="배지 체크 표시1 단색으로 채워진">
            <a:extLst>
              <a:ext uri="{FF2B5EF4-FFF2-40B4-BE49-F238E27FC236}">
                <a16:creationId xmlns:a16="http://schemas.microsoft.com/office/drawing/2014/main" id="{1311F399-F963-EC37-B0E2-8FC92568EB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0730" y="4252666"/>
            <a:ext cx="105267" cy="105267"/>
          </a:xfrm>
          <a:prstGeom prst="rect">
            <a:avLst/>
          </a:prstGeom>
        </p:spPr>
      </p:pic>
      <p:sp>
        <p:nvSpPr>
          <p:cNvPr id="26" name="Google Shape;144;p13">
            <a:extLst>
              <a:ext uri="{FF2B5EF4-FFF2-40B4-BE49-F238E27FC236}">
                <a16:creationId xmlns:a16="http://schemas.microsoft.com/office/drawing/2014/main" id="{3A8D813B-724F-F5D0-E77C-D6714A83A338}"/>
              </a:ext>
            </a:extLst>
          </p:cNvPr>
          <p:cNvSpPr txBox="1"/>
          <p:nvPr/>
        </p:nvSpPr>
        <p:spPr>
          <a:xfrm>
            <a:off x="4705628" y="4243745"/>
            <a:ext cx="2038379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800" b="1" dirty="0">
                <a:latin typeface="SUIT" pitchFamily="2" charset="-127"/>
                <a:ea typeface="SUIT" pitchFamily="2" charset="-127"/>
              </a:rPr>
              <a:t>결과의 시각적 증명 </a:t>
            </a:r>
            <a:r>
              <a:rPr lang="en-US" altLang="ko-KR" sz="800" b="1" dirty="0">
                <a:latin typeface="SUIT" pitchFamily="2" charset="-127"/>
                <a:ea typeface="SUIT" pitchFamily="2" charset="-127"/>
              </a:rPr>
              <a:t>(Visual Proof)</a:t>
            </a:r>
          </a:p>
        </p:txBody>
      </p:sp>
      <p:sp>
        <p:nvSpPr>
          <p:cNvPr id="30" name="Google Shape;145;p13">
            <a:extLst>
              <a:ext uri="{FF2B5EF4-FFF2-40B4-BE49-F238E27FC236}">
                <a16:creationId xmlns:a16="http://schemas.microsoft.com/office/drawing/2014/main" id="{E3CD3B34-7B82-AB0C-1806-E917AD234B97}"/>
              </a:ext>
            </a:extLst>
          </p:cNvPr>
          <p:cNvSpPr txBox="1"/>
          <p:nvPr/>
        </p:nvSpPr>
        <p:spPr>
          <a:xfrm>
            <a:off x="4584184" y="4426744"/>
            <a:ext cx="2062757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텍스트 답변에 그치지 않고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,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화면의 차트를 직접 조작하여 답변의 근거를 직관적으로 증명합니다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.</a:t>
            </a:r>
          </a:p>
        </p:txBody>
      </p:sp>
      <p:pic>
        <p:nvPicPr>
          <p:cNvPr id="34" name="그래픽 33" descr="배지 체크 표시1 단색으로 채워진">
            <a:extLst>
              <a:ext uri="{FF2B5EF4-FFF2-40B4-BE49-F238E27FC236}">
                <a16:creationId xmlns:a16="http://schemas.microsoft.com/office/drawing/2014/main" id="{B935F2C8-9624-47F5-8A7D-334D70AE2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5315" y="4252666"/>
            <a:ext cx="105267" cy="105267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7EC0C220-E606-940D-D173-69D78A5CE472}"/>
              </a:ext>
            </a:extLst>
          </p:cNvPr>
          <p:cNvSpPr/>
          <p:nvPr/>
        </p:nvSpPr>
        <p:spPr>
          <a:xfrm>
            <a:off x="735946" y="1478204"/>
            <a:ext cx="2549911" cy="497779"/>
          </a:xfrm>
          <a:prstGeom prst="roundRect">
            <a:avLst>
              <a:gd name="adj" fmla="val 5782"/>
            </a:avLst>
          </a:prstGeom>
          <a:solidFill>
            <a:srgbClr val="0A1628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4903B-039C-93BC-8412-99B1010A4CFA}"/>
              </a:ext>
            </a:extLst>
          </p:cNvPr>
          <p:cNvSpPr txBox="1"/>
          <p:nvPr/>
        </p:nvSpPr>
        <p:spPr>
          <a:xfrm>
            <a:off x="827410" y="1568882"/>
            <a:ext cx="2392914" cy="31739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이번 분기 전체 영업 매출은 목표를 달성했는데</a:t>
            </a:r>
            <a:r>
              <a:rPr lang="en-US" altLang="ko-KR" sz="900" b="1" dirty="0">
                <a:solidFill>
                  <a:schemeClr val="bg1"/>
                </a:solidFill>
                <a:latin typeface="+mn-ea"/>
              </a:rPr>
              <a:t>,</a:t>
            </a:r>
          </a:p>
          <a:p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수도권 지역 매출이 유독 빠진 원인이 </a:t>
            </a:r>
            <a:r>
              <a:rPr lang="ko-KR" altLang="en-US" sz="900" b="1" dirty="0" err="1">
                <a:solidFill>
                  <a:schemeClr val="bg1"/>
                </a:solidFill>
                <a:latin typeface="+mn-ea"/>
              </a:rPr>
              <a:t>뭐야</a:t>
            </a:r>
            <a:r>
              <a:rPr lang="en-US" altLang="ko-KR" sz="900" b="1" dirty="0">
                <a:solidFill>
                  <a:schemeClr val="bg1"/>
                </a:solidFill>
                <a:latin typeface="+mn-ea"/>
              </a:rPr>
              <a:t>?</a:t>
            </a:r>
            <a:endParaRPr lang="en-US" sz="900" b="1" dirty="0">
              <a:solidFill>
                <a:srgbClr val="41C0C2"/>
              </a:solidFill>
              <a:latin typeface="+mn-ea"/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F012B39B-7764-904F-2404-00F609361695}"/>
              </a:ext>
            </a:extLst>
          </p:cNvPr>
          <p:cNvSpPr/>
          <p:nvPr/>
        </p:nvSpPr>
        <p:spPr>
          <a:xfrm>
            <a:off x="322607" y="2024156"/>
            <a:ext cx="2225391" cy="598394"/>
          </a:xfrm>
          <a:prstGeom prst="roundRect">
            <a:avLst>
              <a:gd name="adj" fmla="val 2742"/>
            </a:avLst>
          </a:prstGeom>
          <a:solidFill>
            <a:srgbClr val="FAFEFE"/>
          </a:solidFill>
          <a:ln>
            <a:solidFill>
              <a:srgbClr val="6EE6DE"/>
            </a:solidFill>
            <a:prstDash val="sysDash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9" name="그래픽 38" descr="좌뇌 단색으로 채워진">
            <a:extLst>
              <a:ext uri="{FF2B5EF4-FFF2-40B4-BE49-F238E27FC236}">
                <a16:creationId xmlns:a16="http://schemas.microsoft.com/office/drawing/2014/main" id="{13262270-8D68-781A-7002-C7ADB3321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790" y="2049557"/>
            <a:ext cx="151606" cy="151606"/>
          </a:xfrm>
          <a:prstGeom prst="rect">
            <a:avLst/>
          </a:prstGeom>
        </p:spPr>
      </p:pic>
      <p:sp>
        <p:nvSpPr>
          <p:cNvPr id="40" name="Google Shape;146;p13">
            <a:extLst>
              <a:ext uri="{FF2B5EF4-FFF2-40B4-BE49-F238E27FC236}">
                <a16:creationId xmlns:a16="http://schemas.microsoft.com/office/drawing/2014/main" id="{B2CB2179-5779-8A3E-40B8-ED874445A5C6}"/>
              </a:ext>
            </a:extLst>
          </p:cNvPr>
          <p:cNvSpPr txBox="1"/>
          <p:nvPr/>
        </p:nvSpPr>
        <p:spPr>
          <a:xfrm>
            <a:off x="526396" y="2085746"/>
            <a:ext cx="203837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700" b="1" dirty="0">
                <a:latin typeface="+mn-ea"/>
                <a:sym typeface="SUIT"/>
              </a:rPr>
              <a:t>Agent Reasoning Engine</a:t>
            </a:r>
          </a:p>
        </p:txBody>
      </p:sp>
      <p:sp>
        <p:nvSpPr>
          <p:cNvPr id="41" name="Google Shape;146;p13">
            <a:extLst>
              <a:ext uri="{FF2B5EF4-FFF2-40B4-BE49-F238E27FC236}">
                <a16:creationId xmlns:a16="http://schemas.microsoft.com/office/drawing/2014/main" id="{4E9D5A45-C82A-7EFC-C6A7-B09D0D1A44BD}"/>
              </a:ext>
            </a:extLst>
          </p:cNvPr>
          <p:cNvSpPr txBox="1"/>
          <p:nvPr/>
        </p:nvSpPr>
        <p:spPr>
          <a:xfrm>
            <a:off x="374790" y="2224264"/>
            <a:ext cx="213233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600" b="1" dirty="0">
                <a:latin typeface="+mn-ea"/>
                <a:sym typeface="SUIT"/>
              </a:rPr>
              <a:t>1. </a:t>
            </a:r>
            <a:r>
              <a:rPr lang="ko-KR" altLang="en-US" sz="600" b="1" dirty="0">
                <a:latin typeface="+mn-ea"/>
                <a:sym typeface="SUIT"/>
              </a:rPr>
              <a:t>화면 </a:t>
            </a:r>
            <a:r>
              <a:rPr lang="ko-KR" altLang="en-US" sz="600" b="1" dirty="0" err="1">
                <a:latin typeface="+mn-ea"/>
                <a:sym typeface="SUIT"/>
              </a:rPr>
              <a:t>콘텍스트</a:t>
            </a:r>
            <a:r>
              <a:rPr lang="ko-KR" altLang="en-US" sz="600" b="1" dirty="0">
                <a:latin typeface="+mn-ea"/>
                <a:sym typeface="SUIT"/>
              </a:rPr>
              <a:t> 인지</a:t>
            </a:r>
            <a:r>
              <a:rPr lang="en-US" altLang="ko-KR" sz="600" b="1" dirty="0">
                <a:latin typeface="+mn-ea"/>
                <a:sym typeface="SUIT"/>
              </a:rPr>
              <a:t>: </a:t>
            </a:r>
            <a:r>
              <a:rPr lang="ko-KR" altLang="en-US" sz="600" b="1" dirty="0">
                <a:latin typeface="+mn-ea"/>
                <a:sym typeface="SUIT"/>
              </a:rPr>
              <a:t>현재 뷰 </a:t>
            </a:r>
            <a:r>
              <a:rPr lang="en-US" altLang="ko-KR" sz="600" b="1" dirty="0">
                <a:latin typeface="+mn-ea"/>
                <a:sym typeface="SUIT"/>
              </a:rPr>
              <a:t>[</a:t>
            </a:r>
            <a:r>
              <a:rPr lang="ko-KR" altLang="en-US" sz="600" b="1" dirty="0">
                <a:latin typeface="+mn-ea"/>
                <a:sym typeface="SUIT"/>
              </a:rPr>
              <a:t>전체 지역</a:t>
            </a:r>
            <a:r>
              <a:rPr lang="en-US" altLang="ko-KR" sz="600" b="1" dirty="0">
                <a:latin typeface="+mn-ea"/>
                <a:sym typeface="SUIT"/>
              </a:rPr>
              <a:t>] / [</a:t>
            </a:r>
            <a:r>
              <a:rPr lang="ko-KR" altLang="en-US" sz="600" b="1" dirty="0">
                <a:latin typeface="+mn-ea"/>
                <a:sym typeface="SUIT"/>
              </a:rPr>
              <a:t>전체 </a:t>
            </a:r>
            <a:r>
              <a:rPr lang="ko-KR" altLang="en-US" sz="600" b="1" dirty="0" err="1">
                <a:latin typeface="+mn-ea"/>
                <a:sym typeface="SUIT"/>
              </a:rPr>
              <a:t>고객군</a:t>
            </a:r>
            <a:r>
              <a:rPr lang="en-US" altLang="ko-KR" sz="600" b="1" dirty="0">
                <a:latin typeface="+mn-ea"/>
                <a:sym typeface="SUIT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600" b="1" dirty="0">
                <a:latin typeface="+mn-ea"/>
                <a:sym typeface="SUIT"/>
              </a:rPr>
              <a:t>2. </a:t>
            </a:r>
            <a:r>
              <a:rPr lang="ko-KR" altLang="en-US" sz="600" b="1" dirty="0">
                <a:latin typeface="+mn-ea"/>
                <a:sym typeface="SUIT"/>
              </a:rPr>
              <a:t>영업 마트 스킬 호출 ➔ 지역</a:t>
            </a:r>
            <a:r>
              <a:rPr lang="en-US" altLang="ko-KR" sz="600" b="1" dirty="0">
                <a:latin typeface="+mn-ea"/>
                <a:sym typeface="SUIT"/>
              </a:rPr>
              <a:t>='</a:t>
            </a:r>
            <a:r>
              <a:rPr lang="ko-KR" altLang="en-US" sz="600" b="1" dirty="0">
                <a:latin typeface="+mn-ea"/>
                <a:sym typeface="SUIT"/>
              </a:rPr>
              <a:t>수도권</a:t>
            </a:r>
            <a:r>
              <a:rPr lang="en-US" altLang="ko-KR" sz="600" b="1" dirty="0">
                <a:latin typeface="+mn-ea"/>
                <a:sym typeface="SUIT"/>
              </a:rPr>
              <a:t>' </a:t>
            </a:r>
            <a:r>
              <a:rPr lang="ko-KR" altLang="en-US" sz="600" b="1" dirty="0">
                <a:latin typeface="+mn-ea"/>
                <a:sym typeface="SUIT"/>
              </a:rPr>
              <a:t>세부 데이터 쿼리 수행</a:t>
            </a:r>
          </a:p>
          <a:p>
            <a:pPr>
              <a:lnSpc>
                <a:spcPct val="120000"/>
              </a:lnSpc>
            </a:pPr>
            <a:r>
              <a:rPr lang="en-US" altLang="ko-KR" sz="600" b="1" dirty="0">
                <a:latin typeface="+mn-ea"/>
                <a:sym typeface="SUIT"/>
              </a:rPr>
              <a:t>3. </a:t>
            </a:r>
            <a:r>
              <a:rPr lang="ko-KR" altLang="en-US" sz="600" b="1" dirty="0">
                <a:latin typeface="+mn-ea"/>
                <a:sym typeface="SUIT"/>
              </a:rPr>
              <a:t>하락 요인 도출 ➔ </a:t>
            </a:r>
            <a:r>
              <a:rPr lang="en-US" altLang="ko-KR" sz="600" b="1" dirty="0">
                <a:latin typeface="+mn-ea"/>
                <a:sym typeface="SUIT"/>
              </a:rPr>
              <a:t>[</a:t>
            </a:r>
            <a:r>
              <a:rPr lang="ko-KR" altLang="en-US" sz="600" b="1" dirty="0">
                <a:latin typeface="+mn-ea"/>
                <a:sym typeface="SUIT"/>
              </a:rPr>
              <a:t>기업 </a:t>
            </a:r>
            <a:r>
              <a:rPr lang="ko-KR" altLang="en-US" sz="600" b="1" dirty="0" err="1">
                <a:latin typeface="+mn-ea"/>
                <a:sym typeface="SUIT"/>
              </a:rPr>
              <a:t>고객군</a:t>
            </a:r>
            <a:r>
              <a:rPr lang="en-US" altLang="ko-KR" sz="600" b="1" dirty="0">
                <a:latin typeface="+mn-ea"/>
                <a:sym typeface="SUIT"/>
              </a:rPr>
              <a:t>]</a:t>
            </a:r>
            <a:r>
              <a:rPr lang="ko-KR" altLang="en-US" sz="600" b="1" dirty="0">
                <a:latin typeface="+mn-ea"/>
                <a:sym typeface="SUIT"/>
              </a:rPr>
              <a:t>의 </a:t>
            </a:r>
            <a:r>
              <a:rPr lang="en-US" altLang="ko-KR" sz="600" b="1" dirty="0">
                <a:latin typeface="+mn-ea"/>
                <a:sym typeface="SUIT"/>
              </a:rPr>
              <a:t>[</a:t>
            </a:r>
            <a:r>
              <a:rPr lang="ko-KR" altLang="en-US" sz="600" b="1" dirty="0">
                <a:latin typeface="+mn-ea"/>
                <a:sym typeface="SUIT"/>
              </a:rPr>
              <a:t>전자제품</a:t>
            </a:r>
            <a:r>
              <a:rPr lang="en-US" altLang="ko-KR" sz="600" b="1" dirty="0">
                <a:latin typeface="+mn-ea"/>
                <a:sym typeface="SUIT"/>
              </a:rPr>
              <a:t>] </a:t>
            </a:r>
            <a:r>
              <a:rPr lang="ko-KR" altLang="en-US" sz="600" b="1" dirty="0">
                <a:latin typeface="+mn-ea"/>
                <a:sym typeface="SUIT"/>
              </a:rPr>
              <a:t>발주 감소 감지</a:t>
            </a:r>
            <a:endParaRPr lang="en-US" altLang="ko-KR" sz="600" b="1" dirty="0">
              <a:latin typeface="+mn-ea"/>
              <a:sym typeface="SUIT"/>
            </a:endParaRPr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C32A66E1-DF2B-247B-83F4-98252C425A28}"/>
              </a:ext>
            </a:extLst>
          </p:cNvPr>
          <p:cNvSpPr/>
          <p:nvPr/>
        </p:nvSpPr>
        <p:spPr>
          <a:xfrm rot="10800000">
            <a:off x="322605" y="2757391"/>
            <a:ext cx="2508206" cy="1292394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1519">
                <a:srgbClr val="00D4C5"/>
              </a:gs>
              <a:gs pos="152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Google Shape;154;p13">
            <a:extLst>
              <a:ext uri="{FF2B5EF4-FFF2-40B4-BE49-F238E27FC236}">
                <a16:creationId xmlns:a16="http://schemas.microsoft.com/office/drawing/2014/main" id="{666F8992-69D7-6D81-54D4-73C143422F98}"/>
              </a:ext>
            </a:extLst>
          </p:cNvPr>
          <p:cNvSpPr txBox="1"/>
          <p:nvPr/>
        </p:nvSpPr>
        <p:spPr>
          <a:xfrm>
            <a:off x="577654" y="2794737"/>
            <a:ext cx="822961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700" b="1" dirty="0">
                <a:solidFill>
                  <a:srgbClr val="0F172A"/>
                </a:solidFill>
                <a:latin typeface="SUIT ExtraBold" pitchFamily="50" charset="-127"/>
                <a:ea typeface="SUIT ExtraBold" pitchFamily="50" charset="-127"/>
                <a:cs typeface="SUIT"/>
                <a:sym typeface="SUIT"/>
              </a:rPr>
              <a:t>aisight Agent</a:t>
            </a:r>
            <a:endParaRPr sz="1400" dirty="0">
              <a:solidFill>
                <a:srgbClr val="0F172A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5" name="Google Shape;147;p13">
            <a:extLst>
              <a:ext uri="{FF2B5EF4-FFF2-40B4-BE49-F238E27FC236}">
                <a16:creationId xmlns:a16="http://schemas.microsoft.com/office/drawing/2014/main" id="{8531BB42-E70F-53FB-732C-E32B4D3E38DC}"/>
              </a:ext>
            </a:extLst>
          </p:cNvPr>
          <p:cNvSpPr txBox="1"/>
          <p:nvPr/>
        </p:nvSpPr>
        <p:spPr>
          <a:xfrm>
            <a:off x="474091" y="2975267"/>
            <a:ext cx="2226543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ko-KR" altLang="ko-KR" sz="700" b="0" i="0" dirty="0">
                <a:solidFill>
                  <a:srgbClr val="0F172A"/>
                </a:solidFill>
                <a:effectLst/>
                <a:latin typeface="SUIT Variable"/>
              </a:rPr>
              <a:t>수도권 데이터 교차 분석 결과, </a:t>
            </a:r>
            <a:r>
              <a:rPr lang="ko-KR" altLang="ko-KR" sz="700" b="1" i="0" dirty="0">
                <a:solidFill>
                  <a:srgbClr val="028090"/>
                </a:solidFill>
                <a:effectLst/>
                <a:latin typeface="SUIT Variable"/>
              </a:rPr>
              <a:t>'전자제품' 카테고리의 기업 고객 이탈(-11.3%)</a:t>
            </a:r>
            <a:r>
              <a:rPr lang="ko-KR" altLang="ko-KR" sz="700" b="0" i="0" dirty="0">
                <a:solidFill>
                  <a:srgbClr val="0F172A"/>
                </a:solidFill>
                <a:effectLst/>
                <a:latin typeface="SUIT Variable"/>
              </a:rPr>
              <a:t>이 전분기 대비 주요 하락 원인으로 파악되었습니다.</a:t>
            </a:r>
            <a:br>
              <a:rPr lang="ko-KR" altLang="ko-KR" sz="700" dirty="0"/>
            </a:br>
            <a:br>
              <a:rPr lang="ko-KR" altLang="ko-KR" sz="700" dirty="0"/>
            </a:br>
            <a:r>
              <a:rPr lang="ko-KR" altLang="ko-KR" sz="700" b="0" i="0" dirty="0">
                <a:solidFill>
                  <a:srgbClr val="0F172A"/>
                </a:solidFill>
                <a:effectLst/>
                <a:latin typeface="SUIT Variable"/>
              </a:rPr>
              <a:t>해당 세부 데이터를 직관적으로 확인하실 수 있도록, </a:t>
            </a:r>
            <a:r>
              <a:rPr lang="ko-KR" altLang="ko-KR" sz="700" b="1" i="0" dirty="0">
                <a:solidFill>
                  <a:srgbClr val="028090"/>
                </a:solidFill>
                <a:effectLst/>
                <a:latin typeface="SUIT Variable"/>
              </a:rPr>
              <a:t>현재 보고 계신 대시보드의 필터를 해당 조건으로 자동 전환</a:t>
            </a:r>
            <a:r>
              <a:rPr lang="ko-KR" altLang="ko-KR" sz="700" b="0" i="0" dirty="0">
                <a:solidFill>
                  <a:srgbClr val="0F172A"/>
                </a:solidFill>
                <a:effectLst/>
                <a:latin typeface="SUIT Variable"/>
              </a:rPr>
              <a:t>했습니다</a:t>
            </a:r>
            <a:endParaRPr lang="en-US" altLang="ko-KR" sz="5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780CAD-C23D-2FA9-1F3D-CC75DF79164C}"/>
              </a:ext>
            </a:extLst>
          </p:cNvPr>
          <p:cNvSpPr txBox="1"/>
          <p:nvPr/>
        </p:nvSpPr>
        <p:spPr>
          <a:xfrm>
            <a:off x="477360" y="3765228"/>
            <a:ext cx="2092987" cy="185751"/>
          </a:xfrm>
          <a:prstGeom prst="rect">
            <a:avLst/>
          </a:prstGeom>
          <a:solidFill>
            <a:srgbClr val="07D2C5">
              <a:alpha val="8000"/>
            </a:srgbClr>
          </a:solidFill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800" b="1" i="0" u="none" strike="noStrike" dirty="0">
                <a:solidFill>
                  <a:srgbClr val="0D9488"/>
                </a:solidFill>
                <a:effectLst/>
                <a:ea typeface="Noto Sans KR" panose="020B0200000000000000" pitchFamily="50" charset="-127"/>
              </a:rPr>
              <a:t>Dashboard Sync – View Updated</a:t>
            </a:r>
            <a:endParaRPr lang="ko-KR" altLang="en-US" sz="700" b="1" dirty="0">
              <a:solidFill>
                <a:srgbClr val="0D9488"/>
              </a:solidFill>
              <a:latin typeface="SUIT Light" pitchFamily="50" charset="-127"/>
              <a:ea typeface="SUIT Light" pitchFamily="50" charset="-127"/>
            </a:endParaRPr>
          </a:p>
        </p:txBody>
      </p:sp>
      <p:pic>
        <p:nvPicPr>
          <p:cNvPr id="47" name="그래픽 46" descr="마법 지팡이 자동 단색으로 채워진">
            <a:extLst>
              <a:ext uri="{FF2B5EF4-FFF2-40B4-BE49-F238E27FC236}">
                <a16:creationId xmlns:a16="http://schemas.microsoft.com/office/drawing/2014/main" id="{4A09F0F5-9189-57EB-4E91-9181451AD7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970" y="3789261"/>
            <a:ext cx="137370" cy="137370"/>
          </a:xfrm>
          <a:prstGeom prst="rect">
            <a:avLst/>
          </a:prstGeom>
        </p:spPr>
      </p:pic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D7D4782E-2FB1-D46E-71F6-8C5DCC9563F3}"/>
              </a:ext>
            </a:extLst>
          </p:cNvPr>
          <p:cNvCxnSpPr>
            <a:cxnSpLocks/>
            <a:stCxn id="46" idx="3"/>
            <a:endCxn id="1025" idx="1"/>
          </p:cNvCxnSpPr>
          <p:nvPr/>
        </p:nvCxnSpPr>
        <p:spPr>
          <a:xfrm flipV="1">
            <a:off x="2570347" y="2440397"/>
            <a:ext cx="1009010" cy="1417707"/>
          </a:xfrm>
          <a:prstGeom prst="bentConnector3">
            <a:avLst>
              <a:gd name="adj1" fmla="val 50000"/>
            </a:avLst>
          </a:prstGeom>
          <a:ln w="9525">
            <a:solidFill>
              <a:srgbClr val="41C0C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FDE91D6-A12C-26AD-8F13-4F4AA41066AB}"/>
              </a:ext>
            </a:extLst>
          </p:cNvPr>
          <p:cNvSpPr/>
          <p:nvPr/>
        </p:nvSpPr>
        <p:spPr>
          <a:xfrm>
            <a:off x="3609764" y="1478204"/>
            <a:ext cx="685905" cy="24306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C44BFDE-9A4C-7BB0-FE61-7DD253CD2E2F}"/>
              </a:ext>
            </a:extLst>
          </p:cNvPr>
          <p:cNvSpPr/>
          <p:nvPr/>
        </p:nvSpPr>
        <p:spPr>
          <a:xfrm rot="2700000">
            <a:off x="8046018" y="1632154"/>
            <a:ext cx="1058362" cy="234459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i="1" dirty="0">
                <a:solidFill>
                  <a:srgbClr val="FFC000"/>
                </a:solidFill>
              </a:rPr>
              <a:t>Illustration</a:t>
            </a:r>
            <a:endParaRPr lang="ko-KR" altLang="en-US" sz="1100" i="1" dirty="0">
              <a:solidFill>
                <a:srgbClr val="FFC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5215-7409-893A-F2B7-63DE4D9F924C}"/>
              </a:ext>
            </a:extLst>
          </p:cNvPr>
          <p:cNvSpPr txBox="1"/>
          <p:nvPr/>
        </p:nvSpPr>
        <p:spPr>
          <a:xfrm>
            <a:off x="3632632" y="1689452"/>
            <a:ext cx="577626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기간</a:t>
            </a:r>
            <a:endParaRPr lang="en-US" sz="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17B3E93A-D82B-EDD4-DE97-CA2F108C2F39}"/>
              </a:ext>
            </a:extLst>
          </p:cNvPr>
          <p:cNvSpPr/>
          <p:nvPr/>
        </p:nvSpPr>
        <p:spPr>
          <a:xfrm>
            <a:off x="3632631" y="1823490"/>
            <a:ext cx="577626" cy="156614"/>
          </a:xfrm>
          <a:prstGeom prst="roundRect">
            <a:avLst>
              <a:gd name="adj" fmla="val 1411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lIns="18000" tIns="18000" rIns="18000" bIns="18000">
            <a:spAutoFit/>
          </a:bodyPr>
          <a:lstStyle/>
          <a:p>
            <a:r>
              <a:rPr lang="en-US" altLang="ko-KR" sz="700" dirty="0"/>
              <a:t>2026.Q2</a:t>
            </a:r>
            <a:endParaRPr lang="ko-KR" altLang="en-US" sz="7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1EDEC3-2AB2-BBE6-12BD-B160181256ED}"/>
              </a:ext>
            </a:extLst>
          </p:cNvPr>
          <p:cNvSpPr txBox="1"/>
          <p:nvPr/>
        </p:nvSpPr>
        <p:spPr>
          <a:xfrm>
            <a:off x="3632633" y="2067125"/>
            <a:ext cx="577626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지역</a:t>
            </a:r>
            <a:endParaRPr lang="en-US" sz="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7CE59554-9E10-344A-678B-14691D751C11}"/>
              </a:ext>
            </a:extLst>
          </p:cNvPr>
          <p:cNvSpPr/>
          <p:nvPr/>
        </p:nvSpPr>
        <p:spPr>
          <a:xfrm>
            <a:off x="3632632" y="2201163"/>
            <a:ext cx="577626" cy="156614"/>
          </a:xfrm>
          <a:prstGeom prst="roundRect">
            <a:avLst>
              <a:gd name="adj" fmla="val 14112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07D2C5"/>
            </a:solidFill>
            <a:prstDash val="solid"/>
          </a:ln>
        </p:spPr>
        <p:txBody>
          <a:bodyPr wrap="square" lIns="18000" tIns="18000" rIns="18000" bIns="18000">
            <a:spAutoFit/>
          </a:bodyPr>
          <a:lstStyle/>
          <a:p>
            <a:r>
              <a:rPr lang="ko-KR" altLang="en-US" sz="700" dirty="0"/>
              <a:t>수도권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553F78-CDCA-1894-ECB0-07632619B2BE}"/>
              </a:ext>
            </a:extLst>
          </p:cNvPr>
          <p:cNvSpPr txBox="1"/>
          <p:nvPr/>
        </p:nvSpPr>
        <p:spPr>
          <a:xfrm>
            <a:off x="3632634" y="2418035"/>
            <a:ext cx="577626" cy="13272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고객군</a:t>
            </a:r>
            <a:endParaRPr lang="en-US" sz="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024" name="Shape 4">
            <a:extLst>
              <a:ext uri="{FF2B5EF4-FFF2-40B4-BE49-F238E27FC236}">
                <a16:creationId xmlns:a16="http://schemas.microsoft.com/office/drawing/2014/main" id="{3A456DEB-471C-2928-3672-5A0B27512EFC}"/>
              </a:ext>
            </a:extLst>
          </p:cNvPr>
          <p:cNvSpPr/>
          <p:nvPr/>
        </p:nvSpPr>
        <p:spPr>
          <a:xfrm>
            <a:off x="3632633" y="2552073"/>
            <a:ext cx="577626" cy="156614"/>
          </a:xfrm>
          <a:prstGeom prst="roundRect">
            <a:avLst>
              <a:gd name="adj" fmla="val 14112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07D2C5"/>
            </a:solidFill>
            <a:prstDash val="solid"/>
          </a:ln>
        </p:spPr>
        <p:txBody>
          <a:bodyPr wrap="square" lIns="18000" tIns="18000" rIns="18000" bIns="18000">
            <a:spAutoFit/>
          </a:bodyPr>
          <a:lstStyle/>
          <a:p>
            <a:r>
              <a:rPr lang="en-US" altLang="ko-KR" sz="700" dirty="0"/>
              <a:t>B2B</a:t>
            </a:r>
            <a:endParaRPr lang="ko-KR" altLang="en-US" sz="700" dirty="0"/>
          </a:p>
        </p:txBody>
      </p:sp>
      <p:sp>
        <p:nvSpPr>
          <p:cNvPr id="1025" name="Shape 4">
            <a:extLst>
              <a:ext uri="{FF2B5EF4-FFF2-40B4-BE49-F238E27FC236}">
                <a16:creationId xmlns:a16="http://schemas.microsoft.com/office/drawing/2014/main" id="{4F035261-84B9-6DAC-B010-4A6D285AF439}"/>
              </a:ext>
            </a:extLst>
          </p:cNvPr>
          <p:cNvSpPr/>
          <p:nvPr/>
        </p:nvSpPr>
        <p:spPr>
          <a:xfrm>
            <a:off x="3579357" y="2064301"/>
            <a:ext cx="701238" cy="752192"/>
          </a:xfrm>
          <a:prstGeom prst="roundRect">
            <a:avLst>
              <a:gd name="adj" fmla="val 20983"/>
            </a:avLst>
          </a:prstGeom>
          <a:noFill/>
          <a:ln w="9525">
            <a:solidFill>
              <a:srgbClr val="41C0C2"/>
            </a:solidFill>
            <a:prstDash val="dash"/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endParaRPr lang="ko-KR" altLang="en-US" sz="800" b="1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7DFEBB-B109-BE78-2DE9-02A1279D81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06" y="2780996"/>
            <a:ext cx="98245" cy="11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3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15093-7790-9359-DC7F-A7FD736BF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>
            <a:extLst>
              <a:ext uri="{FF2B5EF4-FFF2-40B4-BE49-F238E27FC236}">
                <a16:creationId xmlns:a16="http://schemas.microsoft.com/office/drawing/2014/main" id="{8DBE7307-7EF7-C79D-25FE-28B05BE7AE97}"/>
              </a:ext>
            </a:extLst>
          </p:cNvPr>
          <p:cNvSpPr/>
          <p:nvPr/>
        </p:nvSpPr>
        <p:spPr>
          <a:xfrm rot="10800000">
            <a:off x="3530748" y="1292296"/>
            <a:ext cx="5297376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719">
                <a:srgbClr val="00D4C5"/>
              </a:gs>
              <a:gs pos="72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F44887-E1EC-10E7-7BB7-53C27F97CFDD}"/>
              </a:ext>
            </a:extLst>
          </p:cNvPr>
          <p:cNvSpPr txBox="1"/>
          <p:nvPr/>
        </p:nvSpPr>
        <p:spPr>
          <a:xfrm>
            <a:off x="3725482" y="1349112"/>
            <a:ext cx="5007037" cy="68159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            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질문  </a:t>
            </a: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- 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스킬 라우팅 및 지표 조회</a:t>
            </a:r>
            <a:endParaRPr lang="en-US" altLang="ko-KR" sz="10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Noto Sans KR" panose="020B0200000000000000" pitchFamily="50" charset="-127"/>
            </a:endParaRPr>
          </a:p>
          <a:p>
            <a:pPr>
              <a:lnSpc>
                <a:spcPct val="160000"/>
              </a:lnSpc>
            </a:pPr>
            <a:r>
              <a:rPr lang="en-US" altLang="ko-KR" sz="9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 V  </a:t>
            </a:r>
            <a:r>
              <a:rPr lang="ko-KR" altLang="en-US" sz="9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최적 분석 파이프라인 매칭</a:t>
            </a:r>
          </a:p>
          <a:p>
            <a:pPr>
              <a:lnSpc>
                <a:spcPct val="160000"/>
              </a:lnSpc>
            </a:pP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질문의 의도를 분석하여 복수의 스킬 중 최적의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'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역할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'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을 연결하고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,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실시간 마트 데이터와 연동하여 결과를 </a:t>
            </a:r>
            <a:r>
              <a:rPr lang="ko-KR" altLang="en-US" sz="8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시각화합니다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.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ea typeface="SUIT Light" pitchFamily="50" charset="-127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00630DA-2040-81EA-6BB0-4327EAFC56B3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02464E86-87E9-9404-364D-8086DDE9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실무 활용 시나리오 ②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: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에이전트 기반 대화형 데이터 탐색 및 분석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E1EAA06-FF93-76DF-6675-5C204C2CB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</a:t>
            </a:r>
            <a:r>
              <a:rPr lang="en-US" altLang="ko-KR" dirty="0" err="1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Business</a:t>
            </a: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 Scenarios &amp; Value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ED6F2C4-B800-2405-6B09-AF57BD1D2F2C}"/>
              </a:ext>
            </a:extLst>
          </p:cNvPr>
          <p:cNvSpPr txBox="1"/>
          <p:nvPr/>
        </p:nvSpPr>
        <p:spPr>
          <a:xfrm>
            <a:off x="256032" y="647946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다중 스킬 기반의 의도 파악부터 데이터 추출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리포트 작성까지 완벽한 분석 자동화</a:t>
            </a:r>
          </a:p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aisight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에이전트는 단순 검색을 넘어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질문의 의도를 분석해 가장 적합한 역할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(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스킬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)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을 자율적으로 제안하고 데이터 연산 및 추출을 즉시 수행합니다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</a:t>
            </a:r>
            <a:endParaRPr lang="ko-KR" altLang="en-US" sz="1100" dirty="0">
              <a:solidFill>
                <a:srgbClr val="334155"/>
              </a:solidFill>
              <a:latin typeface="+mn-ea"/>
              <a:ea typeface="+mn-ea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CEC5FBD-1B1D-F162-0605-B097FB098EBB}"/>
              </a:ext>
            </a:extLst>
          </p:cNvPr>
          <p:cNvSpPr/>
          <p:nvPr/>
        </p:nvSpPr>
        <p:spPr>
          <a:xfrm>
            <a:off x="256032" y="1292300"/>
            <a:ext cx="3035808" cy="3592120"/>
          </a:xfrm>
          <a:prstGeom prst="roundRect">
            <a:avLst>
              <a:gd name="adj" fmla="val 2487"/>
            </a:avLst>
          </a:prstGeom>
          <a:solidFill>
            <a:srgbClr val="F5F5F3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325A1E-F468-2731-59E7-973374332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76" y="1374816"/>
            <a:ext cx="2975964" cy="3427088"/>
          </a:xfrm>
          <a:prstGeom prst="rect">
            <a:avLst/>
          </a:prstGeom>
        </p:spPr>
      </p:pic>
      <p:sp>
        <p:nvSpPr>
          <p:cNvPr id="16" name="Shape 4">
            <a:extLst>
              <a:ext uri="{FF2B5EF4-FFF2-40B4-BE49-F238E27FC236}">
                <a16:creationId xmlns:a16="http://schemas.microsoft.com/office/drawing/2014/main" id="{A1D30AFE-EC46-0CE3-2EB4-7E0F9F2FFFE8}"/>
              </a:ext>
            </a:extLst>
          </p:cNvPr>
          <p:cNvSpPr/>
          <p:nvPr/>
        </p:nvSpPr>
        <p:spPr>
          <a:xfrm rot="10800000">
            <a:off x="3530748" y="2204156"/>
            <a:ext cx="5297376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719">
                <a:srgbClr val="00D4C5"/>
              </a:gs>
              <a:gs pos="72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A8666CA3-233F-239C-0C23-FB15179F2916}"/>
              </a:ext>
            </a:extLst>
          </p:cNvPr>
          <p:cNvSpPr/>
          <p:nvPr/>
        </p:nvSpPr>
        <p:spPr>
          <a:xfrm rot="10800000">
            <a:off x="3530748" y="3116016"/>
            <a:ext cx="5297376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719">
                <a:srgbClr val="00D4C5"/>
              </a:gs>
              <a:gs pos="72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34AEC179-2F55-BE20-ED62-22E746191C25}"/>
              </a:ext>
            </a:extLst>
          </p:cNvPr>
          <p:cNvSpPr/>
          <p:nvPr/>
        </p:nvSpPr>
        <p:spPr>
          <a:xfrm rot="10800000">
            <a:off x="3530748" y="4027877"/>
            <a:ext cx="5297376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719">
                <a:srgbClr val="00D4C5"/>
              </a:gs>
              <a:gs pos="72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1E6BF794-961A-67B6-EC3E-E5770B5CED4E}"/>
              </a:ext>
            </a:extLst>
          </p:cNvPr>
          <p:cNvSpPr/>
          <p:nvPr/>
        </p:nvSpPr>
        <p:spPr>
          <a:xfrm>
            <a:off x="3725483" y="1431937"/>
            <a:ext cx="351217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Step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1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87C6E7-9965-D70B-E976-5D04C06DDC23}"/>
              </a:ext>
            </a:extLst>
          </p:cNvPr>
          <p:cNvSpPr txBox="1"/>
          <p:nvPr/>
        </p:nvSpPr>
        <p:spPr>
          <a:xfrm>
            <a:off x="3725482" y="2280778"/>
            <a:ext cx="5007037" cy="68159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            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심층 원인 분석 </a:t>
            </a: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(Root-Cause)</a:t>
            </a:r>
            <a:r>
              <a:rPr lang="en-US" altLang="ko-KR" sz="9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en-US" altLang="ko-KR" sz="9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V  </a:t>
            </a:r>
            <a:r>
              <a:rPr lang="ko-KR" altLang="en-US" sz="9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다차원 교차 분석 및 추론</a:t>
            </a:r>
          </a:p>
          <a:p>
            <a:pPr>
              <a:lnSpc>
                <a:spcPct val="160000"/>
              </a:lnSpc>
            </a:pP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단순 결과 수치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(What)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제공을 넘어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,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연관된 여러 테이블을 엮어 데이터 변동의 이면적 원인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(Why)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을 도출합니다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.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ea typeface="SUIT Light" pitchFamily="50" charset="-127"/>
            </a:endParaRP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74A4FCC6-4D50-3CCB-B33A-D52DAF3E082D}"/>
              </a:ext>
            </a:extLst>
          </p:cNvPr>
          <p:cNvSpPr/>
          <p:nvPr/>
        </p:nvSpPr>
        <p:spPr>
          <a:xfrm>
            <a:off x="3725483" y="2363603"/>
            <a:ext cx="351217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Step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2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194582-6D07-977A-1F6C-5C216FB3742C}"/>
              </a:ext>
            </a:extLst>
          </p:cNvPr>
          <p:cNvSpPr txBox="1"/>
          <p:nvPr/>
        </p:nvSpPr>
        <p:spPr>
          <a:xfrm>
            <a:off x="3725483" y="3137322"/>
            <a:ext cx="5418517" cy="68159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            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원천 데이터 추출 </a:t>
            </a: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(Raw Data)</a:t>
            </a:r>
            <a:r>
              <a:rPr lang="en-US" altLang="ko-KR" sz="9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en-US" altLang="ko-KR" sz="9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V  </a:t>
            </a:r>
            <a:r>
              <a:rPr lang="en-US" altLang="ko-KR" sz="9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Zero-IT!</a:t>
            </a:r>
            <a:r>
              <a:rPr lang="ko-KR" altLang="en-US" sz="9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 즉시 다운로드</a:t>
            </a:r>
          </a:p>
          <a:p>
            <a:pPr>
              <a:lnSpc>
                <a:spcPct val="160000"/>
              </a:lnSpc>
            </a:pP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사용자의 데이터 접근 권한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(RBAC)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검증 후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,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에이전트가 쿼리를 자동 실행하여 대기 시간 없이 즉각 파일을 제공합니다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.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ea typeface="SUIT Light" pitchFamily="50" charset="-127"/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D2B50CBF-E590-C06C-BE8D-C8CD1C9610AB}"/>
              </a:ext>
            </a:extLst>
          </p:cNvPr>
          <p:cNvSpPr/>
          <p:nvPr/>
        </p:nvSpPr>
        <p:spPr>
          <a:xfrm>
            <a:off x="3725484" y="3220147"/>
            <a:ext cx="351217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Step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3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69B26E-7D6C-460E-D92F-16292097F22C}"/>
              </a:ext>
            </a:extLst>
          </p:cNvPr>
          <p:cNvSpPr txBox="1"/>
          <p:nvPr/>
        </p:nvSpPr>
        <p:spPr>
          <a:xfrm>
            <a:off x="3725482" y="4066788"/>
            <a:ext cx="5162486" cy="68159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            </a:t>
            </a:r>
            <a:r>
              <a:rPr lang="ko-KR" altLang="en-US" sz="1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지능형 리포팅 및 문서 자산화</a:t>
            </a:r>
            <a:endParaRPr lang="en-US" altLang="ko-KR" sz="10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Noto Sans KR" panose="020B0200000000000000" pitchFamily="50" charset="-127"/>
            </a:endParaRPr>
          </a:p>
          <a:p>
            <a:pPr>
              <a:lnSpc>
                <a:spcPct val="160000"/>
              </a:lnSpc>
            </a:pPr>
            <a:r>
              <a:rPr lang="en-US" altLang="ko-KR" sz="9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 V  </a:t>
            </a:r>
            <a:r>
              <a:rPr lang="ko-KR" altLang="en-US" sz="9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분석 맥락 기반 </a:t>
            </a:r>
            <a:r>
              <a:rPr lang="en-US" altLang="ko-KR" sz="9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Draft </a:t>
            </a:r>
            <a:r>
              <a:rPr lang="ko-KR" altLang="en-US" sz="9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자동 생성</a:t>
            </a:r>
          </a:p>
          <a:p>
            <a:pPr>
              <a:lnSpc>
                <a:spcPct val="160000"/>
              </a:lnSpc>
            </a:pP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앞선 대화 내역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(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분석 결과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,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원인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,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차트 등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)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을 구조화된 텍스트로 변환하여 인사이트가 포함된 리포트 초안을 생성합니다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.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ea typeface="SUIT Light" pitchFamily="50" charset="-127"/>
            </a:endParaRP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B497C5BE-35FA-84D7-CAE9-F84263B78949}"/>
              </a:ext>
            </a:extLst>
          </p:cNvPr>
          <p:cNvSpPr/>
          <p:nvPr/>
        </p:nvSpPr>
        <p:spPr>
          <a:xfrm>
            <a:off x="3725483" y="4149613"/>
            <a:ext cx="351217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Step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4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190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7F808-82FA-6676-280B-C389E4F7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>
            <a:extLst>
              <a:ext uri="{FF2B5EF4-FFF2-40B4-BE49-F238E27FC236}">
                <a16:creationId xmlns:a16="http://schemas.microsoft.com/office/drawing/2014/main" id="{DE2E1CD2-6ADF-3F71-E92B-98A2A2893F45}"/>
              </a:ext>
            </a:extLst>
          </p:cNvPr>
          <p:cNvSpPr/>
          <p:nvPr/>
        </p:nvSpPr>
        <p:spPr>
          <a:xfrm rot="10800000">
            <a:off x="4759456" y="1292294"/>
            <a:ext cx="4346444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877">
                <a:srgbClr val="00D4C5"/>
              </a:gs>
              <a:gs pos="878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7B6E58-E0F4-3D28-EDDC-64DF3BB32918}"/>
              </a:ext>
            </a:extLst>
          </p:cNvPr>
          <p:cNvSpPr txBox="1"/>
          <p:nvPr/>
        </p:nvSpPr>
        <p:spPr>
          <a:xfrm>
            <a:off x="4959517" y="1323712"/>
            <a:ext cx="4108224" cy="78303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Noto Sans KR" panose="020B0200000000000000" pitchFamily="50" charset="-127"/>
              </a:rPr>
              <a:t>             </a:t>
            </a:r>
            <a:r>
              <a:rPr lang="ko-KR" altLang="en-US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Noto Sans KR" panose="020B0200000000000000" pitchFamily="50" charset="-127"/>
              </a:rPr>
              <a:t>다중 문서 </a:t>
            </a:r>
            <a:r>
              <a:rPr lang="ko-KR" altLang="en-US" sz="9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Noto Sans KR" panose="020B0200000000000000" pitchFamily="50" charset="-127"/>
              </a:rPr>
              <a:t>시맨틱</a:t>
            </a:r>
            <a:r>
              <a:rPr lang="ko-KR" altLang="en-US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Noto Sans KR" panose="020B0200000000000000" pitchFamily="50" charset="-127"/>
              </a:rPr>
              <a:t> 탐색</a:t>
            </a:r>
            <a:endParaRPr lang="en-US" altLang="ko-KR" sz="9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j-lt"/>
              <a:ea typeface="Noto Sans KR" panose="020B0200000000000000" pitchFamily="50" charset="-127"/>
            </a:endParaRPr>
          </a:p>
          <a:p>
            <a:pPr>
              <a:lnSpc>
                <a:spcPct val="160000"/>
              </a:lnSpc>
            </a:pPr>
            <a:r>
              <a:rPr lang="en-US" altLang="ko-KR" sz="8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 -  </a:t>
            </a:r>
            <a:r>
              <a:rPr lang="ko-KR" altLang="en-US" sz="8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최적 분석 파이프라인 매칭</a:t>
            </a:r>
          </a:p>
          <a:p>
            <a:pPr>
              <a:lnSpc>
                <a:spcPct val="16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질문의 숨은 문맥을 파악하여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,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여러 카테고리와 다양한 포맷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(PDF, Word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등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)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으로 흩어져 있는 위키 페이지들을 한 번에 입체적으로 탐색합니다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.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SUIT Light" pitchFamily="50" charset="-127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CE26F03-2569-A018-9CE4-8EABA42FD72F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73DDE0BF-A540-6ECC-477F-EB430A3BB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실무 활용 시나리오 ③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: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지식 위키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(Knowledge Wiki)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기반 전문가 질의응답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B6C38C9A-75A0-1E80-B198-7C3DD063DF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</a:t>
            </a:r>
            <a:r>
              <a:rPr lang="en-US" altLang="ko-KR" dirty="0" err="1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Business</a:t>
            </a: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 Scenarios &amp; Value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576BEC0E-1FBA-59FD-79CC-A8D7873B11D8}"/>
              </a:ext>
            </a:extLst>
          </p:cNvPr>
          <p:cNvSpPr txBox="1"/>
          <p:nvPr/>
        </p:nvSpPr>
        <p:spPr>
          <a:xfrm>
            <a:off x="256032" y="647946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파편화된 사내 문서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(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규정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가이드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양식 등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)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를 카테고리별 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'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지식 위키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'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로 통합하고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문서 간의 맥락을 연결하여 출처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(Citation)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가 명확한 환각 없는 교차 검증 답변을 제공합니다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</a:t>
            </a:r>
            <a:endParaRPr lang="ko-KR" altLang="en-US" sz="1100" dirty="0">
              <a:solidFill>
                <a:srgbClr val="334155"/>
              </a:solidFill>
              <a:latin typeface="+mn-ea"/>
              <a:ea typeface="+mn-ea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DE011FC-E30F-DEC0-7DE9-F9F1A78888A5}"/>
              </a:ext>
            </a:extLst>
          </p:cNvPr>
          <p:cNvSpPr/>
          <p:nvPr/>
        </p:nvSpPr>
        <p:spPr>
          <a:xfrm>
            <a:off x="256031" y="1292300"/>
            <a:ext cx="4346445" cy="3631392"/>
          </a:xfrm>
          <a:prstGeom prst="roundRect">
            <a:avLst>
              <a:gd name="adj" fmla="val 1263"/>
            </a:avLst>
          </a:prstGeom>
          <a:solidFill>
            <a:srgbClr val="F5F5F3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8F32D396-0B1D-714D-A5A0-6A441877FCD7}"/>
              </a:ext>
            </a:extLst>
          </p:cNvPr>
          <p:cNvSpPr/>
          <p:nvPr/>
        </p:nvSpPr>
        <p:spPr>
          <a:xfrm rot="10800000">
            <a:off x="4759456" y="2204154"/>
            <a:ext cx="4346444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877">
                <a:srgbClr val="00D4C5"/>
              </a:gs>
              <a:gs pos="878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61CB0B34-94FF-8690-E6D6-B69575967C43}"/>
              </a:ext>
            </a:extLst>
          </p:cNvPr>
          <p:cNvSpPr/>
          <p:nvPr/>
        </p:nvSpPr>
        <p:spPr>
          <a:xfrm rot="10800000">
            <a:off x="4759456" y="3116014"/>
            <a:ext cx="4346444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877">
                <a:srgbClr val="00D4C5"/>
              </a:gs>
              <a:gs pos="878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3D080B6B-07C4-893C-0A7C-8FA6582D24D4}"/>
              </a:ext>
            </a:extLst>
          </p:cNvPr>
          <p:cNvSpPr/>
          <p:nvPr/>
        </p:nvSpPr>
        <p:spPr>
          <a:xfrm rot="10800000">
            <a:off x="4759456" y="4027875"/>
            <a:ext cx="4346444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00D4C5"/>
              </a:gs>
              <a:gs pos="877">
                <a:srgbClr val="00D4C5"/>
              </a:gs>
              <a:gs pos="878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1D5EF901-E160-F5E2-FC0B-D753505DF259}"/>
              </a:ext>
            </a:extLst>
          </p:cNvPr>
          <p:cNvSpPr/>
          <p:nvPr/>
        </p:nvSpPr>
        <p:spPr>
          <a:xfrm>
            <a:off x="4935381" y="1406537"/>
            <a:ext cx="359249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Point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1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48310E-3926-96A4-0B85-709A266B9D05}"/>
              </a:ext>
            </a:extLst>
          </p:cNvPr>
          <p:cNvSpPr txBox="1"/>
          <p:nvPr/>
        </p:nvSpPr>
        <p:spPr>
          <a:xfrm>
            <a:off x="4959517" y="2255378"/>
            <a:ext cx="4108224" cy="78303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             </a:t>
            </a:r>
            <a:r>
              <a:rPr lang="ko-KR" altLang="en-US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Noto Sans KR" panose="020B0200000000000000" pitchFamily="50" charset="-127"/>
              </a:rPr>
              <a:t>이종 데이터 교차 검증</a:t>
            </a:r>
            <a:endParaRPr lang="en-US" altLang="ko-KR" sz="800" b="1" dirty="0">
              <a:solidFill>
                <a:srgbClr val="0D9488"/>
              </a:solidFill>
              <a:ea typeface="SUIT ExtraBold" pitchFamily="50" charset="-127"/>
            </a:endParaRPr>
          </a:p>
          <a:p>
            <a:pPr>
              <a:lnSpc>
                <a:spcPct val="160000"/>
              </a:lnSpc>
            </a:pPr>
            <a:r>
              <a:rPr lang="en-US" altLang="ko-KR" sz="800" b="1" dirty="0">
                <a:solidFill>
                  <a:srgbClr val="0D9488"/>
                </a:solidFill>
                <a:ea typeface="SUIT ExtraBold" pitchFamily="50" charset="-127"/>
              </a:rPr>
              <a:t> - </a:t>
            </a:r>
            <a:r>
              <a:rPr lang="ko-KR" altLang="en-US" sz="800" b="1" dirty="0">
                <a:solidFill>
                  <a:srgbClr val="0D9488"/>
                </a:solidFill>
                <a:ea typeface="SUIT ExtraBold" pitchFamily="50" charset="-127"/>
              </a:rPr>
              <a:t>파편화된 지식의 융합</a:t>
            </a:r>
          </a:p>
          <a:p>
            <a:pPr>
              <a:lnSpc>
                <a:spcPct val="160000"/>
              </a:lnSpc>
            </a:pP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'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보안 </a:t>
            </a:r>
            <a:r>
              <a:rPr lang="ko-KR" altLang="en-US" sz="7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규정집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'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의 기준안과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'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신청서 양식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'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의 기재 요건 등 성격이 다른 문서들의 내용을 비교 대조하여 종합적</a:t>
            </a:r>
          </a:p>
          <a:p>
            <a:pPr>
              <a:lnSpc>
                <a:spcPct val="16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인 하나의 해결책으로 결합합니다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Light" pitchFamily="50" charset="-127"/>
              </a:rPr>
              <a:t>.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ea typeface="SUIT Light" pitchFamily="50" charset="-127"/>
            </a:endParaRP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033B5C8C-77E4-FC30-DA7C-4F8EB60312EC}"/>
              </a:ext>
            </a:extLst>
          </p:cNvPr>
          <p:cNvSpPr/>
          <p:nvPr/>
        </p:nvSpPr>
        <p:spPr>
          <a:xfrm>
            <a:off x="4935381" y="2338203"/>
            <a:ext cx="359249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Point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2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C81CC7-4AAD-34FC-DCE2-9A7FC377661C}"/>
              </a:ext>
            </a:extLst>
          </p:cNvPr>
          <p:cNvSpPr txBox="1"/>
          <p:nvPr/>
        </p:nvSpPr>
        <p:spPr>
          <a:xfrm>
            <a:off x="4959518" y="3137322"/>
            <a:ext cx="4108224" cy="78303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Noto Sans KR" panose="020B0200000000000000" pitchFamily="50" charset="-127"/>
              </a:rPr>
              <a:t>             </a:t>
            </a:r>
            <a:r>
              <a:rPr lang="ko-KR" altLang="en-US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Noto Sans KR" panose="020B0200000000000000" pitchFamily="50" charset="-127"/>
              </a:rPr>
              <a:t>완벽한 출처 제시 </a:t>
            </a:r>
            <a:r>
              <a:rPr lang="en-US" altLang="ko-KR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Noto Sans KR" panose="020B0200000000000000" pitchFamily="50" charset="-127"/>
              </a:rPr>
              <a:t>(Grounded)</a:t>
            </a:r>
            <a:endParaRPr lang="en-US" altLang="ko-KR" sz="800" b="1" dirty="0">
              <a:solidFill>
                <a:srgbClr val="0D9488"/>
              </a:solidFill>
              <a:latin typeface="+mj-lt"/>
              <a:ea typeface="SUIT ExtraBold" pitchFamily="50" charset="-127"/>
            </a:endParaRPr>
          </a:p>
          <a:p>
            <a:pPr>
              <a:lnSpc>
                <a:spcPct val="160000"/>
              </a:lnSpc>
            </a:pPr>
            <a:r>
              <a:rPr lang="en-US" altLang="ko-KR" sz="800" b="1" dirty="0">
                <a:solidFill>
                  <a:srgbClr val="0D9488"/>
                </a:solidFill>
                <a:ea typeface="SUIT ExtraBold" pitchFamily="50" charset="-127"/>
              </a:rPr>
              <a:t> - </a:t>
            </a:r>
            <a:r>
              <a:rPr lang="en-US" altLang="ko-KR" sz="8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AI </a:t>
            </a:r>
            <a:r>
              <a:rPr lang="ko-KR" altLang="en-US" sz="8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환각</a:t>
            </a:r>
            <a:r>
              <a:rPr lang="en-US" altLang="ko-KR" sz="8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(Hallucination) </a:t>
            </a:r>
            <a:r>
              <a:rPr lang="ko-KR" altLang="en-US" sz="8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위험 원천 차단</a:t>
            </a:r>
          </a:p>
          <a:p>
            <a:pPr>
              <a:lnSpc>
                <a:spcPct val="16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답변의 근거가 된 원본 위키 문서의 정확한 링크와 매핑 정보를 논문 주석처럼 제공하여 사용자가 즉시 팩트</a:t>
            </a:r>
          </a:p>
          <a:p>
            <a:pPr>
              <a:lnSpc>
                <a:spcPct val="16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체크를 할 수 있도록 지원합니다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.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SUIT Light" pitchFamily="50" charset="-127"/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A0412E56-3A15-FC63-CEE5-92D7170BC14E}"/>
              </a:ext>
            </a:extLst>
          </p:cNvPr>
          <p:cNvSpPr/>
          <p:nvPr/>
        </p:nvSpPr>
        <p:spPr>
          <a:xfrm>
            <a:off x="4935382" y="3194747"/>
            <a:ext cx="359249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Point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3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10CAE7-499C-1CB6-306C-6FC0DE4E3774}"/>
              </a:ext>
            </a:extLst>
          </p:cNvPr>
          <p:cNvSpPr txBox="1"/>
          <p:nvPr/>
        </p:nvSpPr>
        <p:spPr>
          <a:xfrm>
            <a:off x="4958643" y="4066788"/>
            <a:ext cx="4147257" cy="783030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Noto Sans KR" panose="020B0200000000000000" pitchFamily="50" charset="-127"/>
              </a:rPr>
              <a:t>             </a:t>
            </a:r>
            <a:r>
              <a:rPr lang="ko-KR" altLang="en-US" sz="9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Noto Sans KR" panose="020B0200000000000000" pitchFamily="50" charset="-127"/>
              </a:rPr>
              <a:t>지식 그래프 연관 탐색</a:t>
            </a:r>
            <a:endParaRPr lang="en-US" altLang="ko-KR" sz="9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j-lt"/>
              <a:ea typeface="Noto Sans KR" panose="020B0200000000000000" pitchFamily="50" charset="-127"/>
            </a:endParaRPr>
          </a:p>
          <a:p>
            <a:pPr>
              <a:lnSpc>
                <a:spcPct val="160000"/>
              </a:lnSpc>
            </a:pPr>
            <a:r>
              <a:rPr lang="en-US" altLang="ko-KR" sz="800" b="1" dirty="0">
                <a:solidFill>
                  <a:srgbClr val="0D9488"/>
                </a:solidFill>
                <a:ea typeface="SUIT ExtraBold" pitchFamily="50" charset="-127"/>
              </a:rPr>
              <a:t> - </a:t>
            </a:r>
            <a:r>
              <a:rPr lang="ko-KR" altLang="en-US" sz="800" b="1" dirty="0">
                <a:solidFill>
                  <a:srgbClr val="0D9488"/>
                </a:solidFill>
                <a:latin typeface="+mj-lt"/>
                <a:ea typeface="SUIT ExtraBold" pitchFamily="50" charset="-127"/>
              </a:rPr>
              <a:t>꼬리를 무는 심층 탐색 지원</a:t>
            </a:r>
          </a:p>
          <a:p>
            <a:pPr>
              <a:lnSpc>
                <a:spcPct val="16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단순 단답형 결과 제공에 그치지 않고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,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지식 그래프 구조를 통해 관련된 다른 부서의 가이드나 후속 절차들을</a:t>
            </a:r>
          </a:p>
          <a:p>
            <a:pPr>
              <a:lnSpc>
                <a:spcPct val="16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연결망으로 확장 제공합니다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SUIT Light" pitchFamily="50" charset="-127"/>
              </a:rPr>
              <a:t>.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SUIT Light" pitchFamily="50" charset="-127"/>
            </a:endParaRP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4590422D-5674-4A94-E140-26BE1E9C1D55}"/>
              </a:ext>
            </a:extLst>
          </p:cNvPr>
          <p:cNvSpPr/>
          <p:nvPr/>
        </p:nvSpPr>
        <p:spPr>
          <a:xfrm>
            <a:off x="4935381" y="4124213"/>
            <a:ext cx="359249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Point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4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B44DCD-4AE1-D4D7-4F08-67126AF08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04" y="1338044"/>
            <a:ext cx="3035808" cy="35463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9133B5E-626E-3BE0-84D4-92705F41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08" y="1676043"/>
            <a:ext cx="1183090" cy="27693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DDBA53-D433-F42D-49F1-949289FD38EB}"/>
              </a:ext>
            </a:extLst>
          </p:cNvPr>
          <p:cNvSpPr txBox="1"/>
          <p:nvPr/>
        </p:nvSpPr>
        <p:spPr>
          <a:xfrm>
            <a:off x="463731" y="1362344"/>
            <a:ext cx="752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지식 위키</a:t>
            </a:r>
            <a:endParaRPr lang="ko-KR" altLang="en-US" sz="1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63B6A4F-EFC3-74AD-5138-E7E850CBA390}"/>
              </a:ext>
            </a:extLst>
          </p:cNvPr>
          <p:cNvCxnSpPr/>
          <p:nvPr/>
        </p:nvCxnSpPr>
        <p:spPr>
          <a:xfrm>
            <a:off x="308308" y="1625107"/>
            <a:ext cx="1118558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444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935F-09C3-AE09-76BF-2D10759B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AD9D2717-3A6B-068C-B6E7-FE1461B3C00C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7" name="제목 21">
            <a:extLst>
              <a:ext uri="{FF2B5EF4-FFF2-40B4-BE49-F238E27FC236}">
                <a16:creationId xmlns:a16="http://schemas.microsoft.com/office/drawing/2014/main" id="{9BAD6449-734A-BC87-B255-C82E1EE6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실무 활용 시나리오 </a:t>
            </a:r>
            <a:r>
              <a:rPr lang="ko-KR" altLang="ko-KR" dirty="0"/>
              <a:t>④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: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지능형 루프를 통한 자동화 문서 생성 시스템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001CD1F0-B5AE-E6C3-8032-A1F718811C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</a:t>
            </a:r>
            <a:r>
              <a:rPr lang="en-US" altLang="ko-KR" dirty="0" err="1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Business</a:t>
            </a: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 Scenarios &amp; Value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28ED096-B0AB-0A3E-1308-DBF515B1A20A}"/>
              </a:ext>
            </a:extLst>
          </p:cNvPr>
          <p:cNvSpPr txBox="1"/>
          <p:nvPr/>
        </p:nvSpPr>
        <p:spPr>
          <a:xfrm>
            <a:off x="256032" y="776121"/>
            <a:ext cx="8595360" cy="1936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334155"/>
                </a:solidFill>
                <a:latin typeface="+mn-ea"/>
              </a:rPr>
              <a:t>데이터 질문에서 시작해 </a:t>
            </a:r>
            <a:r>
              <a:rPr lang="ko-KR" altLang="en-US" sz="1000" b="1" dirty="0">
                <a:solidFill>
                  <a:srgbClr val="334155"/>
                </a:solidFill>
                <a:latin typeface="+mn-ea"/>
              </a:rPr>
              <a:t>분석</a:t>
            </a:r>
            <a:r>
              <a:rPr lang="en-US" altLang="ko-KR" sz="1000" b="1" dirty="0">
                <a:solidFill>
                  <a:srgbClr val="334155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rgbClr val="334155"/>
                </a:solidFill>
                <a:latin typeface="+mn-ea"/>
              </a:rPr>
              <a:t>보고용 리포트 생성 및 자동 메일 발송</a:t>
            </a:r>
            <a:r>
              <a:rPr lang="ko-KR" altLang="en-US" sz="1000" dirty="0">
                <a:solidFill>
                  <a:srgbClr val="334155"/>
                </a:solidFill>
                <a:latin typeface="+mn-ea"/>
              </a:rPr>
              <a:t>까지 이어지는 </a:t>
            </a:r>
            <a:r>
              <a:rPr lang="en-US" altLang="ko-KR" sz="1000" dirty="0">
                <a:solidFill>
                  <a:srgbClr val="334155"/>
                </a:solidFill>
                <a:latin typeface="+mn-ea"/>
              </a:rPr>
              <a:t>‘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Automation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지능형 루프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(Intelligence Loop)’</a:t>
            </a:r>
            <a:r>
              <a:rPr lang="ko-KR" altLang="en-US" sz="1000" dirty="0">
                <a:solidFill>
                  <a:srgbClr val="334155"/>
                </a:solidFill>
                <a:latin typeface="+mn-ea"/>
              </a:rPr>
              <a:t> 구현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3DA5447-A9C2-A56E-B915-4F454E6AD03C}"/>
              </a:ext>
            </a:extLst>
          </p:cNvPr>
          <p:cNvSpPr/>
          <p:nvPr/>
        </p:nvSpPr>
        <p:spPr>
          <a:xfrm>
            <a:off x="235274" y="1479550"/>
            <a:ext cx="2759825" cy="3404870"/>
          </a:xfrm>
          <a:prstGeom prst="roundRect">
            <a:avLst>
              <a:gd name="adj" fmla="val 2487"/>
            </a:avLst>
          </a:prstGeom>
          <a:solidFill>
            <a:srgbClr val="F5F5F3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28A8E8-5413-562D-DE75-273D1A98C073}"/>
              </a:ext>
            </a:extLst>
          </p:cNvPr>
          <p:cNvSpPr/>
          <p:nvPr/>
        </p:nvSpPr>
        <p:spPr>
          <a:xfrm>
            <a:off x="3200724" y="1479550"/>
            <a:ext cx="2759825" cy="3404870"/>
          </a:xfrm>
          <a:prstGeom prst="roundRect">
            <a:avLst>
              <a:gd name="adj" fmla="val 2487"/>
            </a:avLst>
          </a:prstGeom>
          <a:solidFill>
            <a:srgbClr val="F5F5F3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6B0E1F0-9C6D-0A73-7E01-36BDA0687E14}"/>
              </a:ext>
            </a:extLst>
          </p:cNvPr>
          <p:cNvSpPr/>
          <p:nvPr/>
        </p:nvSpPr>
        <p:spPr>
          <a:xfrm>
            <a:off x="6166174" y="1459503"/>
            <a:ext cx="2759825" cy="3404870"/>
          </a:xfrm>
          <a:prstGeom prst="roundRect">
            <a:avLst>
              <a:gd name="adj" fmla="val 2487"/>
            </a:avLst>
          </a:prstGeom>
          <a:solidFill>
            <a:srgbClr val="F5F5F3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827E030-2799-C97F-6635-6A8FBE7A58B4}"/>
              </a:ext>
            </a:extLst>
          </p:cNvPr>
          <p:cNvSpPr/>
          <p:nvPr/>
        </p:nvSpPr>
        <p:spPr>
          <a:xfrm rot="10800000">
            <a:off x="346206" y="3416900"/>
            <a:ext cx="2517644" cy="617789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1513">
                <a:srgbClr val="21CAC4"/>
              </a:gs>
              <a:gs pos="151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9845C-CFCA-7772-361F-BEEC2F1B0F51}"/>
              </a:ext>
            </a:extLst>
          </p:cNvPr>
          <p:cNvSpPr txBox="1"/>
          <p:nvPr/>
        </p:nvSpPr>
        <p:spPr>
          <a:xfrm>
            <a:off x="419268" y="3438212"/>
            <a:ext cx="2158832" cy="56143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자연어 기반 분석 트리거</a:t>
            </a:r>
          </a:p>
          <a:p>
            <a:pPr>
              <a:lnSpc>
                <a:spcPct val="160000"/>
              </a:lnSpc>
            </a:pP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“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지난 분기 대비 매출이 하락한 원인은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?”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과 같은 현업의 실제 질문을 즉각 데이터 쿼리로 변환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AB621295-7AA2-3CE5-0817-8758710AF952}"/>
              </a:ext>
            </a:extLst>
          </p:cNvPr>
          <p:cNvSpPr/>
          <p:nvPr/>
        </p:nvSpPr>
        <p:spPr>
          <a:xfrm rot="10800000">
            <a:off x="346206" y="4150638"/>
            <a:ext cx="2517644" cy="617789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1513">
                <a:srgbClr val="21CAC4"/>
              </a:gs>
              <a:gs pos="151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27A9C6-DBDF-E844-A76C-1CBB8ED31892}"/>
              </a:ext>
            </a:extLst>
          </p:cNvPr>
          <p:cNvSpPr txBox="1"/>
          <p:nvPr/>
        </p:nvSpPr>
        <p:spPr>
          <a:xfrm>
            <a:off x="419268" y="4171950"/>
            <a:ext cx="2158832" cy="56143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실시간 데이터 동기화 (Live-Sync)</a:t>
            </a:r>
          </a:p>
          <a:p>
            <a:pPr>
              <a:lnSpc>
                <a:spcPct val="160000"/>
              </a:lnSpc>
            </a:pP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사내 DB와 Real-time 데이터 동기화로 수동 데이터 취합 공수 없이 최신 지표 기반 데이터 제공 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D290C23-E25F-47DE-60AC-2A4B2FFE84BB}"/>
              </a:ext>
            </a:extLst>
          </p:cNvPr>
          <p:cNvSpPr/>
          <p:nvPr/>
        </p:nvSpPr>
        <p:spPr>
          <a:xfrm rot="10800000">
            <a:off x="3321815" y="3413425"/>
            <a:ext cx="2517644" cy="617789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1513">
                <a:srgbClr val="21CAC4"/>
              </a:gs>
              <a:gs pos="151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060CD-98C2-3649-C3FB-E63F76238BFB}"/>
              </a:ext>
            </a:extLst>
          </p:cNvPr>
          <p:cNvSpPr txBox="1"/>
          <p:nvPr/>
        </p:nvSpPr>
        <p:spPr>
          <a:xfrm>
            <a:off x="3394877" y="3434737"/>
            <a:ext cx="2158832" cy="56143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AI </a:t>
            </a:r>
            <a:r>
              <a:rPr lang="ko-KR" altLang="en-US" sz="800" dirty="0" err="1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시맨틱</a:t>
            </a:r>
            <a:r>
              <a:rPr lang="ko-KR" altLang="en-US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 파싱 </a:t>
            </a:r>
            <a:r>
              <a:rPr lang="en-US" altLang="ko-KR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&amp; </a:t>
            </a:r>
            <a:r>
              <a:rPr lang="ko-KR" altLang="en-US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매핑</a:t>
            </a:r>
          </a:p>
          <a:p>
            <a:pPr>
              <a:lnSpc>
                <a:spcPct val="160000"/>
              </a:lnSpc>
            </a:pPr>
            <a:r>
              <a:rPr lang="ko-KR" altLang="ko-KR" sz="700" dirty="0"/>
              <a:t>분석 결과를 슬라이드 레이아웃 및 컴포넌트 규격에 맞춰 지능적으로 </a:t>
            </a:r>
            <a:r>
              <a:rPr lang="ko-KR" altLang="ko-KR" sz="700" dirty="0" err="1"/>
              <a:t>파싱하여</a:t>
            </a:r>
            <a:r>
              <a:rPr lang="ko-KR" altLang="ko-KR" sz="700" dirty="0"/>
              <a:t> 자동 배치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762BE326-FBAE-0FC1-6962-BAC10B6CA421}"/>
              </a:ext>
            </a:extLst>
          </p:cNvPr>
          <p:cNvSpPr/>
          <p:nvPr/>
        </p:nvSpPr>
        <p:spPr>
          <a:xfrm rot="10800000">
            <a:off x="3321815" y="4162303"/>
            <a:ext cx="2517644" cy="617789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1513">
                <a:srgbClr val="21CAC4"/>
              </a:gs>
              <a:gs pos="151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55A570-860B-2B96-95BE-FB731336E6C1}"/>
              </a:ext>
            </a:extLst>
          </p:cNvPr>
          <p:cNvSpPr txBox="1"/>
          <p:nvPr/>
        </p:nvSpPr>
        <p:spPr>
          <a:xfrm>
            <a:off x="3394877" y="4183615"/>
            <a:ext cx="2158832" cy="56143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Smart Draft </a:t>
            </a:r>
            <a:r>
              <a:rPr lang="ko-KR" altLang="en-US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생성</a:t>
            </a:r>
          </a:p>
          <a:p>
            <a:pPr>
              <a:lnSpc>
                <a:spcPct val="160000"/>
              </a:lnSpc>
            </a:pPr>
            <a:r>
              <a:rPr lang="ko-KR" altLang="ko-KR" sz="700" dirty="0"/>
              <a:t>사내 표준 템플릿(</a:t>
            </a:r>
            <a:r>
              <a:rPr lang="ko-KR" altLang="ko-KR" sz="700" dirty="0" err="1"/>
              <a:t>Master</a:t>
            </a:r>
            <a:r>
              <a:rPr lang="ko-KR" altLang="ko-KR" sz="700" dirty="0"/>
              <a:t> PPT) 가이드를 준수하여 디자인과 데이터가 결합된 리포트 초안 자동 구성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5EA56177-B324-265C-928C-9185F96F3459}"/>
              </a:ext>
            </a:extLst>
          </p:cNvPr>
          <p:cNvSpPr/>
          <p:nvPr/>
        </p:nvSpPr>
        <p:spPr>
          <a:xfrm rot="10800000">
            <a:off x="6280150" y="3413426"/>
            <a:ext cx="2517644" cy="617789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1513">
                <a:srgbClr val="21CAC4"/>
              </a:gs>
              <a:gs pos="151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3CFE7-1449-B1CC-0AA5-46E720C167B2}"/>
              </a:ext>
            </a:extLst>
          </p:cNvPr>
          <p:cNvSpPr txBox="1"/>
          <p:nvPr/>
        </p:nvSpPr>
        <p:spPr>
          <a:xfrm>
            <a:off x="6353212" y="3434738"/>
            <a:ext cx="2158832" cy="56143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구독 기반 자동 배포</a:t>
            </a:r>
          </a:p>
          <a:p>
            <a:pPr>
              <a:lnSpc>
                <a:spcPct val="160000"/>
              </a:lnSpc>
            </a:pPr>
            <a:r>
              <a:rPr lang="ko-KR" altLang="ko-KR" sz="700" dirty="0"/>
              <a:t>지정된 주기(예: 매주 월요일 9시)</a:t>
            </a:r>
            <a:r>
              <a:rPr lang="ko-KR" altLang="ko-KR" sz="700" dirty="0" err="1"/>
              <a:t>에</a:t>
            </a:r>
            <a:r>
              <a:rPr lang="ko-KR" altLang="ko-KR" sz="700" dirty="0"/>
              <a:t> 따라 분석 리포트를 웹메일로 담당자에게 자동 발송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6F768CF8-4D4D-A7F0-A933-57D7AB2BCD83}"/>
              </a:ext>
            </a:extLst>
          </p:cNvPr>
          <p:cNvSpPr/>
          <p:nvPr/>
        </p:nvSpPr>
        <p:spPr>
          <a:xfrm rot="10800000">
            <a:off x="6280150" y="4162304"/>
            <a:ext cx="2517644" cy="617789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1513">
                <a:srgbClr val="21CAC4"/>
              </a:gs>
              <a:gs pos="151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7FFF5E-9718-F078-8BD6-0989198B4B2E}"/>
              </a:ext>
            </a:extLst>
          </p:cNvPr>
          <p:cNvSpPr txBox="1"/>
          <p:nvPr/>
        </p:nvSpPr>
        <p:spPr>
          <a:xfrm>
            <a:off x="6353212" y="4183616"/>
            <a:ext cx="2158832" cy="56143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8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지식 자산화 루프 </a:t>
            </a:r>
            <a:endParaRPr lang="en-US" altLang="ko-KR" sz="800" dirty="0">
              <a:solidFill>
                <a:srgbClr val="0D9488"/>
              </a:solidFill>
              <a:latin typeface="SUIT ExtraBold"/>
              <a:ea typeface="SUIT ExtraBold" pitchFamily="50" charset="-127"/>
            </a:endParaRPr>
          </a:p>
          <a:p>
            <a:pPr>
              <a:lnSpc>
                <a:spcPct val="160000"/>
              </a:lnSpc>
            </a:pPr>
            <a:r>
              <a:rPr lang="ko-KR" altLang="ko-KR" sz="700" dirty="0"/>
              <a:t>수행된 분석 경로를 저장하여 향후 유사 질문 시 즉시 호출 가능한 사내 지식 자산으로 축적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F73C057-C6B6-1376-8CBE-F157E5336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14" y="1580459"/>
            <a:ext cx="2504229" cy="178873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5C64DB40-2CCF-0CD4-8304-76B8CD28AA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7" t="3008" r="1582" b="1376"/>
          <a:stretch>
            <a:fillRect/>
          </a:stretch>
        </p:blipFill>
        <p:spPr>
          <a:xfrm>
            <a:off x="346206" y="1580459"/>
            <a:ext cx="2517644" cy="181393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587BA846-452F-D03B-D41B-CF965EFB5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50" y="1578888"/>
            <a:ext cx="2517644" cy="179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977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195E-FC1F-C531-DC66-A574CC87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91891F29-B3A4-1143-0BF0-55937136BEEF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04" name="제목 21">
            <a:extLst>
              <a:ext uri="{FF2B5EF4-FFF2-40B4-BE49-F238E27FC236}">
                <a16:creationId xmlns:a16="http://schemas.microsoft.com/office/drawing/2014/main" id="{DD4D14A9-9A92-ADB5-7F2A-1F0F7D63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실무 활용 시나리오 </a:t>
            </a:r>
            <a:r>
              <a:rPr lang="ko-KR" altLang="ko-KR" b="0" dirty="0">
                <a:latin typeface="SUIT ExtraBold" pitchFamily="2" charset="-127"/>
                <a:ea typeface="SUIT ExtraBold" pitchFamily="2" charset="-127"/>
              </a:rPr>
              <a:t>⑤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: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무인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(Human-less)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지식 자산화 파이프라인 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57F8E29D-CC98-F3D5-8C3A-AB8554EC52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</a:t>
            </a:r>
            <a:r>
              <a:rPr lang="en-US" altLang="ko-KR" dirty="0" err="1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Business</a:t>
            </a: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 Scenarios &amp; Value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99040956-F2C0-5D8B-8A43-6EE391F9DC32}"/>
              </a:ext>
            </a:extLst>
          </p:cNvPr>
          <p:cNvSpPr txBox="1"/>
          <p:nvPr/>
        </p:nvSpPr>
        <p:spPr>
          <a:xfrm>
            <a:off x="256032" y="668400"/>
            <a:ext cx="8595360" cy="4090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하이브리드 방식으로 수집</a:t>
            </a:r>
            <a:r>
              <a:rPr lang="ko-KR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된 사내 문서와 실시간 API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데이터를 바탕으로, </a:t>
            </a:r>
            <a:r>
              <a:rPr lang="ko-KR" altLang="en-US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에이전트</a:t>
            </a:r>
            <a:r>
              <a:rPr lang="ko-KR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가 지식 </a:t>
            </a:r>
            <a:r>
              <a:rPr lang="ko-KR" altLang="ko-KR" sz="1000" b="1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위키화·순차</a:t>
            </a:r>
            <a:r>
              <a:rPr lang="ko-KR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ko-KR" sz="1000" b="1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요약·관계망</a:t>
            </a:r>
            <a:r>
              <a:rPr lang="ko-KR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형성</a:t>
            </a:r>
            <a:r>
              <a:rPr lang="ko-KR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을 자율적으로 수행합니다.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지식 관계망 구축을 기반으로 </a:t>
            </a:r>
            <a:r>
              <a:rPr lang="ko-KR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정교화된 지식 자산을 활용하여 사용자 권한에 최적화된 답변을 도출함으로써, </a:t>
            </a:r>
            <a:r>
              <a:rPr lang="ko-KR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지식 관리의 전 과정을 </a:t>
            </a:r>
            <a:r>
              <a:rPr lang="en-US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‘</a:t>
            </a:r>
            <a:r>
              <a:rPr lang="ko-KR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무인(</a:t>
            </a:r>
            <a:r>
              <a:rPr lang="ko-KR" altLang="ko-KR" sz="1000" b="1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Human-less</a:t>
            </a:r>
            <a:r>
              <a:rPr lang="ko-KR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en-US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지식 자산화</a:t>
            </a:r>
            <a:r>
              <a:rPr lang="ko-KR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파이프라인</a:t>
            </a:r>
            <a:r>
              <a:rPr lang="en-US" altLang="ko-KR" sz="10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’</a:t>
            </a:r>
            <a:r>
              <a:rPr lang="ko-KR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으로 구현합니다</a:t>
            </a:r>
            <a:r>
              <a:rPr lang="en-US" altLang="ko-K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8" name="Shape 4">
            <a:extLst>
              <a:ext uri="{FF2B5EF4-FFF2-40B4-BE49-F238E27FC236}">
                <a16:creationId xmlns:a16="http://schemas.microsoft.com/office/drawing/2014/main" id="{AE10725A-842F-1599-66EF-EDF7CCF7F574}"/>
              </a:ext>
            </a:extLst>
          </p:cNvPr>
          <p:cNvSpPr/>
          <p:nvPr/>
        </p:nvSpPr>
        <p:spPr>
          <a:xfrm rot="10800000">
            <a:off x="3530748" y="1292296"/>
            <a:ext cx="5297376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719">
                <a:srgbClr val="21CAC4"/>
              </a:gs>
              <a:gs pos="72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8E103E75-10C4-DAA6-104F-1E5BA0DF9FA9}"/>
              </a:ext>
            </a:extLst>
          </p:cNvPr>
          <p:cNvSpPr txBox="1"/>
          <p:nvPr/>
        </p:nvSpPr>
        <p:spPr>
          <a:xfrm>
            <a:off x="3725482" y="1349112"/>
            <a:ext cx="5007037" cy="65991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10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             </a:t>
            </a:r>
            <a:r>
              <a:rPr lang="ko-KR" altLang="en-US" sz="10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하이브리드 데이터 확보</a:t>
            </a:r>
            <a:endParaRPr lang="en-US" altLang="ko-KR" sz="1000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SUIT ExtraBold" panose="020B0200000000000000" pitchFamily="50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9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사내 문서관리 및 외부 </a:t>
            </a:r>
            <a:r>
              <a:rPr lang="en-US" altLang="ko-KR" sz="9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API </a:t>
            </a:r>
            <a:r>
              <a:rPr lang="ko-KR" altLang="en-US" sz="9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통합 </a:t>
            </a:r>
            <a:r>
              <a:rPr lang="en-US" altLang="ko-KR" sz="9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DB </a:t>
            </a:r>
            <a:r>
              <a:rPr lang="ko-KR" altLang="en-US" sz="9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구축</a:t>
            </a:r>
          </a:p>
          <a:p>
            <a:pPr>
              <a:lnSpc>
                <a:spcPct val="160000"/>
              </a:lnSpc>
            </a:pP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UIT" pitchFamily="2" charset="-127"/>
                <a:ea typeface="SUIT" pitchFamily="2" charset="-127"/>
              </a:rPr>
              <a:t>파일 업로드 창구를 통한 내부 보안 문서 </a:t>
            </a:r>
            <a:r>
              <a:rPr lang="ko-KR" altLang="en-U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UIT" pitchFamily="2" charset="-127"/>
                <a:ea typeface="SUIT" pitchFamily="2" charset="-127"/>
              </a:rPr>
              <a:t>인입과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UIT" pitchFamily="2" charset="-127"/>
                <a:ea typeface="SUIT" pitchFamily="2" charset="-127"/>
              </a:rPr>
              <a:t> 외부 데이터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UIT" pitchFamily="2" charset="-127"/>
                <a:ea typeface="SUIT" pitchFamily="2" charset="-127"/>
              </a:rPr>
              <a:t>API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UIT" pitchFamily="2" charset="-127"/>
                <a:ea typeface="SUIT" pitchFamily="2" charset="-127"/>
              </a:rPr>
              <a:t>형태의 입력을 통해 양측 데이터를 통합한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UIT" pitchFamily="2" charset="-127"/>
                <a:ea typeface="SUIT" pitchFamily="2" charset="-127"/>
              </a:rPr>
              <a:t>DB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UIT" pitchFamily="2" charset="-127"/>
                <a:ea typeface="SUIT" pitchFamily="2" charset="-127"/>
              </a:rPr>
              <a:t>를 구축합니다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SUIT" pitchFamily="2" charset="-127"/>
                <a:ea typeface="SUIT" pitchFamily="2" charset="-127"/>
              </a:rPr>
              <a:t>.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2" name="Shape 4">
            <a:extLst>
              <a:ext uri="{FF2B5EF4-FFF2-40B4-BE49-F238E27FC236}">
                <a16:creationId xmlns:a16="http://schemas.microsoft.com/office/drawing/2014/main" id="{8EE65F06-3FD0-274C-D8B7-1205A49EDE23}"/>
              </a:ext>
            </a:extLst>
          </p:cNvPr>
          <p:cNvSpPr/>
          <p:nvPr/>
        </p:nvSpPr>
        <p:spPr>
          <a:xfrm rot="10800000">
            <a:off x="3530748" y="2204156"/>
            <a:ext cx="5297376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719">
                <a:srgbClr val="21CAC4"/>
              </a:gs>
              <a:gs pos="72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3" name="Shape 4">
            <a:extLst>
              <a:ext uri="{FF2B5EF4-FFF2-40B4-BE49-F238E27FC236}">
                <a16:creationId xmlns:a16="http://schemas.microsoft.com/office/drawing/2014/main" id="{BCAC3257-6084-4721-5D03-4C186F913A35}"/>
              </a:ext>
            </a:extLst>
          </p:cNvPr>
          <p:cNvSpPr/>
          <p:nvPr/>
        </p:nvSpPr>
        <p:spPr>
          <a:xfrm rot="10800000">
            <a:off x="3530748" y="3116016"/>
            <a:ext cx="5297376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719">
                <a:srgbClr val="21CAC4"/>
              </a:gs>
              <a:gs pos="72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4" name="Shape 4">
            <a:extLst>
              <a:ext uri="{FF2B5EF4-FFF2-40B4-BE49-F238E27FC236}">
                <a16:creationId xmlns:a16="http://schemas.microsoft.com/office/drawing/2014/main" id="{1C4304D3-BF05-CEC6-5221-850F2DBB6242}"/>
              </a:ext>
            </a:extLst>
          </p:cNvPr>
          <p:cNvSpPr/>
          <p:nvPr/>
        </p:nvSpPr>
        <p:spPr>
          <a:xfrm rot="10800000">
            <a:off x="3530748" y="4027877"/>
            <a:ext cx="5297376" cy="856543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CAC4"/>
              </a:gs>
              <a:gs pos="719">
                <a:srgbClr val="21CAC4"/>
              </a:gs>
              <a:gs pos="72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5" name="Shape 4">
            <a:extLst>
              <a:ext uri="{FF2B5EF4-FFF2-40B4-BE49-F238E27FC236}">
                <a16:creationId xmlns:a16="http://schemas.microsoft.com/office/drawing/2014/main" id="{7AE2E924-60B8-DD44-EB21-775FEAB69E1F}"/>
              </a:ext>
            </a:extLst>
          </p:cNvPr>
          <p:cNvSpPr/>
          <p:nvPr/>
        </p:nvSpPr>
        <p:spPr>
          <a:xfrm>
            <a:off x="3725483" y="1431937"/>
            <a:ext cx="351217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Step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1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14D65E3D-8040-3772-716C-0D444246E1E6}"/>
              </a:ext>
            </a:extLst>
          </p:cNvPr>
          <p:cNvSpPr txBox="1"/>
          <p:nvPr/>
        </p:nvSpPr>
        <p:spPr>
          <a:xfrm>
            <a:off x="3725482" y="2280778"/>
            <a:ext cx="5007037" cy="65991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10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             </a:t>
            </a:r>
            <a:r>
              <a:rPr lang="ko-KR" altLang="en-US" sz="10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지식 구조화 </a:t>
            </a:r>
            <a:endParaRPr lang="en-US" altLang="ko-KR" sz="900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9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문서 위키화 및 순차 리스트 자동 요약</a:t>
            </a:r>
          </a:p>
          <a:p>
            <a:pPr>
              <a:lnSpc>
                <a:spcPct val="160000"/>
              </a:lnSpc>
            </a:pP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확보된 비정형 문서를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가 탐색할 수 있는 위키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(wiki)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형태로 변환하고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문서의 핵심 타이틀과 요약을 통해 지식 집합체를 형성합니다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  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8" name="Shape 4">
            <a:extLst>
              <a:ext uri="{FF2B5EF4-FFF2-40B4-BE49-F238E27FC236}">
                <a16:creationId xmlns:a16="http://schemas.microsoft.com/office/drawing/2014/main" id="{0834FC8F-490B-ABFE-0BBE-6606BB02B40D}"/>
              </a:ext>
            </a:extLst>
          </p:cNvPr>
          <p:cNvSpPr/>
          <p:nvPr/>
        </p:nvSpPr>
        <p:spPr>
          <a:xfrm>
            <a:off x="3725483" y="2363603"/>
            <a:ext cx="351217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Step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2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59A5710F-F80E-4E68-85DC-177E2957CF26}"/>
              </a:ext>
            </a:extLst>
          </p:cNvPr>
          <p:cNvSpPr txBox="1"/>
          <p:nvPr/>
        </p:nvSpPr>
        <p:spPr>
          <a:xfrm>
            <a:off x="3725483" y="3137322"/>
            <a:ext cx="5418517" cy="68159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10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             </a:t>
            </a:r>
            <a:r>
              <a:rPr lang="ko-KR" altLang="en-US" sz="10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지식 관계망</a:t>
            </a:r>
            <a:r>
              <a:rPr lang="en-US" altLang="ko-KR" sz="8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 </a:t>
            </a:r>
            <a:r>
              <a:rPr lang="ko-KR" altLang="en-US" sz="10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구축</a:t>
            </a:r>
            <a:endParaRPr lang="en-US" altLang="ko-KR" sz="900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9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데이터 간 관계망 형성 및 맥락 키워드 추출 </a:t>
            </a:r>
          </a:p>
          <a:p>
            <a:pPr>
              <a:lnSpc>
                <a:spcPct val="160000"/>
              </a:lnSpc>
            </a:pP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위키화된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 목록을 상호 연계하여 복잡한 데이터 간의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지식 관계망</a:t>
            </a:r>
            <a:r>
              <a:rPr lang="en-US" altLang="ko-KR" sz="700" dirty="0"/>
              <a:t>'</a:t>
            </a:r>
            <a:r>
              <a:rPr lang="ko-KR" altLang="en-US" sz="700" dirty="0"/>
              <a:t>을  구축합니다</a:t>
            </a:r>
            <a:r>
              <a:rPr lang="en-US" altLang="ko-KR" sz="700" dirty="0"/>
              <a:t>. </a:t>
            </a:r>
            <a:r>
              <a:rPr lang="ko-KR" altLang="en-US" sz="700" dirty="0"/>
              <a:t>핵심 키워드를 추출하고 설명문을 기록합니다</a:t>
            </a:r>
            <a:r>
              <a:rPr lang="en-US" altLang="ko-KR" sz="700" dirty="0"/>
              <a:t>.</a:t>
            </a:r>
          </a:p>
        </p:txBody>
      </p:sp>
      <p:sp>
        <p:nvSpPr>
          <p:cNvPr id="220" name="Shape 4">
            <a:extLst>
              <a:ext uri="{FF2B5EF4-FFF2-40B4-BE49-F238E27FC236}">
                <a16:creationId xmlns:a16="http://schemas.microsoft.com/office/drawing/2014/main" id="{F8C7E240-A7C7-41CC-49E3-5045A9116AF3}"/>
              </a:ext>
            </a:extLst>
          </p:cNvPr>
          <p:cNvSpPr/>
          <p:nvPr/>
        </p:nvSpPr>
        <p:spPr>
          <a:xfrm>
            <a:off x="3725484" y="3220147"/>
            <a:ext cx="351217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Step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3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FBDEA19-ACAA-BC66-4D4C-63400951A597}"/>
              </a:ext>
            </a:extLst>
          </p:cNvPr>
          <p:cNvSpPr txBox="1"/>
          <p:nvPr/>
        </p:nvSpPr>
        <p:spPr>
          <a:xfrm>
            <a:off x="3725482" y="4066788"/>
            <a:ext cx="5162486" cy="65991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10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             </a:t>
            </a:r>
            <a:r>
              <a:rPr lang="ko-KR" altLang="en-US" sz="10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SUIT ExtraBold" panose="020B0200000000000000" pitchFamily="50" charset="-127"/>
              </a:rPr>
              <a:t>보안 답변 제공</a:t>
            </a:r>
            <a:endParaRPr lang="en-US" altLang="ko-KR" sz="1000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SUIT ExtraBold" panose="020B0200000000000000" pitchFamily="50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900" dirty="0">
                <a:solidFill>
                  <a:srgbClr val="0D9488"/>
                </a:solidFill>
                <a:latin typeface="SUIT ExtraBold"/>
                <a:ea typeface="SUIT ExtraBold" pitchFamily="50" charset="-127"/>
              </a:rPr>
              <a:t>태그 기반 답변 검색 및 사용자 권한별 보안 답변 제어</a:t>
            </a:r>
          </a:p>
          <a:p>
            <a:pPr>
              <a:lnSpc>
                <a:spcPct val="160000"/>
              </a:lnSpc>
            </a:pP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태그 관리를 통해 질문과 연관된 최적의 문서를 찾아 답변을 제공하며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최종 출력 단계에서 사용자 권한을 판단해 보안 답변을 분리 제어합니다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22" name="Shape 4">
            <a:extLst>
              <a:ext uri="{FF2B5EF4-FFF2-40B4-BE49-F238E27FC236}">
                <a16:creationId xmlns:a16="http://schemas.microsoft.com/office/drawing/2014/main" id="{B1617265-1060-FFA9-3A40-1B095D24F47C}"/>
              </a:ext>
            </a:extLst>
          </p:cNvPr>
          <p:cNvSpPr/>
          <p:nvPr/>
        </p:nvSpPr>
        <p:spPr>
          <a:xfrm>
            <a:off x="3725483" y="4149613"/>
            <a:ext cx="351217" cy="1376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0" rIns="0" bIns="0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Step</a:t>
            </a:r>
            <a:r>
              <a:rPr lang="ko-KR" altLang="en-US" sz="7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ea typeface="SUIT ExtraBold" pitchFamily="50" charset="-127"/>
              </a:rPr>
              <a:t>4</a:t>
            </a:r>
            <a:endParaRPr lang="ko-KR" altLang="en-US" sz="7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pic>
        <p:nvPicPr>
          <p:cNvPr id="225" name="그림 224">
            <a:extLst>
              <a:ext uri="{FF2B5EF4-FFF2-40B4-BE49-F238E27FC236}">
                <a16:creationId xmlns:a16="http://schemas.microsoft.com/office/drawing/2014/main" id="{98AE746E-4C72-B805-2CB9-5BF2D6BCC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06" y="1292295"/>
            <a:ext cx="2874725" cy="359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95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74CD-8C37-2DFB-6DF2-6E27D842B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2D1DC52C-ED41-A7D8-97DF-E1B64E5AD1E1}"/>
              </a:ext>
            </a:extLst>
          </p:cNvPr>
          <p:cNvSpPr/>
          <p:nvPr/>
        </p:nvSpPr>
        <p:spPr>
          <a:xfrm>
            <a:off x="0" y="569241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D2E9EC38-9B0F-CDD9-63E1-95C07D14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비용 효율적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AI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운영 전략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1647C74D-74E8-D95C-81EC-0D1A640D0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Business Scenarios &amp; Value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CC1565BD-FF5C-070D-5411-AF1D42CEA049}"/>
              </a:ext>
            </a:extLst>
          </p:cNvPr>
          <p:cNvSpPr txBox="1"/>
          <p:nvPr/>
        </p:nvSpPr>
        <p:spPr>
          <a:xfrm>
            <a:off x="256032" y="666744"/>
            <a:ext cx="8595360" cy="2396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b="1" dirty="0">
                <a:latin typeface="+mn-ea"/>
                <a:ea typeface="+mn-ea"/>
              </a:rPr>
              <a:t>비즈니스 목적에 최적화된 하이브리드 </a:t>
            </a:r>
            <a:r>
              <a:rPr lang="en-US" altLang="ko-KR" sz="1400" b="1" dirty="0">
                <a:latin typeface="+mn-ea"/>
                <a:ea typeface="+mn-ea"/>
              </a:rPr>
              <a:t>LLM </a:t>
            </a:r>
            <a:r>
              <a:rPr lang="ko-KR" altLang="en-US" sz="1400" b="1" dirty="0">
                <a:latin typeface="+mn-ea"/>
                <a:ea typeface="+mn-ea"/>
              </a:rPr>
              <a:t>운용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6034ACB4-BB2B-CE87-D1AC-D6F90B9E2414}"/>
              </a:ext>
            </a:extLst>
          </p:cNvPr>
          <p:cNvSpPr txBox="1"/>
          <p:nvPr/>
        </p:nvSpPr>
        <p:spPr>
          <a:xfrm>
            <a:off x="256032" y="943032"/>
            <a:ext cx="8595360" cy="145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작업의 난이도와 보안 등급에 따라 최적의 </a:t>
            </a: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AI 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모델을 실시간 매칭하여</a:t>
            </a: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ea typeface="+mn-ea"/>
              </a:rPr>
              <a:t>품질 타협 없이 인프라 운영 비용을 최소화합니다</a:t>
            </a:r>
            <a:r>
              <a:rPr lang="en-US" altLang="ko-KR" sz="800" dirty="0">
                <a:solidFill>
                  <a:srgbClr val="64748B"/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rgbClr val="64748B"/>
              </a:solidFill>
              <a:latin typeface="+mn-ea"/>
              <a:ea typeface="+mn-ea"/>
            </a:endParaRPr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B9856804-947F-5516-A4D6-91824B4B8E23}"/>
              </a:ext>
            </a:extLst>
          </p:cNvPr>
          <p:cNvSpPr/>
          <p:nvPr/>
        </p:nvSpPr>
        <p:spPr>
          <a:xfrm>
            <a:off x="124277" y="1309298"/>
            <a:ext cx="8895446" cy="807401"/>
          </a:xfrm>
          <a:prstGeom prst="roundRect">
            <a:avLst>
              <a:gd name="adj" fmla="val 9193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DB01AEB-3D58-026B-DC2D-9FC582385AA3}"/>
              </a:ext>
            </a:extLst>
          </p:cNvPr>
          <p:cNvCxnSpPr>
            <a:cxnSpLocks/>
          </p:cNvCxnSpPr>
          <p:nvPr/>
        </p:nvCxnSpPr>
        <p:spPr>
          <a:xfrm>
            <a:off x="3085362" y="1307868"/>
            <a:ext cx="0" cy="808831"/>
          </a:xfrm>
          <a:prstGeom prst="line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CB840BB-ABF8-00EF-08D9-4A7829D84D79}"/>
              </a:ext>
            </a:extLst>
          </p:cNvPr>
          <p:cNvCxnSpPr>
            <a:cxnSpLocks/>
          </p:cNvCxnSpPr>
          <p:nvPr/>
        </p:nvCxnSpPr>
        <p:spPr>
          <a:xfrm>
            <a:off x="6046447" y="1303202"/>
            <a:ext cx="0" cy="813497"/>
          </a:xfrm>
          <a:prstGeom prst="line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CBBBD0-2357-CE74-7B32-A99C1508DDA6}"/>
              </a:ext>
            </a:extLst>
          </p:cNvPr>
          <p:cNvSpPr txBox="1"/>
          <p:nvPr/>
        </p:nvSpPr>
        <p:spPr>
          <a:xfrm>
            <a:off x="307099" y="1504088"/>
            <a:ext cx="1062228" cy="40972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2400" dirty="0">
                <a:solidFill>
                  <a:srgbClr val="00A896"/>
                </a:solidFill>
                <a:latin typeface="SUIT ExtraBold" pitchFamily="50" charset="-127"/>
                <a:ea typeface="SUIT ExtraBold" pitchFamily="50" charset="-127"/>
              </a:rPr>
              <a:t>~80</a:t>
            </a:r>
            <a:r>
              <a:rPr lang="en-US" sz="1600" dirty="0">
                <a:solidFill>
                  <a:srgbClr val="00A896"/>
                </a:solidFill>
                <a:latin typeface="SUIT ExtraBold" pitchFamily="50" charset="-127"/>
                <a:ea typeface="SUIT ExtraBold" pitchFamily="50" charset="-127"/>
              </a:rPr>
              <a:t>%</a:t>
            </a:r>
            <a:endParaRPr lang="en-US" sz="2400" dirty="0">
              <a:solidFill>
                <a:srgbClr val="00A896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024C56-AD18-CAF9-36DC-93F81186916F}"/>
              </a:ext>
            </a:extLst>
          </p:cNvPr>
          <p:cNvSpPr txBox="1"/>
          <p:nvPr/>
        </p:nvSpPr>
        <p:spPr>
          <a:xfrm>
            <a:off x="3269456" y="1475857"/>
            <a:ext cx="947737" cy="40972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2400" dirty="0">
                <a:solidFill>
                  <a:srgbClr val="00A896"/>
                </a:solidFill>
                <a:latin typeface="SUIT ExtraBold" pitchFamily="50" charset="-127"/>
                <a:ea typeface="SUIT ExtraBold" pitchFamily="50" charset="-127"/>
              </a:rPr>
              <a:t>60</a:t>
            </a:r>
            <a:r>
              <a:rPr lang="en-US" sz="1600" dirty="0">
                <a:solidFill>
                  <a:srgbClr val="00A896"/>
                </a:solidFill>
                <a:latin typeface="SUIT ExtraBold" pitchFamily="50" charset="-127"/>
                <a:ea typeface="SUIT ExtraBold" pitchFamily="50" charset="-127"/>
              </a:rPr>
              <a:t>%</a:t>
            </a:r>
            <a:r>
              <a:rPr lang="ko-KR" altLang="en-US" sz="1600" dirty="0">
                <a:solidFill>
                  <a:srgbClr val="00A896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↓</a:t>
            </a:r>
            <a:endParaRPr lang="en-US" sz="2400" dirty="0">
              <a:solidFill>
                <a:srgbClr val="00A896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B66C39-42A8-551C-6663-AD09D32EE759}"/>
              </a:ext>
            </a:extLst>
          </p:cNvPr>
          <p:cNvSpPr txBox="1"/>
          <p:nvPr/>
        </p:nvSpPr>
        <p:spPr>
          <a:xfrm>
            <a:off x="6159100" y="1475857"/>
            <a:ext cx="932831" cy="40972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sz="2400" dirty="0">
                <a:solidFill>
                  <a:srgbClr val="00A896"/>
                </a:solidFill>
                <a:latin typeface="SUIT ExtraBold" pitchFamily="50" charset="-127"/>
                <a:ea typeface="SUIT ExtraBold" pitchFamily="50" charset="-127"/>
              </a:rPr>
              <a:t>1 </a:t>
            </a:r>
            <a:r>
              <a:rPr lang="en-US" sz="1200" dirty="0">
                <a:solidFill>
                  <a:srgbClr val="00A896"/>
                </a:solidFill>
                <a:latin typeface="SUIT ExtraBold" pitchFamily="50" charset="-127"/>
                <a:ea typeface="SUIT ExtraBold" pitchFamily="50" charset="-127"/>
              </a:rPr>
              <a:t>system</a:t>
            </a:r>
            <a:endParaRPr lang="en-US" sz="2400" dirty="0">
              <a:solidFill>
                <a:srgbClr val="00A896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8" name="그래픽 17">
            <a:extLst>
              <a:ext uri="{FF2B5EF4-FFF2-40B4-BE49-F238E27FC236}">
                <a16:creationId xmlns:a16="http://schemas.microsoft.com/office/drawing/2014/main" id="{97DD617A-0B1D-847E-0A21-EE749325A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0245" y="1528693"/>
            <a:ext cx="144000" cy="144000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0FC2CDF4-C3B2-C502-E10B-B6A9638865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4196" y="1528767"/>
            <a:ext cx="144000" cy="144000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B923C3DA-53BE-D889-3373-6AEDB142D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339" y="1535982"/>
            <a:ext cx="144000" cy="144000"/>
          </a:xfrm>
          <a:prstGeom prst="rect">
            <a:avLst/>
          </a:prstGeom>
        </p:spPr>
      </p:pic>
      <p:sp>
        <p:nvSpPr>
          <p:cNvPr id="55" name="Shape 4">
            <a:extLst>
              <a:ext uri="{FF2B5EF4-FFF2-40B4-BE49-F238E27FC236}">
                <a16:creationId xmlns:a16="http://schemas.microsoft.com/office/drawing/2014/main" id="{F6ACFD66-A88E-DCB6-5B2C-126A9968BBD0}"/>
              </a:ext>
            </a:extLst>
          </p:cNvPr>
          <p:cNvSpPr/>
          <p:nvPr/>
        </p:nvSpPr>
        <p:spPr>
          <a:xfrm rot="16200000">
            <a:off x="200430" y="2164894"/>
            <a:ext cx="2675838" cy="2828145"/>
          </a:xfrm>
          <a:prstGeom prst="roundRect">
            <a:avLst>
              <a:gd name="adj" fmla="val 3260"/>
            </a:avLst>
          </a:prstGeom>
          <a:gradFill rotWithShape="1">
            <a:gsLst>
              <a:gs pos="0">
                <a:srgbClr val="EF4444"/>
              </a:gs>
              <a:gs pos="1424">
                <a:srgbClr val="EF4444"/>
              </a:gs>
              <a:gs pos="1425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BB294830-BF67-2955-86FD-9EBA026B94FB}"/>
              </a:ext>
            </a:extLst>
          </p:cNvPr>
          <p:cNvSpPr/>
          <p:nvPr/>
        </p:nvSpPr>
        <p:spPr>
          <a:xfrm rot="16200000">
            <a:off x="4712904" y="610062"/>
            <a:ext cx="2675838" cy="5937805"/>
          </a:xfrm>
          <a:prstGeom prst="roundRect">
            <a:avLst>
              <a:gd name="adj" fmla="val 3260"/>
            </a:avLst>
          </a:prstGeom>
          <a:gradFill rotWithShape="1">
            <a:gsLst>
              <a:gs pos="0">
                <a:srgbClr val="00A896"/>
              </a:gs>
              <a:gs pos="1424">
                <a:srgbClr val="00A896"/>
              </a:gs>
              <a:gs pos="1425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8B0B1C1B-E2A6-1BCB-4C3D-5A58DB4ECC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288" y="2374208"/>
            <a:ext cx="216000" cy="216000"/>
          </a:xfrm>
          <a:prstGeom prst="rect">
            <a:avLst/>
          </a:prstGeom>
        </p:spPr>
      </p:pic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DC10FB1A-0027-0199-04A9-5AE068E44E12}"/>
              </a:ext>
            </a:extLst>
          </p:cNvPr>
          <p:cNvGrpSpPr/>
          <p:nvPr/>
        </p:nvGrpSpPr>
        <p:grpSpPr>
          <a:xfrm>
            <a:off x="6357938" y="3184579"/>
            <a:ext cx="583093" cy="1137031"/>
            <a:chOff x="6361933" y="3116730"/>
            <a:chExt cx="381000" cy="742950"/>
          </a:xfrm>
        </p:grpSpPr>
        <p:sp>
          <p:nvSpPr>
            <p:cNvPr id="1086" name="자유형: 도형 1085">
              <a:extLst>
                <a:ext uri="{FF2B5EF4-FFF2-40B4-BE49-F238E27FC236}">
                  <a16:creationId xmlns:a16="http://schemas.microsoft.com/office/drawing/2014/main" id="{CAD8C583-9134-5A52-E158-5447978ED6F2}"/>
                </a:ext>
              </a:extLst>
            </p:cNvPr>
            <p:cNvSpPr/>
            <p:nvPr/>
          </p:nvSpPr>
          <p:spPr>
            <a:xfrm>
              <a:off x="6361933" y="3154830"/>
              <a:ext cx="342900" cy="333375"/>
            </a:xfrm>
            <a:custGeom>
              <a:avLst/>
              <a:gdLst>
                <a:gd name="csX0" fmla="*/ 0 w 342900"/>
                <a:gd name="csY0" fmla="*/ 333375 h 333375"/>
                <a:gd name="csX1" fmla="*/ 342900 w 342900"/>
                <a:gd name="csY1" fmla="*/ 0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2900" h="333375">
                  <a:moveTo>
                    <a:pt x="0" y="333375"/>
                  </a:moveTo>
                  <a:cubicBezTo>
                    <a:pt x="190500" y="333375"/>
                    <a:pt x="190500" y="0"/>
                    <a:pt x="342900" y="0"/>
                  </a:cubicBezTo>
                </a:path>
              </a:pathLst>
            </a:custGeom>
            <a:noFill/>
            <a:ln w="28575" cap="flat">
              <a:solidFill>
                <a:srgbClr val="00A89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2" name="자유형: 도형 191">
              <a:extLst>
                <a:ext uri="{FF2B5EF4-FFF2-40B4-BE49-F238E27FC236}">
                  <a16:creationId xmlns:a16="http://schemas.microsoft.com/office/drawing/2014/main" id="{11827C87-0F6E-73A2-1F77-22F1C488A931}"/>
                </a:ext>
              </a:extLst>
            </p:cNvPr>
            <p:cNvSpPr/>
            <p:nvPr/>
          </p:nvSpPr>
          <p:spPr>
            <a:xfrm>
              <a:off x="6695308" y="3116730"/>
              <a:ext cx="47625" cy="76200"/>
            </a:xfrm>
            <a:custGeom>
              <a:avLst/>
              <a:gdLst>
                <a:gd name="csX0" fmla="*/ 0 w 47625"/>
                <a:gd name="csY0" fmla="*/ 0 h 76200"/>
                <a:gd name="csX1" fmla="*/ 47625 w 47625"/>
                <a:gd name="csY1" fmla="*/ 38100 h 76200"/>
                <a:gd name="csX2" fmla="*/ 0 w 47625"/>
                <a:gd name="csY2" fmla="*/ 762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625" h="76200">
                  <a:moveTo>
                    <a:pt x="0" y="0"/>
                  </a:moveTo>
                  <a:lnTo>
                    <a:pt x="47625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A896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3" name="자유형: 도형 192">
              <a:extLst>
                <a:ext uri="{FF2B5EF4-FFF2-40B4-BE49-F238E27FC236}">
                  <a16:creationId xmlns:a16="http://schemas.microsoft.com/office/drawing/2014/main" id="{381A3138-0C5A-1C3B-1293-73360AEA4790}"/>
                </a:ext>
              </a:extLst>
            </p:cNvPr>
            <p:cNvSpPr/>
            <p:nvPr/>
          </p:nvSpPr>
          <p:spPr>
            <a:xfrm>
              <a:off x="6361933" y="3488205"/>
              <a:ext cx="342900" cy="333375"/>
            </a:xfrm>
            <a:custGeom>
              <a:avLst/>
              <a:gdLst>
                <a:gd name="csX0" fmla="*/ 0 w 342900"/>
                <a:gd name="csY0" fmla="*/ 0 h 333375"/>
                <a:gd name="csX1" fmla="*/ 342900 w 342900"/>
                <a:gd name="csY1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2900" h="333375">
                  <a:moveTo>
                    <a:pt x="0" y="0"/>
                  </a:moveTo>
                  <a:cubicBezTo>
                    <a:pt x="190500" y="0"/>
                    <a:pt x="190500" y="333375"/>
                    <a:pt x="342900" y="333375"/>
                  </a:cubicBezTo>
                </a:path>
              </a:pathLst>
            </a:custGeom>
            <a:noFill/>
            <a:ln w="28575" cap="flat">
              <a:solidFill>
                <a:srgbClr val="0070C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" name="자유형: 도형 193">
              <a:extLst>
                <a:ext uri="{FF2B5EF4-FFF2-40B4-BE49-F238E27FC236}">
                  <a16:creationId xmlns:a16="http://schemas.microsoft.com/office/drawing/2014/main" id="{1F1C70CD-ECBC-DE55-06F0-98D825DEE8C3}"/>
                </a:ext>
              </a:extLst>
            </p:cNvPr>
            <p:cNvSpPr/>
            <p:nvPr/>
          </p:nvSpPr>
          <p:spPr>
            <a:xfrm>
              <a:off x="6695308" y="3783480"/>
              <a:ext cx="47625" cy="76200"/>
            </a:xfrm>
            <a:custGeom>
              <a:avLst/>
              <a:gdLst>
                <a:gd name="csX0" fmla="*/ 0 w 47625"/>
                <a:gd name="csY0" fmla="*/ 0 h 76200"/>
                <a:gd name="csX1" fmla="*/ 47625 w 47625"/>
                <a:gd name="csY1" fmla="*/ 38100 h 76200"/>
                <a:gd name="csX2" fmla="*/ 0 w 47625"/>
                <a:gd name="csY2" fmla="*/ 762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625" h="76200">
                  <a:moveTo>
                    <a:pt x="0" y="0"/>
                  </a:moveTo>
                  <a:lnTo>
                    <a:pt x="47625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" name="Shape 4">
            <a:extLst>
              <a:ext uri="{FF2B5EF4-FFF2-40B4-BE49-F238E27FC236}">
                <a16:creationId xmlns:a16="http://schemas.microsoft.com/office/drawing/2014/main" id="{3482A6B0-871A-85C3-5754-D73234BF3E30}"/>
              </a:ext>
            </a:extLst>
          </p:cNvPr>
          <p:cNvSpPr/>
          <p:nvPr/>
        </p:nvSpPr>
        <p:spPr>
          <a:xfrm>
            <a:off x="300246" y="2733851"/>
            <a:ext cx="222064" cy="225845"/>
          </a:xfrm>
          <a:prstGeom prst="roundRect">
            <a:avLst>
              <a:gd name="adj" fmla="val 25817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F517BB5A-99D3-16D0-4AC4-02E4991A32FF}"/>
              </a:ext>
            </a:extLst>
          </p:cNvPr>
          <p:cNvSpPr/>
          <p:nvPr/>
        </p:nvSpPr>
        <p:spPr>
          <a:xfrm>
            <a:off x="300246" y="3299050"/>
            <a:ext cx="222064" cy="225845"/>
          </a:xfrm>
          <a:prstGeom prst="roundRect">
            <a:avLst>
              <a:gd name="adj" fmla="val 25817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7D8B777F-A610-497C-1038-50492242833B}"/>
              </a:ext>
            </a:extLst>
          </p:cNvPr>
          <p:cNvSpPr/>
          <p:nvPr/>
        </p:nvSpPr>
        <p:spPr>
          <a:xfrm>
            <a:off x="300246" y="3848823"/>
            <a:ext cx="222064" cy="225845"/>
          </a:xfrm>
          <a:prstGeom prst="roundRect">
            <a:avLst>
              <a:gd name="adj" fmla="val 25817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9EAC2A87-9B98-9E96-F13D-068A08A8FFA3}"/>
              </a:ext>
            </a:extLst>
          </p:cNvPr>
          <p:cNvSpPr/>
          <p:nvPr/>
        </p:nvSpPr>
        <p:spPr>
          <a:xfrm>
            <a:off x="300246" y="4386967"/>
            <a:ext cx="222064" cy="225845"/>
          </a:xfrm>
          <a:prstGeom prst="roundRect">
            <a:avLst>
              <a:gd name="adj" fmla="val 25817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ko-KR" altLang="en-US" sz="600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D1A2EEE-A915-8084-8DD6-111902526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611" y="3884984"/>
            <a:ext cx="144000" cy="144000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8898B355-5FF3-707D-473F-EB4DE5BFAD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611" y="4424508"/>
            <a:ext cx="144000" cy="144000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D645A8B5-24C9-98DD-4220-45098D99E7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611" y="2774012"/>
            <a:ext cx="144000" cy="144000"/>
          </a:xfrm>
          <a:prstGeom prst="rect">
            <a:avLst/>
          </a:prstGeom>
        </p:spPr>
      </p:pic>
      <p:pic>
        <p:nvPicPr>
          <p:cNvPr id="28" name="그래픽 27">
            <a:extLst>
              <a:ext uri="{FF2B5EF4-FFF2-40B4-BE49-F238E27FC236}">
                <a16:creationId xmlns:a16="http://schemas.microsoft.com/office/drawing/2014/main" id="{5527B5EE-BFFD-96B7-3583-0973802FAE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9611" y="3336830"/>
            <a:ext cx="144000" cy="144000"/>
          </a:xfrm>
          <a:prstGeom prst="rect">
            <a:avLst/>
          </a:prstGeom>
        </p:spPr>
      </p:pic>
      <p:sp>
        <p:nvSpPr>
          <p:cNvPr id="1026" name="Shape 4">
            <a:extLst>
              <a:ext uri="{FF2B5EF4-FFF2-40B4-BE49-F238E27FC236}">
                <a16:creationId xmlns:a16="http://schemas.microsoft.com/office/drawing/2014/main" id="{778B336F-31C8-7ECF-58B4-B0096630C834}"/>
              </a:ext>
            </a:extLst>
          </p:cNvPr>
          <p:cNvSpPr/>
          <p:nvPr/>
        </p:nvSpPr>
        <p:spPr>
          <a:xfrm rot="16200000">
            <a:off x="4685934" y="2775718"/>
            <a:ext cx="1554013" cy="1854287"/>
          </a:xfrm>
          <a:prstGeom prst="roundRect">
            <a:avLst>
              <a:gd name="adj" fmla="val 5141"/>
            </a:avLst>
          </a:prstGeom>
          <a:gradFill rotWithShape="1">
            <a:gsLst>
              <a:gs pos="0">
                <a:srgbClr val="00D4C5"/>
              </a:gs>
              <a:gs pos="2452">
                <a:srgbClr val="00D4C5"/>
              </a:gs>
              <a:gs pos="2453">
                <a:srgbClr val="0F172A"/>
              </a:gs>
              <a:gs pos="100000">
                <a:srgbClr val="0F172A"/>
              </a:gs>
            </a:gsLst>
            <a:lin ang="10800000" scaled="0"/>
          </a:gradFill>
          <a:ln>
            <a:solidFill>
              <a:srgbClr val="EBEFF5"/>
            </a:solidFill>
          </a:ln>
          <a:effectLst>
            <a:glow rad="127000">
              <a:srgbClr val="00A896">
                <a:alpha val="22000"/>
              </a:srgbClr>
            </a:glo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80" name="Shape 4">
            <a:extLst>
              <a:ext uri="{FF2B5EF4-FFF2-40B4-BE49-F238E27FC236}">
                <a16:creationId xmlns:a16="http://schemas.microsoft.com/office/drawing/2014/main" id="{7B03F196-946F-2E39-8305-3624C7881B2F}"/>
              </a:ext>
            </a:extLst>
          </p:cNvPr>
          <p:cNvSpPr/>
          <p:nvPr/>
        </p:nvSpPr>
        <p:spPr>
          <a:xfrm rot="10800000">
            <a:off x="6941032" y="3877918"/>
            <a:ext cx="1854287" cy="846654"/>
          </a:xfrm>
          <a:prstGeom prst="roundRect">
            <a:avLst>
              <a:gd name="adj" fmla="val 8044"/>
            </a:avLst>
          </a:prstGeom>
          <a:gradFill rotWithShape="1">
            <a:gsLst>
              <a:gs pos="0">
                <a:srgbClr val="0070C0"/>
              </a:gs>
              <a:gs pos="2055">
                <a:srgbClr val="0070C0"/>
              </a:gs>
              <a:gs pos="2056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84" name="Shape 4">
            <a:extLst>
              <a:ext uri="{FF2B5EF4-FFF2-40B4-BE49-F238E27FC236}">
                <a16:creationId xmlns:a16="http://schemas.microsoft.com/office/drawing/2014/main" id="{D4A52EBF-6F02-9510-E378-0AB58C26ED82}"/>
              </a:ext>
            </a:extLst>
          </p:cNvPr>
          <p:cNvSpPr/>
          <p:nvPr/>
        </p:nvSpPr>
        <p:spPr>
          <a:xfrm rot="10800000">
            <a:off x="6941031" y="2782094"/>
            <a:ext cx="1854287" cy="846654"/>
          </a:xfrm>
          <a:prstGeom prst="roundRect">
            <a:avLst>
              <a:gd name="adj" fmla="val 8044"/>
            </a:avLst>
          </a:prstGeom>
          <a:gradFill rotWithShape="1">
            <a:gsLst>
              <a:gs pos="0">
                <a:srgbClr val="00A390"/>
              </a:gs>
              <a:gs pos="2055">
                <a:srgbClr val="00A390"/>
              </a:gs>
              <a:gs pos="2056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D043FBC0-8607-FC54-3BA2-721E78072E64}"/>
              </a:ext>
            </a:extLst>
          </p:cNvPr>
          <p:cNvSpPr/>
          <p:nvPr/>
        </p:nvSpPr>
        <p:spPr>
          <a:xfrm>
            <a:off x="3276600" y="2925854"/>
            <a:ext cx="947738" cy="1554014"/>
          </a:xfrm>
          <a:prstGeom prst="roundRect">
            <a:avLst>
              <a:gd name="adj" fmla="val 8270"/>
            </a:avLst>
          </a:prstGeom>
          <a:solidFill>
            <a:srgbClr val="F8FAF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0BBB743C-F220-278F-0736-297BB2F754A0}"/>
              </a:ext>
            </a:extLst>
          </p:cNvPr>
          <p:cNvCxnSpPr>
            <a:cxnSpLocks/>
          </p:cNvCxnSpPr>
          <p:nvPr/>
        </p:nvCxnSpPr>
        <p:spPr>
          <a:xfrm flipV="1">
            <a:off x="4258071" y="3701275"/>
            <a:ext cx="256294" cy="158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래픽 7">
            <a:extLst>
              <a:ext uri="{FF2B5EF4-FFF2-40B4-BE49-F238E27FC236}">
                <a16:creationId xmlns:a16="http://schemas.microsoft.com/office/drawing/2014/main" id="{483508FF-9A3C-4219-8D09-234F4ECC6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99080" y="2381460"/>
            <a:ext cx="216000" cy="216000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4E9D13AD-9C6F-7103-5128-B0178F8326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48088" y="3115679"/>
            <a:ext cx="329639" cy="32963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23D05A4-DA90-EE8D-30E5-566D080592F4}"/>
              </a:ext>
            </a:extLst>
          </p:cNvPr>
          <p:cNvSpPr txBox="1"/>
          <p:nvPr/>
        </p:nvSpPr>
        <p:spPr>
          <a:xfrm>
            <a:off x="464738" y="2378786"/>
            <a:ext cx="2461261" cy="225057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1200" dirty="0">
                <a:solidFill>
                  <a:srgbClr val="C00000"/>
                </a:solidFill>
                <a:latin typeface="SUIT"/>
              </a:rPr>
              <a:t>AS-IS: </a:t>
            </a:r>
            <a:r>
              <a:rPr lang="ko-KR" altLang="en-US" sz="1200" dirty="0">
                <a:solidFill>
                  <a:srgbClr val="C00000"/>
                </a:solidFill>
                <a:latin typeface="SUIT"/>
              </a:rPr>
              <a:t>단일 </a:t>
            </a:r>
            <a:r>
              <a:rPr lang="en-US" altLang="ko-KR" sz="1200" dirty="0">
                <a:solidFill>
                  <a:srgbClr val="C00000"/>
                </a:solidFill>
                <a:latin typeface="SUIT"/>
              </a:rPr>
              <a:t>API </a:t>
            </a:r>
            <a:r>
              <a:rPr lang="ko-KR" altLang="en-US" sz="1200" dirty="0">
                <a:solidFill>
                  <a:srgbClr val="C00000"/>
                </a:solidFill>
                <a:latin typeface="SUIT"/>
              </a:rPr>
              <a:t>의존 구조의 한계</a:t>
            </a:r>
            <a:endParaRPr lang="en-US" sz="1200" dirty="0">
              <a:solidFill>
                <a:srgbClr val="C00000"/>
              </a:solidFill>
              <a:latin typeface="SUIT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68AAC4C-5D74-8B2D-59AB-8134AA7A918F}"/>
              </a:ext>
            </a:extLst>
          </p:cNvPr>
          <p:cNvSpPr txBox="1"/>
          <p:nvPr/>
        </p:nvSpPr>
        <p:spPr>
          <a:xfrm>
            <a:off x="3392220" y="2381460"/>
            <a:ext cx="3637706" cy="225057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1200" dirty="0">
                <a:solidFill>
                  <a:srgbClr val="00A896"/>
                </a:solidFill>
                <a:latin typeface="SUIT"/>
              </a:rPr>
              <a:t>TO-BE: </a:t>
            </a:r>
            <a:r>
              <a:rPr lang="ko-KR" altLang="en-US" sz="1200" dirty="0">
                <a:solidFill>
                  <a:srgbClr val="00A896"/>
                </a:solidFill>
                <a:latin typeface="SUIT"/>
              </a:rPr>
              <a:t>작업 성격 기반 동적 라우팅 아키텍처</a:t>
            </a:r>
            <a:endParaRPr lang="en-US" sz="1200" dirty="0">
              <a:solidFill>
                <a:srgbClr val="00A896"/>
              </a:solidFill>
              <a:latin typeface="SUIT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458870C-66DD-F146-CAF6-749EE8824736}"/>
              </a:ext>
            </a:extLst>
          </p:cNvPr>
          <p:cNvSpPr txBox="1"/>
          <p:nvPr/>
        </p:nvSpPr>
        <p:spPr>
          <a:xfrm>
            <a:off x="541920" y="2709089"/>
            <a:ext cx="2283249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50" dirty="0">
                <a:solidFill>
                  <a:srgbClr val="C00000"/>
                </a:solidFill>
                <a:latin typeface="SUIT"/>
              </a:rPr>
              <a:t>리소스 할당 비효율</a:t>
            </a:r>
            <a:endParaRPr lang="en-US" sz="1050" dirty="0">
              <a:solidFill>
                <a:srgbClr val="C00000"/>
              </a:solidFill>
              <a:latin typeface="SUI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4918BF-BB4C-F492-A567-3780E151AA8A}"/>
              </a:ext>
            </a:extLst>
          </p:cNvPr>
          <p:cNvSpPr txBox="1"/>
          <p:nvPr/>
        </p:nvSpPr>
        <p:spPr>
          <a:xfrm>
            <a:off x="3311965" y="3345187"/>
            <a:ext cx="965813" cy="92524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marL="88900" indent="-88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SUIT"/>
              </a:rPr>
              <a:t>단순 질의응답</a:t>
            </a:r>
            <a:endParaRPr lang="en-US" altLang="ko-KR" sz="900" b="1" dirty="0">
              <a:latin typeface="SUIT"/>
            </a:endParaRPr>
          </a:p>
          <a:p>
            <a:pPr marL="88900" indent="-88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SUIT"/>
              </a:rPr>
              <a:t>사내 지식 검색</a:t>
            </a:r>
            <a:endParaRPr lang="en-US" altLang="ko-KR" sz="900" b="1" dirty="0">
              <a:latin typeface="SUIT"/>
            </a:endParaRPr>
          </a:p>
          <a:p>
            <a:pPr marL="88900" indent="-88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SUIT"/>
              </a:rPr>
              <a:t>복합 분석</a:t>
            </a:r>
            <a:r>
              <a:rPr lang="en-US" altLang="ko-KR" sz="900" b="1" dirty="0">
                <a:latin typeface="SUIT"/>
              </a:rPr>
              <a:t>/</a:t>
            </a:r>
            <a:r>
              <a:rPr lang="ko-KR" altLang="en-US" sz="900" b="1" dirty="0">
                <a:latin typeface="SUIT"/>
              </a:rPr>
              <a:t>요약</a:t>
            </a:r>
            <a:endParaRPr lang="en-US" altLang="ko-KR" sz="900" b="1" dirty="0">
              <a:latin typeface="SUIT"/>
            </a:endParaRPr>
          </a:p>
          <a:p>
            <a:pPr marL="88900" indent="-88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SUIT"/>
              </a:rPr>
              <a:t>대시보드 생성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5A2226A-2B81-B2C4-90E2-E586B8888675}"/>
              </a:ext>
            </a:extLst>
          </p:cNvPr>
          <p:cNvSpPr txBox="1"/>
          <p:nvPr/>
        </p:nvSpPr>
        <p:spPr>
          <a:xfrm>
            <a:off x="522868" y="2877934"/>
            <a:ext cx="2283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단순 질의응답에도 고비용 </a:t>
            </a:r>
            <a:r>
              <a:rPr lang="en-US" altLang="ko-KR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API </a:t>
            </a:r>
            <a:r>
              <a:rPr lang="ko-KR" alt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리소스가 할당되어 핵심 예산이 빠르게 고갈됩니다</a:t>
            </a:r>
            <a:r>
              <a:rPr lang="en-US" altLang="ko-KR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AE26B532-3DD3-32D2-9228-F5CAF13461A1}"/>
              </a:ext>
            </a:extLst>
          </p:cNvPr>
          <p:cNvSpPr txBox="1"/>
          <p:nvPr/>
        </p:nvSpPr>
        <p:spPr>
          <a:xfrm>
            <a:off x="556045" y="3276473"/>
            <a:ext cx="2283249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50" dirty="0">
                <a:solidFill>
                  <a:srgbClr val="C00000"/>
                </a:solidFill>
                <a:latin typeface="SUIT"/>
              </a:rPr>
              <a:t>선형적인 과금 리스크</a:t>
            </a:r>
            <a:endParaRPr lang="en-US" sz="1050" dirty="0">
              <a:solidFill>
                <a:srgbClr val="C00000"/>
              </a:solidFill>
              <a:latin typeface="SUIT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67B45EC-EBD7-6607-C6FD-0FBAB71B9CB8}"/>
              </a:ext>
            </a:extLst>
          </p:cNvPr>
          <p:cNvSpPr txBox="1"/>
          <p:nvPr/>
        </p:nvSpPr>
        <p:spPr>
          <a:xfrm>
            <a:off x="536993" y="3445318"/>
            <a:ext cx="2283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사용자가 늘어날수록 인프라 청구서가 폭증하여 중장기적 예산 통제력을 상실합니다</a:t>
            </a:r>
            <a:r>
              <a:rPr lang="en-US" altLang="ko-KR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4B6EA23F-CDEB-B5F9-064A-0ABBF32DB1E7}"/>
              </a:ext>
            </a:extLst>
          </p:cNvPr>
          <p:cNvSpPr txBox="1"/>
          <p:nvPr/>
        </p:nvSpPr>
        <p:spPr>
          <a:xfrm>
            <a:off x="556045" y="3820765"/>
            <a:ext cx="2283249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50" dirty="0">
                <a:solidFill>
                  <a:srgbClr val="C00000"/>
                </a:solidFill>
                <a:latin typeface="SUIT"/>
              </a:rPr>
              <a:t>데이터 컴플라이언스 위반</a:t>
            </a:r>
            <a:endParaRPr lang="en-US" sz="1050" dirty="0">
              <a:solidFill>
                <a:srgbClr val="C00000"/>
              </a:solidFill>
              <a:latin typeface="SUIT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D1AC935-6DF5-EA2F-6AF8-F11276262196}"/>
              </a:ext>
            </a:extLst>
          </p:cNvPr>
          <p:cNvSpPr txBox="1"/>
          <p:nvPr/>
        </p:nvSpPr>
        <p:spPr>
          <a:xfrm>
            <a:off x="536993" y="3989610"/>
            <a:ext cx="2283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사내 주요 기밀이 외부망으로 전송되어 심각한 보안 및 데이터 유출 위험에 노출됩니다</a:t>
            </a:r>
            <a:r>
              <a:rPr lang="en-US" altLang="ko-KR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7769431-2796-3FA2-DC1E-BBAB99D906E8}"/>
              </a:ext>
            </a:extLst>
          </p:cNvPr>
          <p:cNvSpPr txBox="1"/>
          <p:nvPr/>
        </p:nvSpPr>
        <p:spPr>
          <a:xfrm>
            <a:off x="564964" y="4366424"/>
            <a:ext cx="2283249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50" dirty="0">
                <a:solidFill>
                  <a:srgbClr val="C00000"/>
                </a:solidFill>
                <a:latin typeface="SUIT"/>
              </a:rPr>
              <a:t>품질과 비용의 트레이드오프</a:t>
            </a:r>
            <a:endParaRPr lang="en-US" sz="1050" dirty="0">
              <a:solidFill>
                <a:srgbClr val="C00000"/>
              </a:solidFill>
              <a:latin typeface="SUIT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34E30EB-A389-C9F8-0485-AC485AF46A7C}"/>
              </a:ext>
            </a:extLst>
          </p:cNvPr>
          <p:cNvSpPr txBox="1"/>
          <p:nvPr/>
        </p:nvSpPr>
        <p:spPr>
          <a:xfrm>
            <a:off x="545912" y="4535269"/>
            <a:ext cx="2283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비용 절감을 위해 저렴한 모델을 일괄 도입하면 핵심 분석 작업의 품질이 무너집니다</a:t>
            </a:r>
            <a:r>
              <a:rPr lang="en-US" altLang="ko-KR" sz="7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E6730EA-2041-733D-B9DA-A9D2E0B8421F}"/>
              </a:ext>
            </a:extLst>
          </p:cNvPr>
          <p:cNvSpPr txBox="1"/>
          <p:nvPr/>
        </p:nvSpPr>
        <p:spPr>
          <a:xfrm>
            <a:off x="1409929" y="1504660"/>
            <a:ext cx="1515598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SUIT"/>
              </a:rPr>
              <a:t>일상 대화 </a:t>
            </a:r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SUIT"/>
              </a:rPr>
              <a:t>GPU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SUIT"/>
              </a:rPr>
              <a:t>오프로딩</a:t>
            </a:r>
            <a:endParaRPr lang="en-US" sz="1050" dirty="0">
              <a:solidFill>
                <a:schemeClr val="tx1">
                  <a:lumMod val="85000"/>
                  <a:lumOff val="15000"/>
                </a:schemeClr>
              </a:solidFill>
              <a:latin typeface="SUIT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3664312-33A7-E8E4-59B6-2B9F2ECFC5C0}"/>
              </a:ext>
            </a:extLst>
          </p:cNvPr>
          <p:cNvSpPr txBox="1"/>
          <p:nvPr/>
        </p:nvSpPr>
        <p:spPr>
          <a:xfrm>
            <a:off x="1212854" y="1673505"/>
            <a:ext cx="18603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대규모 트래픽의 한계비용 제로화 달성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2FB7BE9-3191-79BE-341D-9E656A0DEBB5}"/>
              </a:ext>
            </a:extLst>
          </p:cNvPr>
          <p:cNvSpPr txBox="1"/>
          <p:nvPr/>
        </p:nvSpPr>
        <p:spPr>
          <a:xfrm>
            <a:off x="4290790" y="1496316"/>
            <a:ext cx="1515598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SUIT"/>
              </a:rPr>
              <a:t>API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SUIT"/>
              </a:rPr>
              <a:t>인프라 비용 절감 여력</a:t>
            </a:r>
            <a:endParaRPr lang="en-US" sz="1050" dirty="0">
              <a:solidFill>
                <a:schemeClr val="tx1">
                  <a:lumMod val="85000"/>
                  <a:lumOff val="15000"/>
                </a:schemeClr>
              </a:solidFill>
              <a:latin typeface="SUIT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C88295-E198-ACC3-1ED7-31E069BB7749}"/>
              </a:ext>
            </a:extLst>
          </p:cNvPr>
          <p:cNvSpPr txBox="1"/>
          <p:nvPr/>
        </p:nvSpPr>
        <p:spPr>
          <a:xfrm>
            <a:off x="4093715" y="1665161"/>
            <a:ext cx="18603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사용량 비례 과금 폭증 리스크 사전 </a:t>
            </a:r>
            <a:r>
              <a:rPr lang="ko-KR" altLang="en-US" sz="8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헷지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F5D0E20-5F39-7336-DDD5-5AEBFB1260A2}"/>
              </a:ext>
            </a:extLst>
          </p:cNvPr>
          <p:cNvSpPr txBox="1"/>
          <p:nvPr/>
        </p:nvSpPr>
        <p:spPr>
          <a:xfrm>
            <a:off x="7278245" y="1502492"/>
            <a:ext cx="1515598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SUIT"/>
              </a:rPr>
              <a:t>통합 라우팅 아키텍처</a:t>
            </a:r>
            <a:endParaRPr lang="en-US" sz="1050" dirty="0">
              <a:solidFill>
                <a:schemeClr val="tx1">
                  <a:lumMod val="85000"/>
                  <a:lumOff val="15000"/>
                </a:schemeClr>
              </a:solidFill>
              <a:latin typeface="SUIT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39F9270D-52A3-64C4-7D08-142D554207C3}"/>
              </a:ext>
            </a:extLst>
          </p:cNvPr>
          <p:cNvSpPr txBox="1"/>
          <p:nvPr/>
        </p:nvSpPr>
        <p:spPr>
          <a:xfrm>
            <a:off x="7081170" y="1671337"/>
            <a:ext cx="1914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GPU</a:t>
            </a:r>
            <a:r>
              <a:rPr lang="ko-KR" altLang="en-US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와 </a:t>
            </a:r>
            <a:r>
              <a:rPr lang="en-US" altLang="ko-KR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API</a:t>
            </a:r>
            <a:r>
              <a:rPr lang="ko-KR" altLang="en-US" sz="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를 단일 인프라에서 완벽 통제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00C60AF7-2C6C-5AA8-8EA8-3DB0384AD09F}"/>
              </a:ext>
            </a:extLst>
          </p:cNvPr>
          <p:cNvSpPr txBox="1"/>
          <p:nvPr/>
        </p:nvSpPr>
        <p:spPr>
          <a:xfrm>
            <a:off x="3332116" y="3071570"/>
            <a:ext cx="848129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SUIT"/>
              </a:rPr>
              <a:t>사용자 요청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SUIT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3AAC03E7-FB96-64CC-97C4-9D233FDB7241}"/>
              </a:ext>
            </a:extLst>
          </p:cNvPr>
          <p:cNvSpPr txBox="1"/>
          <p:nvPr/>
        </p:nvSpPr>
        <p:spPr>
          <a:xfrm>
            <a:off x="4587252" y="3450057"/>
            <a:ext cx="1749254" cy="39962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en-US" altLang="ko-KR" sz="12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Intelligent Router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2F2658C9-3E54-BC6F-2141-B1B642248822}"/>
              </a:ext>
            </a:extLst>
          </p:cNvPr>
          <p:cNvSpPr txBox="1"/>
          <p:nvPr/>
        </p:nvSpPr>
        <p:spPr>
          <a:xfrm>
            <a:off x="4587252" y="3893795"/>
            <a:ext cx="177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사용자 의도</a:t>
            </a:r>
            <a:r>
              <a:rPr lang="en-US" altLang="ko-KR" sz="8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(Intent), </a:t>
            </a:r>
            <a:r>
              <a:rPr lang="ko-KR" altLang="en-US" sz="8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연산 복잡도</a:t>
            </a:r>
            <a:r>
              <a:rPr lang="en-US" altLang="ko-KR" sz="8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보안 등급</a:t>
            </a:r>
            <a:r>
              <a:rPr lang="en-US" altLang="ko-KR" sz="8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(PII)</a:t>
            </a:r>
            <a:r>
              <a:rPr lang="ko-KR" altLang="en-US" sz="800" b="0" i="0" u="none" strike="noStrike" dirty="0">
                <a:solidFill>
                  <a:srgbClr val="CBD5E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을 판별하여 실시간 최적 경로 배분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AA1A4224-6252-1CC8-7BE7-85352B7A25A4}"/>
              </a:ext>
            </a:extLst>
          </p:cNvPr>
          <p:cNvSpPr txBox="1"/>
          <p:nvPr/>
        </p:nvSpPr>
        <p:spPr>
          <a:xfrm>
            <a:off x="7063016" y="2952339"/>
            <a:ext cx="1657941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50" dirty="0">
                <a:latin typeface="SUIT"/>
              </a:rPr>
              <a:t>사내 </a:t>
            </a:r>
            <a:r>
              <a:rPr lang="en-US" altLang="ko-KR" sz="1050" dirty="0">
                <a:latin typeface="SUIT"/>
              </a:rPr>
              <a:t>GPU </a:t>
            </a:r>
            <a:r>
              <a:rPr lang="ko-KR" altLang="en-US" sz="1050" dirty="0">
                <a:latin typeface="SUIT"/>
              </a:rPr>
              <a:t>기반 </a:t>
            </a:r>
            <a:r>
              <a:rPr lang="en-US" altLang="ko-KR" sz="1050" dirty="0" err="1">
                <a:latin typeface="SUIT"/>
              </a:rPr>
              <a:t>sLLM</a:t>
            </a:r>
            <a:endParaRPr lang="en-US" altLang="ko-KR" sz="1050" dirty="0">
              <a:latin typeface="SUIT"/>
            </a:endParaRP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3337C108-A6A3-C4D5-ACA0-8DE6B14BEE45}"/>
              </a:ext>
            </a:extLst>
          </p:cNvPr>
          <p:cNvSpPr txBox="1"/>
          <p:nvPr/>
        </p:nvSpPr>
        <p:spPr>
          <a:xfrm>
            <a:off x="7043965" y="3121184"/>
            <a:ext cx="1676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민감 데이터 격리 및 대용량 일상 대화 오프로딩으로 </a:t>
            </a:r>
            <a:r>
              <a:rPr lang="ko-KR" altLang="ko-KR" sz="8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보안 및 고정비 운영 확립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C7FEC255-0AA2-0527-1D5B-7A1FEA16EDCE}"/>
              </a:ext>
            </a:extLst>
          </p:cNvPr>
          <p:cNvSpPr txBox="1"/>
          <p:nvPr/>
        </p:nvSpPr>
        <p:spPr>
          <a:xfrm>
            <a:off x="7077718" y="4006749"/>
            <a:ext cx="1657941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50" dirty="0">
                <a:latin typeface="SUIT"/>
              </a:rPr>
              <a:t>외부 상용 </a:t>
            </a:r>
            <a:r>
              <a:rPr lang="en-US" altLang="ko-KR" sz="1050" dirty="0">
                <a:latin typeface="SUIT"/>
              </a:rPr>
              <a:t>LLM (API)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4C8B45E8-62F2-F15A-15F3-5683C5EB23FF}"/>
              </a:ext>
            </a:extLst>
          </p:cNvPr>
          <p:cNvSpPr txBox="1"/>
          <p:nvPr/>
        </p:nvSpPr>
        <p:spPr>
          <a:xfrm>
            <a:off x="7058667" y="4175594"/>
            <a:ext cx="17351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논리적 추론 및 코드 생성이 필요한 </a:t>
            </a:r>
            <a:r>
              <a:rPr lang="ko-KR" altLang="ko-KR" sz="8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핵심 작업에만 선별적 예산 투입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49" name="Shape 4">
            <a:extLst>
              <a:ext uri="{FF2B5EF4-FFF2-40B4-BE49-F238E27FC236}">
                <a16:creationId xmlns:a16="http://schemas.microsoft.com/office/drawing/2014/main" id="{AC7C98DA-521B-5AAD-8303-8C06F146E755}"/>
              </a:ext>
            </a:extLst>
          </p:cNvPr>
          <p:cNvSpPr/>
          <p:nvPr/>
        </p:nvSpPr>
        <p:spPr>
          <a:xfrm>
            <a:off x="6659411" y="2545660"/>
            <a:ext cx="819547" cy="302045"/>
          </a:xfrm>
          <a:prstGeom prst="roundRect">
            <a:avLst>
              <a:gd name="adj" fmla="val 50000"/>
            </a:avLst>
          </a:prstGeom>
          <a:solidFill>
            <a:srgbClr val="E6F6F4"/>
          </a:solidFill>
          <a:ln>
            <a:noFill/>
          </a:ln>
        </p:spPr>
        <p:txBody>
          <a:bodyPr wrap="none" lIns="0" tIns="18000" rIns="0" bIns="18000" anchor="ctr"/>
          <a:lstStyle/>
          <a:p>
            <a:pPr algn="ctr"/>
            <a:r>
              <a:rPr lang="en-US" altLang="ko-KR" sz="10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~80% </a:t>
            </a:r>
            <a:r>
              <a:rPr lang="ko-KR" altLang="en-US" sz="10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흡수</a:t>
            </a:r>
            <a:endParaRPr lang="ko-KR" altLang="en-US" sz="900" dirty="0">
              <a:solidFill>
                <a:srgbClr val="00A896"/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106" name="Shape 4">
            <a:extLst>
              <a:ext uri="{FF2B5EF4-FFF2-40B4-BE49-F238E27FC236}">
                <a16:creationId xmlns:a16="http://schemas.microsoft.com/office/drawing/2014/main" id="{F083A20F-DBA2-C44D-4C0F-060EE803A219}"/>
              </a:ext>
            </a:extLst>
          </p:cNvPr>
          <p:cNvSpPr/>
          <p:nvPr/>
        </p:nvSpPr>
        <p:spPr>
          <a:xfrm>
            <a:off x="6534640" y="4571393"/>
            <a:ext cx="990571" cy="30204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wrap="none" lIns="0" tIns="18000" rIns="0" bIns="18000" anchor="ctr"/>
          <a:lstStyle/>
          <a:p>
            <a:pPr algn="ctr"/>
            <a:r>
              <a:rPr lang="en-US" altLang="ko-KR" sz="1000" i="0" dirty="0">
                <a:solidFill>
                  <a:srgbClr val="6D739B"/>
                </a:solidFill>
                <a:effectLst/>
                <a:latin typeface="SUIT" pitchFamily="2" charset="-127"/>
                <a:ea typeface="SUIT" pitchFamily="2" charset="-127"/>
              </a:rPr>
              <a:t>20% </a:t>
            </a:r>
            <a:r>
              <a:rPr lang="ko-KR" altLang="en-US" sz="1000" i="0" dirty="0" err="1">
                <a:solidFill>
                  <a:srgbClr val="6D739B"/>
                </a:solidFill>
                <a:effectLst/>
                <a:latin typeface="SUIT" pitchFamily="2" charset="-127"/>
                <a:ea typeface="SUIT" pitchFamily="2" charset="-127"/>
              </a:rPr>
              <a:t>선별과금</a:t>
            </a:r>
            <a:endParaRPr lang="ko-KR" altLang="en-US" sz="900" dirty="0">
              <a:solidFill>
                <a:srgbClr val="6D739B"/>
              </a:solidFill>
              <a:latin typeface="SUIT Light" pitchFamily="50" charset="-127"/>
              <a:ea typeface="SUIT Light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3821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FF577-15C8-7B33-42D2-0459E9028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>
            <a:extLst>
              <a:ext uri="{FF2B5EF4-FFF2-40B4-BE49-F238E27FC236}">
                <a16:creationId xmlns:a16="http://schemas.microsoft.com/office/drawing/2014/main" id="{7AD1BD6C-C0D2-58C2-E103-5C8CE6C9F32E}"/>
              </a:ext>
            </a:extLst>
          </p:cNvPr>
          <p:cNvGrpSpPr/>
          <p:nvPr/>
        </p:nvGrpSpPr>
        <p:grpSpPr>
          <a:xfrm>
            <a:off x="283846" y="1353532"/>
            <a:ext cx="8595360" cy="3418492"/>
            <a:chOff x="283846" y="1353532"/>
            <a:chExt cx="8595360" cy="341849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5566762A-F9AA-77BC-C988-AAD4489D1B23}"/>
                </a:ext>
              </a:extLst>
            </p:cNvPr>
            <p:cNvSpPr/>
            <p:nvPr/>
          </p:nvSpPr>
          <p:spPr>
            <a:xfrm>
              <a:off x="283846" y="1353532"/>
              <a:ext cx="8595360" cy="1080259"/>
            </a:xfrm>
            <a:prstGeom prst="roundRect">
              <a:avLst>
                <a:gd name="adj" fmla="val 10705"/>
              </a:avLst>
            </a:prstGeom>
            <a:solidFill>
              <a:srgbClr val="F8FAFC"/>
            </a:solidFill>
            <a:ln w="9525" cap="flat" cmpd="sng" algn="ctr">
              <a:solidFill>
                <a:srgbClr val="CBD5E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5D5A7D6D-EBDD-BAA4-C246-9C5532F6058C}"/>
                </a:ext>
              </a:extLst>
            </p:cNvPr>
            <p:cNvSpPr/>
            <p:nvPr/>
          </p:nvSpPr>
          <p:spPr>
            <a:xfrm>
              <a:off x="283846" y="2522648"/>
              <a:ext cx="8595360" cy="1080259"/>
            </a:xfrm>
            <a:prstGeom prst="roundRect">
              <a:avLst>
                <a:gd name="adj" fmla="val 10705"/>
              </a:avLst>
            </a:prstGeom>
            <a:solidFill>
              <a:srgbClr val="F8FAFC"/>
            </a:solidFill>
            <a:ln w="9525" cap="flat" cmpd="sng" algn="ctr">
              <a:solidFill>
                <a:srgbClr val="CBD5E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D766D770-F7EE-2BF4-9EF8-60F3580868CD}"/>
                </a:ext>
              </a:extLst>
            </p:cNvPr>
            <p:cNvSpPr/>
            <p:nvPr/>
          </p:nvSpPr>
          <p:spPr>
            <a:xfrm>
              <a:off x="283846" y="3691765"/>
              <a:ext cx="8595360" cy="1080259"/>
            </a:xfrm>
            <a:prstGeom prst="roundRect">
              <a:avLst>
                <a:gd name="adj" fmla="val 10705"/>
              </a:avLst>
            </a:prstGeom>
            <a:solidFill>
              <a:srgbClr val="F8FAFC"/>
            </a:solidFill>
            <a:ln w="9525" cap="flat" cmpd="sng" algn="ctr">
              <a:solidFill>
                <a:srgbClr val="CBD5E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158B5FE9-F7D4-5E16-1D50-F25635F55505}"/>
                </a:ext>
              </a:extLst>
            </p:cNvPr>
            <p:cNvSpPr/>
            <p:nvPr/>
          </p:nvSpPr>
          <p:spPr>
            <a:xfrm>
              <a:off x="1847850" y="3701291"/>
              <a:ext cx="3895725" cy="10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0FFB405-BEEF-33B7-078E-144B4B65EE4A}"/>
                </a:ext>
              </a:extLst>
            </p:cNvPr>
            <p:cNvSpPr/>
            <p:nvPr/>
          </p:nvSpPr>
          <p:spPr>
            <a:xfrm>
              <a:off x="1847850" y="1366570"/>
              <a:ext cx="3895725" cy="10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2958231-04A8-B77A-611F-EDA4A5271362}"/>
                </a:ext>
              </a:extLst>
            </p:cNvPr>
            <p:cNvSpPr/>
            <p:nvPr/>
          </p:nvSpPr>
          <p:spPr>
            <a:xfrm>
              <a:off x="1847850" y="2533930"/>
              <a:ext cx="3895725" cy="10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Shape 4">
            <a:extLst>
              <a:ext uri="{FF2B5EF4-FFF2-40B4-BE49-F238E27FC236}">
                <a16:creationId xmlns:a16="http://schemas.microsoft.com/office/drawing/2014/main" id="{59599D89-507D-8193-AD46-FAE7F7A1098C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04" name="제목 21">
            <a:extLst>
              <a:ext uri="{FF2B5EF4-FFF2-40B4-BE49-F238E27FC236}">
                <a16:creationId xmlns:a16="http://schemas.microsoft.com/office/drawing/2014/main" id="{F395C7DB-0358-4BE7-C515-84F5BFBC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err="1">
                <a:latin typeface="SUIT ExtraBold" pitchFamily="2" charset="-127"/>
                <a:ea typeface="SUIT ExtraBold" pitchFamily="2" charset="-127"/>
              </a:rPr>
              <a:t>aisight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가 바꾸는 새로운 업무 일상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E52111A-B4E4-8886-D643-4520CF3D47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</a:t>
            </a:r>
            <a:r>
              <a:rPr lang="en-US" altLang="ko-KR" dirty="0" err="1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Business</a:t>
            </a: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 Scenarios &amp; Value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F6A88E7-9E3F-6C2C-D1A1-3A93D533B132}"/>
              </a:ext>
            </a:extLst>
          </p:cNvPr>
          <p:cNvSpPr txBox="1"/>
          <p:nvPr/>
        </p:nvSpPr>
        <p:spPr>
          <a:xfrm>
            <a:off x="256032" y="668400"/>
            <a:ext cx="8595360" cy="4090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000" b="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수동적으로 대시보드를 해석하던 시대를 마감하고, </a:t>
            </a:r>
            <a:r>
              <a:rPr lang="ko-KR" altLang="ko-KR" sz="1000" b="1" i="0" dirty="0" err="1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AI와</a:t>
            </a:r>
            <a:r>
              <a:rPr lang="ko-KR" altLang="ko-KR" sz="1000" b="1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 대화하며 인사이트를 지시하는 차세대 생성형 분석 시대</a:t>
            </a:r>
            <a:r>
              <a:rPr lang="ko-KR" altLang="ko-KR" sz="1000" b="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를 엽니다. 현업 실무자는 </a:t>
            </a:r>
            <a:r>
              <a:rPr lang="ko-KR" altLang="ko-KR" sz="1000" b="0" i="0" dirty="0" err="1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IT의</a:t>
            </a:r>
            <a:r>
              <a:rPr lang="ko-KR" altLang="ko-KR" sz="1000" b="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 도움 없이 스스로 비즈니스 해답을 찾고, IT 부서는 고품질 데이터와 거버넌스를 통제하는 사령탑으로 진화합니다.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41" name="그래픽 40">
            <a:extLst>
              <a:ext uri="{FF2B5EF4-FFF2-40B4-BE49-F238E27FC236}">
                <a16:creationId xmlns:a16="http://schemas.microsoft.com/office/drawing/2014/main" id="{2EF9C0ED-B78E-D5D3-4AD0-E5E8FE36FC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6329" y="1466450"/>
            <a:ext cx="3649735" cy="809625"/>
          </a:xfrm>
          <a:prstGeom prst="rect">
            <a:avLst/>
          </a:prstGeom>
        </p:spPr>
      </p:pic>
      <p:sp>
        <p:nvSpPr>
          <p:cNvPr id="56" name="Shape 4">
            <a:extLst>
              <a:ext uri="{FF2B5EF4-FFF2-40B4-BE49-F238E27FC236}">
                <a16:creationId xmlns:a16="http://schemas.microsoft.com/office/drawing/2014/main" id="{97309D0E-1D9C-7E87-8D65-DEF81D7C9F48}"/>
              </a:ext>
            </a:extLst>
          </p:cNvPr>
          <p:cNvSpPr/>
          <p:nvPr/>
        </p:nvSpPr>
        <p:spPr>
          <a:xfrm rot="16200000">
            <a:off x="482294" y="1533241"/>
            <a:ext cx="333555" cy="330313"/>
          </a:xfrm>
          <a:prstGeom prst="roundRect">
            <a:avLst>
              <a:gd name="adj" fmla="val 20953"/>
            </a:avLst>
          </a:prstGeom>
          <a:solidFill>
            <a:srgbClr val="FFFFFF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7AAC74FB-0F54-FE58-E297-E0C2A64D37E4}"/>
              </a:ext>
            </a:extLst>
          </p:cNvPr>
          <p:cNvSpPr/>
          <p:nvPr/>
        </p:nvSpPr>
        <p:spPr>
          <a:xfrm rot="16200000">
            <a:off x="471817" y="2698115"/>
            <a:ext cx="333555" cy="330313"/>
          </a:xfrm>
          <a:prstGeom prst="roundRect">
            <a:avLst>
              <a:gd name="adj" fmla="val 20953"/>
            </a:avLst>
          </a:prstGeom>
          <a:solidFill>
            <a:srgbClr val="FFFFFF"/>
          </a:solidFill>
          <a:ln w="6350">
            <a:solidFill>
              <a:srgbClr val="00A896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718D5A3-DBEF-46D1-630A-C61A1C780F17}"/>
              </a:ext>
            </a:extLst>
          </p:cNvPr>
          <p:cNvSpPr/>
          <p:nvPr/>
        </p:nvSpPr>
        <p:spPr>
          <a:xfrm rot="16200000">
            <a:off x="481761" y="3895717"/>
            <a:ext cx="333555" cy="330313"/>
          </a:xfrm>
          <a:prstGeom prst="roundRect">
            <a:avLst>
              <a:gd name="adj" fmla="val 20953"/>
            </a:avLst>
          </a:prstGeom>
          <a:solidFill>
            <a:srgbClr val="FFFFFF"/>
          </a:solidFill>
          <a:ln w="6350">
            <a:solidFill>
              <a:srgbClr val="CED0D5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8" name="그래픽 17">
            <a:extLst>
              <a:ext uri="{FF2B5EF4-FFF2-40B4-BE49-F238E27FC236}">
                <a16:creationId xmlns:a16="http://schemas.microsoft.com/office/drawing/2014/main" id="{0B88C13F-9239-F991-ABA4-AB2DA9D779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945" y="2775278"/>
            <a:ext cx="190500" cy="190500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9D5CE866-96C0-CFDD-6F04-7019AB49D2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459" y="3965623"/>
            <a:ext cx="190500" cy="190500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6029224B-2E36-856C-0028-B6BFD794D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08423" y="2255538"/>
            <a:ext cx="104775" cy="104775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AB3ADA04-2120-D3CE-EFC4-4ADF36904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394" y="1603460"/>
            <a:ext cx="190500" cy="1905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92FCD08F-5DE7-8312-26B9-20D4023C2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3454" y="1776931"/>
            <a:ext cx="228600" cy="228600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51DB0E7C-5013-1316-9FEF-BABBDE415B55}"/>
              </a:ext>
            </a:extLst>
          </p:cNvPr>
          <p:cNvSpPr txBox="1"/>
          <p:nvPr/>
        </p:nvSpPr>
        <p:spPr>
          <a:xfrm>
            <a:off x="392559" y="1867344"/>
            <a:ext cx="14552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i="0" cap="all" dirty="0" err="1">
                <a:solidFill>
                  <a:srgbClr val="64748B"/>
                </a:solidFill>
                <a:effectLst/>
                <a:latin typeface="Urbanist"/>
              </a:rPr>
              <a:t>Decision</a:t>
            </a:r>
            <a:r>
              <a:rPr lang="ko-KR" altLang="ko-KR" sz="1000" i="0" cap="all" dirty="0">
                <a:solidFill>
                  <a:srgbClr val="64748B"/>
                </a:solidFill>
                <a:effectLst/>
                <a:latin typeface="Urbanist"/>
              </a:rPr>
              <a:t> </a:t>
            </a:r>
            <a:r>
              <a:rPr lang="ko-KR" altLang="ko-KR" sz="1000" i="0" cap="all" dirty="0" err="1">
                <a:solidFill>
                  <a:srgbClr val="64748B"/>
                </a:solidFill>
                <a:effectLst/>
                <a:latin typeface="Urbanist"/>
              </a:rPr>
              <a:t>Maker</a:t>
            </a:r>
            <a:endParaRPr lang="ko-KR" altLang="en-US" sz="10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AA2C212-2048-50DD-34DF-C2FCCB8D058D}"/>
              </a:ext>
            </a:extLst>
          </p:cNvPr>
          <p:cNvSpPr txBox="1"/>
          <p:nvPr/>
        </p:nvSpPr>
        <p:spPr>
          <a:xfrm>
            <a:off x="392559" y="2053243"/>
            <a:ext cx="1455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ko-KR" sz="11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경영진 (C-</a:t>
            </a:r>
            <a:r>
              <a:rPr lang="ko-KR" altLang="ko-KR" sz="1100" i="0" dirty="0" err="1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Level</a:t>
            </a:r>
            <a:r>
              <a:rPr lang="ko-KR" altLang="ko-KR" sz="11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)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4A785C1-5477-6703-0BA6-7D7CBDD21F8A}"/>
              </a:ext>
            </a:extLst>
          </p:cNvPr>
          <p:cNvSpPr txBox="1"/>
          <p:nvPr/>
        </p:nvSpPr>
        <p:spPr>
          <a:xfrm>
            <a:off x="392559" y="3037156"/>
            <a:ext cx="14552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cap="all" dirty="0">
                <a:solidFill>
                  <a:srgbClr val="64748B"/>
                </a:solidFill>
                <a:latin typeface="Urbanist"/>
              </a:rPr>
              <a:t>Business Operator</a:t>
            </a:r>
            <a:endParaRPr lang="ko-KR" altLang="en-US" sz="10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23D03441-702E-D88B-3C68-D52F7C1FD109}"/>
              </a:ext>
            </a:extLst>
          </p:cNvPr>
          <p:cNvSpPr txBox="1"/>
          <p:nvPr/>
        </p:nvSpPr>
        <p:spPr>
          <a:xfrm>
            <a:off x="392559" y="3223055"/>
            <a:ext cx="1455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100" dirty="0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비즈니스 </a:t>
            </a:r>
            <a:r>
              <a:rPr lang="ko-KR" altLang="en-US" sz="11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실무자</a:t>
            </a:r>
            <a:endParaRPr lang="ko-KR" altLang="ko-KR" sz="1100" i="0" dirty="0">
              <a:solidFill>
                <a:srgbClr val="1E293B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5995EC9-05ED-53B5-FE05-73499769E736}"/>
              </a:ext>
            </a:extLst>
          </p:cNvPr>
          <p:cNvSpPr txBox="1"/>
          <p:nvPr/>
        </p:nvSpPr>
        <p:spPr>
          <a:xfrm>
            <a:off x="392559" y="4231292"/>
            <a:ext cx="14552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i="0" cap="all" dirty="0">
                <a:solidFill>
                  <a:srgbClr val="64748B"/>
                </a:solidFill>
                <a:effectLst/>
                <a:latin typeface="Urbanist"/>
              </a:rPr>
              <a:t>IT &amp; Data Engineer</a:t>
            </a:r>
            <a:endParaRPr lang="ko-KR" altLang="en-US" sz="10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EB6F01A-5B4D-239C-CA7F-F5E772DAC575}"/>
              </a:ext>
            </a:extLst>
          </p:cNvPr>
          <p:cNvSpPr txBox="1"/>
          <p:nvPr/>
        </p:nvSpPr>
        <p:spPr>
          <a:xfrm>
            <a:off x="392559" y="4417191"/>
            <a:ext cx="1455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1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데이터 운영팀</a:t>
            </a:r>
            <a:endParaRPr lang="ko-KR" altLang="ko-KR" sz="1100" i="0" dirty="0">
              <a:solidFill>
                <a:srgbClr val="1E293B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00CB3155-1D96-1BEB-C238-D28776D72CC9}"/>
              </a:ext>
            </a:extLst>
          </p:cNvPr>
          <p:cNvSpPr txBox="1"/>
          <p:nvPr/>
        </p:nvSpPr>
        <p:spPr>
          <a:xfrm>
            <a:off x="2179860" y="2193841"/>
            <a:ext cx="20124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i="0" dirty="0" err="1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Agent</a:t>
            </a:r>
            <a:r>
              <a:rPr lang="ko-KR" altLang="ko-KR" sz="8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의도 분석 및 자동 스케줄링 등록 </a:t>
            </a:r>
            <a:r>
              <a:rPr lang="en-US" altLang="ko-KR" sz="8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...</a:t>
            </a:r>
            <a:r>
              <a:rPr lang="ko-KR" altLang="ko-KR" sz="8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...</a:t>
            </a:r>
            <a:endParaRPr lang="ko-KR" altLang="en-US" sz="800" dirty="0"/>
          </a:p>
        </p:txBody>
      </p:sp>
      <p:pic>
        <p:nvPicPr>
          <p:cNvPr id="205" name="그래픽 204">
            <a:extLst>
              <a:ext uri="{FF2B5EF4-FFF2-40B4-BE49-F238E27FC236}">
                <a16:creationId xmlns:a16="http://schemas.microsoft.com/office/drawing/2014/main" id="{1C839F34-EECF-ED66-A413-A32F21A1A5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08423" y="3425533"/>
            <a:ext cx="104775" cy="104775"/>
          </a:xfrm>
          <a:prstGeom prst="rect">
            <a:avLst/>
          </a:prstGeom>
        </p:spPr>
      </p:pic>
      <p:sp>
        <p:nvSpPr>
          <p:cNvPr id="206" name="TextBox 205">
            <a:extLst>
              <a:ext uri="{FF2B5EF4-FFF2-40B4-BE49-F238E27FC236}">
                <a16:creationId xmlns:a16="http://schemas.microsoft.com/office/drawing/2014/main" id="{2C817A68-ED79-7970-9288-F6D377A9C671}"/>
              </a:ext>
            </a:extLst>
          </p:cNvPr>
          <p:cNvSpPr txBox="1"/>
          <p:nvPr/>
        </p:nvSpPr>
        <p:spPr>
          <a:xfrm>
            <a:off x="2179860" y="3363836"/>
            <a:ext cx="20124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i="0" dirty="0" err="1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Agent</a:t>
            </a:r>
            <a:r>
              <a:rPr lang="ko-KR" altLang="ko-KR" sz="8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의도 분석 및 자동 스케줄링 등록 </a:t>
            </a:r>
            <a:r>
              <a:rPr lang="en-US" altLang="ko-KR" sz="8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...</a:t>
            </a:r>
            <a:r>
              <a:rPr lang="ko-KR" altLang="ko-KR" sz="8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...</a:t>
            </a:r>
            <a:endParaRPr lang="ko-KR" altLang="en-US" sz="800" dirty="0"/>
          </a:p>
        </p:txBody>
      </p:sp>
      <p:pic>
        <p:nvPicPr>
          <p:cNvPr id="207" name="그래픽 206">
            <a:extLst>
              <a:ext uri="{FF2B5EF4-FFF2-40B4-BE49-F238E27FC236}">
                <a16:creationId xmlns:a16="http://schemas.microsoft.com/office/drawing/2014/main" id="{9BFF9971-CBEA-1FC8-7C2A-DEB36AA40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6329" y="2595806"/>
            <a:ext cx="3649735" cy="809625"/>
          </a:xfrm>
          <a:prstGeom prst="rect">
            <a:avLst/>
          </a:prstGeom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7BF87995-F10F-50EB-5041-248CE25FDBF2}"/>
              </a:ext>
            </a:extLst>
          </p:cNvPr>
          <p:cNvSpPr txBox="1"/>
          <p:nvPr/>
        </p:nvSpPr>
        <p:spPr>
          <a:xfrm>
            <a:off x="2047919" y="1564723"/>
            <a:ext cx="3528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"어제 런칭한 신규 캠페인, </a:t>
            </a:r>
            <a:r>
              <a:rPr lang="ko-KR" altLang="ko-KR" sz="9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지역별 실시간 </a:t>
            </a:r>
            <a:r>
              <a:rPr lang="ko-KR" altLang="ko-KR" sz="900" i="0" dirty="0" err="1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ROAS랑</a:t>
            </a:r>
            <a:r>
              <a:rPr lang="ko-KR" altLang="ko-KR" sz="9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 주요 이탈 구간 요약</a:t>
            </a:r>
            <a:r>
              <a:rPr lang="ko-KR" altLang="ko-KR" sz="90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해서 내 폰으로 보내줘. 그리고 </a:t>
            </a:r>
            <a:r>
              <a:rPr lang="ko-KR" altLang="ko-KR" sz="9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매일 아침 8시</a:t>
            </a:r>
            <a:r>
              <a:rPr lang="ko-KR" altLang="ko-KR" sz="90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마다 브리핑해."</a:t>
            </a:r>
            <a:endParaRPr lang="ko-KR" altLang="en-US" sz="900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FC4C3CF-03DB-923D-0E7F-85B2ED429D17}"/>
              </a:ext>
            </a:extLst>
          </p:cNvPr>
          <p:cNvSpPr txBox="1"/>
          <p:nvPr/>
        </p:nvSpPr>
        <p:spPr>
          <a:xfrm>
            <a:off x="2047919" y="2718801"/>
            <a:ext cx="3528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"올해 1분기 B2B 솔루션 </a:t>
            </a:r>
            <a:r>
              <a:rPr lang="ko-KR" altLang="ko-KR" sz="9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매출 하락 원인</a:t>
            </a:r>
            <a:r>
              <a:rPr lang="ko-KR" altLang="ko-KR" sz="90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을 파이프라인 </a:t>
            </a:r>
            <a:r>
              <a:rPr lang="ko-KR" altLang="ko-KR" sz="900" i="0" dirty="0" err="1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전환율</a:t>
            </a:r>
            <a:r>
              <a:rPr lang="ko-KR" altLang="ko-KR" sz="90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 관점에서 다각도로 분석하고, </a:t>
            </a:r>
            <a:r>
              <a:rPr lang="ko-KR" altLang="ko-KR" sz="9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보고서(PPT) 초안</a:t>
            </a:r>
            <a:r>
              <a:rPr lang="ko-KR" altLang="ko-KR" sz="900" i="0" dirty="0">
                <a:solidFill>
                  <a:srgbClr val="334155"/>
                </a:solidFill>
                <a:effectLst/>
                <a:latin typeface="SUIT" pitchFamily="2" charset="-127"/>
                <a:ea typeface="SUIT" pitchFamily="2" charset="-127"/>
              </a:rPr>
              <a:t>으로 만들어줘."</a:t>
            </a:r>
            <a:endParaRPr lang="ko-KR" altLang="en-US" sz="900" dirty="0"/>
          </a:p>
        </p:txBody>
      </p:sp>
      <p:pic>
        <p:nvPicPr>
          <p:cNvPr id="228" name="그래픽 227">
            <a:extLst>
              <a:ext uri="{FF2B5EF4-FFF2-40B4-BE49-F238E27FC236}">
                <a16:creationId xmlns:a16="http://schemas.microsoft.com/office/drawing/2014/main" id="{1494D191-3206-3E59-0785-A2EA6C4AE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08423" y="4591051"/>
            <a:ext cx="104775" cy="104775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4CFE6ED7-4500-1D37-6091-FCBE537C2F98}"/>
              </a:ext>
            </a:extLst>
          </p:cNvPr>
          <p:cNvSpPr txBox="1"/>
          <p:nvPr/>
        </p:nvSpPr>
        <p:spPr>
          <a:xfrm>
            <a:off x="2179860" y="4529354"/>
            <a:ext cx="31846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8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데이터 퀄리티(DQ) 검증, 신규 스킬 배포 및 정책 동기화</a:t>
            </a:r>
            <a:r>
              <a:rPr lang="ko-KR" altLang="ko-KR" sz="8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en-US" altLang="ko-KR" sz="8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...</a:t>
            </a:r>
            <a:r>
              <a:rPr lang="ko-KR" altLang="ko-KR" sz="8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...</a:t>
            </a:r>
            <a:endParaRPr lang="ko-KR" altLang="en-US" sz="800" dirty="0"/>
          </a:p>
        </p:txBody>
      </p:sp>
      <p:pic>
        <p:nvPicPr>
          <p:cNvPr id="230" name="그래픽 229">
            <a:extLst>
              <a:ext uri="{FF2B5EF4-FFF2-40B4-BE49-F238E27FC236}">
                <a16:creationId xmlns:a16="http://schemas.microsoft.com/office/drawing/2014/main" id="{ACF6D59B-FA19-2EFB-6C9A-681F45639F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83354" y="2911432"/>
            <a:ext cx="228600" cy="228600"/>
          </a:xfrm>
          <a:prstGeom prst="rect">
            <a:avLst/>
          </a:prstGeom>
        </p:spPr>
      </p:pic>
      <p:pic>
        <p:nvPicPr>
          <p:cNvPr id="231" name="그래픽 230">
            <a:extLst>
              <a:ext uri="{FF2B5EF4-FFF2-40B4-BE49-F238E27FC236}">
                <a16:creationId xmlns:a16="http://schemas.microsoft.com/office/drawing/2014/main" id="{4AD1BCEC-5588-0880-2F31-BADBBB0F94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83354" y="4035507"/>
            <a:ext cx="228600" cy="22860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A08E94EA-0FA0-CD52-F644-11CF7BD5DD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2150" y="3773264"/>
            <a:ext cx="3745604" cy="737324"/>
          </a:xfrm>
          <a:prstGeom prst="rect">
            <a:avLst/>
          </a:prstGeom>
        </p:spPr>
      </p:pic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CF41C198-7CAA-B118-0717-6B1B4D3DD349}"/>
              </a:ext>
            </a:extLst>
          </p:cNvPr>
          <p:cNvSpPr/>
          <p:nvPr/>
        </p:nvSpPr>
        <p:spPr>
          <a:xfrm>
            <a:off x="5884771" y="1622755"/>
            <a:ext cx="2953543" cy="706403"/>
          </a:xfrm>
          <a:prstGeom prst="roundRect">
            <a:avLst>
              <a:gd name="adj" fmla="val 10705"/>
            </a:avLst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318E2B28-4935-EC1A-742D-F523B8929964}"/>
              </a:ext>
            </a:extLst>
          </p:cNvPr>
          <p:cNvSpPr/>
          <p:nvPr/>
        </p:nvSpPr>
        <p:spPr>
          <a:xfrm>
            <a:off x="5884771" y="2792341"/>
            <a:ext cx="2953543" cy="706403"/>
          </a:xfrm>
          <a:prstGeom prst="roundRect">
            <a:avLst>
              <a:gd name="adj" fmla="val 10705"/>
            </a:avLst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A9C38EED-74B5-4F9C-379A-4EF2EF195961}"/>
              </a:ext>
            </a:extLst>
          </p:cNvPr>
          <p:cNvSpPr/>
          <p:nvPr/>
        </p:nvSpPr>
        <p:spPr>
          <a:xfrm>
            <a:off x="5884771" y="3982334"/>
            <a:ext cx="2953543" cy="706403"/>
          </a:xfrm>
          <a:prstGeom prst="roundRect">
            <a:avLst>
              <a:gd name="adj" fmla="val 10705"/>
            </a:avLst>
          </a:prstGeom>
          <a:solidFill>
            <a:srgbClr val="FFFFFF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B28DC6E3-4E11-BEEF-75F3-88DA34B28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06067" y="4263846"/>
            <a:ext cx="171450" cy="17145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27E48B3D-9468-64DA-C806-50837D28A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7170" y="3051605"/>
            <a:ext cx="171450" cy="171450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590E886F-03AA-1265-7552-4F0D372DC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94461" y="1434193"/>
            <a:ext cx="114300" cy="114300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DF34578D-74A4-3812-6F52-F0F00D13F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93447" y="2604501"/>
            <a:ext cx="114300" cy="114300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9152A224-84AA-4E6B-86E8-1E8029269E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7170" y="1867327"/>
            <a:ext cx="171450" cy="171450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0421DEDF-347A-D26F-B2C5-F55CEB53E3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87135" y="3779796"/>
            <a:ext cx="114300" cy="114300"/>
          </a:xfrm>
          <a:prstGeom prst="rect">
            <a:avLst/>
          </a:prstGeom>
        </p:spPr>
      </p:pic>
      <p:sp>
        <p:nvSpPr>
          <p:cNvPr id="239" name="TextBox 238">
            <a:extLst>
              <a:ext uri="{FF2B5EF4-FFF2-40B4-BE49-F238E27FC236}">
                <a16:creationId xmlns:a16="http://schemas.microsoft.com/office/drawing/2014/main" id="{C1B8FEA3-2AD2-A3BD-E661-077ED83700A6}"/>
              </a:ext>
            </a:extLst>
          </p:cNvPr>
          <p:cNvSpPr txBox="1"/>
          <p:nvPr/>
        </p:nvSpPr>
        <p:spPr>
          <a:xfrm>
            <a:off x="5951611" y="1356868"/>
            <a:ext cx="26094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i="0" dirty="0" err="1">
                <a:solidFill>
                  <a:srgbClr val="00A896"/>
                </a:solidFill>
                <a:effectLst/>
                <a:latin typeface="Urbanist"/>
              </a:rPr>
              <a:t>Mobile</a:t>
            </a:r>
            <a:r>
              <a:rPr lang="ko-KR" altLang="ko-KR" sz="1100" i="0" dirty="0">
                <a:solidFill>
                  <a:srgbClr val="00A896"/>
                </a:solidFill>
                <a:effectLst/>
                <a:latin typeface="Urbanist"/>
              </a:rPr>
              <a:t> </a:t>
            </a:r>
            <a:r>
              <a:rPr lang="ko-KR" altLang="ko-KR" sz="1100" i="0" dirty="0" err="1">
                <a:solidFill>
                  <a:srgbClr val="00A896"/>
                </a:solidFill>
                <a:effectLst/>
                <a:latin typeface="Urbanist"/>
              </a:rPr>
              <a:t>Briefing</a:t>
            </a:r>
            <a:endParaRPr lang="ko-KR" altLang="en-US" sz="11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6A6AACC-57C7-4711-C9E4-D0A71B5808F2}"/>
              </a:ext>
            </a:extLst>
          </p:cNvPr>
          <p:cNvSpPr txBox="1"/>
          <p:nvPr/>
        </p:nvSpPr>
        <p:spPr>
          <a:xfrm>
            <a:off x="5957143" y="2522806"/>
            <a:ext cx="26094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i="0" dirty="0">
                <a:solidFill>
                  <a:srgbClr val="00A896"/>
                </a:solidFill>
                <a:effectLst/>
                <a:latin typeface="Urbanist"/>
              </a:rPr>
              <a:t>Auto Generation</a:t>
            </a:r>
            <a:endParaRPr lang="ko-KR" altLang="en-US" sz="110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0AB1114-8EC9-EC79-E5B0-C31BBCC8E3BF}"/>
              </a:ext>
            </a:extLst>
          </p:cNvPr>
          <p:cNvSpPr txBox="1"/>
          <p:nvPr/>
        </p:nvSpPr>
        <p:spPr>
          <a:xfrm>
            <a:off x="5958840" y="3700886"/>
            <a:ext cx="26094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rbanist"/>
              </a:rPr>
              <a:t>Skill &amp; Gov. Center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68AF578-1937-9B32-18E3-5F7B23368A29}"/>
              </a:ext>
            </a:extLst>
          </p:cNvPr>
          <p:cNvSpPr txBox="1"/>
          <p:nvPr/>
        </p:nvSpPr>
        <p:spPr>
          <a:xfrm>
            <a:off x="6180284" y="1693144"/>
            <a:ext cx="2578414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실시간 핵심 KPI 요약 리포트 수신</a:t>
            </a:r>
          </a:p>
          <a:p>
            <a:pPr algn="l">
              <a:buNone/>
            </a:pP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실무진의 보고서 취합(평균 3일)을 기다릴 필요 없이, 모바일을 통해 의사결정 리드타임 '0초' 달성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0E1D390-74E3-F5D5-2867-3AC45564A2C7}"/>
              </a:ext>
            </a:extLst>
          </p:cNvPr>
          <p:cNvSpPr txBox="1"/>
          <p:nvPr/>
        </p:nvSpPr>
        <p:spPr>
          <a:xfrm>
            <a:off x="6201177" y="2872212"/>
            <a:ext cx="2557521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맞춤형 대시보드 &amp; PPT 즉시 완성</a:t>
            </a:r>
          </a:p>
          <a:p>
            <a:pPr algn="l">
              <a:buNone/>
            </a:pPr>
            <a:r>
              <a:rPr lang="ko-KR" altLang="ko-KR" sz="9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IT 부서에 추출 티켓을 접수하고 엑셀로 가공하던 '데이터 </a:t>
            </a:r>
            <a:r>
              <a:rPr lang="ko-KR" altLang="ko-KR" sz="900" i="0" dirty="0" err="1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노가다'에서</a:t>
            </a:r>
            <a:r>
              <a:rPr lang="ko-KR" altLang="ko-KR" sz="9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벗어나 본연의 기획 업무 집중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86DFF79-4F97-81B9-3F00-E7ED62EB9D78}"/>
              </a:ext>
            </a:extLst>
          </p:cNvPr>
          <p:cNvSpPr txBox="1"/>
          <p:nvPr/>
        </p:nvSpPr>
        <p:spPr>
          <a:xfrm>
            <a:off x="6205543" y="4029508"/>
            <a:ext cx="2557521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ko-KR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스킬 통합 관제 및 DQ 모니터링</a:t>
            </a:r>
          </a:p>
          <a:p>
            <a:pPr algn="l">
              <a:buNone/>
            </a:pP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단순 쿼리 셔틀을 벗어나 고품질 데이터 기반의 분석 스킬</a:t>
            </a:r>
            <a:r>
              <a:rPr lang="en-US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배포</a:t>
            </a:r>
            <a:r>
              <a:rPr lang="en-US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-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전사 인프라를 통제하는 거버넌스 사령탑</a:t>
            </a:r>
          </a:p>
        </p:txBody>
      </p:sp>
      <p:pic>
        <p:nvPicPr>
          <p:cNvPr id="29" name="그래픽 28">
            <a:extLst>
              <a:ext uri="{FF2B5EF4-FFF2-40B4-BE49-F238E27FC236}">
                <a16:creationId xmlns:a16="http://schemas.microsoft.com/office/drawing/2014/main" id="{A26AE229-8286-EEE2-639D-EB80F00D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15787" y="2850394"/>
            <a:ext cx="756744" cy="181619"/>
          </a:xfrm>
          <a:prstGeom prst="rect">
            <a:avLst/>
          </a:prstGeom>
        </p:spPr>
      </p:pic>
      <p:pic>
        <p:nvPicPr>
          <p:cNvPr id="31" name="그래픽 30">
            <a:extLst>
              <a:ext uri="{FF2B5EF4-FFF2-40B4-BE49-F238E27FC236}">
                <a16:creationId xmlns:a16="http://schemas.microsoft.com/office/drawing/2014/main" id="{FAA24CC7-DAFE-C983-25E0-ACF974438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69991" y="1678354"/>
            <a:ext cx="683521" cy="174825"/>
          </a:xfrm>
          <a:prstGeom prst="rect">
            <a:avLst/>
          </a:prstGeom>
        </p:spPr>
      </p:pic>
      <p:pic>
        <p:nvPicPr>
          <p:cNvPr id="33" name="그래픽 32">
            <a:extLst>
              <a:ext uri="{FF2B5EF4-FFF2-40B4-BE49-F238E27FC236}">
                <a16:creationId xmlns:a16="http://schemas.microsoft.com/office/drawing/2014/main" id="{E5D6CFBD-AD22-B1B8-2575-319E153DD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78271" y="4029741"/>
            <a:ext cx="894302" cy="178860"/>
          </a:xfrm>
          <a:prstGeom prst="rect">
            <a:avLst/>
          </a:prstGeom>
        </p:spPr>
      </p:pic>
      <p:sp>
        <p:nvSpPr>
          <p:cNvPr id="250" name="TextBox 249">
            <a:extLst>
              <a:ext uri="{FF2B5EF4-FFF2-40B4-BE49-F238E27FC236}">
                <a16:creationId xmlns:a16="http://schemas.microsoft.com/office/drawing/2014/main" id="{EFCCA961-1B8C-C068-53DC-29E2C8506830}"/>
              </a:ext>
            </a:extLst>
          </p:cNvPr>
          <p:cNvSpPr txBox="1"/>
          <p:nvPr/>
        </p:nvSpPr>
        <p:spPr>
          <a:xfrm>
            <a:off x="8086749" y="1676471"/>
            <a:ext cx="6496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600" b="1" i="0" dirty="0">
                <a:solidFill>
                  <a:srgbClr val="D97706"/>
                </a:solidFill>
                <a:effectLst/>
                <a:latin typeface="Urbanist"/>
              </a:rPr>
              <a:t>DAILY PUSH</a:t>
            </a:r>
            <a:endParaRPr lang="ko-KR" altLang="en-US" sz="600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E40F659B-FC9C-7225-E0CF-0B9379D4A8D4}"/>
              </a:ext>
            </a:extLst>
          </p:cNvPr>
          <p:cNvSpPr txBox="1"/>
          <p:nvPr/>
        </p:nvSpPr>
        <p:spPr>
          <a:xfrm>
            <a:off x="8032423" y="2835461"/>
            <a:ext cx="78779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700" b="1" i="0" dirty="0">
                <a:solidFill>
                  <a:srgbClr val="0F766E"/>
                </a:solidFill>
                <a:effectLst/>
                <a:latin typeface="Urbanist"/>
              </a:rPr>
              <a:t>INSIGHT ASSET</a:t>
            </a:r>
            <a:endParaRPr lang="ko-KR" altLang="en-US" sz="7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C8665C5-C292-B9D0-E0D3-5D0E4FE2822E}"/>
              </a:ext>
            </a:extLst>
          </p:cNvPr>
          <p:cNvSpPr txBox="1"/>
          <p:nvPr/>
        </p:nvSpPr>
        <p:spPr>
          <a:xfrm>
            <a:off x="7856712" y="4018662"/>
            <a:ext cx="96031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700" b="1" i="0" dirty="0">
                <a:solidFill>
                  <a:srgbClr val="334155"/>
                </a:solidFill>
                <a:effectLst/>
                <a:latin typeface="Urbanist"/>
              </a:rPr>
              <a:t>BIZ EMPOWERMENT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470797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FBC5-2861-B6E1-7B03-85F5C76A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B702A7F6-174E-68F3-E3C2-4084C3A71D91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21123FD2-AFEE-1BFA-C642-FB3FECFE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전략적 도입 효과 및 비즈니스 임팩트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(Expected Value &amp; ROI)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80E657B-7EDD-7C92-A5E6-A1D45DD362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</a:t>
            </a:r>
            <a:r>
              <a:rPr lang="en-US" altLang="ko-KR" dirty="0" err="1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Business</a:t>
            </a: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 Scenarios &amp; Value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B9751E8-9CBB-64C1-69BA-275E86C78961}"/>
              </a:ext>
            </a:extLst>
          </p:cNvPr>
          <p:cNvSpPr txBox="1"/>
          <p:nvPr/>
        </p:nvSpPr>
        <p:spPr>
          <a:xfrm>
            <a:off x="256032" y="647946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aisight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의 분석은 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AI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의 추론이 아니라 </a:t>
            </a:r>
            <a:r>
              <a:rPr lang="ko-KR" altLang="en-US" sz="1100" dirty="0">
                <a:solidFill>
                  <a:srgbClr val="0D9488"/>
                </a:solidFill>
                <a:latin typeface="+mn-ea"/>
                <a:ea typeface="+mn-ea"/>
              </a:rPr>
              <a:t>검증된 데이터에서 출발합니다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이미 검증을 마친 사내 데이터와 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Tableau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 대시보드를 직접 연동해 </a:t>
            </a:r>
            <a:r>
              <a:rPr lang="ko-KR" altLang="en-US" sz="1100" dirty="0">
                <a:solidFill>
                  <a:srgbClr val="0D9488"/>
                </a:solidFill>
                <a:latin typeface="+mn-ea"/>
                <a:ea typeface="+mn-ea"/>
              </a:rPr>
              <a:t>환각</a:t>
            </a:r>
            <a:r>
              <a:rPr lang="en-US" altLang="ko-KR" sz="1100" dirty="0">
                <a:solidFill>
                  <a:srgbClr val="0D9488"/>
                </a:solidFill>
                <a:latin typeface="+mn-ea"/>
                <a:ea typeface="+mn-ea"/>
              </a:rPr>
              <a:t>(Hallucination) </a:t>
            </a:r>
            <a:r>
              <a:rPr lang="ko-KR" altLang="en-US" sz="1100" dirty="0">
                <a:solidFill>
                  <a:srgbClr val="0D9488"/>
                </a:solidFill>
                <a:latin typeface="+mn-ea"/>
                <a:ea typeface="+mn-ea"/>
              </a:rPr>
              <a:t>리스크를 구조적으로 차단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하고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신뢰할 수 있는 사실에 근거한 </a:t>
            </a:r>
            <a:r>
              <a:rPr lang="ko-KR" altLang="en-US" sz="1100" dirty="0">
                <a:solidFill>
                  <a:srgbClr val="0D9488"/>
                </a:solidFill>
                <a:latin typeface="+mn-ea"/>
                <a:ea typeface="+mn-ea"/>
              </a:rPr>
              <a:t>데이터 기반 의사결정을 지원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합니다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</a:t>
            </a:r>
            <a:endParaRPr lang="ko-KR" altLang="en-US" sz="1100" dirty="0">
              <a:solidFill>
                <a:srgbClr val="334155"/>
              </a:solidFill>
              <a:latin typeface="+mn-ea"/>
              <a:ea typeface="+mn-e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899BF1E4-4EB5-CDC6-DF0D-54D7BE478B50}"/>
              </a:ext>
            </a:extLst>
          </p:cNvPr>
          <p:cNvSpPr/>
          <p:nvPr/>
        </p:nvSpPr>
        <p:spPr>
          <a:xfrm rot="16200000">
            <a:off x="-19498" y="1483695"/>
            <a:ext cx="3554021" cy="3171226"/>
          </a:xfrm>
          <a:prstGeom prst="roundRect">
            <a:avLst>
              <a:gd name="adj" fmla="val 2689"/>
            </a:avLst>
          </a:prstGeom>
          <a:gradFill rotWithShape="1">
            <a:gsLst>
              <a:gs pos="0">
                <a:srgbClr val="00D4C5"/>
              </a:gs>
              <a:gs pos="1072">
                <a:srgbClr val="00D4C5"/>
              </a:gs>
              <a:gs pos="1073">
                <a:srgbClr val="0F172A"/>
              </a:gs>
              <a:gs pos="100000">
                <a:srgbClr val="0F172A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0B8D1-3774-3BDA-5731-C29483AF78A0}"/>
              </a:ext>
            </a:extLst>
          </p:cNvPr>
          <p:cNvSpPr txBox="1"/>
          <p:nvPr/>
        </p:nvSpPr>
        <p:spPr>
          <a:xfrm>
            <a:off x="299691" y="1490464"/>
            <a:ext cx="2811018" cy="59438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2000" b="1" i="0" u="none" strike="noStrike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100% </a:t>
            </a:r>
          </a:p>
          <a:p>
            <a:r>
              <a:rPr lang="en-US" altLang="ko-KR" sz="1600" i="0" u="none" strike="noStrike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Grounded Analytics</a:t>
            </a:r>
            <a:endParaRPr lang="ko-KR" altLang="en-US" sz="14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56640B6-A3BA-1D02-61B0-CB8F045AE123}"/>
              </a:ext>
            </a:extLst>
          </p:cNvPr>
          <p:cNvSpPr/>
          <p:nvPr/>
        </p:nvSpPr>
        <p:spPr>
          <a:xfrm rot="16200000">
            <a:off x="4001849" y="810156"/>
            <a:ext cx="1671882" cy="2630836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D4C5"/>
              </a:gs>
              <a:gs pos="2279">
                <a:srgbClr val="00D4C5"/>
              </a:gs>
              <a:gs pos="228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9DD9BC0-663E-42A5-186A-8B532BBED74F}"/>
              </a:ext>
            </a:extLst>
          </p:cNvPr>
          <p:cNvSpPr/>
          <p:nvPr/>
        </p:nvSpPr>
        <p:spPr>
          <a:xfrm rot="16200000">
            <a:off x="6753373" y="812821"/>
            <a:ext cx="1671882" cy="2630836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D4C5"/>
              </a:gs>
              <a:gs pos="2279">
                <a:srgbClr val="00D4C5"/>
              </a:gs>
              <a:gs pos="228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94F0D29C-1246-40A9-156B-CD8DE9B8010E}"/>
              </a:ext>
            </a:extLst>
          </p:cNvPr>
          <p:cNvSpPr/>
          <p:nvPr/>
        </p:nvSpPr>
        <p:spPr>
          <a:xfrm rot="16200000">
            <a:off x="4001849" y="2634438"/>
            <a:ext cx="1671882" cy="2630836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D4C5"/>
              </a:gs>
              <a:gs pos="2279">
                <a:srgbClr val="00D4C5"/>
              </a:gs>
              <a:gs pos="228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A599BA97-D78E-5947-4156-165DC533CD7B}"/>
              </a:ext>
            </a:extLst>
          </p:cNvPr>
          <p:cNvSpPr/>
          <p:nvPr/>
        </p:nvSpPr>
        <p:spPr>
          <a:xfrm rot="16200000">
            <a:off x="6753373" y="2637103"/>
            <a:ext cx="1671882" cy="2630836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D4C5"/>
              </a:gs>
              <a:gs pos="2279">
                <a:srgbClr val="00D4C5"/>
              </a:gs>
              <a:gs pos="228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A98631-EE96-7ECE-7819-0577822E9999}"/>
              </a:ext>
            </a:extLst>
          </p:cNvPr>
          <p:cNvSpPr txBox="1"/>
          <p:nvPr/>
        </p:nvSpPr>
        <p:spPr>
          <a:xfrm>
            <a:off x="285176" y="1977509"/>
            <a:ext cx="2788695" cy="35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b="1" dirty="0">
                <a:solidFill>
                  <a:srgbClr val="07D2C5"/>
                </a:solidFill>
                <a:latin typeface="+mj-lt"/>
                <a:ea typeface="SUIT ExtraBold" pitchFamily="50" charset="-127"/>
              </a:rPr>
              <a:t>검증된 데이터 기반 정밀 분석</a:t>
            </a: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99A41585-7F0A-C753-5600-196F72B5FEA7}"/>
              </a:ext>
            </a:extLst>
          </p:cNvPr>
          <p:cNvSpPr/>
          <p:nvPr/>
        </p:nvSpPr>
        <p:spPr>
          <a:xfrm>
            <a:off x="292609" y="2408942"/>
            <a:ext cx="2929562" cy="2022770"/>
          </a:xfrm>
          <a:prstGeom prst="roundRect">
            <a:avLst>
              <a:gd name="adj" fmla="val 2742"/>
            </a:avLst>
          </a:prstGeom>
          <a:solidFill>
            <a:srgbClr val="1D253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en-US" altLang="ko-KR" sz="9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단순한 생성형 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가 아닙니다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. aisight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는 </a:t>
            </a:r>
            <a:r>
              <a:rPr lang="ko-KR" altLang="en-US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데이터 정합성 검증을 마친 사내 </a:t>
            </a:r>
            <a:r>
              <a:rPr lang="en-US" altLang="ko-KR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Data Query</a:t>
            </a:r>
            <a:r>
              <a:rPr lang="ko-KR" altLang="en-US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와 </a:t>
            </a:r>
            <a:r>
              <a:rPr lang="en-US" altLang="ko-KR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Tableau </a:t>
            </a:r>
            <a:r>
              <a:rPr lang="ko-KR" altLang="en-US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대시보드</a:t>
            </a:r>
            <a:r>
              <a:rPr lang="en-US" altLang="ko-KR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(BI)</a:t>
            </a:r>
            <a:r>
              <a:rPr lang="ko-KR" altLang="en-US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를 분석의 원천</a:t>
            </a:r>
            <a:r>
              <a:rPr lang="en-US" altLang="ko-KR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(Source)</a:t>
            </a:r>
            <a:r>
              <a:rPr lang="ko-KR" altLang="en-US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으로 직접 활용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합니다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ko-KR" sz="9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그 결과 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LLM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이 임의의 숫자를 만들어내거나 맥락을 잘못 유추하는 </a:t>
            </a:r>
            <a:r>
              <a:rPr lang="ko-KR" altLang="en-US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데이터 환각</a:t>
            </a:r>
            <a:r>
              <a:rPr lang="en-US" altLang="ko-KR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(Hallucination)</a:t>
            </a:r>
            <a:r>
              <a:rPr lang="ko-KR" altLang="en-US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을 구조적으로 차단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합니다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ko-KR" sz="9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경영진과 실무자는 데이터의 신뢰성을 의심할 필요 없이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bg1"/>
                </a:solidFill>
                <a:highlight>
                  <a:srgbClr val="0C474D"/>
                </a:highlight>
                <a:latin typeface="+mn-ea"/>
              </a:rPr>
              <a:t>검증된 데이터에 근거한 인사이트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로 곧바로 실행에 나설 수 있습니다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.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1A6AD8-1216-FD8D-D34C-F85235D64A70}"/>
              </a:ext>
            </a:extLst>
          </p:cNvPr>
          <p:cNvSpPr txBox="1"/>
          <p:nvPr/>
        </p:nvSpPr>
        <p:spPr>
          <a:xfrm>
            <a:off x="3675835" y="2295166"/>
            <a:ext cx="2321719" cy="53680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IT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부서에 쿼리나 대시보드 개발을 요청하고 기다리던 병목을 없앱니다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에이전트가 직접 마트 데이터를 </a:t>
            </a:r>
            <a:r>
              <a:rPr lang="ko-KR" altLang="en-US" sz="7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조회·연산</a:t>
            </a:r>
            <a:r>
              <a:rPr lang="ko-KR" altLang="en-US" sz="7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하여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 분석에 걸리던 시간을 크게 단축합니다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075B82-F302-48DA-70CD-74214D97CAE9}"/>
              </a:ext>
            </a:extLst>
          </p:cNvPr>
          <p:cNvSpPr txBox="1"/>
          <p:nvPr/>
        </p:nvSpPr>
        <p:spPr>
          <a:xfrm>
            <a:off x="3578202" y="1365146"/>
            <a:ext cx="2321719" cy="35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분석 리드타임 단축</a:t>
            </a:r>
            <a:endParaRPr lang="en-US" altLang="ko-KR" sz="1200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1BD65017-5AD9-D43B-FEB1-A655C2CC3E00}"/>
              </a:ext>
            </a:extLst>
          </p:cNvPr>
          <p:cNvSpPr/>
          <p:nvPr/>
        </p:nvSpPr>
        <p:spPr>
          <a:xfrm>
            <a:off x="3675835" y="1810461"/>
            <a:ext cx="2321719" cy="35240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r>
              <a:rPr lang="en-US" altLang="ko-KR" sz="1000" strike="sngStrike" dirty="0">
                <a:solidFill>
                  <a:schemeClr val="bg1">
                    <a:lumMod val="65000"/>
                  </a:schemeClr>
                </a:solidFill>
              </a:rPr>
              <a:t>Days</a:t>
            </a:r>
            <a:r>
              <a:rPr lang="en-US" altLang="ko-KR" sz="1000" dirty="0"/>
              <a:t> </a:t>
            </a:r>
            <a:r>
              <a:rPr lang="ko-KR" altLang="en-US" sz="1000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→ </a:t>
            </a:r>
            <a:r>
              <a:rPr lang="en-US" altLang="ko-KR" sz="1400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Minutes</a:t>
            </a:r>
            <a:endParaRPr lang="ko-KR" altLang="en-US" sz="1400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8A27136B-9D16-CCA2-A69A-3C20C78EA48F}"/>
              </a:ext>
            </a:extLst>
          </p:cNvPr>
          <p:cNvSpPr/>
          <p:nvPr/>
        </p:nvSpPr>
        <p:spPr>
          <a:xfrm>
            <a:off x="6428454" y="1810461"/>
            <a:ext cx="2321719" cy="35240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r>
              <a:rPr lang="en-US" altLang="ko-KR" sz="1000" strike="sngStrike" dirty="0">
                <a:solidFill>
                  <a:schemeClr val="bg1">
                    <a:lumMod val="65000"/>
                  </a:schemeClr>
                </a:solidFill>
              </a:rPr>
              <a:t>Variable Cost</a:t>
            </a:r>
            <a:r>
              <a:rPr lang="en-US" altLang="ko-KR" sz="1000" dirty="0"/>
              <a:t> </a:t>
            </a:r>
            <a:r>
              <a:rPr lang="ko-KR" altLang="en-US" sz="1000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→ </a:t>
            </a:r>
            <a:r>
              <a:rPr lang="en-US" altLang="ko-KR" sz="1400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Optimized</a:t>
            </a:r>
            <a:endParaRPr lang="ko-KR" altLang="en-US" sz="1400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5E43DB-1FC0-7A40-C4C7-61BC4873EE04}"/>
              </a:ext>
            </a:extLst>
          </p:cNvPr>
          <p:cNvSpPr txBox="1"/>
          <p:nvPr/>
        </p:nvSpPr>
        <p:spPr>
          <a:xfrm>
            <a:off x="6322614" y="1371310"/>
            <a:ext cx="2321719" cy="35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 sz="1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TCO (</a:t>
            </a:r>
            <a:r>
              <a:rPr lang="ko-KR" altLang="en-US" sz="1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총소유비용</a:t>
            </a:r>
            <a:r>
              <a:rPr lang="en-US" altLang="ko-KR" sz="1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) </a:t>
            </a:r>
            <a:r>
              <a:rPr lang="ko-KR" altLang="en-US" sz="1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절감</a:t>
            </a:r>
            <a:endParaRPr lang="en-US" altLang="ko-KR" sz="1200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51D21D-963A-A33A-7C16-CAFBC789019D}"/>
              </a:ext>
            </a:extLst>
          </p:cNvPr>
          <p:cNvSpPr txBox="1"/>
          <p:nvPr/>
        </p:nvSpPr>
        <p:spPr>
          <a:xfrm>
            <a:off x="6428453" y="2294993"/>
            <a:ext cx="2422939" cy="53680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고가의 외부 상용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API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에만 의존하지 않습니다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하이브리드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LLM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라우팅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으로 보안 수준과 작업 복잡도에 따라 내부 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sLLM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과 외부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API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를 동적으로 배분해 인프라 비용을 최적화합니다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B37C27-A54D-3541-8567-734C16DB398E}"/>
              </a:ext>
            </a:extLst>
          </p:cNvPr>
          <p:cNvSpPr txBox="1"/>
          <p:nvPr/>
        </p:nvSpPr>
        <p:spPr>
          <a:xfrm>
            <a:off x="3675835" y="4123966"/>
            <a:ext cx="2321719" cy="53680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개발자 없이도 실무자가 직접 가설을 세우고 에이전트와 대화하며 데이터를 교차 검증합니다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시장 변화나 이슈 발생 시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적기에 대응하는 빠른 의사결정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이 가능해집니다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A9E015-2128-02C9-5E3E-C2EB53FE86E0}"/>
              </a:ext>
            </a:extLst>
          </p:cNvPr>
          <p:cNvSpPr txBox="1"/>
          <p:nvPr/>
        </p:nvSpPr>
        <p:spPr>
          <a:xfrm>
            <a:off x="3578202" y="3193946"/>
            <a:ext cx="2321719" cy="35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비즈니스 민첩성 향상</a:t>
            </a:r>
            <a:endParaRPr lang="en-US" altLang="ko-KR" sz="1200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480B7B91-483A-8B7F-D208-646C2E9E2ECA}"/>
              </a:ext>
            </a:extLst>
          </p:cNvPr>
          <p:cNvSpPr/>
          <p:nvPr/>
        </p:nvSpPr>
        <p:spPr>
          <a:xfrm>
            <a:off x="3675835" y="3639261"/>
            <a:ext cx="2321719" cy="35240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r>
              <a:rPr lang="en-US" altLang="ko-KR" sz="1000" strike="sngStrike" dirty="0">
                <a:solidFill>
                  <a:schemeClr val="bg1">
                    <a:lumMod val="65000"/>
                  </a:schemeClr>
                </a:solidFill>
              </a:rPr>
              <a:t>Static View</a:t>
            </a:r>
            <a:r>
              <a:rPr lang="en-US" altLang="ko-KR" sz="1000" dirty="0"/>
              <a:t> </a:t>
            </a:r>
            <a:r>
              <a:rPr lang="ko-KR" altLang="en-US" sz="1000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→ </a:t>
            </a:r>
            <a:r>
              <a:rPr lang="en-US" altLang="ko-KR" sz="1400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Interactive</a:t>
            </a:r>
            <a:endParaRPr lang="ko-KR" altLang="en-US" sz="1400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B30C8E9D-198C-C270-6D21-4742F8E4EB4A}"/>
              </a:ext>
            </a:extLst>
          </p:cNvPr>
          <p:cNvSpPr/>
          <p:nvPr/>
        </p:nvSpPr>
        <p:spPr>
          <a:xfrm>
            <a:off x="6428454" y="3639261"/>
            <a:ext cx="2321719" cy="35240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r>
              <a:rPr lang="en-US" altLang="ko-KR" sz="1000" strike="sngStrike" dirty="0">
                <a:solidFill>
                  <a:schemeClr val="bg1">
                    <a:lumMod val="65000"/>
                  </a:schemeClr>
                </a:solidFill>
              </a:rPr>
              <a:t>Siloed Data</a:t>
            </a:r>
            <a:r>
              <a:rPr lang="ko-KR" altLang="en-US" sz="1000" dirty="0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→ </a:t>
            </a:r>
            <a:r>
              <a:rPr lang="en-US" altLang="ko-KR" sz="1400" dirty="0" err="1">
                <a:solidFill>
                  <a:srgbClr val="0D9488"/>
                </a:solidFill>
                <a:latin typeface="SUIT ExtraBold" pitchFamily="50" charset="-127"/>
                <a:ea typeface="SUIT ExtraBold" pitchFamily="50" charset="-127"/>
              </a:rPr>
              <a:t>Assetized</a:t>
            </a:r>
            <a:endParaRPr lang="ko-KR" altLang="en-US" sz="1400" dirty="0">
              <a:solidFill>
                <a:srgbClr val="0D9488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DDD1863-93E4-8CB7-3908-CF2E1A12F44F}"/>
              </a:ext>
            </a:extLst>
          </p:cNvPr>
          <p:cNvSpPr txBox="1"/>
          <p:nvPr/>
        </p:nvSpPr>
        <p:spPr>
          <a:xfrm>
            <a:off x="6322614" y="3200110"/>
            <a:ext cx="2321719" cy="35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영구적 지식 자산화</a:t>
            </a:r>
            <a:endParaRPr lang="en-US" altLang="ko-KR" sz="1200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2439387-675C-132C-24C1-6181FBE7261C}"/>
              </a:ext>
            </a:extLst>
          </p:cNvPr>
          <p:cNvSpPr txBox="1"/>
          <p:nvPr/>
        </p:nvSpPr>
        <p:spPr>
          <a:xfrm>
            <a:off x="6428453" y="4123793"/>
            <a:ext cx="2321719" cy="53680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한 번 쓰고 흩어지던 대화형 분석 결과를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aisight Space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 ExtraBold" pitchFamily="2" charset="-127"/>
                <a:ea typeface="SUIT ExtraBold" pitchFamily="2" charset="-127"/>
              </a:rPr>
              <a:t>내 정규 대시보드 리포트로 구조화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해 보존합니다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레거시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BI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 투자 자산을 조직의 지식 자산으로 축적합니다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</a:p>
        </p:txBody>
      </p:sp>
      <p:sp>
        <p:nvSpPr>
          <p:cNvPr id="194" name="Shape 4">
            <a:extLst>
              <a:ext uri="{FF2B5EF4-FFF2-40B4-BE49-F238E27FC236}">
                <a16:creationId xmlns:a16="http://schemas.microsoft.com/office/drawing/2014/main" id="{B1F3E50F-D066-2385-265A-38B543FD7F38}"/>
              </a:ext>
            </a:extLst>
          </p:cNvPr>
          <p:cNvSpPr/>
          <p:nvPr/>
        </p:nvSpPr>
        <p:spPr>
          <a:xfrm>
            <a:off x="326826" y="4571606"/>
            <a:ext cx="798838" cy="16488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chemeClr val="tx1"/>
            </a:solidFill>
          </a:ln>
        </p:spPr>
        <p:txBody>
          <a:bodyPr wrap="none" lIns="0" tIns="18000" rIns="0" bIns="18000" anchor="ctr"/>
          <a:lstStyle/>
          <a:p>
            <a:pPr algn="ctr"/>
            <a:r>
              <a:rPr lang="ko-KR" altLang="en-US" sz="700" dirty="0" err="1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환각률 0% 달성</a:t>
            </a:r>
          </a:p>
        </p:txBody>
      </p:sp>
      <p:sp>
        <p:nvSpPr>
          <p:cNvPr id="195" name="Shape 4">
            <a:extLst>
              <a:ext uri="{FF2B5EF4-FFF2-40B4-BE49-F238E27FC236}">
                <a16:creationId xmlns:a16="http://schemas.microsoft.com/office/drawing/2014/main" id="{D43E5775-BF63-A8D3-DE01-F842C5CD29F8}"/>
              </a:ext>
            </a:extLst>
          </p:cNvPr>
          <p:cNvSpPr/>
          <p:nvPr/>
        </p:nvSpPr>
        <p:spPr>
          <a:xfrm>
            <a:off x="1264591" y="4571606"/>
            <a:ext cx="920244" cy="16488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chemeClr val="tx1"/>
            </a:solidFill>
          </a:ln>
        </p:spPr>
        <p:txBody>
          <a:bodyPr wrap="none" lIns="0" tIns="18000" rIns="0" bIns="1800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데이터 정합성 </a:t>
            </a:r>
            <a:r>
              <a:rPr lang="en-US" altLang="ko-KR" sz="7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100%</a:t>
            </a:r>
            <a:endParaRPr lang="ko-KR" altLang="en-US" sz="700" dirty="0">
              <a:solidFill>
                <a:schemeClr val="bg1"/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1C8B257-53FF-C11A-C3C6-C1564DB1CD13}"/>
              </a:ext>
            </a:extLst>
          </p:cNvPr>
          <p:cNvSpPr/>
          <p:nvPr/>
        </p:nvSpPr>
        <p:spPr>
          <a:xfrm>
            <a:off x="2323763" y="4571606"/>
            <a:ext cx="857357" cy="16488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chemeClr val="tx1"/>
            </a:solidFill>
          </a:ln>
        </p:spPr>
        <p:txBody>
          <a:bodyPr wrap="none" lIns="0" tIns="18000" rIns="0" bIns="1800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검증된 </a:t>
            </a:r>
            <a:r>
              <a:rPr lang="en-US" altLang="ko-KR" sz="7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BI </a:t>
            </a:r>
            <a:r>
              <a:rPr lang="ko-KR" altLang="en-US" sz="7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직접 연동</a:t>
            </a:r>
          </a:p>
        </p:txBody>
      </p:sp>
    </p:spTree>
    <p:extLst>
      <p:ext uri="{BB962C8B-B14F-4D97-AF65-F5344CB8AC3E}">
        <p14:creationId xmlns:p14="http://schemas.microsoft.com/office/powerpoint/2010/main" val="12528298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5483-E644-971E-E622-8F0AE0A1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E2888C-BE36-67C0-EBC9-B52217CFC749}"/>
              </a:ext>
            </a:extLst>
          </p:cNvPr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04.</a:t>
            </a:r>
            <a:endParaRPr lang="en-US" sz="1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C97E3A-1CB8-174A-EF6A-3C1F675ABA80}"/>
              </a:ext>
            </a:extLst>
          </p:cNvPr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성공적인 도입 및 실행 전략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D40DF1-BD51-C915-9077-4DB71E79A35E}"/>
              </a:ext>
            </a:extLst>
          </p:cNvPr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Execution Strategy </a:t>
            </a:r>
          </a:p>
        </p:txBody>
      </p:sp>
    </p:spTree>
    <p:extLst>
      <p:ext uri="{BB962C8B-B14F-4D97-AF65-F5344CB8AC3E}">
        <p14:creationId xmlns:p14="http://schemas.microsoft.com/office/powerpoint/2010/main" val="1758516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F686-1B11-B6CD-EF25-A3E6C45C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>
            <a:extLst>
              <a:ext uri="{FF2B5EF4-FFF2-40B4-BE49-F238E27FC236}">
                <a16:creationId xmlns:a16="http://schemas.microsoft.com/office/drawing/2014/main" id="{EA7CA71F-9781-65BA-BF6E-C6AD33C9528E}"/>
              </a:ext>
            </a:extLst>
          </p:cNvPr>
          <p:cNvSpPr/>
          <p:nvPr/>
        </p:nvSpPr>
        <p:spPr>
          <a:xfrm rot="16200000">
            <a:off x="811545" y="1473513"/>
            <a:ext cx="942337" cy="205200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0000"/>
              </a:gs>
              <a:gs pos="4043">
                <a:srgbClr val="000000"/>
              </a:gs>
              <a:gs pos="404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E2FB6B-BF86-5315-F12E-BF0336658F29}"/>
              </a:ext>
            </a:extLst>
          </p:cNvPr>
          <p:cNvSpPr txBox="1"/>
          <p:nvPr/>
        </p:nvSpPr>
        <p:spPr>
          <a:xfrm>
            <a:off x="256032" y="2180372"/>
            <a:ext cx="2052684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진단 및 기획</a:t>
            </a:r>
            <a:endParaRPr lang="en-US" altLang="ko-KR" sz="1000" dirty="0">
              <a:solidFill>
                <a:schemeClr val="tx1">
                  <a:lumMod val="95000"/>
                  <a:lumOff val="5000"/>
                </a:schemeClr>
              </a:solidFill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E7D0506-9500-8FF6-759D-69F60147E7B4}"/>
              </a:ext>
            </a:extLst>
          </p:cNvPr>
          <p:cNvSpPr/>
          <p:nvPr/>
        </p:nvSpPr>
        <p:spPr>
          <a:xfrm rot="16200000">
            <a:off x="7353752" y="1473512"/>
            <a:ext cx="942337" cy="205200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chemeClr val="bg1">
                  <a:lumMod val="65000"/>
                </a:schemeClr>
              </a:gs>
              <a:gs pos="4043">
                <a:schemeClr val="bg1">
                  <a:lumMod val="65000"/>
                </a:schemeClr>
              </a:gs>
              <a:gs pos="404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AC21E939-87AD-FFFF-B13D-D27EDA458FCB}"/>
              </a:ext>
            </a:extLst>
          </p:cNvPr>
          <p:cNvSpPr/>
          <p:nvPr/>
        </p:nvSpPr>
        <p:spPr>
          <a:xfrm rot="16200000">
            <a:off x="5173017" y="1473512"/>
            <a:ext cx="942337" cy="205200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D4C5"/>
              </a:gs>
              <a:gs pos="4043">
                <a:srgbClr val="00D4C5"/>
              </a:gs>
              <a:gs pos="404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13CEC4"/>
            </a:solidFill>
          </a:ln>
          <a:effectLst>
            <a:glow rad="101600">
              <a:srgbClr val="07D2C5">
                <a:alpha val="16000"/>
              </a:srgbClr>
            </a:glo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B13DAF98-4E4F-6BBB-06E5-D08F8D460363}"/>
              </a:ext>
            </a:extLst>
          </p:cNvPr>
          <p:cNvSpPr/>
          <p:nvPr/>
        </p:nvSpPr>
        <p:spPr>
          <a:xfrm rot="16200000">
            <a:off x="2992281" y="1473513"/>
            <a:ext cx="942337" cy="205200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0000"/>
              </a:gs>
              <a:gs pos="4043">
                <a:srgbClr val="000000"/>
              </a:gs>
              <a:gs pos="404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B505F86-938D-1E43-ABA3-560B6EA902C0}"/>
              </a:ext>
            </a:extLst>
          </p:cNvPr>
          <p:cNvSpPr/>
          <p:nvPr/>
        </p:nvSpPr>
        <p:spPr>
          <a:xfrm rot="10800000">
            <a:off x="1442106" y="1671374"/>
            <a:ext cx="6352159" cy="48743"/>
          </a:xfrm>
          <a:prstGeom prst="rect">
            <a:avLst/>
          </a:prstGeom>
          <a:gradFill>
            <a:gsLst>
              <a:gs pos="13000">
                <a:schemeClr val="tx1">
                  <a:lumMod val="75000"/>
                  <a:lumOff val="2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97826">
                <a:schemeClr val="bg1">
                  <a:lumMod val="85000"/>
                </a:schemeClr>
              </a:gs>
              <a:gs pos="64000">
                <a:srgbClr val="07D2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00CE8F53-8A71-024B-D683-241BE27E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Quick Win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달성을 위한 </a:t>
            </a:r>
            <a:r>
              <a:rPr lang="ko-KR" altLang="en-US" b="0" dirty="0" err="1">
                <a:latin typeface="SUIT ExtraBold" pitchFamily="2" charset="-127"/>
                <a:ea typeface="SUIT ExtraBold" pitchFamily="2" charset="-127"/>
              </a:rPr>
              <a:t>패스트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 트랙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(Fast-Track)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도입 전략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42F9C99-6C21-3472-5AC4-61C0D3477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  <a:cs typeface="+mn-cs"/>
              </a:rPr>
              <a:t>04 · Execution Strategy </a:t>
            </a:r>
          </a:p>
          <a:p>
            <a:endParaRPr lang="en-US" altLang="ko-KR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950C7B27-3BDA-96DC-C738-7EDC3F38B39B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FA3D8-B83F-BF6E-9424-EA3194AA4B75}"/>
              </a:ext>
            </a:extLst>
          </p:cNvPr>
          <p:cNvSpPr txBox="1"/>
          <p:nvPr/>
        </p:nvSpPr>
        <p:spPr>
          <a:xfrm>
            <a:off x="256032" y="647946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전사 통합 데이터 구축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(EDW)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등 무거운 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IT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프로젝트를 기다릴 필요가 없습니다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 </a:t>
            </a:r>
            <a:r>
              <a:rPr lang="ko-KR" altLang="en-US" sz="1100" dirty="0">
                <a:solidFill>
                  <a:srgbClr val="0D9488"/>
                </a:solidFill>
                <a:latin typeface="+mn-ea"/>
                <a:ea typeface="+mn-ea"/>
              </a:rPr>
              <a:t>기존에 가장 활발히 사용 중인 핵심 대시보드 </a:t>
            </a:r>
            <a:r>
              <a:rPr lang="en-US" altLang="ko-KR" sz="1100" dirty="0">
                <a:solidFill>
                  <a:srgbClr val="0D9488"/>
                </a:solidFill>
                <a:latin typeface="+mn-ea"/>
                <a:ea typeface="+mn-ea"/>
              </a:rPr>
              <a:t>2~3</a:t>
            </a:r>
            <a:r>
              <a:rPr lang="ko-KR" altLang="en-US" sz="1100" dirty="0">
                <a:solidFill>
                  <a:srgbClr val="0D9488"/>
                </a:solidFill>
                <a:latin typeface="+mn-ea"/>
                <a:ea typeface="+mn-ea"/>
              </a:rPr>
              <a:t>개와 단일 부서를 대상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으로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, 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단 </a:t>
            </a:r>
            <a:r>
              <a:rPr lang="en-US" altLang="ko-KR" sz="1100" dirty="0">
                <a:solidFill>
                  <a:srgbClr val="0D9488"/>
                </a:solidFill>
                <a:latin typeface="+mn-ea"/>
                <a:ea typeface="+mn-ea"/>
              </a:rPr>
              <a:t>6</a:t>
            </a:r>
            <a:r>
              <a:rPr lang="ko-KR" altLang="en-US" sz="1100" dirty="0">
                <a:solidFill>
                  <a:srgbClr val="0D9488"/>
                </a:solidFill>
                <a:latin typeface="+mn-ea"/>
                <a:ea typeface="+mn-ea"/>
              </a:rPr>
              <a:t>주 만에 확실한 도입 성과</a:t>
            </a:r>
            <a:r>
              <a:rPr lang="en-US" altLang="ko-KR" sz="1100" dirty="0">
                <a:solidFill>
                  <a:srgbClr val="0D9488"/>
                </a:solidFill>
                <a:latin typeface="+mn-ea"/>
                <a:ea typeface="+mn-ea"/>
              </a:rPr>
              <a:t>(Quick Win)</a:t>
            </a:r>
            <a:r>
              <a:rPr lang="ko-KR" altLang="en-US" sz="1100" dirty="0">
                <a:solidFill>
                  <a:srgbClr val="0D9488"/>
                </a:solidFill>
                <a:latin typeface="+mn-ea"/>
                <a:ea typeface="+mn-ea"/>
              </a:rPr>
              <a:t>를 증명</a:t>
            </a:r>
            <a:r>
              <a:rPr lang="ko-KR" altLang="en-US" sz="1100" dirty="0">
                <a:solidFill>
                  <a:srgbClr val="334155"/>
                </a:solidFill>
                <a:latin typeface="+mn-ea"/>
                <a:ea typeface="+mn-ea"/>
              </a:rPr>
              <a:t>합니다</a:t>
            </a:r>
            <a:r>
              <a:rPr lang="en-US" altLang="ko-KR" sz="1100" dirty="0">
                <a:solidFill>
                  <a:srgbClr val="334155"/>
                </a:solidFill>
                <a:latin typeface="+mn-ea"/>
                <a:ea typeface="+mn-ea"/>
              </a:rPr>
              <a:t>.</a:t>
            </a:r>
            <a:endParaRPr lang="ko-KR" altLang="en-US" sz="1100" dirty="0">
              <a:solidFill>
                <a:srgbClr val="0D9488"/>
              </a:solidFill>
              <a:latin typeface="+mn-ea"/>
              <a:ea typeface="+mn-ea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13F8211-401C-ED56-D56F-3FA9AC0F8FDD}"/>
              </a:ext>
            </a:extLst>
          </p:cNvPr>
          <p:cNvSpPr/>
          <p:nvPr/>
        </p:nvSpPr>
        <p:spPr>
          <a:xfrm>
            <a:off x="950416" y="1573338"/>
            <a:ext cx="663916" cy="229563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8000" rIns="0" bIns="18000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ea typeface="SUIT ExtraBold" pitchFamily="50" charset="-127"/>
              </a:rPr>
              <a:t>Week</a:t>
            </a:r>
            <a:r>
              <a:rPr lang="ko-KR" altLang="en-US" sz="9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ea typeface="SUIT ExtraBold" pitchFamily="50" charset="-127"/>
              </a:rPr>
              <a:t>1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938D643-5BAF-5029-43A2-C574205C4F19}"/>
              </a:ext>
            </a:extLst>
          </p:cNvPr>
          <p:cNvSpPr/>
          <p:nvPr/>
        </p:nvSpPr>
        <p:spPr>
          <a:xfrm>
            <a:off x="3131265" y="1573338"/>
            <a:ext cx="663916" cy="229563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lIns="0" tIns="18000" rIns="0" bIns="18000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ea typeface="SUIT ExtraBold" pitchFamily="50" charset="-127"/>
              </a:rPr>
              <a:t>Week</a:t>
            </a:r>
            <a:r>
              <a:rPr lang="ko-KR" altLang="en-US" sz="9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ea typeface="SUIT ExtraBold" pitchFamily="50" charset="-127"/>
              </a:rPr>
              <a:t>3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E3E0B3B-AD25-E7CF-8787-292FCF3FFDE3}"/>
              </a:ext>
            </a:extLst>
          </p:cNvPr>
          <p:cNvSpPr/>
          <p:nvPr/>
        </p:nvSpPr>
        <p:spPr>
          <a:xfrm>
            <a:off x="5312114" y="1573338"/>
            <a:ext cx="663916" cy="229563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none" lIns="0" tIns="18000" rIns="0" bIns="18000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ea typeface="SUIT ExtraBold" pitchFamily="50" charset="-127"/>
              </a:rPr>
              <a:t>Week</a:t>
            </a:r>
            <a:r>
              <a:rPr lang="ko-KR" altLang="en-US" sz="900" dirty="0">
                <a:solidFill>
                  <a:schemeClr val="bg1"/>
                </a:solidFill>
                <a:ea typeface="SUIT ExtraBold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ea typeface="SUIT ExtraBold" pitchFamily="50" charset="-127"/>
              </a:rPr>
              <a:t>6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70A33DF-31B9-6C1C-E300-B72635C0AAF5}"/>
              </a:ext>
            </a:extLst>
          </p:cNvPr>
          <p:cNvGrpSpPr/>
          <p:nvPr/>
        </p:nvGrpSpPr>
        <p:grpSpPr>
          <a:xfrm>
            <a:off x="705126" y="2183596"/>
            <a:ext cx="194034" cy="194279"/>
            <a:chOff x="1005585" y="2172863"/>
            <a:chExt cx="235386" cy="235683"/>
          </a:xfrm>
        </p:grpSpPr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04DD8F2D-FDA7-552F-7DEA-F95E8F00764E}"/>
                </a:ext>
              </a:extLst>
            </p:cNvPr>
            <p:cNvSpPr/>
            <p:nvPr/>
          </p:nvSpPr>
          <p:spPr>
            <a:xfrm>
              <a:off x="1005585" y="2172863"/>
              <a:ext cx="235386" cy="235683"/>
            </a:xfrm>
            <a:custGeom>
              <a:avLst/>
              <a:gdLst>
                <a:gd name="csX0" fmla="*/ 192474 w 235386"/>
                <a:gd name="csY0" fmla="*/ 163023 h 235683"/>
                <a:gd name="csX1" fmla="*/ 174030 w 235386"/>
                <a:gd name="csY1" fmla="*/ 157371 h 235683"/>
                <a:gd name="csX2" fmla="*/ 160643 w 235386"/>
                <a:gd name="csY2" fmla="*/ 144282 h 235683"/>
                <a:gd name="csX3" fmla="*/ 179087 w 235386"/>
                <a:gd name="csY3" fmla="*/ 90139 h 235683"/>
                <a:gd name="csX4" fmla="*/ 89842 w 235386"/>
                <a:gd name="csY4" fmla="*/ 2 h 235683"/>
                <a:gd name="csX5" fmla="*/ 2 w 235386"/>
                <a:gd name="csY5" fmla="*/ 89247 h 235683"/>
                <a:gd name="csX6" fmla="*/ 89247 w 235386"/>
                <a:gd name="csY6" fmla="*/ 179087 h 235683"/>
                <a:gd name="csX7" fmla="*/ 143984 w 235386"/>
                <a:gd name="csY7" fmla="*/ 160643 h 235683"/>
                <a:gd name="csX8" fmla="*/ 157073 w 235386"/>
                <a:gd name="csY8" fmla="*/ 173733 h 235683"/>
                <a:gd name="csX9" fmla="*/ 162726 w 235386"/>
                <a:gd name="csY9" fmla="*/ 192474 h 235683"/>
                <a:gd name="csX10" fmla="*/ 199911 w 235386"/>
                <a:gd name="csY10" fmla="*/ 229660 h 235683"/>
                <a:gd name="csX11" fmla="*/ 229362 w 235386"/>
                <a:gd name="csY11" fmla="*/ 229660 h 235683"/>
                <a:gd name="csX12" fmla="*/ 229362 w 235386"/>
                <a:gd name="csY12" fmla="*/ 200209 h 235683"/>
                <a:gd name="csX13" fmla="*/ 192474 w 235386"/>
                <a:gd name="csY13" fmla="*/ 163023 h 235683"/>
                <a:gd name="csX14" fmla="*/ 89842 w 235386"/>
                <a:gd name="csY14" fmla="*/ 161238 h 235683"/>
                <a:gd name="csX15" fmla="*/ 18446 w 235386"/>
                <a:gd name="csY15" fmla="*/ 89842 h 235683"/>
                <a:gd name="csX16" fmla="*/ 89842 w 235386"/>
                <a:gd name="csY16" fmla="*/ 18446 h 235683"/>
                <a:gd name="csX17" fmla="*/ 161238 w 235386"/>
                <a:gd name="csY17" fmla="*/ 89842 h 235683"/>
                <a:gd name="csX18" fmla="*/ 89842 w 235386"/>
                <a:gd name="csY18" fmla="*/ 161238 h 235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35386" h="235683">
                  <a:moveTo>
                    <a:pt x="192474" y="163023"/>
                  </a:moveTo>
                  <a:cubicBezTo>
                    <a:pt x="187714" y="158263"/>
                    <a:pt x="180575" y="155883"/>
                    <a:pt x="174030" y="157371"/>
                  </a:cubicBezTo>
                  <a:lnTo>
                    <a:pt x="160643" y="144282"/>
                  </a:lnTo>
                  <a:cubicBezTo>
                    <a:pt x="172543" y="128812"/>
                    <a:pt x="179087" y="109773"/>
                    <a:pt x="179087" y="90139"/>
                  </a:cubicBezTo>
                  <a:cubicBezTo>
                    <a:pt x="179385" y="40460"/>
                    <a:pt x="139224" y="299"/>
                    <a:pt x="89842" y="2"/>
                  </a:cubicBezTo>
                  <a:cubicBezTo>
                    <a:pt x="40460" y="-296"/>
                    <a:pt x="299" y="39865"/>
                    <a:pt x="2" y="89247"/>
                  </a:cubicBezTo>
                  <a:cubicBezTo>
                    <a:pt x="-296" y="138629"/>
                    <a:pt x="39865" y="178790"/>
                    <a:pt x="89247" y="179087"/>
                  </a:cubicBezTo>
                  <a:cubicBezTo>
                    <a:pt x="108881" y="179087"/>
                    <a:pt x="128217" y="172543"/>
                    <a:pt x="143984" y="160643"/>
                  </a:cubicBezTo>
                  <a:lnTo>
                    <a:pt x="157073" y="173733"/>
                  </a:lnTo>
                  <a:cubicBezTo>
                    <a:pt x="155883" y="180575"/>
                    <a:pt x="157966" y="187417"/>
                    <a:pt x="162726" y="192474"/>
                  </a:cubicBezTo>
                  <a:lnTo>
                    <a:pt x="199911" y="229660"/>
                  </a:lnTo>
                  <a:cubicBezTo>
                    <a:pt x="207943" y="237692"/>
                    <a:pt x="221330" y="237692"/>
                    <a:pt x="229362" y="229660"/>
                  </a:cubicBezTo>
                  <a:cubicBezTo>
                    <a:pt x="237394" y="221628"/>
                    <a:pt x="237394" y="208241"/>
                    <a:pt x="229362" y="200209"/>
                  </a:cubicBezTo>
                  <a:lnTo>
                    <a:pt x="192474" y="163023"/>
                  </a:lnTo>
                  <a:close/>
                  <a:moveTo>
                    <a:pt x="89842" y="161238"/>
                  </a:moveTo>
                  <a:cubicBezTo>
                    <a:pt x="50277" y="161238"/>
                    <a:pt x="18446" y="129407"/>
                    <a:pt x="18446" y="89842"/>
                  </a:cubicBezTo>
                  <a:cubicBezTo>
                    <a:pt x="18446" y="50277"/>
                    <a:pt x="50277" y="18446"/>
                    <a:pt x="89842" y="18446"/>
                  </a:cubicBezTo>
                  <a:cubicBezTo>
                    <a:pt x="129407" y="18446"/>
                    <a:pt x="161238" y="50277"/>
                    <a:pt x="161238" y="89842"/>
                  </a:cubicBezTo>
                  <a:cubicBezTo>
                    <a:pt x="161238" y="129110"/>
                    <a:pt x="129110" y="161238"/>
                    <a:pt x="89842" y="161238"/>
                  </a:cubicBezTo>
                  <a:close/>
                </a:path>
              </a:pathLst>
            </a:custGeom>
            <a:solidFill>
              <a:srgbClr val="0D9488"/>
            </a:solidFill>
            <a:ln w="287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509B447-8FB4-84C1-1359-C7A3CC854D51}"/>
                </a:ext>
              </a:extLst>
            </p:cNvPr>
            <p:cNvSpPr/>
            <p:nvPr/>
          </p:nvSpPr>
          <p:spPr>
            <a:xfrm>
              <a:off x="1072881" y="2258604"/>
              <a:ext cx="15755" cy="36012"/>
            </a:xfrm>
            <a:prstGeom prst="rect">
              <a:avLst/>
            </a:prstGeom>
            <a:solidFill>
              <a:srgbClr val="0D9488"/>
            </a:solidFill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9D74C4C-BBE9-3648-8A31-4851CBE9D278}"/>
                </a:ext>
              </a:extLst>
            </p:cNvPr>
            <p:cNvSpPr/>
            <p:nvPr/>
          </p:nvSpPr>
          <p:spPr>
            <a:xfrm>
              <a:off x="1093137" y="2238348"/>
              <a:ext cx="15755" cy="56268"/>
            </a:xfrm>
            <a:prstGeom prst="rect">
              <a:avLst/>
            </a:prstGeom>
            <a:solidFill>
              <a:srgbClr val="0D9488"/>
            </a:solidFill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E5BB7C0-42D5-7780-2581-6BBE9DC62063}"/>
                </a:ext>
              </a:extLst>
            </p:cNvPr>
            <p:cNvSpPr/>
            <p:nvPr/>
          </p:nvSpPr>
          <p:spPr>
            <a:xfrm>
              <a:off x="1113394" y="2218091"/>
              <a:ext cx="15755" cy="76525"/>
            </a:xfrm>
            <a:prstGeom prst="rect">
              <a:avLst/>
            </a:prstGeom>
            <a:solidFill>
              <a:srgbClr val="0D9488"/>
            </a:solidFill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B087D43-AC1E-074A-4E14-0B10E85692DB}"/>
                </a:ext>
              </a:extLst>
            </p:cNvPr>
            <p:cNvSpPr/>
            <p:nvPr/>
          </p:nvSpPr>
          <p:spPr>
            <a:xfrm>
              <a:off x="1052624" y="2278861"/>
              <a:ext cx="15755" cy="15755"/>
            </a:xfrm>
            <a:prstGeom prst="rect">
              <a:avLst/>
            </a:prstGeom>
            <a:solidFill>
              <a:srgbClr val="0D9488"/>
            </a:solidFill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AB75591-4365-D867-5862-57C7105A639F}"/>
              </a:ext>
            </a:extLst>
          </p:cNvPr>
          <p:cNvSpPr txBox="1"/>
          <p:nvPr/>
        </p:nvSpPr>
        <p:spPr>
          <a:xfrm>
            <a:off x="2437451" y="2180372"/>
            <a:ext cx="2052000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연동 및 구축</a:t>
            </a:r>
            <a:endParaRPr lang="en-US" altLang="ko-KR" sz="1000" dirty="0">
              <a:solidFill>
                <a:schemeClr val="tx1">
                  <a:lumMod val="95000"/>
                  <a:lumOff val="5000"/>
                </a:schemeClr>
              </a:solidFill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F666B8-D017-FD70-EB40-74BDB97AFEAD}"/>
              </a:ext>
            </a:extLst>
          </p:cNvPr>
          <p:cNvSpPr txBox="1"/>
          <p:nvPr/>
        </p:nvSpPr>
        <p:spPr>
          <a:xfrm>
            <a:off x="4761184" y="2180372"/>
            <a:ext cx="1909001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    파일럿 오픈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(Quick Win)</a:t>
            </a:r>
          </a:p>
        </p:txBody>
      </p:sp>
      <p:pic>
        <p:nvPicPr>
          <p:cNvPr id="36" name="그래픽 35" descr="합병 단색으로 채워진">
            <a:extLst>
              <a:ext uri="{FF2B5EF4-FFF2-40B4-BE49-F238E27FC236}">
                <a16:creationId xmlns:a16="http://schemas.microsoft.com/office/drawing/2014/main" id="{925B00D0-784D-CC34-CB1A-3FD729A09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4073" y="2154362"/>
            <a:ext cx="245938" cy="245938"/>
          </a:xfrm>
          <a:prstGeom prst="rect">
            <a:avLst/>
          </a:prstGeom>
        </p:spPr>
      </p:pic>
      <p:pic>
        <p:nvPicPr>
          <p:cNvPr id="38" name="그래픽 37" descr="로켓 단색으로 채워진">
            <a:extLst>
              <a:ext uri="{FF2B5EF4-FFF2-40B4-BE49-F238E27FC236}">
                <a16:creationId xmlns:a16="http://schemas.microsoft.com/office/drawing/2014/main" id="{490137D0-70F9-9FC6-0724-9948B54E80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697" y="2163530"/>
            <a:ext cx="220289" cy="220289"/>
          </a:xfrm>
          <a:prstGeom prst="rect">
            <a:avLst/>
          </a:prstGeom>
        </p:spPr>
      </p:pic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CE4A7B-9D7E-0F8F-0690-0CD4ECA57870}"/>
              </a:ext>
            </a:extLst>
          </p:cNvPr>
          <p:cNvSpPr/>
          <p:nvPr/>
        </p:nvSpPr>
        <p:spPr>
          <a:xfrm>
            <a:off x="256714" y="3286886"/>
            <a:ext cx="4171057" cy="1485138"/>
          </a:xfrm>
          <a:prstGeom prst="roundRect">
            <a:avLst>
              <a:gd name="adj" fmla="val 2487"/>
            </a:avLst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246CD6-134E-7FA7-001C-0C8202F4380B}"/>
              </a:ext>
            </a:extLst>
          </p:cNvPr>
          <p:cNvSpPr/>
          <p:nvPr/>
        </p:nvSpPr>
        <p:spPr>
          <a:xfrm>
            <a:off x="4680335" y="3286887"/>
            <a:ext cx="4171057" cy="1485138"/>
          </a:xfrm>
          <a:prstGeom prst="roundRect">
            <a:avLst>
              <a:gd name="adj" fmla="val 2487"/>
            </a:avLst>
          </a:prstGeom>
          <a:solidFill>
            <a:srgbClr val="0F172A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5A1D07-DAE9-B67E-32EB-9186B3B780CF}"/>
              </a:ext>
            </a:extLst>
          </p:cNvPr>
          <p:cNvSpPr txBox="1"/>
          <p:nvPr/>
        </p:nvSpPr>
        <p:spPr>
          <a:xfrm>
            <a:off x="564093" y="3376780"/>
            <a:ext cx="2027833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초기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AI 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도입의 장벽 </a:t>
            </a:r>
            <a:endParaRPr lang="en-US" altLang="ko-KR" sz="1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pic>
        <p:nvPicPr>
          <p:cNvPr id="43" name="그래픽 42" descr="경고 단색으로 채워진">
            <a:extLst>
              <a:ext uri="{FF2B5EF4-FFF2-40B4-BE49-F238E27FC236}">
                <a16:creationId xmlns:a16="http://schemas.microsoft.com/office/drawing/2014/main" id="{E601F3B8-A6AE-87A0-95C7-C61BA03D15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326" y="3378733"/>
            <a:ext cx="170522" cy="170522"/>
          </a:xfrm>
          <a:prstGeom prst="rect">
            <a:avLst/>
          </a:prstGeom>
        </p:spPr>
      </p:pic>
      <p:pic>
        <p:nvPicPr>
          <p:cNvPr id="45" name="그래픽 44" descr="고전압 단색으로 채워진">
            <a:extLst>
              <a:ext uri="{FF2B5EF4-FFF2-40B4-BE49-F238E27FC236}">
                <a16:creationId xmlns:a16="http://schemas.microsoft.com/office/drawing/2014/main" id="{5B12BCBD-A02C-5C67-FBE8-210E98B56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697" y="3369285"/>
            <a:ext cx="170522" cy="17052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5B2D267-9C68-205D-92AF-6746B728C029}"/>
              </a:ext>
            </a:extLst>
          </p:cNvPr>
          <p:cNvSpPr txBox="1"/>
          <p:nvPr/>
        </p:nvSpPr>
        <p:spPr>
          <a:xfrm>
            <a:off x="4994511" y="3369285"/>
            <a:ext cx="2027833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aisight Fast-Track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도입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7" name="Google Shape;142;p13">
            <a:extLst>
              <a:ext uri="{FF2B5EF4-FFF2-40B4-BE49-F238E27FC236}">
                <a16:creationId xmlns:a16="http://schemas.microsoft.com/office/drawing/2014/main" id="{D6E8ED4F-6913-0DFC-3952-D887BA73F311}"/>
              </a:ext>
            </a:extLst>
          </p:cNvPr>
          <p:cNvSpPr txBox="1"/>
          <p:nvPr/>
        </p:nvSpPr>
        <p:spPr>
          <a:xfrm>
            <a:off x="4842776" y="3637642"/>
            <a:ext cx="3894824" cy="1050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0000" indent="-100000">
              <a:lnSpc>
                <a:spcPct val="170000"/>
              </a:lnSpc>
              <a:spcAft>
                <a:spcPts val="200"/>
              </a:spcAft>
              <a:buClr>
                <a:schemeClr val="bg1"/>
              </a:buClr>
              <a:buFont typeface="Arial"/>
              <a:buChar char="•"/>
            </a:pPr>
            <a:r>
              <a:rPr lang="ko-KR" altLang="en-US" sz="800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데이터 이관 없이, 검증된 사내 대시보드를 그대로 연결</a:t>
            </a:r>
          </a:p>
          <a:p>
            <a:pPr marL="100000" indent="-100000">
              <a:lnSpc>
                <a:spcPct val="170000"/>
              </a:lnSpc>
              <a:spcAft>
                <a:spcPts val="200"/>
              </a:spcAft>
              <a:buClr>
                <a:schemeClr val="bg1"/>
              </a:buClr>
              <a:buFont typeface="Arial"/>
              <a:buChar char="•"/>
            </a:pPr>
            <a:r>
              <a:rPr lang="ko-KR" altLang="en-US" sz="800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핵심 대시보드 2~3개·단일 부서로 6주 내 성과 증명</a:t>
            </a:r>
          </a:p>
          <a:p>
            <a:pPr marL="100000" indent="-100000">
              <a:lnSpc>
                <a:spcPct val="170000"/>
              </a:lnSpc>
              <a:spcAft>
                <a:spcPts val="200"/>
              </a:spcAft>
              <a:buClr>
                <a:schemeClr val="bg1"/>
              </a:buClr>
              <a:buFont typeface="Arial"/>
              <a:buChar char="•"/>
            </a:pPr>
            <a:r>
              <a:rPr lang="ko-KR" altLang="en-US" sz="800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민감 데이터는 사내 sLLM에서 처리, 외부 API는 일반 작업에 한정 (Hybrid 라우팅)</a:t>
            </a:r>
          </a:p>
          <a:p>
            <a:pPr marL="100000" indent="-100000">
              <a:lnSpc>
                <a:spcPct val="170000"/>
              </a:lnSpc>
              <a:buClr>
                <a:schemeClr val="bg1"/>
              </a:buClr>
              <a:buFont typeface="Arial"/>
              <a:buChar char="•"/>
            </a:pPr>
            <a:r>
              <a:rPr lang="ko-KR" altLang="en-US" sz="800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작업 복잡도에 따라 LLM을 동적 분배하여 비용 최적화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33B1B94-E296-0B3E-0113-A16C4E625314}"/>
              </a:ext>
            </a:extLst>
          </p:cNvPr>
          <p:cNvSpPr/>
          <p:nvPr/>
        </p:nvSpPr>
        <p:spPr>
          <a:xfrm>
            <a:off x="7492963" y="1573338"/>
            <a:ext cx="663916" cy="229563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0D9488"/>
            </a:solidFill>
          </a:ln>
        </p:spPr>
        <p:txBody>
          <a:bodyPr wrap="none" lIns="0" tIns="18000" rIns="0" bIns="18000"/>
          <a:lstStyle/>
          <a:p>
            <a:pPr algn="ctr"/>
            <a:r>
              <a:rPr lang="en-US" altLang="ko-KR" sz="900" dirty="0">
                <a:solidFill>
                  <a:srgbClr val="0D9488"/>
                </a:solidFill>
                <a:ea typeface="SUIT ExtraBold" pitchFamily="50" charset="-127"/>
              </a:rPr>
              <a:t>Week</a:t>
            </a:r>
            <a:r>
              <a:rPr lang="ko-KR" altLang="en-US" sz="900" dirty="0">
                <a:solidFill>
                  <a:srgbClr val="0D9488"/>
                </a:solidFill>
                <a:ea typeface="SUIT ExtraBold" pitchFamily="50" charset="-127"/>
              </a:rPr>
              <a:t> </a:t>
            </a:r>
            <a:r>
              <a:rPr lang="en-US" altLang="ko-KR" sz="900" dirty="0">
                <a:solidFill>
                  <a:srgbClr val="0D9488"/>
                </a:solidFill>
                <a:ea typeface="SUIT ExtraBold" pitchFamily="50" charset="-127"/>
              </a:rPr>
              <a:t>7 ~</a:t>
            </a:r>
            <a:endParaRPr lang="ko-KR" altLang="en-US" sz="900" dirty="0">
              <a:solidFill>
                <a:srgbClr val="0D9488"/>
              </a:solidFill>
              <a:ea typeface="SUIT ExtraBold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930805-8772-38A9-3A45-91120A9A358F}"/>
              </a:ext>
            </a:extLst>
          </p:cNvPr>
          <p:cNvSpPr txBox="1"/>
          <p:nvPr/>
        </p:nvSpPr>
        <p:spPr>
          <a:xfrm>
            <a:off x="6798921" y="2180372"/>
            <a:ext cx="2052000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전사 확산</a:t>
            </a:r>
            <a:endParaRPr lang="en-US" altLang="ko-KR" sz="1000" dirty="0">
              <a:solidFill>
                <a:schemeClr val="tx1">
                  <a:lumMod val="95000"/>
                  <a:lumOff val="5000"/>
                </a:schemeClr>
              </a:solidFill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4" name="Google Shape;142;p13">
            <a:extLst>
              <a:ext uri="{FF2B5EF4-FFF2-40B4-BE49-F238E27FC236}">
                <a16:creationId xmlns:a16="http://schemas.microsoft.com/office/drawing/2014/main" id="{9762FF43-E388-A19C-3D6F-9465DA5DF215}"/>
              </a:ext>
            </a:extLst>
          </p:cNvPr>
          <p:cNvSpPr txBox="1"/>
          <p:nvPr/>
        </p:nvSpPr>
        <p:spPr>
          <a:xfrm>
            <a:off x="369094" y="2446949"/>
            <a:ext cx="187166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데이터 이관 없는 레거시 환경 진단</a:t>
            </a:r>
          </a:p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가장 </a:t>
            </a:r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파급력이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 큰 핵심 대시보드 선정</a:t>
            </a:r>
          </a:p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데이터 가시성 제약 및 보안 권한 매핑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6C30D8E-2E87-A09B-6E3F-667E42B5B226}"/>
              </a:ext>
            </a:extLst>
          </p:cNvPr>
          <p:cNvSpPr/>
          <p:nvPr/>
        </p:nvSpPr>
        <p:spPr>
          <a:xfrm>
            <a:off x="4333169" y="3754282"/>
            <a:ext cx="458012" cy="44296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900" dirty="0">
              <a:solidFill>
                <a:srgbClr val="0D9488"/>
              </a:solidFill>
            </a:endParaRPr>
          </a:p>
        </p:txBody>
      </p:sp>
      <p:sp>
        <p:nvSpPr>
          <p:cNvPr id="26" name="Google Shape;142;p13">
            <a:extLst>
              <a:ext uri="{FF2B5EF4-FFF2-40B4-BE49-F238E27FC236}">
                <a16:creationId xmlns:a16="http://schemas.microsoft.com/office/drawing/2014/main" id="{63AF2540-0993-4543-AFD9-E9E89D716290}"/>
              </a:ext>
            </a:extLst>
          </p:cNvPr>
          <p:cNvSpPr txBox="1"/>
          <p:nvPr/>
        </p:nvSpPr>
        <p:spPr>
          <a:xfrm>
            <a:off x="2617787" y="2424749"/>
            <a:ext cx="187166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비즈니스 도메인 맞춤형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Graph DB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셋업</a:t>
            </a:r>
          </a:p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타겟 사내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BI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연동 및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Skill Registry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등록</a:t>
            </a:r>
          </a:p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비용 최적화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Hybrid LLM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SUIT"/>
                <a:sym typeface="SUIT"/>
              </a:rPr>
              <a:t>라우팅 설정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SUIT"/>
              <a:sym typeface="SUIT"/>
            </a:endParaRPr>
          </a:p>
        </p:txBody>
      </p:sp>
      <p:sp>
        <p:nvSpPr>
          <p:cNvPr id="29" name="Google Shape;142;p13">
            <a:extLst>
              <a:ext uri="{FF2B5EF4-FFF2-40B4-BE49-F238E27FC236}">
                <a16:creationId xmlns:a16="http://schemas.microsoft.com/office/drawing/2014/main" id="{56943529-A139-A5BD-F27E-29EB1BEB61CC}"/>
              </a:ext>
            </a:extLst>
          </p:cNvPr>
          <p:cNvSpPr txBox="1"/>
          <p:nvPr/>
        </p:nvSpPr>
        <p:spPr>
          <a:xfrm>
            <a:off x="6979729" y="2424748"/>
            <a:ext cx="187166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성공 사례 기반 추가 대시보드 확장</a:t>
            </a:r>
          </a:p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ERP, CRM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등 타 시스템 스킬 추가 연동</a:t>
            </a:r>
          </a:p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aisight Space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기반 전사 지식 자산화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EB851C6-CE46-9028-1FE6-9689BC87CAF0}"/>
              </a:ext>
            </a:extLst>
          </p:cNvPr>
          <p:cNvSpPr/>
          <p:nvPr/>
        </p:nvSpPr>
        <p:spPr>
          <a:xfrm>
            <a:off x="4439830" y="3912416"/>
            <a:ext cx="264340" cy="140697"/>
          </a:xfrm>
          <a:prstGeom prst="rightArrow">
            <a:avLst>
              <a:gd name="adj1" fmla="val 17187"/>
              <a:gd name="adj2" fmla="val 5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D9488"/>
              </a:solidFill>
            </a:endParaRPr>
          </a:p>
        </p:txBody>
      </p:sp>
      <p:sp>
        <p:nvSpPr>
          <p:cNvPr id="11" name="TextBox PainBody">
            <a:extLst>
              <a:ext uri="{FF2B5EF4-FFF2-40B4-BE49-F238E27FC236}">
                <a16:creationId xmlns:a16="http://schemas.microsoft.com/office/drawing/2014/main" id="{783A0BA5-1F0B-49C7-BA34-9A5341C24F3C}"/>
              </a:ext>
            </a:extLst>
          </p:cNvPr>
          <p:cNvSpPr txBox="1"/>
          <p:nvPr/>
        </p:nvSpPr>
        <p:spPr>
          <a:xfrm>
            <a:off x="369094" y="3594100"/>
            <a:ext cx="3923506" cy="1143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00000" indent="-100000">
              <a:lnSpc>
                <a:spcPct val="170000"/>
              </a:lnSpc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UIT"/>
                <a:ea typeface="SUIT"/>
                <a:cs typeface="SUIT"/>
                <a:sym typeface="SUIT"/>
              </a:rPr>
              <a:t>AI 도입을 위해 전사 데이터 통합(EDW)부터 끝내야 한다는 부담</a:t>
            </a:r>
          </a:p>
          <a:p>
            <a:pPr marL="100000" indent="-100000">
              <a:lnSpc>
                <a:spcPct val="170000"/>
              </a:lnSpc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UIT"/>
                <a:ea typeface="SUIT"/>
                <a:cs typeface="SUIT"/>
                <a:sym typeface="SUIT"/>
              </a:rPr>
              <a:t>전사 확산을 목표로 진행하다 길어지는 PoC와 흐려지는 성과</a:t>
            </a:r>
          </a:p>
          <a:p>
            <a:pPr marL="100000" indent="-100000">
              <a:lnSpc>
                <a:spcPct val="170000"/>
              </a:lnSpc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UIT"/>
                <a:ea typeface="SUIT"/>
                <a:cs typeface="SUIT"/>
                <a:sym typeface="SUIT"/>
              </a:rPr>
              <a:t>사내 민감 데이터를 외부 상용 API에 노출하는 보안 리스크</a:t>
            </a:r>
          </a:p>
          <a:p>
            <a:pPr marL="100000" indent="-100000">
              <a:lnSpc>
                <a:spcPct val="170000"/>
              </a:lnSpc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UIT"/>
                <a:ea typeface="SUIT"/>
                <a:cs typeface="SUIT"/>
                <a:sym typeface="SUIT"/>
              </a:rPr>
              <a:t>사용량에 따라 예측·통제가 어려운 토큰 및 인프라 비용</a:t>
            </a:r>
          </a:p>
        </p:txBody>
      </p:sp>
      <p:sp>
        <p:nvSpPr>
          <p:cNvPr id="42" name="Google Shape;142;p13">
            <a:extLst>
              <a:ext uri="{FF2B5EF4-FFF2-40B4-BE49-F238E27FC236}">
                <a16:creationId xmlns:a16="http://schemas.microsoft.com/office/drawing/2014/main" id="{DCF333C8-4AC6-863C-8FE8-B654961F4FBE}"/>
              </a:ext>
            </a:extLst>
          </p:cNvPr>
          <p:cNvSpPr txBox="1"/>
          <p:nvPr/>
        </p:nvSpPr>
        <p:spPr>
          <a:xfrm>
            <a:off x="4803287" y="2398183"/>
            <a:ext cx="18669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핵심 부서 및 임원 대상 런칭</a:t>
            </a:r>
          </a:p>
          <a:p>
            <a:pPr marL="171450" indent="-171450">
              <a:lnSpc>
                <a:spcPct val="12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  <a:cs typeface="SUIT"/>
                <a:sym typeface="SUIT"/>
              </a:rPr>
              <a:t>선정 부서의 실제 업무에 바로 적용·검증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</p:spTree>
    <p:extLst>
      <p:ext uri="{BB962C8B-B14F-4D97-AF65-F5344CB8AC3E}">
        <p14:creationId xmlns:p14="http://schemas.microsoft.com/office/powerpoint/2010/main" val="3247127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C89C-3ACC-2E12-0ED5-C825BCD9F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13C619D-FAAF-8596-9096-A36EABF87AA3}"/>
              </a:ext>
            </a:extLst>
          </p:cNvPr>
          <p:cNvSpPr/>
          <p:nvPr/>
        </p:nvSpPr>
        <p:spPr>
          <a:xfrm>
            <a:off x="304134" y="1292159"/>
            <a:ext cx="8547258" cy="533803"/>
          </a:xfrm>
          <a:prstGeom prst="roundRect">
            <a:avLst>
              <a:gd name="adj" fmla="val 17476"/>
            </a:avLst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489910F-E28F-FCF3-4082-C51724BAED74}"/>
              </a:ext>
            </a:extLst>
          </p:cNvPr>
          <p:cNvSpPr/>
          <p:nvPr/>
        </p:nvSpPr>
        <p:spPr>
          <a:xfrm rot="16200000">
            <a:off x="44139" y="2195720"/>
            <a:ext cx="2571989" cy="205200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chemeClr val="bg1">
                  <a:lumMod val="65000"/>
                </a:schemeClr>
              </a:gs>
              <a:gs pos="1481">
                <a:schemeClr val="bg1">
                  <a:lumMod val="65000"/>
                </a:schemeClr>
              </a:gs>
              <a:gs pos="1482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9CB05B1E-E285-A063-C74F-C8704D820C57}"/>
              </a:ext>
            </a:extLst>
          </p:cNvPr>
          <p:cNvSpPr/>
          <p:nvPr/>
        </p:nvSpPr>
        <p:spPr>
          <a:xfrm rot="16200000">
            <a:off x="6538928" y="2183561"/>
            <a:ext cx="2571985" cy="205200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A795"/>
              </a:gs>
              <a:gs pos="1481">
                <a:srgbClr val="00A795"/>
              </a:gs>
              <a:gs pos="1482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BEB9D7F4-E964-2276-B480-D4148849FAE1}"/>
              </a:ext>
            </a:extLst>
          </p:cNvPr>
          <p:cNvSpPr/>
          <p:nvPr/>
        </p:nvSpPr>
        <p:spPr>
          <a:xfrm rot="16200000">
            <a:off x="4358191" y="2183563"/>
            <a:ext cx="2571989" cy="205200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3B82F6"/>
              </a:gs>
              <a:gs pos="1481">
                <a:srgbClr val="3B82F6"/>
              </a:gs>
              <a:gs pos="1482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5E43AFED-EA34-54DF-1BA1-19A0D6C2CDD7}"/>
              </a:ext>
            </a:extLst>
          </p:cNvPr>
          <p:cNvSpPr/>
          <p:nvPr/>
        </p:nvSpPr>
        <p:spPr>
          <a:xfrm rot="16200000">
            <a:off x="2177455" y="2183564"/>
            <a:ext cx="2571989" cy="205200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28090"/>
              </a:gs>
              <a:gs pos="1481">
                <a:srgbClr val="028090"/>
              </a:gs>
              <a:gs pos="1482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A96759D5-EA7E-BD99-1CAA-CB9E4379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err="1">
                <a:latin typeface="SUIT ExtraBold" pitchFamily="2" charset="-127"/>
                <a:ea typeface="SUIT ExtraBold" pitchFamily="2" charset="-127"/>
              </a:rPr>
              <a:t>aisight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엔터프라이즈 표준 구축 및 점진적 확산 로드맵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(12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개월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)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9A109130-B88A-FCE3-EA2A-F502FF13B8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  <a:cs typeface="+mn-cs"/>
              </a:rPr>
              <a:t>04 · Execution Strategy </a:t>
            </a:r>
          </a:p>
          <a:p>
            <a:endParaRPr lang="en-US" altLang="ko-KR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547DEC58-4DD8-3504-E776-5661C0A57FEC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88287-DC3C-DF53-2609-DEEDEBBF2DBF}"/>
              </a:ext>
            </a:extLst>
          </p:cNvPr>
          <p:cNvSpPr txBox="1"/>
          <p:nvPr/>
        </p:nvSpPr>
        <p:spPr>
          <a:xfrm>
            <a:off x="256032" y="647946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대규모 환경의 리스크를 최소화하기 위해 일괄 오픈하는 빅뱅(Big-</a:t>
            </a:r>
            <a:r>
              <a:rPr lang="ko-KR" altLang="ko-KR" sz="1100" b="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bang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) 방식을 지양합니다. </a:t>
            </a:r>
            <a:r>
              <a:rPr lang="ko-KR" altLang="ko-KR" sz="11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단위 업무 및 부서별로 </a:t>
            </a:r>
            <a:r>
              <a:rPr lang="ko-KR" altLang="en-US" sz="11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나</a:t>
            </a:r>
            <a:r>
              <a:rPr lang="ko-KR" altLang="ko-KR" sz="11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누어 애자일(</a:t>
            </a:r>
            <a:r>
              <a:rPr lang="ko-KR" altLang="ko-KR" sz="1100" i="0" dirty="0" err="1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Agile</a:t>
            </a:r>
            <a:r>
              <a:rPr lang="ko-KR" altLang="ko-KR" sz="11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)하게 릴리즈하고, 기 구축된 모듈을 지속적으로 업데이트(</a:t>
            </a:r>
            <a:r>
              <a:rPr lang="ko-KR" altLang="ko-KR" sz="1100" i="0" dirty="0" err="1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Iteration</a:t>
            </a:r>
            <a:r>
              <a:rPr lang="ko-KR" altLang="ko-KR" sz="1100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)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하며 확장해 나가는 유연하고 안전한 도입 모델을 적용합니다.</a:t>
            </a:r>
            <a:endParaRPr lang="ko-KR" altLang="en-US" sz="1100" dirty="0">
              <a:solidFill>
                <a:srgbClr val="0D9488"/>
              </a:solidFill>
              <a:latin typeface="+mn-ea"/>
              <a:ea typeface="+mn-ea"/>
            </a:endParaRPr>
          </a:p>
        </p:txBody>
      </p:sp>
      <p:sp>
        <p:nvSpPr>
          <p:cNvPr id="24" name="Google Shape;142;p13">
            <a:extLst>
              <a:ext uri="{FF2B5EF4-FFF2-40B4-BE49-F238E27FC236}">
                <a16:creationId xmlns:a16="http://schemas.microsoft.com/office/drawing/2014/main" id="{7AD31B85-4BF3-8DFD-80F7-35D7B8BFF996}"/>
              </a:ext>
            </a:extLst>
          </p:cNvPr>
          <p:cNvSpPr txBox="1"/>
          <p:nvPr/>
        </p:nvSpPr>
        <p:spPr>
          <a:xfrm>
            <a:off x="385463" y="2658659"/>
            <a:ext cx="1871663" cy="113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전사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IT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인프라 및 </a:t>
            </a:r>
            <a:r>
              <a:rPr lang="ko-KR" altLang="en-US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망분리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/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보안 정책 정밀 진단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현업 핵심 과제 도출 및 소규모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PoC(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기술 검증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)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수행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빅뱅 지양 및 부서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/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업무 단위 애자일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(Agile)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스프린트 기획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To-Be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아키텍처 및 데이터 파이프라인 마스터플랜 설계</a:t>
            </a:r>
            <a:endParaRPr lang="en-US" altLang="ko-KR" sz="6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0F2B81-C0D9-1FE4-C525-D4CA053E312A}"/>
              </a:ext>
            </a:extLst>
          </p:cNvPr>
          <p:cNvSpPr txBox="1"/>
          <p:nvPr/>
        </p:nvSpPr>
        <p:spPr>
          <a:xfrm>
            <a:off x="522886" y="1349312"/>
            <a:ext cx="1518976" cy="40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sz="1050" i="0" cap="all" dirty="0" err="1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Month</a:t>
            </a:r>
            <a:r>
              <a:rPr lang="ko-KR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 01 ~ 02</a:t>
            </a:r>
          </a:p>
          <a:p>
            <a:pPr algn="ctr">
              <a:spcBef>
                <a:spcPts val="150"/>
              </a:spcBef>
              <a:buNone/>
            </a:pPr>
            <a:r>
              <a:rPr lang="ko-KR" altLang="ko-KR" sz="80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PoC</a:t>
            </a:r>
            <a:r>
              <a:rPr lang="ko-KR" altLang="ko-KR" sz="80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&amp; Sprint </a:t>
            </a:r>
            <a:r>
              <a:rPr lang="ko-KR" altLang="ko-KR" sz="80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Plan</a:t>
            </a:r>
            <a:endParaRPr lang="ko-KR" altLang="ko-KR" sz="80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A2674A-CE5E-47C0-53B1-15D8FB59CF24}"/>
              </a:ext>
            </a:extLst>
          </p:cNvPr>
          <p:cNvSpPr txBox="1"/>
          <p:nvPr/>
        </p:nvSpPr>
        <p:spPr>
          <a:xfrm>
            <a:off x="2703735" y="1349312"/>
            <a:ext cx="1518976" cy="40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sz="1050" i="0" cap="all" dirty="0" err="1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Month</a:t>
            </a:r>
            <a:r>
              <a:rPr lang="ko-KR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 0</a:t>
            </a:r>
            <a:r>
              <a:rPr lang="en-US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3</a:t>
            </a:r>
            <a:r>
              <a:rPr lang="ko-KR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 ~ 0</a:t>
            </a:r>
            <a:r>
              <a:rPr lang="en-US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5</a:t>
            </a:r>
            <a:endParaRPr lang="ko-KR" altLang="ko-KR" sz="1050" i="0" cap="all" dirty="0">
              <a:solidFill>
                <a:srgbClr val="00A896"/>
              </a:solidFill>
              <a:effectLst/>
              <a:latin typeface="SUIT ExtraBold" pitchFamily="50" charset="-127"/>
              <a:ea typeface="SUIT ExtraBold" pitchFamily="50" charset="-127"/>
            </a:endParaRPr>
          </a:p>
          <a:p>
            <a:pPr algn="ctr">
              <a:spcBef>
                <a:spcPts val="150"/>
              </a:spcBef>
              <a:buNone/>
            </a:pPr>
            <a:r>
              <a:rPr lang="ko-KR" altLang="ko-KR" sz="80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Core</a:t>
            </a:r>
            <a:r>
              <a:rPr lang="ko-KR" altLang="ko-KR" sz="80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&amp; 1st </a:t>
            </a:r>
            <a:r>
              <a:rPr lang="ko-KR" altLang="ko-KR" sz="80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Release</a:t>
            </a:r>
            <a:endParaRPr lang="ko-KR" altLang="ko-KR" sz="80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87ADAE-2B6E-739F-B95C-B18EDD1D0165}"/>
              </a:ext>
            </a:extLst>
          </p:cNvPr>
          <p:cNvSpPr txBox="1"/>
          <p:nvPr/>
        </p:nvSpPr>
        <p:spPr>
          <a:xfrm>
            <a:off x="4884584" y="1349312"/>
            <a:ext cx="1518976" cy="40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sz="1050" i="0" cap="all" dirty="0" err="1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Month</a:t>
            </a:r>
            <a:r>
              <a:rPr lang="ko-KR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 0</a:t>
            </a:r>
            <a:r>
              <a:rPr lang="en-US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6</a:t>
            </a:r>
            <a:r>
              <a:rPr lang="ko-KR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 ~ </a:t>
            </a:r>
            <a:r>
              <a:rPr lang="en-US" altLang="ko-KR" sz="1050" cap="all" dirty="0">
                <a:solidFill>
                  <a:srgbClr val="00A896"/>
                </a:solidFill>
                <a:latin typeface="SUIT ExtraBold" pitchFamily="50" charset="-127"/>
                <a:ea typeface="SUIT ExtraBold" pitchFamily="50" charset="-127"/>
              </a:rPr>
              <a:t>10</a:t>
            </a:r>
            <a:endParaRPr lang="ko-KR" altLang="ko-KR" sz="1050" i="0" cap="all" dirty="0">
              <a:solidFill>
                <a:srgbClr val="00A896"/>
              </a:solidFill>
              <a:effectLst/>
              <a:latin typeface="SUIT ExtraBold" pitchFamily="50" charset="-127"/>
              <a:ea typeface="SUIT ExtraBold" pitchFamily="50" charset="-127"/>
            </a:endParaRPr>
          </a:p>
          <a:p>
            <a:pPr algn="ctr">
              <a:spcBef>
                <a:spcPts val="150"/>
              </a:spcBef>
              <a:buNone/>
            </a:pPr>
            <a:r>
              <a:rPr lang="ko-KR" altLang="ko-KR" sz="80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Iterative</a:t>
            </a:r>
            <a:r>
              <a:rPr lang="ko-KR" altLang="ko-KR" sz="80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80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Scale</a:t>
            </a:r>
            <a:r>
              <a:rPr lang="ko-KR" altLang="ko-KR" sz="80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80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Out</a:t>
            </a:r>
            <a:endParaRPr lang="ko-KR" altLang="ko-KR" sz="80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C7C7C9-7FB7-8C06-E43B-A18970A10DEA}"/>
              </a:ext>
            </a:extLst>
          </p:cNvPr>
          <p:cNvSpPr txBox="1"/>
          <p:nvPr/>
        </p:nvSpPr>
        <p:spPr>
          <a:xfrm>
            <a:off x="7065433" y="1349312"/>
            <a:ext cx="1518976" cy="40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sz="1050" i="0" cap="all" dirty="0" err="1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Month</a:t>
            </a:r>
            <a:r>
              <a:rPr lang="ko-KR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 1</a:t>
            </a:r>
            <a:r>
              <a:rPr lang="en-US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1</a:t>
            </a:r>
            <a:r>
              <a:rPr lang="ko-KR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 ~ </a:t>
            </a:r>
            <a:r>
              <a:rPr lang="en-US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1</a:t>
            </a:r>
            <a:r>
              <a:rPr lang="ko-KR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2</a:t>
            </a:r>
            <a:r>
              <a:rPr lang="en-US" altLang="ko-KR" sz="1050" i="0" cap="all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+</a:t>
            </a:r>
            <a:endParaRPr lang="ko-KR" altLang="ko-KR" sz="1050" i="0" cap="all" dirty="0">
              <a:solidFill>
                <a:srgbClr val="00A896"/>
              </a:solidFill>
              <a:effectLst/>
              <a:latin typeface="SUIT ExtraBold" pitchFamily="50" charset="-127"/>
              <a:ea typeface="SUIT ExtraBold" pitchFamily="50" charset="-127"/>
            </a:endParaRPr>
          </a:p>
          <a:p>
            <a:pPr algn="ctr">
              <a:spcBef>
                <a:spcPts val="150"/>
              </a:spcBef>
              <a:buNone/>
            </a:pPr>
            <a:r>
              <a:rPr lang="ko-KR" altLang="ko-KR" sz="80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Continuous</a:t>
            </a:r>
            <a:r>
              <a:rPr lang="ko-KR" altLang="ko-KR" sz="80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80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Ops</a:t>
            </a:r>
            <a:endParaRPr lang="ko-KR" altLang="ko-KR" sz="80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DC338A-98DC-9B8E-D8BC-61AC2927A4D3}"/>
              </a:ext>
            </a:extLst>
          </p:cNvPr>
          <p:cNvSpPr txBox="1"/>
          <p:nvPr/>
        </p:nvSpPr>
        <p:spPr>
          <a:xfrm>
            <a:off x="658451" y="2053746"/>
            <a:ext cx="156212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ko-KR" sz="600" i="0" dirty="0">
                <a:solidFill>
                  <a:srgbClr val="94A3B8"/>
                </a:solidFill>
                <a:effectLst/>
                <a:latin typeface="SUIT ExtraBold" pitchFamily="50" charset="-127"/>
                <a:ea typeface="SUIT ExtraBold" pitchFamily="50" charset="-127"/>
              </a:rPr>
              <a:t>PHASE 01</a:t>
            </a:r>
          </a:p>
          <a:p>
            <a:pPr algn="l">
              <a:buNone/>
            </a:pP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환경 진단 및 애자일 계획</a:t>
            </a:r>
            <a:b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</a:b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(</a:t>
            </a:r>
            <a:r>
              <a:rPr lang="ko-KR" altLang="ko-KR" sz="9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Discovery</a:t>
            </a:r>
            <a:r>
              <a:rPr lang="ko-KR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&amp; Sprint </a:t>
            </a:r>
            <a:r>
              <a:rPr lang="ko-KR" altLang="ko-KR" sz="9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Plan</a:t>
            </a:r>
            <a:r>
              <a:rPr lang="ko-KR" altLang="ko-KR" sz="9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B7E05F-19D1-B244-7A82-25C0845CF8A1}"/>
              </a:ext>
            </a:extLst>
          </p:cNvPr>
          <p:cNvSpPr txBox="1"/>
          <p:nvPr/>
        </p:nvSpPr>
        <p:spPr>
          <a:xfrm>
            <a:off x="2791766" y="2040396"/>
            <a:ext cx="156212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ko-KR" sz="600" i="0" dirty="0">
                <a:solidFill>
                  <a:srgbClr val="94A3B8"/>
                </a:solidFill>
                <a:effectLst/>
                <a:latin typeface="SUIT ExtraBold" pitchFamily="50" charset="-127"/>
                <a:ea typeface="SUIT ExtraBold" pitchFamily="50" charset="-127"/>
              </a:rPr>
              <a:t>PHASE 01</a:t>
            </a:r>
          </a:p>
          <a:p>
            <a:pPr algn="l">
              <a:buNone/>
            </a:pPr>
            <a:r>
              <a:rPr lang="ko-KR" altLang="en-US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코어 셋업 및 </a:t>
            </a:r>
            <a:r>
              <a:rPr lang="en-US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1</a:t>
            </a:r>
            <a:r>
              <a:rPr lang="ko-KR" altLang="en-US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차 릴리즈</a:t>
            </a:r>
          </a:p>
          <a:p>
            <a:pPr algn="l">
              <a:buNone/>
            </a:pPr>
            <a:r>
              <a:rPr lang="en-US" altLang="ko-KR" sz="9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(Core Build &amp; 1st Sprint)</a:t>
            </a:r>
            <a:endParaRPr lang="ko-KR" altLang="ko-KR" sz="900" i="0" dirty="0">
              <a:solidFill>
                <a:srgbClr val="1E293B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6924B0-DEF4-293B-F86A-9C8812E10647}"/>
              </a:ext>
            </a:extLst>
          </p:cNvPr>
          <p:cNvSpPr txBox="1"/>
          <p:nvPr/>
        </p:nvSpPr>
        <p:spPr>
          <a:xfrm>
            <a:off x="4970653" y="2047592"/>
            <a:ext cx="156212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ko-KR" sz="600" i="0" dirty="0">
                <a:solidFill>
                  <a:srgbClr val="94A3B8"/>
                </a:solidFill>
                <a:effectLst/>
                <a:latin typeface="SUIT ExtraBold" pitchFamily="50" charset="-127"/>
                <a:ea typeface="SUIT ExtraBold" pitchFamily="50" charset="-127"/>
              </a:rPr>
              <a:t>PHASE 01</a:t>
            </a:r>
          </a:p>
          <a:p>
            <a:pPr algn="l">
              <a:buNone/>
            </a:pPr>
            <a:r>
              <a:rPr lang="ko-KR" altLang="en-US" sz="900" i="0" dirty="0">
                <a:solidFill>
                  <a:srgbClr val="1E293B"/>
                </a:solidFill>
                <a:effectLst/>
                <a:latin typeface="+mj-ea"/>
                <a:ea typeface="+mj-ea"/>
              </a:rPr>
              <a:t>단위별 확산 및 지속 개선</a:t>
            </a:r>
          </a:p>
          <a:p>
            <a:pPr algn="l">
              <a:buNone/>
            </a:pPr>
            <a:r>
              <a:rPr lang="en-US" altLang="ko-KR" sz="900" i="0" dirty="0">
                <a:solidFill>
                  <a:srgbClr val="1E293B"/>
                </a:solidFill>
                <a:effectLst/>
                <a:ea typeface="SUIT ExtraBold" pitchFamily="50" charset="-127"/>
              </a:rPr>
              <a:t>(Iterative Scale Out)</a:t>
            </a:r>
            <a:endParaRPr lang="ko-KR" altLang="ko-KR" sz="900" i="0" dirty="0">
              <a:solidFill>
                <a:srgbClr val="1E293B"/>
              </a:solidFill>
              <a:effectLst/>
              <a:ea typeface="SUIT ExtraBold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C47E9F-255C-12C4-3515-58D245D52343}"/>
              </a:ext>
            </a:extLst>
          </p:cNvPr>
          <p:cNvSpPr txBox="1"/>
          <p:nvPr/>
        </p:nvSpPr>
        <p:spPr>
          <a:xfrm>
            <a:off x="7153237" y="2047592"/>
            <a:ext cx="156212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ko-KR" sz="600" i="0" dirty="0">
                <a:solidFill>
                  <a:srgbClr val="94A3B8"/>
                </a:solidFill>
                <a:effectLst/>
                <a:latin typeface="SUIT ExtraBold" pitchFamily="50" charset="-127"/>
                <a:ea typeface="SUIT ExtraBold" pitchFamily="50" charset="-127"/>
              </a:rPr>
              <a:t>PHASE 01</a:t>
            </a:r>
          </a:p>
          <a:p>
            <a:pPr algn="l">
              <a:buNone/>
            </a:pPr>
            <a:r>
              <a:rPr lang="ko-KR" altLang="en-US" sz="900" i="0" dirty="0">
                <a:solidFill>
                  <a:srgbClr val="1E293B"/>
                </a:solidFill>
                <a:effectLst/>
                <a:ea typeface="SUIT" pitchFamily="2" charset="-127"/>
              </a:rPr>
              <a:t>전사 정착 및 </a:t>
            </a:r>
            <a:r>
              <a:rPr lang="en-US" altLang="ko-KR" sz="900" i="0" dirty="0">
                <a:solidFill>
                  <a:srgbClr val="1E293B"/>
                </a:solidFill>
                <a:effectLst/>
                <a:ea typeface="SUIT" pitchFamily="2" charset="-127"/>
              </a:rPr>
              <a:t>CI/CD </a:t>
            </a:r>
            <a:r>
              <a:rPr lang="ko-KR" altLang="en-US" sz="900" i="0" dirty="0">
                <a:solidFill>
                  <a:srgbClr val="1E293B"/>
                </a:solidFill>
                <a:effectLst/>
                <a:ea typeface="SUIT" pitchFamily="2" charset="-127"/>
              </a:rPr>
              <a:t>전환</a:t>
            </a:r>
          </a:p>
          <a:p>
            <a:pPr algn="l">
              <a:buNone/>
            </a:pPr>
            <a:r>
              <a:rPr lang="en-US" altLang="ko-KR" sz="900" i="0" dirty="0">
                <a:solidFill>
                  <a:srgbClr val="1E293B"/>
                </a:solidFill>
                <a:effectLst/>
                <a:ea typeface="SUIT" pitchFamily="2" charset="-127"/>
              </a:rPr>
              <a:t>(Continuous Operation)</a:t>
            </a:r>
            <a:endParaRPr lang="ko-KR" altLang="ko-KR" sz="900" i="0" dirty="0">
              <a:solidFill>
                <a:srgbClr val="1E293B"/>
              </a:solidFill>
              <a:effectLst/>
              <a:ea typeface="SUIT" pitchFamily="2" charset="-127"/>
            </a:endParaRPr>
          </a:p>
        </p:txBody>
      </p:sp>
      <p:sp>
        <p:nvSpPr>
          <p:cNvPr id="57" name="Google Shape;142;p13">
            <a:extLst>
              <a:ext uri="{FF2B5EF4-FFF2-40B4-BE49-F238E27FC236}">
                <a16:creationId xmlns:a16="http://schemas.microsoft.com/office/drawing/2014/main" id="{E47234DC-9E0A-5D6D-28F8-CB01148C854F}"/>
              </a:ext>
            </a:extLst>
          </p:cNvPr>
          <p:cNvSpPr txBox="1"/>
          <p:nvPr/>
        </p:nvSpPr>
        <p:spPr>
          <a:xfrm>
            <a:off x="2553338" y="2577868"/>
            <a:ext cx="187166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en-US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aisight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Ops / Work Space </a:t>
            </a:r>
            <a:r>
              <a:rPr lang="ko-KR" altLang="en-US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프라이빗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코어 인프라 셋업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우선순위가 가장 높은 선도 부서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1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개 타겟 데이터 연동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해당 업무 단위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(Task)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에 한정된 스킬 개발 및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Graph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모델링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1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차 스프린트 단위 산출물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(MVP)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오픈 및 현업 피드백 수집</a:t>
            </a:r>
            <a:endParaRPr lang="en-US" altLang="ko-KR" sz="6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58" name="Google Shape;142;p13">
            <a:extLst>
              <a:ext uri="{FF2B5EF4-FFF2-40B4-BE49-F238E27FC236}">
                <a16:creationId xmlns:a16="http://schemas.microsoft.com/office/drawing/2014/main" id="{99E6FE7D-3CC7-5816-CE0E-D11D3E82899C}"/>
              </a:ext>
            </a:extLst>
          </p:cNvPr>
          <p:cNvSpPr txBox="1"/>
          <p:nvPr/>
        </p:nvSpPr>
        <p:spPr>
          <a:xfrm>
            <a:off x="4721213" y="2577868"/>
            <a:ext cx="187166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타 부서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/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업무 단위로 애자일 스프린트 반복 및 순차적 릴리즈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기존 </a:t>
            </a:r>
            <a:r>
              <a:rPr lang="ko-KR" altLang="en-US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릴리즈된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뷰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(View)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및 분석 스킬의 지속적 업데이트 병행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전사 이기종 데이터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(ERP, CRM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등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)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심층 연동 확대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확장된 조직도 연동 및 세밀한 동적 접근 통제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(RBAC)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튜닝</a:t>
            </a:r>
            <a:endParaRPr lang="en-US" altLang="ko-KR" sz="6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59" name="Google Shape;142;p13">
            <a:extLst>
              <a:ext uri="{FF2B5EF4-FFF2-40B4-BE49-F238E27FC236}">
                <a16:creationId xmlns:a16="http://schemas.microsoft.com/office/drawing/2014/main" id="{264D1886-D018-856B-1A8C-53FDD3BF9235}"/>
              </a:ext>
            </a:extLst>
          </p:cNvPr>
          <p:cNvSpPr txBox="1"/>
          <p:nvPr/>
        </p:nvSpPr>
        <p:spPr>
          <a:xfrm>
            <a:off x="6889089" y="2577868"/>
            <a:ext cx="187166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전사 단위 </a:t>
            </a:r>
            <a:r>
              <a:rPr lang="en-US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aisight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Work Space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안착 및 파워 유저 양성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고객사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IT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팀 및 </a:t>
            </a:r>
            <a:r>
              <a:rPr lang="en-US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aisight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en-US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CoE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로의 점진적 시스템 인수인계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단발성 구축 종료가 아닌 </a:t>
            </a:r>
            <a:r>
              <a:rPr lang="ko-KR" altLang="en-US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무중단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CI/CD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체계로의 운영 전환</a:t>
            </a:r>
          </a:p>
          <a:p>
            <a:pPr marL="136525" indent="-136525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SUIT" pitchFamily="2" charset="-127"/>
              <a:buChar char="▶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SLA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기반 정규 유지보수 및 사내 모델 지속 </a:t>
            </a:r>
            <a:r>
              <a:rPr lang="ko-KR" altLang="en-US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파인튜닝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체계화</a:t>
            </a:r>
            <a:endParaRPr lang="en-US" altLang="ko-KR" sz="6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pic>
        <p:nvPicPr>
          <p:cNvPr id="61" name="그래픽 60">
            <a:extLst>
              <a:ext uri="{FF2B5EF4-FFF2-40B4-BE49-F238E27FC236}">
                <a16:creationId xmlns:a16="http://schemas.microsoft.com/office/drawing/2014/main" id="{E73BB8BE-17D7-BCB1-3664-2F38EF220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1800" y="2240328"/>
            <a:ext cx="228600" cy="228600"/>
          </a:xfrm>
          <a:prstGeom prst="rect">
            <a:avLst/>
          </a:prstGeom>
        </p:spPr>
      </p:pic>
      <p:pic>
        <p:nvPicPr>
          <p:cNvPr id="63" name="그래픽 62">
            <a:extLst>
              <a:ext uri="{FF2B5EF4-FFF2-40B4-BE49-F238E27FC236}">
                <a16:creationId xmlns:a16="http://schemas.microsoft.com/office/drawing/2014/main" id="{DE5F42AC-2A8D-990E-794C-723F5058A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1417" y="2224274"/>
            <a:ext cx="228600" cy="228600"/>
          </a:xfrm>
          <a:prstGeom prst="rect">
            <a:avLst/>
          </a:prstGeom>
        </p:spPr>
      </p:pic>
      <p:pic>
        <p:nvPicPr>
          <p:cNvPr id="67" name="그래픽 66">
            <a:extLst>
              <a:ext uri="{FF2B5EF4-FFF2-40B4-BE49-F238E27FC236}">
                <a16:creationId xmlns:a16="http://schemas.microsoft.com/office/drawing/2014/main" id="{69F4D613-082B-1C50-60B4-E053543E2F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977" y="2236400"/>
            <a:ext cx="228600" cy="228600"/>
          </a:xfrm>
          <a:prstGeom prst="rect">
            <a:avLst/>
          </a:prstGeom>
        </p:spPr>
      </p:pic>
      <p:pic>
        <p:nvPicPr>
          <p:cNvPr id="79" name="그래픽 78">
            <a:extLst>
              <a:ext uri="{FF2B5EF4-FFF2-40B4-BE49-F238E27FC236}">
                <a16:creationId xmlns:a16="http://schemas.microsoft.com/office/drawing/2014/main" id="{3BC84817-87AF-F813-B28F-DB1E4108BB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4884" y="2224274"/>
            <a:ext cx="228600" cy="228600"/>
          </a:xfrm>
          <a:prstGeom prst="rect">
            <a:avLst/>
          </a:prstGeom>
        </p:spPr>
      </p:pic>
      <p:sp>
        <p:nvSpPr>
          <p:cNvPr id="83" name="Shape 4">
            <a:extLst>
              <a:ext uri="{FF2B5EF4-FFF2-40B4-BE49-F238E27FC236}">
                <a16:creationId xmlns:a16="http://schemas.microsoft.com/office/drawing/2014/main" id="{DDC56198-3FCF-E6A7-A3F3-766267A7977F}"/>
              </a:ext>
            </a:extLst>
          </p:cNvPr>
          <p:cNvSpPr/>
          <p:nvPr/>
        </p:nvSpPr>
        <p:spPr>
          <a:xfrm rot="16200000">
            <a:off x="1108016" y="3265471"/>
            <a:ext cx="453517" cy="1771595"/>
          </a:xfrm>
          <a:prstGeom prst="roundRect">
            <a:avLst>
              <a:gd name="adj" fmla="val 15186"/>
            </a:avLst>
          </a:prstGeom>
          <a:solidFill>
            <a:srgbClr val="FFFBEB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4" name="Shape 4">
            <a:extLst>
              <a:ext uri="{FF2B5EF4-FFF2-40B4-BE49-F238E27FC236}">
                <a16:creationId xmlns:a16="http://schemas.microsoft.com/office/drawing/2014/main" id="{750581F9-31FA-F4A3-4AEB-4AB4A91B49AB}"/>
              </a:ext>
            </a:extLst>
          </p:cNvPr>
          <p:cNvSpPr/>
          <p:nvPr/>
        </p:nvSpPr>
        <p:spPr>
          <a:xfrm rot="16200000">
            <a:off x="3239708" y="3265471"/>
            <a:ext cx="453517" cy="1771595"/>
          </a:xfrm>
          <a:prstGeom prst="roundRect">
            <a:avLst>
              <a:gd name="adj" fmla="val 15186"/>
            </a:avLst>
          </a:prstGeom>
          <a:solidFill>
            <a:srgbClr val="FFFBEB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D193A1EE-10BA-CF49-0AA7-75EB8BDE74B1}"/>
              </a:ext>
            </a:extLst>
          </p:cNvPr>
          <p:cNvSpPr/>
          <p:nvPr/>
        </p:nvSpPr>
        <p:spPr>
          <a:xfrm rot="16200000">
            <a:off x="5417120" y="3265472"/>
            <a:ext cx="453517" cy="1771595"/>
          </a:xfrm>
          <a:prstGeom prst="roundRect">
            <a:avLst>
              <a:gd name="adj" fmla="val 15186"/>
            </a:avLst>
          </a:prstGeom>
          <a:solidFill>
            <a:srgbClr val="FFFBEB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6" name="Shape 4">
            <a:extLst>
              <a:ext uri="{FF2B5EF4-FFF2-40B4-BE49-F238E27FC236}">
                <a16:creationId xmlns:a16="http://schemas.microsoft.com/office/drawing/2014/main" id="{D562E550-B265-23A6-1F47-7D5ED9A3647F}"/>
              </a:ext>
            </a:extLst>
          </p:cNvPr>
          <p:cNvSpPr/>
          <p:nvPr/>
        </p:nvSpPr>
        <p:spPr>
          <a:xfrm rot="16200000">
            <a:off x="7594532" y="3265472"/>
            <a:ext cx="453517" cy="1771595"/>
          </a:xfrm>
          <a:prstGeom prst="roundRect">
            <a:avLst>
              <a:gd name="adj" fmla="val 15186"/>
            </a:avLst>
          </a:prstGeom>
          <a:solidFill>
            <a:srgbClr val="FFFBEB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035F64-87BB-EF03-E368-8DD59B103B56}"/>
              </a:ext>
            </a:extLst>
          </p:cNvPr>
          <p:cNvSpPr txBox="1"/>
          <p:nvPr/>
        </p:nvSpPr>
        <p:spPr>
          <a:xfrm>
            <a:off x="777442" y="3921235"/>
            <a:ext cx="1371398" cy="47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700" b="1" i="0" cap="all" dirty="0" err="1">
                <a:solidFill>
                  <a:srgbClr val="B45309"/>
                </a:solidFill>
                <a:effectLst/>
                <a:latin typeface="+mj-ea"/>
                <a:ea typeface="+mj-ea"/>
              </a:rPr>
              <a:t>Milestone</a:t>
            </a:r>
            <a:r>
              <a:rPr lang="ko-KR" altLang="ko-KR" sz="700" b="1" i="0" cap="all" dirty="0">
                <a:solidFill>
                  <a:srgbClr val="B45309"/>
                </a:solidFill>
                <a:effectLst/>
                <a:latin typeface="+mj-ea"/>
                <a:ea typeface="+mj-ea"/>
              </a:rPr>
              <a:t> </a:t>
            </a:r>
            <a:endParaRPr lang="en-US" altLang="ko-KR" sz="700" b="1" i="0" cap="all" dirty="0">
              <a:solidFill>
                <a:srgbClr val="B45309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ko-KR" sz="700" b="1" i="0" dirty="0" err="1">
                <a:solidFill>
                  <a:srgbClr val="92400E"/>
                </a:solidFill>
                <a:effectLst/>
                <a:latin typeface="+mj-ea"/>
                <a:ea typeface="+mj-ea"/>
              </a:rPr>
              <a:t>PoC</a:t>
            </a:r>
            <a:r>
              <a:rPr lang="ko-KR" altLang="ko-KR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 검증 완료 및</a:t>
            </a:r>
            <a:br>
              <a:rPr lang="ko-KR" altLang="ko-KR" sz="700" dirty="0">
                <a:latin typeface="+mj-ea"/>
                <a:ea typeface="+mj-ea"/>
              </a:rPr>
            </a:br>
            <a:r>
              <a:rPr lang="ko-KR" altLang="ko-KR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단위별 릴리즈 계획 수립</a:t>
            </a:r>
            <a:endParaRPr lang="ko-KR" altLang="en-US" sz="700" dirty="0">
              <a:latin typeface="+mj-ea"/>
              <a:ea typeface="+mj-ea"/>
            </a:endParaRPr>
          </a:p>
        </p:txBody>
      </p:sp>
      <p:pic>
        <p:nvPicPr>
          <p:cNvPr id="93" name="그래픽 92" descr="배지 체크 표시1 단색으로 채워진">
            <a:extLst>
              <a:ext uri="{FF2B5EF4-FFF2-40B4-BE49-F238E27FC236}">
                <a16:creationId xmlns:a16="http://schemas.microsoft.com/office/drawing/2014/main" id="{2B73AF77-F959-BBE7-2638-76FCB60A5A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5590" y="3999676"/>
            <a:ext cx="180000" cy="1800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B818BE68-DBCD-07C3-77C1-7F808DEF3D4E}"/>
              </a:ext>
            </a:extLst>
          </p:cNvPr>
          <p:cNvSpPr txBox="1"/>
          <p:nvPr/>
        </p:nvSpPr>
        <p:spPr>
          <a:xfrm>
            <a:off x="2904998" y="3929624"/>
            <a:ext cx="1371398" cy="47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700" b="1" i="0" cap="all" dirty="0" err="1">
                <a:solidFill>
                  <a:srgbClr val="B45309"/>
                </a:solidFill>
                <a:effectLst/>
                <a:latin typeface="+mj-ea"/>
                <a:ea typeface="+mj-ea"/>
              </a:rPr>
              <a:t>Milestone</a:t>
            </a:r>
            <a:r>
              <a:rPr lang="ko-KR" altLang="ko-KR" sz="700" b="1" i="0" cap="all" dirty="0">
                <a:solidFill>
                  <a:srgbClr val="B45309"/>
                </a:solidFill>
                <a:effectLst/>
                <a:latin typeface="+mj-ea"/>
                <a:ea typeface="+mj-ea"/>
              </a:rPr>
              <a:t> </a:t>
            </a:r>
            <a:endParaRPr lang="en-US" altLang="ko-KR" sz="700" b="1" i="0" cap="all" dirty="0">
              <a:solidFill>
                <a:srgbClr val="B45309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코어 인프라 가동 및</a:t>
            </a:r>
          </a:p>
          <a:p>
            <a:pPr>
              <a:lnSpc>
                <a:spcPct val="120000"/>
              </a:lnSpc>
            </a:pPr>
            <a:r>
              <a:rPr lang="ko-KR" altLang="en-US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선도 업무 단위 </a:t>
            </a:r>
            <a:r>
              <a:rPr lang="en-US" altLang="ko-KR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1</a:t>
            </a:r>
            <a:r>
              <a:rPr lang="ko-KR" altLang="en-US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차 릴리즈</a:t>
            </a:r>
            <a:endParaRPr lang="ko-KR" altLang="en-US" sz="700" dirty="0">
              <a:latin typeface="+mj-ea"/>
              <a:ea typeface="+mj-ea"/>
            </a:endParaRPr>
          </a:p>
        </p:txBody>
      </p:sp>
      <p:pic>
        <p:nvPicPr>
          <p:cNvPr id="95" name="그래픽 94" descr="배지 체크 표시1 단색으로 채워진">
            <a:extLst>
              <a:ext uri="{FF2B5EF4-FFF2-40B4-BE49-F238E27FC236}">
                <a16:creationId xmlns:a16="http://schemas.microsoft.com/office/drawing/2014/main" id="{738CE8AF-2A39-C240-E1E4-88A937F0D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13146" y="3999676"/>
            <a:ext cx="180000" cy="1800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6A4230F7-8942-1388-9723-4D334B17F386}"/>
              </a:ext>
            </a:extLst>
          </p:cNvPr>
          <p:cNvSpPr txBox="1"/>
          <p:nvPr/>
        </p:nvSpPr>
        <p:spPr>
          <a:xfrm>
            <a:off x="5096752" y="3937362"/>
            <a:ext cx="1371398" cy="47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700" b="1" i="0" cap="all" dirty="0" err="1">
                <a:solidFill>
                  <a:srgbClr val="B45309"/>
                </a:solidFill>
                <a:effectLst/>
                <a:latin typeface="+mj-ea"/>
                <a:ea typeface="+mj-ea"/>
              </a:rPr>
              <a:t>Milestone</a:t>
            </a:r>
            <a:r>
              <a:rPr lang="ko-KR" altLang="ko-KR" sz="700" b="1" i="0" cap="all" dirty="0">
                <a:solidFill>
                  <a:srgbClr val="B45309"/>
                </a:solidFill>
                <a:effectLst/>
                <a:latin typeface="+mj-ea"/>
                <a:ea typeface="+mj-ea"/>
              </a:rPr>
              <a:t> </a:t>
            </a:r>
            <a:endParaRPr lang="en-US" altLang="ko-KR" sz="700" b="1" i="0" cap="all" dirty="0">
              <a:solidFill>
                <a:srgbClr val="B45309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다수 부서 점진적 확산 및</a:t>
            </a:r>
          </a:p>
          <a:p>
            <a:pPr>
              <a:lnSpc>
                <a:spcPct val="120000"/>
              </a:lnSpc>
            </a:pPr>
            <a:r>
              <a:rPr lang="ko-KR" altLang="en-US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버전 업데이트</a:t>
            </a:r>
            <a:r>
              <a:rPr lang="en-US" altLang="ko-KR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(CI/CD) </a:t>
            </a:r>
            <a:r>
              <a:rPr lang="ko-KR" altLang="en-US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가동</a:t>
            </a:r>
            <a:endParaRPr lang="ko-KR" altLang="en-US" sz="700" dirty="0">
              <a:latin typeface="+mj-ea"/>
              <a:ea typeface="+mj-ea"/>
            </a:endParaRPr>
          </a:p>
        </p:txBody>
      </p:sp>
      <p:pic>
        <p:nvPicPr>
          <p:cNvPr id="97" name="그래픽 96" descr="배지 체크 표시1 단색으로 채워진">
            <a:extLst>
              <a:ext uri="{FF2B5EF4-FFF2-40B4-BE49-F238E27FC236}">
                <a16:creationId xmlns:a16="http://schemas.microsoft.com/office/drawing/2014/main" id="{3228A011-A4DD-756F-B5BC-104FBC2EC8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4900" y="4007414"/>
            <a:ext cx="180000" cy="18000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18F3C05E-0624-32D3-B1C0-3A9566A413CB}"/>
              </a:ext>
            </a:extLst>
          </p:cNvPr>
          <p:cNvSpPr txBox="1"/>
          <p:nvPr/>
        </p:nvSpPr>
        <p:spPr>
          <a:xfrm>
            <a:off x="7259670" y="3937362"/>
            <a:ext cx="1371398" cy="47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700" b="1" i="0" cap="all" dirty="0" err="1">
                <a:solidFill>
                  <a:srgbClr val="B45309"/>
                </a:solidFill>
                <a:effectLst/>
                <a:latin typeface="+mj-ea"/>
                <a:ea typeface="+mj-ea"/>
              </a:rPr>
              <a:t>Milestone</a:t>
            </a:r>
            <a:r>
              <a:rPr lang="ko-KR" altLang="ko-KR" sz="700" b="1" i="0" cap="all" dirty="0">
                <a:solidFill>
                  <a:srgbClr val="B45309"/>
                </a:solidFill>
                <a:effectLst/>
                <a:latin typeface="+mj-ea"/>
                <a:ea typeface="+mj-ea"/>
              </a:rPr>
              <a:t> </a:t>
            </a:r>
            <a:endParaRPr lang="en-US" altLang="ko-KR" sz="700" b="1" cap="all" dirty="0">
              <a:solidFill>
                <a:srgbClr val="B45309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전사 자율 운영 체계 및</a:t>
            </a:r>
          </a:p>
          <a:p>
            <a:pPr>
              <a:lnSpc>
                <a:spcPct val="120000"/>
              </a:lnSpc>
            </a:pPr>
            <a:r>
              <a:rPr lang="ko-KR" altLang="en-US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지속 성장</a:t>
            </a:r>
            <a:r>
              <a:rPr lang="en-US" altLang="ko-KR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(CS) </a:t>
            </a:r>
            <a:r>
              <a:rPr lang="ko-KR" altLang="en-US" sz="700" b="1" i="0" dirty="0">
                <a:solidFill>
                  <a:srgbClr val="92400E"/>
                </a:solidFill>
                <a:effectLst/>
                <a:latin typeface="+mj-ea"/>
                <a:ea typeface="+mj-ea"/>
              </a:rPr>
              <a:t>궤도 안착</a:t>
            </a:r>
            <a:endParaRPr lang="ko-KR" altLang="en-US" sz="700" dirty="0">
              <a:latin typeface="+mj-ea"/>
              <a:ea typeface="+mj-ea"/>
            </a:endParaRPr>
          </a:p>
        </p:txBody>
      </p:sp>
      <p:pic>
        <p:nvPicPr>
          <p:cNvPr id="99" name="그래픽 98" descr="배지 체크 표시1 단색으로 채워진">
            <a:extLst>
              <a:ext uri="{FF2B5EF4-FFF2-40B4-BE49-F238E27FC236}">
                <a16:creationId xmlns:a16="http://schemas.microsoft.com/office/drawing/2014/main" id="{01F4C707-54BA-E389-6B3E-938A50A09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67818" y="4007414"/>
            <a:ext cx="180000" cy="180000"/>
          </a:xfrm>
          <a:prstGeom prst="rect">
            <a:avLst/>
          </a:prstGeom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DA35F41-82BF-3C48-EA8E-7F3FCEF9CAF3}"/>
              </a:ext>
            </a:extLst>
          </p:cNvPr>
          <p:cNvSpPr/>
          <p:nvPr/>
        </p:nvSpPr>
        <p:spPr>
          <a:xfrm>
            <a:off x="304135" y="4576763"/>
            <a:ext cx="8547258" cy="333004"/>
          </a:xfrm>
          <a:prstGeom prst="roundRect">
            <a:avLst>
              <a:gd name="adj" fmla="val 23144"/>
            </a:avLst>
          </a:prstGeom>
          <a:solidFill>
            <a:srgbClr val="1E293B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51255BE-3A00-FF93-D54C-3E77D5AE9D4E}"/>
              </a:ext>
            </a:extLst>
          </p:cNvPr>
          <p:cNvSpPr txBox="1"/>
          <p:nvPr/>
        </p:nvSpPr>
        <p:spPr>
          <a:xfrm>
            <a:off x="608709" y="4635298"/>
            <a:ext cx="18430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ko-KR" sz="900" i="0" dirty="0" err="1">
                <a:solidFill>
                  <a:srgbClr val="00E5FF"/>
                </a:solidFill>
                <a:effectLst/>
                <a:ea typeface="SUIT ExtraBold" pitchFamily="50" charset="-127"/>
              </a:rPr>
              <a:t>Sailingstone</a:t>
            </a:r>
            <a:r>
              <a:rPr lang="ko-KR" altLang="ko-KR" sz="900" i="0" dirty="0">
                <a:solidFill>
                  <a:srgbClr val="00E5FF"/>
                </a:solidFill>
                <a:effectLst/>
                <a:ea typeface="SUIT ExtraBold" pitchFamily="50" charset="-127"/>
              </a:rPr>
              <a:t> Enterprise </a:t>
            </a:r>
            <a:r>
              <a:rPr lang="ko-KR" altLang="ko-KR" sz="900" i="0" dirty="0" err="1">
                <a:solidFill>
                  <a:srgbClr val="00E5FF"/>
                </a:solidFill>
                <a:effectLst/>
                <a:ea typeface="SUIT ExtraBold" pitchFamily="50" charset="-127"/>
              </a:rPr>
              <a:t>전담팀</a:t>
            </a:r>
            <a:endParaRPr lang="ko-KR" altLang="ko-KR" sz="900" i="0" dirty="0">
              <a:solidFill>
                <a:srgbClr val="00E5FF"/>
              </a:solidFill>
              <a:effectLst/>
              <a:ea typeface="SUIT ExtraBold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608D940-174D-37B2-8FCD-1DD72DC75E3A}"/>
              </a:ext>
            </a:extLst>
          </p:cNvPr>
          <p:cNvSpPr txBox="1"/>
          <p:nvPr/>
        </p:nvSpPr>
        <p:spPr>
          <a:xfrm>
            <a:off x="2809748" y="4650759"/>
            <a:ext cx="598455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700" b="0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단순한 IT 시스템 구축(SI)을 넘어, </a:t>
            </a:r>
            <a:r>
              <a:rPr lang="ko-KR" altLang="ko-KR" sz="7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비즈니스 도메인 전문가와 데이터 엔지니어가 한 팀이 되어</a:t>
            </a:r>
            <a:r>
              <a:rPr lang="ko-KR" altLang="ko-KR" sz="700" b="0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 기획부터 전사 확산까지 리스크 없는 성공적인 데이터 혁신을 이끕니다.</a:t>
            </a:r>
            <a:endParaRPr lang="ko-KR" altLang="en-US" sz="700" dirty="0"/>
          </a:p>
        </p:txBody>
      </p:sp>
      <p:pic>
        <p:nvPicPr>
          <p:cNvPr id="73" name="그래픽 72">
            <a:extLst>
              <a:ext uri="{FF2B5EF4-FFF2-40B4-BE49-F238E27FC236}">
                <a16:creationId xmlns:a16="http://schemas.microsoft.com/office/drawing/2014/main" id="{4C64FF53-47E5-6EDC-18F8-2AEB7B339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4437" y="4658574"/>
            <a:ext cx="149816" cy="14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75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0F419-25F5-F90D-328B-5FD6A204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B38D1FA3-4F45-DD28-6882-371B0C4AA5A0}"/>
              </a:ext>
            </a:extLst>
          </p:cNvPr>
          <p:cNvSpPr/>
          <p:nvPr/>
        </p:nvSpPr>
        <p:spPr>
          <a:xfrm rot="16200000" flipV="1">
            <a:off x="-1141217" y="3166158"/>
            <a:ext cx="2965137" cy="18000"/>
          </a:xfrm>
          <a:prstGeom prst="rect">
            <a:avLst/>
          </a:prstGeom>
          <a:gradFill>
            <a:gsLst>
              <a:gs pos="2000">
                <a:srgbClr val="EBEFF5"/>
              </a:gs>
              <a:gs pos="32000">
                <a:srgbClr val="EBEFF5"/>
              </a:gs>
              <a:gs pos="100000">
                <a:srgbClr val="07D2C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A94C0F4F-00D3-B8D1-CA8E-9A5F7CA1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기존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BI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자산의 무손실 단계별 전환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(Phased Transition)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전략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8C1D36E5-BEA5-6877-658A-0219BCAAEB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  <a:cs typeface="+mn-cs"/>
              </a:rPr>
              <a:t>04 · Execution Strategy </a:t>
            </a:r>
          </a:p>
          <a:p>
            <a:endParaRPr lang="en-US" altLang="ko-KR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5EEB1FDD-0B2D-EFAC-8724-0663F80EF7BF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0044C-0961-B7C8-FB89-AEE11619C548}"/>
              </a:ext>
            </a:extLst>
          </p:cNvPr>
          <p:cNvSpPr txBox="1"/>
          <p:nvPr/>
        </p:nvSpPr>
        <p:spPr>
          <a:xfrm>
            <a:off x="256032" y="647946"/>
            <a:ext cx="8758428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기존 레거시 대시보드의 복잡도와 권한을 자동 분석하여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단순 </a:t>
            </a:r>
            <a:r>
              <a:rPr lang="ko-KR" altLang="ko-KR" sz="1100" b="1" i="0" dirty="0" err="1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KPI는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 뷰(</a:t>
            </a:r>
            <a:r>
              <a:rPr lang="ko-KR" altLang="ko-KR" sz="1100" b="1" i="0" dirty="0" err="1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View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)당 2~4시간 내외로 신속하게 마이그레이션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합니다. 일시에 폐기하는 빅뱅 방식의 리스크를 피해 하이브리드 병행 운영을 거치며, 수년에 걸쳐 설정된 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복잡한 권한 체계와 데이터 필터 로직을 100% 무손실 이관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하여 안전하게 전환합니다</a:t>
            </a:r>
            <a:endParaRPr lang="ko-KR" altLang="en-US" sz="1100" dirty="0">
              <a:solidFill>
                <a:srgbClr val="0D9488"/>
              </a:solidFill>
              <a:latin typeface="+mn-ea"/>
              <a:ea typeface="+mn-ea"/>
            </a:endParaRP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C8AED957-77C9-79B7-88DD-7A44A1CD89D2}"/>
              </a:ext>
            </a:extLst>
          </p:cNvPr>
          <p:cNvSpPr/>
          <p:nvPr/>
        </p:nvSpPr>
        <p:spPr>
          <a:xfrm rot="16200000">
            <a:off x="4886811" y="732885"/>
            <a:ext cx="3351809" cy="4497871"/>
          </a:xfrm>
          <a:prstGeom prst="roundRect">
            <a:avLst>
              <a:gd name="adj" fmla="val 2689"/>
            </a:avLst>
          </a:prstGeom>
          <a:gradFill rotWithShape="1">
            <a:gsLst>
              <a:gs pos="0">
                <a:srgbClr val="00D4C5"/>
              </a:gs>
              <a:gs pos="1137">
                <a:srgbClr val="00D4C5"/>
              </a:gs>
              <a:gs pos="1138">
                <a:srgbClr val="0F172A"/>
              </a:gs>
              <a:gs pos="100000">
                <a:srgbClr val="0F172A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64F7CC-9AC7-1465-F40D-D6B7C88C8080}"/>
              </a:ext>
            </a:extLst>
          </p:cNvPr>
          <p:cNvSpPr txBox="1"/>
          <p:nvPr/>
        </p:nvSpPr>
        <p:spPr>
          <a:xfrm>
            <a:off x="4488111" y="1504084"/>
            <a:ext cx="4269988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ko-KR" altLang="ko-KR" sz="11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기존 보안 및 권한 자산의 안전한 재활용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C3A74A3-65C9-CC77-65E0-0235A3A39C89}"/>
              </a:ext>
            </a:extLst>
          </p:cNvPr>
          <p:cNvSpPr/>
          <p:nvPr/>
        </p:nvSpPr>
        <p:spPr>
          <a:xfrm>
            <a:off x="4571999" y="2252947"/>
            <a:ext cx="1914525" cy="1546485"/>
          </a:xfrm>
          <a:prstGeom prst="roundRect">
            <a:avLst>
              <a:gd name="adj" fmla="val 2742"/>
            </a:avLst>
          </a:prstGeom>
          <a:solidFill>
            <a:srgbClr val="1D253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BF72C37-A6C2-CD49-36C6-18BC57A56D22}"/>
              </a:ext>
            </a:extLst>
          </p:cNvPr>
          <p:cNvSpPr txBox="1"/>
          <p:nvPr/>
        </p:nvSpPr>
        <p:spPr>
          <a:xfrm>
            <a:off x="385901" y="1182538"/>
            <a:ext cx="2321719" cy="35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ko-KR" sz="1200" b="1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Phased</a:t>
            </a:r>
            <a:r>
              <a:rPr lang="ko-KR" altLang="ko-KR" sz="12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1200" b="1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Transition</a:t>
            </a:r>
            <a:r>
              <a:rPr lang="ko-KR" altLang="ko-KR" sz="12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1200" b="1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Roadmap</a:t>
            </a:r>
            <a:endParaRPr lang="en-US" altLang="ko-KR" sz="1200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818CC339-A2F0-9A0E-28AC-8AB6145336DC}"/>
              </a:ext>
            </a:extLst>
          </p:cNvPr>
          <p:cNvSpPr/>
          <p:nvPr/>
        </p:nvSpPr>
        <p:spPr>
          <a:xfrm>
            <a:off x="274565" y="1341431"/>
            <a:ext cx="132291" cy="122243"/>
          </a:xfrm>
          <a:custGeom>
            <a:avLst/>
            <a:gdLst>
              <a:gd name="csX0" fmla="*/ 590550 w 742949"/>
              <a:gd name="csY0" fmla="*/ 95250 h 609600"/>
              <a:gd name="csX1" fmla="*/ 742950 w 742949"/>
              <a:gd name="csY1" fmla="*/ 95250 h 609600"/>
              <a:gd name="csX2" fmla="*/ 742950 w 742949"/>
              <a:gd name="csY2" fmla="*/ 0 h 609600"/>
              <a:gd name="csX3" fmla="*/ 495300 w 742949"/>
              <a:gd name="csY3" fmla="*/ 0 h 609600"/>
              <a:gd name="csX4" fmla="*/ 495300 w 742949"/>
              <a:gd name="csY4" fmla="*/ 171450 h 609600"/>
              <a:gd name="csX5" fmla="*/ 323850 w 742949"/>
              <a:gd name="csY5" fmla="*/ 171450 h 609600"/>
              <a:gd name="csX6" fmla="*/ 323850 w 742949"/>
              <a:gd name="csY6" fmla="*/ 342900 h 609600"/>
              <a:gd name="csX7" fmla="*/ 152400 w 742949"/>
              <a:gd name="csY7" fmla="*/ 342900 h 609600"/>
              <a:gd name="csX8" fmla="*/ 152400 w 742949"/>
              <a:gd name="csY8" fmla="*/ 514350 h 609600"/>
              <a:gd name="csX9" fmla="*/ 0 w 742949"/>
              <a:gd name="csY9" fmla="*/ 514350 h 609600"/>
              <a:gd name="csX10" fmla="*/ 0 w 742949"/>
              <a:gd name="csY10" fmla="*/ 609600 h 609600"/>
              <a:gd name="csX11" fmla="*/ 247650 w 742949"/>
              <a:gd name="csY11" fmla="*/ 609600 h 609600"/>
              <a:gd name="csX12" fmla="*/ 247650 w 742949"/>
              <a:gd name="csY12" fmla="*/ 438150 h 609600"/>
              <a:gd name="csX13" fmla="*/ 419100 w 742949"/>
              <a:gd name="csY13" fmla="*/ 438150 h 609600"/>
              <a:gd name="csX14" fmla="*/ 419100 w 742949"/>
              <a:gd name="csY14" fmla="*/ 266700 h 609600"/>
              <a:gd name="csX15" fmla="*/ 590550 w 742949"/>
              <a:gd name="csY15" fmla="*/ 266700 h 609600"/>
              <a:gd name="csX16" fmla="*/ 590550 w 742949"/>
              <a:gd name="csY16" fmla="*/ 95250 h 60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742949" h="609600">
                <a:moveTo>
                  <a:pt x="590550" y="95250"/>
                </a:moveTo>
                <a:lnTo>
                  <a:pt x="742950" y="95250"/>
                </a:lnTo>
                <a:lnTo>
                  <a:pt x="742950" y="0"/>
                </a:lnTo>
                <a:lnTo>
                  <a:pt x="495300" y="0"/>
                </a:lnTo>
                <a:lnTo>
                  <a:pt x="495300" y="171450"/>
                </a:lnTo>
                <a:lnTo>
                  <a:pt x="323850" y="171450"/>
                </a:lnTo>
                <a:lnTo>
                  <a:pt x="323850" y="342900"/>
                </a:lnTo>
                <a:lnTo>
                  <a:pt x="152400" y="342900"/>
                </a:lnTo>
                <a:lnTo>
                  <a:pt x="152400" y="514350"/>
                </a:lnTo>
                <a:lnTo>
                  <a:pt x="0" y="514350"/>
                </a:lnTo>
                <a:lnTo>
                  <a:pt x="0" y="609600"/>
                </a:lnTo>
                <a:lnTo>
                  <a:pt x="247650" y="609600"/>
                </a:lnTo>
                <a:lnTo>
                  <a:pt x="247650" y="438150"/>
                </a:lnTo>
                <a:lnTo>
                  <a:pt x="419100" y="438150"/>
                </a:lnTo>
                <a:lnTo>
                  <a:pt x="419100" y="266700"/>
                </a:lnTo>
                <a:lnTo>
                  <a:pt x="590550" y="266700"/>
                </a:lnTo>
                <a:lnTo>
                  <a:pt x="590550" y="95250"/>
                </a:lnTo>
                <a:close/>
              </a:path>
            </a:pathLst>
          </a:custGeom>
          <a:solidFill>
            <a:srgbClr val="0D948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826F295B-78C8-DE2F-6B51-5C80CE6D2DA1}"/>
              </a:ext>
            </a:extLst>
          </p:cNvPr>
          <p:cNvSpPr/>
          <p:nvPr/>
        </p:nvSpPr>
        <p:spPr>
          <a:xfrm>
            <a:off x="528776" y="1668669"/>
            <a:ext cx="3624124" cy="902316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EA913C5B-2EE1-B289-DC36-037D9CB3670E}"/>
              </a:ext>
            </a:extLst>
          </p:cNvPr>
          <p:cNvSpPr/>
          <p:nvPr/>
        </p:nvSpPr>
        <p:spPr>
          <a:xfrm>
            <a:off x="528776" y="2713753"/>
            <a:ext cx="3624124" cy="902316"/>
          </a:xfrm>
          <a:prstGeom prst="roundRect">
            <a:avLst>
              <a:gd name="adj" fmla="val 8431"/>
            </a:avLst>
          </a:prstGeom>
          <a:solidFill>
            <a:srgbClr val="F0FDFA"/>
          </a:solidFill>
          <a:ln w="6350" cap="flat" cmpd="sng" algn="ctr">
            <a:solidFill>
              <a:srgbClr val="13CE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CDD41D4A-FD3F-E194-93E7-1D363A21C90F}"/>
              </a:ext>
            </a:extLst>
          </p:cNvPr>
          <p:cNvSpPr/>
          <p:nvPr/>
        </p:nvSpPr>
        <p:spPr>
          <a:xfrm>
            <a:off x="528776" y="3758837"/>
            <a:ext cx="3624124" cy="902316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00BACEF-DF4B-0CC8-280F-954BEF98FD7E}"/>
              </a:ext>
            </a:extLst>
          </p:cNvPr>
          <p:cNvSpPr txBox="1"/>
          <p:nvPr/>
        </p:nvSpPr>
        <p:spPr>
          <a:xfrm>
            <a:off x="2167889" y="1692223"/>
            <a:ext cx="1838325" cy="309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UIT" panose="020F0502020204030204"/>
                <a:ea typeface="SUIT ExtraBold" panose="020B0200000000000000" pitchFamily="50" charset="-127"/>
              </a:rPr>
              <a:t>난이도 기반 선별적 마이그레이션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UIT" panose="020F0502020204030204"/>
              <a:ea typeface="SUIT ExtraBold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6A0F5AC-ED32-F999-35FE-9E2A770E7B99}"/>
              </a:ext>
            </a:extLst>
          </p:cNvPr>
          <p:cNvSpPr txBox="1"/>
          <p:nvPr/>
        </p:nvSpPr>
        <p:spPr>
          <a:xfrm>
            <a:off x="609744" y="1704370"/>
            <a:ext cx="2179791" cy="26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800" i="0" cap="all" dirty="0" err="1">
                <a:solidFill>
                  <a:srgbClr val="00A896"/>
                </a:solidFill>
                <a:effectLst/>
              </a:rPr>
              <a:t>Phase</a:t>
            </a:r>
            <a:r>
              <a:rPr lang="ko-KR" altLang="ko-KR" sz="800" i="0" cap="all" dirty="0">
                <a:solidFill>
                  <a:srgbClr val="00A896"/>
                </a:solidFill>
                <a:effectLst/>
              </a:rPr>
              <a:t> 01.</a:t>
            </a:r>
            <a:endParaRPr kumimoji="0" lang="ko-KR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SUIT" pitchFamily="2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C7CE722-0220-EFF8-A794-678E57956E4B}"/>
              </a:ext>
            </a:extLst>
          </p:cNvPr>
          <p:cNvSpPr txBox="1"/>
          <p:nvPr/>
        </p:nvSpPr>
        <p:spPr>
          <a:xfrm>
            <a:off x="643889" y="1989134"/>
            <a:ext cx="3362325" cy="50615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기존 대시보드 구조 및 권한을 </a:t>
            </a:r>
            <a:r>
              <a:rPr lang="ko-KR" altLang="ko-KR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AI가</a:t>
            </a:r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자동 분석하여, 단순 </a:t>
            </a:r>
            <a:r>
              <a:rPr lang="ko-KR" altLang="ko-KR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KPI와</a:t>
            </a:r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기본 리포트를 뷰(</a:t>
            </a:r>
            <a:r>
              <a:rPr lang="ko-KR" altLang="ko-KR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View</a:t>
            </a:r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)당 최소 2~4시간의 짧은 리드타임으로 마이그레이션하고 초기 성과(</a:t>
            </a:r>
            <a:r>
              <a:rPr lang="ko-KR" altLang="ko-KR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Quick</a:t>
            </a:r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Win</a:t>
            </a:r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)</a:t>
            </a:r>
            <a:r>
              <a:rPr lang="ko-KR" altLang="ko-KR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를</a:t>
            </a:r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확보합니다.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16" name="원형: 비어 있음 115">
            <a:extLst>
              <a:ext uri="{FF2B5EF4-FFF2-40B4-BE49-F238E27FC236}">
                <a16:creationId xmlns:a16="http://schemas.microsoft.com/office/drawing/2014/main" id="{62E8CE31-CCAA-D139-A086-6EDC6E5B2939}"/>
              </a:ext>
            </a:extLst>
          </p:cNvPr>
          <p:cNvSpPr/>
          <p:nvPr/>
        </p:nvSpPr>
        <p:spPr>
          <a:xfrm>
            <a:off x="269834" y="1803905"/>
            <a:ext cx="152398" cy="152398"/>
          </a:xfrm>
          <a:prstGeom prst="donut">
            <a:avLst>
              <a:gd name="adj" fmla="val 1555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7" name="원형: 비어 있음 116">
            <a:extLst>
              <a:ext uri="{FF2B5EF4-FFF2-40B4-BE49-F238E27FC236}">
                <a16:creationId xmlns:a16="http://schemas.microsoft.com/office/drawing/2014/main" id="{B6702136-2086-EFF8-F95D-44AAA3C7223F}"/>
              </a:ext>
            </a:extLst>
          </p:cNvPr>
          <p:cNvSpPr/>
          <p:nvPr/>
        </p:nvSpPr>
        <p:spPr>
          <a:xfrm>
            <a:off x="258161" y="2868629"/>
            <a:ext cx="152398" cy="152398"/>
          </a:xfrm>
          <a:prstGeom prst="donut">
            <a:avLst>
              <a:gd name="adj" fmla="val 15558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8" name="원형: 비어 있음 117">
            <a:extLst>
              <a:ext uri="{FF2B5EF4-FFF2-40B4-BE49-F238E27FC236}">
                <a16:creationId xmlns:a16="http://schemas.microsoft.com/office/drawing/2014/main" id="{E3A234E4-7D54-D273-3A81-A44784855005}"/>
              </a:ext>
            </a:extLst>
          </p:cNvPr>
          <p:cNvSpPr/>
          <p:nvPr/>
        </p:nvSpPr>
        <p:spPr>
          <a:xfrm>
            <a:off x="258618" y="3885157"/>
            <a:ext cx="152398" cy="152398"/>
          </a:xfrm>
          <a:prstGeom prst="donut">
            <a:avLst>
              <a:gd name="adj" fmla="val 15558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F9B0554-DC33-58FC-BBB9-49495E393E92}"/>
              </a:ext>
            </a:extLst>
          </p:cNvPr>
          <p:cNvSpPr txBox="1"/>
          <p:nvPr/>
        </p:nvSpPr>
        <p:spPr>
          <a:xfrm>
            <a:off x="2016719" y="2773178"/>
            <a:ext cx="1989495" cy="309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000" b="1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하이브리드 병행 운영 및 권한 이관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UIT" panose="020F0502020204030204"/>
              <a:ea typeface="SUIT ExtraBold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11A5BA9-88C1-CF53-2BC5-A7958732E4D9}"/>
              </a:ext>
            </a:extLst>
          </p:cNvPr>
          <p:cNvSpPr txBox="1"/>
          <p:nvPr/>
        </p:nvSpPr>
        <p:spPr>
          <a:xfrm>
            <a:off x="609744" y="2785325"/>
            <a:ext cx="2179791" cy="26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800" i="0" cap="all" dirty="0" err="1">
                <a:solidFill>
                  <a:srgbClr val="1E293B"/>
                </a:solidFill>
                <a:effectLst/>
                <a:latin typeface="+mj-ea"/>
                <a:ea typeface="+mj-ea"/>
              </a:rPr>
              <a:t>Phase</a:t>
            </a:r>
            <a:r>
              <a:rPr lang="ko-KR" altLang="ko-KR" sz="800" i="0" cap="all" dirty="0">
                <a:solidFill>
                  <a:srgbClr val="1E293B"/>
                </a:solidFill>
                <a:effectLst/>
                <a:latin typeface="+mj-ea"/>
                <a:ea typeface="+mj-ea"/>
              </a:rPr>
              <a:t> 02. </a:t>
            </a:r>
            <a:endParaRPr kumimoji="0" lang="ko-KR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EC931F7-034F-4C3D-C2C4-98A06BB6C635}"/>
              </a:ext>
            </a:extLst>
          </p:cNvPr>
          <p:cNvSpPr txBox="1"/>
          <p:nvPr/>
        </p:nvSpPr>
        <p:spPr>
          <a:xfrm>
            <a:off x="643889" y="3070089"/>
            <a:ext cx="3362325" cy="346115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복잡한 </a:t>
            </a:r>
            <a:r>
              <a:rPr lang="ko-KR" altLang="en-US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레거시는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대시보드 내에 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Agent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를 탑재해 병행 운영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(Hybrid)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하며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기존 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BI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의 조직도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, RLS 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등 보안 필터 로직을 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1:1 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무손실 동기화합니다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1271CE1-C660-16B1-EC85-B32FAF50491C}"/>
              </a:ext>
            </a:extLst>
          </p:cNvPr>
          <p:cNvSpPr txBox="1"/>
          <p:nvPr/>
        </p:nvSpPr>
        <p:spPr>
          <a:xfrm>
            <a:off x="2167889" y="3791334"/>
            <a:ext cx="1838325" cy="309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UIT" panose="020F0502020204030204"/>
                <a:ea typeface="SUIT ExtraBold" panose="020B0200000000000000" pitchFamily="50" charset="-127"/>
              </a:rPr>
              <a:t>자율 분석 환경으로의 완전 전환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UIT" panose="020F0502020204030204"/>
              <a:ea typeface="SUIT ExtraBold" panose="020B0200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1C73F9E-C9D4-FA4D-3C5B-B4AD8406FB91}"/>
              </a:ext>
            </a:extLst>
          </p:cNvPr>
          <p:cNvSpPr txBox="1"/>
          <p:nvPr/>
        </p:nvSpPr>
        <p:spPr>
          <a:xfrm>
            <a:off x="609744" y="3803481"/>
            <a:ext cx="2179791" cy="26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800" i="0" cap="all" dirty="0" err="1">
                <a:solidFill>
                  <a:srgbClr val="00A896"/>
                </a:solidFill>
                <a:effectLst/>
                <a:latin typeface="+mn-ea"/>
              </a:rPr>
              <a:t>Phase</a:t>
            </a:r>
            <a:r>
              <a:rPr lang="ko-KR" altLang="ko-KR" sz="800" i="0" cap="all" dirty="0">
                <a:solidFill>
                  <a:srgbClr val="00A896"/>
                </a:solidFill>
                <a:effectLst/>
                <a:latin typeface="+mn-ea"/>
              </a:rPr>
              <a:t> 03</a:t>
            </a:r>
            <a:r>
              <a:rPr lang="en-US" altLang="ko-KR" sz="800" i="0" cap="all" dirty="0">
                <a:solidFill>
                  <a:srgbClr val="00A896"/>
                </a:solidFill>
                <a:effectLst/>
                <a:latin typeface="+mn-ea"/>
              </a:rPr>
              <a:t>.</a:t>
            </a:r>
            <a:endParaRPr kumimoji="0" lang="ko-KR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ECD408A-2EA9-D515-EC71-43F0EA053926}"/>
              </a:ext>
            </a:extLst>
          </p:cNvPr>
          <p:cNvSpPr txBox="1"/>
          <p:nvPr/>
        </p:nvSpPr>
        <p:spPr>
          <a:xfrm>
            <a:off x="643889" y="4088245"/>
            <a:ext cx="3362325" cy="346115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신규 분석 요건은 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100% </a:t>
            </a:r>
            <a:r>
              <a:rPr lang="en-US" altLang="ko-KR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aisight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Work Space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에서 소화하며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점진적인 고도화를 통해 기존 레거시 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BI</a:t>
            </a:r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의 유지보수 비용 및 의존도를 완전히 탈피합니다</a:t>
            </a:r>
            <a:r>
              <a:rPr lang="en-US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6" name="Shape 4">
            <a:extLst>
              <a:ext uri="{FF2B5EF4-FFF2-40B4-BE49-F238E27FC236}">
                <a16:creationId xmlns:a16="http://schemas.microsoft.com/office/drawing/2014/main" id="{C9A198F3-66F6-9E53-3199-EA0A60D4B3DF}"/>
              </a:ext>
            </a:extLst>
          </p:cNvPr>
          <p:cNvSpPr/>
          <p:nvPr/>
        </p:nvSpPr>
        <p:spPr>
          <a:xfrm>
            <a:off x="6647404" y="2247506"/>
            <a:ext cx="1914525" cy="1546485"/>
          </a:xfrm>
          <a:prstGeom prst="roundRect">
            <a:avLst>
              <a:gd name="adj" fmla="val 2742"/>
            </a:avLst>
          </a:prstGeom>
          <a:solidFill>
            <a:srgbClr val="1D253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30" name="그래픽 129">
            <a:extLst>
              <a:ext uri="{FF2B5EF4-FFF2-40B4-BE49-F238E27FC236}">
                <a16:creationId xmlns:a16="http://schemas.microsoft.com/office/drawing/2014/main" id="{745B5BE4-2FED-0AB0-4B2A-931343A321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8666" y="2339467"/>
            <a:ext cx="252000" cy="252000"/>
          </a:xfrm>
          <a:prstGeom prst="rect">
            <a:avLst/>
          </a:prstGeom>
        </p:spPr>
      </p:pic>
      <p:pic>
        <p:nvPicPr>
          <p:cNvPr id="132" name="그래픽 131">
            <a:extLst>
              <a:ext uri="{FF2B5EF4-FFF2-40B4-BE49-F238E27FC236}">
                <a16:creationId xmlns:a16="http://schemas.microsoft.com/office/drawing/2014/main" id="{0B8E5116-D114-0BBB-B461-5EBF0A9E53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3260" y="2351955"/>
            <a:ext cx="252000" cy="252000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F3EEE3CE-CB61-DD74-47EC-7853EF21ABD0}"/>
              </a:ext>
            </a:extLst>
          </p:cNvPr>
          <p:cNvSpPr txBox="1"/>
          <p:nvPr/>
        </p:nvSpPr>
        <p:spPr>
          <a:xfrm>
            <a:off x="4460298" y="1698649"/>
            <a:ext cx="4230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단순한 화면 이관을 넘어, 수년간 많은 시간과 비용을 들여 정립해 둔 복잡한 사내 데이터 접근 제어 및 필터 룰(</a:t>
            </a:r>
            <a:r>
              <a:rPr lang="ko-KR" altLang="ko-KR" sz="800" b="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Rule</a:t>
            </a:r>
            <a:r>
              <a:rPr lang="ko-KR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)을 폐기하지 않고 </a:t>
            </a:r>
            <a:r>
              <a:rPr lang="ko-KR" altLang="ko-KR" sz="800" b="1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aisight</a:t>
            </a:r>
            <a:r>
              <a:rPr lang="ko-KR" altLang="ko-KR" sz="800" b="1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800" b="1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Work</a:t>
            </a:r>
            <a:r>
              <a:rPr lang="ko-KR" altLang="ko-KR" sz="800" b="1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800" b="1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Space</a:t>
            </a:r>
            <a:r>
              <a:rPr lang="ko-KR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 환경으로 매끄럽고 안전하게 이식합니다.</a:t>
            </a:r>
            <a:endParaRPr lang="ko-KR" altLang="en-US" sz="800" b="0" dirty="0"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37" name="Shape 4">
            <a:extLst>
              <a:ext uri="{FF2B5EF4-FFF2-40B4-BE49-F238E27FC236}">
                <a16:creationId xmlns:a16="http://schemas.microsoft.com/office/drawing/2014/main" id="{19246F36-4140-84F7-5D08-586E746A206A}"/>
              </a:ext>
            </a:extLst>
          </p:cNvPr>
          <p:cNvSpPr/>
          <p:nvPr/>
        </p:nvSpPr>
        <p:spPr>
          <a:xfrm>
            <a:off x="5829300" y="2143336"/>
            <a:ext cx="1557337" cy="18920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txBody>
          <a:bodyPr wrap="none" lIns="0" tIns="18000" rIns="0" bIns="18000" anchor="ctr"/>
          <a:lstStyle/>
          <a:p>
            <a:pPr algn="ctr"/>
            <a:r>
              <a:rPr lang="ko-KR" altLang="ko-KR" sz="1000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1:1 </a:t>
            </a:r>
            <a:r>
              <a:rPr lang="ko-KR" altLang="ko-KR" sz="1000" i="0" dirty="0" err="1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Logic</a:t>
            </a:r>
            <a:r>
              <a:rPr lang="ko-KR" altLang="ko-KR" sz="1000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1000" i="0" dirty="0" err="1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Translation</a:t>
            </a:r>
            <a:endParaRPr lang="ko-KR" altLang="en-US" sz="900" dirty="0">
              <a:solidFill>
                <a:schemeClr val="bg1"/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611550B-D823-753D-49DA-B2B8C5BF1B38}"/>
              </a:ext>
            </a:extLst>
          </p:cNvPr>
          <p:cNvSpPr txBox="1"/>
          <p:nvPr/>
        </p:nvSpPr>
        <p:spPr>
          <a:xfrm>
            <a:off x="4571998" y="2599448"/>
            <a:ext cx="19145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ko-KR" altLang="ko-KR" sz="1050" b="1" i="0" dirty="0" err="1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Legacy</a:t>
            </a:r>
            <a:r>
              <a:rPr lang="ko-KR" altLang="ko-KR" sz="1050" b="1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 BI System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D178F6A-6615-D0EC-5577-1F6E0C72C033}"/>
              </a:ext>
            </a:extLst>
          </p:cNvPr>
          <p:cNvSpPr txBox="1"/>
          <p:nvPr/>
        </p:nvSpPr>
        <p:spPr>
          <a:xfrm>
            <a:off x="6647404" y="2599448"/>
            <a:ext cx="19145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ko-KR" altLang="ko-KR" sz="1050" b="1" i="0" dirty="0" err="1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ko-KR" altLang="ko-KR" sz="1050" b="1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ko-KR" sz="1050" b="1" i="0" dirty="0" err="1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Work</a:t>
            </a:r>
            <a:r>
              <a:rPr lang="ko-KR" altLang="ko-KR" sz="1050" b="1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ko-KR" sz="1050" b="1" i="0" dirty="0" err="1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Space</a:t>
            </a:r>
            <a:endParaRPr lang="ko-KR" altLang="ko-KR" sz="1050" b="1" i="0" dirty="0">
              <a:solidFill>
                <a:srgbClr val="FFFFFF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31B193E-F637-E2C7-1685-5402D2B6CEF6}"/>
              </a:ext>
            </a:extLst>
          </p:cNvPr>
          <p:cNvSpPr txBox="1"/>
          <p:nvPr/>
        </p:nvSpPr>
        <p:spPr>
          <a:xfrm>
            <a:off x="4635246" y="2861058"/>
            <a:ext cx="1851277" cy="104579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en-US" altLang="ko-KR" sz="800" b="1" dirty="0">
                <a:solidFill>
                  <a:srgbClr val="41C0C2"/>
                </a:solidFill>
                <a:latin typeface="SUIT"/>
              </a:rPr>
              <a:t>-</a:t>
            </a:r>
            <a:r>
              <a:rPr lang="ko-KR" altLang="en-US" sz="800" b="1" dirty="0">
                <a:solidFill>
                  <a:srgbClr val="41C0C2"/>
                </a:solidFill>
                <a:latin typeface="SUIT"/>
              </a:rPr>
              <a:t> 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 조직도</a:t>
            </a:r>
            <a:r>
              <a:rPr lang="en-US" altLang="ko-KR" sz="800" b="1" dirty="0">
                <a:solidFill>
                  <a:srgbClr val="FFFFFF"/>
                </a:solidFill>
                <a:latin typeface="SUIT"/>
              </a:rPr>
              <a:t>/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직급별 사용자 그룹</a:t>
            </a:r>
            <a:endParaRPr lang="en-US" altLang="ko-KR" sz="800" b="1" dirty="0">
              <a:solidFill>
                <a:srgbClr val="FFFFFF"/>
              </a:solidFill>
              <a:latin typeface="SUIT"/>
            </a:endParaRP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en-US" altLang="ko-KR" sz="800" b="1" dirty="0">
                <a:solidFill>
                  <a:srgbClr val="41C0C2"/>
                </a:solidFill>
                <a:latin typeface="SUIT"/>
              </a:rPr>
              <a:t>-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  행 수준 보안 </a:t>
            </a:r>
            <a:r>
              <a:rPr lang="en-US" altLang="ko-KR" sz="800" b="1" dirty="0">
                <a:solidFill>
                  <a:srgbClr val="FFFFFF"/>
                </a:solidFill>
                <a:latin typeface="SUIT"/>
              </a:rPr>
              <a:t>(RLS) 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규칙</a:t>
            </a: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en-US" altLang="ko-KR" sz="800" b="1" dirty="0">
                <a:solidFill>
                  <a:srgbClr val="41C0C2"/>
                </a:solidFill>
                <a:latin typeface="SUIT"/>
              </a:rPr>
              <a:t>-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  맞춤형 대시보드 </a:t>
            </a:r>
            <a:r>
              <a:rPr lang="ko-KR" altLang="en-US" sz="800" b="1" dirty="0">
                <a:solidFill>
                  <a:srgbClr val="FFFFFF"/>
                </a:solidFill>
              </a:rPr>
              <a:t>뷰 필터</a:t>
            </a: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en-US" altLang="ko-KR" sz="800" b="1" dirty="0">
                <a:solidFill>
                  <a:srgbClr val="41C0C2"/>
                </a:solidFill>
              </a:rPr>
              <a:t>-</a:t>
            </a:r>
            <a:r>
              <a:rPr lang="ko-KR" altLang="en-US" sz="800" b="1" dirty="0">
                <a:solidFill>
                  <a:srgbClr val="FFFFFF"/>
                </a:solidFill>
              </a:rPr>
              <a:t>  데이터 접근 제어 정책</a:t>
            </a:r>
          </a:p>
          <a:p>
            <a:pPr>
              <a:lnSpc>
                <a:spcPct val="150000"/>
              </a:lnSpc>
              <a:spcAft>
                <a:spcPts val="150"/>
              </a:spcAft>
            </a:pPr>
            <a:endParaRPr lang="ko-KR" altLang="en-US" sz="800" b="1" dirty="0">
              <a:solidFill>
                <a:srgbClr val="FFFFFF"/>
              </a:solidFill>
              <a:latin typeface="SUIT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44ECA06-0957-0CFC-E248-817492666CE8}"/>
              </a:ext>
            </a:extLst>
          </p:cNvPr>
          <p:cNvSpPr txBox="1"/>
          <p:nvPr/>
        </p:nvSpPr>
        <p:spPr>
          <a:xfrm>
            <a:off x="6723449" y="2872546"/>
            <a:ext cx="1851277" cy="104579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800" b="1" dirty="0">
                <a:solidFill>
                  <a:srgbClr val="41C0C2"/>
                </a:solidFill>
                <a:latin typeface="SUIT"/>
              </a:rPr>
              <a:t>✔ 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 </a:t>
            </a:r>
            <a:r>
              <a:rPr lang="en-US" altLang="ko-KR" sz="800" b="1" dirty="0">
                <a:solidFill>
                  <a:srgbClr val="FFFFFF"/>
                </a:solidFill>
                <a:latin typeface="SUIT"/>
              </a:rPr>
              <a:t>Work Space 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권한</a:t>
            </a:r>
            <a:r>
              <a:rPr lang="en-US" altLang="ko-KR" sz="800" b="1" dirty="0">
                <a:solidFill>
                  <a:srgbClr val="FFFFFF"/>
                </a:solidFill>
                <a:latin typeface="SUIT"/>
              </a:rPr>
              <a:t>(RBAC) 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자동 매핑</a:t>
            </a:r>
            <a:endParaRPr lang="en-US" altLang="ko-KR" sz="800" b="1" dirty="0">
              <a:solidFill>
                <a:srgbClr val="FFFFFF"/>
              </a:solidFill>
              <a:latin typeface="SUIT"/>
            </a:endParaRP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800" b="1" dirty="0">
                <a:solidFill>
                  <a:srgbClr val="41C0C2"/>
                </a:solidFill>
                <a:latin typeface="SUIT"/>
              </a:rPr>
              <a:t>✔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  </a:t>
            </a:r>
            <a:r>
              <a:rPr lang="en-US" altLang="ko-KR" sz="800" b="1" dirty="0">
                <a:solidFill>
                  <a:srgbClr val="FFFFFF"/>
                </a:solidFill>
                <a:latin typeface="SUIT"/>
              </a:rPr>
              <a:t>Agent 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쿼리 시 </a:t>
            </a:r>
            <a:r>
              <a:rPr lang="en-US" altLang="ko-KR" sz="800" b="1" dirty="0">
                <a:solidFill>
                  <a:srgbClr val="FFFFFF"/>
                </a:solidFill>
                <a:latin typeface="SUIT"/>
              </a:rPr>
              <a:t>RLS 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강제 주입</a:t>
            </a: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800" b="1" dirty="0">
                <a:solidFill>
                  <a:srgbClr val="41C0C2"/>
                </a:solidFill>
                <a:latin typeface="SUIT"/>
              </a:rPr>
              <a:t>✔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  사용자별 맞춤형 뷰</a:t>
            </a:r>
            <a:r>
              <a:rPr lang="en-US" altLang="ko-KR" sz="800" b="1" dirty="0">
                <a:solidFill>
                  <a:srgbClr val="FFFFFF"/>
                </a:solidFill>
                <a:latin typeface="SUIT"/>
              </a:rPr>
              <a:t>(View) </a:t>
            </a:r>
            <a:r>
              <a:rPr lang="ko-KR" altLang="en-US" sz="800" b="1" dirty="0">
                <a:solidFill>
                  <a:srgbClr val="FFFFFF"/>
                </a:solidFill>
                <a:latin typeface="SUIT"/>
              </a:rPr>
              <a:t>필터 적용</a:t>
            </a:r>
            <a:endParaRPr lang="ko-KR" altLang="en-US" sz="800" b="1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  <a:spcAft>
                <a:spcPts val="150"/>
              </a:spcAft>
            </a:pPr>
            <a:r>
              <a:rPr lang="ko-KR" altLang="en-US" sz="800" b="1" dirty="0">
                <a:solidFill>
                  <a:srgbClr val="41C0C2"/>
                </a:solidFill>
              </a:rPr>
              <a:t>✔</a:t>
            </a:r>
            <a:r>
              <a:rPr lang="ko-KR" altLang="en-US" sz="800" b="1" dirty="0">
                <a:solidFill>
                  <a:srgbClr val="FFFFFF"/>
                </a:solidFill>
              </a:rPr>
              <a:t>  안전하게 통제된 대시보드 환경</a:t>
            </a:r>
          </a:p>
          <a:p>
            <a:pPr>
              <a:lnSpc>
                <a:spcPct val="150000"/>
              </a:lnSpc>
              <a:spcAft>
                <a:spcPts val="150"/>
              </a:spcAft>
            </a:pPr>
            <a:endParaRPr lang="ko-KR" altLang="en-US" sz="800" b="1" dirty="0">
              <a:solidFill>
                <a:srgbClr val="FFFFFF"/>
              </a:solidFill>
              <a:latin typeface="SUIT"/>
            </a:endParaRPr>
          </a:p>
        </p:txBody>
      </p:sp>
      <p:sp>
        <p:nvSpPr>
          <p:cNvPr id="150" name="Shape 4">
            <a:extLst>
              <a:ext uri="{FF2B5EF4-FFF2-40B4-BE49-F238E27FC236}">
                <a16:creationId xmlns:a16="http://schemas.microsoft.com/office/drawing/2014/main" id="{9D9FC207-490C-0750-D7C1-8939CD1D5536}"/>
              </a:ext>
            </a:extLst>
          </p:cNvPr>
          <p:cNvSpPr/>
          <p:nvPr/>
        </p:nvSpPr>
        <p:spPr>
          <a:xfrm>
            <a:off x="4571997" y="3945438"/>
            <a:ext cx="3989932" cy="566604"/>
          </a:xfrm>
          <a:prstGeom prst="roundRect">
            <a:avLst>
              <a:gd name="adj" fmla="val 1126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3E620979-4E93-FF22-BD55-636953F8754E}"/>
              </a:ext>
            </a:extLst>
          </p:cNvPr>
          <p:cNvSpPr/>
          <p:nvPr/>
        </p:nvSpPr>
        <p:spPr>
          <a:xfrm>
            <a:off x="4669179" y="4227572"/>
            <a:ext cx="187699" cy="129043"/>
          </a:xfrm>
          <a:prstGeom prst="roundRect">
            <a:avLst>
              <a:gd name="adj" fmla="val 18181"/>
            </a:avLst>
          </a:prstGeom>
          <a:solidFill>
            <a:schemeClr val="bg1"/>
          </a:solidFill>
          <a:ln w="11509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자유형: 도형 156">
            <a:extLst>
              <a:ext uri="{FF2B5EF4-FFF2-40B4-BE49-F238E27FC236}">
                <a16:creationId xmlns:a16="http://schemas.microsoft.com/office/drawing/2014/main" id="{21826CCA-8680-194F-8CD3-B3B082BE8E8D}"/>
              </a:ext>
            </a:extLst>
          </p:cNvPr>
          <p:cNvSpPr/>
          <p:nvPr/>
        </p:nvSpPr>
        <p:spPr>
          <a:xfrm>
            <a:off x="4704373" y="4133722"/>
            <a:ext cx="117312" cy="93849"/>
          </a:xfrm>
          <a:custGeom>
            <a:avLst/>
            <a:gdLst>
              <a:gd name="csX0" fmla="*/ 0 w 117312"/>
              <a:gd name="csY0" fmla="*/ 93850 h 93849"/>
              <a:gd name="csX1" fmla="*/ 0 w 117312"/>
              <a:gd name="csY1" fmla="*/ 58656 h 93849"/>
              <a:gd name="csX2" fmla="*/ 58656 w 117312"/>
              <a:gd name="csY2" fmla="*/ 0 h 93849"/>
              <a:gd name="csX3" fmla="*/ 117312 w 117312"/>
              <a:gd name="csY3" fmla="*/ 58656 h 93849"/>
              <a:gd name="csX4" fmla="*/ 117312 w 117312"/>
              <a:gd name="csY4" fmla="*/ 93850 h 93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312" h="93849">
                <a:moveTo>
                  <a:pt x="0" y="93850"/>
                </a:moveTo>
                <a:lnTo>
                  <a:pt x="0" y="58656"/>
                </a:lnTo>
                <a:cubicBezTo>
                  <a:pt x="0" y="26261"/>
                  <a:pt x="26261" y="0"/>
                  <a:pt x="58656" y="0"/>
                </a:cubicBezTo>
                <a:cubicBezTo>
                  <a:pt x="91051" y="0"/>
                  <a:pt x="117312" y="26261"/>
                  <a:pt x="117312" y="58656"/>
                </a:cubicBezTo>
                <a:lnTo>
                  <a:pt x="117312" y="93850"/>
                </a:lnTo>
              </a:path>
            </a:pathLst>
          </a:custGeom>
          <a:noFill/>
          <a:ln w="28773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C97E73AF-04C3-84A5-C20C-E10DACCE7008}"/>
              </a:ext>
            </a:extLst>
          </p:cNvPr>
          <p:cNvSpPr txBox="1"/>
          <p:nvPr/>
        </p:nvSpPr>
        <p:spPr>
          <a:xfrm>
            <a:off x="4850582" y="3961773"/>
            <a:ext cx="376464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1" i="0" dirty="0">
                <a:solidFill>
                  <a:srgbClr val="00E5FF"/>
                </a:solidFill>
                <a:effectLst/>
                <a:latin typeface="SUIT" pitchFamily="2" charset="-127"/>
                <a:ea typeface="SUIT" pitchFamily="2" charset="-127"/>
              </a:rPr>
              <a:t>"권한 로직 재설계 제로, 보안 누락 제로“</a:t>
            </a:r>
            <a:endParaRPr lang="en-US" altLang="ko-KR" sz="1000" b="1" i="0" dirty="0">
              <a:solidFill>
                <a:srgbClr val="00E5FF"/>
              </a:solidFill>
              <a:effectLst/>
              <a:latin typeface="SUIT" pitchFamily="2" charset="-127"/>
              <a:ea typeface="SUIT" pitchFamily="2" charset="-127"/>
            </a:endParaRPr>
          </a:p>
          <a:p>
            <a:r>
              <a:rPr lang="en-US" altLang="ko-KR" sz="700" dirty="0"/>
              <a:t> </a:t>
            </a:r>
            <a:br>
              <a:rPr lang="ko-KR" altLang="ko-KR" sz="700" dirty="0"/>
            </a:br>
            <a:r>
              <a:rPr lang="ko-KR" altLang="ko-KR" sz="700" b="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도입 과정에서 IT/보안 부서가 복잡한 권한 체계와 필터 절차를 처음부터 다시 설계할 필요 없이 기존 룰(</a:t>
            </a:r>
            <a:r>
              <a:rPr lang="ko-KR" altLang="ko-KR" sz="700" b="0" i="0" dirty="0" err="1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Rule</a:t>
            </a:r>
            <a:r>
              <a:rPr lang="ko-KR" altLang="ko-KR" sz="700" b="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)을 그대로 매핑하며, 이 안전한 필터 정책은 AI 답변 생성 시에도 강제(</a:t>
            </a:r>
            <a:r>
              <a:rPr lang="ko-KR" altLang="ko-KR" sz="700" b="0" i="0" dirty="0" err="1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Enforce</a:t>
            </a:r>
            <a:r>
              <a:rPr lang="ko-KR" altLang="ko-KR" sz="700" b="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) 적용됩니다.</a:t>
            </a:r>
            <a:endParaRPr lang="ko-KR" altLang="en-US" sz="700" dirty="0"/>
          </a:p>
        </p:txBody>
      </p:sp>
      <p:sp>
        <p:nvSpPr>
          <p:cNvPr id="162" name="화살표: 오른쪽 161">
            <a:extLst>
              <a:ext uri="{FF2B5EF4-FFF2-40B4-BE49-F238E27FC236}">
                <a16:creationId xmlns:a16="http://schemas.microsoft.com/office/drawing/2014/main" id="{FA767702-212F-9B25-A495-81BE8631CDA6}"/>
              </a:ext>
            </a:extLst>
          </p:cNvPr>
          <p:cNvSpPr/>
          <p:nvPr/>
        </p:nvSpPr>
        <p:spPr>
          <a:xfrm>
            <a:off x="6378990" y="2445238"/>
            <a:ext cx="367449" cy="117358"/>
          </a:xfrm>
          <a:prstGeom prst="rightArrow">
            <a:avLst>
              <a:gd name="adj1" fmla="val 9987"/>
              <a:gd name="adj2" fmla="val 37403"/>
            </a:avLst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9895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35CD-0227-45A6-CC44-787E4991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D883027D-46AD-AF2A-0CAD-CDF5453A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엔터프라이즈 전담 파트너십 및 지속 성장 지원 체계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(Customer Success)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1A2A0D48-379F-D6D6-379A-940759251C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  <a:cs typeface="+mn-cs"/>
              </a:rPr>
              <a:t>04 · Execution Strategy </a:t>
            </a:r>
          </a:p>
          <a:p>
            <a:endParaRPr lang="en-US" altLang="ko-KR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2DB2E92B-EF38-CA8F-D67D-2A823120FEB0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F7473-7368-ED7A-2C28-5F2005FFAC1D}"/>
              </a:ext>
            </a:extLst>
          </p:cNvPr>
          <p:cNvSpPr txBox="1"/>
          <p:nvPr/>
        </p:nvSpPr>
        <p:spPr>
          <a:xfrm>
            <a:off x="256032" y="647946"/>
            <a:ext cx="8758428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R="0" indent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단순한 솔루션 납품으로 끝나지 않습니다. 도입 초기부터 정착, 확산에 이르기까지 </a:t>
            </a:r>
            <a:r>
              <a:rPr lang="ko-KR" altLang="ko-KR" sz="1100" b="1" i="0" dirty="0" err="1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Sailingstone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SUIT" pitchFamily="2" charset="-127"/>
                <a:ea typeface="SUIT" pitchFamily="2" charset="-127"/>
              </a:rPr>
              <a:t> 전담팀의 상주/비상주 밀착 지원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과</a:t>
            </a:r>
            <a:br>
              <a:rPr lang="ko-KR" altLang="ko-KR" sz="1100" dirty="0"/>
            </a:b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고객사 현업의 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역할을 명확히 구분한 하이브리드 거버넌스 체계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를 통해 지속적인 AI 성장을 약속합니다.</a:t>
            </a:r>
            <a:endParaRPr lang="ko-KR" altLang="en-US" sz="1100" dirty="0">
              <a:solidFill>
                <a:srgbClr val="0D9488"/>
              </a:solidFill>
              <a:latin typeface="+mn-ea"/>
              <a:ea typeface="+mn-ea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80E2756-3E85-9755-A51E-3A383CD85094}"/>
              </a:ext>
            </a:extLst>
          </p:cNvPr>
          <p:cNvSpPr/>
          <p:nvPr/>
        </p:nvSpPr>
        <p:spPr>
          <a:xfrm>
            <a:off x="222476" y="1305480"/>
            <a:ext cx="3972019" cy="2804161"/>
          </a:xfrm>
          <a:prstGeom prst="roundRect">
            <a:avLst>
              <a:gd name="adj" fmla="val 4794"/>
            </a:avLst>
          </a:prstGeom>
          <a:solidFill>
            <a:schemeClr val="bg1"/>
          </a:solidFill>
          <a:ln w="9525">
            <a:solidFill>
              <a:srgbClr val="41BFB1"/>
            </a:solidFill>
          </a:ln>
          <a:effectLst>
            <a:glow rad="139700">
              <a:srgbClr val="13CEC4">
                <a:alpha val="8000"/>
              </a:srgbClr>
            </a:glow>
          </a:effec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8482D8D-D366-EFAD-48FA-C258C6F648B1}"/>
              </a:ext>
            </a:extLst>
          </p:cNvPr>
          <p:cNvGrpSpPr/>
          <p:nvPr/>
        </p:nvGrpSpPr>
        <p:grpSpPr>
          <a:xfrm>
            <a:off x="222476" y="1305482"/>
            <a:ext cx="3972822" cy="418946"/>
            <a:chOff x="277659" y="1856168"/>
            <a:chExt cx="8595362" cy="568173"/>
          </a:xfrm>
          <a:solidFill>
            <a:srgbClr val="00A896"/>
          </a:solidFill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526A56B5-D465-C0A4-D709-E5F0002A8E70}"/>
                </a:ext>
              </a:extLst>
            </p:cNvPr>
            <p:cNvSpPr/>
            <p:nvPr/>
          </p:nvSpPr>
          <p:spPr>
            <a:xfrm rot="5400000">
              <a:off x="4331396" y="-2197569"/>
              <a:ext cx="487887" cy="8595361"/>
            </a:xfrm>
            <a:prstGeom prst="roundRect">
              <a:avLst>
                <a:gd name="adj" fmla="val 35968"/>
              </a:avLst>
            </a:prstGeom>
            <a:grpFill/>
            <a:ln w="12700">
              <a:solidFill>
                <a:srgbClr val="00A896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B173C5AA-0696-9876-F0C6-549FA6625A38}"/>
                </a:ext>
              </a:extLst>
            </p:cNvPr>
            <p:cNvSpPr/>
            <p:nvPr/>
          </p:nvSpPr>
          <p:spPr>
            <a:xfrm rot="16200000">
              <a:off x="4465822" y="-1982858"/>
              <a:ext cx="219037" cy="8595361"/>
            </a:xfrm>
            <a:prstGeom prst="rect">
              <a:avLst/>
            </a:prstGeom>
            <a:grpFill/>
            <a:ln w="12700">
              <a:solidFill>
                <a:srgbClr val="00A896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24" name="Shape 4">
            <a:extLst>
              <a:ext uri="{FF2B5EF4-FFF2-40B4-BE49-F238E27FC236}">
                <a16:creationId xmlns:a16="http://schemas.microsoft.com/office/drawing/2014/main" id="{E879CF94-C732-260E-E2E0-FAE0177117CB}"/>
              </a:ext>
            </a:extLst>
          </p:cNvPr>
          <p:cNvSpPr/>
          <p:nvPr/>
        </p:nvSpPr>
        <p:spPr>
          <a:xfrm>
            <a:off x="4941921" y="1305480"/>
            <a:ext cx="3972019" cy="2804161"/>
          </a:xfrm>
          <a:prstGeom prst="roundRect">
            <a:avLst>
              <a:gd name="adj" fmla="val 4794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glow rad="139700">
              <a:schemeClr val="bg1">
                <a:lumMod val="95000"/>
                <a:alpha val="8000"/>
              </a:schemeClr>
            </a:glow>
          </a:effec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BD0D32D-85C6-1ABC-9E34-234F6242F1A5}"/>
              </a:ext>
            </a:extLst>
          </p:cNvPr>
          <p:cNvGrpSpPr/>
          <p:nvPr/>
        </p:nvGrpSpPr>
        <p:grpSpPr>
          <a:xfrm>
            <a:off x="4941921" y="1305482"/>
            <a:ext cx="3972822" cy="418948"/>
            <a:chOff x="277659" y="1856168"/>
            <a:chExt cx="8595362" cy="568173"/>
          </a:xfrm>
          <a:solidFill>
            <a:srgbClr val="E2E8F0"/>
          </a:solidFill>
        </p:grpSpPr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FC1BFEA9-C6A5-CCE5-BAFD-965392BF5BE8}"/>
                </a:ext>
              </a:extLst>
            </p:cNvPr>
            <p:cNvSpPr/>
            <p:nvPr/>
          </p:nvSpPr>
          <p:spPr>
            <a:xfrm rot="5400000">
              <a:off x="4331396" y="-2197569"/>
              <a:ext cx="487887" cy="8595361"/>
            </a:xfrm>
            <a:prstGeom prst="roundRect">
              <a:avLst>
                <a:gd name="adj" fmla="val 35968"/>
              </a:avLst>
            </a:prstGeom>
            <a:grpFill/>
            <a:ln w="12700">
              <a:solidFill>
                <a:srgbClr val="E2E8F0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" name="Shape 4">
              <a:extLst>
                <a:ext uri="{FF2B5EF4-FFF2-40B4-BE49-F238E27FC236}">
                  <a16:creationId xmlns:a16="http://schemas.microsoft.com/office/drawing/2014/main" id="{7EFF7BDD-0069-1649-370E-ECA52AE50BCB}"/>
                </a:ext>
              </a:extLst>
            </p:cNvPr>
            <p:cNvSpPr/>
            <p:nvPr/>
          </p:nvSpPr>
          <p:spPr>
            <a:xfrm rot="16200000">
              <a:off x="4465822" y="-1982858"/>
              <a:ext cx="219037" cy="8595361"/>
            </a:xfrm>
            <a:prstGeom prst="rect">
              <a:avLst/>
            </a:prstGeom>
            <a:grpFill/>
            <a:ln w="12700">
              <a:solidFill>
                <a:srgbClr val="E2E8F0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B393E6B9-0588-3D60-E87C-59D386D2C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53" y="2137718"/>
            <a:ext cx="495343" cy="541067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5DA62975-696B-261C-074A-D036DBBF8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3130" y="1392303"/>
            <a:ext cx="273600" cy="273600"/>
          </a:xfrm>
          <a:prstGeom prst="rect">
            <a:avLst/>
          </a:prstGeom>
        </p:spPr>
      </p:pic>
      <p:pic>
        <p:nvPicPr>
          <p:cNvPr id="57" name="그래픽 56">
            <a:extLst>
              <a:ext uri="{FF2B5EF4-FFF2-40B4-BE49-F238E27FC236}">
                <a16:creationId xmlns:a16="http://schemas.microsoft.com/office/drawing/2014/main" id="{FEAE2B55-5402-0A06-3A79-8B16A0689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525" y="1390106"/>
            <a:ext cx="275124" cy="275124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4CC42E35-AE6B-DAFD-A5B3-E02F8F234989}"/>
              </a:ext>
            </a:extLst>
          </p:cNvPr>
          <p:cNvSpPr txBox="1"/>
          <p:nvPr/>
        </p:nvSpPr>
        <p:spPr>
          <a:xfrm>
            <a:off x="665649" y="1429740"/>
            <a:ext cx="1968494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l">
              <a:buNone/>
            </a:pPr>
            <a:r>
              <a:rPr lang="ko-KR" altLang="ko-KR" sz="1100" b="1" i="0" dirty="0" err="1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Sailingstone</a:t>
            </a:r>
            <a:r>
              <a:rPr lang="ko-KR" altLang="ko-KR" sz="11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 지원 (SI 파트너)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7D1FB895-2343-70C9-391C-68B3964F2DA5}"/>
              </a:ext>
            </a:extLst>
          </p:cNvPr>
          <p:cNvSpPr/>
          <p:nvPr/>
        </p:nvSpPr>
        <p:spPr>
          <a:xfrm>
            <a:off x="390525" y="1806362"/>
            <a:ext cx="3644580" cy="1045956"/>
          </a:xfrm>
          <a:prstGeom prst="roundRect">
            <a:avLst>
              <a:gd name="adj" fmla="val 4209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0687C4BD-EF73-463B-F500-B07234DE9D83}"/>
              </a:ext>
            </a:extLst>
          </p:cNvPr>
          <p:cNvSpPr/>
          <p:nvPr/>
        </p:nvSpPr>
        <p:spPr>
          <a:xfrm>
            <a:off x="390525" y="2992974"/>
            <a:ext cx="3644580" cy="1045956"/>
          </a:xfrm>
          <a:prstGeom prst="roundRect">
            <a:avLst>
              <a:gd name="adj" fmla="val 4209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E997DA29-D691-9A38-9BCB-BB14DB4A200C}"/>
              </a:ext>
            </a:extLst>
          </p:cNvPr>
          <p:cNvSpPr/>
          <p:nvPr/>
        </p:nvSpPr>
        <p:spPr>
          <a:xfrm>
            <a:off x="5106352" y="1806362"/>
            <a:ext cx="3644580" cy="1045956"/>
          </a:xfrm>
          <a:prstGeom prst="roundRect">
            <a:avLst>
              <a:gd name="adj" fmla="val 4209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C591E166-66CB-E0A8-9A23-1016A0F10895}"/>
              </a:ext>
            </a:extLst>
          </p:cNvPr>
          <p:cNvSpPr/>
          <p:nvPr/>
        </p:nvSpPr>
        <p:spPr>
          <a:xfrm>
            <a:off x="5106352" y="2992974"/>
            <a:ext cx="3644580" cy="1045956"/>
          </a:xfrm>
          <a:prstGeom prst="roundRect">
            <a:avLst>
              <a:gd name="adj" fmla="val 4209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354B4E1-DA0D-201C-4A22-FF86FAFD3E6A}"/>
              </a:ext>
            </a:extLst>
          </p:cNvPr>
          <p:cNvSpPr txBox="1"/>
          <p:nvPr/>
        </p:nvSpPr>
        <p:spPr>
          <a:xfrm>
            <a:off x="5447193" y="1436882"/>
            <a:ext cx="3363431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l">
              <a:buNone/>
            </a:pPr>
            <a:r>
              <a:rPr lang="ko-KR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고객사 운영 (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Client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CoE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)</a:t>
            </a:r>
            <a:r>
              <a:rPr lang="en-US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highlight>
                  <a:srgbClr val="C0C0C0"/>
                </a:highlight>
                <a:latin typeface="SUIT" pitchFamily="2" charset="-127"/>
                <a:ea typeface="SUIT" pitchFamily="2" charset="-127"/>
              </a:rPr>
              <a:t>BUSINESS &amp; GOV.</a:t>
            </a:r>
          </a:p>
        </p:txBody>
      </p:sp>
      <p:pic>
        <p:nvPicPr>
          <p:cNvPr id="36" name="그래픽 35">
            <a:extLst>
              <a:ext uri="{FF2B5EF4-FFF2-40B4-BE49-F238E27FC236}">
                <a16:creationId xmlns:a16="http://schemas.microsoft.com/office/drawing/2014/main" id="{5E80DF0F-EEFB-87B8-F0BB-6AC0BE5488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189" y="1890713"/>
            <a:ext cx="152400" cy="152400"/>
          </a:xfrm>
          <a:prstGeom prst="rect">
            <a:avLst/>
          </a:prstGeom>
        </p:spPr>
      </p:pic>
      <p:pic>
        <p:nvPicPr>
          <p:cNvPr id="74" name="그래픽 73">
            <a:extLst>
              <a:ext uri="{FF2B5EF4-FFF2-40B4-BE49-F238E27FC236}">
                <a16:creationId xmlns:a16="http://schemas.microsoft.com/office/drawing/2014/main" id="{EC4976E4-896C-A721-E568-AA6E2E36E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1674" y="3083260"/>
            <a:ext cx="152400" cy="152400"/>
          </a:xfrm>
          <a:prstGeom prst="rect">
            <a:avLst/>
          </a:prstGeom>
        </p:spPr>
      </p:pic>
      <p:pic>
        <p:nvPicPr>
          <p:cNvPr id="76" name="그래픽 75">
            <a:extLst>
              <a:ext uri="{FF2B5EF4-FFF2-40B4-BE49-F238E27FC236}">
                <a16:creationId xmlns:a16="http://schemas.microsoft.com/office/drawing/2014/main" id="{5822308D-10A3-1185-FE8B-A683833A73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765" y="3073708"/>
            <a:ext cx="152400" cy="152400"/>
          </a:xfrm>
          <a:prstGeom prst="rect">
            <a:avLst/>
          </a:prstGeom>
        </p:spPr>
      </p:pic>
      <p:sp>
        <p:nvSpPr>
          <p:cNvPr id="88" name="Shape 4">
            <a:extLst>
              <a:ext uri="{FF2B5EF4-FFF2-40B4-BE49-F238E27FC236}">
                <a16:creationId xmlns:a16="http://schemas.microsoft.com/office/drawing/2014/main" id="{B75CB088-9E00-03E1-D926-D3D871523445}"/>
              </a:ext>
            </a:extLst>
          </p:cNvPr>
          <p:cNvSpPr/>
          <p:nvPr/>
        </p:nvSpPr>
        <p:spPr>
          <a:xfrm>
            <a:off x="2684606" y="1407992"/>
            <a:ext cx="1383517" cy="238557"/>
          </a:xfrm>
          <a:prstGeom prst="roundRect">
            <a:avLst>
              <a:gd name="adj" fmla="val 49038"/>
            </a:avLst>
          </a:prstGeom>
          <a:solidFill>
            <a:srgbClr val="33B9AB"/>
          </a:solidFill>
          <a:ln>
            <a:noFill/>
          </a:ln>
        </p:spPr>
        <p:txBody>
          <a:bodyPr wrap="none" lIns="0" tIns="18000" rIns="0" bIns="1800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Urbanist"/>
              </a:rPr>
              <a:t>BI</a:t>
            </a:r>
            <a:r>
              <a:rPr lang="ko-KR" altLang="en-US" sz="1000" b="1" dirty="0">
                <a:solidFill>
                  <a:schemeClr val="bg1"/>
                </a:solidFill>
                <a:latin typeface="Urbanist"/>
              </a:rPr>
              <a:t> </a:t>
            </a:r>
            <a:r>
              <a:rPr lang="en-US" altLang="ko-KR" sz="1000" b="1" dirty="0">
                <a:solidFill>
                  <a:schemeClr val="bg1"/>
                </a:solidFill>
                <a:latin typeface="Urbanist"/>
              </a:rPr>
              <a:t>Consulting</a:t>
            </a:r>
            <a:r>
              <a:rPr lang="ko-KR" altLang="en-US" sz="1000" b="1" dirty="0">
                <a:solidFill>
                  <a:schemeClr val="bg1"/>
                </a:solidFill>
                <a:latin typeface="Urbanist"/>
              </a:rPr>
              <a:t> </a:t>
            </a:r>
            <a:r>
              <a:rPr lang="en-US" altLang="ko-KR" sz="1000" b="1" i="0" dirty="0">
                <a:solidFill>
                  <a:schemeClr val="bg1"/>
                </a:solidFill>
                <a:effectLst/>
                <a:latin typeface="Urbanist"/>
              </a:rPr>
              <a:t>&amp; TECH</a:t>
            </a:r>
            <a:endParaRPr lang="ko-KR" altLang="en-US" sz="900" dirty="0">
              <a:solidFill>
                <a:schemeClr val="bg1"/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90" name="Shape 4">
            <a:extLst>
              <a:ext uri="{FF2B5EF4-FFF2-40B4-BE49-F238E27FC236}">
                <a16:creationId xmlns:a16="http://schemas.microsoft.com/office/drawing/2014/main" id="{460D9191-72F5-CA4C-71E0-20EBEDBCE836}"/>
              </a:ext>
            </a:extLst>
          </p:cNvPr>
          <p:cNvSpPr/>
          <p:nvPr/>
        </p:nvSpPr>
        <p:spPr>
          <a:xfrm>
            <a:off x="2523085" y="3081074"/>
            <a:ext cx="1433289" cy="164889"/>
          </a:xfrm>
          <a:prstGeom prst="roundRect">
            <a:avLst>
              <a:gd name="adj" fmla="val 23043"/>
            </a:avLst>
          </a:prstGeom>
          <a:solidFill>
            <a:srgbClr val="DDEDFE"/>
          </a:solidFill>
          <a:ln>
            <a:noFill/>
          </a:ln>
        </p:spPr>
        <p:txBody>
          <a:bodyPr wrap="none" lIns="0" tIns="18000" rIns="0" bIns="18000" anchor="ctr"/>
          <a:lstStyle/>
          <a:p>
            <a:pPr algn="ctr"/>
            <a:r>
              <a:rPr lang="ko-KR" altLang="ko-KR" sz="800" b="1" i="0" dirty="0">
                <a:solidFill>
                  <a:srgbClr val="2563EB"/>
                </a:solidFill>
                <a:effectLst/>
                <a:latin typeface="Urbanist"/>
              </a:rPr>
              <a:t>MAINTENANCE &amp; UPDATE</a:t>
            </a:r>
            <a:endParaRPr lang="ko-KR" altLang="en-US" sz="700" dirty="0">
              <a:solidFill>
                <a:schemeClr val="accent4">
                  <a:lumMod val="7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FDF0399-FD97-3E70-A1B7-E27DBBFF9ED9}"/>
              </a:ext>
            </a:extLst>
          </p:cNvPr>
          <p:cNvSpPr txBox="1"/>
          <p:nvPr/>
        </p:nvSpPr>
        <p:spPr>
          <a:xfrm>
            <a:off x="569193" y="1866418"/>
            <a:ext cx="2074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ko-KR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상주 지원 (</a:t>
            </a:r>
            <a:r>
              <a:rPr lang="ko-KR" altLang="ko-KR" sz="900" b="1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On-site</a:t>
            </a:r>
            <a:r>
              <a:rPr lang="ko-KR" altLang="ko-KR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0E883A1-866B-B83B-4614-42C3D1958E3F}"/>
              </a:ext>
            </a:extLst>
          </p:cNvPr>
          <p:cNvSpPr txBox="1"/>
          <p:nvPr/>
        </p:nvSpPr>
        <p:spPr>
          <a:xfrm>
            <a:off x="594360" y="3059888"/>
            <a:ext cx="21242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비상주 지원 </a:t>
            </a:r>
            <a:r>
              <a:rPr lang="en-US" altLang="ko-KR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(Off-site / Cloud)</a:t>
            </a:r>
            <a:endParaRPr lang="ko-KR" altLang="ko-KR" sz="900" b="1" i="0" dirty="0">
              <a:solidFill>
                <a:srgbClr val="1E293B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1E0A7F1-9789-B306-7D6B-9EE4B7338FDB}"/>
              </a:ext>
            </a:extLst>
          </p:cNvPr>
          <p:cNvSpPr txBox="1"/>
          <p:nvPr/>
        </p:nvSpPr>
        <p:spPr>
          <a:xfrm>
            <a:off x="5287874" y="1866418"/>
            <a:ext cx="2074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비즈니스 현업 </a:t>
            </a:r>
            <a:r>
              <a:rPr lang="en-US" altLang="ko-KR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(Business Users)</a:t>
            </a:r>
            <a:endParaRPr lang="ko-KR" altLang="ko-KR" sz="900" b="1" i="0" dirty="0">
              <a:solidFill>
                <a:srgbClr val="1E293B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B140539-7CA2-1335-FC76-53AF98977D54}"/>
              </a:ext>
            </a:extLst>
          </p:cNvPr>
          <p:cNvSpPr txBox="1"/>
          <p:nvPr/>
        </p:nvSpPr>
        <p:spPr>
          <a:xfrm>
            <a:off x="5313041" y="3059888"/>
            <a:ext cx="21242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IT </a:t>
            </a:r>
            <a:r>
              <a:rPr lang="ko-KR" altLang="en-US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및 데이터 운영 </a:t>
            </a:r>
            <a:r>
              <a:rPr lang="en-US" altLang="ko-KR" sz="9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(IT / Data Team)</a:t>
            </a:r>
            <a:endParaRPr lang="ko-KR" altLang="ko-KR" sz="900" b="1" i="0" dirty="0">
              <a:solidFill>
                <a:srgbClr val="1E293B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pic>
        <p:nvPicPr>
          <p:cNvPr id="105" name="그래픽 104" descr="남자 옆모습 단색으로 채워진">
            <a:extLst>
              <a:ext uri="{FF2B5EF4-FFF2-40B4-BE49-F238E27FC236}">
                <a16:creationId xmlns:a16="http://schemas.microsoft.com/office/drawing/2014/main" id="{AF9AB26E-899E-F42C-4750-5681DCBF9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59808" y="1900611"/>
            <a:ext cx="140159" cy="151272"/>
          </a:xfrm>
          <a:prstGeom prst="rect">
            <a:avLst/>
          </a:prstGeom>
        </p:spPr>
      </p:pic>
      <p:pic>
        <p:nvPicPr>
          <p:cNvPr id="107" name="그래픽 106" descr="여성 프로필 단색으로 채워진">
            <a:extLst>
              <a:ext uri="{FF2B5EF4-FFF2-40B4-BE49-F238E27FC236}">
                <a16:creationId xmlns:a16="http://schemas.microsoft.com/office/drawing/2014/main" id="{13AE3EF8-04F9-CEF9-0952-46D1F6392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0444" y="1902174"/>
            <a:ext cx="140159" cy="151272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9D1898D0-DDB7-F240-FAEC-E5CAAA91C333}"/>
              </a:ext>
            </a:extLst>
          </p:cNvPr>
          <p:cNvSpPr txBox="1"/>
          <p:nvPr/>
        </p:nvSpPr>
        <p:spPr>
          <a:xfrm>
            <a:off x="430516" y="2157177"/>
            <a:ext cx="3525858" cy="65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기존 레거시 DB 및 </a:t>
            </a:r>
            <a:r>
              <a:rPr lang="ko-KR" altLang="ko-KR" sz="9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보안망</a:t>
            </a:r>
            <a:r>
              <a:rPr lang="ko-KR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연동 등 복잡도 높은 초기 아키텍처 셋업</a:t>
            </a:r>
            <a:endParaRPr lang="en-US" altLang="ko-KR" sz="9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현업의 요구사항을 반영한 고난도 핵심 분석 스킬(</a:t>
            </a:r>
            <a:r>
              <a:rPr lang="ko-KR" altLang="ko-KR" sz="9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Python</a:t>
            </a:r>
            <a:r>
              <a:rPr lang="ko-KR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/SQL) 개발</a:t>
            </a:r>
            <a:endParaRPr lang="en-US" altLang="ko-KR" sz="9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현업 핵심 유저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(Evangelist) 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대상 </a:t>
            </a:r>
            <a:r>
              <a:rPr lang="ko-KR" altLang="en-US" sz="9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온보딩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교육 및 밀착 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Q&amp;A 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지원</a:t>
            </a:r>
            <a:endParaRPr lang="en-US" altLang="ko-KR" sz="900" dirty="0">
              <a:solidFill>
                <a:schemeClr val="tx1">
                  <a:lumMod val="50000"/>
                  <a:lumOff val="50000"/>
                </a:schemeClr>
              </a:solidFill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3F91209-1DD2-9A88-CBC9-D0AB126D68D2}"/>
              </a:ext>
            </a:extLst>
          </p:cNvPr>
          <p:cNvSpPr txBox="1"/>
          <p:nvPr/>
        </p:nvSpPr>
        <p:spPr>
          <a:xfrm>
            <a:off x="445556" y="3322646"/>
            <a:ext cx="3525858" cy="65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전용 </a:t>
            </a:r>
            <a:r>
              <a:rPr lang="ko-KR" altLang="en-US" sz="9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헬프데스크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운영을 통한 신속한 원격 및 트러블슈팅 지원</a:t>
            </a:r>
          </a:p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상용 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LLM(GPT, Claude 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등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) 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신규 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API 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버전 패치 및 파이프라인 관리</a:t>
            </a:r>
          </a:p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Wingdings" panose="05000000000000000000" pitchFamily="2" charset="2"/>
              <a:buChar char="ü"/>
            </a:pP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사내 </a:t>
            </a:r>
            <a:r>
              <a:rPr lang="ko-KR" altLang="en-US" sz="9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폐쇄망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en-US" altLang="ko-KR" sz="9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sLLM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의 </a:t>
            </a:r>
            <a:r>
              <a:rPr lang="ko-KR" altLang="en-US" sz="9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백엔드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지속 </a:t>
            </a:r>
            <a:r>
              <a:rPr lang="ko-KR" altLang="en-US" sz="9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파인튜닝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및 정기 보안 패치 지원</a:t>
            </a:r>
            <a:endParaRPr lang="en-US" altLang="ko-KR" sz="900" dirty="0">
              <a:solidFill>
                <a:schemeClr val="tx1">
                  <a:lumMod val="50000"/>
                  <a:lumOff val="50000"/>
                </a:schemeClr>
              </a:solidFill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F32A8FB-5091-C2AE-1999-D26D06FAE28F}"/>
              </a:ext>
            </a:extLst>
          </p:cNvPr>
          <p:cNvSpPr txBox="1"/>
          <p:nvPr/>
        </p:nvSpPr>
        <p:spPr>
          <a:xfrm>
            <a:off x="5111006" y="2132274"/>
            <a:ext cx="3525858" cy="65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SUIT" pitchFamily="2" charset="-127"/>
              <a:buChar char="☞"/>
            </a:pP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데이터로 해결하고자 하는 핵심 비즈니스 지표 및 분석 요건 정의</a:t>
            </a:r>
          </a:p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SUIT" pitchFamily="2" charset="-127"/>
              <a:buChar char="☞"/>
            </a:pP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가 참조할 도메인 전문 지식 제공 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지식 위키화 및 문서 업데이트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)</a:t>
            </a:r>
          </a:p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SUIT" pitchFamily="2" charset="-127"/>
              <a:buChar char="☞"/>
            </a:pP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부서별 맞춤형 대시보드 기획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, AI 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산출물 검증 및 사내 활용 확산</a:t>
            </a:r>
            <a:endParaRPr lang="en-US" altLang="ko-KR" sz="900" dirty="0">
              <a:solidFill>
                <a:schemeClr val="tx1">
                  <a:lumMod val="50000"/>
                  <a:lumOff val="50000"/>
                </a:schemeClr>
              </a:solidFill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9D6DC0-323E-1587-B003-78B74797E683}"/>
              </a:ext>
            </a:extLst>
          </p:cNvPr>
          <p:cNvSpPr txBox="1"/>
          <p:nvPr/>
        </p:nvSpPr>
        <p:spPr>
          <a:xfrm>
            <a:off x="5132367" y="3316559"/>
            <a:ext cx="3525858" cy="65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SUIT" pitchFamily="2" charset="-127"/>
              <a:buChar char="☞"/>
            </a:pP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데이터로 해결하고자 하는 핵심 비즈니스 지표 및 분석 요건 정의</a:t>
            </a:r>
          </a:p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SUIT" pitchFamily="2" charset="-127"/>
              <a:buChar char="☞"/>
            </a:pP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가 참조할 도메인 전문 지식 제공 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(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지식 위키화 및 문서 업데이트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)</a:t>
            </a:r>
          </a:p>
          <a:p>
            <a:pPr marL="171450" indent="-171450">
              <a:lnSpc>
                <a:spcPct val="140000"/>
              </a:lnSpc>
              <a:buClr>
                <a:srgbClr val="0D9488"/>
              </a:buClr>
              <a:buFont typeface="SUIT" pitchFamily="2" charset="-127"/>
              <a:buChar char="☞"/>
            </a:pP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부서별 맞춤형 대시보드 기획</a:t>
            </a:r>
            <a:r>
              <a:rPr lang="en-US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, AI </a:t>
            </a:r>
            <a:r>
              <a:rPr lang="ko-KR" altLang="en-US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산출물 검증 및 사내 활용 확산</a:t>
            </a:r>
            <a:endParaRPr lang="en-US" altLang="ko-KR" sz="900" dirty="0">
              <a:solidFill>
                <a:schemeClr val="tx1">
                  <a:lumMod val="50000"/>
                  <a:lumOff val="50000"/>
                </a:schemeClr>
              </a:solidFill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131" name="Shape 4">
            <a:extLst>
              <a:ext uri="{FF2B5EF4-FFF2-40B4-BE49-F238E27FC236}">
                <a16:creationId xmlns:a16="http://schemas.microsoft.com/office/drawing/2014/main" id="{8869BAC5-E53E-949A-1822-89686CDA5B52}"/>
              </a:ext>
            </a:extLst>
          </p:cNvPr>
          <p:cNvSpPr/>
          <p:nvPr/>
        </p:nvSpPr>
        <p:spPr>
          <a:xfrm rot="16200000">
            <a:off x="4236732" y="218639"/>
            <a:ext cx="668718" cy="8685703"/>
          </a:xfrm>
          <a:prstGeom prst="roundRect">
            <a:avLst>
              <a:gd name="adj" fmla="val 13147"/>
            </a:avLst>
          </a:prstGeom>
          <a:gradFill rotWithShape="1">
            <a:gsLst>
              <a:gs pos="0">
                <a:srgbClr val="0F172A"/>
              </a:gs>
              <a:gs pos="100000">
                <a:srgbClr val="0F172A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FA10D3A-0000-3E4D-F403-07E6E2DAB5EB}"/>
              </a:ext>
            </a:extLst>
          </p:cNvPr>
          <p:cNvSpPr txBox="1"/>
          <p:nvPr/>
        </p:nvSpPr>
        <p:spPr>
          <a:xfrm>
            <a:off x="330156" y="4266700"/>
            <a:ext cx="12967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ko-KR" sz="1600" b="1" i="0" dirty="0">
                <a:solidFill>
                  <a:srgbClr val="FFFFFF"/>
                </a:solidFill>
                <a:effectLst/>
                <a:latin typeface="Urbanist"/>
              </a:rPr>
              <a:t>Enterprise</a:t>
            </a:r>
            <a:r>
              <a:rPr lang="en-US" altLang="ko-KR" sz="1600" b="1" i="0" dirty="0">
                <a:solidFill>
                  <a:srgbClr val="FFFFFF"/>
                </a:solidFill>
                <a:effectLst/>
                <a:latin typeface="Urbanist"/>
              </a:rPr>
              <a:t>  </a:t>
            </a:r>
          </a:p>
          <a:p>
            <a:pPr algn="l">
              <a:buNone/>
            </a:pPr>
            <a:r>
              <a:rPr lang="ko-KR" altLang="ko-KR" sz="1600" b="1" i="0" dirty="0" err="1">
                <a:solidFill>
                  <a:srgbClr val="00E5FF"/>
                </a:solidFill>
                <a:effectLst/>
                <a:latin typeface="Urbanist"/>
              </a:rPr>
              <a:t>Success</a:t>
            </a:r>
            <a:r>
              <a:rPr lang="ko-KR" altLang="ko-KR" sz="1600" b="1" i="0" dirty="0">
                <a:solidFill>
                  <a:srgbClr val="00E5FF"/>
                </a:solidFill>
                <a:effectLst/>
                <a:latin typeface="Urbanist"/>
              </a:rPr>
              <a:t> SLA</a:t>
            </a:r>
            <a:endParaRPr lang="ko-KR" altLang="ko-KR" sz="1600" b="1" i="0" dirty="0">
              <a:solidFill>
                <a:srgbClr val="FFFFFF"/>
              </a:solidFill>
              <a:effectLst/>
              <a:latin typeface="Urbanist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45B4E0B-0165-7CF6-2224-164996E13A25}"/>
              </a:ext>
            </a:extLst>
          </p:cNvPr>
          <p:cNvSpPr txBox="1"/>
          <p:nvPr/>
        </p:nvSpPr>
        <p:spPr>
          <a:xfrm>
            <a:off x="2096097" y="4287710"/>
            <a:ext cx="189954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ko-KR" sz="1050" i="0" dirty="0" err="1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Dedicated</a:t>
            </a:r>
            <a:r>
              <a:rPr lang="ko-KR" altLang="ko-KR" sz="105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 Tech </a:t>
            </a:r>
            <a:r>
              <a:rPr lang="ko-KR" altLang="ko-KR" sz="1050" i="0" dirty="0" err="1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Support</a:t>
            </a:r>
            <a:b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</a:b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고객사별 전담 기술 엔지니어 매핑 및</a:t>
            </a:r>
          </a:p>
          <a:p>
            <a:pPr algn="l">
              <a:spcAft>
                <a:spcPts val="300"/>
              </a:spcAft>
              <a:buNone/>
            </a:pP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전용 핫라인을 통한 밀착 기술 지원 약속</a:t>
            </a:r>
            <a:endParaRPr lang="ko-KR" altLang="ko-KR" sz="1000" b="0" i="0" dirty="0">
              <a:solidFill>
                <a:srgbClr val="94A3B8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8298E7A-07E0-571E-37FD-5604E622B386}"/>
              </a:ext>
            </a:extLst>
          </p:cNvPr>
          <p:cNvSpPr txBox="1"/>
          <p:nvPr/>
        </p:nvSpPr>
        <p:spPr>
          <a:xfrm>
            <a:off x="4437399" y="4287710"/>
            <a:ext cx="196226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altLang="ko-KR" sz="105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Continuous AI Update</a:t>
            </a:r>
            <a:b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</a:b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최신 상용 </a:t>
            </a:r>
            <a:r>
              <a:rPr lang="en-US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LLM </a:t>
            </a: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버전 자동 업데이트 및</a:t>
            </a:r>
          </a:p>
          <a:p>
            <a:pPr algn="l">
              <a:spcAft>
                <a:spcPts val="300"/>
              </a:spcAft>
              <a:buNone/>
            </a:pP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사내 </a:t>
            </a:r>
            <a:r>
              <a:rPr lang="en-US" altLang="ko-KR" sz="800" b="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sLLM</a:t>
            </a:r>
            <a:r>
              <a:rPr lang="en-US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지속 </a:t>
            </a:r>
            <a:r>
              <a:rPr lang="ko-KR" altLang="en-US" sz="800" b="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파인튜닝</a:t>
            </a: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지원</a:t>
            </a:r>
            <a:endParaRPr lang="ko-KR" altLang="ko-KR" sz="1000" b="0" i="0" dirty="0">
              <a:solidFill>
                <a:srgbClr val="94A3B8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BC6FB0D-20D9-38C0-F674-1477AC56AE3E}"/>
              </a:ext>
            </a:extLst>
          </p:cNvPr>
          <p:cNvSpPr txBox="1"/>
          <p:nvPr/>
        </p:nvSpPr>
        <p:spPr>
          <a:xfrm>
            <a:off x="6758290" y="4287710"/>
            <a:ext cx="196226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altLang="ko-KR" sz="105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Priority Incident Response</a:t>
            </a:r>
            <a:b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</a:b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장애 발생 시 즉각적인 원인 파악 및</a:t>
            </a:r>
          </a:p>
          <a:p>
            <a:pPr algn="l">
              <a:spcAft>
                <a:spcPts val="300"/>
              </a:spcAft>
              <a:buNone/>
            </a:pP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최우선 원격</a:t>
            </a:r>
            <a:r>
              <a:rPr lang="en-US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·</a:t>
            </a: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방문 복구 프로세스 가동</a:t>
            </a:r>
            <a:endParaRPr lang="ko-KR" altLang="ko-KR" sz="1000" b="0" i="0" dirty="0">
              <a:solidFill>
                <a:srgbClr val="94A3B8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pic>
        <p:nvPicPr>
          <p:cNvPr id="49" name="그래픽 48">
            <a:extLst>
              <a:ext uri="{FF2B5EF4-FFF2-40B4-BE49-F238E27FC236}">
                <a16:creationId xmlns:a16="http://schemas.microsoft.com/office/drawing/2014/main" id="{3A62AC56-5BC6-C2D7-FA22-4802388FD1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52889" y="4348000"/>
            <a:ext cx="312311" cy="312311"/>
          </a:xfrm>
          <a:prstGeom prst="rect">
            <a:avLst/>
          </a:prstGeom>
        </p:spPr>
      </p:pic>
      <p:pic>
        <p:nvPicPr>
          <p:cNvPr id="45" name="그래픽 44">
            <a:extLst>
              <a:ext uri="{FF2B5EF4-FFF2-40B4-BE49-F238E27FC236}">
                <a16:creationId xmlns:a16="http://schemas.microsoft.com/office/drawing/2014/main" id="{0A762575-C94A-CBE1-C8E9-46E6D96EE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4892" y="4325521"/>
            <a:ext cx="323062" cy="323062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A3C7A3CC-6D9B-C1E4-1A1E-F633D040E0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4393" y="4369766"/>
            <a:ext cx="250477" cy="25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458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CB54-5FD9-FE11-E636-029C961E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46497183-8E15-85B6-6B76-1DDD7A12F6B1}"/>
              </a:ext>
            </a:extLst>
          </p:cNvPr>
          <p:cNvSpPr/>
          <p:nvPr/>
        </p:nvSpPr>
        <p:spPr>
          <a:xfrm rot="16200000">
            <a:off x="3220558" y="1591156"/>
            <a:ext cx="2676944" cy="277038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A795"/>
              </a:gs>
              <a:gs pos="1423">
                <a:srgbClr val="00A795"/>
              </a:gs>
              <a:gs pos="142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C636EB6-A818-E9CD-821D-3A2CE3E814B9}"/>
              </a:ext>
            </a:extLst>
          </p:cNvPr>
          <p:cNvSpPr/>
          <p:nvPr/>
        </p:nvSpPr>
        <p:spPr>
          <a:xfrm rot="16200000">
            <a:off x="6128737" y="1591159"/>
            <a:ext cx="2676950" cy="277038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3B82F6"/>
              </a:gs>
              <a:gs pos="1423">
                <a:srgbClr val="3B82F6"/>
              </a:gs>
              <a:gs pos="142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196E1DC5-4318-7A2D-B65F-C65EF04B5228}"/>
              </a:ext>
            </a:extLst>
          </p:cNvPr>
          <p:cNvSpPr/>
          <p:nvPr/>
        </p:nvSpPr>
        <p:spPr>
          <a:xfrm rot="16200000">
            <a:off x="312374" y="1591159"/>
            <a:ext cx="2676950" cy="277038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28090"/>
              </a:gs>
              <a:gs pos="1423">
                <a:srgbClr val="028090"/>
              </a:gs>
              <a:gs pos="142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2512E7EC-534C-048F-0C5C-DCC1E8A5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SUIT ExtraBold" pitchFamily="2" charset="-127"/>
                <a:ea typeface="SUIT ExtraBold" pitchFamily="2" charset="-127"/>
              </a:rPr>
              <a:t>세일링스톤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9939BAC-56F8-CE3A-117A-FE2E4981BD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  <a:cs typeface="+mn-cs"/>
              </a:rPr>
              <a:t>04 · Execution Strategy </a:t>
            </a:r>
          </a:p>
          <a:p>
            <a:endParaRPr lang="en-US" altLang="ko-KR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02FFECC1-9305-AD9F-256D-80A1FD5EA277}"/>
              </a:ext>
            </a:extLst>
          </p:cNvPr>
          <p:cNvSpPr/>
          <p:nvPr/>
        </p:nvSpPr>
        <p:spPr>
          <a:xfrm>
            <a:off x="0" y="563349"/>
            <a:ext cx="9144000" cy="955074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EDF50-8D54-1371-0850-F0DCD9EC97DC}"/>
              </a:ext>
            </a:extLst>
          </p:cNvPr>
          <p:cNvSpPr txBox="1"/>
          <p:nvPr/>
        </p:nvSpPr>
        <p:spPr>
          <a:xfrm>
            <a:off x="256032" y="726642"/>
            <a:ext cx="8595360" cy="661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ko-KR" sz="16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기술을 넘어 비즈니스의 본질을 이해하는 </a:t>
            </a:r>
            <a:r>
              <a:rPr lang="ko-KR" altLang="ko-KR" sz="1600" i="0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최적의 AI 혁신 파트너</a:t>
            </a:r>
            <a:endParaRPr lang="ko-KR" altLang="ko-KR" sz="1600" i="0" dirty="0">
              <a:solidFill>
                <a:srgbClr val="1E293B"/>
              </a:solidFill>
              <a:effectLst/>
              <a:latin typeface="SUIT ExtraBold" pitchFamily="50" charset="-127"/>
              <a:ea typeface="SUIT ExtraBold" pitchFamily="50" charset="-127"/>
            </a:endParaRPr>
          </a:p>
          <a:p>
            <a:pPr algn="ctr">
              <a:buNone/>
            </a:pP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세일링스톤은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AI, DW, 솔루션 연구소 및 BI 전문가들로 구성된 데이터 </a:t>
            </a: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인텔리전스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융합 그룹입니다.</a:t>
            </a:r>
            <a:b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</a:b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뛰어난 기술력은 물론, 비즈니스 지표(KPI)에 대한 깊은 이해와 현업 소통을 통해 귀사의 성공적인 AI 대전환을 이끕니다.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458909-94F9-90AF-3A9E-5AFCAE0AC713}"/>
              </a:ext>
            </a:extLst>
          </p:cNvPr>
          <p:cNvSpPr txBox="1"/>
          <p:nvPr/>
        </p:nvSpPr>
        <p:spPr>
          <a:xfrm>
            <a:off x="855276" y="1868629"/>
            <a:ext cx="2082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ko-KR" sz="1200" i="0" dirty="0" err="1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Deep</a:t>
            </a:r>
            <a:r>
              <a:rPr lang="ko-KR" altLang="ko-KR" sz="12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 Business &amp; BI DNA</a:t>
            </a:r>
          </a:p>
        </p:txBody>
      </p:sp>
      <p:sp>
        <p:nvSpPr>
          <p:cNvPr id="57" name="Google Shape;142;p13">
            <a:extLst>
              <a:ext uri="{FF2B5EF4-FFF2-40B4-BE49-F238E27FC236}">
                <a16:creationId xmlns:a16="http://schemas.microsoft.com/office/drawing/2014/main" id="{D0A057FB-6352-28D9-A7B2-0038A2E532A0}"/>
              </a:ext>
            </a:extLst>
          </p:cNvPr>
          <p:cNvSpPr txBox="1"/>
          <p:nvPr/>
        </p:nvSpPr>
        <p:spPr>
          <a:xfrm>
            <a:off x="439310" y="2332744"/>
            <a:ext cx="249838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우리는 화려한 대시보드를 그리기 이전에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기업의 데이터가 어떻게 결과에 직결되는지 그 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'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뿌리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(Root)'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를 설계해 온 </a:t>
            </a:r>
            <a:r>
              <a:rPr lang="ko-KR" altLang="en-US" sz="8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아키텍트입니다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표면적인 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도입을 넘어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귀사만의 고유한 비즈니스 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DNA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와 핵심 지표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(KPI)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를 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의 뇌리에 가장 정확하게 이식합니다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</a:t>
            </a:r>
            <a:endParaRPr lang="en-US" altLang="ko-KR" sz="6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484D438D-4774-125E-D485-9133C3DFECAF}"/>
              </a:ext>
            </a:extLst>
          </p:cNvPr>
          <p:cNvGrpSpPr/>
          <p:nvPr/>
        </p:nvGrpSpPr>
        <p:grpSpPr>
          <a:xfrm>
            <a:off x="466641" y="3359415"/>
            <a:ext cx="2398480" cy="216842"/>
            <a:chOff x="466641" y="3391165"/>
            <a:chExt cx="2398480" cy="216842"/>
          </a:xfrm>
        </p:grpSpPr>
        <p:sp>
          <p:nvSpPr>
            <p:cNvPr id="84" name="Shape 4">
              <a:extLst>
                <a:ext uri="{FF2B5EF4-FFF2-40B4-BE49-F238E27FC236}">
                  <a16:creationId xmlns:a16="http://schemas.microsoft.com/office/drawing/2014/main" id="{294A6117-41BC-16DA-53B7-E1B41A6CDAFB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23660A8-86DA-27D3-1A94-5B6380196F73}"/>
                </a:ext>
              </a:extLst>
            </p:cNvPr>
            <p:cNvSpPr txBox="1"/>
            <p:nvPr/>
          </p:nvSpPr>
          <p:spPr>
            <a:xfrm>
              <a:off x="644253" y="3396282"/>
              <a:ext cx="2220868" cy="211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데이터의 본질적 계보</a:t>
              </a: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(Lineage)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를 꿰뚫는 깊은 통찰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95" name="그래픽 94" descr="배지 체크 표시1 단색으로 채워진">
              <a:extLst>
                <a:ext uri="{FF2B5EF4-FFF2-40B4-BE49-F238E27FC236}">
                  <a16:creationId xmlns:a16="http://schemas.microsoft.com/office/drawing/2014/main" id="{470143F2-6CCE-3F85-8F40-C937A736A7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F6015B-EA95-1E95-AD9F-0554456C4D69}"/>
              </a:ext>
            </a:extLst>
          </p:cNvPr>
          <p:cNvSpPr/>
          <p:nvPr/>
        </p:nvSpPr>
        <p:spPr>
          <a:xfrm>
            <a:off x="256033" y="4412673"/>
            <a:ext cx="8595360" cy="497094"/>
          </a:xfrm>
          <a:prstGeom prst="roundRect">
            <a:avLst>
              <a:gd name="adj" fmla="val 23144"/>
            </a:avLst>
          </a:prstGeom>
          <a:solidFill>
            <a:srgbClr val="1E293B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15EF301D-D59C-1D47-65AD-74B185A760DF}"/>
              </a:ext>
            </a:extLst>
          </p:cNvPr>
          <p:cNvSpPr/>
          <p:nvPr/>
        </p:nvSpPr>
        <p:spPr>
          <a:xfrm rot="16200000">
            <a:off x="463089" y="1783885"/>
            <a:ext cx="366576" cy="414133"/>
          </a:xfrm>
          <a:prstGeom prst="roundRect">
            <a:avLst>
              <a:gd name="adj" fmla="val 15186"/>
            </a:avLst>
          </a:prstGeom>
          <a:solidFill>
            <a:srgbClr val="E0F2FE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1298182-2926-7E12-45B4-45979E621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298" y="1861528"/>
            <a:ext cx="255867" cy="25586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AF99234-854D-42E1-FB44-0E9EABF0D7E8}"/>
              </a:ext>
            </a:extLst>
          </p:cNvPr>
          <p:cNvSpPr txBox="1"/>
          <p:nvPr/>
        </p:nvSpPr>
        <p:spPr>
          <a:xfrm>
            <a:off x="3723472" y="1861528"/>
            <a:ext cx="222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AI &amp; Data Engineering</a:t>
            </a:r>
            <a:endParaRPr lang="ko-KR" altLang="ko-KR" sz="1200" dirty="0">
              <a:solidFill>
                <a:srgbClr val="1E293B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E443E259-0226-3E93-5D02-B7B16A4F3EAA}"/>
              </a:ext>
            </a:extLst>
          </p:cNvPr>
          <p:cNvSpPr/>
          <p:nvPr/>
        </p:nvSpPr>
        <p:spPr>
          <a:xfrm rot="16200000">
            <a:off x="3345774" y="1776784"/>
            <a:ext cx="366576" cy="414133"/>
          </a:xfrm>
          <a:prstGeom prst="roundRect">
            <a:avLst>
              <a:gd name="adj" fmla="val 15186"/>
            </a:avLst>
          </a:prstGeom>
          <a:solidFill>
            <a:srgbClr val="CCFBF1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A0DC95-7295-EF08-D998-5C75797F4E58}"/>
              </a:ext>
            </a:extLst>
          </p:cNvPr>
          <p:cNvSpPr txBox="1"/>
          <p:nvPr/>
        </p:nvSpPr>
        <p:spPr>
          <a:xfrm>
            <a:off x="6673789" y="1861528"/>
            <a:ext cx="2082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dirty="0" err="1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End-to-End</a:t>
            </a:r>
            <a:r>
              <a:rPr lang="ko-KR" altLang="ko-KR" sz="1200" dirty="0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ko-KR" sz="1200" dirty="0" err="1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Partnership</a:t>
            </a:r>
            <a:endParaRPr lang="ko-KR" altLang="ko-KR" sz="1200" dirty="0">
              <a:solidFill>
                <a:srgbClr val="1E293B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D745D2CB-85A9-9F99-229A-12945BE373DA}"/>
              </a:ext>
            </a:extLst>
          </p:cNvPr>
          <p:cNvSpPr/>
          <p:nvPr/>
        </p:nvSpPr>
        <p:spPr>
          <a:xfrm rot="16200000">
            <a:off x="6281602" y="1776784"/>
            <a:ext cx="366576" cy="414133"/>
          </a:xfrm>
          <a:prstGeom prst="roundRect">
            <a:avLst>
              <a:gd name="adj" fmla="val 15186"/>
            </a:avLst>
          </a:prstGeom>
          <a:solidFill>
            <a:srgbClr val="E0F2FE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A9228692-48EE-C719-3948-5FFB2AEC7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4933" y="1857856"/>
            <a:ext cx="255600" cy="255600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B2740F0E-A852-6690-431A-7946B9699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021" y="4469682"/>
            <a:ext cx="363397" cy="363397"/>
          </a:xfrm>
          <a:prstGeom prst="rect">
            <a:avLst/>
          </a:prstGeom>
        </p:spPr>
      </p:pic>
      <p:pic>
        <p:nvPicPr>
          <p:cNvPr id="28" name="그래픽 27">
            <a:extLst>
              <a:ext uri="{FF2B5EF4-FFF2-40B4-BE49-F238E27FC236}">
                <a16:creationId xmlns:a16="http://schemas.microsoft.com/office/drawing/2014/main" id="{0E69FD7C-F653-F261-28F2-4191604D7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7525" y="1844675"/>
            <a:ext cx="255600" cy="255600"/>
          </a:xfrm>
          <a:prstGeom prst="rect">
            <a:avLst/>
          </a:prstGeom>
        </p:spPr>
      </p:pic>
      <p:sp>
        <p:nvSpPr>
          <p:cNvPr id="45" name="Google Shape;142;p13">
            <a:extLst>
              <a:ext uri="{FF2B5EF4-FFF2-40B4-BE49-F238E27FC236}">
                <a16:creationId xmlns:a16="http://schemas.microsoft.com/office/drawing/2014/main" id="{06D0BFC9-EB7B-6F25-2EBB-5F39B362ADCD}"/>
              </a:ext>
            </a:extLst>
          </p:cNvPr>
          <p:cNvSpPr txBox="1"/>
          <p:nvPr/>
        </p:nvSpPr>
        <p:spPr>
          <a:xfrm>
            <a:off x="3335514" y="2329827"/>
            <a:ext cx="2498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완벽한 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는 무결점의 데이터 인프라 위에서만 작동합니다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최상위 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8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모델러와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복잡한 </a:t>
            </a:r>
            <a:r>
              <a:rPr lang="ko-KR" altLang="en-US" sz="8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레거시를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섭렵한 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DW 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엔지니어가 한 팀으로 융합되어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어떠한 파편화된 환경에서도 데이터의 병목을 뚫어내고 압도적인 퍼포먼스를 구현합니다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</a:t>
            </a:r>
            <a:endParaRPr lang="en-US" altLang="ko-KR" sz="6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46" name="Google Shape;142;p13">
            <a:extLst>
              <a:ext uri="{FF2B5EF4-FFF2-40B4-BE49-F238E27FC236}">
                <a16:creationId xmlns:a16="http://schemas.microsoft.com/office/drawing/2014/main" id="{BB2D70B1-B1B1-93DE-AF36-27A84499A52C}"/>
              </a:ext>
            </a:extLst>
          </p:cNvPr>
          <p:cNvSpPr txBox="1"/>
          <p:nvPr/>
        </p:nvSpPr>
        <p:spPr>
          <a:xfrm>
            <a:off x="6242934" y="2285119"/>
            <a:ext cx="249838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시스템을 납품하고 떠나는 벤더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(Vendor)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가 아닙니다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 AI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가 현업의 책상 위에 온전히 안착할 때까지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치열한 변화 관리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(Change Management)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부터 데이터 </a:t>
            </a:r>
            <a:r>
              <a:rPr lang="ko-KR" altLang="en-US" sz="8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리터러시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교육까지 귀사의 디지털 전환 여정을 끝까지 완주하는 셰르파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(Sherpa)</a:t>
            </a:r>
            <a:r>
              <a:rPr lang="ko-KR" altLang="en-US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가 되겠습니다</a:t>
            </a:r>
            <a:r>
              <a:rPr lang="en-US" altLang="ko-KR" sz="8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</a:t>
            </a:r>
            <a:endParaRPr lang="en-US" altLang="ko-KR" sz="6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1F9C8EF-4B5D-AF07-5376-D3A863DFF79A}"/>
              </a:ext>
            </a:extLst>
          </p:cNvPr>
          <p:cNvGrpSpPr/>
          <p:nvPr/>
        </p:nvGrpSpPr>
        <p:grpSpPr>
          <a:xfrm>
            <a:off x="466641" y="3680713"/>
            <a:ext cx="2398480" cy="216842"/>
            <a:chOff x="466641" y="3391165"/>
            <a:chExt cx="2398480" cy="216842"/>
          </a:xfrm>
        </p:grpSpPr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55430E6B-A4FA-0625-7E41-DC88F995933C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B70BE60-9375-B4BB-1550-39B44EB1F5F0}"/>
                </a:ext>
              </a:extLst>
            </p:cNvPr>
            <p:cNvSpPr txBox="1"/>
            <p:nvPr/>
          </p:nvSpPr>
          <p:spPr>
            <a:xfrm>
              <a:off x="644253" y="3396282"/>
              <a:ext cx="2220868" cy="211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현업의 언어</a:t>
              </a: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를 </a:t>
              </a: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'AI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의 언어</a:t>
              </a: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로 완벽하게 번역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65" name="그래픽 64" descr="배지 체크 표시1 단색으로 채워진">
              <a:extLst>
                <a:ext uri="{FF2B5EF4-FFF2-40B4-BE49-F238E27FC236}">
                  <a16:creationId xmlns:a16="http://schemas.microsoft.com/office/drawing/2014/main" id="{C1991F4B-20AB-1263-2C64-A2AE3D77DD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5BF2830-F20F-613D-A7EB-A20E02DA2727}"/>
              </a:ext>
            </a:extLst>
          </p:cNvPr>
          <p:cNvGrpSpPr/>
          <p:nvPr/>
        </p:nvGrpSpPr>
        <p:grpSpPr>
          <a:xfrm>
            <a:off x="466641" y="4002010"/>
            <a:ext cx="2398480" cy="216842"/>
            <a:chOff x="466641" y="3391165"/>
            <a:chExt cx="2398480" cy="216842"/>
          </a:xfrm>
        </p:grpSpPr>
        <p:sp>
          <p:nvSpPr>
            <p:cNvPr id="68" name="Shape 4">
              <a:extLst>
                <a:ext uri="{FF2B5EF4-FFF2-40B4-BE49-F238E27FC236}">
                  <a16:creationId xmlns:a16="http://schemas.microsoft.com/office/drawing/2014/main" id="{564CA3E1-2AF7-39CD-0EB4-DDA8E2ADE190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F0B85C4-232C-E427-EEEE-D72684F4D1BF}"/>
                </a:ext>
              </a:extLst>
            </p:cNvPr>
            <p:cNvSpPr txBox="1"/>
            <p:nvPr/>
          </p:nvSpPr>
          <p:spPr>
            <a:xfrm>
              <a:off x="644253" y="3396282"/>
              <a:ext cx="2220868" cy="211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단순한 모델링을 넘어선 비즈니스 임팩트</a:t>
              </a: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(ROI) 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중심 설계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70" name="그래픽 69" descr="배지 체크 표시1 단색으로 채워진">
              <a:extLst>
                <a:ext uri="{FF2B5EF4-FFF2-40B4-BE49-F238E27FC236}">
                  <a16:creationId xmlns:a16="http://schemas.microsoft.com/office/drawing/2014/main" id="{9D7C829D-65F0-9B6E-F9B0-076ECE7415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AAA9A795-FC39-7489-3C1A-91428257DD9C}"/>
              </a:ext>
            </a:extLst>
          </p:cNvPr>
          <p:cNvGrpSpPr/>
          <p:nvPr/>
        </p:nvGrpSpPr>
        <p:grpSpPr>
          <a:xfrm>
            <a:off x="3350570" y="3350872"/>
            <a:ext cx="2447135" cy="216842"/>
            <a:chOff x="466641" y="3391165"/>
            <a:chExt cx="2447135" cy="216842"/>
          </a:xfrm>
        </p:grpSpPr>
        <p:sp>
          <p:nvSpPr>
            <p:cNvPr id="72" name="Shape 4">
              <a:extLst>
                <a:ext uri="{FF2B5EF4-FFF2-40B4-BE49-F238E27FC236}">
                  <a16:creationId xmlns:a16="http://schemas.microsoft.com/office/drawing/2014/main" id="{DFDC1150-B485-6CD0-CF53-2E085043FE50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3FDAF61-6B1F-2C57-5E97-FF7A3C632643}"/>
                </a:ext>
              </a:extLst>
            </p:cNvPr>
            <p:cNvSpPr txBox="1"/>
            <p:nvPr/>
          </p:nvSpPr>
          <p:spPr>
            <a:xfrm>
              <a:off x="643496" y="3396282"/>
              <a:ext cx="2270280" cy="211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AI 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알고리즘과 레거시 데이터 엔지니어링의 완벽한 융합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75" name="그래픽 74" descr="배지 체크 표시1 단색으로 채워진">
              <a:extLst>
                <a:ext uri="{FF2B5EF4-FFF2-40B4-BE49-F238E27FC236}">
                  <a16:creationId xmlns:a16="http://schemas.microsoft.com/office/drawing/2014/main" id="{12163FAC-F107-83CE-78CE-6F13B936B3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43A9BF0-E7B3-C0CD-07A0-310A35FB4F01}"/>
              </a:ext>
            </a:extLst>
          </p:cNvPr>
          <p:cNvGrpSpPr/>
          <p:nvPr/>
        </p:nvGrpSpPr>
        <p:grpSpPr>
          <a:xfrm>
            <a:off x="3350570" y="3672170"/>
            <a:ext cx="2398480" cy="216842"/>
            <a:chOff x="466641" y="3391165"/>
            <a:chExt cx="2398480" cy="216842"/>
          </a:xfrm>
        </p:grpSpPr>
        <p:sp>
          <p:nvSpPr>
            <p:cNvPr id="77" name="Shape 4">
              <a:extLst>
                <a:ext uri="{FF2B5EF4-FFF2-40B4-BE49-F238E27FC236}">
                  <a16:creationId xmlns:a16="http://schemas.microsoft.com/office/drawing/2014/main" id="{E9B561B7-057E-3509-3BC8-70CC220E969B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3F4F48B-0797-1E09-472C-AAA09C4AA504}"/>
                </a:ext>
              </a:extLst>
            </p:cNvPr>
            <p:cNvSpPr txBox="1"/>
            <p:nvPr/>
          </p:nvSpPr>
          <p:spPr>
            <a:xfrm>
              <a:off x="643496" y="3396282"/>
              <a:ext cx="2221625" cy="211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이기종 데이터 </a:t>
              </a:r>
              <a:r>
                <a:rPr lang="ko-KR" altLang="en-US" sz="700" b="1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사일로</a:t>
              </a: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(Silo)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를 허무는 </a:t>
              </a:r>
              <a:r>
                <a:rPr lang="ko-KR" altLang="en-US" sz="700" b="1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브릿지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80" name="그래픽 79" descr="배지 체크 표시1 단색으로 채워진">
              <a:extLst>
                <a:ext uri="{FF2B5EF4-FFF2-40B4-BE49-F238E27FC236}">
                  <a16:creationId xmlns:a16="http://schemas.microsoft.com/office/drawing/2014/main" id="{7C6BEFE4-C769-6F0E-1BC5-D353A80CDA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A8A4E52-F181-510C-E926-2AB1B48A6BB6}"/>
              </a:ext>
            </a:extLst>
          </p:cNvPr>
          <p:cNvGrpSpPr/>
          <p:nvPr/>
        </p:nvGrpSpPr>
        <p:grpSpPr>
          <a:xfrm>
            <a:off x="3350570" y="3993467"/>
            <a:ext cx="2398480" cy="216842"/>
            <a:chOff x="466641" y="3391165"/>
            <a:chExt cx="2398480" cy="216842"/>
          </a:xfrm>
        </p:grpSpPr>
        <p:sp>
          <p:nvSpPr>
            <p:cNvPr id="82" name="Shape 4">
              <a:extLst>
                <a:ext uri="{FF2B5EF4-FFF2-40B4-BE49-F238E27FC236}">
                  <a16:creationId xmlns:a16="http://schemas.microsoft.com/office/drawing/2014/main" id="{3FF5DE5A-1821-97D7-D261-D59DE0E58478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E963590-307C-AEFB-F102-2DBDC2D433AF}"/>
                </a:ext>
              </a:extLst>
            </p:cNvPr>
            <p:cNvSpPr txBox="1"/>
            <p:nvPr/>
          </p:nvSpPr>
          <p:spPr>
            <a:xfrm>
              <a:off x="643496" y="3396282"/>
              <a:ext cx="2221625" cy="211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묵직한 엔터프라이즈 환경을 돌파하는 유연하고 빠른 실행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88" name="그래픽 87" descr="배지 체크 표시1 단색으로 채워진">
              <a:extLst>
                <a:ext uri="{FF2B5EF4-FFF2-40B4-BE49-F238E27FC236}">
                  <a16:creationId xmlns:a16="http://schemas.microsoft.com/office/drawing/2014/main" id="{E2FECD00-B8B3-2818-CCB1-CF6B9ADE8A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B19526E6-4FE1-800F-2270-F3178904FBB1}"/>
              </a:ext>
            </a:extLst>
          </p:cNvPr>
          <p:cNvGrpSpPr/>
          <p:nvPr/>
        </p:nvGrpSpPr>
        <p:grpSpPr>
          <a:xfrm>
            <a:off x="6278879" y="3351373"/>
            <a:ext cx="2463059" cy="216842"/>
            <a:chOff x="466641" y="3391165"/>
            <a:chExt cx="2463059" cy="216842"/>
          </a:xfrm>
        </p:grpSpPr>
        <p:sp>
          <p:nvSpPr>
            <p:cNvPr id="91" name="Shape 4">
              <a:extLst>
                <a:ext uri="{FF2B5EF4-FFF2-40B4-BE49-F238E27FC236}">
                  <a16:creationId xmlns:a16="http://schemas.microsoft.com/office/drawing/2014/main" id="{475B9C38-8707-9ECA-2851-364492BCE53B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70A70E4-F6D6-A6B0-130F-10E783AB2BF5}"/>
                </a:ext>
              </a:extLst>
            </p:cNvPr>
            <p:cNvSpPr txBox="1"/>
            <p:nvPr/>
          </p:nvSpPr>
          <p:spPr>
            <a:xfrm>
              <a:off x="627572" y="3396282"/>
              <a:ext cx="2302128" cy="211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납품을 넘어</a:t>
              </a: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, 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실질적 활용</a:t>
              </a:r>
              <a:r>
                <a:rPr lang="en-US" altLang="ko-KR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(Adoption) 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중심의 변화 동행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00" name="그래픽 99" descr="배지 체크 표시1 단색으로 채워진">
              <a:extLst>
                <a:ext uri="{FF2B5EF4-FFF2-40B4-BE49-F238E27FC236}">
                  <a16:creationId xmlns:a16="http://schemas.microsoft.com/office/drawing/2014/main" id="{7606249E-14BD-1E6D-A72D-9CA064FFCE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720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A2E08E79-7592-99EA-C214-9B056F8813E9}"/>
              </a:ext>
            </a:extLst>
          </p:cNvPr>
          <p:cNvGrpSpPr/>
          <p:nvPr/>
        </p:nvGrpSpPr>
        <p:grpSpPr>
          <a:xfrm>
            <a:off x="6278879" y="3672671"/>
            <a:ext cx="2398480" cy="216842"/>
            <a:chOff x="466641" y="3391165"/>
            <a:chExt cx="2398480" cy="216842"/>
          </a:xfrm>
        </p:grpSpPr>
        <p:sp>
          <p:nvSpPr>
            <p:cNvPr id="103" name="Shape 4">
              <a:extLst>
                <a:ext uri="{FF2B5EF4-FFF2-40B4-BE49-F238E27FC236}">
                  <a16:creationId xmlns:a16="http://schemas.microsoft.com/office/drawing/2014/main" id="{C33DC258-6EE0-2078-E427-9BD9CD9F321F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DE268FD-37B1-2F99-AEAA-3BBC2892D1FC}"/>
                </a:ext>
              </a:extLst>
            </p:cNvPr>
            <p:cNvSpPr txBox="1"/>
            <p:nvPr/>
          </p:nvSpPr>
          <p:spPr>
            <a:xfrm>
              <a:off x="627572" y="3396282"/>
              <a:ext cx="2237549" cy="211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현업의 데이터 </a:t>
              </a:r>
              <a:r>
                <a:rPr lang="ko-KR" altLang="en-US" sz="700" b="1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리터러시를</a:t>
              </a: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 끌어올리는 맞춤형 </a:t>
              </a:r>
              <a:r>
                <a:rPr lang="ko-KR" altLang="en-US" sz="700" b="1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온보딩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05" name="그래픽 104" descr="배지 체크 표시1 단색으로 채워진">
              <a:extLst>
                <a:ext uri="{FF2B5EF4-FFF2-40B4-BE49-F238E27FC236}">
                  <a16:creationId xmlns:a16="http://schemas.microsoft.com/office/drawing/2014/main" id="{383D6BBE-2282-4299-148A-D04496A5F3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720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BF299EAB-FE22-261D-D4F2-D29C75626DCE}"/>
              </a:ext>
            </a:extLst>
          </p:cNvPr>
          <p:cNvGrpSpPr/>
          <p:nvPr/>
        </p:nvGrpSpPr>
        <p:grpSpPr>
          <a:xfrm>
            <a:off x="6278879" y="3993968"/>
            <a:ext cx="2398480" cy="216842"/>
            <a:chOff x="466641" y="3391165"/>
            <a:chExt cx="2398480" cy="216842"/>
          </a:xfrm>
        </p:grpSpPr>
        <p:sp>
          <p:nvSpPr>
            <p:cNvPr id="108" name="Shape 4">
              <a:extLst>
                <a:ext uri="{FF2B5EF4-FFF2-40B4-BE49-F238E27FC236}">
                  <a16:creationId xmlns:a16="http://schemas.microsoft.com/office/drawing/2014/main" id="{5253D288-6BB8-EA6F-A305-EF29D2AF1E73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9BF039D-C3F1-1856-8793-8D31B5C5709F}"/>
                </a:ext>
              </a:extLst>
            </p:cNvPr>
            <p:cNvSpPr txBox="1"/>
            <p:nvPr/>
          </p:nvSpPr>
          <p:spPr>
            <a:xfrm>
              <a:off x="627572" y="3396282"/>
              <a:ext cx="2237549" cy="211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700" b="1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비즈니스 환경 변화에 대응하는 끊임없는 모델 최적화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10" name="그래픽 109" descr="배지 체크 표시1 단색으로 채워진">
              <a:extLst>
                <a:ext uri="{FF2B5EF4-FFF2-40B4-BE49-F238E27FC236}">
                  <a16:creationId xmlns:a16="http://schemas.microsoft.com/office/drawing/2014/main" id="{43777AF5-CE83-3D20-D78A-0F116D1224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720" y="3421176"/>
              <a:ext cx="163636" cy="163636"/>
            </a:xfrm>
            <a:prstGeom prst="rect">
              <a:avLst/>
            </a:prstGeom>
          </p:spPr>
        </p:pic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2506493D-52E9-C7F2-2828-42CD4196791A}"/>
              </a:ext>
            </a:extLst>
          </p:cNvPr>
          <p:cNvSpPr txBox="1"/>
          <p:nvPr/>
        </p:nvSpPr>
        <p:spPr>
          <a:xfrm>
            <a:off x="855275" y="4427289"/>
            <a:ext cx="3437325" cy="44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ko-KR" sz="1200" i="0" dirty="0" err="1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Sailingstone</a:t>
            </a:r>
            <a:r>
              <a:rPr lang="ko-KR" altLang="ko-KR" sz="12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 Data &amp; AI Group</a:t>
            </a:r>
          </a:p>
          <a:p>
            <a:pPr algn="l">
              <a:buNone/>
            </a:pPr>
            <a:r>
              <a:rPr lang="ko-KR" altLang="ko-KR" sz="9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데이터가 멈춘 곳에서, 새로운 비즈니스 통찰의 항해를 시작합니다.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ACDC54C-2326-5C45-8804-9391DA115C4A}"/>
              </a:ext>
            </a:extLst>
          </p:cNvPr>
          <p:cNvSpPr txBox="1"/>
          <p:nvPr/>
        </p:nvSpPr>
        <p:spPr>
          <a:xfrm>
            <a:off x="4292600" y="4486345"/>
            <a:ext cx="425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Navigating from data to insight.</a:t>
            </a:r>
            <a:endParaRPr lang="ko-KR" altLang="ko-KR" sz="1800" b="0" i="0" dirty="0">
              <a:solidFill>
                <a:srgbClr val="94A3B8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08884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0BAB3-BE2C-E88C-771A-761B935E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4C5CFB-A646-E58E-A17C-ADE77A474E46}"/>
              </a:ext>
            </a:extLst>
          </p:cNvPr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05.</a:t>
            </a:r>
            <a:endParaRPr lang="en-US" sz="1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5C7869-989E-B93A-F0DF-9420F41501BE}"/>
              </a:ext>
            </a:extLst>
          </p:cNvPr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솔루션 시연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B1926F-3EEC-A85B-0A6F-0DEE79DC82E1}"/>
              </a:ext>
            </a:extLst>
          </p:cNvPr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98334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32" y="217057"/>
            <a:ext cx="2145129" cy="239687"/>
          </a:xfrm>
          <a:prstGeom prst="roundRect">
            <a:avLst>
              <a:gd name="adj" fmla="val 50000"/>
            </a:avLst>
          </a:prstGeom>
          <a:ln w="762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32" y="3123134"/>
            <a:ext cx="686" cy="29112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1439" y="3123134"/>
            <a:ext cx="686" cy="29112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34232" y="3123134"/>
            <a:ext cx="686" cy="29112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435" y="1618145"/>
            <a:ext cx="1600160" cy="19072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47851" y="260776"/>
            <a:ext cx="131304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kern="0" spc="26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Intelligence with Data</a:t>
            </a:r>
            <a:endParaRPr lang="en-US" sz="855" dirty="0"/>
          </a:p>
        </p:txBody>
      </p:sp>
      <p:sp>
        <p:nvSpPr>
          <p:cNvPr id="8" name="Text 5"/>
          <p:cNvSpPr txBox="1"/>
          <p:nvPr/>
        </p:nvSpPr>
        <p:spPr>
          <a:xfrm>
            <a:off x="508394" y="271577"/>
            <a:ext cx="1945246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48" dirty="0">
                <a:solidFill>
                  <a:srgbClr val="2DD4B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AISIGHT · BI SOLUTION 2026</a:t>
            </a:r>
            <a:endParaRPr lang="en-US" sz="735" dirty="0"/>
          </a:p>
        </p:txBody>
      </p:sp>
      <p:sp>
        <p:nvSpPr>
          <p:cNvPr id="9" name="Text 6"/>
          <p:cNvSpPr txBox="1"/>
          <p:nvPr/>
        </p:nvSpPr>
        <p:spPr>
          <a:xfrm>
            <a:off x="320032" y="1403147"/>
            <a:ext cx="3536445" cy="485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060" kern="0" spc="-92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말이나 문서가 아니라,</a:t>
            </a:r>
            <a:endParaRPr lang="en-US" sz="3060" dirty="0"/>
          </a:p>
        </p:txBody>
      </p:sp>
      <p:sp>
        <p:nvSpPr>
          <p:cNvPr id="10" name="Text 7"/>
          <p:cNvSpPr txBox="1"/>
          <p:nvPr/>
        </p:nvSpPr>
        <p:spPr>
          <a:xfrm>
            <a:off x="320032" y="1854232"/>
            <a:ext cx="3441899" cy="485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060" kern="0" spc="-92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직접 증명하겠습니다.</a:t>
            </a:r>
            <a:endParaRPr lang="en-US" sz="3060" dirty="0"/>
          </a:p>
        </p:txBody>
      </p:sp>
      <p:sp>
        <p:nvSpPr>
          <p:cNvPr id="11" name="Text 8"/>
          <p:cNvSpPr txBox="1"/>
          <p:nvPr/>
        </p:nvSpPr>
        <p:spPr>
          <a:xfrm>
            <a:off x="320032" y="2471966"/>
            <a:ext cx="3411724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고객사 데이터로 먼저 확인해 보시고 결정하셔도 좋습니다.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20032" y="2697766"/>
            <a:ext cx="3871382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검증(PoC) 범위와 일정은 업무 상황에 맞춰 함께 설계해 드립니다.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445302" y="3114904"/>
            <a:ext cx="75802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HOMEPAGE</a:t>
            </a:r>
            <a:endParaRPr lang="en-US" sz="705" dirty="0"/>
          </a:p>
        </p:txBody>
      </p:sp>
      <p:sp>
        <p:nvSpPr>
          <p:cNvPr id="14" name="Text 11"/>
          <p:cNvSpPr txBox="1"/>
          <p:nvPr/>
        </p:nvSpPr>
        <p:spPr>
          <a:xfrm>
            <a:off x="1946709" y="3114904"/>
            <a:ext cx="745221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NEXT STEP</a:t>
            </a:r>
            <a:endParaRPr lang="en-US" sz="705" dirty="0"/>
          </a:p>
        </p:txBody>
      </p:sp>
      <p:sp>
        <p:nvSpPr>
          <p:cNvPr id="15" name="Text 12"/>
          <p:cNvSpPr txBox="1"/>
          <p:nvPr/>
        </p:nvSpPr>
        <p:spPr>
          <a:xfrm>
            <a:off x="4159502" y="3114904"/>
            <a:ext cx="54131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OFFICE</a:t>
            </a:r>
            <a:endParaRPr lang="en-US" sz="705" dirty="0"/>
          </a:p>
        </p:txBody>
      </p:sp>
      <p:sp>
        <p:nvSpPr>
          <p:cNvPr id="16" name="Text 13"/>
          <p:cNvSpPr txBox="1"/>
          <p:nvPr/>
        </p:nvSpPr>
        <p:spPr>
          <a:xfrm>
            <a:off x="445303" y="3256350"/>
            <a:ext cx="1261844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www.sailingstone.io</a:t>
            </a:r>
            <a:endParaRPr lang="en-US" sz="945" dirty="0"/>
          </a:p>
        </p:txBody>
      </p:sp>
      <p:sp>
        <p:nvSpPr>
          <p:cNvPr id="17" name="Text 14"/>
          <p:cNvSpPr txBox="1"/>
          <p:nvPr/>
        </p:nvSpPr>
        <p:spPr>
          <a:xfrm>
            <a:off x="1946709" y="3256350"/>
            <a:ext cx="2019677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PoC 신청</a:t>
            </a:r>
            <a:r>
              <a:rPr lang="en-US" sz="82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· 검증 범위 협의부터 시작합니다</a:t>
            </a:r>
            <a:endParaRPr lang="en-US" sz="945" dirty="0"/>
          </a:p>
        </p:txBody>
      </p:sp>
      <p:sp>
        <p:nvSpPr>
          <p:cNvPr id="18" name="Text 15"/>
          <p:cNvSpPr txBox="1"/>
          <p:nvPr/>
        </p:nvSpPr>
        <p:spPr>
          <a:xfrm>
            <a:off x="4159502" y="3256350"/>
            <a:ext cx="209310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서울특별시 강서구 마곡중앙5로 22, 9층</a:t>
            </a:r>
            <a:endParaRPr lang="en-US" sz="945" dirty="0"/>
          </a:p>
        </p:txBody>
      </p:sp>
      <p:sp>
        <p:nvSpPr>
          <p:cNvPr id="19" name="Text 16"/>
          <p:cNvSpPr txBox="1"/>
          <p:nvPr/>
        </p:nvSpPr>
        <p:spPr>
          <a:xfrm>
            <a:off x="320032" y="3577819"/>
            <a:ext cx="3929719" cy="147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kern="0" spc="182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MAKE DATA SMARTER, MAKE DECISIONS FASTER.</a:t>
            </a:r>
            <a:endParaRPr lang="en-US" sz="825" dirty="0"/>
          </a:p>
        </p:txBody>
      </p:sp>
      <p:sp>
        <p:nvSpPr>
          <p:cNvPr id="20" name="Text 17"/>
          <p:cNvSpPr txBox="1"/>
          <p:nvPr/>
        </p:nvSpPr>
        <p:spPr>
          <a:xfrm>
            <a:off x="320032" y="4849292"/>
            <a:ext cx="1336823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18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· BI · ANALYTICS</a:t>
            </a:r>
            <a:endParaRPr lang="en-US" sz="735" dirty="0"/>
          </a:p>
        </p:txBody>
      </p:sp>
      <p:sp>
        <p:nvSpPr>
          <p:cNvPr id="21" name="Text 18"/>
          <p:cNvSpPr txBox="1"/>
          <p:nvPr/>
        </p:nvSpPr>
        <p:spPr>
          <a:xfrm>
            <a:off x="1623020" y="4849292"/>
            <a:ext cx="180136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18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|</a:t>
            </a:r>
            <a:endParaRPr lang="en-US" sz="735" dirty="0"/>
          </a:p>
        </p:txBody>
      </p:sp>
      <p:sp>
        <p:nvSpPr>
          <p:cNvPr id="22" name="Text 19"/>
          <p:cNvSpPr txBox="1"/>
          <p:nvPr/>
        </p:nvSpPr>
        <p:spPr>
          <a:xfrm>
            <a:off x="1768406" y="4849292"/>
            <a:ext cx="146117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18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© 2026 SAILINGSTONE</a:t>
            </a:r>
            <a:endParaRPr lang="en-US" sz="7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1772137325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UIT" panose="020F0302020204030204"/>
        <a:ea typeface="SUIT"/>
        <a:cs typeface="SUIT"/>
        <a:font script="Jpan" typeface="SUIT"/>
        <a:font script="Hang" typeface="SUIT"/>
        <a:font script="Hans" typeface="SUIT"/>
        <a:font script="Hant" typeface="SUIT"/>
        <a:font script="Arab" typeface="SUIT"/>
        <a:font script="Hebr" typeface="SUIT"/>
        <a:font script="Thai" typeface="SUIT"/>
        <a:font script="Ethi" typeface="SUIT"/>
        <a:font script="Beng" typeface="SUIT"/>
        <a:font script="Gujr" typeface="SUIT"/>
        <a:font script="Khmr" typeface="SUIT"/>
        <a:font script="Knda" typeface="SUIT"/>
        <a:font script="Guru" typeface="SUIT"/>
        <a:font script="Cans" typeface="SUIT"/>
        <a:font script="Cher" typeface="SUIT"/>
        <a:font script="Yiii" typeface="SUIT"/>
        <a:font script="Tibt" typeface="SUIT"/>
        <a:font script="Thaa" typeface="SUIT"/>
        <a:font script="Deva" typeface="SUIT"/>
        <a:font script="Telu" typeface="SUIT"/>
        <a:font script="Taml" typeface="SUIT"/>
        <a:font script="Syrc" typeface="SUIT"/>
        <a:font script="Orya" typeface="SUIT"/>
        <a:font script="Mlym" typeface="SUIT"/>
        <a:font script="Laoo" typeface="SUIT"/>
        <a:font script="Sinh" typeface="SUIT"/>
        <a:font script="Mong" typeface="SUIT"/>
        <a:font script="Viet" typeface="SUIT"/>
        <a:font script="Uigh" typeface="SUIT"/>
        <a:font script="Geor" typeface="SUIT"/>
        <a:font script="Armn" typeface="SUIT"/>
        <a:font script="Bugi" typeface="SUIT"/>
        <a:font script="Bopo" typeface="SUIT"/>
        <a:font script="Java" typeface="SUIT"/>
        <a:font script="Lisu" typeface="SUIT"/>
        <a:font script="Mymr" typeface="SUIT"/>
        <a:font script="Nkoo" typeface="SUIT"/>
        <a:font script="Olck" typeface="SUIT"/>
        <a:font script="Osma" typeface="SUIT"/>
        <a:font script="Phag" typeface="SUIT"/>
        <a:font script="Syrn" typeface="SUIT"/>
        <a:font script="Syrj" typeface="SUIT"/>
        <a:font script="Syre" typeface="SUIT"/>
        <a:font script="Sora" typeface="SUIT"/>
        <a:font script="Tale" typeface="SUIT"/>
        <a:font script="Talu" typeface="SUIT"/>
        <a:font script="Tfng" typeface="SUIT"/>
      </a:majorFont>
      <a:minorFont>
        <a:latin typeface="SUIT" panose="020F0502020204030204"/>
        <a:ea typeface="SUIT"/>
        <a:cs typeface="SUIT"/>
        <a:font script="Jpan" typeface="SUIT"/>
        <a:font script="Hang" typeface="SUIT"/>
        <a:font script="Hans" typeface="SUIT"/>
        <a:font script="Hant" typeface="SUIT"/>
        <a:font script="Arab" typeface="SUIT"/>
        <a:font script="Hebr" typeface="SUIT"/>
        <a:font script="Thai" typeface="SUIT"/>
        <a:font script="Ethi" typeface="SUIT"/>
        <a:font script="Beng" typeface="SUIT"/>
        <a:font script="Gujr" typeface="SUIT"/>
        <a:font script="Khmr" typeface="SUIT"/>
        <a:font script="Knda" typeface="SUIT"/>
        <a:font script="Guru" typeface="SUIT"/>
        <a:font script="Cans" typeface="SUIT"/>
        <a:font script="Cher" typeface="SUIT"/>
        <a:font script="Yiii" typeface="SUIT"/>
        <a:font script="Tibt" typeface="SUIT"/>
        <a:font script="Thaa" typeface="SUIT"/>
        <a:font script="Deva" typeface="SUIT"/>
        <a:font script="Telu" typeface="SUIT"/>
        <a:font script="Taml" typeface="SUIT"/>
        <a:font script="Syrc" typeface="SUIT"/>
        <a:font script="Orya" typeface="SUIT"/>
        <a:font script="Mlym" typeface="SUIT"/>
        <a:font script="Laoo" typeface="SUIT"/>
        <a:font script="Sinh" typeface="SUIT"/>
        <a:font script="Mong" typeface="SUIT"/>
        <a:font script="Viet" typeface="SUIT"/>
        <a:font script="Uigh" typeface="SUIT"/>
        <a:font script="Geor" typeface="SUIT"/>
        <a:font script="Armn" typeface="SUIT"/>
        <a:font script="Bugi" typeface="SUIT"/>
        <a:font script="Bopo" typeface="SUIT"/>
        <a:font script="Java" typeface="SUIT"/>
        <a:font script="Lisu" typeface="SUIT"/>
        <a:font script="Mymr" typeface="SUIT"/>
        <a:font script="Nkoo" typeface="SUIT"/>
        <a:font script="Olck" typeface="SUIT"/>
        <a:font script="Osma" typeface="SUIT"/>
        <a:font script="Phag" typeface="SUIT"/>
        <a:font script="Syrn" typeface="SUIT"/>
        <a:font script="Syrj" typeface="SUIT"/>
        <a:font script="Syre" typeface="SUIT"/>
        <a:font script="Sora" typeface="SUIT"/>
        <a:font script="Tale" typeface="SUIT"/>
        <a:font script="Talu" typeface="SUIT"/>
        <a:font script="Tfng" typeface="SUI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6084996135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UIT" panose="020F0302020204030204"/>
        <a:ea typeface="SUIT"/>
        <a:cs typeface="SUIT"/>
        <a:font script="Jpan" typeface="SUIT"/>
        <a:font script="Hang" typeface="SUIT"/>
        <a:font script="Hans" typeface="SUIT"/>
        <a:font script="Hant" typeface="SUIT"/>
        <a:font script="Arab" typeface="SUIT"/>
        <a:font script="Hebr" typeface="SUIT"/>
        <a:font script="Thai" typeface="SUIT"/>
        <a:font script="Ethi" typeface="SUIT"/>
        <a:font script="Beng" typeface="SUIT"/>
        <a:font script="Gujr" typeface="SUIT"/>
        <a:font script="Khmr" typeface="SUIT"/>
        <a:font script="Knda" typeface="SUIT"/>
        <a:font script="Guru" typeface="SUIT"/>
        <a:font script="Cans" typeface="SUIT"/>
        <a:font script="Cher" typeface="SUIT"/>
        <a:font script="Yiii" typeface="SUIT"/>
        <a:font script="Tibt" typeface="SUIT"/>
        <a:font script="Thaa" typeface="SUIT"/>
        <a:font script="Deva" typeface="SUIT"/>
        <a:font script="Telu" typeface="SUIT"/>
        <a:font script="Taml" typeface="SUIT"/>
        <a:font script="Syrc" typeface="SUIT"/>
        <a:font script="Orya" typeface="SUIT"/>
        <a:font script="Mlym" typeface="SUIT"/>
        <a:font script="Laoo" typeface="SUIT"/>
        <a:font script="Sinh" typeface="SUIT"/>
        <a:font script="Mong" typeface="SUIT"/>
        <a:font script="Viet" typeface="SUIT"/>
        <a:font script="Uigh" typeface="SUIT"/>
        <a:font script="Geor" typeface="SUIT"/>
        <a:font script="Armn" typeface="SUIT"/>
        <a:font script="Bugi" typeface="SUIT"/>
        <a:font script="Bopo" typeface="SUIT"/>
        <a:font script="Java" typeface="SUIT"/>
        <a:font script="Lisu" typeface="SUIT"/>
        <a:font script="Mymr" typeface="SUIT"/>
        <a:font script="Nkoo" typeface="SUIT"/>
        <a:font script="Olck" typeface="SUIT"/>
        <a:font script="Osma" typeface="SUIT"/>
        <a:font script="Phag" typeface="SUIT"/>
        <a:font script="Syrn" typeface="SUIT"/>
        <a:font script="Syrj" typeface="SUIT"/>
        <a:font script="Syre" typeface="SUIT"/>
        <a:font script="Sora" typeface="SUIT"/>
        <a:font script="Tale" typeface="SUIT"/>
        <a:font script="Talu" typeface="SUIT"/>
        <a:font script="Tfng" typeface="SUIT"/>
      </a:majorFont>
      <a:minorFont>
        <a:latin typeface="SUIT" panose="020F0502020204030204"/>
        <a:ea typeface="SUIT"/>
        <a:cs typeface="SUIT"/>
        <a:font script="Jpan" typeface="SUIT"/>
        <a:font script="Hang" typeface="SUIT"/>
        <a:font script="Hans" typeface="SUIT"/>
        <a:font script="Hant" typeface="SUIT"/>
        <a:font script="Arab" typeface="SUIT"/>
        <a:font script="Hebr" typeface="SUIT"/>
        <a:font script="Thai" typeface="SUIT"/>
        <a:font script="Ethi" typeface="SUIT"/>
        <a:font script="Beng" typeface="SUIT"/>
        <a:font script="Gujr" typeface="SUIT"/>
        <a:font script="Khmr" typeface="SUIT"/>
        <a:font script="Knda" typeface="SUIT"/>
        <a:font script="Guru" typeface="SUIT"/>
        <a:font script="Cans" typeface="SUIT"/>
        <a:font script="Cher" typeface="SUIT"/>
        <a:font script="Yiii" typeface="SUIT"/>
        <a:font script="Tibt" typeface="SUIT"/>
        <a:font script="Thaa" typeface="SUIT"/>
        <a:font script="Deva" typeface="SUIT"/>
        <a:font script="Telu" typeface="SUIT"/>
        <a:font script="Taml" typeface="SUIT"/>
        <a:font script="Syrc" typeface="SUIT"/>
        <a:font script="Orya" typeface="SUIT"/>
        <a:font script="Mlym" typeface="SUIT"/>
        <a:font script="Laoo" typeface="SUIT"/>
        <a:font script="Sinh" typeface="SUIT"/>
        <a:font script="Mong" typeface="SUIT"/>
        <a:font script="Viet" typeface="SUIT"/>
        <a:font script="Uigh" typeface="SUIT"/>
        <a:font script="Geor" typeface="SUIT"/>
        <a:font script="Armn" typeface="SUIT"/>
        <a:font script="Bugi" typeface="SUIT"/>
        <a:font script="Bopo" typeface="SUIT"/>
        <a:font script="Java" typeface="SUIT"/>
        <a:font script="Lisu" typeface="SUIT"/>
        <a:font script="Mymr" typeface="SUIT"/>
        <a:font script="Nkoo" typeface="SUIT"/>
        <a:font script="Olck" typeface="SUIT"/>
        <a:font script="Osma" typeface="SUIT"/>
        <a:font script="Phag" typeface="SUIT"/>
        <a:font script="Syrn" typeface="SUIT"/>
        <a:font script="Syrj" typeface="SUIT"/>
        <a:font script="Syre" typeface="SUIT"/>
        <a:font script="Sora" typeface="SUIT"/>
        <a:font script="Tale" typeface="SUIT"/>
        <a:font script="Talu" typeface="SUIT"/>
        <a:font script="Tfng" typeface="SUI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883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4BB92A4-AF75-4F5F-8B72-79CB1FBE9B3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5c389c9-ab2d-4a97-b7bf-b9bfd61821d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E78EC0-DC14-48FE-AD0D-BA7B8E1EEA52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3e2c9e3a-b71e-40a2-b08c-f5fdbc76d23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26481</TotalTime>
  <Words>9829</Words>
  <Application>Microsoft Office PowerPoint</Application>
  <PresentationFormat>화면 슬라이드 쇼(16:9)</PresentationFormat>
  <Paragraphs>1323</Paragraphs>
  <Slides>43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43</vt:i4>
      </vt:variant>
    </vt:vector>
  </HeadingPairs>
  <TitlesOfParts>
    <vt:vector size="58" baseType="lpstr">
      <vt:lpstr>Courier New</vt:lpstr>
      <vt:lpstr>Urbanist</vt:lpstr>
      <vt:lpstr>SUIT Light</vt:lpstr>
      <vt:lpstr>Wingdings</vt:lpstr>
      <vt:lpstr>SUIT SemiBold</vt:lpstr>
      <vt:lpstr>Inter</vt:lpstr>
      <vt:lpstr>SUIT ExtraBold</vt:lpstr>
      <vt:lpstr>SUIT</vt:lpstr>
      <vt:lpstr>Noto Sans KR Black</vt:lpstr>
      <vt:lpstr>SUIT Variable</vt:lpstr>
      <vt:lpstr>Noto Sans KR</vt:lpstr>
      <vt:lpstr>SUIT Medium</vt:lpstr>
      <vt:lpstr>Arial</vt:lpstr>
      <vt:lpstr>Office Theme [1781772137325]</vt:lpstr>
      <vt:lpstr>Office Theme [1786084996135]</vt:lpstr>
      <vt:lpstr>PowerPoint 프레젠테이션</vt:lpstr>
      <vt:lpstr>목차</vt:lpstr>
      <vt:lpstr>PowerPoint 프레젠테이션</vt:lpstr>
      <vt:lpstr>PowerPoint 프레젠테이션</vt:lpstr>
      <vt:lpstr>솔루션 개요</vt:lpstr>
      <vt:lpstr>PowerPoint 프레젠테이션</vt:lpstr>
      <vt:lpstr>aisight: aisight 서비스 아키텍처</vt:lpstr>
      <vt:lpstr>aisight: aisight 배포 아키텍처 (Deployment Architecture)</vt:lpstr>
      <vt:lpstr>지능형 분석 라이프사이클</vt:lpstr>
      <vt:lpstr>aisight Work Space: 인텔리전스 자산화 및 전사 협업 포털</vt:lpstr>
      <vt:lpstr>aisight Ops: 전사 AI 통합 관제 사령탑</vt:lpstr>
      <vt:lpstr>유연한 LLM 하이브리드 구성</vt:lpstr>
      <vt:lpstr>스킬 기반 시스템 (Skill-Based Intelligent System)</vt:lpstr>
      <vt:lpstr>Graph DB 기반 지능형 지식 모델링 아키텍처</vt:lpstr>
      <vt:lpstr>AI가 답하기 전에, 검증된 지식으로 먼저 확인합니다</vt:lpstr>
      <vt:lpstr>지식 그래프가 의미를 찾아가는 방식</vt:lpstr>
      <vt:lpstr>1단계 모호한 질문이 명확한 의도로 전달되는 과정</vt:lpstr>
      <vt:lpstr>2단계 질의 맥락 라우팅 한 질문, 여러 맥락 을 이해해 필요한 스킬만 조합 </vt:lpstr>
      <vt:lpstr>시맨틱 추론 레이어(SRL)</vt:lpstr>
      <vt:lpstr>SRL 양방향 질의 처리 및 자가 진화 루프</vt:lpstr>
      <vt:lpstr>지능형 LLM 위키(Wiki) 및 전사 지식 자산화 파이프라인</vt:lpstr>
      <vt:lpstr>Document Parser - 지식 자산화 파이프라인 </vt:lpstr>
      <vt:lpstr>Tableau Extension 지원 아키텍처</vt:lpstr>
      <vt:lpstr>aisight가 신뢰를 만드는 4가지 방식</vt:lpstr>
      <vt:lpstr>엔터프라이즈급 보안 및 권한 제어 (Security &amp; Governance)</vt:lpstr>
      <vt:lpstr>PowerPoint 프레젠테이션</vt:lpstr>
      <vt:lpstr>업무 환경의 혁신 : 기존 시스템 한계 극복</vt:lpstr>
      <vt:lpstr>실무 활용 시나리오 ① : Dashboard 양방향 대화형 자동 제어</vt:lpstr>
      <vt:lpstr>실무 활용 시나리오 ② : 에이전트 기반 대화형 데이터 탐색 및 분석</vt:lpstr>
      <vt:lpstr>실무 활용 시나리오 ③ : 지식 위키(Knowledge Wiki) 기반 전문가 질의응답</vt:lpstr>
      <vt:lpstr>실무 활용 시나리오 ④ : 지능형 루프를 통한 자동화 문서 생성 시스템</vt:lpstr>
      <vt:lpstr>실무 활용 시나리오 ⑤ : 무인(Human-less) 지식 자산화 파이프라인 </vt:lpstr>
      <vt:lpstr>비용 효율적 AI 운영 전략</vt:lpstr>
      <vt:lpstr>aisight가 바꾸는 새로운 업무 일상</vt:lpstr>
      <vt:lpstr>전략적 도입 효과 및 비즈니스 임팩트 (Expected Value &amp; ROI)</vt:lpstr>
      <vt:lpstr>PowerPoint 프레젠테이션</vt:lpstr>
      <vt:lpstr>Quick Win 달성을 위한 패스트 트랙(Fast-Track) 도입 전략</vt:lpstr>
      <vt:lpstr>aisight 엔터프라이즈 표준 구축 및 점진적 확산 로드맵 (12개월)</vt:lpstr>
      <vt:lpstr>기존 BI 자산의 무손실 단계별 전환(Phased Transition) 전략</vt:lpstr>
      <vt:lpstr>엔터프라이즈 전담 파트너십 및 지속 성장 지원 체계 (Customer Success)</vt:lpstr>
      <vt:lpstr>세일링스톤</vt:lpstr>
      <vt:lpstr>PowerPoint 프레젠테이션</vt:lpstr>
      <vt:lpstr>PowerPoint 프레젠테이션</vt:lpstr>
    </vt:vector>
  </TitlesOfParts>
  <Company>SailingStone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aisight 솔루션 소개서</dc:title>
  <dc:subject>PptxGenJS Presentation</dc:subject>
  <dc:creator>SailingStone</dc:creator>
  <cp:lastModifiedBy>준홍 민</cp:lastModifiedBy>
  <cp:revision>95</cp:revision>
  <dcterms:created xsi:type="dcterms:W3CDTF">2026-05-21T10:23:19Z</dcterms:created>
  <dcterms:modified xsi:type="dcterms:W3CDTF">2026-09-17T01:23:02Z</dcterms:modified>
</cp:coreProperties>
</file>