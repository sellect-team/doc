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  <p:sldMasterId id="2147483683" r:id="rId2"/>
  </p:sldMasterIdLst>
  <p:notesMasterIdLst>
    <p:notesMasterId r:id="rId46"/>
  </p:notesMasterIdLst>
  <p:sldIdLst>
    <p:sldId id="656" r:id="rId3"/>
    <p:sldId id="618" r:id="rId4"/>
    <p:sldId id="263" r:id="rId5"/>
    <p:sldId id="619" r:id="rId6"/>
    <p:sldId id="620" r:id="rId7"/>
    <p:sldId id="302" r:id="rId8"/>
    <p:sldId id="621" r:id="rId9"/>
    <p:sldId id="650" r:id="rId10"/>
    <p:sldId id="623" r:id="rId11"/>
    <p:sldId id="624" r:id="rId12"/>
    <p:sldId id="625" r:id="rId13"/>
    <p:sldId id="626" r:id="rId14"/>
    <p:sldId id="542" r:id="rId15"/>
    <p:sldId id="543" r:id="rId16"/>
    <p:sldId id="627" r:id="rId17"/>
    <p:sldId id="545" r:id="rId18"/>
    <p:sldId id="546" r:id="rId19"/>
    <p:sldId id="547" r:id="rId20"/>
    <p:sldId id="614" r:id="rId21"/>
    <p:sldId id="652" r:id="rId22"/>
    <p:sldId id="548" r:id="rId23"/>
    <p:sldId id="628" r:id="rId24"/>
    <p:sldId id="629" r:id="rId25"/>
    <p:sldId id="630" r:id="rId26"/>
    <p:sldId id="653" r:id="rId27"/>
    <p:sldId id="269" r:id="rId28"/>
    <p:sldId id="632" r:id="rId29"/>
    <p:sldId id="633" r:id="rId30"/>
    <p:sldId id="634" r:id="rId31"/>
    <p:sldId id="576" r:id="rId32"/>
    <p:sldId id="579" r:id="rId33"/>
    <p:sldId id="580" r:id="rId34"/>
    <p:sldId id="635" r:id="rId35"/>
    <p:sldId id="636" r:id="rId36"/>
    <p:sldId id="637" r:id="rId37"/>
    <p:sldId id="425" r:id="rId38"/>
    <p:sldId id="638" r:id="rId39"/>
    <p:sldId id="639" r:id="rId40"/>
    <p:sldId id="640" r:id="rId41"/>
    <p:sldId id="609" r:id="rId42"/>
    <p:sldId id="654" r:id="rId43"/>
    <p:sldId id="447" r:id="rId44"/>
    <p:sldId id="448" r:id="rId4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56"/>
            <p14:sldId id="618"/>
            <p14:sldId id="263"/>
            <p14:sldId id="619"/>
            <p14:sldId id="620"/>
            <p14:sldId id="302"/>
            <p14:sldId id="621"/>
            <p14:sldId id="650"/>
            <p14:sldId id="623"/>
            <p14:sldId id="624"/>
            <p14:sldId id="625"/>
            <p14:sldId id="626"/>
            <p14:sldId id="542"/>
            <p14:sldId id="543"/>
            <p14:sldId id="627"/>
            <p14:sldId id="545"/>
            <p14:sldId id="546"/>
            <p14:sldId id="547"/>
            <p14:sldId id="614"/>
            <p14:sldId id="652"/>
            <p14:sldId id="548"/>
            <p14:sldId id="628"/>
            <p14:sldId id="629"/>
            <p14:sldId id="630"/>
            <p14:sldId id="653"/>
            <p14:sldId id="269"/>
            <p14:sldId id="632"/>
            <p14:sldId id="633"/>
            <p14:sldId id="634"/>
            <p14:sldId id="576"/>
            <p14:sldId id="579"/>
            <p14:sldId id="580"/>
            <p14:sldId id="635"/>
            <p14:sldId id="636"/>
            <p14:sldId id="637"/>
            <p14:sldId id="425"/>
            <p14:sldId id="638"/>
            <p14:sldId id="639"/>
            <p14:sldId id="640"/>
            <p14:sldId id="609"/>
            <p14:sldId id="654"/>
            <p14:sldId id="447"/>
            <p14:sldId id="448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DF7"/>
    <a:srgbClr val="D3F2E9"/>
    <a:srgbClr val="0F6E56"/>
    <a:srgbClr val="F6FCFA"/>
    <a:srgbClr val="2C806A"/>
    <a:srgbClr val="38B2AC"/>
    <a:srgbClr val="959FA0"/>
    <a:srgbClr val="0F172A"/>
    <a:srgbClr val="0C2D2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64" autoAdjust="0"/>
    <p:restoredTop sz="96242" autoAdjust="0"/>
  </p:normalViewPr>
  <p:slideViewPr>
    <p:cSldViewPr snapToGrid="0" snapToObjects="1">
      <p:cViewPr>
        <p:scale>
          <a:sx n="300" d="100"/>
          <a:sy n="300" d="100"/>
        </p:scale>
        <p:origin x="1794" y="55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B7C7D6CE-71E5-450E-AB38-055A713B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53757E9F-A10D-4086-12AC-CD19C04D8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42FD8926-3C2B-70AA-04DE-C55824DDF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9144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8337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8006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582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2203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EE48-A6CC-2D6B-AED3-FAD6EFD4F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91635F-C568-0850-9AEA-D20F94393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A9C57B-9AD4-2E84-2CEB-3D521B816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0939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0201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D8C2-6350-32ED-B258-DDA1E444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B235AF-A9AC-C10E-CDC8-AA745DEC7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E1FC7D-8736-8C63-EE34-AE0564366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5137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AE0CF-4CD8-6573-115F-6B65532EC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1A21F9-91D7-F096-0641-4F31479EC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90035F-B825-A170-4BC1-56837118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7179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72C8-4294-A0B8-9BAC-3D134208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45B94-D4A4-E89F-0A72-22CEB8D5C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03AF04-1929-AF03-BC5E-C21ACE811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637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20F67A-1A9F-BEAA-61F7-998414CD02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09687" y="2737782"/>
            <a:ext cx="1212906" cy="1445598"/>
          </a:xfrm>
          <a:prstGeom prst="rect">
            <a:avLst/>
          </a:prstGeom>
        </p:spPr>
      </p:pic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73987"/>
          <a:stretch>
            <a:fillRect/>
          </a:stretch>
        </p:blipFill>
        <p:spPr>
          <a:xfrm>
            <a:off x="373146" y="337871"/>
            <a:ext cx="203915" cy="202082"/>
          </a:xfrm>
          <a:prstGeom prst="rect">
            <a:avLst/>
          </a:prstGeom>
        </p:spPr>
      </p:pic>
      <p:sp>
        <p:nvSpPr>
          <p:cNvPr id="90" name="aisight wordmark"/>
          <p:cNvSpPr txBox="1"/>
          <p:nvPr userDrawn="1"/>
        </p:nvSpPr>
        <p:spPr>
          <a:xfrm>
            <a:off x="572117" y="302033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800" dirty="0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sz="1800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alphaModFix amt="33000"/>
          </a:blip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73987"/>
          <a:stretch>
            <a:fillRect/>
          </a:stretch>
        </p:blipFill>
        <p:spPr>
          <a:xfrm>
            <a:off x="373146" y="337871"/>
            <a:ext cx="203915" cy="202082"/>
          </a:xfrm>
          <a:prstGeom prst="rect">
            <a:avLst/>
          </a:prstGeom>
        </p:spPr>
      </p:pic>
      <p:sp>
        <p:nvSpPr>
          <p:cNvPr id="90" name="aisight wordmark"/>
          <p:cNvSpPr txBox="1"/>
          <p:nvPr userDrawn="1"/>
        </p:nvSpPr>
        <p:spPr>
          <a:xfrm>
            <a:off x="572117" y="302033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800" dirty="0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sz="1800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16.svg"/><Relationship Id="rId12" Type="http://schemas.openxmlformats.org/officeDocument/2006/relationships/image" Target="../media/image19.svg"/><Relationship Id="rId17" Type="http://schemas.openxmlformats.org/officeDocument/2006/relationships/image" Target="../media/image24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.svg"/><Relationship Id="rId11" Type="http://schemas.openxmlformats.org/officeDocument/2006/relationships/image" Target="../media/image11.svg"/><Relationship Id="rId5" Type="http://schemas.openxmlformats.org/officeDocument/2006/relationships/image" Target="../media/image14.png"/><Relationship Id="rId15" Type="http://schemas.openxmlformats.org/officeDocument/2006/relationships/image" Target="../media/image22.svg"/><Relationship Id="rId10" Type="http://schemas.openxmlformats.org/officeDocument/2006/relationships/image" Target="../media/image10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sv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5" Type="http://schemas.openxmlformats.org/officeDocument/2006/relationships/image" Target="../media/image37.svg"/><Relationship Id="rId10" Type="http://schemas.openxmlformats.org/officeDocument/2006/relationships/image" Target="../media/image32.svg"/><Relationship Id="rId19" Type="http://schemas.openxmlformats.org/officeDocument/2006/relationships/image" Target="../media/image41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sv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svg"/><Relationship Id="rId18" Type="http://schemas.openxmlformats.org/officeDocument/2006/relationships/image" Target="../media/image6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12" Type="http://schemas.openxmlformats.org/officeDocument/2006/relationships/image" Target="../media/image59.svg"/><Relationship Id="rId17" Type="http://schemas.openxmlformats.org/officeDocument/2006/relationships/image" Target="../media/image64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3.sv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5" Type="http://schemas.openxmlformats.org/officeDocument/2006/relationships/image" Target="../media/image62.svg"/><Relationship Id="rId10" Type="http://schemas.openxmlformats.org/officeDocument/2006/relationships/image" Target="../media/image57.svg"/><Relationship Id="rId19" Type="http://schemas.openxmlformats.org/officeDocument/2006/relationships/image" Target="../media/image66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Relationship Id="rId14" Type="http://schemas.openxmlformats.org/officeDocument/2006/relationships/image" Target="../media/image6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76.svg"/><Relationship Id="rId18" Type="http://schemas.openxmlformats.org/officeDocument/2006/relationships/image" Target="../media/image80.svg"/><Relationship Id="rId26" Type="http://schemas.openxmlformats.org/officeDocument/2006/relationships/image" Target="../media/image88.svg"/><Relationship Id="rId3" Type="http://schemas.openxmlformats.org/officeDocument/2006/relationships/image" Target="../media/image23.svg"/><Relationship Id="rId21" Type="http://schemas.openxmlformats.org/officeDocument/2006/relationships/image" Target="../media/image83.svg"/><Relationship Id="rId7" Type="http://schemas.openxmlformats.org/officeDocument/2006/relationships/image" Target="../media/image70.svg"/><Relationship Id="rId12" Type="http://schemas.openxmlformats.org/officeDocument/2006/relationships/image" Target="../media/image75.svg"/><Relationship Id="rId17" Type="http://schemas.openxmlformats.org/officeDocument/2006/relationships/image" Target="../media/image79.svg"/><Relationship Id="rId25" Type="http://schemas.openxmlformats.org/officeDocument/2006/relationships/image" Target="../media/image87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8.svg"/><Relationship Id="rId20" Type="http://schemas.openxmlformats.org/officeDocument/2006/relationships/image" Target="../media/image82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9.svg"/><Relationship Id="rId11" Type="http://schemas.openxmlformats.org/officeDocument/2006/relationships/image" Target="../media/image74.svg"/><Relationship Id="rId24" Type="http://schemas.openxmlformats.org/officeDocument/2006/relationships/image" Target="../media/image86.svg"/><Relationship Id="rId5" Type="http://schemas.openxmlformats.org/officeDocument/2006/relationships/image" Target="../media/image24.svg"/><Relationship Id="rId15" Type="http://schemas.openxmlformats.org/officeDocument/2006/relationships/image" Target="../media/image65.svg"/><Relationship Id="rId23" Type="http://schemas.openxmlformats.org/officeDocument/2006/relationships/image" Target="../media/image85.svg"/><Relationship Id="rId10" Type="http://schemas.openxmlformats.org/officeDocument/2006/relationships/image" Target="../media/image73.svg"/><Relationship Id="rId19" Type="http://schemas.openxmlformats.org/officeDocument/2006/relationships/image" Target="../media/image81.svg"/><Relationship Id="rId4" Type="http://schemas.openxmlformats.org/officeDocument/2006/relationships/image" Target="../media/image68.svg"/><Relationship Id="rId9" Type="http://schemas.openxmlformats.org/officeDocument/2006/relationships/image" Target="../media/image72.svg"/><Relationship Id="rId14" Type="http://schemas.openxmlformats.org/officeDocument/2006/relationships/image" Target="../media/image77.svg"/><Relationship Id="rId22" Type="http://schemas.openxmlformats.org/officeDocument/2006/relationships/image" Target="../media/image84.svg"/><Relationship Id="rId27" Type="http://schemas.openxmlformats.org/officeDocument/2006/relationships/image" Target="../media/image8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svg"/><Relationship Id="rId2" Type="http://schemas.openxmlformats.org/officeDocument/2006/relationships/image" Target="../media/image90.sv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svg"/><Relationship Id="rId3" Type="http://schemas.openxmlformats.org/officeDocument/2006/relationships/image" Target="../media/image93.svg"/><Relationship Id="rId7" Type="http://schemas.openxmlformats.org/officeDocument/2006/relationships/image" Target="../media/image9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6.svg"/><Relationship Id="rId5" Type="http://schemas.openxmlformats.org/officeDocument/2006/relationships/image" Target="../media/image95.svg"/><Relationship Id="rId4" Type="http://schemas.openxmlformats.org/officeDocument/2006/relationships/image" Target="../media/image94.svg"/><Relationship Id="rId9" Type="http://schemas.openxmlformats.org/officeDocument/2006/relationships/image" Target="../media/image99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100.png"/><Relationship Id="rId7" Type="http://schemas.openxmlformats.org/officeDocument/2006/relationships/image" Target="../media/image19.svg"/><Relationship Id="rId12" Type="http://schemas.openxmlformats.org/officeDocument/2006/relationships/image" Target="../media/image10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3.svg"/><Relationship Id="rId11" Type="http://schemas.openxmlformats.org/officeDocument/2006/relationships/image" Target="../media/image106.svg"/><Relationship Id="rId5" Type="http://schemas.openxmlformats.org/officeDocument/2006/relationships/image" Target="../media/image102.svg"/><Relationship Id="rId10" Type="http://schemas.openxmlformats.org/officeDocument/2006/relationships/image" Target="../media/image16.svg"/><Relationship Id="rId4" Type="http://schemas.openxmlformats.org/officeDocument/2006/relationships/image" Target="../media/image101.svg"/><Relationship Id="rId9" Type="http://schemas.openxmlformats.org/officeDocument/2006/relationships/image" Target="../media/image105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110.svg"/><Relationship Id="rId7" Type="http://schemas.openxmlformats.org/officeDocument/2006/relationships/image" Target="../media/image113.svg"/><Relationship Id="rId2" Type="http://schemas.openxmlformats.org/officeDocument/2006/relationships/image" Target="../media/image109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112.svg"/><Relationship Id="rId4" Type="http://schemas.openxmlformats.org/officeDocument/2006/relationships/image" Target="../media/image11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15.sv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svg"/><Relationship Id="rId18" Type="http://schemas.openxmlformats.org/officeDocument/2006/relationships/image" Target="../media/image132.sv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27.svg"/><Relationship Id="rId17" Type="http://schemas.openxmlformats.org/officeDocument/2006/relationships/image" Target="../media/image131.png"/><Relationship Id="rId2" Type="http://schemas.openxmlformats.org/officeDocument/2006/relationships/image" Target="../media/image117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1.png"/><Relationship Id="rId11" Type="http://schemas.openxmlformats.org/officeDocument/2006/relationships/image" Target="../media/image126.svg"/><Relationship Id="rId5" Type="http://schemas.openxmlformats.org/officeDocument/2006/relationships/image" Target="../media/image120.png"/><Relationship Id="rId15" Type="http://schemas.openxmlformats.org/officeDocument/2006/relationships/image" Target="../media/image3.png"/><Relationship Id="rId10" Type="http://schemas.openxmlformats.org/officeDocument/2006/relationships/image" Target="../media/image125.svg"/><Relationship Id="rId19" Type="http://schemas.openxmlformats.org/officeDocument/2006/relationships/image" Target="../media/image42.svg"/><Relationship Id="rId4" Type="http://schemas.openxmlformats.org/officeDocument/2006/relationships/image" Target="../media/image119.png"/><Relationship Id="rId9" Type="http://schemas.openxmlformats.org/officeDocument/2006/relationships/image" Target="../media/image124.svg"/><Relationship Id="rId14" Type="http://schemas.openxmlformats.org/officeDocument/2006/relationships/image" Target="../media/image12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3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6.svg"/><Relationship Id="rId5" Type="http://schemas.openxmlformats.org/officeDocument/2006/relationships/image" Target="../media/image135.svg"/><Relationship Id="rId4" Type="http://schemas.openxmlformats.org/officeDocument/2006/relationships/image" Target="../media/image134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svg"/><Relationship Id="rId13" Type="http://schemas.openxmlformats.org/officeDocument/2006/relationships/image" Target="../media/image97.svg"/><Relationship Id="rId3" Type="http://schemas.openxmlformats.org/officeDocument/2006/relationships/image" Target="../media/image45.png"/><Relationship Id="rId7" Type="http://schemas.openxmlformats.org/officeDocument/2006/relationships/image" Target="../media/image140.svg"/><Relationship Id="rId12" Type="http://schemas.openxmlformats.org/officeDocument/2006/relationships/image" Target="../media/image94.svg"/><Relationship Id="rId17" Type="http://schemas.openxmlformats.org/officeDocument/2006/relationships/image" Target="../media/image144.png"/><Relationship Id="rId2" Type="http://schemas.openxmlformats.org/officeDocument/2006/relationships/image" Target="../media/image137.png"/><Relationship Id="rId16" Type="http://schemas.openxmlformats.org/officeDocument/2006/relationships/image" Target="../media/image9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9.svg"/><Relationship Id="rId11" Type="http://schemas.openxmlformats.org/officeDocument/2006/relationships/image" Target="../media/image143.svg"/><Relationship Id="rId5" Type="http://schemas.openxmlformats.org/officeDocument/2006/relationships/image" Target="../media/image138.png"/><Relationship Id="rId15" Type="http://schemas.openxmlformats.org/officeDocument/2006/relationships/image" Target="../media/image95.svg"/><Relationship Id="rId10" Type="http://schemas.openxmlformats.org/officeDocument/2006/relationships/image" Target="../media/image115.svg"/><Relationship Id="rId4" Type="http://schemas.openxmlformats.org/officeDocument/2006/relationships/image" Target="../media/image44.png"/><Relationship Id="rId9" Type="http://schemas.openxmlformats.org/officeDocument/2006/relationships/image" Target="../media/image142.svg"/><Relationship Id="rId14" Type="http://schemas.openxmlformats.org/officeDocument/2006/relationships/image" Target="../media/image98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svg"/><Relationship Id="rId3" Type="http://schemas.openxmlformats.org/officeDocument/2006/relationships/image" Target="../media/image146.svg"/><Relationship Id="rId7" Type="http://schemas.openxmlformats.org/officeDocument/2006/relationships/image" Target="../media/image150.svg"/><Relationship Id="rId2" Type="http://schemas.openxmlformats.org/officeDocument/2006/relationships/image" Target="../media/image145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9.svg"/><Relationship Id="rId5" Type="http://schemas.openxmlformats.org/officeDocument/2006/relationships/image" Target="../media/image148.svg"/><Relationship Id="rId4" Type="http://schemas.openxmlformats.org/officeDocument/2006/relationships/image" Target="../media/image147.svg"/><Relationship Id="rId9" Type="http://schemas.openxmlformats.org/officeDocument/2006/relationships/image" Target="../media/image152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svg"/><Relationship Id="rId3" Type="http://schemas.openxmlformats.org/officeDocument/2006/relationships/image" Target="../media/image89.svg"/><Relationship Id="rId7" Type="http://schemas.openxmlformats.org/officeDocument/2006/relationships/image" Target="../media/image156.svg"/><Relationship Id="rId2" Type="http://schemas.openxmlformats.org/officeDocument/2006/relationships/image" Target="../media/image8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5.svg"/><Relationship Id="rId5" Type="http://schemas.openxmlformats.org/officeDocument/2006/relationships/image" Target="../media/image154.svg"/><Relationship Id="rId4" Type="http://schemas.openxmlformats.org/officeDocument/2006/relationships/image" Target="../media/image153.svg"/><Relationship Id="rId9" Type="http://schemas.openxmlformats.org/officeDocument/2006/relationships/image" Target="../media/image15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144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svg"/><Relationship Id="rId5" Type="http://schemas.openxmlformats.org/officeDocument/2006/relationships/image" Target="../media/image115.svg"/><Relationship Id="rId4" Type="http://schemas.openxmlformats.org/officeDocument/2006/relationships/image" Target="../media/image9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svg"/><Relationship Id="rId3" Type="http://schemas.openxmlformats.org/officeDocument/2006/relationships/image" Target="../media/image168.svg"/><Relationship Id="rId7" Type="http://schemas.openxmlformats.org/officeDocument/2006/relationships/image" Target="../media/image172.svg"/><Relationship Id="rId2" Type="http://schemas.openxmlformats.org/officeDocument/2006/relationships/image" Target="../media/image1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1.svg"/><Relationship Id="rId11" Type="http://schemas.openxmlformats.org/officeDocument/2006/relationships/image" Target="../media/image176.svg"/><Relationship Id="rId5" Type="http://schemas.openxmlformats.org/officeDocument/2006/relationships/image" Target="../media/image170.svg"/><Relationship Id="rId10" Type="http://schemas.openxmlformats.org/officeDocument/2006/relationships/image" Target="../media/image175.svg"/><Relationship Id="rId4" Type="http://schemas.openxmlformats.org/officeDocument/2006/relationships/image" Target="../media/image169.svg"/><Relationship Id="rId9" Type="http://schemas.openxmlformats.org/officeDocument/2006/relationships/image" Target="../media/image174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svg"/><Relationship Id="rId13" Type="http://schemas.openxmlformats.org/officeDocument/2006/relationships/image" Target="../media/image187.svg"/><Relationship Id="rId18" Type="http://schemas.openxmlformats.org/officeDocument/2006/relationships/image" Target="../media/image192.svg"/><Relationship Id="rId3" Type="http://schemas.openxmlformats.org/officeDocument/2006/relationships/image" Target="../media/image177.svg"/><Relationship Id="rId7" Type="http://schemas.openxmlformats.org/officeDocument/2006/relationships/image" Target="../media/image181.svg"/><Relationship Id="rId12" Type="http://schemas.openxmlformats.org/officeDocument/2006/relationships/image" Target="../media/image186.svg"/><Relationship Id="rId17" Type="http://schemas.openxmlformats.org/officeDocument/2006/relationships/image" Target="../media/image191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0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80.svg"/><Relationship Id="rId11" Type="http://schemas.openxmlformats.org/officeDocument/2006/relationships/image" Target="../media/image185.svg"/><Relationship Id="rId5" Type="http://schemas.openxmlformats.org/officeDocument/2006/relationships/image" Target="../media/image179.svg"/><Relationship Id="rId15" Type="http://schemas.openxmlformats.org/officeDocument/2006/relationships/image" Target="../media/image189.svg"/><Relationship Id="rId10" Type="http://schemas.openxmlformats.org/officeDocument/2006/relationships/image" Target="../media/image184.svg"/><Relationship Id="rId4" Type="http://schemas.openxmlformats.org/officeDocument/2006/relationships/image" Target="../media/image178.svg"/><Relationship Id="rId9" Type="http://schemas.openxmlformats.org/officeDocument/2006/relationships/image" Target="../media/image183.png"/><Relationship Id="rId14" Type="http://schemas.openxmlformats.org/officeDocument/2006/relationships/image" Target="../media/image188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6.svg"/><Relationship Id="rId5" Type="http://schemas.openxmlformats.org/officeDocument/2006/relationships/image" Target="../media/image195.svg"/><Relationship Id="rId4" Type="http://schemas.openxmlformats.org/officeDocument/2006/relationships/image" Target="../media/image19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svg"/><Relationship Id="rId3" Type="http://schemas.openxmlformats.org/officeDocument/2006/relationships/image" Target="../media/image197.svg"/><Relationship Id="rId7" Type="http://schemas.openxmlformats.org/officeDocument/2006/relationships/image" Target="../media/image20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0.svg"/><Relationship Id="rId5" Type="http://schemas.openxmlformats.org/officeDocument/2006/relationships/image" Target="../media/image199.svg"/><Relationship Id="rId4" Type="http://schemas.openxmlformats.org/officeDocument/2006/relationships/image" Target="../media/image19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4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svg"/><Relationship Id="rId13" Type="http://schemas.openxmlformats.org/officeDocument/2006/relationships/image" Target="../media/image215.svg"/><Relationship Id="rId3" Type="http://schemas.openxmlformats.org/officeDocument/2006/relationships/image" Target="../media/image205.png"/><Relationship Id="rId7" Type="http://schemas.openxmlformats.org/officeDocument/2006/relationships/image" Target="../media/image209.svg"/><Relationship Id="rId12" Type="http://schemas.openxmlformats.org/officeDocument/2006/relationships/image" Target="../media/image21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8.svg"/><Relationship Id="rId11" Type="http://schemas.openxmlformats.org/officeDocument/2006/relationships/image" Target="../media/image213.svg"/><Relationship Id="rId5" Type="http://schemas.openxmlformats.org/officeDocument/2006/relationships/image" Target="../media/image207.svg"/><Relationship Id="rId10" Type="http://schemas.openxmlformats.org/officeDocument/2006/relationships/image" Target="../media/image212.svg"/><Relationship Id="rId4" Type="http://schemas.openxmlformats.org/officeDocument/2006/relationships/image" Target="../media/image206.svg"/><Relationship Id="rId9" Type="http://schemas.openxmlformats.org/officeDocument/2006/relationships/image" Target="../media/image211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svg"/><Relationship Id="rId7" Type="http://schemas.openxmlformats.org/officeDocument/2006/relationships/image" Target="../media/image22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9.svg"/><Relationship Id="rId5" Type="http://schemas.openxmlformats.org/officeDocument/2006/relationships/image" Target="../media/image218.svg"/><Relationship Id="rId4" Type="http://schemas.openxmlformats.org/officeDocument/2006/relationships/image" Target="../media/image217.sv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398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9398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 - BI</a:t>
            </a:r>
            <a:r>
              <a:rPr lang="ko-KR" alt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442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</a:t>
            </a:r>
            <a:endParaRPr lang="en-US" altLang="ko-KR" sz="3800" dirty="0"/>
          </a:p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decisions </a:t>
            </a:r>
            <a:r>
              <a:rPr lang="en-US" altLang="ko-KR" sz="38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99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기존 BI의 한계를 넘어, 생성형 AI와 대화하는 차세대 데이터 생태계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sp>
        <p:nvSpPr>
          <p:cNvPr id="7" name="Text 0"/>
          <p:cNvSpPr/>
          <p:nvPr/>
        </p:nvSpPr>
        <p:spPr>
          <a:xfrm>
            <a:off x="6520180" y="4229100"/>
            <a:ext cx="146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</a:t>
            </a:r>
          </a:p>
        </p:txBody>
      </p:sp>
    </p:spTree>
    <p:extLst>
      <p:ext uri="{BB962C8B-B14F-4D97-AF65-F5344CB8AC3E}">
        <p14:creationId xmlns:p14="http://schemas.microsoft.com/office/powerpoint/2010/main" val="1397854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43584" y="804672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dirty="0" err="1">
                <a:solidFill>
                  <a:srgbClr val="0F172A"/>
                </a:solidFill>
                <a:latin typeface="SUIT ExtraBold"/>
              </a:rPr>
              <a:t>솔루션</a:t>
            </a:r>
            <a:r>
              <a:rPr sz="150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1500" b="1" dirty="0" err="1">
                <a:solidFill>
                  <a:srgbClr val="0F172A"/>
                </a:solidFill>
                <a:latin typeface="SUIT ExtraBold"/>
              </a:rPr>
              <a:t>개요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3584" y="1115568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D9488"/>
                </a:solidFill>
                <a:latin typeface="SUIT Light"/>
              </a:rPr>
              <a:t>Solution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 Ligh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분석이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멈춘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곳에서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aisight가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시작됩니다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73659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1441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2414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솔루션 딥 </a:t>
            </a:r>
            <a:r>
              <a:rPr lang="ko-KR" altLang="en-US" sz="1500" b="1" dirty="0" err="1">
                <a:solidFill>
                  <a:srgbClr val="0F172A"/>
                </a:solidFill>
                <a:latin typeface="SUIT ExtraBold"/>
              </a:rPr>
              <a:t>다이브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2414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 Solution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144" y="1335024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Inside aisight. </a:t>
            </a:r>
            <a:r>
              <a:rPr lang="ko-KR" altLang="en-US" sz="800" b="0" dirty="0">
                <a:solidFill>
                  <a:srgbClr val="64748B"/>
                </a:solidFill>
                <a:latin typeface="SUIT Light"/>
              </a:rPr>
              <a:t>솔루션의 내부 구조를 풀어냅니다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603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385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358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활용 시나리오 및 기대 효과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358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Business Scenarios &amp; Value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4358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1441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14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성공적인 도입 및 실행 전략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2414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Execution Strategy 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2414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6032" y="358444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33856" y="363931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43584" y="3621024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시연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43584" y="393192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Demo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43584" y="415137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0" name="Rectangle 24">
            <a:extLst>
              <a:ext uri="{FF2B5EF4-FFF2-40B4-BE49-F238E27FC236}">
                <a16:creationId xmlns:a16="http://schemas.microsoft.com/office/drawing/2014/main" id="{C25BD6D8-0E00-969B-4AE1-8A937E2A5CCE}"/>
              </a:ext>
            </a:extLst>
          </p:cNvPr>
          <p:cNvSpPr/>
          <p:nvPr/>
        </p:nvSpPr>
        <p:spPr>
          <a:xfrm>
            <a:off x="5614416" y="3559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50407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</a:t>
            </a:r>
            <a:r>
              <a:rPr 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개요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Overview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75052-411A-45C9-76FF-330891344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99DAD7E-5707-AAAB-4D5F-505539C0C2D3}"/>
              </a:ext>
            </a:extLst>
          </p:cNvPr>
          <p:cNvSpPr/>
          <p:nvPr/>
        </p:nvSpPr>
        <p:spPr>
          <a:xfrm>
            <a:off x="4471164" y="4765566"/>
            <a:ext cx="448564" cy="358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547323-50A0-A5D0-A1DD-BB443C53E99E}"/>
              </a:ext>
            </a:extLst>
          </p:cNvPr>
          <p:cNvSpPr/>
          <p:nvPr/>
        </p:nvSpPr>
        <p:spPr>
          <a:xfrm>
            <a:off x="0" y="0"/>
            <a:ext cx="4434840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24FC606-A71D-44CA-CF04-250C07CC86A7}"/>
              </a:ext>
            </a:extLst>
          </p:cNvPr>
          <p:cNvSpPr/>
          <p:nvPr/>
        </p:nvSpPr>
        <p:spPr>
          <a:xfrm>
            <a:off x="4434840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9BFF23-3A6D-FE2C-3291-06D0ABD817EB}"/>
              </a:ext>
            </a:extLst>
          </p:cNvPr>
          <p:cNvSpPr txBox="1"/>
          <p:nvPr/>
        </p:nvSpPr>
        <p:spPr>
          <a:xfrm>
            <a:off x="274320" y="365760"/>
            <a:ext cx="3931920" cy="2194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CHALLENGE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34C068-3FA3-6A85-0086-6A769F73AD05}"/>
              </a:ext>
            </a:extLst>
          </p:cNvPr>
          <p:cNvSpPr txBox="1"/>
          <p:nvPr/>
        </p:nvSpPr>
        <p:spPr>
          <a:xfrm>
            <a:off x="274320" y="576072"/>
            <a:ext cx="3931920" cy="10817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sz="1800" b="1" dirty="0" err="1">
                <a:solidFill>
                  <a:srgbClr val="FFFFFF"/>
                </a:solidFill>
                <a:latin typeface="SUIT"/>
              </a:rPr>
              <a:t>멈춰버린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기업의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여정</a:t>
            </a:r>
            <a:endParaRPr sz="1800" b="1" dirty="0">
              <a:solidFill>
                <a:srgbClr val="FFFFFF"/>
              </a:solidFill>
              <a:latin typeface="SUIT"/>
            </a:endParaRPr>
          </a:p>
          <a:p>
            <a:r>
              <a:rPr sz="1200" b="0" dirty="0">
                <a:solidFill>
                  <a:srgbClr val="A0B0C0"/>
                </a:solidFill>
                <a:latin typeface="SUIT"/>
              </a:rPr>
              <a:t>AI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도입의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현실적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장벽</a:t>
            </a:r>
            <a:r>
              <a:rPr lang="en-US" sz="1200" b="0" dirty="0">
                <a:solidFill>
                  <a:srgbClr val="A0B0C0"/>
                </a:solidFill>
                <a:latin typeface="SUIT"/>
              </a:rPr>
              <a:t> -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모두 시도하고 있지만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, </a:t>
            </a:r>
          </a:p>
          <a:p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99%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가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PoC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또는 준비에서 멈춥니다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 </a:t>
            </a:r>
          </a:p>
          <a:p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그 사이에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5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개의 구조적 장벽이 있습니다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</a:t>
            </a:r>
          </a:p>
          <a:p>
            <a:endParaRPr sz="12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D9C9DA8-D877-5881-7CBA-58C2EE89DB7A}"/>
              </a:ext>
            </a:extLst>
          </p:cNvPr>
          <p:cNvSpPr/>
          <p:nvPr/>
        </p:nvSpPr>
        <p:spPr>
          <a:xfrm>
            <a:off x="274320" y="1508760"/>
            <a:ext cx="3840480" cy="3657"/>
          </a:xfrm>
          <a:prstGeom prst="rect">
            <a:avLst/>
          </a:prstGeom>
          <a:solidFill>
            <a:srgbClr val="1E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6D835B-F7E1-762E-2393-3B86A9F68912}"/>
              </a:ext>
            </a:extLst>
          </p:cNvPr>
          <p:cNvSpPr txBox="1"/>
          <p:nvPr/>
        </p:nvSpPr>
        <p:spPr>
          <a:xfrm>
            <a:off x="274320" y="166200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AI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환각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결과를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어떻게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믿을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것인가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99번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맞아도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1번이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치명적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산출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경로를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역추적할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수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없으면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신뢰는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불가능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C9F59-7DF5-33A6-0BEA-8AE5AFDBA0B0}"/>
              </a:ext>
            </a:extLst>
          </p:cNvPr>
          <p:cNvSpPr txBox="1"/>
          <p:nvPr/>
        </p:nvSpPr>
        <p:spPr>
          <a:xfrm>
            <a:off x="274320" y="2226653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권한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통제와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보안의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공백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외부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LLM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노출도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문제지만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권한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사용자에게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민감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데이터가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닿는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거버넌스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D21C33-AE85-7F0A-9EC6-5609964BB998}"/>
              </a:ext>
            </a:extLst>
          </p:cNvPr>
          <p:cNvSpPr txBox="1"/>
          <p:nvPr/>
        </p:nvSpPr>
        <p:spPr>
          <a:xfrm>
            <a:off x="274320" y="294519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부서마다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다른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비즈니스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맥락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이익률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'·'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활성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고객'조차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부서마다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다른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KPI를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일반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AI가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학습하기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endParaRPr sz="10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DAF2FF-869A-7643-DFBF-8340C83E6687}"/>
              </a:ext>
            </a:extLst>
          </p:cNvPr>
          <p:cNvSpPr txBox="1"/>
          <p:nvPr/>
        </p:nvSpPr>
        <p:spPr>
          <a:xfrm>
            <a:off x="274320" y="3509844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불명확한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ROI</a:t>
            </a: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질의가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편해졌다'는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체감을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넘어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리포팅·분석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시간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단축과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endParaRPr lang="en-US" sz="1000" b="0" dirty="0">
              <a:solidFill>
                <a:srgbClr val="A0B0C0"/>
              </a:solidFill>
              <a:latin typeface="SUIT"/>
            </a:endParaRPr>
          </a:p>
          <a:p>
            <a:r>
              <a:rPr lang="en-US" sz="100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비즈니스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기회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창출까지</a:t>
            </a:r>
            <a:r>
              <a:rPr lang="en-US" sz="100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투자에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걸맞은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정량적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입증이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1C40B0-25C5-3842-354D-F78A23B1BACA}"/>
              </a:ext>
            </a:extLst>
          </p:cNvPr>
          <p:cNvSpPr txBox="1"/>
          <p:nvPr/>
        </p:nvSpPr>
        <p:spPr>
          <a:xfrm>
            <a:off x="4709160" y="274320"/>
            <a:ext cx="4297680" cy="21945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SOLUTION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F3DA7B-9F5D-5127-684C-8E774633960A}"/>
              </a:ext>
            </a:extLst>
          </p:cNvPr>
          <p:cNvSpPr txBox="1"/>
          <p:nvPr/>
        </p:nvSpPr>
        <p:spPr>
          <a:xfrm>
            <a:off x="4658360" y="655320"/>
            <a:ext cx="4297680" cy="29190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700" b="1" dirty="0" err="1">
                <a:solidFill>
                  <a:srgbClr val="0F2847"/>
                </a:solidFill>
                <a:latin typeface="SUIT"/>
              </a:rPr>
              <a:t>당신의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BI가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멈춘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곳에서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, </a:t>
            </a:r>
            <a:r>
              <a:rPr sz="1700" b="1" dirty="0" err="1">
                <a:solidFill>
                  <a:srgbClr val="41C0C2"/>
                </a:solidFill>
                <a:latin typeface="SUIT"/>
              </a:rPr>
              <a:t>aisight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시작됩니다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D3D1FA-D1A2-480B-2ADD-8B4A0EC15A53}"/>
              </a:ext>
            </a:extLst>
          </p:cNvPr>
          <p:cNvSpPr txBox="1"/>
          <p:nvPr/>
        </p:nvSpPr>
        <p:spPr>
          <a:xfrm>
            <a:off x="4658360" y="1018540"/>
            <a:ext cx="4297680" cy="17648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950" b="0" dirty="0">
                <a:solidFill>
                  <a:srgbClr val="64748B"/>
                </a:solidFill>
                <a:latin typeface="SUIT"/>
              </a:rPr>
              <a:t>AI 도입의 모든 고민에 답하는, 그리고 BI를 다시 정의하는, aisight.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0FC40959-DF67-00D5-A3CA-3F0709643C1C}"/>
              </a:ext>
            </a:extLst>
          </p:cNvPr>
          <p:cNvSpPr/>
          <p:nvPr/>
        </p:nvSpPr>
        <p:spPr>
          <a:xfrm>
            <a:off x="4612640" y="1353312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3397A7-57C6-3C38-94C0-3E01D6C016F3}"/>
              </a:ext>
            </a:extLst>
          </p:cNvPr>
          <p:cNvSpPr/>
          <p:nvPr/>
        </p:nvSpPr>
        <p:spPr>
          <a:xfrm>
            <a:off x="4612640" y="1353312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9E5795-71F2-800E-F691-35896CB5CC7F}"/>
              </a:ext>
            </a:extLst>
          </p:cNvPr>
          <p:cNvSpPr txBox="1"/>
          <p:nvPr/>
        </p:nvSpPr>
        <p:spPr>
          <a:xfrm>
            <a:off x="4897120" y="1444752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Agent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분석의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장벽을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무너뜨리는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지능형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어시스턴트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F74100-2734-367A-F2B6-172A155D1D8C}"/>
              </a:ext>
            </a:extLst>
          </p:cNvPr>
          <p:cNvSpPr txBox="1"/>
          <p:nvPr/>
        </p:nvSpPr>
        <p:spPr>
          <a:xfrm>
            <a:off x="4886959" y="1737360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복잡한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툴이나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SQL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지식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자연어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질의만으로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필요한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즉각적으로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분석·요약·추출합니다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소수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전문가에게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갇혀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있던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환경을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전사적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일상으로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전환하여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리포팅에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드는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업무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공수를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획기적으로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단축합니다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B2EEF312-B3B7-F215-54CE-8F018B2957E7}"/>
              </a:ext>
            </a:extLst>
          </p:cNvPr>
          <p:cNvSpPr/>
          <p:nvPr/>
        </p:nvSpPr>
        <p:spPr>
          <a:xfrm>
            <a:off x="4612640" y="2615184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A961320-BD76-8E8D-42E0-3A1FC28FE314}"/>
              </a:ext>
            </a:extLst>
          </p:cNvPr>
          <p:cNvSpPr/>
          <p:nvPr/>
        </p:nvSpPr>
        <p:spPr>
          <a:xfrm>
            <a:off x="4612640" y="2615184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9A4F77-F9DF-7804-771D-0E7262D31B12}"/>
              </a:ext>
            </a:extLst>
          </p:cNvPr>
          <p:cNvSpPr txBox="1"/>
          <p:nvPr/>
        </p:nvSpPr>
        <p:spPr>
          <a:xfrm>
            <a:off x="4912360" y="2706624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50" b="1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"/>
                <a:ea typeface="SUIT"/>
              </a:rPr>
              <a:t>aisight Space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SUIT"/>
                <a:ea typeface="SUIT"/>
              </a:rPr>
              <a:t>  ｜ 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BI </a:t>
            </a:r>
            <a:r>
              <a:rPr kumimoji="0" lang="ko-KR" alt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레거시를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 포용하는 통합 대시보드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환경</a:t>
            </a:r>
            <a:endParaRPr kumimoji="0" lang="ko-KR" altLang="en-US" sz="950" b="1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92BB87-C5BC-A9FC-ED45-CDFDA166ACBC}"/>
              </a:ext>
            </a:extLst>
          </p:cNvPr>
          <p:cNvSpPr txBox="1"/>
          <p:nvPr/>
        </p:nvSpPr>
        <p:spPr>
          <a:xfrm>
            <a:off x="4886959" y="2999232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AI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와의 대화를 통해 분석 결과를 손쉽게 생성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·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유지 관리하며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포털 내 정기 구독과 권한별 조회를 운영합니다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기존 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BI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를 강제로 폐기할 필요 없이 화면 그대로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임베드하여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 이중 운영을 막고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기업 상황에 맞춰 점진 마이그레이션하는 유연한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투트랙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(Two-track)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전략을 제시합니다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BBCA32F-3497-7004-DE1D-2B7C3DFA8E6B}"/>
              </a:ext>
            </a:extLst>
          </p:cNvPr>
          <p:cNvSpPr/>
          <p:nvPr/>
        </p:nvSpPr>
        <p:spPr>
          <a:xfrm>
            <a:off x="4612640" y="3877056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6FA77DE-F16B-8FA9-FF80-1162A93B20B4}"/>
              </a:ext>
            </a:extLst>
          </p:cNvPr>
          <p:cNvSpPr/>
          <p:nvPr/>
        </p:nvSpPr>
        <p:spPr>
          <a:xfrm>
            <a:off x="4612640" y="3877056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6B70449-E293-A5BA-8373-896829A75ECB}"/>
              </a:ext>
            </a:extLst>
          </p:cNvPr>
          <p:cNvSpPr txBox="1"/>
          <p:nvPr/>
        </p:nvSpPr>
        <p:spPr>
          <a:xfrm>
            <a:off x="4912360" y="3968496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Ops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통제와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신뢰를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보장하는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코어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인프라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D6D3AD-146F-B7B2-8309-79957E291164}"/>
              </a:ext>
            </a:extLst>
          </p:cNvPr>
          <p:cNvSpPr txBox="1"/>
          <p:nvPr/>
        </p:nvSpPr>
        <p:spPr>
          <a:xfrm>
            <a:off x="4886959" y="4261104"/>
            <a:ext cx="3840480" cy="71323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전사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기존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보안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멀티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LLM 및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문서를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중앙에서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완벽하게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통제하고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자산화합니다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권한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유출을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원천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차단합니다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산출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경로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역추적과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부서별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맞춤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KPI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스킬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학습으로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신뢰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가능한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제공합니다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76501E-8475-9026-2BFC-481F47ED60DA}"/>
              </a:ext>
            </a:extLst>
          </p:cNvPr>
          <p:cNvSpPr txBox="1"/>
          <p:nvPr/>
        </p:nvSpPr>
        <p:spPr>
          <a:xfrm>
            <a:off x="282866" y="4185134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기존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BI,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폐기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vs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유지의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딜레마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이중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운영의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비효율과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전면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마이그레이션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리스크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쪽도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정답이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아니다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2233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01 · Solution Overview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89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딥 </a:t>
            </a:r>
            <a:r>
              <a:rPr lang="ko-KR" alt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다이브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Solution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서비스 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662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D5D1FD47-785B-9EF1-A6A9-1547AA1C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382F976F-0F7A-1220-B41D-0D47DC35C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배포 아키텍처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(Deployment Architecture)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4A5A0EAE-6BDD-6874-C71C-3CFF388BCB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055855-7A17-F6F2-4DEA-C9F8543701B4}"/>
              </a:ext>
            </a:extLst>
          </p:cNvPr>
          <p:cNvSpPr txBox="1"/>
          <p:nvPr/>
        </p:nvSpPr>
        <p:spPr>
          <a:xfrm>
            <a:off x="256032" y="666744"/>
            <a:ext cx="6154293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ko-KR" sz="1400" i="0" spc="-38" dirty="0">
                <a:solidFill>
                  <a:srgbClr val="334155"/>
                </a:solidFill>
                <a:effectLst/>
                <a:latin typeface="SUIT ExtraBold" pitchFamily="2" charset="-127"/>
                <a:ea typeface="SUIT ExtraBold" pitchFamily="2" charset="-127"/>
              </a:rPr>
              <a:t>외부 의존성 없이 고객사 인프라에 단독 설치되는 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5-Tier </a:t>
            </a:r>
            <a:r>
              <a:rPr lang="ko-KR" altLang="ko-KR" sz="1400" i="0" spc="-38" dirty="0" err="1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온프레미스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 구조</a:t>
            </a:r>
            <a:endParaRPr sz="1400" b="1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5F5F13-FDF9-D84F-0B40-02DDFCF7C582}"/>
              </a:ext>
            </a:extLst>
          </p:cNvPr>
          <p:cNvSpPr/>
          <p:nvPr/>
        </p:nvSpPr>
        <p:spPr>
          <a:xfrm rot="10800000">
            <a:off x="183543" y="1045610"/>
            <a:ext cx="694635" cy="474248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3B1081C5-9BFA-15D2-75FB-4212ADB50A23}"/>
              </a:ext>
            </a:extLst>
          </p:cNvPr>
          <p:cNvSpPr/>
          <p:nvPr/>
        </p:nvSpPr>
        <p:spPr>
          <a:xfrm rot="10800000">
            <a:off x="183542" y="1634244"/>
            <a:ext cx="694635" cy="378160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089A590-866B-79B9-1326-C2AC8F94A023}"/>
              </a:ext>
            </a:extLst>
          </p:cNvPr>
          <p:cNvSpPr/>
          <p:nvPr/>
        </p:nvSpPr>
        <p:spPr>
          <a:xfrm rot="10800000">
            <a:off x="183542" y="2120439"/>
            <a:ext cx="694635" cy="1232641"/>
          </a:xfrm>
          <a:prstGeom prst="roundRect">
            <a:avLst>
              <a:gd name="adj" fmla="val 8565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09E54080-CD8C-43B5-1526-4C62D268114F}"/>
              </a:ext>
            </a:extLst>
          </p:cNvPr>
          <p:cNvSpPr/>
          <p:nvPr/>
        </p:nvSpPr>
        <p:spPr>
          <a:xfrm rot="10800000">
            <a:off x="183541" y="3470685"/>
            <a:ext cx="694635" cy="545542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654F91B8-5967-BFA2-7EB1-12497C7B533E}"/>
              </a:ext>
            </a:extLst>
          </p:cNvPr>
          <p:cNvSpPr/>
          <p:nvPr/>
        </p:nvSpPr>
        <p:spPr>
          <a:xfrm rot="10800000">
            <a:off x="183542" y="4117760"/>
            <a:ext cx="694635" cy="554841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0CB878-9106-1C10-4DB3-465DAEF6E38D}"/>
              </a:ext>
            </a:extLst>
          </p:cNvPr>
          <p:cNvSpPr txBox="1"/>
          <p:nvPr/>
        </p:nvSpPr>
        <p:spPr>
          <a:xfrm>
            <a:off x="195707" y="109236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1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1A205A-FD6F-D739-7C77-8BA62C9A8C3D}"/>
              </a:ext>
            </a:extLst>
          </p:cNvPr>
          <p:cNvSpPr txBox="1"/>
          <p:nvPr/>
        </p:nvSpPr>
        <p:spPr>
          <a:xfrm>
            <a:off x="174549" y="165968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2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A6AE06-ED45-1490-187A-083024DFE709}"/>
              </a:ext>
            </a:extLst>
          </p:cNvPr>
          <p:cNvSpPr txBox="1"/>
          <p:nvPr/>
        </p:nvSpPr>
        <p:spPr>
          <a:xfrm>
            <a:off x="192532" y="2499275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3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025DCC-3D93-4A8C-EA46-A6089EDD1669}"/>
              </a:ext>
            </a:extLst>
          </p:cNvPr>
          <p:cNvSpPr txBox="1"/>
          <p:nvPr/>
        </p:nvSpPr>
        <p:spPr>
          <a:xfrm>
            <a:off x="192532" y="357339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4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F54A4F-AA96-B51E-C13B-254CC8E2BA59}"/>
              </a:ext>
            </a:extLst>
          </p:cNvPr>
          <p:cNvSpPr txBox="1"/>
          <p:nvPr/>
        </p:nvSpPr>
        <p:spPr>
          <a:xfrm>
            <a:off x="183541" y="425473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ADFCFB-0A7B-A5D5-1B22-16CA774708F9}"/>
              </a:ext>
            </a:extLst>
          </p:cNvPr>
          <p:cNvSpPr txBox="1"/>
          <p:nvPr/>
        </p:nvSpPr>
        <p:spPr>
          <a:xfrm>
            <a:off x="195707" y="125059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CLIENTS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430102-057B-1E11-9BD3-EC3DDBA92325}"/>
              </a:ext>
            </a:extLst>
          </p:cNvPr>
          <p:cNvSpPr txBox="1"/>
          <p:nvPr/>
        </p:nvSpPr>
        <p:spPr>
          <a:xfrm>
            <a:off x="183541" y="180225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EDGE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22DD0-EAA4-3AC9-BA89-F8377656A465}"/>
              </a:ext>
            </a:extLst>
          </p:cNvPr>
          <p:cNvSpPr txBox="1"/>
          <p:nvPr/>
        </p:nvSpPr>
        <p:spPr>
          <a:xfrm>
            <a:off x="183541" y="2671993"/>
            <a:ext cx="8039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APPLICATION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191D5E-F6DF-EAE2-8C2B-4D916FE6313F}"/>
              </a:ext>
            </a:extLst>
          </p:cNvPr>
          <p:cNvSpPr txBox="1"/>
          <p:nvPr/>
        </p:nvSpPr>
        <p:spPr>
          <a:xfrm>
            <a:off x="201907" y="3739872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DATA LAYER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66C287-19C7-A643-156E-0FB5BAC371CE}"/>
              </a:ext>
            </a:extLst>
          </p:cNvPr>
          <p:cNvSpPr txBox="1"/>
          <p:nvPr/>
        </p:nvSpPr>
        <p:spPr>
          <a:xfrm>
            <a:off x="201907" y="4407603"/>
            <a:ext cx="685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EXTERNAL SERVICES</a:t>
            </a:r>
            <a:endParaRPr lang="ko-KR" altLang="en-US" sz="16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35B8369-704F-5DB0-6498-706178E9CEB7}"/>
              </a:ext>
            </a:extLst>
          </p:cNvPr>
          <p:cNvSpPr/>
          <p:nvPr/>
        </p:nvSpPr>
        <p:spPr>
          <a:xfrm>
            <a:off x="981762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F239D3B5-4391-A38A-E945-4DFD015EFDEC}"/>
              </a:ext>
            </a:extLst>
          </p:cNvPr>
          <p:cNvSpPr/>
          <p:nvPr/>
        </p:nvSpPr>
        <p:spPr>
          <a:xfrm>
            <a:off x="2587387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FE1B48ED-780B-B6FB-BB5D-D40E7A22F179}"/>
              </a:ext>
            </a:extLst>
          </p:cNvPr>
          <p:cNvSpPr/>
          <p:nvPr/>
        </p:nvSpPr>
        <p:spPr>
          <a:xfrm>
            <a:off x="4193012" y="1045609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31B21DAB-30C3-34B1-9876-82AB096E2897}"/>
              </a:ext>
            </a:extLst>
          </p:cNvPr>
          <p:cNvSpPr/>
          <p:nvPr/>
        </p:nvSpPr>
        <p:spPr>
          <a:xfrm>
            <a:off x="5798637" y="1045608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3F978D5-87D9-7FFD-6028-738FDEA41F63}"/>
              </a:ext>
            </a:extLst>
          </p:cNvPr>
          <p:cNvSpPr/>
          <p:nvPr/>
        </p:nvSpPr>
        <p:spPr>
          <a:xfrm>
            <a:off x="976841" y="1634245"/>
            <a:ext cx="391236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0A3178-6C63-2933-426E-6C75F43FA59E}"/>
              </a:ext>
            </a:extLst>
          </p:cNvPr>
          <p:cNvSpPr/>
          <p:nvPr/>
        </p:nvSpPr>
        <p:spPr>
          <a:xfrm>
            <a:off x="4964641" y="1634245"/>
            <a:ext cx="234391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FFF27D56-7E10-7541-D6AE-0144885DC5AC}"/>
              </a:ext>
            </a:extLst>
          </p:cNvPr>
          <p:cNvSpPr/>
          <p:nvPr/>
        </p:nvSpPr>
        <p:spPr>
          <a:xfrm>
            <a:off x="7427468" y="1045611"/>
            <a:ext cx="1524000" cy="3626990"/>
          </a:xfrm>
          <a:prstGeom prst="roundRect">
            <a:avLst>
              <a:gd name="adj" fmla="val 5554"/>
            </a:avLst>
          </a:prstGeom>
          <a:noFill/>
          <a:ln w="9525">
            <a:solidFill>
              <a:srgbClr val="38B2AC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B592B42-0D45-222C-1C48-F1F179A94F93}"/>
              </a:ext>
            </a:extLst>
          </p:cNvPr>
          <p:cNvSpPr/>
          <p:nvPr/>
        </p:nvSpPr>
        <p:spPr>
          <a:xfrm>
            <a:off x="976840" y="2120439"/>
            <a:ext cx="6341306" cy="1232640"/>
          </a:xfrm>
          <a:prstGeom prst="roundRect">
            <a:avLst>
              <a:gd name="adj" fmla="val 8431"/>
            </a:avLst>
          </a:prstGeom>
          <a:solidFill>
            <a:srgbClr val="F6FCFA"/>
          </a:solidFill>
          <a:ln w="9525" cap="flat" cmpd="sng" algn="ctr">
            <a:solidFill>
              <a:srgbClr val="2C80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87F07837-D3EF-326C-EAF5-32BF4A22178D}"/>
              </a:ext>
            </a:extLst>
          </p:cNvPr>
          <p:cNvSpPr/>
          <p:nvPr/>
        </p:nvSpPr>
        <p:spPr>
          <a:xfrm>
            <a:off x="1058151" y="237682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A1C93316-8249-44C7-F8EF-0AA670D48707}"/>
              </a:ext>
            </a:extLst>
          </p:cNvPr>
          <p:cNvSpPr/>
          <p:nvPr/>
        </p:nvSpPr>
        <p:spPr>
          <a:xfrm>
            <a:off x="1058151" y="2689441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E8D1BCE8-17E0-5993-7C27-AC35913966E9}"/>
              </a:ext>
            </a:extLst>
          </p:cNvPr>
          <p:cNvSpPr/>
          <p:nvPr/>
        </p:nvSpPr>
        <p:spPr>
          <a:xfrm>
            <a:off x="1058150" y="300205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B254AB2-D4D7-4E40-47CD-6CE46A04954E}"/>
              </a:ext>
            </a:extLst>
          </p:cNvPr>
          <p:cNvSpPr/>
          <p:nvPr/>
        </p:nvSpPr>
        <p:spPr>
          <a:xfrm>
            <a:off x="5015441" y="2371712"/>
            <a:ext cx="2199747" cy="890736"/>
          </a:xfrm>
          <a:prstGeom prst="roundRect">
            <a:avLst>
              <a:gd name="adj" fmla="val 10060"/>
            </a:avLst>
          </a:prstGeom>
          <a:solidFill>
            <a:srgbClr val="ECFDF7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1C656B7E-45AC-80CF-005D-AC98A097024B}"/>
              </a:ext>
            </a:extLst>
          </p:cNvPr>
          <p:cNvSpPr/>
          <p:nvPr/>
        </p:nvSpPr>
        <p:spPr>
          <a:xfrm>
            <a:off x="976840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816CD40E-4654-83AE-AC7B-3304F7EEE4F1}"/>
              </a:ext>
            </a:extLst>
          </p:cNvPr>
          <p:cNvSpPr/>
          <p:nvPr/>
        </p:nvSpPr>
        <p:spPr>
          <a:xfrm>
            <a:off x="2582465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213A0C3D-11DA-A511-AC75-E1923C9CDEA8}"/>
              </a:ext>
            </a:extLst>
          </p:cNvPr>
          <p:cNvSpPr/>
          <p:nvPr/>
        </p:nvSpPr>
        <p:spPr>
          <a:xfrm>
            <a:off x="4188090" y="3479535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083C4033-93A5-7629-6810-E526D82B7E2B}"/>
              </a:ext>
            </a:extLst>
          </p:cNvPr>
          <p:cNvSpPr/>
          <p:nvPr/>
        </p:nvSpPr>
        <p:spPr>
          <a:xfrm>
            <a:off x="5793715" y="3479534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7" name="Shape 4">
            <a:extLst>
              <a:ext uri="{FF2B5EF4-FFF2-40B4-BE49-F238E27FC236}">
                <a16:creationId xmlns:a16="http://schemas.microsoft.com/office/drawing/2014/main" id="{3D386730-9F6A-2A47-9B64-2FDB6CEACBE7}"/>
              </a:ext>
            </a:extLst>
          </p:cNvPr>
          <p:cNvSpPr/>
          <p:nvPr/>
        </p:nvSpPr>
        <p:spPr>
          <a:xfrm>
            <a:off x="976840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A11E458A-E59C-F6C5-1994-9EBB18B8DB54}"/>
              </a:ext>
            </a:extLst>
          </p:cNvPr>
          <p:cNvSpPr/>
          <p:nvPr/>
        </p:nvSpPr>
        <p:spPr>
          <a:xfrm>
            <a:off x="2582465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B74CC3CE-342F-5E40-5642-FB6D32215C31}"/>
              </a:ext>
            </a:extLst>
          </p:cNvPr>
          <p:cNvSpPr/>
          <p:nvPr/>
        </p:nvSpPr>
        <p:spPr>
          <a:xfrm>
            <a:off x="4188090" y="4120762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E64D19C2-C9ED-D76F-C643-5531B12C642D}"/>
              </a:ext>
            </a:extLst>
          </p:cNvPr>
          <p:cNvSpPr/>
          <p:nvPr/>
        </p:nvSpPr>
        <p:spPr>
          <a:xfrm>
            <a:off x="5793715" y="4120761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B401FEA6-75FB-65D1-2938-71640BD192DD}"/>
              </a:ext>
            </a:extLst>
          </p:cNvPr>
          <p:cNvSpPr/>
          <p:nvPr/>
        </p:nvSpPr>
        <p:spPr>
          <a:xfrm>
            <a:off x="5547675" y="2178125"/>
            <a:ext cx="1659894" cy="127878"/>
          </a:xfrm>
          <a:prstGeom prst="roundRect">
            <a:avLst>
              <a:gd name="adj" fmla="val 48236"/>
            </a:avLst>
          </a:prstGeom>
          <a:solidFill>
            <a:srgbClr val="0F6E56"/>
          </a:solidFill>
          <a:ln w="3175">
            <a:solidFill>
              <a:srgbClr val="0F6E5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3" name="Shape 4">
            <a:extLst>
              <a:ext uri="{FF2B5EF4-FFF2-40B4-BE49-F238E27FC236}">
                <a16:creationId xmlns:a16="http://schemas.microsoft.com/office/drawing/2014/main" id="{156F0F70-5928-2B1C-E350-29950209BB7D}"/>
              </a:ext>
            </a:extLst>
          </p:cNvPr>
          <p:cNvSpPr/>
          <p:nvPr/>
        </p:nvSpPr>
        <p:spPr>
          <a:xfrm>
            <a:off x="7523156" y="116296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490ED251-C116-C39B-2A77-3151F3A2F43D}"/>
              </a:ext>
            </a:extLst>
          </p:cNvPr>
          <p:cNvSpPr/>
          <p:nvPr/>
        </p:nvSpPr>
        <p:spPr>
          <a:xfrm>
            <a:off x="7534972" y="200180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Shape 4">
            <a:extLst>
              <a:ext uri="{FF2B5EF4-FFF2-40B4-BE49-F238E27FC236}">
                <a16:creationId xmlns:a16="http://schemas.microsoft.com/office/drawing/2014/main" id="{9E3071A2-E7EE-50E9-427D-44B648BBCA03}"/>
              </a:ext>
            </a:extLst>
          </p:cNvPr>
          <p:cNvSpPr/>
          <p:nvPr/>
        </p:nvSpPr>
        <p:spPr>
          <a:xfrm>
            <a:off x="7523156" y="284064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9" name="IconChip 419"/>
          <p:cNvSpPr/>
          <p:nvPr/>
        </p:nvSpPr>
        <p:spPr>
          <a:xfrm>
            <a:off x="7594600" y="29654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3" name="그래픽 62">
            <a:extLst>
              <a:ext uri="{FF2B5EF4-FFF2-40B4-BE49-F238E27FC236}">
                <a16:creationId xmlns:a16="http://schemas.microsoft.com/office/drawing/2014/main" id="{47C4A015-48C1-E2E5-70E1-F5D763F5F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2700" y="3003550"/>
            <a:ext cx="243325" cy="243325"/>
          </a:xfrm>
          <a:prstGeom prst="rect">
            <a:avLst/>
          </a:prstGeom>
        </p:spPr>
      </p:pic>
      <p:sp>
        <p:nvSpPr>
          <p:cNvPr id="418" name="IconChip 418"/>
          <p:cNvSpPr/>
          <p:nvPr/>
        </p:nvSpPr>
        <p:spPr>
          <a:xfrm>
            <a:off x="7607300" y="21272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5" name="그래픽 64">
            <a:extLst>
              <a:ext uri="{FF2B5EF4-FFF2-40B4-BE49-F238E27FC236}">
                <a16:creationId xmlns:a16="http://schemas.microsoft.com/office/drawing/2014/main" id="{7568D651-AC49-D998-771A-9B0B161E8B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5400" y="2165350"/>
            <a:ext cx="243325" cy="243325"/>
          </a:xfrm>
          <a:prstGeom prst="rect">
            <a:avLst/>
          </a:prstGeom>
        </p:spPr>
      </p:pic>
      <p:sp>
        <p:nvSpPr>
          <p:cNvPr id="417" name="IconChip 417"/>
          <p:cNvSpPr/>
          <p:nvPr/>
        </p:nvSpPr>
        <p:spPr>
          <a:xfrm>
            <a:off x="7594600" y="1289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7" name="그래픽 66">
            <a:extLst>
              <a:ext uri="{FF2B5EF4-FFF2-40B4-BE49-F238E27FC236}">
                <a16:creationId xmlns:a16="http://schemas.microsoft.com/office/drawing/2014/main" id="{445F2326-32AA-F4A5-307A-46DD2BE0E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32700" y="1327150"/>
            <a:ext cx="243325" cy="243325"/>
          </a:xfrm>
          <a:prstGeom prst="rect">
            <a:avLst/>
          </a:prstGeom>
        </p:spPr>
      </p:pic>
      <p:sp>
        <p:nvSpPr>
          <p:cNvPr id="408" name="IconChip 408"/>
          <p:cNvSpPr/>
          <p:nvPr/>
        </p:nvSpPr>
        <p:spPr>
          <a:xfrm>
            <a:off x="1104900" y="30289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1" name="그래픽 70">
            <a:extLst>
              <a:ext uri="{FF2B5EF4-FFF2-40B4-BE49-F238E27FC236}">
                <a16:creationId xmlns:a16="http://schemas.microsoft.com/office/drawing/2014/main" id="{2B439F9A-8B9B-A465-AD7D-B5463DCDA0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0300" y="3054350"/>
            <a:ext cx="152400" cy="152400"/>
          </a:xfrm>
          <a:prstGeom prst="rect">
            <a:avLst/>
          </a:prstGeom>
        </p:spPr>
      </p:pic>
      <p:sp>
        <p:nvSpPr>
          <p:cNvPr id="407" name="IconChip 407"/>
          <p:cNvSpPr/>
          <p:nvPr/>
        </p:nvSpPr>
        <p:spPr>
          <a:xfrm>
            <a:off x="1104900" y="27241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5AF4259B-9A76-D7D9-857E-381DD862E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30300" y="2749550"/>
            <a:ext cx="152400" cy="152400"/>
          </a:xfrm>
          <a:prstGeom prst="rect">
            <a:avLst/>
          </a:prstGeom>
        </p:spPr>
      </p:pic>
      <p:sp>
        <p:nvSpPr>
          <p:cNvPr id="406" name="IconChip 406"/>
          <p:cNvSpPr/>
          <p:nvPr/>
        </p:nvSpPr>
        <p:spPr>
          <a:xfrm>
            <a:off x="1104900" y="24066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5" name="그래픽 74">
            <a:extLst>
              <a:ext uri="{FF2B5EF4-FFF2-40B4-BE49-F238E27FC236}">
                <a16:creationId xmlns:a16="http://schemas.microsoft.com/office/drawing/2014/main" id="{76CA84E6-A8AC-ADAF-7786-DDC3E9CED5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0300" y="2432050"/>
            <a:ext cx="152400" cy="152400"/>
          </a:xfrm>
          <a:prstGeom prst="rect">
            <a:avLst/>
          </a:prstGeom>
        </p:spPr>
      </p:pic>
      <p:sp>
        <p:nvSpPr>
          <p:cNvPr id="405" name="IconChip 405"/>
          <p:cNvSpPr/>
          <p:nvPr/>
        </p:nvSpPr>
        <p:spPr>
          <a:xfrm>
            <a:off x="50419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9" name="그래픽 78">
            <a:extLst>
              <a:ext uri="{FF2B5EF4-FFF2-40B4-BE49-F238E27FC236}">
                <a16:creationId xmlns:a16="http://schemas.microsoft.com/office/drawing/2014/main" id="{F6EF4DFF-546F-FC93-D152-247DA09438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80000" y="1708150"/>
            <a:ext cx="243325" cy="243325"/>
          </a:xfrm>
          <a:prstGeom prst="rect">
            <a:avLst/>
          </a:prstGeom>
        </p:spPr>
      </p:pic>
      <p:sp>
        <p:nvSpPr>
          <p:cNvPr id="404" name="IconChip 404"/>
          <p:cNvSpPr/>
          <p:nvPr/>
        </p:nvSpPr>
        <p:spPr>
          <a:xfrm>
            <a:off x="10541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1" name="그래픽 80">
            <a:extLst>
              <a:ext uri="{FF2B5EF4-FFF2-40B4-BE49-F238E27FC236}">
                <a16:creationId xmlns:a16="http://schemas.microsoft.com/office/drawing/2014/main" id="{A69F000D-175C-3688-67C9-02DCEA34B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1708150"/>
            <a:ext cx="243325" cy="243325"/>
          </a:xfrm>
          <a:prstGeom prst="rect">
            <a:avLst/>
          </a:prstGeom>
        </p:spPr>
      </p:pic>
      <p:sp>
        <p:nvSpPr>
          <p:cNvPr id="403" name="IconChip 403"/>
          <p:cNvSpPr/>
          <p:nvPr/>
        </p:nvSpPr>
        <p:spPr>
          <a:xfrm>
            <a:off x="5880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D30DAEA9-629B-5767-EB23-B9A848550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18200" y="1155700"/>
            <a:ext cx="243325" cy="243325"/>
          </a:xfrm>
          <a:prstGeom prst="rect">
            <a:avLst/>
          </a:prstGeom>
        </p:spPr>
      </p:pic>
      <p:sp>
        <p:nvSpPr>
          <p:cNvPr id="402" name="IconChip 402"/>
          <p:cNvSpPr/>
          <p:nvPr/>
        </p:nvSpPr>
        <p:spPr>
          <a:xfrm>
            <a:off x="42672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5" name="그래픽 84">
            <a:extLst>
              <a:ext uri="{FF2B5EF4-FFF2-40B4-BE49-F238E27FC236}">
                <a16:creationId xmlns:a16="http://schemas.microsoft.com/office/drawing/2014/main" id="{CD230F25-20A9-1897-A415-E33F93E77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5300" y="1155700"/>
            <a:ext cx="243325" cy="243325"/>
          </a:xfrm>
          <a:prstGeom prst="rect">
            <a:avLst/>
          </a:prstGeom>
        </p:spPr>
      </p:pic>
      <p:sp>
        <p:nvSpPr>
          <p:cNvPr id="401" name="IconChip 401"/>
          <p:cNvSpPr/>
          <p:nvPr/>
        </p:nvSpPr>
        <p:spPr>
          <a:xfrm>
            <a:off x="26670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F512FBF1-C359-3CC0-9849-566C519812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05100" y="1155700"/>
            <a:ext cx="243325" cy="243325"/>
          </a:xfrm>
          <a:prstGeom prst="rect">
            <a:avLst/>
          </a:prstGeom>
        </p:spPr>
      </p:pic>
      <p:sp>
        <p:nvSpPr>
          <p:cNvPr id="400" name="IconChip 400"/>
          <p:cNvSpPr/>
          <p:nvPr/>
        </p:nvSpPr>
        <p:spPr>
          <a:xfrm>
            <a:off x="1054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9" name="그래픽 88">
            <a:extLst>
              <a:ext uri="{FF2B5EF4-FFF2-40B4-BE49-F238E27FC236}">
                <a16:creationId xmlns:a16="http://schemas.microsoft.com/office/drawing/2014/main" id="{4E7D92A5-1B34-1ABB-A3A9-A9113E27C7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2200" y="1155700"/>
            <a:ext cx="243325" cy="243325"/>
          </a:xfrm>
          <a:prstGeom prst="rect">
            <a:avLst/>
          </a:prstGeom>
        </p:spPr>
      </p:pic>
      <p:sp>
        <p:nvSpPr>
          <p:cNvPr id="409" name="IconChip 409"/>
          <p:cNvSpPr/>
          <p:nvPr/>
        </p:nvSpPr>
        <p:spPr>
          <a:xfrm>
            <a:off x="10541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3" name="그래픽 92">
            <a:extLst>
              <a:ext uri="{FF2B5EF4-FFF2-40B4-BE49-F238E27FC236}">
                <a16:creationId xmlns:a16="http://schemas.microsoft.com/office/drawing/2014/main" id="{4DDCDBB1-E3EE-23C8-0081-713DC5C42B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92200" y="3625850"/>
            <a:ext cx="244800" cy="244800"/>
          </a:xfrm>
          <a:prstGeom prst="rect">
            <a:avLst/>
          </a:prstGeom>
        </p:spPr>
      </p:pic>
      <p:sp>
        <p:nvSpPr>
          <p:cNvPr id="410" name="IconChip 410"/>
          <p:cNvSpPr/>
          <p:nvPr/>
        </p:nvSpPr>
        <p:spPr>
          <a:xfrm>
            <a:off x="26543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6" name="그래픽 95">
            <a:extLst>
              <a:ext uri="{FF2B5EF4-FFF2-40B4-BE49-F238E27FC236}">
                <a16:creationId xmlns:a16="http://schemas.microsoft.com/office/drawing/2014/main" id="{3A299D0E-CCCF-4B70-2918-A5F9A1FDE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3625850"/>
            <a:ext cx="244800" cy="244800"/>
          </a:xfrm>
          <a:prstGeom prst="rect">
            <a:avLst/>
          </a:prstGeom>
        </p:spPr>
      </p:pic>
      <p:sp>
        <p:nvSpPr>
          <p:cNvPr id="411" name="IconChip 411"/>
          <p:cNvSpPr/>
          <p:nvPr/>
        </p:nvSpPr>
        <p:spPr>
          <a:xfrm>
            <a:off x="42672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7" name="그래픽 96">
            <a:extLst>
              <a:ext uri="{FF2B5EF4-FFF2-40B4-BE49-F238E27FC236}">
                <a16:creationId xmlns:a16="http://schemas.microsoft.com/office/drawing/2014/main" id="{4C58DBB4-725F-C9A1-D81F-315CF8EB2A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05300" y="3625850"/>
            <a:ext cx="244800" cy="244800"/>
          </a:xfrm>
          <a:prstGeom prst="rect">
            <a:avLst/>
          </a:prstGeom>
        </p:spPr>
      </p:pic>
      <p:sp>
        <p:nvSpPr>
          <p:cNvPr id="412" name="IconChip 412"/>
          <p:cNvSpPr/>
          <p:nvPr/>
        </p:nvSpPr>
        <p:spPr>
          <a:xfrm>
            <a:off x="58674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8" name="그래픽 97">
            <a:extLst>
              <a:ext uri="{FF2B5EF4-FFF2-40B4-BE49-F238E27FC236}">
                <a16:creationId xmlns:a16="http://schemas.microsoft.com/office/drawing/2014/main" id="{87F42597-F1CA-4FD6-3FBE-D0895F86E4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05500" y="3625850"/>
            <a:ext cx="244800" cy="244800"/>
          </a:xfrm>
          <a:prstGeom prst="rect">
            <a:avLst/>
          </a:prstGeom>
        </p:spPr>
      </p:pic>
      <p:sp>
        <p:nvSpPr>
          <p:cNvPr id="414" name="IconChip 414"/>
          <p:cNvSpPr/>
          <p:nvPr/>
        </p:nvSpPr>
        <p:spPr>
          <a:xfrm>
            <a:off x="26543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11C64744-D20C-6BAA-43DE-B2396F88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4267200"/>
            <a:ext cx="244800" cy="244800"/>
          </a:xfrm>
          <a:prstGeom prst="rect">
            <a:avLst/>
          </a:prstGeom>
        </p:spPr>
      </p:pic>
      <p:sp>
        <p:nvSpPr>
          <p:cNvPr id="415" name="IconChip 415"/>
          <p:cNvSpPr/>
          <p:nvPr/>
        </p:nvSpPr>
        <p:spPr>
          <a:xfrm>
            <a:off x="42672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0" name="그래픽 99">
            <a:extLst>
              <a:ext uri="{FF2B5EF4-FFF2-40B4-BE49-F238E27FC236}">
                <a16:creationId xmlns:a16="http://schemas.microsoft.com/office/drawing/2014/main" id="{49D741D6-197C-2933-B7B1-971A49050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305300" y="4267200"/>
            <a:ext cx="243325" cy="243325"/>
          </a:xfrm>
          <a:prstGeom prst="rect">
            <a:avLst/>
          </a:prstGeom>
        </p:spPr>
      </p:pic>
      <p:sp>
        <p:nvSpPr>
          <p:cNvPr id="416" name="IconChip 416"/>
          <p:cNvSpPr/>
          <p:nvPr/>
        </p:nvSpPr>
        <p:spPr>
          <a:xfrm>
            <a:off x="58674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1" name="그래픽 100">
            <a:extLst>
              <a:ext uri="{FF2B5EF4-FFF2-40B4-BE49-F238E27FC236}">
                <a16:creationId xmlns:a16="http://schemas.microsoft.com/office/drawing/2014/main" id="{31DF660A-B2F2-8C6F-B413-ECD8EA2CB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905500" y="4267200"/>
            <a:ext cx="243325" cy="243325"/>
          </a:xfrm>
          <a:prstGeom prst="rect">
            <a:avLst/>
          </a:prstGeom>
        </p:spPr>
      </p:pic>
      <p:sp>
        <p:nvSpPr>
          <p:cNvPr id="413" name="IconChip 413"/>
          <p:cNvSpPr/>
          <p:nvPr/>
        </p:nvSpPr>
        <p:spPr>
          <a:xfrm>
            <a:off x="10541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2" name="그래픽 101">
            <a:extLst>
              <a:ext uri="{FF2B5EF4-FFF2-40B4-BE49-F238E27FC236}">
                <a16:creationId xmlns:a16="http://schemas.microsoft.com/office/drawing/2014/main" id="{F1E7145A-1CC0-EB43-B0A3-BB9B7B0F3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92200" y="4267200"/>
            <a:ext cx="244800" cy="24480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AAECEFD7-757B-B6EC-9061-226BF1293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095277" y="2429870"/>
            <a:ext cx="244800" cy="244800"/>
          </a:xfrm>
          <a:prstGeom prst="rect">
            <a:avLst/>
          </a:prstGeom>
        </p:spPr>
      </p:pic>
      <p:sp>
        <p:nvSpPr>
          <p:cNvPr id="300" name="AnnoText 300"/>
          <p:cNvSpPr txBox="1"/>
          <p:nvPr/>
        </p:nvSpPr>
        <p:spPr>
          <a:xfrm>
            <a:off x="1422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Web Browser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(React SPA)</a:t>
            </a:r>
          </a:p>
        </p:txBody>
      </p:sp>
      <p:sp>
        <p:nvSpPr>
          <p:cNvPr id="301" name="AnnoText 301"/>
          <p:cNvSpPr txBox="1"/>
          <p:nvPr/>
        </p:nvSpPr>
        <p:spPr>
          <a:xfrm>
            <a:off x="30353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Mobile App</a:t>
            </a:r>
          </a:p>
        </p:txBody>
      </p:sp>
      <p:sp>
        <p:nvSpPr>
          <p:cNvPr id="302" name="AnnoText 302"/>
          <p:cNvSpPr txBox="1"/>
          <p:nvPr/>
        </p:nvSpPr>
        <p:spPr>
          <a:xfrm>
            <a:off x="46355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AI Client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(MCP)</a:t>
            </a:r>
          </a:p>
        </p:txBody>
      </p:sp>
      <p:sp>
        <p:nvSpPr>
          <p:cNvPr id="303" name="AnnoText 303"/>
          <p:cNvSpPr txBox="1"/>
          <p:nvPr/>
        </p:nvSpPr>
        <p:spPr>
          <a:xfrm>
            <a:off x="6248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System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(REST API)</a:t>
            </a:r>
          </a:p>
        </p:txBody>
      </p:sp>
      <p:sp>
        <p:nvSpPr>
          <p:cNvPr id="304" name="AnnoText 304"/>
          <p:cNvSpPr txBox="1"/>
          <p:nvPr/>
        </p:nvSpPr>
        <p:spPr>
          <a:xfrm>
            <a:off x="1435100" y="1663700"/>
            <a:ext cx="33401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Nginx — TLS 443 (Let's Encrypt)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SSE pass-through · buffering off</a:t>
            </a:r>
          </a:p>
        </p:txBody>
      </p:sp>
      <p:sp>
        <p:nvSpPr>
          <p:cNvPr id="305" name="AnnoText 305"/>
          <p:cNvSpPr txBox="1"/>
          <p:nvPr/>
        </p:nvSpPr>
        <p:spPr>
          <a:xfrm>
            <a:off x="5422900" y="1663700"/>
            <a:ext cx="17907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Firewall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22 / 80 / 443</a:t>
            </a:r>
          </a:p>
        </p:txBody>
      </p:sp>
      <p:sp>
        <p:nvSpPr>
          <p:cNvPr id="306" name="AnnoText 306"/>
          <p:cNvSpPr txBox="1"/>
          <p:nvPr/>
        </p:nvSpPr>
        <p:spPr>
          <a:xfrm>
            <a:off x="1054100" y="2159000"/>
            <a:ext cx="4445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b="1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APPLICATION SERVER</a:t>
            </a:r>
            <a:r>
              <a:rPr lang="en-US" altLang="ko-KR" sz="600" dirty="0">
                <a:solidFill>
                  <a:srgbClr val="64748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— /opt/innermate · systemd + PM2 cluster (8 workers) · port 3234</a:t>
            </a:r>
          </a:p>
        </p:txBody>
      </p:sp>
      <p:sp>
        <p:nvSpPr>
          <p:cNvPr id="307" name="AnnoText 307"/>
          <p:cNvSpPr txBox="1"/>
          <p:nvPr/>
        </p:nvSpPr>
        <p:spPr>
          <a:xfrm>
            <a:off x="5549900" y="2184400"/>
            <a:ext cx="1663700" cy="127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FFFFFF"/>
                </a:solidFill>
                <a:latin typeface="SUIT ExtraBold" pitchFamily="2" charset="-127"/>
                <a:ea typeface="SUIT ExtraBold" pitchFamily="2" charset="-127"/>
              </a:rPr>
              <a:t>NO REDIS — queue runs on Postgres LISTEN/NOTIFY</a:t>
            </a:r>
          </a:p>
        </p:txBody>
      </p:sp>
      <p:sp>
        <p:nvSpPr>
          <p:cNvPr id="308" name="AnnoText 308"/>
          <p:cNvSpPr txBox="1"/>
          <p:nvPr/>
        </p:nvSpPr>
        <p:spPr>
          <a:xfrm>
            <a:off x="1358900" y="23749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Fastify API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/api/chat (SSE), /api/admin, /api/files, /api/mcp</a:t>
            </a:r>
          </a:p>
        </p:txBody>
      </p:sp>
      <p:sp>
        <p:nvSpPr>
          <p:cNvPr id="309" name="AnnoText 309"/>
          <p:cNvSpPr txBox="1"/>
          <p:nvPr/>
        </p:nvSpPr>
        <p:spPr>
          <a:xfrm>
            <a:off x="1358900" y="26924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Static Web Assets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(Vite build)</a:t>
            </a:r>
          </a:p>
        </p:txBody>
      </p:sp>
      <p:sp>
        <p:nvSpPr>
          <p:cNvPr id="310" name="AnnoText 310"/>
          <p:cNvSpPr txBox="1"/>
          <p:nvPr/>
        </p:nvSpPr>
        <p:spPr>
          <a:xfrm>
            <a:off x="1358900" y="29972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graphile-worker (in-process)</a:t>
            </a: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excel.ingest, wiki.ingest, dds.run, memory.embed, org.sync</a:t>
            </a:r>
          </a:p>
        </p:txBody>
      </p:sp>
      <p:sp>
        <p:nvSpPr>
          <p:cNvPr id="311" name="AnnoText 311"/>
          <p:cNvSpPr txBox="1"/>
          <p:nvPr/>
        </p:nvSpPr>
        <p:spPr>
          <a:xfrm>
            <a:off x="5359400" y="2413000"/>
            <a:ext cx="17780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Embedded Runtimes:</a:t>
            </a:r>
          </a:p>
        </p:txBody>
      </p:sp>
      <p:sp>
        <p:nvSpPr>
          <p:cNvPr id="312" name="AnnoText 312"/>
          <p:cNvSpPr txBox="1"/>
          <p:nvPr/>
        </p:nvSpPr>
        <p:spPr>
          <a:xfrm>
            <a:off x="5130800" y="2603500"/>
            <a:ext cx="19812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Java JRE 17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Python venv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Chromium (PDF/PPTX export)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DuckDB</a:t>
            </a:r>
          </a:p>
        </p:txBody>
      </p:sp>
      <p:sp>
        <p:nvSpPr>
          <p:cNvPr id="313" name="AnnoText 313"/>
          <p:cNvSpPr txBox="1"/>
          <p:nvPr/>
        </p:nvSpPr>
        <p:spPr>
          <a:xfrm>
            <a:off x="14224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PostgreSQL 16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 + pgvector : 4235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system DB · 184 / 300 conns</a:t>
            </a:r>
          </a:p>
        </p:txBody>
      </p:sp>
      <p:sp>
        <p:nvSpPr>
          <p:cNvPr id="314" name="AnnoText 314"/>
          <p:cNvSpPr txBox="1"/>
          <p:nvPr/>
        </p:nvSpPr>
        <p:spPr>
          <a:xfrm>
            <a:off x="30353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MinIO S3 : 9234 / console 9235</a:t>
            </a:r>
          </a:p>
        </p:txBody>
      </p:sp>
      <p:sp>
        <p:nvSpPr>
          <p:cNvPr id="315" name="AnnoText 315"/>
          <p:cNvSpPr txBox="1"/>
          <p:nvPr/>
        </p:nvSpPr>
        <p:spPr>
          <a:xfrm>
            <a:off x="46355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DuckDB files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(local, embedded)</a:t>
            </a:r>
          </a:p>
        </p:txBody>
      </p:sp>
      <p:sp>
        <p:nvSpPr>
          <p:cNvPr id="316" name="AnnoText 316"/>
          <p:cNvSpPr txBox="1"/>
          <p:nvPr/>
        </p:nvSpPr>
        <p:spPr>
          <a:xfrm>
            <a:off x="62357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Oracle 23ai : 4236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(dual support)</a:t>
            </a:r>
          </a:p>
        </p:txBody>
      </p:sp>
      <p:sp>
        <p:nvSpPr>
          <p:cNvPr id="317" name="AnnoText 317"/>
          <p:cNvSpPr txBox="1"/>
          <p:nvPr/>
        </p:nvSpPr>
        <p:spPr>
          <a:xfrm>
            <a:off x="14224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LLM Bonding Pool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internal vLLM GPU nodes + OpenAI / Anthropic / Gemini</a:t>
            </a:r>
          </a:p>
        </p:txBody>
      </p:sp>
      <p:sp>
        <p:nvSpPr>
          <p:cNvPr id="318" name="AnnoText 318"/>
          <p:cNvSpPr txBox="1"/>
          <p:nvPr/>
        </p:nvSpPr>
        <p:spPr>
          <a:xfrm>
            <a:off x="30226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Data Sources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PostgreSQL, MySQL, MariaDB, MSSQL, Oracle, BigQuery</a:t>
            </a:r>
          </a:p>
        </p:txBody>
      </p:sp>
      <p:sp>
        <p:nvSpPr>
          <p:cNvPr id="319" name="AnnoText 319"/>
          <p:cNvSpPr txBox="1"/>
          <p:nvPr/>
        </p:nvSpPr>
        <p:spPr>
          <a:xfrm>
            <a:off x="46355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Tableau Server</a:t>
            </a:r>
          </a:p>
        </p:txBody>
      </p:sp>
      <p:sp>
        <p:nvSpPr>
          <p:cNvPr id="320" name="AnnoText 320"/>
          <p:cNvSpPr txBox="1"/>
          <p:nvPr/>
        </p:nvSpPr>
        <p:spPr>
          <a:xfrm>
            <a:off x="62357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Identity Providers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LDAP, MS Entra ID, ISign+</a:t>
            </a:r>
          </a:p>
        </p:txBody>
      </p:sp>
      <p:sp>
        <p:nvSpPr>
          <p:cNvPr id="321" name="AnnoText 321"/>
          <p:cNvSpPr txBox="1"/>
          <p:nvPr/>
        </p:nvSpPr>
        <p:spPr>
          <a:xfrm>
            <a:off x="7429500" y="1054100"/>
            <a:ext cx="15240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RELEASE PIPELINE</a:t>
            </a:r>
          </a:p>
        </p:txBody>
      </p:sp>
      <p:sp>
        <p:nvSpPr>
          <p:cNvPr id="322" name="AnnoText 322"/>
          <p:cNvSpPr txBox="1"/>
          <p:nvPr/>
        </p:nvSpPr>
        <p:spPr>
          <a:xfrm>
            <a:off x="7962900" y="12192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.deb / .rpm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package</a:t>
            </a:r>
          </a:p>
        </p:txBody>
      </p:sp>
      <p:sp>
        <p:nvSpPr>
          <p:cNvPr id="323" name="AnnoText 323"/>
          <p:cNvSpPr txBox="1"/>
          <p:nvPr/>
        </p:nvSpPr>
        <p:spPr>
          <a:xfrm>
            <a:off x="7962900" y="20574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versions/&lt;ver&gt; +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atomic symlink swap</a:t>
            </a:r>
          </a:p>
        </p:txBody>
      </p:sp>
      <p:sp>
        <p:nvSpPr>
          <p:cNvPr id="324" name="AnnoText 324"/>
          <p:cNvSpPr txBox="1"/>
          <p:nvPr/>
        </p:nvSpPr>
        <p:spPr>
          <a:xfrm>
            <a:off x="7962900" y="28956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PM2 reload —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zero downtime</a:t>
            </a:r>
          </a:p>
        </p:txBody>
      </p:sp>
      <p:sp>
        <p:nvSpPr>
          <p:cNvPr id="325" name="AnnoPill 325"/>
          <p:cNvSpPr/>
          <p:nvPr/>
        </p:nvSpPr>
        <p:spPr>
          <a:xfrm>
            <a:off x="7531100" y="4419600"/>
            <a:ext cx="1333500" cy="1778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0F6E56"/>
            </a:solidFill>
          </a:ln>
        </p:spPr>
        <p:txBody>
          <a:bodyPr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air-gapped install supported</a:t>
            </a:r>
          </a:p>
        </p:txBody>
      </p:sp>
      <p:sp>
        <p:nvSpPr>
          <p:cNvPr id="326" name="AnnoText 326"/>
          <p:cNvSpPr txBox="1"/>
          <p:nvPr/>
        </p:nvSpPr>
        <p:spPr>
          <a:xfrm>
            <a:off x="990600" y="1517650"/>
            <a:ext cx="6604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HTTPS / SSE</a:t>
            </a:r>
          </a:p>
        </p:txBody>
      </p:sp>
      <p:sp>
        <p:nvSpPr>
          <p:cNvPr id="327" name="AnnoText 327"/>
          <p:cNvSpPr txBox="1"/>
          <p:nvPr/>
        </p:nvSpPr>
        <p:spPr>
          <a:xfrm>
            <a:off x="990600" y="3371850"/>
            <a:ext cx="660400" cy="10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Drizzle ORM</a:t>
            </a:r>
          </a:p>
        </p:txBody>
      </p:sp>
      <p:cxnSp>
        <p:nvCxnSpPr>
          <p:cNvPr id="328" name="AnnoLine 328"/>
          <p:cNvCxnSpPr/>
          <p:nvPr/>
        </p:nvCxnSpPr>
        <p:spPr>
          <a:xfrm>
            <a:off x="1733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29" name="AnnoLine 329"/>
          <p:cNvCxnSpPr/>
          <p:nvPr/>
        </p:nvCxnSpPr>
        <p:spPr>
          <a:xfrm>
            <a:off x="33464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0" name="AnnoLine 330"/>
          <p:cNvCxnSpPr/>
          <p:nvPr/>
        </p:nvCxnSpPr>
        <p:spPr>
          <a:xfrm>
            <a:off x="49466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1" name="AnnoLine 331"/>
          <p:cNvCxnSpPr/>
          <p:nvPr/>
        </p:nvCxnSpPr>
        <p:spPr>
          <a:xfrm>
            <a:off x="6559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2" name="AnnoLine 332"/>
          <p:cNvCxnSpPr/>
          <p:nvPr/>
        </p:nvCxnSpPr>
        <p:spPr>
          <a:xfrm>
            <a:off x="1733550" y="1574800"/>
            <a:ext cx="48260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3" name="AnnoLine 333"/>
          <p:cNvCxnSpPr/>
          <p:nvPr/>
        </p:nvCxnSpPr>
        <p:spPr>
          <a:xfrm>
            <a:off x="4025900" y="15748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4" name="AnnoLine 334"/>
          <p:cNvCxnSpPr/>
          <p:nvPr/>
        </p:nvCxnSpPr>
        <p:spPr>
          <a:xfrm>
            <a:off x="4025900" y="2019300"/>
            <a:ext cx="0" cy="952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5" name="AnnoLine 335"/>
          <p:cNvCxnSpPr/>
          <p:nvPr/>
        </p:nvCxnSpPr>
        <p:spPr>
          <a:xfrm>
            <a:off x="4025900" y="3352800"/>
            <a:ext cx="0" cy="508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6" name="AnnoLine 336"/>
          <p:cNvCxnSpPr/>
          <p:nvPr/>
        </p:nvCxnSpPr>
        <p:spPr>
          <a:xfrm>
            <a:off x="1733550" y="3403600"/>
            <a:ext cx="48133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7" name="AnnoLine 337"/>
          <p:cNvCxnSpPr/>
          <p:nvPr/>
        </p:nvCxnSpPr>
        <p:spPr>
          <a:xfrm>
            <a:off x="17335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8" name="AnnoLine 338"/>
          <p:cNvCxnSpPr/>
          <p:nvPr/>
        </p:nvCxnSpPr>
        <p:spPr>
          <a:xfrm>
            <a:off x="33337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9" name="AnnoLine 339"/>
          <p:cNvCxnSpPr/>
          <p:nvPr/>
        </p:nvCxnSpPr>
        <p:spPr>
          <a:xfrm>
            <a:off x="49466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0" name="AnnoLine 340"/>
          <p:cNvCxnSpPr/>
          <p:nvPr/>
        </p:nvCxnSpPr>
        <p:spPr>
          <a:xfrm>
            <a:off x="65468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1" name="AnnoLine 341"/>
          <p:cNvCxnSpPr/>
          <p:nvPr/>
        </p:nvCxnSpPr>
        <p:spPr>
          <a:xfrm>
            <a:off x="8185150" y="17653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2" name="AnnoLine 342"/>
          <p:cNvCxnSpPr/>
          <p:nvPr/>
        </p:nvCxnSpPr>
        <p:spPr>
          <a:xfrm>
            <a:off x="8185150" y="26035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4228064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4F8F0-07D5-DE72-366B-32A0A050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4">
            <a:extLst>
              <a:ext uri="{FF2B5EF4-FFF2-40B4-BE49-F238E27FC236}">
                <a16:creationId xmlns:a16="http://schemas.microsoft.com/office/drawing/2014/main" id="{817169CF-360A-4A28-A5F3-CE75F3253B52}"/>
              </a:ext>
            </a:extLst>
          </p:cNvPr>
          <p:cNvSpPr/>
          <p:nvPr/>
        </p:nvSpPr>
        <p:spPr>
          <a:xfrm>
            <a:off x="187955" y="3077871"/>
            <a:ext cx="1892036" cy="632471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8" name="Shape 4">
            <a:extLst>
              <a:ext uri="{FF2B5EF4-FFF2-40B4-BE49-F238E27FC236}">
                <a16:creationId xmlns:a16="http://schemas.microsoft.com/office/drawing/2014/main" id="{05866446-C5B8-2150-7BD5-94CD74297751}"/>
              </a:ext>
            </a:extLst>
          </p:cNvPr>
          <p:cNvSpPr/>
          <p:nvPr/>
        </p:nvSpPr>
        <p:spPr>
          <a:xfrm rot="10800000">
            <a:off x="182136" y="1914293"/>
            <a:ext cx="1892036" cy="46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F9574CC-D525-E2A8-B13E-644787AD7E2D}"/>
              </a:ext>
            </a:extLst>
          </p:cNvPr>
          <p:cNvSpPr/>
          <p:nvPr/>
        </p:nvSpPr>
        <p:spPr>
          <a:xfrm>
            <a:off x="0" y="569241"/>
            <a:ext cx="9144000" cy="4467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935CD32-B3F8-E812-2A41-520FDBC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분석 라이프사이클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" name="텍스트 개체 틀 22">
            <a:extLst>
              <a:ext uri="{FF2B5EF4-FFF2-40B4-BE49-F238E27FC236}">
                <a16:creationId xmlns:a16="http://schemas.microsoft.com/office/drawing/2014/main" id="{73A98225-119D-C869-F314-C12B101F2A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B7821D-8AFF-15AE-1CC2-17C018DD8E7E}"/>
              </a:ext>
            </a:extLst>
          </p:cNvPr>
          <p:cNvSpPr txBox="1"/>
          <p:nvPr/>
        </p:nvSpPr>
        <p:spPr>
          <a:xfrm>
            <a:off x="412750" y="66954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400" b="1" dirty="0">
                <a:latin typeface="+mn-ea"/>
                <a:ea typeface="+mn-ea"/>
              </a:rPr>
              <a:t>질의 분석부터 업무 완결까지</a:t>
            </a:r>
            <a:r>
              <a:rPr lang="en-US" altLang="ko-KR" sz="1400" b="1" dirty="0">
                <a:latin typeface="+mn-ea"/>
                <a:ea typeface="+mn-ea"/>
              </a:rPr>
              <a:t>: </a:t>
            </a:r>
            <a:r>
              <a:rPr lang="en-US" altLang="ko-KR" sz="1400" b="1" dirty="0">
                <a:solidFill>
                  <a:srgbClr val="00D4C5"/>
                </a:solidFill>
                <a:latin typeface="+mn-ea"/>
                <a:ea typeface="+mn-ea"/>
              </a:rPr>
              <a:t>aisight Agent </a:t>
            </a:r>
            <a:r>
              <a:rPr lang="ko-KR" altLang="en-US" sz="1400" b="1" dirty="0">
                <a:latin typeface="+mn-ea"/>
                <a:ea typeface="+mn-ea"/>
              </a:rPr>
              <a:t>지능형 프로세스 모델</a:t>
            </a:r>
            <a:endParaRPr lang="ko-KR" altLang="en-US" sz="2400" b="1" dirty="0">
              <a:solidFill>
                <a:srgbClr val="41C0C2"/>
              </a:solidFill>
              <a:latin typeface="+mn-ea"/>
              <a:ea typeface="+mn-ea"/>
            </a:endParaRPr>
          </a:p>
        </p:txBody>
      </p:sp>
      <p:sp>
        <p:nvSpPr>
          <p:cNvPr id="38" name="Google Shape;186;p13">
            <a:extLst>
              <a:ext uri="{FF2B5EF4-FFF2-40B4-BE49-F238E27FC236}">
                <a16:creationId xmlns:a16="http://schemas.microsoft.com/office/drawing/2014/main" id="{A0F60AD8-FACC-49F1-CD28-3AE3E94B53F0}"/>
              </a:ext>
            </a:extLst>
          </p:cNvPr>
          <p:cNvSpPr txBox="1"/>
          <p:nvPr/>
        </p:nvSpPr>
        <p:spPr>
          <a:xfrm>
            <a:off x="213245" y="1113458"/>
            <a:ext cx="146807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[01] User Inputs &amp; Actions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39" name="Google Shape;186;p13">
            <a:extLst>
              <a:ext uri="{FF2B5EF4-FFF2-40B4-BE49-F238E27FC236}">
                <a16:creationId xmlns:a16="http://schemas.microsoft.com/office/drawing/2014/main" id="{F1E5D99E-6D45-A400-486B-25E93B91C21D}"/>
              </a:ext>
            </a:extLst>
          </p:cNvPr>
          <p:cNvSpPr txBox="1"/>
          <p:nvPr/>
        </p:nvSpPr>
        <p:spPr>
          <a:xfrm>
            <a:off x="2309876" y="1113458"/>
            <a:ext cx="284999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[02] Agent Processing Layer (Dual-Loop Cascade)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0" name="Google Shape;186;p13">
            <a:extLst>
              <a:ext uri="{FF2B5EF4-FFF2-40B4-BE49-F238E27FC236}">
                <a16:creationId xmlns:a16="http://schemas.microsoft.com/office/drawing/2014/main" id="{0CEA50FE-D97B-17CC-9506-F271368BE7E7}"/>
              </a:ext>
            </a:extLst>
          </p:cNvPr>
          <p:cNvSpPr txBox="1"/>
          <p:nvPr/>
        </p:nvSpPr>
        <p:spPr>
          <a:xfrm>
            <a:off x="7028123" y="1113458"/>
            <a:ext cx="172083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[03] Execution Outputs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57766861-8696-348A-A1DB-D52A82B492A8}"/>
              </a:ext>
            </a:extLst>
          </p:cNvPr>
          <p:cNvSpPr/>
          <p:nvPr/>
        </p:nvSpPr>
        <p:spPr>
          <a:xfrm rot="10800000">
            <a:off x="187955" y="1422571"/>
            <a:ext cx="1892036" cy="43567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77DD0B-A59D-25D9-8E08-AB6149C460AA}"/>
              </a:ext>
            </a:extLst>
          </p:cNvPr>
          <p:cNvSpPr txBox="1"/>
          <p:nvPr/>
        </p:nvSpPr>
        <p:spPr>
          <a:xfrm>
            <a:off x="266017" y="1634463"/>
            <a:ext cx="18081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이번주 실적 및 특이 사항 알려줘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0BD437-F82A-8D9C-E4A1-616A7EF1535E}"/>
              </a:ext>
            </a:extLst>
          </p:cNvPr>
          <p:cNvSpPr txBox="1"/>
          <p:nvPr/>
        </p:nvSpPr>
        <p:spPr>
          <a:xfrm>
            <a:off x="268362" y="2160175"/>
            <a:ext cx="177615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“전주보다 실적이 감소한 이유가 뭐야?”</a:t>
            </a:r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68C0CCB-4D3D-BD77-30B1-8CD974684933}"/>
              </a:ext>
            </a:extLst>
          </p:cNvPr>
          <p:cNvSpPr/>
          <p:nvPr/>
        </p:nvSpPr>
        <p:spPr>
          <a:xfrm rot="10800000">
            <a:off x="187955" y="3802674"/>
            <a:ext cx="1892036" cy="60412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2C2438-CCDA-B2EA-01D8-9889B4ED8DAB}"/>
              </a:ext>
            </a:extLst>
          </p:cNvPr>
          <p:cNvSpPr txBox="1"/>
          <p:nvPr/>
        </p:nvSpPr>
        <p:spPr>
          <a:xfrm>
            <a:off x="270708" y="4017554"/>
            <a:ext cx="17665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지금 업로드한 법인 및 매출 기준으로 법인별 매출 및 제품 분석해줘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56" name="그래픽 55" descr="오른쪽 캐럿 윤곽선">
            <a:extLst>
              <a:ext uri="{FF2B5EF4-FFF2-40B4-BE49-F238E27FC236}">
                <a16:creationId xmlns:a16="http://schemas.microsoft.com/office/drawing/2014/main" id="{F7A8EC50-E569-9D83-88B7-2D3681747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6871" y="1345672"/>
            <a:ext cx="359040" cy="2937051"/>
          </a:xfrm>
          <a:prstGeom prst="rect">
            <a:avLst/>
          </a:prstGeom>
        </p:spPr>
      </p:pic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EA6C30C-F759-FFFB-7747-E08BAAA4620E}"/>
              </a:ext>
            </a:extLst>
          </p:cNvPr>
          <p:cNvCxnSpPr>
            <a:cxnSpLocks/>
          </p:cNvCxnSpPr>
          <p:nvPr/>
        </p:nvCxnSpPr>
        <p:spPr>
          <a:xfrm flipV="1">
            <a:off x="4109720" y="1558394"/>
            <a:ext cx="0" cy="110014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Shape 4">
            <a:extLst>
              <a:ext uri="{FF2B5EF4-FFF2-40B4-BE49-F238E27FC236}">
                <a16:creationId xmlns:a16="http://schemas.microsoft.com/office/drawing/2014/main" id="{0F5695AE-B045-5711-D2CA-3FC7044B2563}"/>
              </a:ext>
            </a:extLst>
          </p:cNvPr>
          <p:cNvSpPr/>
          <p:nvPr/>
        </p:nvSpPr>
        <p:spPr>
          <a:xfrm>
            <a:off x="2270714" y="1429421"/>
            <a:ext cx="4508238" cy="1316638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A90BE4A9-FE3B-0ABD-BFD1-27C1ACA6929D}"/>
              </a:ext>
            </a:extLst>
          </p:cNvPr>
          <p:cNvSpPr/>
          <p:nvPr/>
        </p:nvSpPr>
        <p:spPr>
          <a:xfrm>
            <a:off x="2359805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FECFA3-0CBE-64C1-BB7D-B71E12ADCFE2}"/>
              </a:ext>
            </a:extLst>
          </p:cNvPr>
          <p:cNvSpPr txBox="1"/>
          <p:nvPr/>
        </p:nvSpPr>
        <p:spPr>
          <a:xfrm>
            <a:off x="2291588" y="1506210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메인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69" name="Shape 4">
            <a:extLst>
              <a:ext uri="{FF2B5EF4-FFF2-40B4-BE49-F238E27FC236}">
                <a16:creationId xmlns:a16="http://schemas.microsoft.com/office/drawing/2014/main" id="{B5C93C32-12AC-D236-6FD8-DCA102833A46}"/>
              </a:ext>
            </a:extLst>
          </p:cNvPr>
          <p:cNvSpPr/>
          <p:nvPr/>
        </p:nvSpPr>
        <p:spPr>
          <a:xfrm>
            <a:off x="2450084" y="1884330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E763CD4-8AA7-01AB-A234-B332D27115E7}"/>
              </a:ext>
            </a:extLst>
          </p:cNvPr>
          <p:cNvCxnSpPr/>
          <p:nvPr/>
        </p:nvCxnSpPr>
        <p:spPr>
          <a:xfrm>
            <a:off x="2359805" y="1718606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Shape 4">
            <a:extLst>
              <a:ext uri="{FF2B5EF4-FFF2-40B4-BE49-F238E27FC236}">
                <a16:creationId xmlns:a16="http://schemas.microsoft.com/office/drawing/2014/main" id="{56049703-64B7-ABCC-0B4D-790F131BDF12}"/>
              </a:ext>
            </a:extLst>
          </p:cNvPr>
          <p:cNvSpPr/>
          <p:nvPr/>
        </p:nvSpPr>
        <p:spPr>
          <a:xfrm>
            <a:off x="4118597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436F45B9-D66A-4673-CD9C-3BC5F5F8512E}"/>
              </a:ext>
            </a:extLst>
          </p:cNvPr>
          <p:cNvSpPr/>
          <p:nvPr/>
        </p:nvSpPr>
        <p:spPr>
          <a:xfrm>
            <a:off x="3239201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Shape 4">
            <a:extLst>
              <a:ext uri="{FF2B5EF4-FFF2-40B4-BE49-F238E27FC236}">
                <a16:creationId xmlns:a16="http://schemas.microsoft.com/office/drawing/2014/main" id="{97072DD5-D15E-6BF2-06B4-39A6B8E5D6F1}"/>
              </a:ext>
            </a:extLst>
          </p:cNvPr>
          <p:cNvSpPr/>
          <p:nvPr/>
        </p:nvSpPr>
        <p:spPr>
          <a:xfrm>
            <a:off x="4997993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5C2ED8BC-E1A5-5F06-F01D-647D9486CF11}"/>
              </a:ext>
            </a:extLst>
          </p:cNvPr>
          <p:cNvSpPr/>
          <p:nvPr/>
        </p:nvSpPr>
        <p:spPr>
          <a:xfrm>
            <a:off x="5877389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7" name="Shape 4">
            <a:extLst>
              <a:ext uri="{FF2B5EF4-FFF2-40B4-BE49-F238E27FC236}">
                <a16:creationId xmlns:a16="http://schemas.microsoft.com/office/drawing/2014/main" id="{3B88A042-A880-A20F-9FAB-F3DA62F65612}"/>
              </a:ext>
            </a:extLst>
          </p:cNvPr>
          <p:cNvSpPr/>
          <p:nvPr/>
        </p:nvSpPr>
        <p:spPr>
          <a:xfrm>
            <a:off x="3361437" y="187881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8" name="Shape 4">
            <a:extLst>
              <a:ext uri="{FF2B5EF4-FFF2-40B4-BE49-F238E27FC236}">
                <a16:creationId xmlns:a16="http://schemas.microsoft.com/office/drawing/2014/main" id="{F237816C-C8FD-1105-F544-34958051E232}"/>
              </a:ext>
            </a:extLst>
          </p:cNvPr>
          <p:cNvSpPr/>
          <p:nvPr/>
        </p:nvSpPr>
        <p:spPr>
          <a:xfrm>
            <a:off x="4186931" y="1866682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9" name="Shape 4">
            <a:extLst>
              <a:ext uri="{FF2B5EF4-FFF2-40B4-BE49-F238E27FC236}">
                <a16:creationId xmlns:a16="http://schemas.microsoft.com/office/drawing/2014/main" id="{D2BF9D33-2927-AC6D-CB3A-E6E9F6A1CD7D}"/>
              </a:ext>
            </a:extLst>
          </p:cNvPr>
          <p:cNvSpPr/>
          <p:nvPr/>
        </p:nvSpPr>
        <p:spPr>
          <a:xfrm>
            <a:off x="5068668" y="1858245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8" name="Shape 4">
            <a:extLst>
              <a:ext uri="{FF2B5EF4-FFF2-40B4-BE49-F238E27FC236}">
                <a16:creationId xmlns:a16="http://schemas.microsoft.com/office/drawing/2014/main" id="{077C685F-8A2A-6EE8-879C-C6DFCA97D5B4}"/>
              </a:ext>
            </a:extLst>
          </p:cNvPr>
          <p:cNvSpPr/>
          <p:nvPr/>
        </p:nvSpPr>
        <p:spPr>
          <a:xfrm>
            <a:off x="5934562" y="184658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05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9" name="Shape 4">
            <a:extLst>
              <a:ext uri="{FF2B5EF4-FFF2-40B4-BE49-F238E27FC236}">
                <a16:creationId xmlns:a16="http://schemas.microsoft.com/office/drawing/2014/main" id="{A38D284D-C060-E5AC-4279-2EB3A1DF16C6}"/>
              </a:ext>
            </a:extLst>
          </p:cNvPr>
          <p:cNvSpPr/>
          <p:nvPr/>
        </p:nvSpPr>
        <p:spPr>
          <a:xfrm>
            <a:off x="2253996" y="2879159"/>
            <a:ext cx="4492244" cy="1357148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1" name="Shape 4">
            <a:extLst>
              <a:ext uri="{FF2B5EF4-FFF2-40B4-BE49-F238E27FC236}">
                <a16:creationId xmlns:a16="http://schemas.microsoft.com/office/drawing/2014/main" id="{79FAF658-5080-09E5-74E3-49DC72B162CA}"/>
              </a:ext>
            </a:extLst>
          </p:cNvPr>
          <p:cNvSpPr/>
          <p:nvPr/>
        </p:nvSpPr>
        <p:spPr>
          <a:xfrm>
            <a:off x="2357259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D9E798F-6C24-96AE-C614-6C2B4B8CE62E}"/>
              </a:ext>
            </a:extLst>
          </p:cNvPr>
          <p:cNvSpPr txBox="1"/>
          <p:nvPr/>
        </p:nvSpPr>
        <p:spPr>
          <a:xfrm>
            <a:off x="2299719" y="2937541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스킬 내부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103" name="Shape 4">
            <a:extLst>
              <a:ext uri="{FF2B5EF4-FFF2-40B4-BE49-F238E27FC236}">
                <a16:creationId xmlns:a16="http://schemas.microsoft.com/office/drawing/2014/main" id="{647795EA-3670-8660-6B88-7385A714283F}"/>
              </a:ext>
            </a:extLst>
          </p:cNvPr>
          <p:cNvSpPr/>
          <p:nvPr/>
        </p:nvSpPr>
        <p:spPr>
          <a:xfrm>
            <a:off x="2447538" y="3295567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DE021849-68C3-FBE6-507B-A2AE1672E9AB}"/>
              </a:ext>
            </a:extLst>
          </p:cNvPr>
          <p:cNvCxnSpPr/>
          <p:nvPr/>
        </p:nvCxnSpPr>
        <p:spPr>
          <a:xfrm>
            <a:off x="2357259" y="3149937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4">
            <a:extLst>
              <a:ext uri="{FF2B5EF4-FFF2-40B4-BE49-F238E27FC236}">
                <a16:creationId xmlns:a16="http://schemas.microsoft.com/office/drawing/2014/main" id="{D0B2E382-4432-FC00-F9D1-0307F2758D9B}"/>
              </a:ext>
            </a:extLst>
          </p:cNvPr>
          <p:cNvSpPr/>
          <p:nvPr/>
        </p:nvSpPr>
        <p:spPr>
          <a:xfrm>
            <a:off x="4116051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6" name="Shape 4">
            <a:extLst>
              <a:ext uri="{FF2B5EF4-FFF2-40B4-BE49-F238E27FC236}">
                <a16:creationId xmlns:a16="http://schemas.microsoft.com/office/drawing/2014/main" id="{016D3377-B1B3-EFE5-05A3-1AAEFBDD6A5A}"/>
              </a:ext>
            </a:extLst>
          </p:cNvPr>
          <p:cNvSpPr/>
          <p:nvPr/>
        </p:nvSpPr>
        <p:spPr>
          <a:xfrm>
            <a:off x="3236655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5BDFEF03-481E-77A6-4332-CB24D2A7D149}"/>
              </a:ext>
            </a:extLst>
          </p:cNvPr>
          <p:cNvSpPr/>
          <p:nvPr/>
        </p:nvSpPr>
        <p:spPr>
          <a:xfrm>
            <a:off x="4995447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" name="Shape 4">
            <a:extLst>
              <a:ext uri="{FF2B5EF4-FFF2-40B4-BE49-F238E27FC236}">
                <a16:creationId xmlns:a16="http://schemas.microsoft.com/office/drawing/2014/main" id="{23596EEE-6BE4-2E5D-ACBE-C784A1260A1F}"/>
              </a:ext>
            </a:extLst>
          </p:cNvPr>
          <p:cNvSpPr/>
          <p:nvPr/>
        </p:nvSpPr>
        <p:spPr>
          <a:xfrm>
            <a:off x="5874843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" name="Shape 4">
            <a:extLst>
              <a:ext uri="{FF2B5EF4-FFF2-40B4-BE49-F238E27FC236}">
                <a16:creationId xmlns:a16="http://schemas.microsoft.com/office/drawing/2014/main" id="{1767A731-A9A9-07B9-6163-ECCC4944BDA0}"/>
              </a:ext>
            </a:extLst>
          </p:cNvPr>
          <p:cNvSpPr/>
          <p:nvPr/>
        </p:nvSpPr>
        <p:spPr>
          <a:xfrm>
            <a:off x="3358891" y="329005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0" name="Shape 4">
            <a:extLst>
              <a:ext uri="{FF2B5EF4-FFF2-40B4-BE49-F238E27FC236}">
                <a16:creationId xmlns:a16="http://schemas.microsoft.com/office/drawing/2014/main" id="{971ECC44-38EE-EAE9-FF3C-207098333F76}"/>
              </a:ext>
            </a:extLst>
          </p:cNvPr>
          <p:cNvSpPr/>
          <p:nvPr/>
        </p:nvSpPr>
        <p:spPr>
          <a:xfrm>
            <a:off x="4184385" y="3277919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874680AD-DA9A-A5AE-7BC7-230D562E56AC}"/>
              </a:ext>
            </a:extLst>
          </p:cNvPr>
          <p:cNvSpPr/>
          <p:nvPr/>
        </p:nvSpPr>
        <p:spPr>
          <a:xfrm>
            <a:off x="5066122" y="3269482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2" name="Shape 4">
            <a:extLst>
              <a:ext uri="{FF2B5EF4-FFF2-40B4-BE49-F238E27FC236}">
                <a16:creationId xmlns:a16="http://schemas.microsoft.com/office/drawing/2014/main" id="{FB50FFBA-8DAF-74AA-1F39-EE34A500A4A3}"/>
              </a:ext>
            </a:extLst>
          </p:cNvPr>
          <p:cNvSpPr/>
          <p:nvPr/>
        </p:nvSpPr>
        <p:spPr>
          <a:xfrm>
            <a:off x="5932016" y="325782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6" name="그래픽 114" descr="오른쪽 캐럿 윤곽선">
            <a:extLst>
              <a:ext uri="{FF2B5EF4-FFF2-40B4-BE49-F238E27FC236}">
                <a16:creationId xmlns:a16="http://schemas.microsoft.com/office/drawing/2014/main" id="{CDAF97DB-7FE7-C129-5158-5E9C22CA6386}"/>
              </a:ext>
            </a:extLst>
          </p:cNvPr>
          <p:cNvSpPr/>
          <p:nvPr/>
        </p:nvSpPr>
        <p:spPr>
          <a:xfrm>
            <a:off x="3171699" y="2206497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그래픽 114" descr="오른쪽 캐럿 윤곽선">
            <a:extLst>
              <a:ext uri="{FF2B5EF4-FFF2-40B4-BE49-F238E27FC236}">
                <a16:creationId xmlns:a16="http://schemas.microsoft.com/office/drawing/2014/main" id="{36850920-A21E-B20F-3E2F-31D1086F59AA}"/>
              </a:ext>
            </a:extLst>
          </p:cNvPr>
          <p:cNvSpPr/>
          <p:nvPr/>
        </p:nvSpPr>
        <p:spPr>
          <a:xfrm>
            <a:off x="4060700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그래픽 114" descr="오른쪽 캐럿 윤곽선">
            <a:extLst>
              <a:ext uri="{FF2B5EF4-FFF2-40B4-BE49-F238E27FC236}">
                <a16:creationId xmlns:a16="http://schemas.microsoft.com/office/drawing/2014/main" id="{63302333-D035-3015-ABA1-417EA28AC92A}"/>
              </a:ext>
            </a:extLst>
          </p:cNvPr>
          <p:cNvSpPr/>
          <p:nvPr/>
        </p:nvSpPr>
        <p:spPr>
          <a:xfrm>
            <a:off x="4929952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그래픽 114" descr="오른쪽 캐럿 윤곽선">
            <a:extLst>
              <a:ext uri="{FF2B5EF4-FFF2-40B4-BE49-F238E27FC236}">
                <a16:creationId xmlns:a16="http://schemas.microsoft.com/office/drawing/2014/main" id="{35118492-8DDA-BCF7-D4D5-2411CFED7AE6}"/>
              </a:ext>
            </a:extLst>
          </p:cNvPr>
          <p:cNvSpPr/>
          <p:nvPr/>
        </p:nvSpPr>
        <p:spPr>
          <a:xfrm>
            <a:off x="5802264" y="2201122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21" name="연결선: 구부러짐 120">
            <a:extLst>
              <a:ext uri="{FF2B5EF4-FFF2-40B4-BE49-F238E27FC236}">
                <a16:creationId xmlns:a16="http://schemas.microsoft.com/office/drawing/2014/main" id="{2A814CF5-D22B-9B03-E9FA-60F2F3110F19}"/>
              </a:ext>
            </a:extLst>
          </p:cNvPr>
          <p:cNvCxnSpPr>
            <a:cxnSpLocks/>
          </p:cNvCxnSpPr>
          <p:nvPr/>
        </p:nvCxnSpPr>
        <p:spPr>
          <a:xfrm rot="5400000">
            <a:off x="3340044" y="2051656"/>
            <a:ext cx="578271" cy="1761338"/>
          </a:xfrm>
          <a:prstGeom prst="curvedConnector3">
            <a:avLst>
              <a:gd name="adj1" fmla="val 83734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연결선: 구부러짐 122">
            <a:extLst>
              <a:ext uri="{FF2B5EF4-FFF2-40B4-BE49-F238E27FC236}">
                <a16:creationId xmlns:a16="http://schemas.microsoft.com/office/drawing/2014/main" id="{7E8BA1B8-61FE-10F6-6F09-FC12DDCF703D}"/>
              </a:ext>
            </a:extLst>
          </p:cNvPr>
          <p:cNvCxnSpPr>
            <a:cxnSpLocks/>
            <a:stCxn id="108" idx="0"/>
            <a:endCxn id="83" idx="2"/>
          </p:cNvCxnSpPr>
          <p:nvPr/>
        </p:nvCxnSpPr>
        <p:spPr>
          <a:xfrm rot="16200000" flipV="1">
            <a:off x="5534716" y="2493900"/>
            <a:ext cx="578271" cy="876850"/>
          </a:xfrm>
          <a:prstGeom prst="curvedConnector3">
            <a:avLst>
              <a:gd name="adj1" fmla="val 50000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C81141C-3284-06A1-5BF8-5823567EB2E4}"/>
              </a:ext>
            </a:extLst>
          </p:cNvPr>
          <p:cNvSpPr txBox="1"/>
          <p:nvPr/>
        </p:nvSpPr>
        <p:spPr>
          <a:xfrm>
            <a:off x="2368139" y="2056341"/>
            <a:ext cx="7837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질문 이해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8A8D6787-E441-B2AD-CB21-15B4DE0C77D8}"/>
              </a:ext>
            </a:extLst>
          </p:cNvPr>
          <p:cNvSpPr txBox="1"/>
          <p:nvPr/>
        </p:nvSpPr>
        <p:spPr>
          <a:xfrm>
            <a:off x="3262562" y="2059125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선정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FFFC4FC-E893-3578-6B28-468385FF0078}"/>
              </a:ext>
            </a:extLst>
          </p:cNvPr>
          <p:cNvSpPr txBox="1"/>
          <p:nvPr/>
        </p:nvSpPr>
        <p:spPr>
          <a:xfrm>
            <a:off x="4115752" y="205634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F4A8D04-2691-5094-D3E2-8EEB0423CC7A}"/>
              </a:ext>
            </a:extLst>
          </p:cNvPr>
          <p:cNvSpPr txBox="1"/>
          <p:nvPr/>
        </p:nvSpPr>
        <p:spPr>
          <a:xfrm>
            <a:off x="5004335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통합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A3546EF-9378-5A03-66F8-DF4FEDCFA9E5}"/>
              </a:ext>
            </a:extLst>
          </p:cNvPr>
          <p:cNvSpPr txBox="1"/>
          <p:nvPr/>
        </p:nvSpPr>
        <p:spPr>
          <a:xfrm>
            <a:off x="5877180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응답 생성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A1D4CD6-3862-BD9E-AF80-B5F1EB9EAA86}"/>
              </a:ext>
            </a:extLst>
          </p:cNvPr>
          <p:cNvSpPr txBox="1"/>
          <p:nvPr/>
        </p:nvSpPr>
        <p:spPr>
          <a:xfrm>
            <a:off x="2362108" y="2226921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입력 전처리 및 NER 기반 의도 분류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887A805-19AB-BEA0-5EA9-04FE4BF509C6}"/>
              </a:ext>
            </a:extLst>
          </p:cNvPr>
          <p:cNvSpPr txBox="1"/>
          <p:nvPr/>
        </p:nvSpPr>
        <p:spPr>
          <a:xfrm>
            <a:off x="3246615" y="222692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의도에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매핑되는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적합한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스킬셋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선택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AFCE713-53D3-6A69-21AE-C84E34650C6D}"/>
              </a:ext>
            </a:extLst>
          </p:cNvPr>
          <p:cNvSpPr txBox="1"/>
          <p:nvPr/>
        </p:nvSpPr>
        <p:spPr>
          <a:xfrm>
            <a:off x="4121526" y="2206497"/>
            <a:ext cx="762958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흐름 이동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3DFAF2A-6910-6F77-5FFE-8EE62A992F97}"/>
              </a:ext>
            </a:extLst>
          </p:cNvPr>
          <p:cNvSpPr txBox="1"/>
          <p:nvPr/>
        </p:nvSpPr>
        <p:spPr>
          <a:xfrm>
            <a:off x="4996530" y="2222315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반환 데이터 수취 및 정합성 무결성 검증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3C84834-5C32-FA49-E400-56325F7E6AC6}"/>
              </a:ext>
            </a:extLst>
          </p:cNvPr>
          <p:cNvSpPr txBox="1"/>
          <p:nvPr/>
        </p:nvSpPr>
        <p:spPr>
          <a:xfrm>
            <a:off x="5878504" y="2202009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자연어 합성 요약 및 추론 경로 정렬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6" name="그래픽 114" descr="오른쪽 캐럿 윤곽선">
            <a:extLst>
              <a:ext uri="{FF2B5EF4-FFF2-40B4-BE49-F238E27FC236}">
                <a16:creationId xmlns:a16="http://schemas.microsoft.com/office/drawing/2014/main" id="{7EFFDFA0-02C0-7ED4-DAF3-76EF99EDD70E}"/>
              </a:ext>
            </a:extLst>
          </p:cNvPr>
          <p:cNvSpPr/>
          <p:nvPr/>
        </p:nvSpPr>
        <p:spPr>
          <a:xfrm>
            <a:off x="3158985" y="3662599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그래픽 114" descr="오른쪽 캐럿 윤곽선">
            <a:extLst>
              <a:ext uri="{FF2B5EF4-FFF2-40B4-BE49-F238E27FC236}">
                <a16:creationId xmlns:a16="http://schemas.microsoft.com/office/drawing/2014/main" id="{065F7FAA-FFBA-1C65-0F0E-196C5BB922FE}"/>
              </a:ext>
            </a:extLst>
          </p:cNvPr>
          <p:cNvSpPr/>
          <p:nvPr/>
        </p:nvSpPr>
        <p:spPr>
          <a:xfrm>
            <a:off x="4047986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8" name="그래픽 114" descr="오른쪽 캐럿 윤곽선">
            <a:extLst>
              <a:ext uri="{FF2B5EF4-FFF2-40B4-BE49-F238E27FC236}">
                <a16:creationId xmlns:a16="http://schemas.microsoft.com/office/drawing/2014/main" id="{2325F58A-1757-BCA9-897A-72A7F818A793}"/>
              </a:ext>
            </a:extLst>
          </p:cNvPr>
          <p:cNvSpPr/>
          <p:nvPr/>
        </p:nvSpPr>
        <p:spPr>
          <a:xfrm>
            <a:off x="4917238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9" name="그래픽 114" descr="오른쪽 캐럿 윤곽선">
            <a:extLst>
              <a:ext uri="{FF2B5EF4-FFF2-40B4-BE49-F238E27FC236}">
                <a16:creationId xmlns:a16="http://schemas.microsoft.com/office/drawing/2014/main" id="{0212994A-BC00-F181-19BA-57981BD08CDB}"/>
              </a:ext>
            </a:extLst>
          </p:cNvPr>
          <p:cNvSpPr/>
          <p:nvPr/>
        </p:nvSpPr>
        <p:spPr>
          <a:xfrm>
            <a:off x="5789550" y="3657224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4B4CC17-E212-AED5-466C-9C2297FD24DE}"/>
              </a:ext>
            </a:extLst>
          </p:cNvPr>
          <p:cNvSpPr txBox="1"/>
          <p:nvPr/>
        </p:nvSpPr>
        <p:spPr>
          <a:xfrm>
            <a:off x="2355425" y="3512443"/>
            <a:ext cx="7869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정책 로드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83535B9-A37B-190B-AE4A-DA5D5BE57ED4}"/>
              </a:ext>
            </a:extLst>
          </p:cNvPr>
          <p:cNvSpPr txBox="1"/>
          <p:nvPr/>
        </p:nvSpPr>
        <p:spPr>
          <a:xfrm>
            <a:off x="3249848" y="3515227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작업 계획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4364535-6244-B956-8127-877267A53E8A}"/>
              </a:ext>
            </a:extLst>
          </p:cNvPr>
          <p:cNvSpPr txBox="1"/>
          <p:nvPr/>
        </p:nvSpPr>
        <p:spPr>
          <a:xfrm>
            <a:off x="4103038" y="351244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dirty="0">
                <a:solidFill>
                  <a:srgbClr val="0F172A"/>
                </a:solidFill>
                <a:latin typeface="SUIT Light" pitchFamily="50" charset="-127"/>
                <a:ea typeface="SUIT Light" pitchFamily="50" charset="-127"/>
              </a:rPr>
              <a:t>작업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5F35A0-BE5B-1777-3409-553F71549625}"/>
              </a:ext>
            </a:extLst>
          </p:cNvPr>
          <p:cNvSpPr txBox="1"/>
          <p:nvPr/>
        </p:nvSpPr>
        <p:spPr>
          <a:xfrm>
            <a:off x="4991621" y="3490933"/>
            <a:ext cx="812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중간 검증</a:t>
            </a:r>
            <a:b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</a:b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충분 여부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DAE1101-3D13-F175-40A4-3B1AEA0EDB8E}"/>
              </a:ext>
            </a:extLst>
          </p:cNvPr>
          <p:cNvSpPr txBox="1"/>
          <p:nvPr/>
        </p:nvSpPr>
        <p:spPr>
          <a:xfrm>
            <a:off x="5864466" y="349093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완료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AF1765C-07DB-A1C3-1E6E-144F6CB2B561}"/>
              </a:ext>
            </a:extLst>
          </p:cNvPr>
          <p:cNvSpPr txBox="1"/>
          <p:nvPr/>
        </p:nvSpPr>
        <p:spPr>
          <a:xfrm>
            <a:off x="2349394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지침 정책 및 도구 사용법 컨텍스트 주입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307D2B3-DCA3-7BFC-B91B-FD27F3224BF3}"/>
              </a:ext>
            </a:extLst>
          </p:cNvPr>
          <p:cNvSpPr txBox="1"/>
          <p:nvPr/>
        </p:nvSpPr>
        <p:spPr>
          <a:xfrm>
            <a:off x="3233901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주입 지침에 의거해 자율 분석 단계 수립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1BECD22-5311-9346-2A50-03B976328F16}"/>
              </a:ext>
            </a:extLst>
          </p:cNvPr>
          <p:cNvSpPr txBox="1"/>
          <p:nvPr/>
        </p:nvSpPr>
        <p:spPr>
          <a:xfrm>
            <a:off x="4108812" y="3662599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RDB SQL, Wiki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벡터 검색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파일 파싱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A448FD0-F859-4588-E3E9-D541765A687C}"/>
              </a:ext>
            </a:extLst>
          </p:cNvPr>
          <p:cNvSpPr txBox="1"/>
          <p:nvPr/>
        </p:nvSpPr>
        <p:spPr>
          <a:xfrm>
            <a:off x="5865790" y="365811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최종 데이터셋을 메인 흐름으로 반환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70" name="Shape 4">
            <a:extLst>
              <a:ext uri="{FF2B5EF4-FFF2-40B4-BE49-F238E27FC236}">
                <a16:creationId xmlns:a16="http://schemas.microsoft.com/office/drawing/2014/main" id="{B54730FF-7D2C-3277-8C30-8961B8B0CF25}"/>
              </a:ext>
            </a:extLst>
          </p:cNvPr>
          <p:cNvSpPr/>
          <p:nvPr/>
        </p:nvSpPr>
        <p:spPr>
          <a:xfrm>
            <a:off x="5078764" y="3916075"/>
            <a:ext cx="605122" cy="147261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0D4C5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600" dirty="0">
                <a:latin typeface="+mn-ea"/>
              </a:rPr>
              <a:t>           </a:t>
            </a:r>
            <a:r>
              <a:rPr lang="ko-KR" altLang="en-US" sz="600" dirty="0">
                <a:solidFill>
                  <a:srgbClr val="00D4C5"/>
                </a:solidFill>
                <a:latin typeface="+mn-ea"/>
              </a:rPr>
              <a:t>재시도</a:t>
            </a:r>
          </a:p>
        </p:txBody>
      </p:sp>
      <p:pic>
        <p:nvPicPr>
          <p:cNvPr id="172" name="그래픽 171" descr="반복 단색으로 채워진">
            <a:extLst>
              <a:ext uri="{FF2B5EF4-FFF2-40B4-BE49-F238E27FC236}">
                <a16:creationId xmlns:a16="http://schemas.microsoft.com/office/drawing/2014/main" id="{BA8BC37B-5C4B-4599-9D35-36E1AD5081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131141" y="3926411"/>
            <a:ext cx="131582" cy="131582"/>
          </a:xfrm>
          <a:prstGeom prst="rect">
            <a:avLst/>
          </a:prstGeom>
        </p:spPr>
      </p:pic>
      <p:pic>
        <p:nvPicPr>
          <p:cNvPr id="173" name="그래픽 172" descr="오른쪽 캐럿 윤곽선">
            <a:extLst>
              <a:ext uri="{FF2B5EF4-FFF2-40B4-BE49-F238E27FC236}">
                <a16:creationId xmlns:a16="http://schemas.microsoft.com/office/drawing/2014/main" id="{E93D9640-5260-1D60-9E5F-383366C761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13585" y="1451688"/>
            <a:ext cx="389043" cy="2937051"/>
          </a:xfrm>
          <a:prstGeom prst="rect">
            <a:avLst/>
          </a:prstGeom>
        </p:spPr>
      </p:pic>
      <p:sp>
        <p:nvSpPr>
          <p:cNvPr id="175" name="Shape 4">
            <a:extLst>
              <a:ext uri="{FF2B5EF4-FFF2-40B4-BE49-F238E27FC236}">
                <a16:creationId xmlns:a16="http://schemas.microsoft.com/office/drawing/2014/main" id="{586D6C7B-650D-6E54-7557-362AAD83ED36}"/>
              </a:ext>
            </a:extLst>
          </p:cNvPr>
          <p:cNvSpPr/>
          <p:nvPr/>
        </p:nvSpPr>
        <p:spPr>
          <a:xfrm>
            <a:off x="7036927" y="1355718"/>
            <a:ext cx="1892037" cy="85814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6" name="Shape 4">
            <a:extLst>
              <a:ext uri="{FF2B5EF4-FFF2-40B4-BE49-F238E27FC236}">
                <a16:creationId xmlns:a16="http://schemas.microsoft.com/office/drawing/2014/main" id="{22BB2D69-B7CD-0EA3-D6DB-63FFDE903164}"/>
              </a:ext>
            </a:extLst>
          </p:cNvPr>
          <p:cNvSpPr/>
          <p:nvPr/>
        </p:nvSpPr>
        <p:spPr>
          <a:xfrm>
            <a:off x="7148205" y="1442947"/>
            <a:ext cx="338669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단순 분석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687B98E-22BA-ECF1-DB6B-5E72DE21FE82}"/>
              </a:ext>
            </a:extLst>
          </p:cNvPr>
          <p:cNvSpPr txBox="1"/>
          <p:nvPr/>
        </p:nvSpPr>
        <p:spPr>
          <a:xfrm>
            <a:off x="7102628" y="1595549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핵심 인사이트 요약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278BACE3-D570-E123-3EB2-3835ADDAF8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7216"/>
          <a:stretch>
            <a:fillRect/>
          </a:stretch>
        </p:blipFill>
        <p:spPr>
          <a:xfrm>
            <a:off x="7230015" y="1851299"/>
            <a:ext cx="1499957" cy="331290"/>
          </a:xfrm>
          <a:prstGeom prst="rect">
            <a:avLst/>
          </a:prstGeom>
        </p:spPr>
      </p:pic>
      <p:sp>
        <p:nvSpPr>
          <p:cNvPr id="180" name="Shape 4">
            <a:extLst>
              <a:ext uri="{FF2B5EF4-FFF2-40B4-BE49-F238E27FC236}">
                <a16:creationId xmlns:a16="http://schemas.microsoft.com/office/drawing/2014/main" id="{CD50DAA7-C5FB-0AC9-DBEB-72B4D3C5D412}"/>
              </a:ext>
            </a:extLst>
          </p:cNvPr>
          <p:cNvSpPr/>
          <p:nvPr/>
        </p:nvSpPr>
        <p:spPr>
          <a:xfrm>
            <a:off x="7038609" y="3529098"/>
            <a:ext cx="1892036" cy="46351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1" name="Shape 4">
            <a:extLst>
              <a:ext uri="{FF2B5EF4-FFF2-40B4-BE49-F238E27FC236}">
                <a16:creationId xmlns:a16="http://schemas.microsoft.com/office/drawing/2014/main" id="{AB027E96-16E9-65E3-1D91-B0946AEEDA8D}"/>
              </a:ext>
            </a:extLst>
          </p:cNvPr>
          <p:cNvSpPr/>
          <p:nvPr/>
        </p:nvSpPr>
        <p:spPr>
          <a:xfrm>
            <a:off x="7162249" y="3602646"/>
            <a:ext cx="39254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데이터 추출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652CAD31-7392-D53A-FAE0-3253CCB2C731}"/>
              </a:ext>
            </a:extLst>
          </p:cNvPr>
          <p:cNvSpPr txBox="1"/>
          <p:nvPr/>
        </p:nvSpPr>
        <p:spPr>
          <a:xfrm>
            <a:off x="7089960" y="3755258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Excel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및 </a:t>
            </a: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CSV, DATA </a:t>
            </a:r>
            <a:r>
              <a:rPr lang="en-US" altLang="ko-KR" sz="800" b="1" i="0" dirty="0" err="1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Download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47776576-8B38-4C6F-846A-F560CD006F26}"/>
              </a:ext>
            </a:extLst>
          </p:cNvPr>
          <p:cNvSpPr/>
          <p:nvPr/>
        </p:nvSpPr>
        <p:spPr>
          <a:xfrm>
            <a:off x="7036928" y="2253299"/>
            <a:ext cx="1892036" cy="1211745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BE09CF5B-AEE3-8EE0-05A1-8AAFC547524D}"/>
              </a:ext>
            </a:extLst>
          </p:cNvPr>
          <p:cNvSpPr/>
          <p:nvPr/>
        </p:nvSpPr>
        <p:spPr>
          <a:xfrm>
            <a:off x="7160568" y="2340528"/>
            <a:ext cx="46361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교차 분석 활용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F954B03-5118-BB89-6A33-FE83048000B1}"/>
              </a:ext>
            </a:extLst>
          </p:cNvPr>
          <p:cNvSpPr txBox="1"/>
          <p:nvPr/>
        </p:nvSpPr>
        <p:spPr>
          <a:xfrm>
            <a:off x="7114991" y="2493130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교차 분석 및 시나리오 기반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97" name="그림 196">
            <a:extLst>
              <a:ext uri="{FF2B5EF4-FFF2-40B4-BE49-F238E27FC236}">
                <a16:creationId xmlns:a16="http://schemas.microsoft.com/office/drawing/2014/main" id="{075052AD-713E-AE94-63DC-5E8FFBA36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378" y="2748880"/>
            <a:ext cx="1499957" cy="627626"/>
          </a:xfrm>
          <a:prstGeom prst="rect">
            <a:avLst/>
          </a:prstGeom>
        </p:spPr>
      </p:pic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D19B9618-C8AE-E1F3-9413-37E3421DA27A}"/>
              </a:ext>
            </a:extLst>
          </p:cNvPr>
          <p:cNvSpPr>
            <a:spLocks noChangeAspect="1"/>
          </p:cNvSpPr>
          <p:nvPr/>
        </p:nvSpPr>
        <p:spPr>
          <a:xfrm>
            <a:off x="7242378" y="2755394"/>
            <a:ext cx="593257" cy="64122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AA4D9542-38A9-802C-DAAB-EC18C29A3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4296" y="2755394"/>
            <a:ext cx="1276102" cy="354903"/>
          </a:xfrm>
          <a:prstGeom prst="rect">
            <a:avLst/>
          </a:prstGeom>
        </p:spPr>
      </p:pic>
      <p:pic>
        <p:nvPicPr>
          <p:cNvPr id="200" name="그림 199">
            <a:extLst>
              <a:ext uri="{FF2B5EF4-FFF2-40B4-BE49-F238E27FC236}">
                <a16:creationId xmlns:a16="http://schemas.microsoft.com/office/drawing/2014/main" id="{8BB116BC-897C-A760-F4D1-C448706697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5635" y="3097016"/>
            <a:ext cx="821165" cy="310133"/>
          </a:xfrm>
          <a:prstGeom prst="rect">
            <a:avLst/>
          </a:prstGeom>
        </p:spPr>
      </p:pic>
      <p:sp>
        <p:nvSpPr>
          <p:cNvPr id="202" name="Shape 4">
            <a:extLst>
              <a:ext uri="{FF2B5EF4-FFF2-40B4-BE49-F238E27FC236}">
                <a16:creationId xmlns:a16="http://schemas.microsoft.com/office/drawing/2014/main" id="{12EE73D7-929A-9D34-1435-61A81740CCAD}"/>
              </a:ext>
            </a:extLst>
          </p:cNvPr>
          <p:cNvSpPr/>
          <p:nvPr/>
        </p:nvSpPr>
        <p:spPr>
          <a:xfrm>
            <a:off x="7034731" y="4099824"/>
            <a:ext cx="1892036" cy="767192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F172A"/>
              </a:gs>
              <a:gs pos="2014">
                <a:srgbClr val="0F172A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Shape 4">
            <a:extLst>
              <a:ext uri="{FF2B5EF4-FFF2-40B4-BE49-F238E27FC236}">
                <a16:creationId xmlns:a16="http://schemas.microsoft.com/office/drawing/2014/main" id="{8DB641A8-BBD9-F309-7667-172DAC9F9324}"/>
              </a:ext>
            </a:extLst>
          </p:cNvPr>
          <p:cNvSpPr/>
          <p:nvPr/>
        </p:nvSpPr>
        <p:spPr>
          <a:xfrm>
            <a:off x="7162249" y="4189056"/>
            <a:ext cx="1011471" cy="127407"/>
          </a:xfrm>
          <a:prstGeom prst="roundRect">
            <a:avLst>
              <a:gd name="adj" fmla="val 39027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5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필터 변경 및 대시보드 조작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04F26762-AB82-B7B5-C9F1-FF5D613E6F3D}"/>
              </a:ext>
            </a:extLst>
          </p:cNvPr>
          <p:cNvSpPr txBox="1"/>
          <p:nvPr/>
        </p:nvSpPr>
        <p:spPr>
          <a:xfrm>
            <a:off x="7089960" y="4336961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연결된 대시보드 상태 변경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625CC10-513B-78E4-B37D-DA7F399C24DF}"/>
              </a:ext>
            </a:extLst>
          </p:cNvPr>
          <p:cNvSpPr txBox="1"/>
          <p:nvPr/>
        </p:nvSpPr>
        <p:spPr>
          <a:xfrm>
            <a:off x="7094320" y="4499181"/>
            <a:ext cx="176607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결과에 알맞은 형태의 필터로 변경하여 사용자에게 대시보드 상의 데이터를 확인할 수 있도록 합니다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Shape 4">
            <a:extLst>
              <a:ext uri="{FF2B5EF4-FFF2-40B4-BE49-F238E27FC236}">
                <a16:creationId xmlns:a16="http://schemas.microsoft.com/office/drawing/2014/main" id="{076FE41F-883C-0052-F2C5-03B9C5CB53CA}"/>
              </a:ext>
            </a:extLst>
          </p:cNvPr>
          <p:cNvSpPr/>
          <p:nvPr/>
        </p:nvSpPr>
        <p:spPr>
          <a:xfrm>
            <a:off x="2270714" y="4388402"/>
            <a:ext cx="4475526" cy="469962"/>
          </a:xfrm>
          <a:prstGeom prst="roundRect">
            <a:avLst>
              <a:gd name="adj" fmla="val 2038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16" name="그래픽 215" descr="오른쪽 캐럿 윤곽선">
            <a:extLst>
              <a:ext uri="{FF2B5EF4-FFF2-40B4-BE49-F238E27FC236}">
                <a16:creationId xmlns:a16="http://schemas.microsoft.com/office/drawing/2014/main" id="{56B9A19A-9BD5-CD85-7DCE-1BCE29891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511889" y="2843829"/>
            <a:ext cx="152094" cy="2937051"/>
          </a:xfrm>
          <a:prstGeom prst="rect">
            <a:avLst/>
          </a:prstGeom>
        </p:spPr>
      </p:pic>
      <p:sp>
        <p:nvSpPr>
          <p:cNvPr id="217" name="TextBox 216">
            <a:extLst>
              <a:ext uri="{FF2B5EF4-FFF2-40B4-BE49-F238E27FC236}">
                <a16:creationId xmlns:a16="http://schemas.microsoft.com/office/drawing/2014/main" id="{87AD7C81-BBBF-3F6A-781B-1CE32950FF14}"/>
              </a:ext>
            </a:extLst>
          </p:cNvPr>
          <p:cNvSpPr txBox="1"/>
          <p:nvPr/>
        </p:nvSpPr>
        <p:spPr>
          <a:xfrm>
            <a:off x="2292445" y="4465959"/>
            <a:ext cx="12473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SQL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및 연산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 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Logs</a:t>
            </a:r>
          </a:p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Meta DB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적재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6CACBAD-A9DA-AC92-10B5-BE0C2BF296FB}"/>
              </a:ext>
            </a:extLst>
          </p:cNvPr>
          <p:cNvSpPr txBox="1"/>
          <p:nvPr/>
        </p:nvSpPr>
        <p:spPr>
          <a:xfrm>
            <a:off x="3572794" y="4473645"/>
            <a:ext cx="309652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생성 결과와 실행된 로우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SQL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로그 전체를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백엔드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Ops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에 실시간 저장해 무결성을 교차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역추적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검사합니다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또 향후 답변의 품질 향상을 위한 데이터로 사용됩니다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21" name="그래픽 220" descr="말풍선 단색으로 채워진">
            <a:extLst>
              <a:ext uri="{FF2B5EF4-FFF2-40B4-BE49-F238E27FC236}">
                <a16:creationId xmlns:a16="http://schemas.microsoft.com/office/drawing/2014/main" id="{7CFD7183-72DC-5DF8-01CD-06D2C4D16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1491836"/>
            <a:ext cx="189394" cy="189394"/>
          </a:xfrm>
          <a:prstGeom prst="rect">
            <a:avLst/>
          </a:prstGeom>
        </p:spPr>
      </p:pic>
      <p:sp>
        <p:nvSpPr>
          <p:cNvPr id="223" name="TextBox 222">
            <a:extLst>
              <a:ext uri="{FF2B5EF4-FFF2-40B4-BE49-F238E27FC236}">
                <a16:creationId xmlns:a16="http://schemas.microsoft.com/office/drawing/2014/main" id="{04344272-107E-2DEC-39CE-7D785BED6571}"/>
              </a:ext>
            </a:extLst>
          </p:cNvPr>
          <p:cNvSpPr txBox="1"/>
          <p:nvPr/>
        </p:nvSpPr>
        <p:spPr>
          <a:xfrm>
            <a:off x="475813" y="149057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01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6" name="그래픽 225" descr="말풍선 단색으로 채워진">
            <a:extLst>
              <a:ext uri="{FF2B5EF4-FFF2-40B4-BE49-F238E27FC236}">
                <a16:creationId xmlns:a16="http://schemas.microsoft.com/office/drawing/2014/main" id="{09CE52E1-D0E7-0291-A14D-18B0B4C5E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2004195"/>
            <a:ext cx="189394" cy="189394"/>
          </a:xfrm>
          <a:prstGeom prst="rect">
            <a:avLst/>
          </a:prstGeom>
        </p:spPr>
      </p:pic>
      <p:sp>
        <p:nvSpPr>
          <p:cNvPr id="227" name="TextBox 226">
            <a:extLst>
              <a:ext uri="{FF2B5EF4-FFF2-40B4-BE49-F238E27FC236}">
                <a16:creationId xmlns:a16="http://schemas.microsoft.com/office/drawing/2014/main" id="{6FD5D10B-226C-F0CD-A594-5D903731756D}"/>
              </a:ext>
            </a:extLst>
          </p:cNvPr>
          <p:cNvSpPr txBox="1"/>
          <p:nvPr/>
        </p:nvSpPr>
        <p:spPr>
          <a:xfrm>
            <a:off x="475813" y="2002933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8" name="그래픽 227" descr="말풍선 단색으로 채워진">
            <a:extLst>
              <a:ext uri="{FF2B5EF4-FFF2-40B4-BE49-F238E27FC236}">
                <a16:creationId xmlns:a16="http://schemas.microsoft.com/office/drawing/2014/main" id="{0643D971-2316-4264-D796-9823C84267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6401" y="3845986"/>
            <a:ext cx="189394" cy="189394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B0D3CC4C-7651-629C-AB0D-44B9E78640A9}"/>
              </a:ext>
            </a:extLst>
          </p:cNvPr>
          <p:cNvSpPr txBox="1"/>
          <p:nvPr/>
        </p:nvSpPr>
        <p:spPr>
          <a:xfrm>
            <a:off x="443532" y="384472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03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36" name="그림 235">
            <a:extLst>
              <a:ext uri="{FF2B5EF4-FFF2-40B4-BE49-F238E27FC236}">
                <a16:creationId xmlns:a16="http://schemas.microsoft.com/office/drawing/2014/main" id="{5FE4E015-0733-701C-355A-9D38AC801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00D4C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07943" y="3134316"/>
            <a:ext cx="209614" cy="209614"/>
          </a:xfrm>
          <a:prstGeom prst="rect">
            <a:avLst/>
          </a:prstGeom>
        </p:spPr>
      </p:pic>
      <p:sp>
        <p:nvSpPr>
          <p:cNvPr id="237" name="TextBox 236">
            <a:extLst>
              <a:ext uri="{FF2B5EF4-FFF2-40B4-BE49-F238E27FC236}">
                <a16:creationId xmlns:a16="http://schemas.microsoft.com/office/drawing/2014/main" id="{BC0B8975-E82E-97BE-4F7E-D3D0948FE6AB}"/>
              </a:ext>
            </a:extLst>
          </p:cNvPr>
          <p:cNvSpPr txBox="1"/>
          <p:nvPr/>
        </p:nvSpPr>
        <p:spPr>
          <a:xfrm>
            <a:off x="448522" y="3163319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latin typeface="SUIT" pitchFamily="2" charset="-127"/>
                <a:ea typeface="SUIT" pitchFamily="2" charset="-127"/>
              </a:rPr>
              <a:t>Sales_Raw_2026.xls  Upload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698F6DB-5AC9-3FA8-F015-20BDB67C0E9F}"/>
              </a:ext>
            </a:extLst>
          </p:cNvPr>
          <p:cNvSpPr txBox="1"/>
          <p:nvPr/>
        </p:nvSpPr>
        <p:spPr>
          <a:xfrm>
            <a:off x="224689" y="3497206"/>
            <a:ext cx="1120323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BYOD File Drag &amp; Drop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2ED8023A-3321-581B-B849-FEAE8ED0CCEB}"/>
              </a:ext>
            </a:extLst>
          </p:cNvPr>
          <p:cNvSpPr txBox="1"/>
          <p:nvPr/>
        </p:nvSpPr>
        <p:spPr>
          <a:xfrm>
            <a:off x="1247676" y="3507955"/>
            <a:ext cx="824125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1" i="0" dirty="0">
                <a:solidFill>
                  <a:srgbClr val="64748B"/>
                </a:solidFill>
                <a:effectLst/>
                <a:latin typeface="SUIT SemiBold" pitchFamily="50" charset="-127"/>
                <a:ea typeface="SUIT SemiBold" pitchFamily="50" charset="-127"/>
              </a:rPr>
              <a:t>100% Uploaded</a:t>
            </a:r>
            <a:endParaRPr lang="en-US" altLang="ko-KR" sz="4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240" name="사각형: 둥근 모서리 239">
            <a:extLst>
              <a:ext uri="{FF2B5EF4-FFF2-40B4-BE49-F238E27FC236}">
                <a16:creationId xmlns:a16="http://schemas.microsoft.com/office/drawing/2014/main" id="{04F25299-14D0-506B-6108-789D1BFDACB1}"/>
              </a:ext>
            </a:extLst>
          </p:cNvPr>
          <p:cNvSpPr/>
          <p:nvPr/>
        </p:nvSpPr>
        <p:spPr>
          <a:xfrm>
            <a:off x="316401" y="3405049"/>
            <a:ext cx="1619079" cy="56891"/>
          </a:xfrm>
          <a:prstGeom prst="roundRect">
            <a:avLst/>
          </a:prstGeom>
          <a:solidFill>
            <a:srgbClr val="00D4C5"/>
          </a:solidFill>
          <a:ln>
            <a:solidFill>
              <a:srgbClr val="00D4C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C33D7A7-5A69-8EC7-34B2-1EE7B0F17F73}"/>
              </a:ext>
            </a:extLst>
          </p:cNvPr>
          <p:cNvCxnSpPr>
            <a:cxnSpLocks/>
          </p:cNvCxnSpPr>
          <p:nvPr/>
        </p:nvCxnSpPr>
        <p:spPr>
          <a:xfrm flipV="1">
            <a:off x="3539768" y="4448707"/>
            <a:ext cx="0" cy="36141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hape 4">
            <a:extLst>
              <a:ext uri="{FF2B5EF4-FFF2-40B4-BE49-F238E27FC236}">
                <a16:creationId xmlns:a16="http://schemas.microsoft.com/office/drawing/2014/main" id="{A65BEC08-17F2-2197-A70F-54D1070B9EA6}"/>
              </a:ext>
            </a:extLst>
          </p:cNvPr>
          <p:cNvSpPr/>
          <p:nvPr/>
        </p:nvSpPr>
        <p:spPr>
          <a:xfrm rot="10800000">
            <a:off x="198471" y="2431995"/>
            <a:ext cx="1892036" cy="604121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7C431-26DB-3A3B-BD77-872624BBDCC5}"/>
              </a:ext>
            </a:extLst>
          </p:cNvPr>
          <p:cNvSpPr txBox="1"/>
          <p:nvPr/>
        </p:nvSpPr>
        <p:spPr>
          <a:xfrm>
            <a:off x="284697" y="2696928"/>
            <a:ext cx="177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감소 제품군 전월 및 당월 실적 다운로드해줘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6" name="그래픽 5" descr="말풍선 단색으로 채워진">
            <a:extLst>
              <a:ext uri="{FF2B5EF4-FFF2-40B4-BE49-F238E27FC236}">
                <a16:creationId xmlns:a16="http://schemas.microsoft.com/office/drawing/2014/main" id="{C36392BF-2DB2-D629-6034-F404E76CB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5017" y="2521898"/>
            <a:ext cx="189394" cy="1893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A8912E-552E-2963-9E6D-F36057AAB00D}"/>
              </a:ext>
            </a:extLst>
          </p:cNvPr>
          <p:cNvSpPr txBox="1"/>
          <p:nvPr/>
        </p:nvSpPr>
        <p:spPr>
          <a:xfrm>
            <a:off x="492148" y="2520636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3785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510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1396" y="-2197569"/>
            <a:ext cx="487887" cy="8595361"/>
          </a:xfrm>
          <a:prstGeom prst="roundRect">
            <a:avLst>
              <a:gd name="adj" fmla="val 19949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011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12E7-BEBC-D72C-8E9F-4F6E39E4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0BAC0F6-60B1-0101-8064-0FD52AF1412F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8A551D4-A165-83BA-88B9-59B13C9F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유연한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하이브리드 구성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C0E2AB1-8CBA-36C0-EE68-48308E776A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20C0CDE-2777-58EE-64DE-82460FC6EAC6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전략적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아키텍처 </a:t>
            </a:r>
            <a:r>
              <a:rPr lang="en-US" altLang="ko-KR" sz="1400" b="1" dirty="0">
                <a:latin typeface="+mn-ea"/>
                <a:ea typeface="+mn-ea"/>
              </a:rPr>
              <a:t>- </a:t>
            </a:r>
            <a:r>
              <a:rPr lang="ko-KR" altLang="en-US" sz="1400" b="1" dirty="0">
                <a:latin typeface="+mn-ea"/>
                <a:ea typeface="+mn-ea"/>
              </a:rPr>
              <a:t>보안과 성능의 유기적 최적화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EFA0D01F-4658-84D0-9BC9-79C5C19283F7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보안성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성능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비용을 최적화하는 하이브리드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(Hybrid)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운영 모델을 통해 사내 민감 데이터 격리와 고성능 추론 효율성을 동시 확보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9A93DE9-1550-75A2-F976-AA1D1E8E4331}"/>
              </a:ext>
            </a:extLst>
          </p:cNvPr>
          <p:cNvSpPr/>
          <p:nvPr/>
        </p:nvSpPr>
        <p:spPr>
          <a:xfrm>
            <a:off x="2862210" y="1264140"/>
            <a:ext cx="3654414" cy="220053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AB1B6DC5-C6AB-3C5F-A411-99F0375F2600}"/>
              </a:ext>
            </a:extLst>
          </p:cNvPr>
          <p:cNvSpPr/>
          <p:nvPr/>
        </p:nvSpPr>
        <p:spPr>
          <a:xfrm>
            <a:off x="154038" y="1459207"/>
            <a:ext cx="2979686" cy="1839260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32361EE5-0191-1E02-F473-9982D1BF118B}"/>
              </a:ext>
            </a:extLst>
          </p:cNvPr>
          <p:cNvSpPr txBox="1"/>
          <p:nvPr/>
        </p:nvSpPr>
        <p:spPr>
          <a:xfrm>
            <a:off x="264553" y="2479712"/>
            <a:ext cx="2795909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Zero-Leakage: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독립 </a:t>
            </a:r>
            <a:r>
              <a:rPr lang="ko-KR" altLang="en-US" sz="900" b="1" dirty="0" err="1">
                <a:solidFill>
                  <a:srgbClr val="FFFFFF"/>
                </a:solidFill>
                <a:latin typeface="SUIT"/>
              </a:rPr>
              <a:t>폐쇄망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구동으로 유출 차단</a:t>
            </a:r>
            <a:endParaRPr lang="en-US" altLang="ko-KR" sz="9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Domain Optimization: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한국어 및 사내 특화 튜닝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Asset Utilization: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활용 고정비 운영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1BAF21E2-0579-358F-887C-6974CA995736}"/>
              </a:ext>
            </a:extLst>
          </p:cNvPr>
          <p:cNvSpPr txBox="1"/>
          <p:nvPr/>
        </p:nvSpPr>
        <p:spPr>
          <a:xfrm>
            <a:off x="263790" y="1605511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ON-PREMISE TRACK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29100231-145D-9C16-FE88-DC7FEC23A246}"/>
              </a:ext>
            </a:extLst>
          </p:cNvPr>
          <p:cNvSpPr txBox="1"/>
          <p:nvPr/>
        </p:nvSpPr>
        <p:spPr>
          <a:xfrm>
            <a:off x="277493" y="1836953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sz="14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기반 </a:t>
            </a:r>
            <a:r>
              <a:rPr lang="en-US" sz="1400" b="1" dirty="0" err="1">
                <a:solidFill>
                  <a:srgbClr val="FFFFFF"/>
                </a:solidFill>
                <a:latin typeface="SUIT"/>
              </a:rPr>
              <a:t>sLLM</a:t>
            </a:r>
            <a:endParaRPr lang="en-US" sz="14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091D937E-E679-EA61-9612-7A3491714734}"/>
              </a:ext>
            </a:extLst>
          </p:cNvPr>
          <p:cNvSpPr txBox="1"/>
          <p:nvPr/>
        </p:nvSpPr>
        <p:spPr>
          <a:xfrm>
            <a:off x="252093" y="2092273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민감 데이터 </a:t>
            </a:r>
            <a:r>
              <a:rPr lang="en-US" altLang="ko-KR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· 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보안 최우선 </a:t>
            </a:r>
            <a:r>
              <a:rPr lang="ko-KR" altLang="en-US" sz="800" b="0" i="0" u="none" strike="noStrike" dirty="0" err="1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프라이빗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 분석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38" name="직선 연결선 1037">
            <a:extLst>
              <a:ext uri="{FF2B5EF4-FFF2-40B4-BE49-F238E27FC236}">
                <a16:creationId xmlns:a16="http://schemas.microsoft.com/office/drawing/2014/main" id="{2C502B31-0927-80C4-CB9F-35CE4C52C857}"/>
              </a:ext>
            </a:extLst>
          </p:cNvPr>
          <p:cNvCxnSpPr/>
          <p:nvPr/>
        </p:nvCxnSpPr>
        <p:spPr>
          <a:xfrm>
            <a:off x="3357" y="3561317"/>
            <a:ext cx="9144000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Shape 4">
            <a:extLst>
              <a:ext uri="{FF2B5EF4-FFF2-40B4-BE49-F238E27FC236}">
                <a16:creationId xmlns:a16="http://schemas.microsoft.com/office/drawing/2014/main" id="{1D409090-F57C-E2FA-313B-7B6ED90E9D79}"/>
              </a:ext>
            </a:extLst>
          </p:cNvPr>
          <p:cNvSpPr/>
          <p:nvPr/>
        </p:nvSpPr>
        <p:spPr>
          <a:xfrm>
            <a:off x="6159477" y="1463520"/>
            <a:ext cx="2818408" cy="1839257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DFA7C894-AACF-05D6-8DA7-11D226097831}"/>
              </a:ext>
            </a:extLst>
          </p:cNvPr>
          <p:cNvSpPr txBox="1"/>
          <p:nvPr/>
        </p:nvSpPr>
        <p:spPr>
          <a:xfrm>
            <a:off x="6456052" y="2426027"/>
            <a:ext cx="2474201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State-of-the-Art: </a:t>
            </a:r>
            <a:r>
              <a:rPr lang="ko-KR" altLang="en-US" sz="900" b="1" dirty="0">
                <a:latin typeface="SUIT"/>
              </a:rPr>
              <a:t>최신 모델 즉각 적용</a:t>
            </a:r>
            <a:endParaRPr lang="en-US" altLang="ko-KR" sz="900" b="1" dirty="0"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 err="1">
                <a:latin typeface="SUIT"/>
              </a:rPr>
              <a:t>OpEx</a:t>
            </a:r>
            <a:r>
              <a:rPr lang="en-US" altLang="ko-KR" sz="900" b="1" dirty="0">
                <a:latin typeface="SUIT"/>
              </a:rPr>
              <a:t> Optimized: </a:t>
            </a:r>
            <a:r>
              <a:rPr lang="ko-KR" altLang="en-US" sz="900" b="1" dirty="0">
                <a:latin typeface="SUIT"/>
              </a:rPr>
              <a:t>종량제 기반 비용 최적화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Agility: </a:t>
            </a:r>
            <a:r>
              <a:rPr lang="ko-KR" altLang="en-US" sz="900" b="1" dirty="0">
                <a:latin typeface="SUIT"/>
              </a:rPr>
              <a:t>고난도 다단계 복합 추론 대응</a:t>
            </a: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FE92966A-CAEF-0DDD-7111-B40663DD8B11}"/>
              </a:ext>
            </a:extLst>
          </p:cNvPr>
          <p:cNvSpPr txBox="1"/>
          <p:nvPr/>
        </p:nvSpPr>
        <p:spPr>
          <a:xfrm>
            <a:off x="6455289" y="1603582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CLOUD TRACK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8C7C7CF3-6549-1D15-F083-A6658778385F}"/>
              </a:ext>
            </a:extLst>
          </p:cNvPr>
          <p:cNvSpPr txBox="1"/>
          <p:nvPr/>
        </p:nvSpPr>
        <p:spPr>
          <a:xfrm>
            <a:off x="6468992" y="1835024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latin typeface="SUIT"/>
              </a:rPr>
              <a:t>외부 상용 LLM (Claude/GPT)</a:t>
            </a:r>
            <a:endParaRPr lang="en-US" sz="1400" b="1" dirty="0">
              <a:latin typeface="SUIT"/>
            </a:endParaRP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4CBE04B-E4CD-0A00-9726-3DBCB6FB6911}"/>
              </a:ext>
            </a:extLst>
          </p:cNvPr>
          <p:cNvSpPr txBox="1"/>
          <p:nvPr/>
        </p:nvSpPr>
        <p:spPr>
          <a:xfrm>
            <a:off x="6443592" y="2090344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최신 모델 기반 고난도 추론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50" name="직선 연결선 1049">
            <a:extLst>
              <a:ext uri="{FF2B5EF4-FFF2-40B4-BE49-F238E27FC236}">
                <a16:creationId xmlns:a16="http://schemas.microsoft.com/office/drawing/2014/main" id="{C510B7DD-2AE3-8AF5-E782-CEE3BA729303}"/>
              </a:ext>
            </a:extLst>
          </p:cNvPr>
          <p:cNvCxnSpPr>
            <a:cxnSpLocks/>
          </p:cNvCxnSpPr>
          <p:nvPr/>
        </p:nvCxnSpPr>
        <p:spPr>
          <a:xfrm>
            <a:off x="3467122" y="1902559"/>
            <a:ext cx="2459225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4" name="Shape 4">
            <a:extLst>
              <a:ext uri="{FF2B5EF4-FFF2-40B4-BE49-F238E27FC236}">
                <a16:creationId xmlns:a16="http://schemas.microsoft.com/office/drawing/2014/main" id="{85E67FD8-D11B-3E59-955B-F340B8D44907}"/>
              </a:ext>
            </a:extLst>
          </p:cNvPr>
          <p:cNvSpPr/>
          <p:nvPr/>
        </p:nvSpPr>
        <p:spPr>
          <a:xfrm>
            <a:off x="3719925" y="1439728"/>
            <a:ext cx="380740" cy="401614"/>
          </a:xfrm>
          <a:prstGeom prst="roundRect">
            <a:avLst>
              <a:gd name="adj" fmla="val 17269"/>
            </a:avLst>
          </a:prstGeom>
          <a:solidFill>
            <a:srgbClr val="FAFEFE"/>
          </a:solidFill>
          <a:ln>
            <a:solidFill>
              <a:srgbClr val="0D9488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065" name="그룹 1064">
            <a:extLst>
              <a:ext uri="{FF2B5EF4-FFF2-40B4-BE49-F238E27FC236}">
                <a16:creationId xmlns:a16="http://schemas.microsoft.com/office/drawing/2014/main" id="{AD845E62-BAEC-E25D-EC08-DBC602013223}"/>
              </a:ext>
            </a:extLst>
          </p:cNvPr>
          <p:cNvGrpSpPr/>
          <p:nvPr/>
        </p:nvGrpSpPr>
        <p:grpSpPr>
          <a:xfrm>
            <a:off x="3779234" y="1525391"/>
            <a:ext cx="255778" cy="211297"/>
            <a:chOff x="3464565" y="3772634"/>
            <a:chExt cx="342501" cy="282938"/>
          </a:xfrm>
          <a:solidFill>
            <a:srgbClr val="0D9488"/>
          </a:solidFill>
        </p:grpSpPr>
        <p:sp>
          <p:nvSpPr>
            <p:cNvPr id="1066" name="자유형: 도형 1065">
              <a:extLst>
                <a:ext uri="{FF2B5EF4-FFF2-40B4-BE49-F238E27FC236}">
                  <a16:creationId xmlns:a16="http://schemas.microsoft.com/office/drawing/2014/main" id="{EE7D90D7-127C-39EC-96E5-BF17FBD68EA9}"/>
                </a:ext>
              </a:extLst>
            </p:cNvPr>
            <p:cNvSpPr/>
            <p:nvPr/>
          </p:nvSpPr>
          <p:spPr>
            <a:xfrm>
              <a:off x="3627731" y="3924498"/>
              <a:ext cx="179335" cy="131074"/>
            </a:xfrm>
            <a:custGeom>
              <a:avLst/>
              <a:gdLst>
                <a:gd name="csX0" fmla="*/ 123945 w 179335"/>
                <a:gd name="csY0" fmla="*/ 7632 h 131074"/>
                <a:gd name="csX1" fmla="*/ 108153 w 179335"/>
                <a:gd name="csY1" fmla="*/ 7906 h 131074"/>
                <a:gd name="csX2" fmla="*/ 108153 w 179335"/>
                <a:gd name="csY2" fmla="*/ 23424 h 131074"/>
                <a:gd name="csX3" fmla="*/ 141208 w 179335"/>
                <a:gd name="csY3" fmla="*/ 56480 h 131074"/>
                <a:gd name="csX4" fmla="*/ 98492 w 179335"/>
                <a:gd name="csY4" fmla="*/ 56480 h 131074"/>
                <a:gd name="csX5" fmla="*/ 53743 w 179335"/>
                <a:gd name="csY5" fmla="*/ 37943 h 131074"/>
                <a:gd name="csX6" fmla="*/ 15796 w 179335"/>
                <a:gd name="csY6" fmla="*/ 0 h 131074"/>
                <a:gd name="csX7" fmla="*/ 0 w 179335"/>
                <a:gd name="csY7" fmla="*/ 15789 h 131074"/>
                <a:gd name="csX8" fmla="*/ 37947 w 179335"/>
                <a:gd name="csY8" fmla="*/ 53740 h 131074"/>
                <a:gd name="csX9" fmla="*/ 98492 w 179335"/>
                <a:gd name="csY9" fmla="*/ 78817 h 131074"/>
                <a:gd name="csX10" fmla="*/ 141208 w 179335"/>
                <a:gd name="csY10" fmla="*/ 78817 h 131074"/>
                <a:gd name="csX11" fmla="*/ 108153 w 179335"/>
                <a:gd name="csY11" fmla="*/ 111872 h 131074"/>
                <a:gd name="csX12" fmla="*/ 107879 w 179335"/>
                <a:gd name="csY12" fmla="*/ 127664 h 131074"/>
                <a:gd name="csX13" fmla="*/ 123671 w 179335"/>
                <a:gd name="csY13" fmla="*/ 127939 h 131074"/>
                <a:gd name="csX14" fmla="*/ 123945 w 179335"/>
                <a:gd name="csY14" fmla="*/ 127664 h 131074"/>
                <a:gd name="csX15" fmla="*/ 176065 w 179335"/>
                <a:gd name="csY15" fmla="*/ 75544 h 131074"/>
                <a:gd name="csX16" fmla="*/ 176065 w 179335"/>
                <a:gd name="csY16" fmla="*/ 59752 h 131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79335" h="131074">
                  <a:moveTo>
                    <a:pt x="123945" y="7632"/>
                  </a:moveTo>
                  <a:cubicBezTo>
                    <a:pt x="119508" y="3347"/>
                    <a:pt x="112438" y="3470"/>
                    <a:pt x="108153" y="7906"/>
                  </a:cubicBezTo>
                  <a:cubicBezTo>
                    <a:pt x="103973" y="12234"/>
                    <a:pt x="103973" y="19096"/>
                    <a:pt x="108153" y="23424"/>
                  </a:cubicBezTo>
                  <a:lnTo>
                    <a:pt x="141208" y="56480"/>
                  </a:lnTo>
                  <a:lnTo>
                    <a:pt x="98492" y="56480"/>
                  </a:lnTo>
                  <a:cubicBezTo>
                    <a:pt x="81699" y="56524"/>
                    <a:pt x="65586" y="49850"/>
                    <a:pt x="53743" y="37943"/>
                  </a:cubicBezTo>
                  <a:lnTo>
                    <a:pt x="15796" y="0"/>
                  </a:lnTo>
                  <a:lnTo>
                    <a:pt x="0" y="15789"/>
                  </a:lnTo>
                  <a:lnTo>
                    <a:pt x="37947" y="53740"/>
                  </a:lnTo>
                  <a:cubicBezTo>
                    <a:pt x="53971" y="69848"/>
                    <a:pt x="75771" y="78877"/>
                    <a:pt x="98492" y="78817"/>
                  </a:cubicBezTo>
                  <a:lnTo>
                    <a:pt x="141208" y="78817"/>
                  </a:lnTo>
                  <a:lnTo>
                    <a:pt x="108153" y="111872"/>
                  </a:lnTo>
                  <a:cubicBezTo>
                    <a:pt x="103716" y="116157"/>
                    <a:pt x="103593" y="123228"/>
                    <a:pt x="107879" y="127664"/>
                  </a:cubicBezTo>
                  <a:cubicBezTo>
                    <a:pt x="112164" y="132101"/>
                    <a:pt x="119234" y="132224"/>
                    <a:pt x="123671" y="127939"/>
                  </a:cubicBezTo>
                  <a:cubicBezTo>
                    <a:pt x="123764" y="127849"/>
                    <a:pt x="123855" y="127758"/>
                    <a:pt x="123945" y="127664"/>
                  </a:cubicBezTo>
                  <a:lnTo>
                    <a:pt x="176065" y="75544"/>
                  </a:lnTo>
                  <a:cubicBezTo>
                    <a:pt x="180425" y="71183"/>
                    <a:pt x="180425" y="64113"/>
                    <a:pt x="176065" y="59752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7" name="자유형: 도형 1066">
              <a:extLst>
                <a:ext uri="{FF2B5EF4-FFF2-40B4-BE49-F238E27FC236}">
                  <a16:creationId xmlns:a16="http://schemas.microsoft.com/office/drawing/2014/main" id="{3BB5DBEB-4F2E-CD08-7643-8B7FD1013E38}"/>
                </a:ext>
              </a:extLst>
            </p:cNvPr>
            <p:cNvSpPr/>
            <p:nvPr/>
          </p:nvSpPr>
          <p:spPr>
            <a:xfrm>
              <a:off x="3464565" y="3824617"/>
              <a:ext cx="142109" cy="78817"/>
            </a:xfrm>
            <a:custGeom>
              <a:avLst/>
              <a:gdLst>
                <a:gd name="csX0" fmla="*/ 11169 w 142109"/>
                <a:gd name="csY0" fmla="*/ 22337 h 78817"/>
                <a:gd name="csX1" fmla="*/ 43617 w 142109"/>
                <a:gd name="csY1" fmla="*/ 22337 h 78817"/>
                <a:gd name="csX2" fmla="*/ 88366 w 142109"/>
                <a:gd name="csY2" fmla="*/ 40874 h 78817"/>
                <a:gd name="csX3" fmla="*/ 126313 w 142109"/>
                <a:gd name="csY3" fmla="*/ 78817 h 78817"/>
                <a:gd name="csX4" fmla="*/ 142109 w 142109"/>
                <a:gd name="csY4" fmla="*/ 63028 h 78817"/>
                <a:gd name="csX5" fmla="*/ 104162 w 142109"/>
                <a:gd name="csY5" fmla="*/ 25078 h 78817"/>
                <a:gd name="csX6" fmla="*/ 43617 w 142109"/>
                <a:gd name="csY6" fmla="*/ 0 h 78817"/>
                <a:gd name="csX7" fmla="*/ 11169 w 142109"/>
                <a:gd name="csY7" fmla="*/ 0 h 78817"/>
                <a:gd name="csX8" fmla="*/ 0 w 142109"/>
                <a:gd name="csY8" fmla="*/ 11169 h 78817"/>
                <a:gd name="csX9" fmla="*/ 11169 w 142109"/>
                <a:gd name="csY9" fmla="*/ 22337 h 78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42109" h="78817">
                  <a:moveTo>
                    <a:pt x="11169" y="22337"/>
                  </a:moveTo>
                  <a:lnTo>
                    <a:pt x="43617" y="22337"/>
                  </a:lnTo>
                  <a:cubicBezTo>
                    <a:pt x="60410" y="22293"/>
                    <a:pt x="76523" y="28967"/>
                    <a:pt x="88366" y="40874"/>
                  </a:cubicBezTo>
                  <a:lnTo>
                    <a:pt x="126313" y="78817"/>
                  </a:lnTo>
                  <a:lnTo>
                    <a:pt x="142109" y="63028"/>
                  </a:lnTo>
                  <a:lnTo>
                    <a:pt x="104162" y="25078"/>
                  </a:lnTo>
                  <a:cubicBezTo>
                    <a:pt x="88138" y="8969"/>
                    <a:pt x="66338" y="-60"/>
                    <a:pt x="43617" y="0"/>
                  </a:cubicBezTo>
                  <a:lnTo>
                    <a:pt x="11169" y="0"/>
                  </a:lnTo>
                  <a:cubicBezTo>
                    <a:pt x="5000" y="0"/>
                    <a:pt x="0" y="5000"/>
                    <a:pt x="0" y="11169"/>
                  </a:cubicBezTo>
                  <a:cubicBezTo>
                    <a:pt x="0" y="17337"/>
                    <a:pt x="5000" y="22337"/>
                    <a:pt x="11169" y="22337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8" name="자유형: 도형 1067">
              <a:extLst>
                <a:ext uri="{FF2B5EF4-FFF2-40B4-BE49-F238E27FC236}">
                  <a16:creationId xmlns:a16="http://schemas.microsoft.com/office/drawing/2014/main" id="{AEDE519B-C001-71E1-41C8-48A97F6CAEAD}"/>
                </a:ext>
              </a:extLst>
            </p:cNvPr>
            <p:cNvSpPr/>
            <p:nvPr/>
          </p:nvSpPr>
          <p:spPr>
            <a:xfrm>
              <a:off x="3464565" y="3772634"/>
              <a:ext cx="342501" cy="230680"/>
            </a:xfrm>
            <a:custGeom>
              <a:avLst/>
              <a:gdLst>
                <a:gd name="csX0" fmla="*/ 261658 w 342501"/>
                <a:gd name="csY0" fmla="*/ 74320 h 230680"/>
                <a:gd name="csX1" fmla="*/ 304374 w 342501"/>
                <a:gd name="csY1" fmla="*/ 74320 h 230680"/>
                <a:gd name="csX2" fmla="*/ 271319 w 342501"/>
                <a:gd name="csY2" fmla="*/ 107375 h 230680"/>
                <a:gd name="csX3" fmla="*/ 271044 w 342501"/>
                <a:gd name="csY3" fmla="*/ 123168 h 230680"/>
                <a:gd name="csX4" fmla="*/ 286837 w 342501"/>
                <a:gd name="csY4" fmla="*/ 123442 h 230680"/>
                <a:gd name="csX5" fmla="*/ 287111 w 342501"/>
                <a:gd name="csY5" fmla="*/ 123168 h 230680"/>
                <a:gd name="csX6" fmla="*/ 339231 w 342501"/>
                <a:gd name="csY6" fmla="*/ 71048 h 230680"/>
                <a:gd name="csX7" fmla="*/ 339231 w 342501"/>
                <a:gd name="csY7" fmla="*/ 55255 h 230680"/>
                <a:gd name="csX8" fmla="*/ 287111 w 342501"/>
                <a:gd name="csY8" fmla="*/ 3135 h 230680"/>
                <a:gd name="csX9" fmla="*/ 271319 w 342501"/>
                <a:gd name="csY9" fmla="*/ 3410 h 230680"/>
                <a:gd name="csX10" fmla="*/ 271319 w 342501"/>
                <a:gd name="csY10" fmla="*/ 18928 h 230680"/>
                <a:gd name="csX11" fmla="*/ 304374 w 342501"/>
                <a:gd name="csY11" fmla="*/ 51983 h 230680"/>
                <a:gd name="csX12" fmla="*/ 261658 w 342501"/>
                <a:gd name="csY12" fmla="*/ 51983 h 230680"/>
                <a:gd name="csX13" fmla="*/ 201113 w 342501"/>
                <a:gd name="csY13" fmla="*/ 77060 h 230680"/>
                <a:gd name="csX14" fmla="*/ 88366 w 342501"/>
                <a:gd name="csY14" fmla="*/ 189807 h 230680"/>
                <a:gd name="csX15" fmla="*/ 43617 w 342501"/>
                <a:gd name="csY15" fmla="*/ 208343 h 230680"/>
                <a:gd name="csX16" fmla="*/ 11169 w 342501"/>
                <a:gd name="csY16" fmla="*/ 208343 h 230680"/>
                <a:gd name="csX17" fmla="*/ 0 w 342501"/>
                <a:gd name="csY17" fmla="*/ 219512 h 230680"/>
                <a:gd name="csX18" fmla="*/ 11169 w 342501"/>
                <a:gd name="csY18" fmla="*/ 230680 h 230680"/>
                <a:gd name="csX19" fmla="*/ 43617 w 342501"/>
                <a:gd name="csY19" fmla="*/ 230680 h 230680"/>
                <a:gd name="csX20" fmla="*/ 104162 w 342501"/>
                <a:gd name="csY20" fmla="*/ 205603 h 230680"/>
                <a:gd name="csX21" fmla="*/ 216909 w 342501"/>
                <a:gd name="csY21" fmla="*/ 92856 h 230680"/>
                <a:gd name="csX22" fmla="*/ 261658 w 342501"/>
                <a:gd name="csY22" fmla="*/ 74320 h 23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42501" h="230680">
                  <a:moveTo>
                    <a:pt x="261658" y="74320"/>
                  </a:moveTo>
                  <a:lnTo>
                    <a:pt x="304374" y="74320"/>
                  </a:lnTo>
                  <a:lnTo>
                    <a:pt x="271319" y="107375"/>
                  </a:lnTo>
                  <a:cubicBezTo>
                    <a:pt x="266882" y="111660"/>
                    <a:pt x="266759" y="118731"/>
                    <a:pt x="271044" y="123168"/>
                  </a:cubicBezTo>
                  <a:cubicBezTo>
                    <a:pt x="275329" y="127605"/>
                    <a:pt x="282400" y="127728"/>
                    <a:pt x="286837" y="123442"/>
                  </a:cubicBezTo>
                  <a:cubicBezTo>
                    <a:pt x="286930" y="123352"/>
                    <a:pt x="287021" y="123261"/>
                    <a:pt x="287111" y="123168"/>
                  </a:cubicBezTo>
                  <a:lnTo>
                    <a:pt x="339231" y="71048"/>
                  </a:lnTo>
                  <a:cubicBezTo>
                    <a:pt x="343591" y="66686"/>
                    <a:pt x="343591" y="59617"/>
                    <a:pt x="339231" y="55255"/>
                  </a:cubicBezTo>
                  <a:lnTo>
                    <a:pt x="287111" y="3135"/>
                  </a:lnTo>
                  <a:cubicBezTo>
                    <a:pt x="282674" y="-1150"/>
                    <a:pt x="275604" y="-1027"/>
                    <a:pt x="271319" y="3410"/>
                  </a:cubicBezTo>
                  <a:cubicBezTo>
                    <a:pt x="267139" y="7738"/>
                    <a:pt x="267139" y="14599"/>
                    <a:pt x="271319" y="18928"/>
                  </a:cubicBezTo>
                  <a:lnTo>
                    <a:pt x="304374" y="51983"/>
                  </a:lnTo>
                  <a:lnTo>
                    <a:pt x="261658" y="51983"/>
                  </a:lnTo>
                  <a:cubicBezTo>
                    <a:pt x="238937" y="51922"/>
                    <a:pt x="217136" y="60952"/>
                    <a:pt x="201113" y="77060"/>
                  </a:cubicBezTo>
                  <a:lnTo>
                    <a:pt x="88366" y="189807"/>
                  </a:lnTo>
                  <a:cubicBezTo>
                    <a:pt x="76523" y="201714"/>
                    <a:pt x="60410" y="208388"/>
                    <a:pt x="43617" y="208343"/>
                  </a:cubicBezTo>
                  <a:lnTo>
                    <a:pt x="11169" y="208343"/>
                  </a:lnTo>
                  <a:cubicBezTo>
                    <a:pt x="5000" y="208343"/>
                    <a:pt x="0" y="213343"/>
                    <a:pt x="0" y="219512"/>
                  </a:cubicBezTo>
                  <a:cubicBezTo>
                    <a:pt x="0" y="225680"/>
                    <a:pt x="5000" y="230680"/>
                    <a:pt x="11169" y="230680"/>
                  </a:cubicBezTo>
                  <a:lnTo>
                    <a:pt x="43617" y="230680"/>
                  </a:lnTo>
                  <a:cubicBezTo>
                    <a:pt x="66338" y="230741"/>
                    <a:pt x="88138" y="221711"/>
                    <a:pt x="104162" y="205603"/>
                  </a:cubicBezTo>
                  <a:lnTo>
                    <a:pt x="216909" y="92856"/>
                  </a:lnTo>
                  <a:cubicBezTo>
                    <a:pt x="228751" y="80950"/>
                    <a:pt x="244865" y="74275"/>
                    <a:pt x="261658" y="74320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69" name="TextBox 1068">
            <a:extLst>
              <a:ext uri="{FF2B5EF4-FFF2-40B4-BE49-F238E27FC236}">
                <a16:creationId xmlns:a16="http://schemas.microsoft.com/office/drawing/2014/main" id="{1CE9E0FB-D0D9-A649-733F-64AB9ECEDB7C}"/>
              </a:ext>
            </a:extLst>
          </p:cNvPr>
          <p:cNvSpPr txBox="1"/>
          <p:nvPr/>
        </p:nvSpPr>
        <p:spPr>
          <a:xfrm>
            <a:off x="4119827" y="1432822"/>
            <a:ext cx="1616710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20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72" name="Shape 4">
            <a:extLst>
              <a:ext uri="{FF2B5EF4-FFF2-40B4-BE49-F238E27FC236}">
                <a16:creationId xmlns:a16="http://schemas.microsoft.com/office/drawing/2014/main" id="{DF03D8EC-8B71-CA9A-8EEE-EB72B35FC8D4}"/>
              </a:ext>
            </a:extLst>
          </p:cNvPr>
          <p:cNvSpPr/>
          <p:nvPr/>
        </p:nvSpPr>
        <p:spPr>
          <a:xfrm>
            <a:off x="3199419" y="1984675"/>
            <a:ext cx="2886796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29E52DE7-4C57-6A95-1883-6157C56A38F7}"/>
              </a:ext>
            </a:extLst>
          </p:cNvPr>
          <p:cNvSpPr txBox="1"/>
          <p:nvPr/>
        </p:nvSpPr>
        <p:spPr>
          <a:xfrm>
            <a:off x="3223977" y="2189766"/>
            <a:ext cx="2303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LAYER 02(Model)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Query Normalizer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를 통한 정규화 직후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(Pre-execution phase)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및 실제 데이터 조회 및 스킬 실행 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동적 경로를 확정합니다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076" name="Shape 4">
            <a:extLst>
              <a:ext uri="{FF2B5EF4-FFF2-40B4-BE49-F238E27FC236}">
                <a16:creationId xmlns:a16="http://schemas.microsoft.com/office/drawing/2014/main" id="{C3F685BD-92A3-6C9B-7C59-83DE94F56326}"/>
              </a:ext>
            </a:extLst>
          </p:cNvPr>
          <p:cNvSpPr/>
          <p:nvPr/>
        </p:nvSpPr>
        <p:spPr>
          <a:xfrm>
            <a:off x="3199419" y="2588751"/>
            <a:ext cx="1497922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79" name="그래픽 1078" descr="시계 단색으로 채워진">
            <a:extLst>
              <a:ext uri="{FF2B5EF4-FFF2-40B4-BE49-F238E27FC236}">
                <a16:creationId xmlns:a16="http://schemas.microsoft.com/office/drawing/2014/main" id="{FFBA5D50-80F0-1932-91D8-F151B9957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2633" y="2040704"/>
            <a:ext cx="159589" cy="159589"/>
          </a:xfrm>
          <a:prstGeom prst="rect">
            <a:avLst/>
          </a:prstGeom>
        </p:spPr>
      </p:pic>
      <p:sp>
        <p:nvSpPr>
          <p:cNvPr id="1083" name="TextBox 1082">
            <a:extLst>
              <a:ext uri="{FF2B5EF4-FFF2-40B4-BE49-F238E27FC236}">
                <a16:creationId xmlns:a16="http://schemas.microsoft.com/office/drawing/2014/main" id="{D91A0219-8C54-4319-DCEF-44C9993CC321}"/>
              </a:ext>
            </a:extLst>
          </p:cNvPr>
          <p:cNvSpPr txBox="1"/>
          <p:nvPr/>
        </p:nvSpPr>
        <p:spPr>
          <a:xfrm>
            <a:off x="3388558" y="2021685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판단 시점 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79F94C2B-250E-3B84-C41E-3C02516554F5}"/>
              </a:ext>
            </a:extLst>
          </p:cNvPr>
          <p:cNvSpPr txBox="1"/>
          <p:nvPr/>
        </p:nvSpPr>
        <p:spPr>
          <a:xfrm>
            <a:off x="3223977" y="2748618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보안 등급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PII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및 기밀 정보 스캔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연산 복잡도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sLLM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vs Cl. LLM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효율 분석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SLA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임계치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실시간성 및 비용 최적화 계산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36814A89-6BFA-44B2-C576-C0BA84053AC8}"/>
              </a:ext>
            </a:extLst>
          </p:cNvPr>
          <p:cNvSpPr txBox="1"/>
          <p:nvPr/>
        </p:nvSpPr>
        <p:spPr>
          <a:xfrm>
            <a:off x="3361564" y="2584954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기준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9" name="그래픽 218" descr="정의의 저울 단색으로 채워진">
            <a:extLst>
              <a:ext uri="{FF2B5EF4-FFF2-40B4-BE49-F238E27FC236}">
                <a16:creationId xmlns:a16="http://schemas.microsoft.com/office/drawing/2014/main" id="{E1A87A23-3029-D12D-6918-C20AD8ED06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9314" y="2618463"/>
            <a:ext cx="131071" cy="131071"/>
          </a:xfrm>
          <a:prstGeom prst="rect">
            <a:avLst/>
          </a:prstGeom>
        </p:spPr>
      </p:pic>
      <p:sp>
        <p:nvSpPr>
          <p:cNvPr id="220" name="Shape 4">
            <a:extLst>
              <a:ext uri="{FF2B5EF4-FFF2-40B4-BE49-F238E27FC236}">
                <a16:creationId xmlns:a16="http://schemas.microsoft.com/office/drawing/2014/main" id="{78EB0C29-5A51-9489-0B58-0828D1CA5AA8}"/>
              </a:ext>
            </a:extLst>
          </p:cNvPr>
          <p:cNvSpPr/>
          <p:nvPr/>
        </p:nvSpPr>
        <p:spPr>
          <a:xfrm>
            <a:off x="4732103" y="2596615"/>
            <a:ext cx="1331185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0BD47243-312D-4F92-CB6C-9B5A84153631}"/>
              </a:ext>
            </a:extLst>
          </p:cNvPr>
          <p:cNvSpPr txBox="1"/>
          <p:nvPr/>
        </p:nvSpPr>
        <p:spPr>
          <a:xfrm>
            <a:off x="4756661" y="2756482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Semantic Class.: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의도 벡터 매칭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Policy Engine: RBAC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기반 판정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Fallback: </a:t>
            </a:r>
            <a:r>
              <a:rPr kumimoji="0" lang="ko-KR" altLang="en-US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마스킹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및 에스컬레이션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A2D1C11-6EBE-EAA2-F4C0-91CA1755178E}"/>
              </a:ext>
            </a:extLst>
          </p:cNvPr>
          <p:cNvSpPr txBox="1"/>
          <p:nvPr/>
        </p:nvSpPr>
        <p:spPr>
          <a:xfrm>
            <a:off x="4855431" y="2592818"/>
            <a:ext cx="10884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기술 </a:t>
            </a:r>
            <a:r>
              <a:rPr kumimoji="0" lang="ko-KR" altLang="en-US" sz="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메커니즘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5" name="그래픽 214" descr="플러그 단색으로 채워진">
            <a:extLst>
              <a:ext uri="{FF2B5EF4-FFF2-40B4-BE49-F238E27FC236}">
                <a16:creationId xmlns:a16="http://schemas.microsoft.com/office/drawing/2014/main" id="{48E6E9E9-CCCB-780C-60F0-420DE62203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8701" y="2647294"/>
            <a:ext cx="102474" cy="102474"/>
          </a:xfrm>
          <a:prstGeom prst="rect">
            <a:avLst/>
          </a:prstGeom>
        </p:spPr>
      </p:pic>
      <p:sp>
        <p:nvSpPr>
          <p:cNvPr id="224" name="TextBox 10">
            <a:extLst>
              <a:ext uri="{FF2B5EF4-FFF2-40B4-BE49-F238E27FC236}">
                <a16:creationId xmlns:a16="http://schemas.microsoft.com/office/drawing/2014/main" id="{D9051827-8257-D9D9-51F4-835D53857803}"/>
              </a:ext>
            </a:extLst>
          </p:cNvPr>
          <p:cNvSpPr txBox="1"/>
          <p:nvPr/>
        </p:nvSpPr>
        <p:spPr>
          <a:xfrm>
            <a:off x="165994" y="3664858"/>
            <a:ext cx="3195570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멀티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LLM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프로바이더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생태계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| 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업계 표준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8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종 인프라 탑재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F3F548F5-D07E-54D0-61BF-5C6EB2BF754D}"/>
              </a:ext>
            </a:extLst>
          </p:cNvPr>
          <p:cNvSpPr/>
          <p:nvPr/>
        </p:nvSpPr>
        <p:spPr>
          <a:xfrm>
            <a:off x="172248" y="397544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26;p13">
            <a:extLst>
              <a:ext uri="{FF2B5EF4-FFF2-40B4-BE49-F238E27FC236}">
                <a16:creationId xmlns:a16="http://schemas.microsoft.com/office/drawing/2014/main" id="{05722C57-E675-37A7-77F0-6DFF8733ACD2}"/>
              </a:ext>
            </a:extLst>
          </p:cNvPr>
          <p:cNvSpPr txBox="1"/>
          <p:nvPr/>
        </p:nvSpPr>
        <p:spPr>
          <a:xfrm>
            <a:off x="277493" y="401636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OpenAI</a:t>
            </a:r>
          </a:p>
        </p:txBody>
      </p:sp>
      <p:sp>
        <p:nvSpPr>
          <p:cNvPr id="232" name="Google Shape;227;p13">
            <a:extLst>
              <a:ext uri="{FF2B5EF4-FFF2-40B4-BE49-F238E27FC236}">
                <a16:creationId xmlns:a16="http://schemas.microsoft.com/office/drawing/2014/main" id="{32DCC64A-ACDE-E268-6E47-3F1E57EDFA0E}"/>
              </a:ext>
            </a:extLst>
          </p:cNvPr>
          <p:cNvSpPr txBox="1"/>
          <p:nvPr/>
        </p:nvSpPr>
        <p:spPr>
          <a:xfrm>
            <a:off x="277493" y="415851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GPT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추론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46165264-18A1-EDA3-C72C-CBD1D6F2FD96}"/>
              </a:ext>
            </a:extLst>
          </p:cNvPr>
          <p:cNvSpPr/>
          <p:nvPr/>
        </p:nvSpPr>
        <p:spPr>
          <a:xfrm>
            <a:off x="1120938" y="3977684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4" name="Google Shape;226;p13">
            <a:extLst>
              <a:ext uri="{FF2B5EF4-FFF2-40B4-BE49-F238E27FC236}">
                <a16:creationId xmlns:a16="http://schemas.microsoft.com/office/drawing/2014/main" id="{B27EAA2D-E9E1-80C8-1FC6-81EDC51A2D4D}"/>
              </a:ext>
            </a:extLst>
          </p:cNvPr>
          <p:cNvSpPr txBox="1"/>
          <p:nvPr/>
        </p:nvSpPr>
        <p:spPr>
          <a:xfrm>
            <a:off x="1226183" y="4018611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Anthropic</a:t>
            </a:r>
          </a:p>
        </p:txBody>
      </p:sp>
      <p:sp>
        <p:nvSpPr>
          <p:cNvPr id="235" name="Google Shape;227;p13">
            <a:extLst>
              <a:ext uri="{FF2B5EF4-FFF2-40B4-BE49-F238E27FC236}">
                <a16:creationId xmlns:a16="http://schemas.microsoft.com/office/drawing/2014/main" id="{7F4169ED-BB96-9457-816E-024159952EEF}"/>
              </a:ext>
            </a:extLst>
          </p:cNvPr>
          <p:cNvSpPr txBox="1"/>
          <p:nvPr/>
        </p:nvSpPr>
        <p:spPr>
          <a:xfrm>
            <a:off x="1226183" y="4160758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Claude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분석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7B4A9216-6ECD-D524-7CA4-06C2BFDDDC2A}"/>
              </a:ext>
            </a:extLst>
          </p:cNvPr>
          <p:cNvSpPr/>
          <p:nvPr/>
        </p:nvSpPr>
        <p:spPr>
          <a:xfrm>
            <a:off x="2069628" y="3983576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Google Shape;226;p13">
            <a:extLst>
              <a:ext uri="{FF2B5EF4-FFF2-40B4-BE49-F238E27FC236}">
                <a16:creationId xmlns:a16="http://schemas.microsoft.com/office/drawing/2014/main" id="{574FB3AF-846E-05B7-A554-9FC147E8C22C}"/>
              </a:ext>
            </a:extLst>
          </p:cNvPr>
          <p:cNvSpPr txBox="1"/>
          <p:nvPr/>
        </p:nvSpPr>
        <p:spPr>
          <a:xfrm>
            <a:off x="2174873" y="4024503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Gemini</a:t>
            </a:r>
          </a:p>
        </p:txBody>
      </p:sp>
      <p:sp>
        <p:nvSpPr>
          <p:cNvPr id="238" name="Google Shape;227;p13">
            <a:extLst>
              <a:ext uri="{FF2B5EF4-FFF2-40B4-BE49-F238E27FC236}">
                <a16:creationId xmlns:a16="http://schemas.microsoft.com/office/drawing/2014/main" id="{33A8833D-B8CE-9765-693C-D3C62FF69CAC}"/>
              </a:ext>
            </a:extLst>
          </p:cNvPr>
          <p:cNvSpPr txBox="1"/>
          <p:nvPr/>
        </p:nvSpPr>
        <p:spPr>
          <a:xfrm>
            <a:off x="2174873" y="4166650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멀티모달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최적화</a:t>
            </a: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EF1C7F0A-5FA1-ABDE-7551-312155AAAFB0}"/>
              </a:ext>
            </a:extLst>
          </p:cNvPr>
          <p:cNvSpPr/>
          <p:nvPr/>
        </p:nvSpPr>
        <p:spPr>
          <a:xfrm>
            <a:off x="3008756" y="398582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0" name="Google Shape;226;p13">
            <a:extLst>
              <a:ext uri="{FF2B5EF4-FFF2-40B4-BE49-F238E27FC236}">
                <a16:creationId xmlns:a16="http://schemas.microsoft.com/office/drawing/2014/main" id="{EBEF8498-E37A-D458-27AF-55A63C3AB027}"/>
              </a:ext>
            </a:extLst>
          </p:cNvPr>
          <p:cNvSpPr txBox="1"/>
          <p:nvPr/>
        </p:nvSpPr>
        <p:spPr>
          <a:xfrm>
            <a:off x="3114001" y="402674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vLLM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1" name="Google Shape;227;p13">
            <a:extLst>
              <a:ext uri="{FF2B5EF4-FFF2-40B4-BE49-F238E27FC236}">
                <a16:creationId xmlns:a16="http://schemas.microsoft.com/office/drawing/2014/main" id="{85BA4760-F9AE-035B-551C-E0199949DCF9}"/>
              </a:ext>
            </a:extLst>
          </p:cNvPr>
          <p:cNvSpPr txBox="1"/>
          <p:nvPr/>
        </p:nvSpPr>
        <p:spPr>
          <a:xfrm>
            <a:off x="3114001" y="416889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고속 추론 엔진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302B1A60-DDDA-D74F-A19D-3FC18CD6B6FF}"/>
              </a:ext>
            </a:extLst>
          </p:cNvPr>
          <p:cNvSpPr/>
          <p:nvPr/>
        </p:nvSpPr>
        <p:spPr>
          <a:xfrm>
            <a:off x="168467" y="435987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Google Shape;226;p13">
            <a:extLst>
              <a:ext uri="{FF2B5EF4-FFF2-40B4-BE49-F238E27FC236}">
                <a16:creationId xmlns:a16="http://schemas.microsoft.com/office/drawing/2014/main" id="{1DD1F7AB-7C9E-CF2F-E204-BD3079B85CBF}"/>
              </a:ext>
            </a:extLst>
          </p:cNvPr>
          <p:cNvSpPr txBox="1"/>
          <p:nvPr/>
        </p:nvSpPr>
        <p:spPr>
          <a:xfrm>
            <a:off x="273712" y="440080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MLX</a:t>
            </a:r>
          </a:p>
        </p:txBody>
      </p:sp>
      <p:sp>
        <p:nvSpPr>
          <p:cNvPr id="244" name="Google Shape;227;p13">
            <a:extLst>
              <a:ext uri="{FF2B5EF4-FFF2-40B4-BE49-F238E27FC236}">
                <a16:creationId xmlns:a16="http://schemas.microsoft.com/office/drawing/2014/main" id="{BD27B5C0-DD5B-18B8-93D9-611630DEF04C}"/>
              </a:ext>
            </a:extLst>
          </p:cNvPr>
          <p:cNvSpPr txBox="1"/>
          <p:nvPr/>
        </p:nvSpPr>
        <p:spPr>
          <a:xfrm>
            <a:off x="273712" y="454295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Apple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가속 지원</a:t>
            </a:r>
          </a:p>
        </p:txBody>
      </p:sp>
      <p:sp>
        <p:nvSpPr>
          <p:cNvPr id="245" name="Shape 4">
            <a:extLst>
              <a:ext uri="{FF2B5EF4-FFF2-40B4-BE49-F238E27FC236}">
                <a16:creationId xmlns:a16="http://schemas.microsoft.com/office/drawing/2014/main" id="{D183F9B9-8E02-97E9-7B01-EF9BE200B841}"/>
              </a:ext>
            </a:extLst>
          </p:cNvPr>
          <p:cNvSpPr/>
          <p:nvPr/>
        </p:nvSpPr>
        <p:spPr>
          <a:xfrm>
            <a:off x="1117157" y="4362123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6" name="Google Shape;226;p13">
            <a:extLst>
              <a:ext uri="{FF2B5EF4-FFF2-40B4-BE49-F238E27FC236}">
                <a16:creationId xmlns:a16="http://schemas.microsoft.com/office/drawing/2014/main" id="{FA93CC4C-8A03-2565-6F9C-DDC87EEB6E47}"/>
              </a:ext>
            </a:extLst>
          </p:cNvPr>
          <p:cNvSpPr txBox="1"/>
          <p:nvPr/>
        </p:nvSpPr>
        <p:spPr>
          <a:xfrm>
            <a:off x="1222402" y="4403050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Ollama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7" name="Google Shape;227;p13">
            <a:extLst>
              <a:ext uri="{FF2B5EF4-FFF2-40B4-BE49-F238E27FC236}">
                <a16:creationId xmlns:a16="http://schemas.microsoft.com/office/drawing/2014/main" id="{4E10AD56-7009-1401-F564-CA43AC811543}"/>
              </a:ext>
            </a:extLst>
          </p:cNvPr>
          <p:cNvSpPr txBox="1"/>
          <p:nvPr/>
        </p:nvSpPr>
        <p:spPr>
          <a:xfrm>
            <a:off x="1222402" y="4545197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독립 로컬 실행</a:t>
            </a:r>
          </a:p>
        </p:txBody>
      </p:sp>
      <p:sp>
        <p:nvSpPr>
          <p:cNvPr id="248" name="Shape 4">
            <a:extLst>
              <a:ext uri="{FF2B5EF4-FFF2-40B4-BE49-F238E27FC236}">
                <a16:creationId xmlns:a16="http://schemas.microsoft.com/office/drawing/2014/main" id="{AF7A53B8-329E-2076-C7E4-3A7F1631F55B}"/>
              </a:ext>
            </a:extLst>
          </p:cNvPr>
          <p:cNvSpPr/>
          <p:nvPr/>
        </p:nvSpPr>
        <p:spPr>
          <a:xfrm>
            <a:off x="2065847" y="4368015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9" name="Google Shape;226;p13">
            <a:extLst>
              <a:ext uri="{FF2B5EF4-FFF2-40B4-BE49-F238E27FC236}">
                <a16:creationId xmlns:a16="http://schemas.microsoft.com/office/drawing/2014/main" id="{23953F16-1922-64E2-0731-E945DED527B2}"/>
              </a:ext>
            </a:extLst>
          </p:cNvPr>
          <p:cNvSpPr txBox="1"/>
          <p:nvPr/>
        </p:nvSpPr>
        <p:spPr>
          <a:xfrm>
            <a:off x="2171092" y="4408942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LM Studio</a:t>
            </a:r>
          </a:p>
        </p:txBody>
      </p:sp>
      <p:sp>
        <p:nvSpPr>
          <p:cNvPr id="250" name="Google Shape;227;p13">
            <a:extLst>
              <a:ext uri="{FF2B5EF4-FFF2-40B4-BE49-F238E27FC236}">
                <a16:creationId xmlns:a16="http://schemas.microsoft.com/office/drawing/2014/main" id="{9F9F157E-C5C6-7AC4-FB96-F95110ECBCA5}"/>
              </a:ext>
            </a:extLst>
          </p:cNvPr>
          <p:cNvSpPr txBox="1"/>
          <p:nvPr/>
        </p:nvSpPr>
        <p:spPr>
          <a:xfrm>
            <a:off x="2171092" y="45510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모델 호스팅 서빙</a:t>
            </a:r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A1732725-8064-1B93-1D71-85BBF74D3481}"/>
              </a:ext>
            </a:extLst>
          </p:cNvPr>
          <p:cNvSpPr/>
          <p:nvPr/>
        </p:nvSpPr>
        <p:spPr>
          <a:xfrm>
            <a:off x="3004975" y="437025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Google Shape;226;p13">
            <a:extLst>
              <a:ext uri="{FF2B5EF4-FFF2-40B4-BE49-F238E27FC236}">
                <a16:creationId xmlns:a16="http://schemas.microsoft.com/office/drawing/2014/main" id="{C3793C4F-97EB-3D96-D63B-953632C622FC}"/>
              </a:ext>
            </a:extLst>
          </p:cNvPr>
          <p:cNvSpPr txBox="1"/>
          <p:nvPr/>
        </p:nvSpPr>
        <p:spPr>
          <a:xfrm>
            <a:off x="3110220" y="441118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AI-Comp.</a:t>
            </a:r>
          </a:p>
        </p:txBody>
      </p:sp>
      <p:sp>
        <p:nvSpPr>
          <p:cNvPr id="253" name="Google Shape;227;p13">
            <a:extLst>
              <a:ext uri="{FF2B5EF4-FFF2-40B4-BE49-F238E27FC236}">
                <a16:creationId xmlns:a16="http://schemas.microsoft.com/office/drawing/2014/main" id="{E25DE156-E9AF-0B7F-8C0C-10E0E4C43EF6}"/>
              </a:ext>
            </a:extLst>
          </p:cNvPr>
          <p:cNvSpPr txBox="1"/>
          <p:nvPr/>
        </p:nvSpPr>
        <p:spPr>
          <a:xfrm>
            <a:off x="3110220" y="4553333"/>
            <a:ext cx="624520" cy="71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422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규격 호환</a:t>
            </a:r>
          </a:p>
        </p:txBody>
      </p:sp>
      <p:sp>
        <p:nvSpPr>
          <p:cNvPr id="1092" name="TextBox 10">
            <a:extLst>
              <a:ext uri="{FF2B5EF4-FFF2-40B4-BE49-F238E27FC236}">
                <a16:creationId xmlns:a16="http://schemas.microsoft.com/office/drawing/2014/main" id="{08DB00FB-8DD8-01F9-546C-070FE310137D}"/>
              </a:ext>
            </a:extLst>
          </p:cNvPr>
          <p:cNvSpPr txBox="1"/>
          <p:nvPr/>
        </p:nvSpPr>
        <p:spPr>
          <a:xfrm>
            <a:off x="4100664" y="3666593"/>
            <a:ext cx="2209555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기능별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엔드포인트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독립 분리</a:t>
            </a:r>
          </a:p>
        </p:txBody>
      </p:sp>
      <p:sp>
        <p:nvSpPr>
          <p:cNvPr id="1093" name="Shape 4">
            <a:extLst>
              <a:ext uri="{FF2B5EF4-FFF2-40B4-BE49-F238E27FC236}">
                <a16:creationId xmlns:a16="http://schemas.microsoft.com/office/drawing/2014/main" id="{97C36000-31AE-7171-E159-256B0D0928D5}"/>
              </a:ext>
            </a:extLst>
          </p:cNvPr>
          <p:cNvSpPr/>
          <p:nvPr/>
        </p:nvSpPr>
        <p:spPr>
          <a:xfrm rot="10800000">
            <a:off x="4063473" y="390367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4" name="Google Shape;226;p13">
            <a:extLst>
              <a:ext uri="{FF2B5EF4-FFF2-40B4-BE49-F238E27FC236}">
                <a16:creationId xmlns:a16="http://schemas.microsoft.com/office/drawing/2014/main" id="{7C9BC72A-DF63-C2BB-DC5A-DC2F6411836D}"/>
              </a:ext>
            </a:extLst>
          </p:cNvPr>
          <p:cNvSpPr txBox="1"/>
          <p:nvPr/>
        </p:nvSpPr>
        <p:spPr>
          <a:xfrm>
            <a:off x="4143795" y="3945774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Text &amp; Chart</a:t>
            </a:r>
          </a:p>
        </p:txBody>
      </p:sp>
      <p:sp>
        <p:nvSpPr>
          <p:cNvPr id="1095" name="Google Shape;227;p13">
            <a:extLst>
              <a:ext uri="{FF2B5EF4-FFF2-40B4-BE49-F238E27FC236}">
                <a16:creationId xmlns:a16="http://schemas.microsoft.com/office/drawing/2014/main" id="{D6C5A2B5-2208-6495-1183-1173B122805B}"/>
              </a:ext>
            </a:extLst>
          </p:cNvPr>
          <p:cNvSpPr txBox="1"/>
          <p:nvPr/>
        </p:nvSpPr>
        <p:spPr>
          <a:xfrm>
            <a:off x="5636802" y="396670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질의응답 및 추론</a:t>
            </a:r>
          </a:p>
        </p:txBody>
      </p:sp>
      <p:sp>
        <p:nvSpPr>
          <p:cNvPr id="1096" name="Shape 4">
            <a:extLst>
              <a:ext uri="{FF2B5EF4-FFF2-40B4-BE49-F238E27FC236}">
                <a16:creationId xmlns:a16="http://schemas.microsoft.com/office/drawing/2014/main" id="{51336B88-7034-E373-C62B-BF3AC664ECB2}"/>
              </a:ext>
            </a:extLst>
          </p:cNvPr>
          <p:cNvSpPr/>
          <p:nvPr/>
        </p:nvSpPr>
        <p:spPr>
          <a:xfrm rot="10800000">
            <a:off x="4066220" y="413795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7" name="Google Shape;226;p13">
            <a:extLst>
              <a:ext uri="{FF2B5EF4-FFF2-40B4-BE49-F238E27FC236}">
                <a16:creationId xmlns:a16="http://schemas.microsoft.com/office/drawing/2014/main" id="{E0928738-318E-64F4-3103-7A5F873AF5BA}"/>
              </a:ext>
            </a:extLst>
          </p:cNvPr>
          <p:cNvSpPr txBox="1"/>
          <p:nvPr/>
        </p:nvSpPr>
        <p:spPr>
          <a:xfrm>
            <a:off x="4146542" y="4175741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Vision</a:t>
            </a:r>
          </a:p>
        </p:txBody>
      </p:sp>
      <p:sp>
        <p:nvSpPr>
          <p:cNvPr id="1098" name="Google Shape;227;p13">
            <a:extLst>
              <a:ext uri="{FF2B5EF4-FFF2-40B4-BE49-F238E27FC236}">
                <a16:creationId xmlns:a16="http://schemas.microsoft.com/office/drawing/2014/main" id="{3BFE4672-F0D2-85D8-6CA8-BBA16EA1234D}"/>
              </a:ext>
            </a:extLst>
          </p:cNvPr>
          <p:cNvSpPr txBox="1"/>
          <p:nvPr/>
        </p:nvSpPr>
        <p:spPr>
          <a:xfrm>
            <a:off x="5639549" y="42009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시각 자료 인식</a:t>
            </a:r>
          </a:p>
        </p:txBody>
      </p:sp>
      <p:sp>
        <p:nvSpPr>
          <p:cNvPr id="1099" name="Shape 4">
            <a:extLst>
              <a:ext uri="{FF2B5EF4-FFF2-40B4-BE49-F238E27FC236}">
                <a16:creationId xmlns:a16="http://schemas.microsoft.com/office/drawing/2014/main" id="{3166EFE2-895C-1FD2-6E5B-F8D84CBCAA79}"/>
              </a:ext>
            </a:extLst>
          </p:cNvPr>
          <p:cNvSpPr/>
          <p:nvPr/>
        </p:nvSpPr>
        <p:spPr>
          <a:xfrm rot="10800000">
            <a:off x="4063472" y="4380892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0" name="Google Shape;226;p13">
            <a:extLst>
              <a:ext uri="{FF2B5EF4-FFF2-40B4-BE49-F238E27FC236}">
                <a16:creationId xmlns:a16="http://schemas.microsoft.com/office/drawing/2014/main" id="{39909E45-9264-BFE1-4ED2-6DB8A8F68A87}"/>
              </a:ext>
            </a:extLst>
          </p:cNvPr>
          <p:cNvSpPr txBox="1"/>
          <p:nvPr/>
        </p:nvSpPr>
        <p:spPr>
          <a:xfrm>
            <a:off x="4143794" y="4414362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Audio</a:t>
            </a:r>
          </a:p>
        </p:txBody>
      </p:sp>
      <p:sp>
        <p:nvSpPr>
          <p:cNvPr id="1101" name="Google Shape;227;p13">
            <a:extLst>
              <a:ext uri="{FF2B5EF4-FFF2-40B4-BE49-F238E27FC236}">
                <a16:creationId xmlns:a16="http://schemas.microsoft.com/office/drawing/2014/main" id="{545B13BD-B467-E8C2-362D-5D0A35E4182C}"/>
              </a:ext>
            </a:extLst>
          </p:cNvPr>
          <p:cNvSpPr txBox="1"/>
          <p:nvPr/>
        </p:nvSpPr>
        <p:spPr>
          <a:xfrm>
            <a:off x="5636801" y="444392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음성 인식</a:t>
            </a:r>
            <a:r>
              <a:rPr lang="en-US" altLang="ko-KR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·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합성</a:t>
            </a:r>
          </a:p>
        </p:txBody>
      </p:sp>
      <p:sp>
        <p:nvSpPr>
          <p:cNvPr id="1102" name="Shape 4">
            <a:extLst>
              <a:ext uri="{FF2B5EF4-FFF2-40B4-BE49-F238E27FC236}">
                <a16:creationId xmlns:a16="http://schemas.microsoft.com/office/drawing/2014/main" id="{DC3D1F8C-8309-B684-8C41-16ED3BDBBFDA}"/>
              </a:ext>
            </a:extLst>
          </p:cNvPr>
          <p:cNvSpPr/>
          <p:nvPr/>
        </p:nvSpPr>
        <p:spPr>
          <a:xfrm rot="10800000">
            <a:off x="4063471" y="4615874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3" name="Google Shape;226;p13">
            <a:extLst>
              <a:ext uri="{FF2B5EF4-FFF2-40B4-BE49-F238E27FC236}">
                <a16:creationId xmlns:a16="http://schemas.microsoft.com/office/drawing/2014/main" id="{CA21F148-9FB6-DCAA-8A0B-67B2A20F926E}"/>
              </a:ext>
            </a:extLst>
          </p:cNvPr>
          <p:cNvSpPr txBox="1"/>
          <p:nvPr/>
        </p:nvSpPr>
        <p:spPr>
          <a:xfrm>
            <a:off x="4143793" y="4649344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Embedding</a:t>
            </a:r>
          </a:p>
        </p:txBody>
      </p:sp>
      <p:sp>
        <p:nvSpPr>
          <p:cNvPr id="1104" name="Google Shape;227;p13">
            <a:extLst>
              <a:ext uri="{FF2B5EF4-FFF2-40B4-BE49-F238E27FC236}">
                <a16:creationId xmlns:a16="http://schemas.microsoft.com/office/drawing/2014/main" id="{B8856D88-362A-EDDF-90E1-672AF8EC4EBA}"/>
              </a:ext>
            </a:extLst>
          </p:cNvPr>
          <p:cNvSpPr txBox="1"/>
          <p:nvPr/>
        </p:nvSpPr>
        <p:spPr>
          <a:xfrm>
            <a:off x="5636800" y="4678905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벡터 인덱싱</a:t>
            </a:r>
          </a:p>
        </p:txBody>
      </p:sp>
      <p:sp>
        <p:nvSpPr>
          <p:cNvPr id="1113" name="Shape 4">
            <a:extLst>
              <a:ext uri="{FF2B5EF4-FFF2-40B4-BE49-F238E27FC236}">
                <a16:creationId xmlns:a16="http://schemas.microsoft.com/office/drawing/2014/main" id="{381F4AF7-F298-49F0-D8B8-5A35CB7C4F9C}"/>
              </a:ext>
            </a:extLst>
          </p:cNvPr>
          <p:cNvSpPr/>
          <p:nvPr/>
        </p:nvSpPr>
        <p:spPr>
          <a:xfrm>
            <a:off x="6427974" y="3613800"/>
            <a:ext cx="2549911" cy="1253215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F1E9BF4B-A603-EF0A-2259-10901933F6A8}"/>
              </a:ext>
            </a:extLst>
          </p:cNvPr>
          <p:cNvSpPr txBox="1"/>
          <p:nvPr/>
        </p:nvSpPr>
        <p:spPr>
          <a:xfrm>
            <a:off x="6519438" y="3723528"/>
            <a:ext cx="2392914" cy="33277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ko-KR" alt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표준 내부 </a:t>
            </a:r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en-US" sz="95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Gemma 4 (31B)</a:t>
            </a:r>
          </a:p>
          <a:p>
            <a:endParaRPr lang="en-US" sz="95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50D52129-8733-2F13-C008-AD2742CCCC52}"/>
              </a:ext>
            </a:extLst>
          </p:cNvPr>
          <p:cNvSpPr txBox="1"/>
          <p:nvPr/>
        </p:nvSpPr>
        <p:spPr>
          <a:xfrm>
            <a:off x="6508757" y="3973258"/>
            <a:ext cx="2461261" cy="80688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Inference Optimization: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vLLM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가속 및 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INT8/INT4 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양자화 적용으로 대규모 배치 처리 보장</a:t>
            </a:r>
            <a:endParaRPr lang="en-US" altLang="ko-KR" sz="700" b="0" i="0" u="none" strike="noStrike" dirty="0">
              <a:solidFill>
                <a:srgbClr val="CBD5E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Skill </a:t>
            </a:r>
            <a:r>
              <a:rPr lang="en-US" altLang="ko-KR" sz="7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set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Function Calling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커스텀 튜닝을 통해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Skill Registry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와 안정적 연동</a:t>
            </a:r>
            <a:endParaRPr lang="ko-KR" altLang="en-US" sz="1200" b="0" dirty="0">
              <a:effectLst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Sovereign </a:t>
            </a:r>
            <a:r>
              <a:rPr lang="en-US" altLang="ko-KR" sz="700" b="1" i="0" u="none" strike="noStrike" dirty="0" err="1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MLOps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보안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폐쇄망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내 경량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파인튜닝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QLoRA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및 데이터 주권 기반 지식 업데이트</a:t>
            </a:r>
            <a:endParaRPr lang="ko-KR" altLang="en-US" sz="1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03218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A666-48F2-08AF-D8BF-053C5A4D2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49A4152-A5C5-9B90-3185-4351514292B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DB42866-5077-4516-7CEA-9D68CB16E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스킬 기반 시스템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(Skill-Based Intelligent System)</a:t>
            </a:r>
            <a:endParaRPr lang="ko-KR" altLang="en-US" b="0" dirty="0">
              <a:solidFill>
                <a:srgbClr val="0F172A"/>
              </a:solidFill>
              <a:sym typeface="SUIT"/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E2D11354-F16F-D27E-B518-89962477CA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E94D2B9-8F51-7C4B-EC56-EC67D05C8C29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'</a:t>
            </a:r>
            <a:r>
              <a:rPr lang="ko-KR" altLang="en-US" sz="1100" b="1" dirty="0">
                <a:solidFill>
                  <a:srgbClr val="334155"/>
                </a:solidFill>
                <a:sym typeface="Noto Sans KR"/>
              </a:rPr>
              <a:t>스킬</a:t>
            </a: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(Skill)'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은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AI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에이전트가 현실 세계의 데이터와 시스템에 접근할 수 있게 해주는 디지털 근육이자 지능형 엔진입니다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에이전트의 프로세스는 사용자의 질문에 맞춰 단일 또는 다중 스킬을 자율적으로 선택하여 격리된 런타임 환경에서 업무를 완수합니다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(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기 정의된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Dashboard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및 </a:t>
            </a:r>
            <a:r>
              <a:rPr lang="en-US" altLang="ko-KR" sz="1100" dirty="0" err="1">
                <a:solidFill>
                  <a:srgbClr val="334155"/>
                </a:solidFill>
                <a:sym typeface="Noto Sans KR"/>
              </a:rPr>
              <a:t>Datasource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별 스킬 셋팅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) 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8F267C0-F7DA-E1A9-214F-CF3858FB7FF2}"/>
              </a:ext>
            </a:extLst>
          </p:cNvPr>
          <p:cNvSpPr/>
          <p:nvPr/>
        </p:nvSpPr>
        <p:spPr>
          <a:xfrm>
            <a:off x="167109" y="1292597"/>
            <a:ext cx="25456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D277C19-79CA-AFF4-AE37-D7C2B0CD2D8B}"/>
              </a:ext>
            </a:extLst>
          </p:cNvPr>
          <p:cNvSpPr/>
          <p:nvPr/>
        </p:nvSpPr>
        <p:spPr>
          <a:xfrm>
            <a:off x="270755" y="1409634"/>
            <a:ext cx="2338317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756F8-D8A8-91FB-3975-147FD529C373}"/>
              </a:ext>
            </a:extLst>
          </p:cNvPr>
          <p:cNvSpPr txBox="1"/>
          <p:nvPr/>
        </p:nvSpPr>
        <p:spPr>
          <a:xfrm>
            <a:off x="270755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정의 및 셋팅</a:t>
            </a:r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(Ops)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CE6BB-F83F-B76B-EC2E-14126C134472}"/>
              </a:ext>
            </a:extLst>
          </p:cNvPr>
          <p:cNvSpPr txBox="1"/>
          <p:nvPr/>
        </p:nvSpPr>
        <p:spPr>
          <a:xfrm>
            <a:off x="1794610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정의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제약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4A2051-3E6F-A480-0164-E9AA661B588D}"/>
              </a:ext>
            </a:extLst>
          </p:cNvPr>
          <p:cNvSpPr/>
          <p:nvPr/>
        </p:nvSpPr>
        <p:spPr>
          <a:xfrm>
            <a:off x="5886681" y="1288353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8CBE7535-17BB-339D-F2E3-6AACAF975EFD}"/>
              </a:ext>
            </a:extLst>
          </p:cNvPr>
          <p:cNvSpPr/>
          <p:nvPr/>
        </p:nvSpPr>
        <p:spPr>
          <a:xfrm>
            <a:off x="2802850" y="1292302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9EED39D-F91C-677E-3C80-D1B66A56D46B}"/>
              </a:ext>
            </a:extLst>
          </p:cNvPr>
          <p:cNvSpPr/>
          <p:nvPr/>
        </p:nvSpPr>
        <p:spPr>
          <a:xfrm>
            <a:off x="2914389" y="1409634"/>
            <a:ext cx="2743200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0FC68C4-4F1E-E4C5-1AD6-85DA39A759E5}"/>
              </a:ext>
            </a:extLst>
          </p:cNvPr>
          <p:cNvSpPr/>
          <p:nvPr/>
        </p:nvSpPr>
        <p:spPr>
          <a:xfrm>
            <a:off x="6012493" y="1401838"/>
            <a:ext cx="2712672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A99D3F-A78C-9AE5-B74E-C62D2BD28762}"/>
              </a:ext>
            </a:extLst>
          </p:cNvPr>
          <p:cNvSpPr txBox="1"/>
          <p:nvPr/>
        </p:nvSpPr>
        <p:spPr>
          <a:xfrm>
            <a:off x="2920591" y="1424073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메인 오케스트레이션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60CA4F-503E-E9B5-E7AD-0FDF6F273852}"/>
              </a:ext>
            </a:extLst>
          </p:cNvPr>
          <p:cNvSpPr txBox="1"/>
          <p:nvPr/>
        </p:nvSpPr>
        <p:spPr>
          <a:xfrm>
            <a:off x="4828567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선정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조율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1BEE1-7D68-B546-89FE-F86F87049E52}"/>
              </a:ext>
            </a:extLst>
          </p:cNvPr>
          <p:cNvSpPr txBox="1"/>
          <p:nvPr/>
        </p:nvSpPr>
        <p:spPr>
          <a:xfrm>
            <a:off x="6012493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내부 심층 실행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733BD2-A837-12EB-40E2-B1224C2E0910}"/>
              </a:ext>
            </a:extLst>
          </p:cNvPr>
          <p:cNvSpPr txBox="1"/>
          <p:nvPr/>
        </p:nvSpPr>
        <p:spPr>
          <a:xfrm>
            <a:off x="7891244" y="144280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런타임 스킬 루프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5855A327-DF65-AF3C-8206-F4072BE5B4B8}"/>
              </a:ext>
            </a:extLst>
          </p:cNvPr>
          <p:cNvSpPr/>
          <p:nvPr/>
        </p:nvSpPr>
        <p:spPr>
          <a:xfrm rot="16200000">
            <a:off x="-100284" y="2072433"/>
            <a:ext cx="3084579" cy="2342493"/>
          </a:xfrm>
          <a:prstGeom prst="roundRect">
            <a:avLst>
              <a:gd name="adj" fmla="val 2294"/>
            </a:avLst>
          </a:prstGeom>
          <a:gradFill rotWithShape="1">
            <a:gsLst>
              <a:gs pos="0">
                <a:srgbClr val="00D4C5"/>
              </a:gs>
              <a:gs pos="1235">
                <a:srgbClr val="00D4C5"/>
              </a:gs>
              <a:gs pos="123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B48F9A51-9272-7AB4-182D-C8FF476CE138}"/>
              </a:ext>
            </a:extLst>
          </p:cNvPr>
          <p:cNvSpPr/>
          <p:nvPr/>
        </p:nvSpPr>
        <p:spPr>
          <a:xfrm rot="16200000">
            <a:off x="4080790" y="857420"/>
            <a:ext cx="422808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AF448FE-32F2-12C3-E8D3-20FB13F37B74}"/>
              </a:ext>
            </a:extLst>
          </p:cNvPr>
          <p:cNvSpPr/>
          <p:nvPr/>
        </p:nvSpPr>
        <p:spPr>
          <a:xfrm rot="10800000">
            <a:off x="6012493" y="1684415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341B360-4CB7-B859-7752-22DD3A8EDD7B}"/>
              </a:ext>
            </a:extLst>
          </p:cNvPr>
          <p:cNvSpPr/>
          <p:nvPr/>
        </p:nvSpPr>
        <p:spPr>
          <a:xfrm>
            <a:off x="2920591" y="1727174"/>
            <a:ext cx="2736998" cy="212272"/>
          </a:xfrm>
          <a:prstGeom prst="roundRect">
            <a:avLst>
              <a:gd name="adj" fmla="val 14112"/>
            </a:avLst>
          </a:prstGeom>
          <a:solidFill>
            <a:srgbClr val="FAFEFE"/>
          </a:solidFill>
          <a:ln>
            <a:solidFill>
              <a:srgbClr val="6EE6DE"/>
            </a:solidFill>
            <a:prstDash val="dash"/>
          </a:ln>
        </p:spPr>
        <p:txBody>
          <a:bodyPr/>
          <a:lstStyle/>
          <a:p>
            <a:r>
              <a:rPr lang="en-US" altLang="ko-KR" sz="800" dirty="0"/>
              <a:t>“</a:t>
            </a:r>
            <a:r>
              <a:rPr lang="ko-KR" altLang="en-US" sz="800" dirty="0"/>
              <a:t>지난 </a:t>
            </a:r>
            <a:r>
              <a:rPr lang="en-US" altLang="ko-KR" sz="800" dirty="0"/>
              <a:t>10</a:t>
            </a:r>
            <a:r>
              <a:rPr lang="ko-KR" altLang="en-US" sz="800" dirty="0"/>
              <a:t>주간의 매출 및 </a:t>
            </a:r>
            <a:r>
              <a:rPr lang="en-US" altLang="ko-KR" sz="800" dirty="0"/>
              <a:t>AOV </a:t>
            </a:r>
            <a:r>
              <a:rPr lang="ko-KR" altLang="en-US" sz="800" dirty="0"/>
              <a:t>추이와 마케팅 성과를 분석해줘</a:t>
            </a:r>
            <a:r>
              <a:rPr lang="en-US" altLang="ko-KR" sz="800" dirty="0"/>
              <a:t>”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BAF32D-EBEF-431A-B024-08D21E887EB5}"/>
              </a:ext>
            </a:extLst>
          </p:cNvPr>
          <p:cNvSpPr txBox="1"/>
          <p:nvPr/>
        </p:nvSpPr>
        <p:spPr>
          <a:xfrm>
            <a:off x="340360" y="1795768"/>
            <a:ext cx="414020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ea typeface="SUIT ExtraBold" pitchFamily="50" charset="-127"/>
              </a:rPr>
              <a:t>SLUG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99FDE4-EFDB-1B6F-5665-6439A5B7483D}"/>
              </a:ext>
            </a:extLst>
          </p:cNvPr>
          <p:cNvSpPr txBox="1"/>
          <p:nvPr/>
        </p:nvSpPr>
        <p:spPr>
          <a:xfrm>
            <a:off x="1207027" y="1805408"/>
            <a:ext cx="127404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명칭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87131B62-7A52-A402-6EE3-87FAF1D8A08E}"/>
              </a:ext>
            </a:extLst>
          </p:cNvPr>
          <p:cNvSpPr/>
          <p:nvPr/>
        </p:nvSpPr>
        <p:spPr>
          <a:xfrm>
            <a:off x="322579" y="1939446"/>
            <a:ext cx="780797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8E7CDF87-B62C-5891-E713-11733B2EA7CF}"/>
              </a:ext>
            </a:extLst>
          </p:cNvPr>
          <p:cNvSpPr/>
          <p:nvPr/>
        </p:nvSpPr>
        <p:spPr>
          <a:xfrm>
            <a:off x="1193506" y="1939446"/>
            <a:ext cx="1331254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EF52B8-4BCD-AB96-9E0F-FA0CEDCAB659}"/>
              </a:ext>
            </a:extLst>
          </p:cNvPr>
          <p:cNvSpPr txBox="1"/>
          <p:nvPr/>
        </p:nvSpPr>
        <p:spPr>
          <a:xfrm>
            <a:off x="340359" y="2208500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System Prompt(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기반 행동 핵심 지침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DDA8E100-A84A-6011-1407-2B76C2932695}"/>
              </a:ext>
            </a:extLst>
          </p:cNvPr>
          <p:cNvSpPr/>
          <p:nvPr/>
        </p:nvSpPr>
        <p:spPr>
          <a:xfrm>
            <a:off x="322579" y="2364605"/>
            <a:ext cx="2220596" cy="1603061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3E0588-09E1-5A2F-2003-3BE2D60B35EE}"/>
              </a:ext>
            </a:extLst>
          </p:cNvPr>
          <p:cNvSpPr txBox="1"/>
          <p:nvPr/>
        </p:nvSpPr>
        <p:spPr>
          <a:xfrm>
            <a:off x="384048" y="2440424"/>
            <a:ext cx="1961176" cy="142538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당신은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[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매출 데이터 분석 전문가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]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입니다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agent.ft_sales_ai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테이블을 활용하여 주차별 통계를 분석합니다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주요 지표 및 계산식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SUM(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sales_amt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 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COUNT(DISTINCT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ord_id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AOV: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기준 주차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base_tw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작업 순서 강제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(3-Step Loop)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1.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db.list_tables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테이블 구조 파악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2.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db.describe_table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컬럼 상세 확인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3.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db.run_query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SQL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실행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읽기 전용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답변 스타일 가이드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수치는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$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표기 및 천 단위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(,)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적용</a:t>
            </a:r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D5352EB1-B661-22EC-E8CB-CA9F35A87D2C}"/>
              </a:ext>
            </a:extLst>
          </p:cNvPr>
          <p:cNvSpPr/>
          <p:nvPr/>
        </p:nvSpPr>
        <p:spPr>
          <a:xfrm>
            <a:off x="2458214" y="2461954"/>
            <a:ext cx="45719" cy="1037098"/>
          </a:xfrm>
          <a:prstGeom prst="roundRect">
            <a:avLst>
              <a:gd name="adj" fmla="val 4270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E30E6F-3A13-0068-87F4-81CEFE52FD68}"/>
              </a:ext>
            </a:extLst>
          </p:cNvPr>
          <p:cNvSpPr txBox="1"/>
          <p:nvPr/>
        </p:nvSpPr>
        <p:spPr>
          <a:xfrm>
            <a:off x="322579" y="4024899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연동 툴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(Tool Binding)</a:t>
            </a: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02CFFBA2-ECF0-B6DA-45F1-D970C70968AC}"/>
              </a:ext>
            </a:extLst>
          </p:cNvPr>
          <p:cNvSpPr/>
          <p:nvPr/>
        </p:nvSpPr>
        <p:spPr>
          <a:xfrm rot="16200000">
            <a:off x="1155063" y="3345873"/>
            <a:ext cx="558804" cy="2188212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Google Shape;142;p13">
            <a:extLst>
              <a:ext uri="{FF2B5EF4-FFF2-40B4-BE49-F238E27FC236}">
                <a16:creationId xmlns:a16="http://schemas.microsoft.com/office/drawing/2014/main" id="{0B4EFAD2-48C9-E42B-84AD-57C970D9FB4B}"/>
              </a:ext>
            </a:extLst>
          </p:cNvPr>
          <p:cNvSpPr txBox="1"/>
          <p:nvPr/>
        </p:nvSpPr>
        <p:spPr>
          <a:xfrm>
            <a:off x="494056" y="423127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– Run SQL</a:t>
            </a:r>
          </a:p>
        </p:txBody>
      </p:sp>
      <p:pic>
        <p:nvPicPr>
          <p:cNvPr id="49" name="그래픽 48" descr="배지 체크 표시1 단색으로 채워진">
            <a:extLst>
              <a:ext uri="{FF2B5EF4-FFF2-40B4-BE49-F238E27FC236}">
                <a16:creationId xmlns:a16="http://schemas.microsoft.com/office/drawing/2014/main" id="{FC9A6949-7AF9-E450-F056-6C1494D28C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221968"/>
            <a:ext cx="105267" cy="105267"/>
          </a:xfrm>
          <a:prstGeom prst="rect">
            <a:avLst/>
          </a:prstGeom>
        </p:spPr>
      </p:pic>
      <p:sp>
        <p:nvSpPr>
          <p:cNvPr id="51" name="Google Shape;142;p13">
            <a:extLst>
              <a:ext uri="{FF2B5EF4-FFF2-40B4-BE49-F238E27FC236}">
                <a16:creationId xmlns:a16="http://schemas.microsoft.com/office/drawing/2014/main" id="{8D3D0154-818A-008A-9BFD-BCFD2AEF86E0}"/>
              </a:ext>
            </a:extLst>
          </p:cNvPr>
          <p:cNvSpPr txBox="1"/>
          <p:nvPr/>
        </p:nvSpPr>
        <p:spPr>
          <a:xfrm>
            <a:off x="494056" y="435053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웹 페이지 가져오기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2" name="그래픽 51" descr="배지 체크 표시1 단색으로 채워진">
            <a:extLst>
              <a:ext uri="{FF2B5EF4-FFF2-40B4-BE49-F238E27FC236}">
                <a16:creationId xmlns:a16="http://schemas.microsoft.com/office/drawing/2014/main" id="{4B132795-766A-1D3C-B2C1-7EB550983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341231"/>
            <a:ext cx="105267" cy="105267"/>
          </a:xfrm>
          <a:prstGeom prst="rect">
            <a:avLst/>
          </a:prstGeom>
        </p:spPr>
      </p:pic>
      <p:sp>
        <p:nvSpPr>
          <p:cNvPr id="53" name="Google Shape;142;p13">
            <a:extLst>
              <a:ext uri="{FF2B5EF4-FFF2-40B4-BE49-F238E27FC236}">
                <a16:creationId xmlns:a16="http://schemas.microsoft.com/office/drawing/2014/main" id="{C61C4EA1-BB20-D5EC-C8A8-8292B03A3587}"/>
              </a:ext>
            </a:extLst>
          </p:cNvPr>
          <p:cNvSpPr txBox="1"/>
          <p:nvPr/>
        </p:nvSpPr>
        <p:spPr>
          <a:xfrm>
            <a:off x="495145" y="446739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질의 유효성 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4" name="그래픽 53" descr="배지 체크 표시1 단색으로 채워진">
            <a:extLst>
              <a:ext uri="{FF2B5EF4-FFF2-40B4-BE49-F238E27FC236}">
                <a16:creationId xmlns:a16="http://schemas.microsoft.com/office/drawing/2014/main" id="{D07B7A45-FDCF-C3FC-7A9A-CEA05BCA1D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458091"/>
            <a:ext cx="105267" cy="105267"/>
          </a:xfrm>
          <a:prstGeom prst="rect">
            <a:avLst/>
          </a:prstGeom>
        </p:spPr>
      </p:pic>
      <p:sp>
        <p:nvSpPr>
          <p:cNvPr id="55" name="Google Shape;142;p13">
            <a:extLst>
              <a:ext uri="{FF2B5EF4-FFF2-40B4-BE49-F238E27FC236}">
                <a16:creationId xmlns:a16="http://schemas.microsoft.com/office/drawing/2014/main" id="{21CB0699-D4C3-A5F5-EB23-A5572F8BAA64}"/>
              </a:ext>
            </a:extLst>
          </p:cNvPr>
          <p:cNvSpPr txBox="1"/>
          <p:nvPr/>
        </p:nvSpPr>
        <p:spPr>
          <a:xfrm>
            <a:off x="495145" y="460188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탐색 질문 분리 프로세스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6" name="그래픽 55" descr="배지 체크 표시1 단색으로 채워진">
            <a:extLst>
              <a:ext uri="{FF2B5EF4-FFF2-40B4-BE49-F238E27FC236}">
                <a16:creationId xmlns:a16="http://schemas.microsoft.com/office/drawing/2014/main" id="{A2736529-141B-DAFC-8858-266DF25417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592578"/>
            <a:ext cx="105267" cy="105267"/>
          </a:xfrm>
          <a:prstGeom prst="rect">
            <a:avLst/>
          </a:prstGeom>
        </p:spPr>
      </p:pic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8320B01A-3D0F-09DE-5D85-7D4AEFE7CF96}"/>
              </a:ext>
            </a:extLst>
          </p:cNvPr>
          <p:cNvSpPr txBox="1"/>
          <p:nvPr/>
        </p:nvSpPr>
        <p:spPr>
          <a:xfrm>
            <a:off x="39152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Sales_</a:t>
            </a: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6061B9CB-99AB-6643-E84D-B3E005E9D697}"/>
              </a:ext>
            </a:extLst>
          </p:cNvPr>
          <p:cNvSpPr txBox="1"/>
          <p:nvPr/>
        </p:nvSpPr>
        <p:spPr>
          <a:xfrm>
            <a:off x="126401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매출 데이터 분석가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9" name="그래픽 58" descr="배지 1 단색으로 채워진">
            <a:extLst>
              <a:ext uri="{FF2B5EF4-FFF2-40B4-BE49-F238E27FC236}">
                <a16:creationId xmlns:a16="http://schemas.microsoft.com/office/drawing/2014/main" id="{1B8790A6-7472-9510-55A4-810B91C6B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91790" y="2055057"/>
            <a:ext cx="180362" cy="180362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D941D819-C6F9-BCF6-25BF-4051754E4BEA}"/>
              </a:ext>
            </a:extLst>
          </p:cNvPr>
          <p:cNvSpPr txBox="1"/>
          <p:nvPr/>
        </p:nvSpPr>
        <p:spPr>
          <a:xfrm>
            <a:off x="3131528" y="208482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AB506D21-30BF-77CF-19C0-4B8580521104}"/>
              </a:ext>
            </a:extLst>
          </p:cNvPr>
          <p:cNvSpPr txBox="1"/>
          <p:nvPr/>
        </p:nvSpPr>
        <p:spPr>
          <a:xfrm>
            <a:off x="2974645" y="2244798"/>
            <a:ext cx="262351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자연어 입력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전처리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및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NER(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마케팅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기반 의도 분류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53ED1D94-F5AA-338F-8923-74A66F1AA54F}"/>
              </a:ext>
            </a:extLst>
          </p:cNvPr>
          <p:cNvSpPr/>
          <p:nvPr/>
        </p:nvSpPr>
        <p:spPr>
          <a:xfrm rot="16200000">
            <a:off x="3910694" y="1519543"/>
            <a:ext cx="750593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CF7E4078-073D-0D16-6A76-9D7F099D5B4F}"/>
              </a:ext>
            </a:extLst>
          </p:cNvPr>
          <p:cNvSpPr txBox="1"/>
          <p:nvPr/>
        </p:nvSpPr>
        <p:spPr>
          <a:xfrm>
            <a:off x="3131528" y="2583061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선정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(Selection)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41C0A55-D3B0-5FF2-7EC4-C48A481D2A12}"/>
              </a:ext>
            </a:extLst>
          </p:cNvPr>
          <p:cNvSpPr txBox="1"/>
          <p:nvPr/>
        </p:nvSpPr>
        <p:spPr>
          <a:xfrm>
            <a:off x="2968443" y="2743030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사용자 권한 내 최적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스킬셋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선정 프로세스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92FAA63B-975C-6D06-BF90-08AB38E5BC9C}"/>
              </a:ext>
            </a:extLst>
          </p:cNvPr>
          <p:cNvSpPr/>
          <p:nvPr/>
        </p:nvSpPr>
        <p:spPr>
          <a:xfrm rot="16200000">
            <a:off x="4064418" y="2733234"/>
            <a:ext cx="422808" cy="2722862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17A15C6-854E-9232-4F62-4F340901AE8C}"/>
              </a:ext>
            </a:extLst>
          </p:cNvPr>
          <p:cNvSpPr txBox="1"/>
          <p:nvPr/>
        </p:nvSpPr>
        <p:spPr>
          <a:xfrm>
            <a:off x="3131528" y="395047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 통합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(Synthesis)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BB09DA5-2764-0C6A-B1C5-BB315ABA0B9F}"/>
              </a:ext>
            </a:extLst>
          </p:cNvPr>
          <p:cNvSpPr txBox="1"/>
          <p:nvPr/>
        </p:nvSpPr>
        <p:spPr>
          <a:xfrm>
            <a:off x="2948106" y="411044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각 스킬 루프의 반환 데이터 정합성 검증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02" name="Shape 4">
            <a:extLst>
              <a:ext uri="{FF2B5EF4-FFF2-40B4-BE49-F238E27FC236}">
                <a16:creationId xmlns:a16="http://schemas.microsoft.com/office/drawing/2014/main" id="{2DCF9F78-505A-5CEB-788B-8323FF417B99}"/>
              </a:ext>
            </a:extLst>
          </p:cNvPr>
          <p:cNvSpPr/>
          <p:nvPr/>
        </p:nvSpPr>
        <p:spPr>
          <a:xfrm rot="16200000">
            <a:off x="4064419" y="3223000"/>
            <a:ext cx="422808" cy="2722860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B1059BA-9FCA-D51C-A8FD-01C350CBE939}"/>
              </a:ext>
            </a:extLst>
          </p:cNvPr>
          <p:cNvSpPr txBox="1"/>
          <p:nvPr/>
        </p:nvSpPr>
        <p:spPr>
          <a:xfrm>
            <a:off x="3131528" y="444023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5A9457B-D188-2AD6-FE14-FA41255C1354}"/>
              </a:ext>
            </a:extLst>
          </p:cNvPr>
          <p:cNvSpPr txBox="1"/>
          <p:nvPr/>
        </p:nvSpPr>
        <p:spPr>
          <a:xfrm>
            <a:off x="2948106" y="4600208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Markdown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규격 및 스타일 가이드 준수 답변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62" name="그래픽 61" descr="배지 4 단색으로 채워진">
            <a:extLst>
              <a:ext uri="{FF2B5EF4-FFF2-40B4-BE49-F238E27FC236}">
                <a16:creationId xmlns:a16="http://schemas.microsoft.com/office/drawing/2014/main" id="{9E924F86-677B-745D-A420-68675065CF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1790" y="3934350"/>
            <a:ext cx="180362" cy="180362"/>
          </a:xfrm>
          <a:prstGeom prst="rect">
            <a:avLst/>
          </a:prstGeom>
        </p:spPr>
      </p:pic>
      <p:pic>
        <p:nvPicPr>
          <p:cNvPr id="63" name="그래픽 62" descr="배지 5 단색으로 채워진">
            <a:extLst>
              <a:ext uri="{FF2B5EF4-FFF2-40B4-BE49-F238E27FC236}">
                <a16:creationId xmlns:a16="http://schemas.microsoft.com/office/drawing/2014/main" id="{242FC26F-6838-B1E3-3C2F-8752C1469D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91790" y="4419846"/>
            <a:ext cx="180362" cy="180362"/>
          </a:xfrm>
          <a:prstGeom prst="rect">
            <a:avLst/>
          </a:prstGeom>
        </p:spPr>
      </p:pic>
      <p:pic>
        <p:nvPicPr>
          <p:cNvPr id="60" name="그래픽 59" descr="배지 단색으로 채워진">
            <a:extLst>
              <a:ext uri="{FF2B5EF4-FFF2-40B4-BE49-F238E27FC236}">
                <a16:creationId xmlns:a16="http://schemas.microsoft.com/office/drawing/2014/main" id="{950BF57A-52CE-927C-A880-995D89C3C5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91790" y="2574630"/>
            <a:ext cx="180362" cy="180362"/>
          </a:xfrm>
          <a:prstGeom prst="rect">
            <a:avLst/>
          </a:prstGeom>
        </p:spPr>
      </p:pic>
      <p:sp>
        <p:nvSpPr>
          <p:cNvPr id="206" name="Shape 4">
            <a:extLst>
              <a:ext uri="{FF2B5EF4-FFF2-40B4-BE49-F238E27FC236}">
                <a16:creationId xmlns:a16="http://schemas.microsoft.com/office/drawing/2014/main" id="{BD64BB7C-56F8-D481-B937-E36500B07874}"/>
              </a:ext>
            </a:extLst>
          </p:cNvPr>
          <p:cNvSpPr/>
          <p:nvPr/>
        </p:nvSpPr>
        <p:spPr>
          <a:xfrm>
            <a:off x="2914391" y="3353773"/>
            <a:ext cx="2722862" cy="450701"/>
          </a:xfrm>
          <a:prstGeom prst="roundRect">
            <a:avLst>
              <a:gd name="adj" fmla="val 41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FB2AD03A-7CEC-E106-0785-07F551DD4BA6}"/>
              </a:ext>
            </a:extLst>
          </p:cNvPr>
          <p:cNvSpPr/>
          <p:nvPr/>
        </p:nvSpPr>
        <p:spPr>
          <a:xfrm rot="16200000">
            <a:off x="4140563" y="1773282"/>
            <a:ext cx="324350" cy="2590847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Google Shape;142;p13">
            <a:extLst>
              <a:ext uri="{FF2B5EF4-FFF2-40B4-BE49-F238E27FC236}">
                <a16:creationId xmlns:a16="http://schemas.microsoft.com/office/drawing/2014/main" id="{83DBE877-03D8-BCBD-59A5-8CAD03ACA337}"/>
              </a:ext>
            </a:extLst>
          </p:cNvPr>
          <p:cNvSpPr txBox="1"/>
          <p:nvPr/>
        </p:nvSpPr>
        <p:spPr>
          <a:xfrm>
            <a:off x="3278857" y="2968068"/>
            <a:ext cx="203837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700" b="0" i="0" dirty="0">
                <a:solidFill>
                  <a:srgbClr val="028090"/>
                </a:solidFill>
                <a:effectLst/>
                <a:latin typeface="+mj-lt"/>
                <a:ea typeface="Noto Sans KR" panose="020B0200000000000000" pitchFamily="50" charset="-127"/>
              </a:rPr>
              <a:t> 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다중 스킬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(Multi-Skill) 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오케스트레이션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:</a:t>
            </a:r>
            <a:br>
              <a:rPr lang="ko-KR" altLang="en-US" sz="700" dirty="0">
                <a:latin typeface="+mj-lt"/>
              </a:rPr>
            </a:b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매출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+ 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마케팅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병렬 호출 가능</a:t>
            </a:r>
            <a:endParaRPr lang="en-US" altLang="ko-KR" sz="500" b="1" dirty="0">
              <a:solidFill>
                <a:srgbClr val="0D9488"/>
              </a:solidFill>
              <a:latin typeface="+mj-lt"/>
              <a:ea typeface="SUIT" pitchFamily="2" charset="-127"/>
            </a:endParaRPr>
          </a:p>
        </p:txBody>
      </p: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342D50DC-F0EA-71D7-3694-D2376ECEBDEE}"/>
              </a:ext>
            </a:extLst>
          </p:cNvPr>
          <p:cNvGrpSpPr/>
          <p:nvPr/>
        </p:nvGrpSpPr>
        <p:grpSpPr>
          <a:xfrm>
            <a:off x="3078427" y="3008769"/>
            <a:ext cx="152170" cy="146166"/>
            <a:chOff x="7274033" y="2692630"/>
            <a:chExt cx="673297" cy="533431"/>
          </a:xfrm>
          <a:solidFill>
            <a:srgbClr val="0D9488"/>
          </a:solidFill>
        </p:grpSpPr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1398A08C-5D70-221B-FD01-2C3A9A91ED8A}"/>
                </a:ext>
              </a:extLst>
            </p:cNvPr>
            <p:cNvSpPr/>
            <p:nvPr/>
          </p:nvSpPr>
          <p:spPr>
            <a:xfrm>
              <a:off x="7274033" y="2692630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4C931F7A-BB14-32F6-F78C-F8EC560FFBEF}"/>
                </a:ext>
              </a:extLst>
            </p:cNvPr>
            <p:cNvSpPr/>
            <p:nvPr/>
          </p:nvSpPr>
          <p:spPr>
            <a:xfrm>
              <a:off x="7680630" y="269340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12C7BC54-5BC0-7DE9-0111-AAB20212C9F1}"/>
                </a:ext>
              </a:extLst>
            </p:cNvPr>
            <p:cNvSpPr/>
            <p:nvPr/>
          </p:nvSpPr>
          <p:spPr>
            <a:xfrm>
              <a:off x="7274033" y="309271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cxnSp>
          <p:nvCxnSpPr>
            <p:cNvPr id="227" name="직선 화살표 연결선 226">
              <a:extLst>
                <a:ext uri="{FF2B5EF4-FFF2-40B4-BE49-F238E27FC236}">
                  <a16:creationId xmlns:a16="http://schemas.microsoft.com/office/drawing/2014/main" id="{C13911E3-3F65-CDDF-18E8-10E9049B79CE}"/>
                </a:ext>
              </a:extLst>
            </p:cNvPr>
            <p:cNvCxnSpPr>
              <a:cxnSpLocks/>
              <a:stCxn id="219" idx="2"/>
              <a:endCxn id="225" idx="0"/>
            </p:cNvCxnSpPr>
            <p:nvPr/>
          </p:nvCxnSpPr>
          <p:spPr>
            <a:xfrm>
              <a:off x="7407383" y="2825980"/>
              <a:ext cx="0" cy="266731"/>
            </a:xfrm>
            <a:prstGeom prst="straightConnector1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연결선: 꺾임 229">
              <a:extLst>
                <a:ext uri="{FF2B5EF4-FFF2-40B4-BE49-F238E27FC236}">
                  <a16:creationId xmlns:a16="http://schemas.microsoft.com/office/drawing/2014/main" id="{89D5B077-CC7A-97C0-2776-A2969CCC0E3A}"/>
                </a:ext>
              </a:extLst>
            </p:cNvPr>
            <p:cNvCxnSpPr>
              <a:cxnSpLocks/>
              <a:stCxn id="224" idx="2"/>
              <a:endCxn id="225" idx="0"/>
            </p:cNvCxnSpPr>
            <p:nvPr/>
          </p:nvCxnSpPr>
          <p:spPr>
            <a:xfrm rot="5400000">
              <a:off x="7477702" y="2756433"/>
              <a:ext cx="265960" cy="406597"/>
            </a:xfrm>
            <a:prstGeom prst="bentConnector3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1" name="그래픽 60" descr="배지 3 단색으로 채워진">
            <a:extLst>
              <a:ext uri="{FF2B5EF4-FFF2-40B4-BE49-F238E27FC236}">
                <a16:creationId xmlns:a16="http://schemas.microsoft.com/office/drawing/2014/main" id="{37A68804-4A27-E93C-56D4-DA55FE7813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91790" y="3397176"/>
            <a:ext cx="180362" cy="180362"/>
          </a:xfrm>
          <a:prstGeom prst="rect">
            <a:avLst/>
          </a:prstGeom>
        </p:spPr>
      </p:pic>
      <p:sp>
        <p:nvSpPr>
          <p:cNvPr id="236" name="TextBox 235">
            <a:extLst>
              <a:ext uri="{FF2B5EF4-FFF2-40B4-BE49-F238E27FC236}">
                <a16:creationId xmlns:a16="http://schemas.microsoft.com/office/drawing/2014/main" id="{26C25A98-D388-2FC7-2DDB-C73D0FCAB0E1}"/>
              </a:ext>
            </a:extLst>
          </p:cNvPr>
          <p:cNvSpPr txBox="1"/>
          <p:nvPr/>
        </p:nvSpPr>
        <p:spPr>
          <a:xfrm>
            <a:off x="3158599" y="340830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(Runtime)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B992043C-2BA3-826D-3530-4830FF30519F}"/>
              </a:ext>
            </a:extLst>
          </p:cNvPr>
          <p:cNvSpPr txBox="1"/>
          <p:nvPr/>
        </p:nvSpPr>
        <p:spPr>
          <a:xfrm>
            <a:off x="3001716" y="3568272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선정된 스킬 전용 런타임 환경으로 이관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6D979167-BB5E-381D-97BF-211AF6FF915E}"/>
              </a:ext>
            </a:extLst>
          </p:cNvPr>
          <p:cNvCxnSpPr>
            <a:cxnSpLocks/>
          </p:cNvCxnSpPr>
          <p:nvPr/>
        </p:nvCxnSpPr>
        <p:spPr>
          <a:xfrm flipV="1">
            <a:off x="5648603" y="3577538"/>
            <a:ext cx="256294" cy="1586"/>
          </a:xfrm>
          <a:prstGeom prst="straightConnector1">
            <a:avLst/>
          </a:prstGeom>
          <a:ln w="127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Shape 4">
            <a:extLst>
              <a:ext uri="{FF2B5EF4-FFF2-40B4-BE49-F238E27FC236}">
                <a16:creationId xmlns:a16="http://schemas.microsoft.com/office/drawing/2014/main" id="{8833047E-4AC8-D306-EEC1-C30116B878BE}"/>
              </a:ext>
            </a:extLst>
          </p:cNvPr>
          <p:cNvSpPr/>
          <p:nvPr/>
        </p:nvSpPr>
        <p:spPr>
          <a:xfrm>
            <a:off x="6143654" y="1761098"/>
            <a:ext cx="201825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967F3A3E-080C-2184-BBB4-973B84B000B4}"/>
              </a:ext>
            </a:extLst>
          </p:cNvPr>
          <p:cNvSpPr txBox="1"/>
          <p:nvPr/>
        </p:nvSpPr>
        <p:spPr>
          <a:xfrm>
            <a:off x="6328801" y="174329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정책 및 지침 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FC303E-4694-2BA4-C7C0-9E0497400219}"/>
              </a:ext>
            </a:extLst>
          </p:cNvPr>
          <p:cNvSpPr txBox="1"/>
          <p:nvPr/>
        </p:nvSpPr>
        <p:spPr>
          <a:xfrm>
            <a:off x="6095531" y="1903268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Ops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에서 정의한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 분석 전문가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페르소나와 작업 순서 지침을 에이전트 런타임에 주입합니다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3" name="Shape 4">
            <a:extLst>
              <a:ext uri="{FF2B5EF4-FFF2-40B4-BE49-F238E27FC236}">
                <a16:creationId xmlns:a16="http://schemas.microsoft.com/office/drawing/2014/main" id="{129ED38A-67BA-379F-B732-50528C538CB0}"/>
              </a:ext>
            </a:extLst>
          </p:cNvPr>
          <p:cNvSpPr/>
          <p:nvPr/>
        </p:nvSpPr>
        <p:spPr>
          <a:xfrm rot="10800000">
            <a:off x="6012493" y="2303680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FC36247A-7414-318D-A152-012BF48F0685}"/>
              </a:ext>
            </a:extLst>
          </p:cNvPr>
          <p:cNvSpPr/>
          <p:nvPr/>
        </p:nvSpPr>
        <p:spPr>
          <a:xfrm>
            <a:off x="6143654" y="2380363"/>
            <a:ext cx="2133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5BFD5FC8-51D4-1668-CCC9-276B89B450FF}"/>
              </a:ext>
            </a:extLst>
          </p:cNvPr>
          <p:cNvSpPr txBox="1"/>
          <p:nvPr/>
        </p:nvSpPr>
        <p:spPr>
          <a:xfrm>
            <a:off x="6328801" y="236256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자율 작업 계획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325E7BA3-CDD9-549F-D11D-2DAC36C80728}"/>
              </a:ext>
            </a:extLst>
          </p:cNvPr>
          <p:cNvSpPr txBox="1"/>
          <p:nvPr/>
        </p:nvSpPr>
        <p:spPr>
          <a:xfrm>
            <a:off x="6095531" y="2522533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질문을 해결하기 위한 최적의 쿼리 시퀀스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/AOV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연산 플랜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수립합니다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7" name="Shape 4">
            <a:extLst>
              <a:ext uri="{FF2B5EF4-FFF2-40B4-BE49-F238E27FC236}">
                <a16:creationId xmlns:a16="http://schemas.microsoft.com/office/drawing/2014/main" id="{F953B3DD-41B7-8B17-F123-DB23E70D78FA}"/>
              </a:ext>
            </a:extLst>
          </p:cNvPr>
          <p:cNvSpPr/>
          <p:nvPr/>
        </p:nvSpPr>
        <p:spPr>
          <a:xfrm rot="10800000">
            <a:off x="6012493" y="2922048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8" name="Shape 4">
            <a:extLst>
              <a:ext uri="{FF2B5EF4-FFF2-40B4-BE49-F238E27FC236}">
                <a16:creationId xmlns:a16="http://schemas.microsoft.com/office/drawing/2014/main" id="{92E41D10-8A05-E6E1-1525-41AC0DBECA2F}"/>
              </a:ext>
            </a:extLst>
          </p:cNvPr>
          <p:cNvSpPr/>
          <p:nvPr/>
        </p:nvSpPr>
        <p:spPr>
          <a:xfrm>
            <a:off x="6143654" y="2998731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9FB71BAB-BF97-7152-B3F7-927796755F69}"/>
              </a:ext>
            </a:extLst>
          </p:cNvPr>
          <p:cNvSpPr txBox="1"/>
          <p:nvPr/>
        </p:nvSpPr>
        <p:spPr>
          <a:xfrm>
            <a:off x="6328801" y="298093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물리 작업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(SQL/API or Tool)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FC70380-148C-D9E5-A9C4-7460F903EA6D}"/>
              </a:ext>
            </a:extLst>
          </p:cNvPr>
          <p:cNvSpPr txBox="1"/>
          <p:nvPr/>
        </p:nvSpPr>
        <p:spPr>
          <a:xfrm>
            <a:off x="6095531" y="3140901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바인딩된 툴을 통해 </a:t>
            </a:r>
            <a:r>
              <a:rPr lang="en-US" altLang="ko-KR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agent.ft_sales_ai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테이블에 직접 질의하거나 외부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API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연동하여 데이터를 수집합니다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1" name="Shape 4">
            <a:extLst>
              <a:ext uri="{FF2B5EF4-FFF2-40B4-BE49-F238E27FC236}">
                <a16:creationId xmlns:a16="http://schemas.microsoft.com/office/drawing/2014/main" id="{E4B78009-051D-690E-2E29-092BC58AACD0}"/>
              </a:ext>
            </a:extLst>
          </p:cNvPr>
          <p:cNvSpPr/>
          <p:nvPr/>
        </p:nvSpPr>
        <p:spPr>
          <a:xfrm rot="10800000">
            <a:off x="6012493" y="3528928"/>
            <a:ext cx="2697388" cy="689864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2" name="Shape 4">
            <a:extLst>
              <a:ext uri="{FF2B5EF4-FFF2-40B4-BE49-F238E27FC236}">
                <a16:creationId xmlns:a16="http://schemas.microsoft.com/office/drawing/2014/main" id="{8429055C-46C6-EA23-E145-5D70C1520443}"/>
              </a:ext>
            </a:extLst>
          </p:cNvPr>
          <p:cNvSpPr/>
          <p:nvPr/>
        </p:nvSpPr>
        <p:spPr>
          <a:xfrm>
            <a:off x="6143654" y="3605612"/>
            <a:ext cx="2166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E1B09042-F452-CE11-31F2-1DF2B196E4AD}"/>
              </a:ext>
            </a:extLst>
          </p:cNvPr>
          <p:cNvSpPr txBox="1"/>
          <p:nvPr/>
        </p:nvSpPr>
        <p:spPr>
          <a:xfrm>
            <a:off x="6328801" y="358781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중간 검증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en-US" altLang="ko-KR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ReACT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Loop)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12989E-888F-0171-8033-526F94260358}"/>
              </a:ext>
            </a:extLst>
          </p:cNvPr>
          <p:cNvSpPr txBox="1"/>
          <p:nvPr/>
        </p:nvSpPr>
        <p:spPr>
          <a:xfrm>
            <a:off x="6095531" y="3747782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인출된 데이터가 질문 해결에 충분한지 평가합니다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5" name="Shape 4">
            <a:extLst>
              <a:ext uri="{FF2B5EF4-FFF2-40B4-BE49-F238E27FC236}">
                <a16:creationId xmlns:a16="http://schemas.microsoft.com/office/drawing/2014/main" id="{69292B10-1086-E4CC-71CB-4D9992FC4DD2}"/>
              </a:ext>
            </a:extLst>
          </p:cNvPr>
          <p:cNvSpPr/>
          <p:nvPr/>
        </p:nvSpPr>
        <p:spPr>
          <a:xfrm rot="10800000">
            <a:off x="6003958" y="4308931"/>
            <a:ext cx="2697388" cy="46056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B61750F2-E838-D35E-C528-2E90D6FC68DF}"/>
              </a:ext>
            </a:extLst>
          </p:cNvPr>
          <p:cNvSpPr/>
          <p:nvPr/>
        </p:nvSpPr>
        <p:spPr>
          <a:xfrm>
            <a:off x="6135119" y="4385615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3-5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47371C6-0A82-C030-4396-EB6B929ADF18}"/>
              </a:ext>
            </a:extLst>
          </p:cNvPr>
          <p:cNvSpPr txBox="1"/>
          <p:nvPr/>
        </p:nvSpPr>
        <p:spPr>
          <a:xfrm>
            <a:off x="6320266" y="436781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결과셋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반환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(Hand-off)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A1C3EF03-1B11-1E6E-31E9-91D7E211D9A6}"/>
              </a:ext>
            </a:extLst>
          </p:cNvPr>
          <p:cNvSpPr txBox="1"/>
          <p:nvPr/>
        </p:nvSpPr>
        <p:spPr>
          <a:xfrm>
            <a:off x="6086996" y="4527785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검증 완료된 데이터셋을 메인 흐름으로 안전하게 양도합니다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9" name="Shape 4">
            <a:extLst>
              <a:ext uri="{FF2B5EF4-FFF2-40B4-BE49-F238E27FC236}">
                <a16:creationId xmlns:a16="http://schemas.microsoft.com/office/drawing/2014/main" id="{3CD98E81-F4A7-32CA-40B3-CC5F52D5D139}"/>
              </a:ext>
            </a:extLst>
          </p:cNvPr>
          <p:cNvSpPr/>
          <p:nvPr/>
        </p:nvSpPr>
        <p:spPr>
          <a:xfrm>
            <a:off x="6146194" y="3941763"/>
            <a:ext cx="2511196" cy="167115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   </a:t>
            </a:r>
            <a:r>
              <a:rPr lang="en-US" altLang="ko-KR" sz="700" b="1" dirty="0" err="1">
                <a:solidFill>
                  <a:srgbClr val="0D9488"/>
                </a:solidFill>
                <a:latin typeface="+mj-lt"/>
                <a:ea typeface="SUIT SemiBold" pitchFamily="50" charset="-127"/>
              </a:rPr>
              <a:t>ReACT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불충분 시 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[3-2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작업 계획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]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으로 피드백 루프</a:t>
            </a:r>
          </a:p>
        </p:txBody>
      </p:sp>
      <p:pic>
        <p:nvPicPr>
          <p:cNvPr id="270" name="그래픽 269" descr="반복 단색으로 채워진">
            <a:extLst>
              <a:ext uri="{FF2B5EF4-FFF2-40B4-BE49-F238E27FC236}">
                <a16:creationId xmlns:a16="http://schemas.microsoft.com/office/drawing/2014/main" id="{678CDC5E-EFC6-44FF-58E7-6565D898D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168907" y="3958727"/>
            <a:ext cx="131582" cy="13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3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6A638-17DE-5516-DB60-FB12DF89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E34C6B11-8165-7109-E9F6-2D1D25EE1C24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90BC49A-E834-17F5-DA2A-08B9FBED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Graph DB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지능형 지식 모델링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AAA834-6736-ABAD-212B-7C64455009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E3C56-C785-EC9B-23AB-91A37C3C2439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라벨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(Label),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속성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(Property),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관계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(Relation)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선제적으로 정의하여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에이전트가 </a:t>
            </a: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노드 간의 경로를 탐색함으로써 질문의 분석 가능성을 판별하고</a:t>
            </a:r>
            <a:endParaRPr lang="en-US" altLang="ko-KR" sz="1100" dirty="0">
              <a:solidFill>
                <a:srgbClr val="0D9488"/>
              </a:solidFill>
              <a:cs typeface="Noto Sans KR"/>
              <a:sym typeface="Noto Sans KR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 최적의 실행 로직을 도출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하는 지능형 지식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맵을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구축합니다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26F9FE-1BE3-FB99-45F2-6B77DFD749AC}"/>
              </a:ext>
            </a:extLst>
          </p:cNvPr>
          <p:cNvSpPr/>
          <p:nvPr/>
        </p:nvSpPr>
        <p:spPr>
          <a:xfrm>
            <a:off x="4553712" y="1408519"/>
            <a:ext cx="4222773" cy="2594130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3C40CED-873B-FB5E-AE96-73656EB76E23}"/>
              </a:ext>
            </a:extLst>
          </p:cNvPr>
          <p:cNvSpPr/>
          <p:nvPr/>
        </p:nvSpPr>
        <p:spPr>
          <a:xfrm rot="16200000">
            <a:off x="595996" y="1011641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3024">
                <a:srgbClr val="0070C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D5DA6ED-2916-56DB-F37D-28A06EE588F4}"/>
              </a:ext>
            </a:extLst>
          </p:cNvPr>
          <p:cNvSpPr/>
          <p:nvPr/>
        </p:nvSpPr>
        <p:spPr>
          <a:xfrm rot="16200000">
            <a:off x="2785731" y="1011640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D4C5"/>
              </a:gs>
              <a:gs pos="3024">
                <a:srgbClr val="00D4C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96987FF-25BA-79AC-640A-938734284EC2}"/>
              </a:ext>
            </a:extLst>
          </p:cNvPr>
          <p:cNvSpPr/>
          <p:nvPr/>
        </p:nvSpPr>
        <p:spPr>
          <a:xfrm rot="16200000">
            <a:off x="595997" y="2354992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8453F5"/>
              </a:gs>
              <a:gs pos="3024">
                <a:srgbClr val="8453F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CD4F571-7585-9FC2-6DAF-822602B79495}"/>
              </a:ext>
            </a:extLst>
          </p:cNvPr>
          <p:cNvSpPr/>
          <p:nvPr/>
        </p:nvSpPr>
        <p:spPr>
          <a:xfrm rot="16200000">
            <a:off x="2785731" y="2354993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FFC000"/>
              </a:gs>
              <a:gs pos="3024">
                <a:srgbClr val="FFC00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E0D76-3C8B-E51F-F670-0B9ECABA5649}"/>
              </a:ext>
            </a:extLst>
          </p:cNvPr>
          <p:cNvSpPr txBox="1"/>
          <p:nvPr/>
        </p:nvSpPr>
        <p:spPr>
          <a:xfrm>
            <a:off x="4677910" y="1501073"/>
            <a:ext cx="2561859" cy="1788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Conceptual Graph Schema</a:t>
            </a:r>
            <a:endParaRPr lang="en-US" sz="9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9218" name="Picture 2" descr="그래프와 관계형 데이터베이스 비교 - 데이터베이스 간의 차이점 - AWS">
            <a:extLst>
              <a:ext uri="{FF2B5EF4-FFF2-40B4-BE49-F238E27FC236}">
                <a16:creationId xmlns:a16="http://schemas.microsoft.com/office/drawing/2014/main" id="{8F6DDF15-4B6C-CC82-D2AC-0AF577CB3C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482"/>
          <a:stretch>
            <a:fillRect/>
          </a:stretch>
        </p:blipFill>
        <p:spPr bwMode="auto">
          <a:xfrm>
            <a:off x="4798991" y="1785206"/>
            <a:ext cx="3699341" cy="2060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hape 4">
            <a:extLst>
              <a:ext uri="{FF2B5EF4-FFF2-40B4-BE49-F238E27FC236}">
                <a16:creationId xmlns:a16="http://schemas.microsoft.com/office/drawing/2014/main" id="{7758AE99-D02D-F2E7-3960-5377ED5703E5}"/>
              </a:ext>
            </a:extLst>
          </p:cNvPr>
          <p:cNvSpPr/>
          <p:nvPr/>
        </p:nvSpPr>
        <p:spPr>
          <a:xfrm>
            <a:off x="6869881" y="2114335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ko-KR" altLang="ko-KR" sz="800" dirty="0" err="1">
                <a:solidFill>
                  <a:schemeClr val="bg1"/>
                </a:solidFill>
              </a:rPr>
              <a:t>Question</a:t>
            </a:r>
            <a:r>
              <a:rPr lang="ko-KR" altLang="ko-KR" sz="800" dirty="0">
                <a:solidFill>
                  <a:schemeClr val="bg1"/>
                </a:solidFill>
              </a:rPr>
              <a:t> (질문)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5FCB4E2-60A7-6D35-F4EA-E37A0EA09F83}"/>
              </a:ext>
            </a:extLst>
          </p:cNvPr>
          <p:cNvSpPr/>
          <p:nvPr/>
        </p:nvSpPr>
        <p:spPr>
          <a:xfrm>
            <a:off x="6423794" y="2503717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Formula (</a:t>
            </a:r>
            <a:r>
              <a:rPr lang="ko-KR" altLang="en-US" sz="800" dirty="0">
                <a:solidFill>
                  <a:schemeClr val="bg1"/>
                </a:solidFill>
              </a:rPr>
              <a:t>수식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31256CB8-84A1-4D7D-1769-D47B39C7507F}"/>
              </a:ext>
            </a:extLst>
          </p:cNvPr>
          <p:cNvSpPr/>
          <p:nvPr/>
        </p:nvSpPr>
        <p:spPr>
          <a:xfrm>
            <a:off x="7554008" y="1758758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F59E0B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Constraints (</a:t>
            </a:r>
            <a:r>
              <a:rPr lang="ko-KR" altLang="en-US" sz="800" dirty="0">
                <a:solidFill>
                  <a:schemeClr val="bg1"/>
                </a:solidFill>
              </a:rPr>
              <a:t>제약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DA0AE86F-4DC9-90AF-8C59-426143ECA1E7}"/>
              </a:ext>
            </a:extLst>
          </p:cNvPr>
          <p:cNvSpPr/>
          <p:nvPr/>
        </p:nvSpPr>
        <p:spPr>
          <a:xfrm>
            <a:off x="5323671" y="2664270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13CEC4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Metric (</a:t>
            </a:r>
            <a:r>
              <a:rPr lang="ko-KR" altLang="en-US" sz="800" dirty="0">
                <a:solidFill>
                  <a:schemeClr val="bg1"/>
                </a:solidFill>
              </a:rPr>
              <a:t>핵심지표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D4DEA932-EF95-9D26-3E8B-160F8E11AD68}"/>
              </a:ext>
            </a:extLst>
          </p:cNvPr>
          <p:cNvSpPr/>
          <p:nvPr/>
        </p:nvSpPr>
        <p:spPr>
          <a:xfrm>
            <a:off x="5445046" y="3159597"/>
            <a:ext cx="1127379" cy="188370"/>
          </a:xfrm>
          <a:prstGeom prst="roundRect">
            <a:avLst>
              <a:gd name="adj" fmla="val 39997"/>
            </a:avLst>
          </a:prstGeom>
          <a:solidFill>
            <a:srgbClr val="0D9488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Dimension (</a:t>
            </a:r>
            <a:r>
              <a:rPr lang="ko-KR" altLang="en-US" sz="800" dirty="0">
                <a:solidFill>
                  <a:schemeClr val="bg1"/>
                </a:solidFill>
              </a:rPr>
              <a:t>분석차원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D892117-AF9A-8E04-D476-0FEC066CE93D}"/>
              </a:ext>
            </a:extLst>
          </p:cNvPr>
          <p:cNvSpPr/>
          <p:nvPr/>
        </p:nvSpPr>
        <p:spPr>
          <a:xfrm>
            <a:off x="6931366" y="3439257"/>
            <a:ext cx="1384848" cy="188370"/>
          </a:xfrm>
          <a:prstGeom prst="roundRect">
            <a:avLst>
              <a:gd name="adj" fmla="val 39997"/>
            </a:avLst>
          </a:prstGeom>
          <a:solidFill>
            <a:srgbClr val="0070C0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 err="1">
                <a:solidFill>
                  <a:schemeClr val="bg1"/>
                </a:solidFill>
              </a:rPr>
              <a:t>DataSource</a:t>
            </a:r>
            <a:r>
              <a:rPr lang="en-US" altLang="ko-KR" sz="800" dirty="0">
                <a:solidFill>
                  <a:schemeClr val="bg1"/>
                </a:solidFill>
              </a:rPr>
              <a:t> (</a:t>
            </a:r>
            <a:r>
              <a:rPr lang="ko-KR" altLang="en-US" sz="800" dirty="0">
                <a:solidFill>
                  <a:schemeClr val="bg1"/>
                </a:solidFill>
              </a:rPr>
              <a:t>데이터원천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AF9A42E0-2862-60C2-967B-CE41F07B4D05}"/>
              </a:ext>
            </a:extLst>
          </p:cNvPr>
          <p:cNvCxnSpPr>
            <a:cxnSpLocks/>
            <a:stCxn id="19" idx="2"/>
            <a:endCxn id="18" idx="2"/>
          </p:cNvCxnSpPr>
          <p:nvPr/>
        </p:nvCxnSpPr>
        <p:spPr>
          <a:xfrm rot="5400000" flipH="1">
            <a:off x="6676433" y="2680270"/>
            <a:ext cx="279660" cy="1615054"/>
          </a:xfrm>
          <a:prstGeom prst="curvedConnector3">
            <a:avLst>
              <a:gd name="adj1" fmla="val -81742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C9C6C5DF-1A2B-9C4E-CEB2-2B6AC665AA5B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rot="16200000" flipV="1">
            <a:off x="5735770" y="2886630"/>
            <a:ext cx="306957" cy="23897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49FC138B-6EEA-2364-ECD8-86013A21D123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 flipH="1">
            <a:off x="6305912" y="2128118"/>
            <a:ext cx="27817" cy="1100123"/>
          </a:xfrm>
          <a:prstGeom prst="curvedConnector5">
            <a:avLst>
              <a:gd name="adj1" fmla="val -821800"/>
              <a:gd name="adj2" fmla="val 50000"/>
              <a:gd name="adj3" fmla="val 9218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1B63241A-B071-192B-1286-3099F490048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7005457" y="2167131"/>
            <a:ext cx="201012" cy="472161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구부러짐 34">
            <a:extLst>
              <a:ext uri="{FF2B5EF4-FFF2-40B4-BE49-F238E27FC236}">
                <a16:creationId xmlns:a16="http://schemas.microsoft.com/office/drawing/2014/main" id="{F8CBB6F7-589D-7977-2C14-ED5FFB75E6DE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rot="5400000" flipH="1" flipV="1">
            <a:off x="7600503" y="1688669"/>
            <a:ext cx="167207" cy="68412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2928C4C-C939-C7E4-19DC-DFD81B91441C}"/>
              </a:ext>
            </a:extLst>
          </p:cNvPr>
          <p:cNvSpPr txBox="1"/>
          <p:nvPr/>
        </p:nvSpPr>
        <p:spPr>
          <a:xfrm>
            <a:off x="495300" y="1574219"/>
            <a:ext cx="1329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자원군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(Resources)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44" name="그래픽 43" descr="방패 선택 표시 단색으로 채워진">
            <a:extLst>
              <a:ext uri="{FF2B5EF4-FFF2-40B4-BE49-F238E27FC236}">
                <a16:creationId xmlns:a16="http://schemas.microsoft.com/office/drawing/2014/main" id="{5F10ECA1-4E9D-C1E9-F32B-EB5753C0A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55830" y="2893543"/>
            <a:ext cx="233336" cy="233336"/>
          </a:xfrm>
          <a:prstGeom prst="rect">
            <a:avLst/>
          </a:prstGeom>
        </p:spPr>
      </p:pic>
      <p:pic>
        <p:nvPicPr>
          <p:cNvPr id="46" name="그래픽 45" descr="마법 지팡이 자동 단색으로 채워진">
            <a:extLst>
              <a:ext uri="{FF2B5EF4-FFF2-40B4-BE49-F238E27FC236}">
                <a16:creationId xmlns:a16="http://schemas.microsoft.com/office/drawing/2014/main" id="{F00BF14C-E4A6-2975-A129-AA789C8B9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070" y="2926261"/>
            <a:ext cx="233336" cy="233336"/>
          </a:xfrm>
          <a:prstGeom prst="rect">
            <a:avLst/>
          </a:prstGeom>
        </p:spPr>
      </p:pic>
      <p:pic>
        <p:nvPicPr>
          <p:cNvPr id="48" name="그래픽 47" descr="상향 추세 단색으로 채워진">
            <a:extLst>
              <a:ext uri="{FF2B5EF4-FFF2-40B4-BE49-F238E27FC236}">
                <a16:creationId xmlns:a16="http://schemas.microsoft.com/office/drawing/2014/main" id="{164FD1D1-DB03-E2A5-1523-08AD8FE72F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55830" y="1547906"/>
            <a:ext cx="233336" cy="233336"/>
          </a:xfrm>
          <a:prstGeom prst="rect">
            <a:avLst/>
          </a:prstGeom>
        </p:spPr>
      </p:pic>
      <p:pic>
        <p:nvPicPr>
          <p:cNvPr id="50" name="그래픽 49" descr="데이터베이스 단색으로 채워진">
            <a:extLst>
              <a:ext uri="{FF2B5EF4-FFF2-40B4-BE49-F238E27FC236}">
                <a16:creationId xmlns:a16="http://schemas.microsoft.com/office/drawing/2014/main" id="{B0551956-F6F9-09E8-9FCF-22107670D2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5070" y="1572594"/>
            <a:ext cx="233336" cy="23333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278B9966-967E-2A3D-FCF8-0D476C5B30D7}"/>
              </a:ext>
            </a:extLst>
          </p:cNvPr>
          <p:cNvSpPr txBox="1"/>
          <p:nvPr/>
        </p:nvSpPr>
        <p:spPr>
          <a:xfrm>
            <a:off x="2778950" y="1550783"/>
            <a:ext cx="12444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지표군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(Metrics)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891FDC-DEF4-8429-D787-FDB5265EEFDA}"/>
              </a:ext>
            </a:extLst>
          </p:cNvPr>
          <p:cNvSpPr txBox="1"/>
          <p:nvPr/>
        </p:nvSpPr>
        <p:spPr>
          <a:xfrm>
            <a:off x="485078" y="2928963"/>
            <a:ext cx="1619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변환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·</a:t>
            </a: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표현군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(Transform)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69AE27-964E-EF5E-7B36-86BB0046674F}"/>
              </a:ext>
            </a:extLst>
          </p:cNvPr>
          <p:cNvSpPr txBox="1"/>
          <p:nvPr/>
        </p:nvSpPr>
        <p:spPr>
          <a:xfrm>
            <a:off x="2783967" y="2897907"/>
            <a:ext cx="14915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제약군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(Constraints)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10A5D4-DA4D-C937-040D-331E97F1BA0D}"/>
              </a:ext>
            </a:extLst>
          </p:cNvPr>
          <p:cNvSpPr txBox="1"/>
          <p:nvPr/>
        </p:nvSpPr>
        <p:spPr>
          <a:xfrm>
            <a:off x="256032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Dimension: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부서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제품군 등 분석 기준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DataSource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물리적 데이터 원천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DetailDimension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상세 분석 차원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29DFA1-C550-FBE6-EE6D-6422DDA7228B}"/>
              </a:ext>
            </a:extLst>
          </p:cNvPr>
          <p:cNvSpPr txBox="1"/>
          <p:nvPr/>
        </p:nvSpPr>
        <p:spPr>
          <a:xfrm>
            <a:off x="2440288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Metric: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매출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수량 등 핵심 측정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DetailMetric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필터가 가미된 세부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DataSchema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테이블 구조 및 메타 정의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AE30FC1-2100-AFAC-5651-29EFEEF43425}"/>
              </a:ext>
            </a:extLst>
          </p:cNvPr>
          <p:cNvSpPr txBox="1"/>
          <p:nvPr/>
        </p:nvSpPr>
        <p:spPr>
          <a:xfrm>
            <a:off x="256032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Formula: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비즈니스 계산 로직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DataView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시각화 및 결과 레이아웃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Question: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질문 의도 매핑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578600-7F86-E0CF-9A68-DAAAC7794353}"/>
              </a:ext>
            </a:extLst>
          </p:cNvPr>
          <p:cNvSpPr txBox="1"/>
          <p:nvPr/>
        </p:nvSpPr>
        <p:spPr>
          <a:xfrm>
            <a:off x="2440288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DataConstraint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가시성 범위 제한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RBAC: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역할 기반 접근 권한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Constraint: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정합성 및 예외 처리 규칙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60" name="Google Shape;141;p13" descr="image.png">
            <a:extLst>
              <a:ext uri="{FF2B5EF4-FFF2-40B4-BE49-F238E27FC236}">
                <a16:creationId xmlns:a16="http://schemas.microsoft.com/office/drawing/2014/main" id="{D48E892A-1976-AFBF-8782-67749E769B2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b="89943"/>
          <a:stretch>
            <a:fillRect/>
          </a:stretch>
        </p:blipFill>
        <p:spPr>
          <a:xfrm>
            <a:off x="278892" y="4154994"/>
            <a:ext cx="8572500" cy="7992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142;p13">
            <a:extLst>
              <a:ext uri="{FF2B5EF4-FFF2-40B4-BE49-F238E27FC236}">
                <a16:creationId xmlns:a16="http://schemas.microsoft.com/office/drawing/2014/main" id="{0D9BF058-C236-4AAA-18A5-33EA057E70EF}"/>
              </a:ext>
            </a:extLst>
          </p:cNvPr>
          <p:cNvSpPr txBox="1"/>
          <p:nvPr/>
        </p:nvSpPr>
        <p:spPr>
          <a:xfrm>
            <a:off x="504166" y="4281771"/>
            <a:ext cx="173421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자율적 경로 탐색 및 판별</a:t>
            </a:r>
            <a:endParaRPr lang="en-US" altLang="ko-KR" sz="900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62" name="Google Shape;143;p13">
            <a:extLst>
              <a:ext uri="{FF2B5EF4-FFF2-40B4-BE49-F238E27FC236}">
                <a16:creationId xmlns:a16="http://schemas.microsoft.com/office/drawing/2014/main" id="{DF05780A-2586-E501-3DE0-0989FA572649}"/>
              </a:ext>
            </a:extLst>
          </p:cNvPr>
          <p:cNvSpPr txBox="1"/>
          <p:nvPr/>
        </p:nvSpPr>
        <p:spPr>
          <a:xfrm>
            <a:off x="321762" y="4459833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노드와 관계를 따라가며 현재 질문이 시스템에서 대답 가능한 범위인지 실시간으로 판별합니다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63" name="Google Shape;146;p13">
            <a:extLst>
              <a:ext uri="{FF2B5EF4-FFF2-40B4-BE49-F238E27FC236}">
                <a16:creationId xmlns:a16="http://schemas.microsoft.com/office/drawing/2014/main" id="{B1117F89-E18C-3093-3098-5B52BFFD4C86}"/>
              </a:ext>
            </a:extLst>
          </p:cNvPr>
          <p:cNvSpPr txBox="1"/>
          <p:nvPr/>
        </p:nvSpPr>
        <p:spPr>
          <a:xfrm>
            <a:off x="2628505" y="4281771"/>
            <a:ext cx="201948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sym typeface="SUIT"/>
              </a:rPr>
              <a:t>비즈니스 로직의 데이터화</a:t>
            </a:r>
            <a:endParaRPr lang="en-US" altLang="ko-KR" sz="900" dirty="0">
              <a:latin typeface="SUIT" pitchFamily="2" charset="-127"/>
              <a:sym typeface="SUIT"/>
            </a:endParaRPr>
          </a:p>
        </p:txBody>
      </p:sp>
      <p:sp>
        <p:nvSpPr>
          <p:cNvPr id="192" name="Google Shape;147;p13">
            <a:extLst>
              <a:ext uri="{FF2B5EF4-FFF2-40B4-BE49-F238E27FC236}">
                <a16:creationId xmlns:a16="http://schemas.microsoft.com/office/drawing/2014/main" id="{9C5C71DA-0AC6-B84D-5C9B-ACC28A465AC9}"/>
              </a:ext>
            </a:extLst>
          </p:cNvPr>
          <p:cNvSpPr txBox="1"/>
          <p:nvPr/>
        </p:nvSpPr>
        <p:spPr>
          <a:xfrm>
            <a:off x="2481819" y="4472465"/>
            <a:ext cx="2033032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복잡한 계산식과 제약 조건을 프롬프트가 아닌 그래프 데이터로 분리하여 유지보수성을 극대화합니다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93" name="Google Shape;148;p13">
            <a:extLst>
              <a:ext uri="{FF2B5EF4-FFF2-40B4-BE49-F238E27FC236}">
                <a16:creationId xmlns:a16="http://schemas.microsoft.com/office/drawing/2014/main" id="{6E9276F0-3070-BB2A-BE7A-2D13594BAAC0}"/>
              </a:ext>
            </a:extLst>
          </p:cNvPr>
          <p:cNvSpPr txBox="1"/>
          <p:nvPr/>
        </p:nvSpPr>
        <p:spPr>
          <a:xfrm>
            <a:off x="6891338" y="4281771"/>
            <a:ext cx="1968727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유연한 지식 확장성</a:t>
            </a:r>
            <a:endParaRPr dirty="0"/>
          </a:p>
        </p:txBody>
      </p:sp>
      <p:sp>
        <p:nvSpPr>
          <p:cNvPr id="194" name="Google Shape;149;p13">
            <a:extLst>
              <a:ext uri="{FF2B5EF4-FFF2-40B4-BE49-F238E27FC236}">
                <a16:creationId xmlns:a16="http://schemas.microsoft.com/office/drawing/2014/main" id="{F6931F60-CF28-DC74-E132-7618B0B1DD98}"/>
              </a:ext>
            </a:extLst>
          </p:cNvPr>
          <p:cNvSpPr txBox="1"/>
          <p:nvPr/>
        </p:nvSpPr>
        <p:spPr>
          <a:xfrm>
            <a:off x="6710731" y="4472464"/>
            <a:ext cx="2376120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새로운 대시보드가 도입되어도 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구조 변경 없이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노드 추가만으로 지식망을 확장합니다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600" dirty="0"/>
          </a:p>
        </p:txBody>
      </p:sp>
      <p:sp>
        <p:nvSpPr>
          <p:cNvPr id="198" name="Google Shape;144;p13">
            <a:extLst>
              <a:ext uri="{FF2B5EF4-FFF2-40B4-BE49-F238E27FC236}">
                <a16:creationId xmlns:a16="http://schemas.microsoft.com/office/drawing/2014/main" id="{4F2880AE-9BB4-D2AC-283F-990C85EFAAC6}"/>
              </a:ext>
            </a:extLst>
          </p:cNvPr>
          <p:cNvSpPr txBox="1"/>
          <p:nvPr/>
        </p:nvSpPr>
        <p:spPr>
          <a:xfrm>
            <a:off x="4783043" y="4281771"/>
            <a:ext cx="152488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ea typeface="SUIT" pitchFamily="2" charset="-127"/>
              </a:rPr>
              <a:t>의미론적 정밀 검색 </a:t>
            </a:r>
            <a:r>
              <a:rPr lang="en-US" altLang="ko-KR" sz="900" dirty="0">
                <a:latin typeface="SUIT" pitchFamily="2" charset="-127"/>
                <a:ea typeface="SUIT" pitchFamily="2" charset="-127"/>
              </a:rPr>
              <a:t>(Semantic)</a:t>
            </a:r>
          </a:p>
        </p:txBody>
      </p:sp>
      <p:sp>
        <p:nvSpPr>
          <p:cNvPr id="199" name="Google Shape;145;p13">
            <a:extLst>
              <a:ext uri="{FF2B5EF4-FFF2-40B4-BE49-F238E27FC236}">
                <a16:creationId xmlns:a16="http://schemas.microsoft.com/office/drawing/2014/main" id="{9FD5B81F-0977-9959-6EB3-BE8BFB7DEB8D}"/>
              </a:ext>
            </a:extLst>
          </p:cNvPr>
          <p:cNvSpPr txBox="1"/>
          <p:nvPr/>
        </p:nvSpPr>
        <p:spPr>
          <a:xfrm>
            <a:off x="4584184" y="4472464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단순 텍스트 매칭을 넘어 지표와 차원 간의 상속 관계를 추적하여 질문자의 의도를 정확히 파악합니다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208" name="그래픽 207" descr="연구 단색으로 채워진">
            <a:extLst>
              <a:ext uri="{FF2B5EF4-FFF2-40B4-BE49-F238E27FC236}">
                <a16:creationId xmlns:a16="http://schemas.microsoft.com/office/drawing/2014/main" id="{A0B8FD01-EB8B-088E-0B5E-5EBADB0005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84184" y="4269428"/>
            <a:ext cx="163182" cy="163182"/>
          </a:xfrm>
          <a:prstGeom prst="rect">
            <a:avLst/>
          </a:prstGeom>
        </p:spPr>
      </p:pic>
      <p:pic>
        <p:nvPicPr>
          <p:cNvPr id="210" name="그래픽 209" descr="톱니바퀴 단색으로 채워진">
            <a:extLst>
              <a:ext uri="{FF2B5EF4-FFF2-40B4-BE49-F238E27FC236}">
                <a16:creationId xmlns:a16="http://schemas.microsoft.com/office/drawing/2014/main" id="{1E17F9F6-F848-1FF0-4D27-FB1B17EC8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40288" y="4263117"/>
            <a:ext cx="188217" cy="188217"/>
          </a:xfrm>
          <a:prstGeom prst="rect">
            <a:avLst/>
          </a:prstGeom>
        </p:spPr>
      </p:pic>
      <p:pic>
        <p:nvPicPr>
          <p:cNvPr id="213" name="그래픽 212" descr="네트워크 단색으로 채워진">
            <a:extLst>
              <a:ext uri="{FF2B5EF4-FFF2-40B4-BE49-F238E27FC236}">
                <a16:creationId xmlns:a16="http://schemas.microsoft.com/office/drawing/2014/main" id="{1D524675-F4B9-A593-814C-35581405B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-3713" r="-6817" b="-1"/>
          <a:stretch>
            <a:fillRect/>
          </a:stretch>
        </p:blipFill>
        <p:spPr>
          <a:xfrm>
            <a:off x="6710731" y="4263117"/>
            <a:ext cx="170671" cy="165713"/>
          </a:xfrm>
          <a:prstGeom prst="rect">
            <a:avLst/>
          </a:prstGeom>
        </p:spPr>
      </p:pic>
      <p:pic>
        <p:nvPicPr>
          <p:cNvPr id="214" name="그래픽 213" descr="컴퍼스 단색으로 채워진">
            <a:extLst>
              <a:ext uri="{FF2B5EF4-FFF2-40B4-BE49-F238E27FC236}">
                <a16:creationId xmlns:a16="http://schemas.microsoft.com/office/drawing/2014/main" id="{8D463553-A405-966E-D11E-01999FF98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3956" y="4250882"/>
            <a:ext cx="200274" cy="200274"/>
          </a:xfrm>
          <a:prstGeom prst="rect">
            <a:avLst/>
          </a:prstGeom>
        </p:spPr>
      </p:pic>
      <p:sp>
        <p:nvSpPr>
          <p:cNvPr id="216" name="타원 215">
            <a:extLst>
              <a:ext uri="{FF2B5EF4-FFF2-40B4-BE49-F238E27FC236}">
                <a16:creationId xmlns:a16="http://schemas.microsoft.com/office/drawing/2014/main" id="{AEF74415-B013-3AD8-67F4-FF2FE33A7E24}"/>
              </a:ext>
            </a:extLst>
          </p:cNvPr>
          <p:cNvSpPr/>
          <p:nvPr/>
        </p:nvSpPr>
        <p:spPr>
          <a:xfrm>
            <a:off x="6817565" y="4308651"/>
            <a:ext cx="57014" cy="57014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487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4">
            <a:extLst>
              <a:ext uri="{FF2B5EF4-FFF2-40B4-BE49-F238E27FC236}">
                <a16:creationId xmlns:a16="http://schemas.microsoft.com/office/drawing/2014/main" id="{EDD038BC-093B-9DCA-065E-A430DF1F977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AI가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답하기 전에, 검증된 지식으로 먼저 확인합니다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68401"/>
            <a:ext cx="8595360" cy="4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aisight도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당연히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답합니다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다만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“이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질문이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분석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가능한가”를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매번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묻지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않고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검증된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지식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먼저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확인한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뒤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AI는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잘하는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일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집중시킵니다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2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고객</a:t>
            </a:r>
            <a:r>
              <a:rPr sz="900" b="1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관점</a:t>
            </a:r>
            <a:endParaRPr sz="900" b="1" dirty="0">
              <a:solidFill>
                <a:srgbClr val="64748B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0603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603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유효성까지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매번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AI에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맡길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371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5371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aisight 지식 그래프로 먼저 검증할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178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78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용어 통일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603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13" name="Isosceles Triangle 12"/>
          <p:cNvSpPr/>
          <p:nvPr/>
        </p:nvSpPr>
        <p:spPr>
          <a:xfrm>
            <a:off x="2306032" y="191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6032" y="178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부서·사람마다 다른 표현을 제각각 해석합니다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371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73712" y="178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어떻게 부르든 같은 표준 용어로 통일합니다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" y="230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6032" y="230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지표 특정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603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0" name="Isosceles Triangle 19"/>
          <p:cNvSpPr/>
          <p:nvPr/>
        </p:nvSpPr>
        <p:spPr>
          <a:xfrm>
            <a:off x="2306032" y="243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6032" y="230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비슷한 지표를 구분 못 해 임의로 골라 답합니다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371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73712" y="230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유사한 지표가 여럿이면 정확한 지표로 특정합니다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" y="282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" y="282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모호함 해소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603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7" name="Isosceles Triangle 26"/>
          <p:cNvSpPr/>
          <p:nvPr/>
        </p:nvSpPr>
        <p:spPr>
          <a:xfrm>
            <a:off x="2306032" y="295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6032" y="282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모호해도 일단 추측해서 답을 만듭니다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371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73712" y="282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모호하면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사용자에게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되물어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명확히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유도합니다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(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휴먼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루프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" y="334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6032" y="33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AI의 역할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603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>
            <a:off x="2306032" y="347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6032" y="334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용어 해석·검증까지 AI가 전부 떠안습니다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5371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73712" y="334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검증은 지식 그래프가 맡고 AI는 분석에 집중합니다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6032" y="386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6032" y="386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기능 활용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603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41" name="Isosceles Triangle 40"/>
          <p:cNvSpPr/>
          <p:nvPr/>
        </p:nvSpPr>
        <p:spPr>
          <a:xfrm>
            <a:off x="2306032" y="399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86032" y="386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매번 모든 기능을 동원해 비효율이 큽니다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5371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773712" y="386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질문 맥락을 이해해 필요한 기능만 호출합니다 (설계 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6032" y="4400000"/>
            <a:ext cx="8100000" cy="4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lang="ko-KR" altLang="en-US" sz="1000" b="1" dirty="0">
                <a:solidFill>
                  <a:srgbClr val="0D9488"/>
                </a:solidFill>
                <a:latin typeface="SUIT ExtraBold"/>
                <a:ea typeface="SUIT ExtraBold"/>
                <a:cs typeface="SUIT ExtraBold"/>
              </a:rPr>
              <a:t>간단히 말하자면</a:t>
            </a:r>
            <a:r>
              <a:rPr sz="1000" b="1" dirty="0">
                <a:solidFill>
                  <a:srgbClr val="13CEC4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대충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물어봐도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기준정보·지표를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표준으로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또렷하게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인식</a:t>
            </a:r>
            <a:r>
              <a:rPr sz="950" b="0" dirty="0" err="1">
                <a:latin typeface="SUIT"/>
                <a:ea typeface="SUIT"/>
                <a:cs typeface="SUIT"/>
              </a:rPr>
              <a:t>하고</a:t>
            </a:r>
            <a:r>
              <a:rPr sz="950" b="0" dirty="0">
                <a:latin typeface="SUIT"/>
                <a:ea typeface="SUIT"/>
                <a:cs typeface="SUIT"/>
              </a:rPr>
              <a:t>, </a:t>
            </a:r>
            <a:r>
              <a:rPr sz="950" b="0" dirty="0" err="1">
                <a:latin typeface="SUIT"/>
                <a:ea typeface="SUIT"/>
                <a:cs typeface="SUIT"/>
              </a:rPr>
              <a:t>검증은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지식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그래프가</a:t>
            </a:r>
            <a:r>
              <a:rPr sz="950" b="0" dirty="0">
                <a:solidFill>
                  <a:srgbClr val="E2E8F0"/>
                </a:solidFill>
                <a:latin typeface="SUIT"/>
                <a:ea typeface="SUIT"/>
                <a:cs typeface="SUIT"/>
              </a:rPr>
              <a:t>,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분석은</a:t>
            </a:r>
            <a:r>
              <a:rPr sz="95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AI</a:t>
            </a:r>
            <a:r>
              <a:rPr sz="950" b="0" dirty="0" err="1">
                <a:latin typeface="SUIT"/>
                <a:ea typeface="SUIT"/>
                <a:cs typeface="SUIT"/>
              </a:rPr>
              <a:t>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맡아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각자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잘하는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일에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집중합니다</a:t>
            </a:r>
            <a:r>
              <a:rPr sz="950" b="0" dirty="0"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7208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">
            <a:extLst>
              <a:ext uri="{FF2B5EF4-FFF2-40B4-BE49-F238E27FC236}">
                <a16:creationId xmlns:a16="http://schemas.microsoft.com/office/drawing/2014/main" id="{6F493979-525F-725E-89A2-B11FD26864C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그래프가 의미를 찾아가는 방식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45000"/>
            <a:ext cx="859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1">
                <a:solidFill>
                  <a:srgbClr val="0D9488"/>
                </a:solidFill>
                <a:cs typeface="SUIT"/>
              </a:rPr>
              <a:t>기준정보·지표·조건</a:t>
            </a:r>
            <a:r>
              <a:rPr sz="1000" b="0">
                <a:solidFill>
                  <a:srgbClr val="334155"/>
                </a:solidFill>
                <a:cs typeface="SUIT"/>
              </a:rPr>
              <a:t>(라벨)과 각 항목의 </a:t>
            </a:r>
            <a:r>
              <a:rPr sz="1000" b="1">
                <a:solidFill>
                  <a:srgbClr val="0D9488"/>
                </a:solidFill>
                <a:cs typeface="SUIT"/>
              </a:rPr>
              <a:t>표준 의미</a:t>
            </a:r>
            <a:r>
              <a:rPr sz="1000" b="0">
                <a:solidFill>
                  <a:srgbClr val="334155"/>
                </a:solidFill>
                <a:cs typeface="SUIT"/>
              </a:rPr>
              <a:t>(노드), 그 사이의 </a:t>
            </a:r>
            <a:r>
              <a:rPr sz="1000" b="1">
                <a:solidFill>
                  <a:srgbClr val="0D9488"/>
                </a:solidFill>
                <a:cs typeface="SUIT"/>
              </a:rPr>
              <a:t>연결 관계</a:t>
            </a:r>
            <a:r>
              <a:rPr sz="1000" b="0">
                <a:solidFill>
                  <a:srgbClr val="334155"/>
                </a:solidFill>
                <a:cs typeface="SUIT"/>
              </a:rPr>
              <a:t>를 정교하게 설계해 둡니다.</a:t>
            </a:r>
          </a:p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이 지식 그래프가 촘촘할수록, 사용자가 어떻게 묻든 </a:t>
            </a:r>
            <a:r>
              <a:rPr sz="1000" b="1">
                <a:solidFill>
                  <a:srgbClr val="0F172A"/>
                </a:solidFill>
                <a:cs typeface="SUIT"/>
              </a:rPr>
              <a:t>분석에 필요한 정확한 대상을 찾아냅니다.</a:t>
            </a:r>
          </a:p>
        </p:txBody>
      </p:sp>
      <p:pic>
        <p:nvPicPr>
          <p:cNvPr id="5" name="Picture 4" descr="graph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33409"/>
            <a:ext cx="5750000" cy="34910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6032" y="1213409"/>
            <a:ext cx="5790000" cy="3531071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6032" y="1293409"/>
            <a:ext cx="3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64748B"/>
                </a:solidFill>
                <a:latin typeface="SUIT"/>
                <a:ea typeface="SUIT"/>
                <a:cs typeface="SUIT"/>
              </a:rPr>
              <a:t>KNOWLEDGE GRAPH VIEW</a:t>
            </a:r>
          </a:p>
        </p:txBody>
      </p:sp>
      <p:sp>
        <p:nvSpPr>
          <p:cNvPr id="8" name="Oval 7"/>
          <p:cNvSpPr/>
          <p:nvPr/>
        </p:nvSpPr>
        <p:spPr>
          <a:xfrm>
            <a:off x="286032" y="4827390"/>
            <a:ext cx="150000" cy="15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6032" y="4779890"/>
            <a:ext cx="190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기준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법인·제품군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1595259" y="4827390"/>
            <a:ext cx="150000" cy="15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95259" y="4779890"/>
            <a:ext cx="1059227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측정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지표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매출·손익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2" name="Oval 11"/>
          <p:cNvSpPr/>
          <p:nvPr/>
        </p:nvSpPr>
        <p:spPr>
          <a:xfrm>
            <a:off x="2869695" y="4827390"/>
            <a:ext cx="150000" cy="15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69695" y="4779890"/>
            <a:ext cx="87614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값·조건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366032" y="1584126"/>
            <a:ext cx="360000" cy="36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6032" y="158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46032" y="1944126"/>
            <a:ext cx="0" cy="650000"/>
          </a:xfrm>
          <a:prstGeom prst="bentConnector3">
            <a:avLst/>
          </a:prstGeom>
          <a:ln w="19050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46032" y="159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무엇을 묻는지 분류  </a:t>
            </a:r>
            <a:r>
              <a:rPr sz="85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(라벨)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6032" y="187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질문 속 단어가 분석 기준인지·측정 지표인지·조건인지 종류를 먼저 가립니다.</a:t>
            </a:r>
          </a:p>
        </p:txBody>
      </p:sp>
      <p:sp>
        <p:nvSpPr>
          <p:cNvPr id="19" name="Oval 18"/>
          <p:cNvSpPr/>
          <p:nvPr/>
        </p:nvSpPr>
        <p:spPr>
          <a:xfrm>
            <a:off x="6366032" y="2594126"/>
            <a:ext cx="360000" cy="36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6032" y="259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46032" y="2954126"/>
            <a:ext cx="0" cy="650000"/>
          </a:xfrm>
          <a:prstGeom prst="bentConnector3">
            <a:avLst/>
          </a:prstGeom>
          <a:ln w="19050">
            <a:solidFill>
              <a:srgbClr val="8B5CF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46032" y="260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정확한 의미로 특정  </a:t>
            </a:r>
            <a:r>
              <a:rPr sz="85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(노드)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6032" y="288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“냉장고=REF”처럼 표준 용어로 바꿔 사용자가 찾는 정확한 대상을 집어냅니다.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366032" y="3604126"/>
            <a:ext cx="360000" cy="36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6032" y="360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6032" y="361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연결을 따라 검증  </a:t>
            </a:r>
            <a:r>
              <a:rPr sz="85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(관계)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6032" y="389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그 조합이 실제로 분석 가능한지 데이터 간 연결을 따라 확인합니다.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608" y="1460428"/>
            <a:ext cx="5713424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※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그림은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이해를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돕기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위한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개념도입니다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라벨·속성·관계의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상세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정의는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별도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설계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문서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(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온톨로지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스키마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)로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일원화해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관리됩니다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9114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">
            <a:extLst>
              <a:ext uri="{FF2B5EF4-FFF2-40B4-BE49-F238E27FC236}">
                <a16:creationId xmlns:a16="http://schemas.microsoft.com/office/drawing/2014/main" id="{69FDDDF8-5C33-641D-E50A-2BDB0A06B0A2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94" name="Rounded Rectangle 11">
            <a:extLst>
              <a:ext uri="{FF2B5EF4-FFF2-40B4-BE49-F238E27FC236}">
                <a16:creationId xmlns:a16="http://schemas.microsoft.com/office/drawing/2014/main" id="{E7C70ADD-D223-79F0-EBC8-483C0FB3FB1F}"/>
              </a:ext>
            </a:extLst>
          </p:cNvPr>
          <p:cNvSpPr/>
          <p:nvPr/>
        </p:nvSpPr>
        <p:spPr>
          <a:xfrm>
            <a:off x="5044360" y="1938440"/>
            <a:ext cx="3787032" cy="1746560"/>
          </a:xfrm>
          <a:prstGeom prst="roundRect">
            <a:avLst>
              <a:gd name="adj" fmla="val 3029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5B6E5C9-789D-7A3A-18B5-680D00942104}"/>
              </a:ext>
            </a:extLst>
          </p:cNvPr>
          <p:cNvCxnSpPr>
            <a:stCxn id="66" idx="0"/>
            <a:endCxn id="81" idx="2"/>
          </p:cNvCxnSpPr>
          <p:nvPr/>
        </p:nvCxnSpPr>
        <p:spPr>
          <a:xfrm>
            <a:off x="5412628" y="2223834"/>
            <a:ext cx="0" cy="1320383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1단계 모호한 질문이 명확한 의도로 전달되는 과정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2476" y="645000"/>
            <a:ext cx="76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아래는 </a:t>
            </a:r>
            <a:r>
              <a:rPr sz="1000" b="1">
                <a:solidFill>
                  <a:srgbClr val="0F172A"/>
                </a:solidFill>
                <a:cs typeface="SUIT"/>
              </a:rPr>
              <a:t>한 가지 예시</a:t>
            </a:r>
            <a:r>
              <a:rPr sz="1000" b="0">
                <a:solidFill>
                  <a:srgbClr val="334155"/>
                </a:solidFill>
                <a:cs typeface="SUIT"/>
              </a:rPr>
              <a:t>입니다. 모호한 질문을 단계별로 되물어 </a:t>
            </a:r>
            <a:r>
              <a:rPr sz="1000" b="1">
                <a:solidFill>
                  <a:srgbClr val="0D9488"/>
                </a:solidFill>
                <a:cs typeface="SUIT"/>
              </a:rPr>
              <a:t>분석 가능한 의도로 확정</a:t>
            </a:r>
            <a:r>
              <a:rPr sz="1000" b="0">
                <a:solidFill>
                  <a:srgbClr val="334155"/>
                </a:solidFill>
                <a:cs typeface="SUIT"/>
              </a:rPr>
              <a:t>해 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244" y="1280000"/>
            <a:ext cx="408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500" b="1" dirty="0">
                <a:latin typeface="SUIT ExtraBold"/>
                <a:ea typeface="SUIT ExtraBold"/>
                <a:cs typeface="SUIT ExtraBold"/>
              </a:rPr>
              <a:t>“2025년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유럽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1500" b="1" dirty="0">
                <a:latin typeface="SUIT ExtraBold"/>
                <a:ea typeface="SUIT ExtraBold"/>
                <a:cs typeface="SUIT ExtraBold"/>
              </a:rPr>
              <a:t>A</a:t>
            </a:r>
            <a:r>
              <a:rPr lang="ko-KR" altLang="en-US" sz="1500" b="1" dirty="0">
                <a:latin typeface="SUIT ExtraBold"/>
                <a:ea typeface="SUIT ExtraBold"/>
                <a:cs typeface="SUIT ExtraBold"/>
              </a:rPr>
              <a:t>제품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매출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분석해줘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572" y="1504750"/>
            <a:ext cx="408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제품을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해외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판매법인으로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판매하는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회사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기준</a:t>
            </a:r>
            <a:endParaRPr sz="850" b="0" dirty="0">
              <a:solidFill>
                <a:schemeClr val="tx1">
                  <a:lumMod val="50000"/>
                  <a:lumOff val="50000"/>
                </a:schemeClr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295366" y="1143452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이대로는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막연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—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무엇이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불명확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12" name="Oval 11"/>
          <p:cNvSpPr/>
          <p:nvPr/>
        </p:nvSpPr>
        <p:spPr>
          <a:xfrm>
            <a:off x="5306032" y="138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6032" y="133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‘유럽’은 지역일 뿐, 법인이 아님</a:t>
            </a:r>
          </a:p>
        </p:txBody>
      </p:sp>
      <p:sp>
        <p:nvSpPr>
          <p:cNvPr id="15" name="Oval 14"/>
          <p:cNvSpPr/>
          <p:nvPr/>
        </p:nvSpPr>
        <p:spPr>
          <a:xfrm>
            <a:off x="5306032" y="1563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56032" y="1505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‘매출’이 어떤 매출인지 불명확</a:t>
            </a:r>
          </a:p>
        </p:txBody>
      </p:sp>
      <p:sp>
        <p:nvSpPr>
          <p:cNvPr id="18" name="Oval 17"/>
          <p:cNvSpPr/>
          <p:nvPr/>
        </p:nvSpPr>
        <p:spPr>
          <a:xfrm>
            <a:off x="5306032" y="173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56032" y="168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 세부 조건 미지정</a:t>
            </a:r>
          </a:p>
        </p:txBody>
      </p:sp>
      <p:sp>
        <p:nvSpPr>
          <p:cNvPr id="20" name="Rounded Rectangle 19"/>
          <p:cNvSpPr/>
          <p:nvPr/>
        </p:nvSpPr>
        <p:spPr>
          <a:xfrm rot="10800000">
            <a:off x="256032" y="181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D4C5"/>
              </a:gs>
              <a:gs pos="836">
                <a:srgbClr val="00D4C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6032" y="1905900"/>
            <a:ext cx="300000" cy="3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032" y="190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96032" y="190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지역 → 법인 선택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‘유럽’은 지역 — 어느 법인?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778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영국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1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1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스페인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93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3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독일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45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45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프랑스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032" y="247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 rot="10800000">
            <a:off x="256032" y="262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8453F5"/>
              </a:gs>
              <a:gs pos="836">
                <a:srgbClr val="8453F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406032" y="2715900"/>
            <a:ext cx="300000" cy="30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6032" y="271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96032" y="271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매출 지표 특정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‘매출’ 중 어떤 지표? (복수 가능)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032" y="2980900"/>
            <a:ext cx="1034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6032" y="2980900"/>
            <a:ext cx="103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GMV 총거래액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32" y="298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905032" y="298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순매출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24032" y="298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24032" y="298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Retail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37032" y="2980900"/>
            <a:ext cx="1132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37032" y="2980900"/>
            <a:ext cx="1132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Wholesale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032" y="328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 rot="10800000">
            <a:off x="256032" y="343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70C0"/>
              </a:gs>
              <a:gs pos="836">
                <a:srgbClr val="0070C0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Oval 49"/>
          <p:cNvSpPr/>
          <p:nvPr/>
        </p:nvSpPr>
        <p:spPr>
          <a:xfrm>
            <a:off x="406032" y="3525900"/>
            <a:ext cx="300000" cy="30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06032" y="352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96032" y="352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제품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세부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조건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  </a:t>
            </a:r>
            <a:r>
              <a:rPr 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A</a:t>
            </a:r>
            <a:r>
              <a:rPr lang="ko-KR" alt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제품은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어떤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구분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6032" y="379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6032" y="379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빌트인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15032" y="3790900"/>
            <a:ext cx="74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415032" y="3790900"/>
            <a:ext cx="74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프리스탠딩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30032" y="379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230032" y="379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온라인 채널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43032" y="3790900"/>
            <a:ext cx="93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143032" y="3790900"/>
            <a:ext cx="93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 채널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6032" y="2001165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확정되는</a:t>
            </a:r>
            <a:r>
              <a:rPr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ko-KR" alt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정의</a:t>
            </a:r>
            <a:endParaRPr sz="1000" b="1" dirty="0">
              <a:solidFill>
                <a:srgbClr val="334155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646567" y="219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기간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6567" y="228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2025년</a:t>
            </a:r>
          </a:p>
        </p:txBody>
      </p:sp>
      <p:sp>
        <p:nvSpPr>
          <p:cNvPr id="65" name="Oval 64"/>
          <p:cNvSpPr/>
          <p:nvPr/>
        </p:nvSpPr>
        <p:spPr>
          <a:xfrm>
            <a:off x="5307436" y="222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307436" y="222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46567" y="256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6567" y="265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영국 (UK)</a:t>
            </a:r>
          </a:p>
        </p:txBody>
      </p:sp>
      <p:sp>
        <p:nvSpPr>
          <p:cNvPr id="70" name="Oval 69"/>
          <p:cNvSpPr/>
          <p:nvPr/>
        </p:nvSpPr>
        <p:spPr>
          <a:xfrm>
            <a:off x="5307436" y="2593834"/>
            <a:ext cx="210383" cy="210383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7436" y="259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46567" y="293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지표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46567" y="302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lang="en-US" sz="110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GMV · Retail</a:t>
            </a:r>
            <a:endParaRPr sz="110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5307436" y="2963834"/>
            <a:ext cx="210383" cy="210383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307436" y="296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46567" y="330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세부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46567" y="339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빌트인 · 온라인 채널</a:t>
            </a:r>
          </a:p>
        </p:txBody>
      </p:sp>
      <p:sp>
        <p:nvSpPr>
          <p:cNvPr id="80" name="Oval 79"/>
          <p:cNvSpPr/>
          <p:nvPr/>
        </p:nvSpPr>
        <p:spPr>
          <a:xfrm>
            <a:off x="5307436" y="333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307436" y="333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83" name="Isosceles Triangle 82"/>
          <p:cNvSpPr/>
          <p:nvPr/>
        </p:nvSpPr>
        <p:spPr>
          <a:xfrm>
            <a:off x="5356032" y="3805270"/>
            <a:ext cx="180000" cy="18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6032" y="3795270"/>
            <a:ext cx="315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B91C1C"/>
                </a:solidFill>
                <a:latin typeface="SUIT ExtraBold"/>
                <a:ea typeface="SUIT ExtraBold"/>
                <a:cs typeface="SUIT ExtraBold"/>
              </a:rPr>
              <a:t>입구에서 막히는 경우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76032" y="4035270"/>
            <a:ext cx="329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미학습 지표·무관한 질문은 되묻지 않고 ‘분석할 수 없습니다’로 차단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6032" y="4375390"/>
            <a:ext cx="8595360" cy="47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6032" y="4505390"/>
            <a:ext cx="1080000" cy="23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✓ CLEAR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6032" y="4450390"/>
            <a:ext cx="7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최종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확정된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분석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가능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,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다음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단계로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전달</a:t>
            </a:r>
            <a:endParaRPr sz="9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656032" y="466539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“2025년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영국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법인의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A</a:t>
            </a:r>
            <a:r>
              <a:rPr lang="ko-KR" alt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·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온라인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· </a:t>
            </a:r>
            <a:r>
              <a:rPr lang="ko-KR" altLang="en-US" sz="83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</a:t>
            </a:r>
            <a:r>
              <a:rPr lang="ko-KR" altLang="en-US" sz="830" dirty="0">
                <a:solidFill>
                  <a:srgbClr val="334155"/>
                </a:solidFill>
                <a:ea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, GMV· 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Retail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”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으로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</a:t>
            </a:r>
            <a:endParaRPr sz="83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026976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4">
            <a:extLst>
              <a:ext uri="{FF2B5EF4-FFF2-40B4-BE49-F238E27FC236}">
                <a16:creationId xmlns:a16="http://schemas.microsoft.com/office/drawing/2014/main" id="{D691D376-B1AD-28DF-9B06-A6A9F4556048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2단계 질의 맥락 라우팅 한 질문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,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여러 맥락 을 이해해 필요한 스킬만 조합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59775" y="622440"/>
            <a:ext cx="1300000" cy="3000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DRAFT ·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설계</a:t>
            </a:r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예정</a:t>
            </a:r>
            <a:endParaRPr sz="850" b="1" dirty="0">
              <a:solidFill>
                <a:schemeClr val="tx1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645000"/>
            <a:ext cx="6100042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전체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문장을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맥락별로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나눠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그래프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DB가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파악한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맥락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에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맞춰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되물어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필요한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스킬만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골라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조합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합니다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" y="1084940"/>
            <a:ext cx="8631360" cy="52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6032" y="1169940"/>
            <a:ext cx="82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1" dirty="0">
                <a:solidFill>
                  <a:srgbClr val="13CEC4"/>
                </a:solidFill>
                <a:cs typeface="SUIT"/>
              </a:rPr>
              <a:t>한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문장에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여러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맥락이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lang="ko-KR" altLang="en-US" sz="830" b="1" dirty="0" err="1">
                <a:solidFill>
                  <a:srgbClr val="13CEC4"/>
                </a:solidFill>
                <a:cs typeface="SUIT"/>
              </a:rPr>
              <a:t>섞여있는</a:t>
            </a:r>
            <a:r>
              <a:rPr lang="ko-KR" altLang="en-US" sz="830" b="1" dirty="0">
                <a:solidFill>
                  <a:srgbClr val="13CEC4"/>
                </a:solidFill>
                <a:latin typeface="+mn-ea"/>
                <a:ea typeface="+mn-ea"/>
              </a:rPr>
              <a:t> 사용자 질문 </a:t>
            </a:r>
            <a:endParaRPr sz="830" b="1" dirty="0">
              <a:solidFill>
                <a:srgbClr val="13CEC4"/>
              </a:solidFill>
              <a:cs typeface="SUI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6032" y="1354940"/>
            <a:ext cx="820000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“지난달 영국 냉장고 </a:t>
            </a:r>
            <a:r>
              <a:rPr sz="1200" b="1">
                <a:solidFill>
                  <a:srgbClr val="7FE9E2"/>
                </a:solidFill>
                <a:latin typeface="SUIT ExtraBold"/>
                <a:ea typeface="SUIT ExtraBold"/>
                <a:cs typeface="SUIT ExtraBold"/>
              </a:rPr>
              <a:t>매출·트래픽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을 분석하고, </a:t>
            </a:r>
            <a:r>
              <a:rPr sz="1200" b="1">
                <a:solidFill>
                  <a:srgbClr val="C9B8FB"/>
                </a:solidFill>
                <a:latin typeface="SUIT ExtraBold"/>
                <a:ea typeface="SUIT ExtraBold"/>
                <a:cs typeface="SUIT ExtraBold"/>
              </a:rPr>
              <a:t>환율 영향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찾아보고, </a:t>
            </a:r>
            <a:r>
              <a:rPr sz="1200" b="1">
                <a:solidFill>
                  <a:srgbClr val="A9CFF5"/>
                </a:solidFill>
                <a:latin typeface="SUIT ExtraBold"/>
                <a:ea typeface="SUIT ExtraBold"/>
                <a:cs typeface="SUIT ExtraBold"/>
              </a:rPr>
              <a:t>사내 전략문서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정리해줘”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6032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①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032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032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영국 법인 냉장고의 매출·트래픽 데이터를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32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그래프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DB가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지표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감지</a:t>
            </a:r>
            <a:endParaRPr sz="8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6032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6032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매출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032" y="2905000"/>
            <a:ext cx="73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032" y="2905000"/>
            <a:ext cx="730000" cy="215000"/>
          </a:xfrm>
          <a:prstGeom prst="rect">
            <a:avLst/>
          </a:prstGeom>
          <a:noFill/>
          <a:ln w="6350"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</a:t>
            </a:r>
            <a:r>
              <a:rPr sz="8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트래픽</a:t>
            </a:r>
            <a:endParaRPr sz="800" b="1"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86032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형식으로 분석할까요?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032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6032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현황분석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정형 보고서 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6032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6032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데이터탐색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데이터+짧은 인사이트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6032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6032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→ 데이터탐색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99818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29818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② 외부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818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9818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기간의 국가 정세·환율 데이터를 외부에서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9818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외부 근거가 필요함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29818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29818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환율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99818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99818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시장이슈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29818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어디서 근거를 가져올까요?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29818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49818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웹 검색 그라운딩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범용 웹·뉴스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29818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49818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지정 포털·소스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신뢰 소스 한정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29818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F1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29818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→ Grounding Skill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05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73605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③ 사내문서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3605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3605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관련 사내 전략·정책 문서 내용 확인이 필요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3605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사내 지식이 필요함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73605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73605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✓ 전략문서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73605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문서에서 찾을까요?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73605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93605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전략·기획 문서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제안서·기획안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3605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93605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회의록·일보·규정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운영 기록 전반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73605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7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73605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→ Document Skill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6032" y="4515000"/>
            <a:ext cx="8631360" cy="40000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98239" y="4575000"/>
            <a:ext cx="71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선택된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스킬을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조합해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하나의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답변으로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07D2C5"/>
                </a:solidFill>
                <a:latin typeface="SUIT"/>
                <a:ea typeface="SUIT"/>
                <a:cs typeface="SUIT"/>
              </a:rPr>
              <a:t>데이터탐색</a:t>
            </a:r>
            <a:r>
              <a:rPr sz="1000" b="1" dirty="0">
                <a:solidFill>
                  <a:srgbClr val="07D2C5"/>
                </a:solidFill>
                <a:latin typeface="SUIT"/>
                <a:ea typeface="SUIT"/>
                <a:cs typeface="SUIT"/>
              </a:rPr>
              <a:t> + Grounding + Document</a:t>
            </a:r>
            <a:endParaRPr sz="950" b="1" dirty="0">
              <a:solidFill>
                <a:srgbClr val="07D2C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98239" y="4770000"/>
            <a:ext cx="7100000" cy="1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맥락에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꼭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필요한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스킬만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불러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비용·속도·정확도를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동시에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최적화합니다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4579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551E7-85E0-7144-69BA-2030854A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D4D68BB4-5BD5-166D-3713-B0C6B56E25A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35F24F-FF95-602D-3E54-3D3C47909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시맨틱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추론 레이어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(SRL)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96E08-24C5-212B-F9B5-3ABA246DC6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ED0962-A74B-83CB-D119-D03E3AA1AE13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비즈니스 언어를 완벽한 데이터로 통역하는 단 하나의 지능 계층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환각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(Hallucination)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없이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100%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결정론적 결과를 보장하여 엔터프라이즈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와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연결하는 아키텍처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65" name="Rounded Rectangle 8">
            <a:extLst>
              <a:ext uri="{FF2B5EF4-FFF2-40B4-BE49-F238E27FC236}">
                <a16:creationId xmlns:a16="http://schemas.microsoft.com/office/drawing/2014/main" id="{B75A743A-A80A-07B6-79FB-D0049C04839D}"/>
              </a:ext>
            </a:extLst>
          </p:cNvPr>
          <p:cNvSpPr/>
          <p:nvPr/>
        </p:nvSpPr>
        <p:spPr>
          <a:xfrm>
            <a:off x="256032" y="1371682"/>
            <a:ext cx="4278933" cy="1200068"/>
          </a:xfrm>
          <a:prstGeom prst="roundRect">
            <a:avLst>
              <a:gd name="adj" fmla="val 8295"/>
            </a:avLst>
          </a:prstGeom>
          <a:solidFill>
            <a:srgbClr val="F8FEFC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68" name="Rounded Rectangle 8">
            <a:extLst>
              <a:ext uri="{FF2B5EF4-FFF2-40B4-BE49-F238E27FC236}">
                <a16:creationId xmlns:a16="http://schemas.microsoft.com/office/drawing/2014/main" id="{54FE21D9-635F-3079-C5D7-7D661529B955}"/>
              </a:ext>
            </a:extLst>
          </p:cNvPr>
          <p:cNvSpPr/>
          <p:nvPr/>
        </p:nvSpPr>
        <p:spPr>
          <a:xfrm>
            <a:off x="256031" y="2735727"/>
            <a:ext cx="4278933" cy="1725970"/>
          </a:xfrm>
          <a:prstGeom prst="roundRect">
            <a:avLst>
              <a:gd name="adj" fmla="val 8295"/>
            </a:avLst>
          </a:prstGeom>
          <a:solidFill>
            <a:srgbClr val="FFFFFF"/>
          </a:solidFill>
          <a:ln w="9525" cap="flat" cmpd="sng" algn="ctr">
            <a:solidFill>
              <a:schemeClr val="bg1">
                <a:lumMod val="9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CAB3C5A-BB31-976A-FC47-B49B05D0D3E2}"/>
              </a:ext>
            </a:extLst>
          </p:cNvPr>
          <p:cNvSpPr/>
          <p:nvPr/>
        </p:nvSpPr>
        <p:spPr>
          <a:xfrm>
            <a:off x="384578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1" name="Rounded Rectangle 8">
            <a:extLst>
              <a:ext uri="{FF2B5EF4-FFF2-40B4-BE49-F238E27FC236}">
                <a16:creationId xmlns:a16="http://schemas.microsoft.com/office/drawing/2014/main" id="{F0279D72-D8E6-C5EC-8C07-14AD7DCB9B95}"/>
              </a:ext>
            </a:extLst>
          </p:cNvPr>
          <p:cNvSpPr/>
          <p:nvPr/>
        </p:nvSpPr>
        <p:spPr>
          <a:xfrm>
            <a:off x="2469296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B32F20-41F0-9D14-9BA6-99F058EEF9C9}"/>
              </a:ext>
            </a:extLst>
          </p:cNvPr>
          <p:cNvSpPr txBox="1"/>
          <p:nvPr/>
        </p:nvSpPr>
        <p:spPr>
          <a:xfrm>
            <a:off x="581025" y="1721889"/>
            <a:ext cx="3895939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자연어 질의를 의미론적(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Semantic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으로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분석하고, 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기업 고유의 비즈니스 룰과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Graph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DB에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매핑하여 블랙박스 없는 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정확한 정형 데이터 연산(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Reasoning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수행하는 엔터프라이즈 핵심 아키텍처입니다.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4608D20-27DF-1E6E-FC6E-EE3C323D77CB}"/>
              </a:ext>
            </a:extLst>
          </p:cNvPr>
          <p:cNvSpPr txBox="1"/>
          <p:nvPr/>
        </p:nvSpPr>
        <p:spPr>
          <a:xfrm>
            <a:off x="568412" y="1428883"/>
            <a:ext cx="17099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SRL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1F2D9798-E9A9-BFE0-B787-C2DB91CEC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321" y="3557155"/>
            <a:ext cx="154616" cy="154616"/>
          </a:xfrm>
          <a:prstGeom prst="rect">
            <a:avLst/>
          </a:prstGeom>
        </p:spPr>
      </p:pic>
      <p:pic>
        <p:nvPicPr>
          <p:cNvPr id="93" name="그래픽 92">
            <a:extLst>
              <a:ext uri="{FF2B5EF4-FFF2-40B4-BE49-F238E27FC236}">
                <a16:creationId xmlns:a16="http://schemas.microsoft.com/office/drawing/2014/main" id="{C28A7579-E093-B573-F80B-341C1CC738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535126"/>
            <a:ext cx="154800" cy="154800"/>
          </a:xfrm>
          <a:prstGeom prst="rect">
            <a:avLst/>
          </a:prstGeom>
        </p:spPr>
      </p:pic>
      <p:grpSp>
        <p:nvGrpSpPr>
          <p:cNvPr id="100" name="그룹 99">
            <a:extLst>
              <a:ext uri="{FF2B5EF4-FFF2-40B4-BE49-F238E27FC236}">
                <a16:creationId xmlns:a16="http://schemas.microsoft.com/office/drawing/2014/main" id="{244AC06B-886F-B833-B779-615FBE85AC5A}"/>
              </a:ext>
            </a:extLst>
          </p:cNvPr>
          <p:cNvGrpSpPr/>
          <p:nvPr/>
        </p:nvGrpSpPr>
        <p:grpSpPr>
          <a:xfrm>
            <a:off x="419470" y="1466017"/>
            <a:ext cx="189448" cy="181817"/>
            <a:chOff x="4571644" y="3335861"/>
            <a:chExt cx="389827" cy="374124"/>
          </a:xfrm>
          <a:solidFill>
            <a:srgbClr val="0F6E56"/>
          </a:solidFill>
        </p:grpSpPr>
        <p:sp>
          <p:nvSpPr>
            <p:cNvPr id="101" name="자유형: 도형 100">
              <a:extLst>
                <a:ext uri="{FF2B5EF4-FFF2-40B4-BE49-F238E27FC236}">
                  <a16:creationId xmlns:a16="http://schemas.microsoft.com/office/drawing/2014/main" id="{AC112276-DDE4-D6B7-494A-12F292049752}"/>
                </a:ext>
              </a:extLst>
            </p:cNvPr>
            <p:cNvSpPr/>
            <p:nvPr/>
          </p:nvSpPr>
          <p:spPr>
            <a:xfrm>
              <a:off x="4794785" y="3335861"/>
              <a:ext cx="166686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3F27BD34-A8AE-E159-B67E-EE733069399B}"/>
                </a:ext>
              </a:extLst>
            </p:cNvPr>
            <p:cNvSpPr/>
            <p:nvPr/>
          </p:nvSpPr>
          <p:spPr>
            <a:xfrm>
              <a:off x="4571644" y="3404234"/>
              <a:ext cx="200025" cy="236220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3" name="자유형: 도형 102">
              <a:extLst>
                <a:ext uri="{FF2B5EF4-FFF2-40B4-BE49-F238E27FC236}">
                  <a16:creationId xmlns:a16="http://schemas.microsoft.com/office/drawing/2014/main" id="{B211D56C-7BFF-FB48-058B-35A19A4FB32B}"/>
                </a:ext>
              </a:extLst>
            </p:cNvPr>
            <p:cNvSpPr/>
            <p:nvPr/>
          </p:nvSpPr>
          <p:spPr>
            <a:xfrm>
              <a:off x="4829388" y="3570922"/>
              <a:ext cx="117157" cy="139063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0C56D2F-A7B7-7CC3-F36E-D9361D1A9F3F}"/>
              </a:ext>
            </a:extLst>
          </p:cNvPr>
          <p:cNvSpPr txBox="1"/>
          <p:nvPr/>
        </p:nvSpPr>
        <p:spPr>
          <a:xfrm>
            <a:off x="568412" y="2783765"/>
            <a:ext cx="16765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기존 패러다임 한계 및 극복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06" name="그래픽 105">
            <a:extLst>
              <a:ext uri="{FF2B5EF4-FFF2-40B4-BE49-F238E27FC236}">
                <a16:creationId xmlns:a16="http://schemas.microsoft.com/office/drawing/2014/main" id="{EE57077A-2782-E321-913D-B35AE9808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467" y="2820112"/>
            <a:ext cx="182193" cy="18219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39E01F10-806E-A523-CDEC-A577B987C2D4}"/>
              </a:ext>
            </a:extLst>
          </p:cNvPr>
          <p:cNvSpPr txBox="1"/>
          <p:nvPr/>
        </p:nvSpPr>
        <p:spPr>
          <a:xfrm>
            <a:off x="370331" y="3196518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일반 생성형 </a:t>
            </a:r>
            <a:r>
              <a:rPr lang="en-US" altLang="ko-KR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G.DB</a:t>
            </a:r>
            <a:r>
              <a:rPr lang="ko-KR" altLang="en-US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 모델</a:t>
            </a:r>
            <a:endParaRPr lang="ko-KR" alt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4A3BC6-D22C-6470-8934-5D410E634198}"/>
              </a:ext>
            </a:extLst>
          </p:cNvPr>
          <p:cNvSpPr txBox="1"/>
          <p:nvPr/>
        </p:nvSpPr>
        <p:spPr>
          <a:xfrm>
            <a:off x="2469296" y="3188981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시맨틱</a:t>
            </a:r>
            <a:r>
              <a:rPr lang="ko-KR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추론 레이어 (SRL)</a:t>
            </a:r>
            <a:endParaRPr lang="ko-KR" altLang="en-US" sz="1000" dirty="0"/>
          </a:p>
        </p:txBody>
      </p:sp>
      <p:sp>
        <p:nvSpPr>
          <p:cNvPr id="113" name="Google Shape;142;p13">
            <a:extLst>
              <a:ext uri="{FF2B5EF4-FFF2-40B4-BE49-F238E27FC236}">
                <a16:creationId xmlns:a16="http://schemas.microsoft.com/office/drawing/2014/main" id="{0D7F72F2-2F6E-3C87-2CE8-4ACCB88FCF24}"/>
              </a:ext>
            </a:extLst>
          </p:cNvPr>
          <p:cNvSpPr txBox="1"/>
          <p:nvPr/>
        </p:nvSpPr>
        <p:spPr>
          <a:xfrm>
            <a:off x="626111" y="3500302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생성형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확률적 예측에 전적으로 의존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테이블 스키마 임의 해석으로 잦은 환각 발생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결과값의 정확성을 사전 검증 불가능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4" name="그래픽 113">
            <a:extLst>
              <a:ext uri="{FF2B5EF4-FFF2-40B4-BE49-F238E27FC236}">
                <a16:creationId xmlns:a16="http://schemas.microsoft.com/office/drawing/2014/main" id="{FB563030-CAF7-C0AF-171A-00499272D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197" y="3772172"/>
            <a:ext cx="154616" cy="154616"/>
          </a:xfrm>
          <a:prstGeom prst="rect">
            <a:avLst/>
          </a:prstGeom>
        </p:spPr>
      </p:pic>
      <p:pic>
        <p:nvPicPr>
          <p:cNvPr id="115" name="그래픽 114">
            <a:extLst>
              <a:ext uri="{FF2B5EF4-FFF2-40B4-BE49-F238E27FC236}">
                <a16:creationId xmlns:a16="http://schemas.microsoft.com/office/drawing/2014/main" id="{1FAF803D-32F3-A0A1-35BA-2B0AEFE39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71" y="3980599"/>
            <a:ext cx="154616" cy="154616"/>
          </a:xfrm>
          <a:prstGeom prst="rect">
            <a:avLst/>
          </a:prstGeom>
        </p:spPr>
      </p:pic>
      <p:sp>
        <p:nvSpPr>
          <p:cNvPr id="116" name="Google Shape;142;p13">
            <a:extLst>
              <a:ext uri="{FF2B5EF4-FFF2-40B4-BE49-F238E27FC236}">
                <a16:creationId xmlns:a16="http://schemas.microsoft.com/office/drawing/2014/main" id="{10B9F17B-D82B-C262-2E0A-391B6C1669A9}"/>
              </a:ext>
            </a:extLst>
          </p:cNvPr>
          <p:cNvSpPr txBox="1"/>
          <p:nvPr/>
        </p:nvSpPr>
        <p:spPr>
          <a:xfrm>
            <a:off x="2721718" y="3478983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통제된 결정론적 연산 집행 보장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사전 정의된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Graph DB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및 지표 사전 매핑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지표 신뢰성 및 데이터 정합성 보장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9" name="그래픽 118">
            <a:extLst>
              <a:ext uri="{FF2B5EF4-FFF2-40B4-BE49-F238E27FC236}">
                <a16:creationId xmlns:a16="http://schemas.microsoft.com/office/drawing/2014/main" id="{4D7F1338-E17B-B0F4-31ED-E9145CA996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737580"/>
            <a:ext cx="154800" cy="154800"/>
          </a:xfrm>
          <a:prstGeom prst="rect">
            <a:avLst/>
          </a:prstGeom>
        </p:spPr>
      </p:pic>
      <p:pic>
        <p:nvPicPr>
          <p:cNvPr id="120" name="그래픽 119">
            <a:extLst>
              <a:ext uri="{FF2B5EF4-FFF2-40B4-BE49-F238E27FC236}">
                <a16:creationId xmlns:a16="http://schemas.microsoft.com/office/drawing/2014/main" id="{A35B6AEF-96EC-B217-9518-97320EF86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966280"/>
            <a:ext cx="154800" cy="154800"/>
          </a:xfrm>
          <a:prstGeom prst="rect">
            <a:avLst/>
          </a:prstGeom>
        </p:spPr>
      </p:pic>
      <p:sp>
        <p:nvSpPr>
          <p:cNvPr id="121" name="Rounded Rectangle 8">
            <a:extLst>
              <a:ext uri="{FF2B5EF4-FFF2-40B4-BE49-F238E27FC236}">
                <a16:creationId xmlns:a16="http://schemas.microsoft.com/office/drawing/2014/main" id="{DDC9D6CD-C304-66CA-388C-643C1EBCBC65}"/>
              </a:ext>
            </a:extLst>
          </p:cNvPr>
          <p:cNvSpPr/>
          <p:nvPr/>
        </p:nvSpPr>
        <p:spPr>
          <a:xfrm>
            <a:off x="4675438" y="1371682"/>
            <a:ext cx="4247643" cy="3090015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3" name="Rounded Rectangle 8">
            <a:extLst>
              <a:ext uri="{FF2B5EF4-FFF2-40B4-BE49-F238E27FC236}">
                <a16:creationId xmlns:a16="http://schemas.microsoft.com/office/drawing/2014/main" id="{9AC3E423-8BB2-470F-9BC3-E945CF64098B}"/>
              </a:ext>
            </a:extLst>
          </p:cNvPr>
          <p:cNvSpPr/>
          <p:nvPr/>
        </p:nvSpPr>
        <p:spPr>
          <a:xfrm>
            <a:off x="4863838" y="172189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9" name="Rounded Rectangle 8">
            <a:extLst>
              <a:ext uri="{FF2B5EF4-FFF2-40B4-BE49-F238E27FC236}">
                <a16:creationId xmlns:a16="http://schemas.microsoft.com/office/drawing/2014/main" id="{417D1327-02E4-0C0E-211A-1F9984E9A2F8}"/>
              </a:ext>
            </a:extLst>
          </p:cNvPr>
          <p:cNvSpPr/>
          <p:nvPr/>
        </p:nvSpPr>
        <p:spPr>
          <a:xfrm>
            <a:off x="4863837" y="352993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0" name="Rounded Rectangle 8">
            <a:extLst>
              <a:ext uri="{FF2B5EF4-FFF2-40B4-BE49-F238E27FC236}">
                <a16:creationId xmlns:a16="http://schemas.microsoft.com/office/drawing/2014/main" id="{CC17C28B-91F4-D0D3-8A2F-EFCC20F16827}"/>
              </a:ext>
            </a:extLst>
          </p:cNvPr>
          <p:cNvSpPr/>
          <p:nvPr/>
        </p:nvSpPr>
        <p:spPr>
          <a:xfrm>
            <a:off x="4868204" y="262591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1ADBD79-A6AF-15C4-5801-7F05E92A6A08}"/>
              </a:ext>
            </a:extLst>
          </p:cNvPr>
          <p:cNvSpPr txBox="1"/>
          <p:nvPr/>
        </p:nvSpPr>
        <p:spPr>
          <a:xfrm>
            <a:off x="4868204" y="1431494"/>
            <a:ext cx="2090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SRL 3</a:t>
            </a:r>
            <a:r>
              <a:rPr lang="ko-KR" altLang="en-US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대 핵심 메커니즘</a:t>
            </a:r>
            <a:endParaRPr lang="ko-KR" altLang="ko-KR" sz="400" i="0" dirty="0">
              <a:solidFill>
                <a:schemeClr val="bg1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33" name="그래픽 132">
            <a:extLst>
              <a:ext uri="{FF2B5EF4-FFF2-40B4-BE49-F238E27FC236}">
                <a16:creationId xmlns:a16="http://schemas.microsoft.com/office/drawing/2014/main" id="{DC2C1FB4-5920-E00F-1E5B-3E8A0743E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26607" y="1898880"/>
            <a:ext cx="418439" cy="418439"/>
          </a:xfrm>
          <a:prstGeom prst="rect">
            <a:avLst/>
          </a:prstGeom>
        </p:spPr>
      </p:pic>
      <p:pic>
        <p:nvPicPr>
          <p:cNvPr id="134" name="그래픽 133">
            <a:extLst>
              <a:ext uri="{FF2B5EF4-FFF2-40B4-BE49-F238E27FC236}">
                <a16:creationId xmlns:a16="http://schemas.microsoft.com/office/drawing/2014/main" id="{21542C5D-DA77-CBB2-7F20-0C1057EC8B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2803206"/>
            <a:ext cx="418439" cy="418439"/>
          </a:xfrm>
          <a:prstGeom prst="rect">
            <a:avLst/>
          </a:prstGeom>
        </p:spPr>
      </p:pic>
      <p:pic>
        <p:nvPicPr>
          <p:cNvPr id="135" name="그래픽 134">
            <a:extLst>
              <a:ext uri="{FF2B5EF4-FFF2-40B4-BE49-F238E27FC236}">
                <a16:creationId xmlns:a16="http://schemas.microsoft.com/office/drawing/2014/main" id="{EEF60E39-3E51-81FC-0ED8-81885DA9B3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3708329"/>
            <a:ext cx="418439" cy="418439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B4EA5217-6A8D-DC5D-2562-E5B042C188D9}"/>
              </a:ext>
            </a:extLst>
          </p:cNvPr>
          <p:cNvSpPr txBox="1"/>
          <p:nvPr/>
        </p:nvSpPr>
        <p:spPr>
          <a:xfrm>
            <a:off x="5585518" y="1788743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1. Semantic Knowledge Graph</a:t>
            </a:r>
            <a:endParaRPr lang="ko-KR" altLang="en-US" sz="10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1D01555-4602-D9D6-2463-1599860D7574}"/>
              </a:ext>
            </a:extLst>
          </p:cNvPr>
          <p:cNvSpPr txBox="1"/>
          <p:nvPr/>
        </p:nvSpPr>
        <p:spPr>
          <a:xfrm>
            <a:off x="5530310" y="2701111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2. Deterministic Pipeline</a:t>
            </a:r>
            <a:endParaRPr lang="ko-KR" altLang="en-US" sz="10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8B13D59B-982F-1505-D493-E8D23E51028F}"/>
              </a:ext>
            </a:extLst>
          </p:cNvPr>
          <p:cNvSpPr txBox="1"/>
          <p:nvPr/>
        </p:nvSpPr>
        <p:spPr>
          <a:xfrm>
            <a:off x="5544715" y="3603259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3. Evolutionary Scenario Model</a:t>
            </a:r>
            <a:endParaRPr lang="ko-KR" altLang="en-US" sz="1000" dirty="0"/>
          </a:p>
        </p:txBody>
      </p:sp>
      <p:pic>
        <p:nvPicPr>
          <p:cNvPr id="140" name="Image 0" descr="/home/claude/innermate/cover_glow.png">
            <a:extLst>
              <a:ext uri="{FF2B5EF4-FFF2-40B4-BE49-F238E27FC236}">
                <a16:creationId xmlns:a16="http://schemas.microsoft.com/office/drawing/2014/main" id="{40CBFC73-7185-6FF7-2959-D70F6D277B4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59000"/>
          </a:blip>
          <a:srcRect t="25392" r="19941"/>
          <a:stretch>
            <a:fillRect/>
          </a:stretch>
        </p:blipFill>
        <p:spPr>
          <a:xfrm>
            <a:off x="6200373" y="1350968"/>
            <a:ext cx="2727071" cy="2541412"/>
          </a:xfrm>
          <a:prstGeom prst="rect">
            <a:avLst/>
          </a:prstGeom>
        </p:spPr>
      </p:pic>
      <p:sp>
        <p:nvSpPr>
          <p:cNvPr id="141" name="Google Shape;142;p13">
            <a:extLst>
              <a:ext uri="{FF2B5EF4-FFF2-40B4-BE49-F238E27FC236}">
                <a16:creationId xmlns:a16="http://schemas.microsoft.com/office/drawing/2014/main" id="{6F0A910B-212D-767E-95B3-64E817F0A434}"/>
              </a:ext>
            </a:extLst>
          </p:cNvPr>
          <p:cNvSpPr txBox="1"/>
          <p:nvPr/>
        </p:nvSpPr>
        <p:spPr>
          <a:xfrm>
            <a:off x="5674249" y="2072535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표준 지표 사전과 데이터 간의 복잡한 연관성을 네트워크로 매핑하여 단일 진실 공급원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(SSOT)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2" name="Google Shape;142;p13">
            <a:extLst>
              <a:ext uri="{FF2B5EF4-FFF2-40B4-BE49-F238E27FC236}">
                <a16:creationId xmlns:a16="http://schemas.microsoft.com/office/drawing/2014/main" id="{F6074E48-1B53-4106-E0AC-79A364689C3F}"/>
              </a:ext>
            </a:extLst>
          </p:cNvPr>
          <p:cNvSpPr txBox="1"/>
          <p:nvPr/>
        </p:nvSpPr>
        <p:spPr>
          <a:xfrm>
            <a:off x="5629883" y="2954444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환각 현상을 배제하고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자연어 의도를 엄격한 비즈니스 룰과 매핑하여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정확한 정형 연산 실행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3" name="Google Shape;142;p13">
            <a:extLst>
              <a:ext uri="{FF2B5EF4-FFF2-40B4-BE49-F238E27FC236}">
                <a16:creationId xmlns:a16="http://schemas.microsoft.com/office/drawing/2014/main" id="{229CF2A7-868E-10FD-0CF1-5F6EB3930196}"/>
              </a:ext>
            </a:extLst>
          </p:cNvPr>
          <p:cNvSpPr txBox="1"/>
          <p:nvPr/>
        </p:nvSpPr>
        <p:spPr>
          <a:xfrm>
            <a:off x="5633446" y="3892380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사용자의 질의 패턴과 분석 맥락이 시스템에 누적 학습되어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추론 경로 및 다차원 분석 시나리오가 스스로 고도화되며 확장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47" name="그래픽 146">
            <a:extLst>
              <a:ext uri="{FF2B5EF4-FFF2-40B4-BE49-F238E27FC236}">
                <a16:creationId xmlns:a16="http://schemas.microsoft.com/office/drawing/2014/main" id="{FB762C08-72DA-710B-5CE1-BC081A445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1531" y="1983614"/>
            <a:ext cx="252000" cy="252000"/>
          </a:xfrm>
          <a:prstGeom prst="rect">
            <a:avLst/>
          </a:prstGeom>
        </p:spPr>
      </p:pic>
      <p:pic>
        <p:nvPicPr>
          <p:cNvPr id="149" name="그래픽 148">
            <a:extLst>
              <a:ext uri="{FF2B5EF4-FFF2-40B4-BE49-F238E27FC236}">
                <a16:creationId xmlns:a16="http://schemas.microsoft.com/office/drawing/2014/main" id="{F6F54462-ACF9-9484-C4CA-6479C0A16F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42199" y="2880288"/>
            <a:ext cx="251999" cy="251999"/>
          </a:xfrm>
          <a:prstGeom prst="rect">
            <a:avLst/>
          </a:prstGeom>
        </p:spPr>
      </p:pic>
      <p:sp>
        <p:nvSpPr>
          <p:cNvPr id="156" name="자유형: 도형 155">
            <a:extLst>
              <a:ext uri="{FF2B5EF4-FFF2-40B4-BE49-F238E27FC236}">
                <a16:creationId xmlns:a16="http://schemas.microsoft.com/office/drawing/2014/main" id="{8DFD6625-AB53-8B2D-457E-D6C86B20DEC4}"/>
              </a:ext>
            </a:extLst>
          </p:cNvPr>
          <p:cNvSpPr/>
          <p:nvPr/>
        </p:nvSpPr>
        <p:spPr>
          <a:xfrm>
            <a:off x="5177594" y="3809375"/>
            <a:ext cx="182066" cy="232566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F37C648E-4B14-1A05-B0EB-D7AD137D219C}"/>
              </a:ext>
            </a:extLst>
          </p:cNvPr>
          <p:cNvSpPr/>
          <p:nvPr/>
        </p:nvSpPr>
        <p:spPr>
          <a:xfrm>
            <a:off x="256033" y="4574398"/>
            <a:ext cx="8667048" cy="334151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E18087F-9B61-602D-55FD-0A2FA27834C1}"/>
              </a:ext>
            </a:extLst>
          </p:cNvPr>
          <p:cNvSpPr txBox="1"/>
          <p:nvPr/>
        </p:nvSpPr>
        <p:spPr>
          <a:xfrm>
            <a:off x="1219200" y="4619729"/>
            <a:ext cx="77399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SRL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은 단순한 번역기가 아닌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기업 데이터의 무결성을 수호하며 조직의 분석 경험이 축적될수록 집단지성으로 진화하는 지능형 통제 센터입니다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69" name="그래픽 167">
            <a:extLst>
              <a:ext uri="{FF2B5EF4-FFF2-40B4-BE49-F238E27FC236}">
                <a16:creationId xmlns:a16="http://schemas.microsoft.com/office/drawing/2014/main" id="{5A99A1C3-3277-B1D1-CF22-5E22F0C4DFDB}"/>
              </a:ext>
            </a:extLst>
          </p:cNvPr>
          <p:cNvSpPr/>
          <p:nvPr/>
        </p:nvSpPr>
        <p:spPr>
          <a:xfrm>
            <a:off x="335508" y="4649067"/>
            <a:ext cx="883692" cy="183646"/>
          </a:xfrm>
          <a:prstGeom prst="roundRect">
            <a:avLst>
              <a:gd name="adj" fmla="val 36907"/>
            </a:avLst>
          </a:prstGeom>
          <a:solidFill>
            <a:srgbClr val="28B0A3"/>
          </a:solidFill>
          <a:ln w="7876" cap="flat">
            <a:noFill/>
            <a:prstDash val="solid"/>
            <a:miter/>
          </a:ln>
        </p:spPr>
        <p:txBody>
          <a:bodyPr lIns="36000" tIns="0" rIns="36000" bIns="0"/>
          <a:lstStyle/>
          <a:p>
            <a:pPr algn="ctr"/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Value</a:t>
            </a:r>
            <a:r>
              <a:rPr lang="ko-KR" altLang="ko-KR" sz="800" b="1" i="0" dirty="0">
                <a:solidFill>
                  <a:srgbClr val="0F172A"/>
                </a:solidFill>
                <a:effectLst/>
                <a:latin typeface="Inter"/>
              </a:rPr>
              <a:t> </a:t>
            </a:r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Proposition</a:t>
            </a:r>
            <a:br>
              <a:rPr lang="ko-KR" altLang="ko-KR" sz="800" dirty="0"/>
            </a:b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00156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19F8B-9180-8143-C4CC-0B3ADA780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47085D6B-AE60-5080-6038-386F93FA136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3CCD4F-B950-9F02-7FFA-6D079A966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SRL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질의 처리 및 자가 진화 루프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97F5D-F44F-84EA-82F7-5E66D7A98D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ECD207-0EE6-053B-04DD-F058A146DCFA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모호함은 되묻고</a:t>
            </a:r>
            <a:r>
              <a:rPr lang="en-US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새로운 인과관계는 </a:t>
            </a:r>
            <a:r>
              <a:rPr lang="ko-KR" altLang="en-US" sz="1200" i="0" dirty="0" err="1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자산화하는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 능동형 파이프라인</a:t>
            </a:r>
            <a:endParaRPr lang="ko-KR" altLang="ko-KR" sz="1200" i="0" dirty="0">
              <a:solidFill>
                <a:srgbClr val="00000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자연어 의도를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Graph DB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위상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(Topology)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맵핑하여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불확실성을 해결하고 연관 분석 시나리오를 선제적으로 제안하는 흐름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610EEC41-770D-081E-3444-D06B9175A8B6}"/>
              </a:ext>
            </a:extLst>
          </p:cNvPr>
          <p:cNvSpPr/>
          <p:nvPr/>
        </p:nvSpPr>
        <p:spPr>
          <a:xfrm>
            <a:off x="2225353" y="1371378"/>
            <a:ext cx="4725673" cy="3038518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4A37AF0-952F-4602-160E-ACD0FABF9CEE}"/>
              </a:ext>
            </a:extLst>
          </p:cNvPr>
          <p:cNvSpPr/>
          <p:nvPr/>
        </p:nvSpPr>
        <p:spPr>
          <a:xfrm>
            <a:off x="7127838" y="1371378"/>
            <a:ext cx="1764000" cy="3038518"/>
          </a:xfrm>
          <a:prstGeom prst="roundRect">
            <a:avLst>
              <a:gd name="adj" fmla="val 8295"/>
            </a:avLst>
          </a:prstGeom>
          <a:solidFill>
            <a:srgbClr val="F0FDFA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88D46D7A-86FB-2851-28F0-C82F3F776ACC}"/>
              </a:ext>
            </a:extLst>
          </p:cNvPr>
          <p:cNvSpPr/>
          <p:nvPr/>
        </p:nvSpPr>
        <p:spPr>
          <a:xfrm>
            <a:off x="256032" y="1371379"/>
            <a:ext cx="1764000" cy="3496332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C8D0AC-6910-60AA-7AA4-4418D1546464}"/>
              </a:ext>
            </a:extLst>
          </p:cNvPr>
          <p:cNvSpPr txBox="1"/>
          <p:nvPr/>
        </p:nvSpPr>
        <p:spPr>
          <a:xfrm>
            <a:off x="256032" y="1433477"/>
            <a:ext cx="16362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TEP1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자연어</a:t>
            </a: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16E27C-D2B9-DFBB-1616-A3D90B55D53C}"/>
              </a:ext>
            </a:extLst>
          </p:cNvPr>
          <p:cNvSpPr txBox="1"/>
          <p:nvPr/>
        </p:nvSpPr>
        <p:spPr>
          <a:xfrm>
            <a:off x="7136159" y="1433477"/>
            <a:ext cx="162793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TEP4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시나리오 자산화 및 제안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B2AB4-C8EE-3324-D960-ADC1CB15E3D4}"/>
              </a:ext>
            </a:extLst>
          </p:cNvPr>
          <p:cNvSpPr txBox="1"/>
          <p:nvPr/>
        </p:nvSpPr>
        <p:spPr>
          <a:xfrm>
            <a:off x="304799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의도가 진입하며 파싱을 통해 초기 상태를 진단합니다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64139-FB1E-2634-8668-8DC3EB5F8BE1}"/>
              </a:ext>
            </a:extLst>
          </p:cNvPr>
          <p:cNvSpPr txBox="1"/>
          <p:nvPr/>
        </p:nvSpPr>
        <p:spPr>
          <a:xfrm>
            <a:off x="7172735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검증 완료된 탐색 경로는 </a:t>
            </a:r>
            <a:r>
              <a:rPr lang="ko-KR" altLang="en-US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템플릿화되며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발견된 연관 지표는 새로운 인사이트 축으로 제안됩니다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20" name="Rounded Rectangle 8">
            <a:extLst>
              <a:ext uri="{FF2B5EF4-FFF2-40B4-BE49-F238E27FC236}">
                <a16:creationId xmlns:a16="http://schemas.microsoft.com/office/drawing/2014/main" id="{BEA5A083-968F-3926-2A85-EC3418E36BD8}"/>
              </a:ext>
            </a:extLst>
          </p:cNvPr>
          <p:cNvSpPr/>
          <p:nvPr/>
        </p:nvSpPr>
        <p:spPr>
          <a:xfrm>
            <a:off x="389313" y="2678778"/>
            <a:ext cx="1502976" cy="271591"/>
          </a:xfrm>
          <a:prstGeom prst="wedgeRoundRectCallout">
            <a:avLst>
              <a:gd name="adj1" fmla="val 54076"/>
              <a:gd name="adj2" fmla="val 49056"/>
              <a:gd name="adj3" fmla="val 16667"/>
            </a:avLst>
          </a:prstGeom>
          <a:solidFill>
            <a:srgbClr val="FFFFFF"/>
          </a:solidFill>
          <a:ln w="9525" cap="flat" cmpd="sng" algn="ctr">
            <a:solidFill>
              <a:srgbClr val="0F6E5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36000" rIns="36000" bIns="36000" rtlCol="0" anchor="t"/>
          <a:lstStyle/>
          <a:p>
            <a:r>
              <a:rPr lang="ko-KR" altLang="ko-KR" sz="800" dirty="0">
                <a:solidFill>
                  <a:schemeClr val="tx1"/>
                </a:solidFill>
              </a:rPr>
              <a:t>최근 영업이익 하락 원인이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ko-KR" sz="800" dirty="0" err="1">
                <a:solidFill>
                  <a:schemeClr val="tx1"/>
                </a:solidFill>
              </a:rPr>
              <a:t>뭐야</a:t>
            </a:r>
            <a:r>
              <a:rPr lang="ko-KR" altLang="ko-KR" sz="800" dirty="0">
                <a:solidFill>
                  <a:schemeClr val="tx1"/>
                </a:solidFill>
              </a:rPr>
              <a:t>?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0CEA1F3-65E3-9EF8-9050-99CBE6E1D1B5}"/>
              </a:ext>
            </a:extLst>
          </p:cNvPr>
          <p:cNvSpPr/>
          <p:nvPr/>
        </p:nvSpPr>
        <p:spPr>
          <a:xfrm>
            <a:off x="389313" y="3036822"/>
            <a:ext cx="1502977" cy="1250552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4A0C37-C41D-65EB-C833-4C14253A92C1}"/>
              </a:ext>
            </a:extLst>
          </p:cNvPr>
          <p:cNvSpPr txBox="1"/>
          <p:nvPr/>
        </p:nvSpPr>
        <p:spPr>
          <a:xfrm>
            <a:off x="2546669" y="1486507"/>
            <a:ext cx="23539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SRL REASONING ENGINE</a:t>
            </a:r>
            <a:endParaRPr lang="ko-KR" altLang="en-US" sz="1000" dirty="0"/>
          </a:p>
        </p:txBody>
      </p:sp>
      <p:pic>
        <p:nvPicPr>
          <p:cNvPr id="28" name="그래픽 27" descr="좌뇌 단색으로 채워진">
            <a:extLst>
              <a:ext uri="{FF2B5EF4-FFF2-40B4-BE49-F238E27FC236}">
                <a16:creationId xmlns:a16="http://schemas.microsoft.com/office/drawing/2014/main" id="{09B407D3-55DF-886B-1E86-BECDECFF2F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41347" y="1473045"/>
            <a:ext cx="259683" cy="259683"/>
          </a:xfrm>
          <a:prstGeom prst="rect">
            <a:avLst/>
          </a:prstGeom>
        </p:spPr>
      </p:pic>
      <p:sp>
        <p:nvSpPr>
          <p:cNvPr id="33" name="Shape 4">
            <a:extLst>
              <a:ext uri="{FF2B5EF4-FFF2-40B4-BE49-F238E27FC236}">
                <a16:creationId xmlns:a16="http://schemas.microsoft.com/office/drawing/2014/main" id="{ACEB2C7E-A26A-71EB-0EFD-DCE3A9171E41}"/>
              </a:ext>
            </a:extLst>
          </p:cNvPr>
          <p:cNvSpPr/>
          <p:nvPr/>
        </p:nvSpPr>
        <p:spPr>
          <a:xfrm>
            <a:off x="484744" y="3352800"/>
            <a:ext cx="498235" cy="208280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Metric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E5AEEE-3FAF-332E-AF95-69EEB3FCA432}"/>
              </a:ext>
            </a:extLst>
          </p:cNvPr>
          <p:cNvSpPr txBox="1"/>
          <p:nvPr/>
        </p:nvSpPr>
        <p:spPr>
          <a:xfrm>
            <a:off x="389313" y="3075629"/>
            <a:ext cx="151621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EXTRACTION ENGINE</a:t>
            </a:r>
            <a:endParaRPr lang="ko-KR" altLang="en-US" sz="900" dirty="0">
              <a:solidFill>
                <a:srgbClr val="0F6E56"/>
              </a:solidFill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549E7837-9884-6C0C-50FB-C856819409B5}"/>
              </a:ext>
            </a:extLst>
          </p:cNvPr>
          <p:cNvSpPr/>
          <p:nvPr/>
        </p:nvSpPr>
        <p:spPr>
          <a:xfrm>
            <a:off x="484744" y="3638550"/>
            <a:ext cx="498235" cy="233111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 err="1">
                <a:solidFill>
                  <a:schemeClr val="bg1"/>
                </a:solidFill>
              </a:rPr>
              <a:t>Internt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0774D115-CD65-E860-C83D-FDD10D051CE7}"/>
              </a:ext>
            </a:extLst>
          </p:cNvPr>
          <p:cNvSpPr/>
          <p:nvPr/>
        </p:nvSpPr>
        <p:spPr>
          <a:xfrm>
            <a:off x="484743" y="3937000"/>
            <a:ext cx="498235" cy="209495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 lIns="36000" tIns="0" rIns="36000" bIns="0" anchor="ctr"/>
          <a:lstStyle/>
          <a:p>
            <a:pPr algn="ctr"/>
            <a:r>
              <a:rPr lang="en-US" altLang="ko-KR" sz="900" dirty="0"/>
              <a:t>Error</a:t>
            </a:r>
            <a:endParaRPr lang="ko-KR" alt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058519-7B04-EBD4-9F20-ABE99A13C919}"/>
              </a:ext>
            </a:extLst>
          </p:cNvPr>
          <p:cNvSpPr txBox="1"/>
          <p:nvPr/>
        </p:nvSpPr>
        <p:spPr>
          <a:xfrm>
            <a:off x="957578" y="3341744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영업이익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(OP)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79B4D4-39BA-DE09-AEDE-6CCBC38DF444}"/>
              </a:ext>
            </a:extLst>
          </p:cNvPr>
          <p:cNvSpPr txBox="1"/>
          <p:nvPr/>
        </p:nvSpPr>
        <p:spPr>
          <a:xfrm>
            <a:off x="957579" y="3656632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하락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 </a:t>
            </a: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요인 분석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212851-B83C-4F4E-64FD-BFC235E749E9}"/>
              </a:ext>
            </a:extLst>
          </p:cNvPr>
          <p:cNvSpPr txBox="1"/>
          <p:nvPr/>
        </p:nvSpPr>
        <p:spPr>
          <a:xfrm>
            <a:off x="957577" y="3951286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축</a:t>
            </a:r>
            <a:r>
              <a:rPr lang="en-US" altLang="ko-KR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(Dim.)</a:t>
            </a: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누락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8" name="Rounded Rectangle 8">
            <a:extLst>
              <a:ext uri="{FF2B5EF4-FFF2-40B4-BE49-F238E27FC236}">
                <a16:creationId xmlns:a16="http://schemas.microsoft.com/office/drawing/2014/main" id="{9B0113DF-0016-512B-3428-3EACD2E0471C}"/>
              </a:ext>
            </a:extLst>
          </p:cNvPr>
          <p:cNvSpPr/>
          <p:nvPr/>
        </p:nvSpPr>
        <p:spPr>
          <a:xfrm>
            <a:off x="2312772" y="1756225"/>
            <a:ext cx="2230653" cy="2585311"/>
          </a:xfrm>
          <a:prstGeom prst="roundRect">
            <a:avLst>
              <a:gd name="adj" fmla="val 3801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9" name="Rounded Rectangle 8">
            <a:extLst>
              <a:ext uri="{FF2B5EF4-FFF2-40B4-BE49-F238E27FC236}">
                <a16:creationId xmlns:a16="http://schemas.microsoft.com/office/drawing/2014/main" id="{DA87FEC2-965D-B69A-5EFA-BF7F9D4B1A16}"/>
              </a:ext>
            </a:extLst>
          </p:cNvPr>
          <p:cNvSpPr/>
          <p:nvPr/>
        </p:nvSpPr>
        <p:spPr>
          <a:xfrm>
            <a:off x="4622406" y="1756225"/>
            <a:ext cx="2230653" cy="2585312"/>
          </a:xfrm>
          <a:prstGeom prst="roundRect">
            <a:avLst>
              <a:gd name="adj" fmla="val 3118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51" name="Rounded Rectangle 8">
            <a:extLst>
              <a:ext uri="{FF2B5EF4-FFF2-40B4-BE49-F238E27FC236}">
                <a16:creationId xmlns:a16="http://schemas.microsoft.com/office/drawing/2014/main" id="{74C773A7-B5A0-45F8-307B-414AA3AEB512}"/>
              </a:ext>
            </a:extLst>
          </p:cNvPr>
          <p:cNvSpPr/>
          <p:nvPr/>
        </p:nvSpPr>
        <p:spPr>
          <a:xfrm>
            <a:off x="2642125" y="2535576"/>
            <a:ext cx="51966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endParaRPr sz="800" dirty="0"/>
          </a:p>
        </p:txBody>
      </p:sp>
      <p:sp>
        <p:nvSpPr>
          <p:cNvPr id="52" name="Rounded Rectangle 8">
            <a:extLst>
              <a:ext uri="{FF2B5EF4-FFF2-40B4-BE49-F238E27FC236}">
                <a16:creationId xmlns:a16="http://schemas.microsoft.com/office/drawing/2014/main" id="{916F8B28-FB22-87E7-5719-79B7F16C3FAB}"/>
              </a:ext>
            </a:extLst>
          </p:cNvPr>
          <p:cNvSpPr/>
          <p:nvPr/>
        </p:nvSpPr>
        <p:spPr>
          <a:xfrm>
            <a:off x="3201929" y="2535576"/>
            <a:ext cx="627507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하락원인분석</a:t>
            </a:r>
            <a:endParaRPr sz="800" dirty="0"/>
          </a:p>
        </p:txBody>
      </p:sp>
      <p:sp>
        <p:nvSpPr>
          <p:cNvPr id="53" name="Rounded Rectangle 8">
            <a:extLst>
              <a:ext uri="{FF2B5EF4-FFF2-40B4-BE49-F238E27FC236}">
                <a16:creationId xmlns:a16="http://schemas.microsoft.com/office/drawing/2014/main" id="{AACF49E8-6CC5-1D7B-0124-E482612EA236}"/>
              </a:ext>
            </a:extLst>
          </p:cNvPr>
          <p:cNvSpPr/>
          <p:nvPr/>
        </p:nvSpPr>
        <p:spPr>
          <a:xfrm>
            <a:off x="2800521" y="2922632"/>
            <a:ext cx="75878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solidFill>
              <a:srgbClr val="239C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r>
              <a:rPr lang="en-US" altLang="ko-KR" sz="800" dirty="0"/>
              <a:t>(</a:t>
            </a:r>
            <a:r>
              <a:rPr lang="ko-KR" altLang="en-US" sz="800" dirty="0"/>
              <a:t>지표</a:t>
            </a:r>
            <a:r>
              <a:rPr lang="en-US" altLang="ko-KR" sz="800" dirty="0"/>
              <a:t>)</a:t>
            </a:r>
            <a:endParaRPr sz="800" dirty="0"/>
          </a:p>
        </p:txBody>
      </p:sp>
      <p:sp>
        <p:nvSpPr>
          <p:cNvPr id="54" name="Rounded Rectangle 8">
            <a:extLst>
              <a:ext uri="{FF2B5EF4-FFF2-40B4-BE49-F238E27FC236}">
                <a16:creationId xmlns:a16="http://schemas.microsoft.com/office/drawing/2014/main" id="{29BD22C9-E593-B8CF-F473-5D29E0BE089A}"/>
              </a:ext>
            </a:extLst>
          </p:cNvPr>
          <p:cNvSpPr/>
          <p:nvPr/>
        </p:nvSpPr>
        <p:spPr>
          <a:xfrm>
            <a:off x="2368860" y="3982890"/>
            <a:ext cx="6011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지역</a:t>
            </a:r>
            <a:endParaRPr sz="800" dirty="0"/>
          </a:p>
        </p:txBody>
      </p:sp>
      <p:sp>
        <p:nvSpPr>
          <p:cNvPr id="55" name="Rounded Rectangle 8">
            <a:extLst>
              <a:ext uri="{FF2B5EF4-FFF2-40B4-BE49-F238E27FC236}">
                <a16:creationId xmlns:a16="http://schemas.microsoft.com/office/drawing/2014/main" id="{78C934AA-2A62-4935-905F-9175F8EE8DFA}"/>
              </a:ext>
            </a:extLst>
          </p:cNvPr>
          <p:cNvSpPr/>
          <p:nvPr/>
        </p:nvSpPr>
        <p:spPr>
          <a:xfrm>
            <a:off x="2866244" y="3633395"/>
            <a:ext cx="62052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다차원 분해</a:t>
            </a:r>
            <a:endParaRPr sz="800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EFA2DE4A-D5D5-AA3C-2321-FDEAB7E44696}"/>
              </a:ext>
            </a:extLst>
          </p:cNvPr>
          <p:cNvSpPr/>
          <p:nvPr/>
        </p:nvSpPr>
        <p:spPr>
          <a:xfrm>
            <a:off x="3074815" y="3981073"/>
            <a:ext cx="6025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제품</a:t>
            </a:r>
            <a:endParaRPr sz="800" dirty="0"/>
          </a:p>
        </p:txBody>
      </p:sp>
      <p:sp>
        <p:nvSpPr>
          <p:cNvPr id="57" name="Rounded Rectangle 8">
            <a:extLst>
              <a:ext uri="{FF2B5EF4-FFF2-40B4-BE49-F238E27FC236}">
                <a16:creationId xmlns:a16="http://schemas.microsoft.com/office/drawing/2014/main" id="{C4551342-831C-D3D6-113B-0D5B32559809}"/>
              </a:ext>
            </a:extLst>
          </p:cNvPr>
          <p:cNvSpPr/>
          <p:nvPr/>
        </p:nvSpPr>
        <p:spPr>
          <a:xfrm>
            <a:off x="3805964" y="3982890"/>
            <a:ext cx="624141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시계열</a:t>
            </a:r>
            <a:endParaRPr sz="800" dirty="0"/>
          </a:p>
        </p:txBody>
      </p:sp>
      <p:sp>
        <p:nvSpPr>
          <p:cNvPr id="58" name="Rounded Rectangle 8">
            <a:extLst>
              <a:ext uri="{FF2B5EF4-FFF2-40B4-BE49-F238E27FC236}">
                <a16:creationId xmlns:a16="http://schemas.microsoft.com/office/drawing/2014/main" id="{9D379907-B1A6-7199-DEF0-D3065B6B96AD}"/>
              </a:ext>
            </a:extLst>
          </p:cNvPr>
          <p:cNvSpPr/>
          <p:nvPr/>
        </p:nvSpPr>
        <p:spPr>
          <a:xfrm>
            <a:off x="3909159" y="3478246"/>
            <a:ext cx="567401" cy="188086"/>
          </a:xfrm>
          <a:prstGeom prst="roundRect">
            <a:avLst>
              <a:gd name="adj" fmla="val 18423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적정 재고 현황</a:t>
            </a:r>
            <a:endParaRPr sz="800" dirty="0">
              <a:solidFill>
                <a:srgbClr val="FFD849"/>
              </a:solidFill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07E51FF8-3F27-68A9-E857-C5DF58F7E0AC}"/>
              </a:ext>
            </a:extLst>
          </p:cNvPr>
          <p:cNvSpPr/>
          <p:nvPr/>
        </p:nvSpPr>
        <p:spPr>
          <a:xfrm>
            <a:off x="3876027" y="2919846"/>
            <a:ext cx="624141" cy="18808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인과성 발견</a:t>
            </a:r>
            <a:r>
              <a:rPr lang="en-US" altLang="ko-KR" sz="800" dirty="0">
                <a:solidFill>
                  <a:schemeClr val="tx1"/>
                </a:solidFill>
              </a:rPr>
              <a:t>!</a:t>
            </a:r>
            <a:endParaRPr sz="800" dirty="0">
              <a:solidFill>
                <a:schemeClr val="tx1"/>
              </a:solidFill>
            </a:endParaRP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79D06DF3-90FC-4A4C-5B53-D48995B03FC7}"/>
              </a:ext>
            </a:extLst>
          </p:cNvPr>
          <p:cNvCxnSpPr/>
          <p:nvPr/>
        </p:nvCxnSpPr>
        <p:spPr>
          <a:xfrm>
            <a:off x="3176505" y="3700030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DB3EB525-D968-45CA-8B73-06271FD9CEAD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2669424" y="3821481"/>
            <a:ext cx="507081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048F76B1-9C76-D211-ABFD-7276C78BDFA3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3176505" y="3821481"/>
            <a:ext cx="199574" cy="159592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D4CF7F5A-13A6-C848-3D46-37F5B3DBDE28}"/>
              </a:ext>
            </a:extLst>
          </p:cNvPr>
          <p:cNvCxnSpPr>
            <a:cxnSpLocks/>
            <a:stCxn id="55" idx="2"/>
            <a:endCxn id="57" idx="0"/>
          </p:cNvCxnSpPr>
          <p:nvPr/>
        </p:nvCxnSpPr>
        <p:spPr>
          <a:xfrm>
            <a:off x="3176505" y="3821481"/>
            <a:ext cx="941530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7FA39760-1D00-453C-1735-66C91FEE8AF2}"/>
              </a:ext>
            </a:extLst>
          </p:cNvPr>
          <p:cNvCxnSpPr>
            <a:stCxn id="51" idx="2"/>
            <a:endCxn id="53" idx="0"/>
          </p:cNvCxnSpPr>
          <p:nvPr/>
        </p:nvCxnSpPr>
        <p:spPr>
          <a:xfrm>
            <a:off x="2901956" y="2723662"/>
            <a:ext cx="277956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83C82BDE-9CDE-D965-D9C5-D3F6F0401DD4}"/>
              </a:ext>
            </a:extLst>
          </p:cNvPr>
          <p:cNvCxnSpPr>
            <a:cxnSpLocks/>
            <a:stCxn id="52" idx="2"/>
            <a:endCxn id="53" idx="0"/>
          </p:cNvCxnSpPr>
          <p:nvPr/>
        </p:nvCxnSpPr>
        <p:spPr>
          <a:xfrm flipH="1">
            <a:off x="3179912" y="2723662"/>
            <a:ext cx="335771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D46B889D-1CCC-960F-097F-94D8AAC68B23}"/>
              </a:ext>
            </a:extLst>
          </p:cNvPr>
          <p:cNvCxnSpPr>
            <a:stCxn id="53" idx="2"/>
            <a:endCxn id="55" idx="0"/>
          </p:cNvCxnSpPr>
          <p:nvPr/>
        </p:nvCxnSpPr>
        <p:spPr>
          <a:xfrm flipH="1">
            <a:off x="3176505" y="3110718"/>
            <a:ext cx="3407" cy="522677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8">
            <a:extLst>
              <a:ext uri="{FF2B5EF4-FFF2-40B4-BE49-F238E27FC236}">
                <a16:creationId xmlns:a16="http://schemas.microsoft.com/office/drawing/2014/main" id="{729CFF3D-7D55-3553-6D1C-6832D9B67B95}"/>
              </a:ext>
            </a:extLst>
          </p:cNvPr>
          <p:cNvSpPr/>
          <p:nvPr/>
        </p:nvSpPr>
        <p:spPr>
          <a:xfrm>
            <a:off x="2500371" y="3281252"/>
            <a:ext cx="1344836" cy="188086"/>
          </a:xfrm>
          <a:prstGeom prst="roundRect">
            <a:avLst>
              <a:gd name="adj" fmla="val 50000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탐색 중단 </a:t>
            </a:r>
            <a:r>
              <a:rPr lang="en-US" altLang="ko-KR" sz="800" dirty="0">
                <a:solidFill>
                  <a:srgbClr val="FFD849"/>
                </a:solidFill>
              </a:rPr>
              <a:t>: </a:t>
            </a:r>
            <a:r>
              <a:rPr lang="ko-KR" altLang="en-US" sz="800" dirty="0">
                <a:solidFill>
                  <a:srgbClr val="FFD849"/>
                </a:solidFill>
              </a:rPr>
              <a:t>다차원 분해 축 누락</a:t>
            </a:r>
            <a:endParaRPr sz="800" dirty="0">
              <a:solidFill>
                <a:schemeClr val="bg1"/>
              </a:solidFill>
            </a:endParaRPr>
          </a:p>
        </p:txBody>
      </p: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8D2E6A25-8F1B-BEAB-DC97-C099DB6B7063}"/>
              </a:ext>
            </a:extLst>
          </p:cNvPr>
          <p:cNvCxnSpPr>
            <a:cxnSpLocks/>
            <a:stCxn id="59" idx="1"/>
            <a:endCxn id="53" idx="3"/>
          </p:cNvCxnSpPr>
          <p:nvPr/>
        </p:nvCxnSpPr>
        <p:spPr>
          <a:xfrm flipH="1">
            <a:off x="3559302" y="3013889"/>
            <a:ext cx="316725" cy="2786"/>
          </a:xfrm>
          <a:prstGeom prst="line">
            <a:avLst/>
          </a:prstGeom>
          <a:ln>
            <a:solidFill>
              <a:schemeClr val="accent4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81A135B7-A2DD-FB77-CCC0-696F5EEBA35D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>
            <a:off x="4188098" y="3107932"/>
            <a:ext cx="4762" cy="370314"/>
          </a:xfrm>
          <a:prstGeom prst="line">
            <a:avLst/>
          </a:prstGeom>
          <a:ln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D70B000-52F0-CC53-FB54-9180586B65FB}"/>
              </a:ext>
            </a:extLst>
          </p:cNvPr>
          <p:cNvSpPr txBox="1"/>
          <p:nvPr/>
        </p:nvSpPr>
        <p:spPr>
          <a:xfrm>
            <a:off x="2332294" y="1805112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STEP2.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탐색 및 인과성 발견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99" name="Google Shape;142;p13">
            <a:extLst>
              <a:ext uri="{FF2B5EF4-FFF2-40B4-BE49-F238E27FC236}">
                <a16:creationId xmlns:a16="http://schemas.microsoft.com/office/drawing/2014/main" id="{DB8D918E-0E50-31A0-F6EB-89CCBEFC35E7}"/>
              </a:ext>
            </a:extLst>
          </p:cNvPr>
          <p:cNvSpPr txBox="1"/>
          <p:nvPr/>
        </p:nvSpPr>
        <p:spPr>
          <a:xfrm>
            <a:off x="2437340" y="2062280"/>
            <a:ext cx="20745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엔티티 맵핑으로 모호성을 해결하고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그래프상 인접한 중요 연관 지표를 자동 식별합니다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43B0CD-2AFC-F6A2-1AD6-B892B8E075BD}"/>
              </a:ext>
            </a:extLst>
          </p:cNvPr>
          <p:cNvSpPr txBox="1"/>
          <p:nvPr/>
        </p:nvSpPr>
        <p:spPr>
          <a:xfrm>
            <a:off x="4636289" y="1798951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STEP3.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결정적 경로 확정 및 연산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07" name="Google Shape;142;p13">
            <a:extLst>
              <a:ext uri="{FF2B5EF4-FFF2-40B4-BE49-F238E27FC236}">
                <a16:creationId xmlns:a16="http://schemas.microsoft.com/office/drawing/2014/main" id="{E2D92806-3B04-AAA7-5686-F26F38AD4990}"/>
              </a:ext>
            </a:extLst>
          </p:cNvPr>
          <p:cNvSpPr txBox="1"/>
          <p:nvPr/>
        </p:nvSpPr>
        <p:spPr>
          <a:xfrm>
            <a:off x="4717251" y="2062280"/>
            <a:ext cx="20557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역질문을 통해 모호성이 제거되면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100%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무결성의 단일 경로를 확정하여 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DAG SQL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로 컴파일합니다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8" name="Rounded Rectangle 8">
            <a:extLst>
              <a:ext uri="{FF2B5EF4-FFF2-40B4-BE49-F238E27FC236}">
                <a16:creationId xmlns:a16="http://schemas.microsoft.com/office/drawing/2014/main" id="{FAC3AA34-C6E3-F6D6-27E6-6F32D57A28B3}"/>
              </a:ext>
            </a:extLst>
          </p:cNvPr>
          <p:cNvSpPr/>
          <p:nvPr/>
        </p:nvSpPr>
        <p:spPr>
          <a:xfrm>
            <a:off x="331552" y="4341537"/>
            <a:ext cx="1631734" cy="4772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 cap="flat" cmpd="sng" algn="ctr">
            <a:solidFill>
              <a:srgbClr val="EF444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900" dirty="0">
                <a:solidFill>
                  <a:srgbClr val="C00000"/>
                </a:solidFill>
              </a:rPr>
              <a:t>↖ 축</a:t>
            </a:r>
            <a:r>
              <a:rPr lang="en-US" altLang="ko-KR" sz="900" dirty="0">
                <a:solidFill>
                  <a:srgbClr val="C00000"/>
                </a:solidFill>
              </a:rPr>
              <a:t>(Dim.) </a:t>
            </a:r>
            <a:r>
              <a:rPr lang="ko-KR" altLang="en-US" sz="900" dirty="0">
                <a:solidFill>
                  <a:srgbClr val="C00000"/>
                </a:solidFill>
              </a:rPr>
              <a:t>모호성 감지 시 역 질문</a:t>
            </a:r>
            <a:r>
              <a:rPr lang="en-US" altLang="ko-KR" sz="900" dirty="0">
                <a:solidFill>
                  <a:srgbClr val="C00000"/>
                </a:solidFill>
              </a:rPr>
              <a:t>( Human-in-the-loop)</a:t>
            </a:r>
            <a:endParaRPr sz="900" dirty="0">
              <a:solidFill>
                <a:srgbClr val="C00000"/>
              </a:solidFill>
            </a:endParaRP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DB7D9BA5-2988-FF0A-3760-C3A4B3AC391E}"/>
              </a:ext>
            </a:extLst>
          </p:cNvPr>
          <p:cNvCxnSpPr>
            <a:cxnSpLocks/>
            <a:stCxn id="7" idx="1"/>
            <a:endCxn id="108" idx="3"/>
          </p:cNvCxnSpPr>
          <p:nvPr/>
        </p:nvCxnSpPr>
        <p:spPr>
          <a:xfrm rot="10800000" flipV="1">
            <a:off x="1963287" y="2890637"/>
            <a:ext cx="262067" cy="1689514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8">
            <a:extLst>
              <a:ext uri="{FF2B5EF4-FFF2-40B4-BE49-F238E27FC236}">
                <a16:creationId xmlns:a16="http://schemas.microsoft.com/office/drawing/2014/main" id="{1153C1FA-838E-3838-E3FA-EBBD85B8D61F}"/>
              </a:ext>
            </a:extLst>
          </p:cNvPr>
          <p:cNvSpPr/>
          <p:nvPr/>
        </p:nvSpPr>
        <p:spPr>
          <a:xfrm>
            <a:off x="5236483" y="2571801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</a:t>
            </a:r>
            <a:r>
              <a:rPr lang="ko-KR" altLang="en-US" sz="800" dirty="0" err="1"/>
              <a:t>다처원</a:t>
            </a:r>
            <a:r>
              <a:rPr lang="ko-KR" altLang="en-US" sz="800" dirty="0"/>
              <a:t> 분해</a:t>
            </a:r>
            <a:endParaRPr sz="800" dirty="0"/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935BAC5E-D64C-EA8E-9642-0ED70A19F62F}"/>
              </a:ext>
            </a:extLst>
          </p:cNvPr>
          <p:cNvSpPr/>
          <p:nvPr/>
        </p:nvSpPr>
        <p:spPr>
          <a:xfrm>
            <a:off x="5236483" y="282506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2DD4BF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지역</a:t>
            </a:r>
            <a:r>
              <a:rPr lang="en-US" altLang="ko-KR" sz="800" dirty="0">
                <a:solidFill>
                  <a:schemeClr val="tx1"/>
                </a:solidFill>
              </a:rPr>
              <a:t>(Region) </a:t>
            </a:r>
            <a:r>
              <a:rPr lang="ko-KR" altLang="en-US" sz="800" dirty="0">
                <a:solidFill>
                  <a:schemeClr val="tx1"/>
                </a:solidFill>
              </a:rPr>
              <a:t>축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162" name="Rounded Rectangle 8">
            <a:extLst>
              <a:ext uri="{FF2B5EF4-FFF2-40B4-BE49-F238E27FC236}">
                <a16:creationId xmlns:a16="http://schemas.microsoft.com/office/drawing/2014/main" id="{3CC239E8-74C0-57C8-4890-C829808A52A8}"/>
              </a:ext>
            </a:extLst>
          </p:cNvPr>
          <p:cNvSpPr/>
          <p:nvPr/>
        </p:nvSpPr>
        <p:spPr>
          <a:xfrm>
            <a:off x="4889600" y="3142867"/>
            <a:ext cx="1687086" cy="188086"/>
          </a:xfrm>
          <a:prstGeom prst="roundRect">
            <a:avLst>
              <a:gd name="adj" fmla="val 18423"/>
            </a:avLst>
          </a:prstGeom>
          <a:solidFill>
            <a:srgbClr val="FEFFFF">
              <a:alpha val="16000"/>
            </a:srgbClr>
          </a:solidFill>
          <a:ln w="6350" cap="flat" cmpd="sng" algn="ctr">
            <a:solidFill>
              <a:srgbClr val="2DD4B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☞ 차원 및 지표 조회 규칙 검증</a:t>
            </a:r>
            <a:endParaRPr sz="8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8605B310-5B0A-D8F7-12DE-AD4950C14AF6}"/>
              </a:ext>
            </a:extLst>
          </p:cNvPr>
          <p:cNvCxnSpPr>
            <a:cxnSpLocks/>
            <a:stCxn id="157" idx="2"/>
            <a:endCxn id="158" idx="0"/>
          </p:cNvCxnSpPr>
          <p:nvPr/>
        </p:nvCxnSpPr>
        <p:spPr>
          <a:xfrm>
            <a:off x="5733144" y="2759887"/>
            <a:ext cx="0" cy="65181"/>
          </a:xfrm>
          <a:prstGeom prst="line">
            <a:avLst/>
          </a:prstGeom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3FEC471E-1FDE-F6FD-BD39-721A6346D5E4}"/>
              </a:ext>
            </a:extLst>
          </p:cNvPr>
          <p:cNvCxnSpPr>
            <a:endCxn id="162" idx="0"/>
          </p:cNvCxnSpPr>
          <p:nvPr/>
        </p:nvCxnSpPr>
        <p:spPr>
          <a:xfrm flipH="1">
            <a:off x="5733143" y="2911554"/>
            <a:ext cx="1" cy="231313"/>
          </a:xfrm>
          <a:prstGeom prst="straightConnector1">
            <a:avLst/>
          </a:prstGeom>
          <a:ln w="12700">
            <a:solidFill>
              <a:srgbClr val="2DD4B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ounded Rectangle 8">
            <a:extLst>
              <a:ext uri="{FF2B5EF4-FFF2-40B4-BE49-F238E27FC236}">
                <a16:creationId xmlns:a16="http://schemas.microsoft.com/office/drawing/2014/main" id="{EFAE0B98-1D12-32BB-475A-5105B3ED7A32}"/>
              </a:ext>
            </a:extLst>
          </p:cNvPr>
          <p:cNvSpPr/>
          <p:nvPr/>
        </p:nvSpPr>
        <p:spPr>
          <a:xfrm>
            <a:off x="4730015" y="3400415"/>
            <a:ext cx="2041012" cy="848821"/>
          </a:xfrm>
          <a:prstGeom prst="roundRect">
            <a:avLst>
              <a:gd name="adj" fmla="val 18423"/>
            </a:avLst>
          </a:prstGeom>
          <a:solidFill>
            <a:srgbClr val="000000"/>
          </a:solidFill>
          <a:ln w="6350" cap="flat" cmpd="sng" algn="ctr">
            <a:solidFill>
              <a:srgbClr val="0C2D2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0" rIns="0" bIns="0" rtlCol="0" anchor="ctr"/>
          <a:lstStyle/>
          <a:p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//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Verified</a:t>
            </a:r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DAG SQL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Compiled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SELECT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r.Region_Nm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, SUM(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f.Sales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f.Cost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) AS OP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FROM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Enterprise_Fact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</a:t>
            </a:r>
            <a:br>
              <a:rPr lang="ko-KR" altLang="ko-KR" sz="600" dirty="0"/>
            </a:b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JOIN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Dim_Region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ON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f.region_cd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=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r.region_cd</a:t>
            </a:r>
            <a:r>
              <a:rPr lang="en-US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</a:p>
          <a:p>
            <a:r>
              <a:rPr lang="en-US" sz="600" b="1" dirty="0">
                <a:solidFill>
                  <a:srgbClr val="FDE047"/>
                </a:solidFill>
                <a:latin typeface="SUIT" pitchFamily="2" charset="-127"/>
                <a:ea typeface="SUIT" pitchFamily="2" charset="-127"/>
              </a:rPr>
              <a:t>……</a:t>
            </a:r>
            <a:endParaRPr sz="6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79" name="그래픽 175">
            <a:extLst>
              <a:ext uri="{FF2B5EF4-FFF2-40B4-BE49-F238E27FC236}">
                <a16:creationId xmlns:a16="http://schemas.microsoft.com/office/drawing/2014/main" id="{6B73F0ED-DEE9-B25F-D876-E7B40FB56F01}"/>
              </a:ext>
            </a:extLst>
          </p:cNvPr>
          <p:cNvSpPr/>
          <p:nvPr/>
        </p:nvSpPr>
        <p:spPr>
          <a:xfrm>
            <a:off x="7247311" y="2728784"/>
            <a:ext cx="1524543" cy="278238"/>
          </a:xfrm>
          <a:prstGeom prst="roundRect">
            <a:avLst>
              <a:gd name="adj" fmla="val 15767"/>
            </a:avLst>
          </a:prstGeom>
          <a:solidFill>
            <a:srgbClr val="28B0A3"/>
          </a:solidFill>
          <a:ln w="2930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자유형: 도형 177">
            <a:extLst>
              <a:ext uri="{FF2B5EF4-FFF2-40B4-BE49-F238E27FC236}">
                <a16:creationId xmlns:a16="http://schemas.microsoft.com/office/drawing/2014/main" id="{9F4A7A34-2247-FB4E-AF31-F2127A3DC84B}"/>
              </a:ext>
            </a:extLst>
          </p:cNvPr>
          <p:cNvSpPr/>
          <p:nvPr/>
        </p:nvSpPr>
        <p:spPr>
          <a:xfrm>
            <a:off x="7302595" y="2783703"/>
            <a:ext cx="179654" cy="160065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4" name="Rounded Rectangle 8">
            <a:extLst>
              <a:ext uri="{FF2B5EF4-FFF2-40B4-BE49-F238E27FC236}">
                <a16:creationId xmlns:a16="http://schemas.microsoft.com/office/drawing/2014/main" id="{4481272A-72B2-21FD-0F13-79E715F99E4F}"/>
              </a:ext>
            </a:extLst>
          </p:cNvPr>
          <p:cNvSpPr/>
          <p:nvPr/>
        </p:nvSpPr>
        <p:spPr>
          <a:xfrm>
            <a:off x="7601722" y="277667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다차원 분해</a:t>
            </a:r>
            <a:endParaRPr sz="800" dirty="0"/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3E672A31-13A3-A865-7175-A9689261EF9F}"/>
              </a:ext>
            </a:extLst>
          </p:cNvPr>
          <p:cNvSpPr/>
          <p:nvPr/>
        </p:nvSpPr>
        <p:spPr>
          <a:xfrm>
            <a:off x="7247311" y="3102162"/>
            <a:ext cx="1524545" cy="1185212"/>
          </a:xfrm>
          <a:prstGeom prst="roundRect">
            <a:avLst>
              <a:gd name="adj" fmla="val 613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17F5AD44-363D-1365-FC11-EF48BBBC09DA}"/>
              </a:ext>
            </a:extLst>
          </p:cNvPr>
          <p:cNvSpPr txBox="1"/>
          <p:nvPr/>
        </p:nvSpPr>
        <p:spPr>
          <a:xfrm>
            <a:off x="7270623" y="3204541"/>
            <a:ext cx="1524542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탐색 결과, 영업이익 하락과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 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[적정 재고 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미달성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]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간의  연관성이 식별되었습니다. 이를 기본 시나리오에 추가할까요?"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185" name="그래픽 184" descr="전구 단색으로 채워진">
            <a:extLst>
              <a:ext uri="{FF2B5EF4-FFF2-40B4-BE49-F238E27FC236}">
                <a16:creationId xmlns:a16="http://schemas.microsoft.com/office/drawing/2014/main" id="{C4A85410-79B5-1C07-76D2-62B7B18F3A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3739" y="3176259"/>
            <a:ext cx="228608" cy="228608"/>
          </a:xfrm>
          <a:prstGeom prst="rect">
            <a:avLst/>
          </a:prstGeom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5480D34D-DB6B-0DDB-C145-A6285121CBDA}"/>
              </a:ext>
            </a:extLst>
          </p:cNvPr>
          <p:cNvSpPr/>
          <p:nvPr/>
        </p:nvSpPr>
        <p:spPr>
          <a:xfrm>
            <a:off x="2182367" y="4451432"/>
            <a:ext cx="6709471" cy="402757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7399409-9485-04DC-30FA-D3A4F026A324}"/>
              </a:ext>
            </a:extLst>
          </p:cNvPr>
          <p:cNvSpPr txBox="1"/>
          <p:nvPr/>
        </p:nvSpPr>
        <p:spPr>
          <a:xfrm>
            <a:off x="2236955" y="4526652"/>
            <a:ext cx="65195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환각 위험이 있는 임의 해석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및 추론을 배제하고 구조화된 추론으로 정확하게 매핑하며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연관성을 감지해 분석을 확장합니다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560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F5E1D-DF62-198A-D5BE-0F868F15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305033C6-F08C-52D7-A25E-D02584E93CAA}"/>
              </a:ext>
            </a:extLst>
          </p:cNvPr>
          <p:cNvCxnSpPr/>
          <p:nvPr/>
        </p:nvCxnSpPr>
        <p:spPr>
          <a:xfrm>
            <a:off x="594360" y="1679076"/>
            <a:ext cx="8001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C431CDF-20FD-D41F-6E9E-31BD44ECCB50}"/>
              </a:ext>
            </a:extLst>
          </p:cNvPr>
          <p:cNvSpPr/>
          <p:nvPr/>
        </p:nvSpPr>
        <p:spPr>
          <a:xfrm>
            <a:off x="193168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1DF69F15-AAFA-AB9B-17E5-11383C171F80}"/>
              </a:ext>
            </a:extLst>
          </p:cNvPr>
          <p:cNvSpPr txBox="1"/>
          <p:nvPr/>
        </p:nvSpPr>
        <p:spPr>
          <a:xfrm>
            <a:off x="270510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텍스트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도형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표가 혼재된 비정형 문서 및 정량적 엑셀 데이터를 포맷의 제약 없이 일괄 수집합니다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50F4427-E927-A386-025B-9D1DF1653E76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8836587-772D-6EF3-DEA9-B6A5587F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Document Parser - </a:t>
            </a:r>
            <a:r>
              <a:rPr lang="ko-KR" altLang="en-US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8B9D4DA-3E92-63EC-9058-B63354E6E0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B491B26-63B1-3191-EF62-F65F4B8C44A2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기업 내 방치된 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정성·정량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, 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정형·비정형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문서(PDF, 엑셀</a:t>
            </a:r>
            <a:r>
              <a:rPr lang="en-US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등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를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AI가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스스로 읽고 해석하여 데이터로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 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자동 마이그레이션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합니다. 단순 텍스트 추출을 넘어 다단 레이아웃, 복잡한 표(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Table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) 구조의 맥락까지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파싱하는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'완전 자동화 지식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자산화'를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구현합니다.</a:t>
            </a:r>
            <a:endParaRPr lang="en-US" altLang="ko-KR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65B75-E400-40B6-9470-BA95A6FD573C}"/>
              </a:ext>
            </a:extLst>
          </p:cNvPr>
          <p:cNvSpPr txBox="1"/>
          <p:nvPr/>
        </p:nvSpPr>
        <p:spPr>
          <a:xfrm>
            <a:off x="619505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b="1" i="0" dirty="0" err="1">
                <a:solidFill>
                  <a:srgbClr val="0F172A"/>
                </a:solidFill>
                <a:effectLst/>
                <a:latin typeface="+mn-ea"/>
              </a:rPr>
              <a:t>인입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" name="Rounded Rectangle 8">
            <a:extLst>
              <a:ext uri="{FF2B5EF4-FFF2-40B4-BE49-F238E27FC236}">
                <a16:creationId xmlns:a16="http://schemas.microsoft.com/office/drawing/2014/main" id="{12242DC4-01D4-6BE7-02CD-D23460132321}"/>
              </a:ext>
            </a:extLst>
          </p:cNvPr>
          <p:cNvSpPr/>
          <p:nvPr/>
        </p:nvSpPr>
        <p:spPr>
          <a:xfrm>
            <a:off x="4383249" y="2838532"/>
            <a:ext cx="4314335" cy="1780709"/>
          </a:xfrm>
          <a:prstGeom prst="roundRect">
            <a:avLst>
              <a:gd name="adj" fmla="val 12528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F8BE98-4245-7F3E-AB6B-DDCF853AE41E}"/>
              </a:ext>
            </a:extLst>
          </p:cNvPr>
          <p:cNvSpPr txBox="1"/>
          <p:nvPr/>
        </p:nvSpPr>
        <p:spPr>
          <a:xfrm>
            <a:off x="4545249" y="3593406"/>
            <a:ext cx="4061947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단순 문서 저장을 넘어 사내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각 종 문서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를 통합·적재하고, 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문서 위키화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지식 관계망 형성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태그 기반 연관 탐색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으로 이어지는 답변 제공 플로우를 구현합니다. </a:t>
            </a:r>
            <a:endParaRPr lang="ko-KR" altLang="en-US" sz="11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C0A6FC8-DC3C-2914-1312-15AD2EA79CD4}"/>
              </a:ext>
            </a:extLst>
          </p:cNvPr>
          <p:cNvSpPr txBox="1"/>
          <p:nvPr/>
        </p:nvSpPr>
        <p:spPr>
          <a:xfrm>
            <a:off x="5067807" y="2988960"/>
            <a:ext cx="3527553" cy="638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문서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를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살아있는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AI 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데이터 베이스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’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로 </a:t>
            </a:r>
            <a:endParaRPr lang="en-US" altLang="ko-KR" sz="1400" b="1" i="0" dirty="0">
              <a:solidFill>
                <a:srgbClr val="0D9488"/>
              </a:solidFill>
              <a:effectLst/>
              <a:latin typeface="+mn-ea"/>
            </a:endParaRPr>
          </a:p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실시간 마이그레이션</a:t>
            </a: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1C620C06-7E28-9AA5-0EC6-7E1DDA2E5D26}"/>
              </a:ext>
            </a:extLst>
          </p:cNvPr>
          <p:cNvSpPr/>
          <p:nvPr/>
        </p:nvSpPr>
        <p:spPr>
          <a:xfrm>
            <a:off x="317640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0" name="사각형: 둥근 모서리 289">
            <a:extLst>
              <a:ext uri="{FF2B5EF4-FFF2-40B4-BE49-F238E27FC236}">
                <a16:creationId xmlns:a16="http://schemas.microsoft.com/office/drawing/2014/main" id="{D3B7EDCA-2C4D-5AA2-EABA-125EC506B928}"/>
              </a:ext>
            </a:extLst>
          </p:cNvPr>
          <p:cNvSpPr/>
          <p:nvPr/>
        </p:nvSpPr>
        <p:spPr>
          <a:xfrm>
            <a:off x="2421649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1" name="사각형: 둥근 모서리 290">
            <a:extLst>
              <a:ext uri="{FF2B5EF4-FFF2-40B4-BE49-F238E27FC236}">
                <a16:creationId xmlns:a16="http://schemas.microsoft.com/office/drawing/2014/main" id="{86956B86-25E1-B3E0-8D9D-E98204BFF639}"/>
              </a:ext>
            </a:extLst>
          </p:cNvPr>
          <p:cNvSpPr/>
          <p:nvPr/>
        </p:nvSpPr>
        <p:spPr>
          <a:xfrm>
            <a:off x="4650130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2" name="사각형: 둥근 모서리 291">
            <a:extLst>
              <a:ext uri="{FF2B5EF4-FFF2-40B4-BE49-F238E27FC236}">
                <a16:creationId xmlns:a16="http://schemas.microsoft.com/office/drawing/2014/main" id="{2CE7CBA5-13D9-020E-0D9B-CC12DAFF2F98}"/>
              </a:ext>
            </a:extLst>
          </p:cNvPr>
          <p:cNvSpPr/>
          <p:nvPr/>
        </p:nvSpPr>
        <p:spPr>
          <a:xfrm>
            <a:off x="6878612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29132C7-1CC2-B531-AC56-BD44B1380750}"/>
              </a:ext>
            </a:extLst>
          </p:cNvPr>
          <p:cNvSpPr txBox="1"/>
          <p:nvPr/>
        </p:nvSpPr>
        <p:spPr>
          <a:xfrm>
            <a:off x="2843656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6" name="Shape 4">
            <a:extLst>
              <a:ext uri="{FF2B5EF4-FFF2-40B4-BE49-F238E27FC236}">
                <a16:creationId xmlns:a16="http://schemas.microsoft.com/office/drawing/2014/main" id="{4C07E511-718C-3540-C085-01192C9906AB}"/>
              </a:ext>
            </a:extLst>
          </p:cNvPr>
          <p:cNvSpPr/>
          <p:nvPr/>
        </p:nvSpPr>
        <p:spPr>
          <a:xfrm>
            <a:off x="2548572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9704D61D-D9F8-ED91-1270-09A23C5C08A7}"/>
              </a:ext>
            </a:extLst>
          </p:cNvPr>
          <p:cNvSpPr txBox="1"/>
          <p:nvPr/>
        </p:nvSpPr>
        <p:spPr>
          <a:xfrm>
            <a:off x="506780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43F99788-F448-A30A-44D6-D951F72AFCBB}"/>
              </a:ext>
            </a:extLst>
          </p:cNvPr>
          <p:cNvSpPr txBox="1"/>
          <p:nvPr/>
        </p:nvSpPr>
        <p:spPr>
          <a:xfrm>
            <a:off x="729195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DB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자동 마이그레이션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9" name="Shape 4">
            <a:extLst>
              <a:ext uri="{FF2B5EF4-FFF2-40B4-BE49-F238E27FC236}">
                <a16:creationId xmlns:a16="http://schemas.microsoft.com/office/drawing/2014/main" id="{E6AD4017-9291-5B00-3A79-9EA9468632D9}"/>
              </a:ext>
            </a:extLst>
          </p:cNvPr>
          <p:cNvSpPr/>
          <p:nvPr/>
        </p:nvSpPr>
        <p:spPr>
          <a:xfrm>
            <a:off x="4779504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Shape 4">
            <a:extLst>
              <a:ext uri="{FF2B5EF4-FFF2-40B4-BE49-F238E27FC236}">
                <a16:creationId xmlns:a16="http://schemas.microsoft.com/office/drawing/2014/main" id="{C78488BB-C808-7A18-2C17-190771BF94D6}"/>
              </a:ext>
            </a:extLst>
          </p:cNvPr>
          <p:cNvSpPr/>
          <p:nvPr/>
        </p:nvSpPr>
        <p:spPr>
          <a:xfrm>
            <a:off x="7010436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926DCA33-ABD3-7501-570D-19F9E40A6134}"/>
              </a:ext>
            </a:extLst>
          </p:cNvPr>
          <p:cNvSpPr txBox="1"/>
          <p:nvPr/>
        </p:nvSpPr>
        <p:spPr>
          <a:xfrm>
            <a:off x="2495026" y="1842539"/>
            <a:ext cx="2007505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다중 레이아웃 등 구조를 완벽히 식별하여 원본 데이터의 문서 및 흐름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맥락을 정확히 추출합니다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27A7EEE-053F-3EE9-EF36-EAB66408D60C}"/>
              </a:ext>
            </a:extLst>
          </p:cNvPr>
          <p:cNvSpPr txBox="1"/>
          <p:nvPr/>
        </p:nvSpPr>
        <p:spPr>
          <a:xfrm>
            <a:off x="4719542" y="1842539"/>
            <a:ext cx="2007140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추출된 데이터를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이 가장 잘 이해하는 마크다운 규격으로 자동 변환하고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최적의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시맨틱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단위로 분할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(Chunking)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D1E77D6B-176D-B764-7D06-549177D73A57}"/>
              </a:ext>
            </a:extLst>
          </p:cNvPr>
          <p:cNvSpPr txBox="1"/>
          <p:nvPr/>
        </p:nvSpPr>
        <p:spPr>
          <a:xfrm>
            <a:off x="6944057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가공 완료된 정성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정량 데이터를 사내 지식 위키 및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Vector DB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로 영구 이관하여 즉시 검색 가능한 자산으로 편입시킵니다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A88F85D8-904E-CA12-B067-7CD89B153A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57487" y="1553347"/>
            <a:ext cx="145633" cy="194177"/>
          </a:xfrm>
          <a:prstGeom prst="rect">
            <a:avLst/>
          </a:prstGeom>
        </p:spPr>
      </p:pic>
      <p:sp>
        <p:nvSpPr>
          <p:cNvPr id="327" name="사각형: 둥근 모서리 326">
            <a:extLst>
              <a:ext uri="{FF2B5EF4-FFF2-40B4-BE49-F238E27FC236}">
                <a16:creationId xmlns:a16="http://schemas.microsoft.com/office/drawing/2014/main" id="{82EFF04A-0930-589D-7B8F-245EE984C769}"/>
              </a:ext>
            </a:extLst>
          </p:cNvPr>
          <p:cNvSpPr/>
          <p:nvPr/>
        </p:nvSpPr>
        <p:spPr>
          <a:xfrm>
            <a:off x="205064" y="2524769"/>
            <a:ext cx="8758760" cy="2339604"/>
          </a:xfrm>
          <a:prstGeom prst="roundRect">
            <a:avLst>
              <a:gd name="adj" fmla="val 4210"/>
            </a:avLst>
          </a:prstGeom>
          <a:noFill/>
          <a:ln w="9525" cap="flat" cmpd="sng" algn="ctr">
            <a:solidFill>
              <a:srgbClr val="0D9488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E6B9BCB3-ADF1-A989-FEFB-10CBF278C79F}"/>
              </a:ext>
            </a:extLst>
          </p:cNvPr>
          <p:cNvSpPr/>
          <p:nvPr/>
        </p:nvSpPr>
        <p:spPr>
          <a:xfrm>
            <a:off x="196075" y="2402907"/>
            <a:ext cx="3216725" cy="271263"/>
          </a:xfrm>
          <a:prstGeom prst="roundRect">
            <a:avLst>
              <a:gd name="adj" fmla="val 47991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Document </a:t>
            </a:r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Parser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Core Engine</a:t>
            </a:r>
            <a:endParaRPr lang="ko-KR" altLang="en-US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F5E3000C-03FB-8E20-371D-C7E0A27B9E6B}"/>
              </a:ext>
            </a:extLst>
          </p:cNvPr>
          <p:cNvSpPr/>
          <p:nvPr/>
        </p:nvSpPr>
        <p:spPr>
          <a:xfrm rot="10800000">
            <a:off x="446416" y="2792727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81B63F-E405-7165-448B-B833E5E146DC}"/>
              </a:ext>
            </a:extLst>
          </p:cNvPr>
          <p:cNvSpPr txBox="1"/>
          <p:nvPr/>
        </p:nvSpPr>
        <p:spPr>
          <a:xfrm>
            <a:off x="543401" y="2868517"/>
            <a:ext cx="15791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정성</a:t>
            </a:r>
            <a:r>
              <a:rPr lang="en-US" altLang="ko-KR" sz="1000" b="1" dirty="0">
                <a:solidFill>
                  <a:srgbClr val="0D9488"/>
                </a:solidFill>
              </a:rPr>
              <a:t>·</a:t>
            </a:r>
            <a:r>
              <a:rPr lang="ko-KR" altLang="en-US" sz="1000" b="1" dirty="0">
                <a:solidFill>
                  <a:srgbClr val="0D9488"/>
                </a:solidFill>
              </a:rPr>
              <a:t>정량 데이터 통합</a:t>
            </a:r>
          </a:p>
          <a:p>
            <a:r>
              <a:rPr lang="ko-KR" altLang="en-US" sz="1000" b="1" dirty="0">
                <a:solidFill>
                  <a:srgbClr val="0D9488"/>
                </a:solidFill>
              </a:rPr>
              <a:t>마이그레이션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349AF0-6DAB-22C7-4550-89A2AFBF9B06}"/>
              </a:ext>
            </a:extLst>
          </p:cNvPr>
          <p:cNvSpPr txBox="1"/>
          <p:nvPr/>
        </p:nvSpPr>
        <p:spPr>
          <a:xfrm>
            <a:off x="543401" y="3207735"/>
            <a:ext cx="151157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dirty="0"/>
              <a:t>내부 </a:t>
            </a:r>
            <a:r>
              <a:rPr lang="ko-KR" altLang="en-US" sz="700" dirty="0"/>
              <a:t>문서</a:t>
            </a:r>
            <a:r>
              <a:rPr lang="en-US" altLang="ko-KR" sz="700" dirty="0"/>
              <a:t> </a:t>
            </a:r>
            <a:r>
              <a:rPr lang="ko-KR" altLang="en-US" sz="700" dirty="0"/>
              <a:t>및</a:t>
            </a:r>
            <a:r>
              <a:rPr lang="en-US" altLang="ko-KR" sz="700" dirty="0"/>
              <a:t> </a:t>
            </a:r>
            <a:r>
              <a:rPr lang="ko-KR" altLang="en-US" sz="700" dirty="0"/>
              <a:t>외부 문서</a:t>
            </a:r>
            <a:r>
              <a:rPr lang="ko-KR" altLang="ko-KR" sz="700" dirty="0"/>
              <a:t> 업로드 즉시 파싱 파이프라인으로 이관하여 </a:t>
            </a:r>
            <a:r>
              <a:rPr lang="ko-KR" altLang="en-US" sz="700" dirty="0"/>
              <a:t>지식 관계 </a:t>
            </a:r>
            <a:r>
              <a:rPr lang="ko-KR" altLang="ko-KR" sz="700" dirty="0"/>
              <a:t>구조화</a:t>
            </a:r>
            <a:endParaRPr lang="ko-KR" altLang="en-US" sz="700" dirty="0"/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D3A9367D-E0FD-1ABC-A063-C69D9E2E5BBB}"/>
              </a:ext>
            </a:extLst>
          </p:cNvPr>
          <p:cNvSpPr/>
          <p:nvPr/>
        </p:nvSpPr>
        <p:spPr>
          <a:xfrm rot="10800000">
            <a:off x="446413" y="3806652"/>
            <a:ext cx="1676163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0567E1-15CC-106E-89A6-D99BD6C50801}"/>
              </a:ext>
            </a:extLst>
          </p:cNvPr>
          <p:cNvSpPr txBox="1"/>
          <p:nvPr/>
        </p:nvSpPr>
        <p:spPr>
          <a:xfrm>
            <a:off x="543401" y="3859003"/>
            <a:ext cx="15115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메타데이터 자동 추출 및 </a:t>
            </a:r>
            <a:r>
              <a:rPr lang="ko-KR" altLang="en-US" sz="1000" b="1" dirty="0" err="1">
                <a:solidFill>
                  <a:srgbClr val="0D9488"/>
                </a:solidFill>
              </a:rPr>
              <a:t>태깅</a:t>
            </a:r>
            <a:endParaRPr lang="ko-KR" altLang="en-US" sz="1000" b="1" dirty="0">
              <a:solidFill>
                <a:srgbClr val="0D9488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F4759E-7FD4-56F1-BF84-ADFBD7483E99}"/>
              </a:ext>
            </a:extLst>
          </p:cNvPr>
          <p:cNvSpPr txBox="1"/>
          <p:nvPr/>
        </p:nvSpPr>
        <p:spPr>
          <a:xfrm>
            <a:off x="529603" y="4197456"/>
            <a:ext cx="14901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문서 내 핵심 엔티티(부서명, 날짜, 제품명 등)</a:t>
            </a:r>
            <a:r>
              <a:rPr lang="ko-KR" altLang="ko-KR" dirty="0" err="1"/>
              <a:t>를</a:t>
            </a:r>
            <a:r>
              <a:rPr lang="ko-KR" altLang="ko-KR" dirty="0"/>
              <a:t> 자동 식별하여 검색 효율성을 극대화하는 태그를 부여합니다.</a:t>
            </a:r>
            <a:endParaRPr lang="ko-KR" altLang="en-US" dirty="0"/>
          </a:p>
        </p:txBody>
      </p:sp>
      <p:sp>
        <p:nvSpPr>
          <p:cNvPr id="50" name="Rounded Rectangle 8">
            <a:extLst>
              <a:ext uri="{FF2B5EF4-FFF2-40B4-BE49-F238E27FC236}">
                <a16:creationId xmlns:a16="http://schemas.microsoft.com/office/drawing/2014/main" id="{AB1EFABE-6F5B-9704-3FCE-DDF385A74338}"/>
              </a:ext>
            </a:extLst>
          </p:cNvPr>
          <p:cNvSpPr/>
          <p:nvPr/>
        </p:nvSpPr>
        <p:spPr>
          <a:xfrm rot="10800000">
            <a:off x="2414833" y="2811244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F67622-9B1A-460F-0427-9E5FD853FF30}"/>
              </a:ext>
            </a:extLst>
          </p:cNvPr>
          <p:cNvSpPr txBox="1"/>
          <p:nvPr/>
        </p:nvSpPr>
        <p:spPr>
          <a:xfrm>
            <a:off x="2495026" y="2879342"/>
            <a:ext cx="15272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>
              <a:defRPr sz="1000" b="1"/>
            </a:lvl1pPr>
          </a:lstStyle>
          <a:p>
            <a:pPr algn="l"/>
            <a:r>
              <a:rPr lang="ko-KR" altLang="en-US" dirty="0">
                <a:solidFill>
                  <a:srgbClr val="0D9488"/>
                </a:solidFill>
              </a:rPr>
              <a:t>표</a:t>
            </a:r>
            <a:r>
              <a:rPr lang="en-US" altLang="ko-KR" dirty="0">
                <a:solidFill>
                  <a:srgbClr val="0D9488"/>
                </a:solidFill>
              </a:rPr>
              <a:t>/</a:t>
            </a:r>
            <a:r>
              <a:rPr lang="ko-KR" altLang="en-US" dirty="0">
                <a:solidFill>
                  <a:srgbClr val="0D9488"/>
                </a:solidFill>
              </a:rPr>
              <a:t>이미지 맥락 이해 </a:t>
            </a:r>
            <a:r>
              <a:rPr lang="en-US" altLang="ko-KR" dirty="0">
                <a:solidFill>
                  <a:srgbClr val="0D9488"/>
                </a:solidFill>
              </a:rPr>
              <a:t>(Vision)</a:t>
            </a:r>
            <a:endParaRPr lang="ko-KR" altLang="en-US" dirty="0">
              <a:solidFill>
                <a:srgbClr val="0D9488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4317B3-C7A1-C2FE-A794-89AE44D7E890}"/>
              </a:ext>
            </a:extLst>
          </p:cNvPr>
          <p:cNvSpPr txBox="1"/>
          <p:nvPr/>
        </p:nvSpPr>
        <p:spPr>
          <a:xfrm>
            <a:off x="2495026" y="3219052"/>
            <a:ext cx="1528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단순 </a:t>
            </a:r>
            <a:r>
              <a:rPr lang="en-US" altLang="ko-KR" dirty="0"/>
              <a:t>Parser</a:t>
            </a:r>
            <a:r>
              <a:rPr lang="ko-KR" altLang="en-US" dirty="0"/>
              <a:t>를</a:t>
            </a:r>
            <a:r>
              <a:rPr lang="ko-KR" altLang="ko-KR" dirty="0"/>
              <a:t> 넘어, 표의 헤더와 본문 관계, 이미지 내 객체의 의미까지 파악하여 데이터의 손실을 방지합니다.</a:t>
            </a:r>
            <a:endParaRPr lang="ko-KR" altLang="en-US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6A581D36-30D7-2D72-6F20-BB41418F60D0}"/>
              </a:ext>
            </a:extLst>
          </p:cNvPr>
          <p:cNvSpPr/>
          <p:nvPr/>
        </p:nvSpPr>
        <p:spPr>
          <a:xfrm rot="10800000">
            <a:off x="2414833" y="3814344"/>
            <a:ext cx="1676162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EB677D-B1E3-E46D-378B-42F73060253C}"/>
              </a:ext>
            </a:extLst>
          </p:cNvPr>
          <p:cNvSpPr txBox="1"/>
          <p:nvPr/>
        </p:nvSpPr>
        <p:spPr>
          <a:xfrm>
            <a:off x="2495026" y="3859003"/>
            <a:ext cx="1528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무인</a:t>
            </a:r>
            <a:r>
              <a:rPr lang="en-US" altLang="ko-KR" sz="1000" b="1" dirty="0">
                <a:solidFill>
                  <a:srgbClr val="0D9488"/>
                </a:solidFill>
              </a:rPr>
              <a:t>(Human-less)  </a:t>
            </a:r>
            <a:r>
              <a:rPr lang="ko-KR" altLang="en-US" sz="1000" b="1" dirty="0">
                <a:solidFill>
                  <a:srgbClr val="0D9488"/>
                </a:solidFill>
              </a:rPr>
              <a:t>파이프라인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A995E50-D148-BF7F-46B5-D9DDB8501101}"/>
              </a:ext>
            </a:extLst>
          </p:cNvPr>
          <p:cNvSpPr txBox="1"/>
          <p:nvPr/>
        </p:nvSpPr>
        <p:spPr>
          <a:xfrm>
            <a:off x="2495026" y="4176348"/>
            <a:ext cx="15283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문서 업로드 즉시 파싱</a:t>
            </a:r>
            <a:r>
              <a:rPr lang="en-US" altLang="ko-KR" sz="700" dirty="0"/>
              <a:t>-</a:t>
            </a:r>
            <a:r>
              <a:rPr lang="ko-KR" altLang="en-US" sz="700" dirty="0" err="1"/>
              <a:t>청킹</a:t>
            </a:r>
            <a:r>
              <a:rPr lang="en-US" altLang="ko-KR" sz="700" dirty="0"/>
              <a:t>-</a:t>
            </a:r>
            <a:r>
              <a:rPr lang="ko-KR" altLang="en-US" sz="700" dirty="0" err="1"/>
              <a:t>임베딩</a:t>
            </a:r>
            <a:r>
              <a:rPr lang="en-US" altLang="ko-KR" sz="700" dirty="0"/>
              <a:t>-</a:t>
            </a:r>
            <a:r>
              <a:rPr lang="ko-KR" altLang="en-US" sz="700" dirty="0"/>
              <a:t>적재까지 사람의 개입 없이 완전 자동화된 </a:t>
            </a:r>
            <a:r>
              <a:rPr lang="ko-KR" altLang="en-US" sz="700" dirty="0" err="1"/>
              <a:t>백엔드</a:t>
            </a:r>
            <a:r>
              <a:rPr lang="ko-KR" altLang="en-US" sz="700" dirty="0"/>
              <a:t> 프로세스로 작동합니다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pic>
        <p:nvPicPr>
          <p:cNvPr id="334" name="그래픽 333" descr="전구 단색으로 채워진">
            <a:extLst>
              <a:ext uri="{FF2B5EF4-FFF2-40B4-BE49-F238E27FC236}">
                <a16:creationId xmlns:a16="http://schemas.microsoft.com/office/drawing/2014/main" id="{E27C6263-F815-F6E3-8425-57A4923212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8234" y="3036814"/>
            <a:ext cx="534386" cy="534386"/>
          </a:xfrm>
          <a:prstGeom prst="rect">
            <a:avLst/>
          </a:prstGeom>
        </p:spPr>
      </p:pic>
      <p:pic>
        <p:nvPicPr>
          <p:cNvPr id="336" name="그래픽 335" descr="폴더 검색 단색으로 채워진">
            <a:extLst>
              <a:ext uri="{FF2B5EF4-FFF2-40B4-BE49-F238E27FC236}">
                <a16:creationId xmlns:a16="http://schemas.microsoft.com/office/drawing/2014/main" id="{4C140F8F-B519-30CA-2540-297151DCF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76" y="1532998"/>
            <a:ext cx="231117" cy="231117"/>
          </a:xfrm>
          <a:prstGeom prst="rect">
            <a:avLst/>
          </a:prstGeom>
        </p:spPr>
      </p:pic>
      <p:pic>
        <p:nvPicPr>
          <p:cNvPr id="338" name="그래픽 337">
            <a:extLst>
              <a:ext uri="{FF2B5EF4-FFF2-40B4-BE49-F238E27FC236}">
                <a16:creationId xmlns:a16="http://schemas.microsoft.com/office/drawing/2014/main" id="{0A859A34-4747-506F-C7C5-C1DD98D56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3121" y="1571731"/>
            <a:ext cx="176493" cy="166663"/>
          </a:xfrm>
          <a:prstGeom prst="rect">
            <a:avLst/>
          </a:prstGeom>
        </p:spPr>
      </p:pic>
      <p:pic>
        <p:nvPicPr>
          <p:cNvPr id="340" name="그래픽 339" descr="테이블 단색으로 채워진">
            <a:extLst>
              <a:ext uri="{FF2B5EF4-FFF2-40B4-BE49-F238E27FC236}">
                <a16:creationId xmlns:a16="http://schemas.microsoft.com/office/drawing/2014/main" id="{14D976AB-8B40-71F6-D0A4-19C8F43028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9398" y="1539984"/>
            <a:ext cx="239893" cy="23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408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946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CA5E9-F4AC-A09C-8B0D-6FB45BF07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E067D5D1-1C25-7315-3A9B-BAAAA37ED62D}"/>
              </a:ext>
            </a:extLst>
          </p:cNvPr>
          <p:cNvSpPr/>
          <p:nvPr/>
        </p:nvSpPr>
        <p:spPr>
          <a:xfrm rot="16200000">
            <a:off x="6187252" y="1884717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69FEC169-B2AE-2C9E-24B2-C1E0AE6E4095}"/>
              </a:ext>
            </a:extLst>
          </p:cNvPr>
          <p:cNvSpPr/>
          <p:nvPr/>
        </p:nvSpPr>
        <p:spPr>
          <a:xfrm rot="16200000">
            <a:off x="4008609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A27D8E2D-CC80-72B0-E399-6C09C7820172}"/>
              </a:ext>
            </a:extLst>
          </p:cNvPr>
          <p:cNvSpPr/>
          <p:nvPr/>
        </p:nvSpPr>
        <p:spPr>
          <a:xfrm rot="16200000">
            <a:off x="1829966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76C6DA2B-462F-F17F-E273-9CDCED42194D}"/>
              </a:ext>
            </a:extLst>
          </p:cNvPr>
          <p:cNvSpPr/>
          <p:nvPr/>
        </p:nvSpPr>
        <p:spPr>
          <a:xfrm rot="16200000">
            <a:off x="-348677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464F6D8-F887-2BAE-F6FC-E995466C74F3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34CF55B-32B0-B29C-59C5-B02D6D2E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신뢰를 만드는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4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가지 방식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1F05199-ED2A-1605-9A2F-DBFFCD7C19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C1A2A2-3DBC-73E0-9810-25801FD91DD3}"/>
              </a:ext>
            </a:extLst>
          </p:cNvPr>
          <p:cNvSpPr txBox="1"/>
          <p:nvPr/>
        </p:nvSpPr>
        <p:spPr>
          <a:xfrm>
            <a:off x="402336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01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9CA804-5D7D-E1E4-B3C2-A5FD726F6C56}"/>
              </a:ext>
            </a:extLst>
          </p:cNvPr>
          <p:cNvSpPr txBox="1"/>
          <p:nvPr/>
        </p:nvSpPr>
        <p:spPr>
          <a:xfrm>
            <a:off x="402336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검증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0AE4661-E2CA-F54D-2D9C-0767C185DF96}"/>
              </a:ext>
            </a:extLst>
          </p:cNvPr>
          <p:cNvSpPr txBox="1"/>
          <p:nvPr/>
        </p:nvSpPr>
        <p:spPr>
          <a:xfrm>
            <a:off x="402336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Verification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7B3C359-3235-6472-A25B-5A553FBA62A5}"/>
              </a:ext>
            </a:extLst>
          </p:cNvPr>
          <p:cNvSpPr txBox="1"/>
          <p:nvPr/>
        </p:nvSpPr>
        <p:spPr>
          <a:xfrm>
            <a:off x="402336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환각 없는 결정론적 실행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4B39AE1-B993-03FC-D43B-A59698427179}"/>
              </a:ext>
            </a:extLst>
          </p:cNvPr>
          <p:cNvSpPr txBox="1"/>
          <p:nvPr/>
        </p:nvSpPr>
        <p:spPr>
          <a:xfrm>
            <a:off x="402336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비즈니스 로직을 상상하지 않습니다. 검증된 Skill과 의도 그래프만이 실행 경로를 만듭니다.</a:t>
            </a:r>
          </a:p>
        </p:txBody>
      </p:sp>
      <p:cxnSp>
        <p:nvCxnSpPr>
          <p:cNvPr id="12" name="Connector 12">
            <a:extLst>
              <a:ext uri="{FF2B5EF4-FFF2-40B4-BE49-F238E27FC236}">
                <a16:creationId xmlns:a16="http://schemas.microsoft.com/office/drawing/2014/main" id="{5922DF32-7D1D-CF65-8B7E-6EF84FCC2CA9}"/>
              </a:ext>
            </a:extLst>
          </p:cNvPr>
          <p:cNvCxnSpPr/>
          <p:nvPr/>
        </p:nvCxnSpPr>
        <p:spPr>
          <a:xfrm>
            <a:off x="402336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3">
            <a:extLst>
              <a:ext uri="{FF2B5EF4-FFF2-40B4-BE49-F238E27FC236}">
                <a16:creationId xmlns:a16="http://schemas.microsoft.com/office/drawing/2014/main" id="{CB2157EA-B7E1-D497-70B2-0659BA9EDEC3}"/>
              </a:ext>
            </a:extLst>
          </p:cNvPr>
          <p:cNvSpPr txBox="1"/>
          <p:nvPr/>
        </p:nvSpPr>
        <p:spPr>
          <a:xfrm>
            <a:off x="402336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메커니즘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DD465E26-9E21-97E9-8EEC-E930391FE922}"/>
              </a:ext>
            </a:extLst>
          </p:cNvPr>
          <p:cNvSpPr/>
          <p:nvPr/>
        </p:nvSpPr>
        <p:spPr>
          <a:xfrm>
            <a:off x="402336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7815FAE-A670-17D8-F42D-36ECCE773C3D}"/>
              </a:ext>
            </a:extLst>
          </p:cNvPr>
          <p:cNvSpPr txBox="1"/>
          <p:nvPr/>
        </p:nvSpPr>
        <p:spPr>
          <a:xfrm>
            <a:off x="502920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Intent Graph Traversal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CE07E42-7A06-01FB-13B2-6E1E71EB743B}"/>
              </a:ext>
            </a:extLst>
          </p:cNvPr>
          <p:cNvSpPr txBox="1"/>
          <p:nvPr/>
        </p:nvSpPr>
        <p:spPr>
          <a:xfrm>
            <a:off x="502920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Neo4j Cypher로 Intent→Modifier→Tool 시퀀스 결정론적 산출</a:t>
            </a:r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60EBDA70-2332-367A-7B99-888BB685DCBC}"/>
              </a:ext>
            </a:extLst>
          </p:cNvPr>
          <p:cNvSpPr/>
          <p:nvPr/>
        </p:nvSpPr>
        <p:spPr>
          <a:xfrm>
            <a:off x="402336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98BDA86-FE51-FA74-29AD-5103E8A3D94B}"/>
              </a:ext>
            </a:extLst>
          </p:cNvPr>
          <p:cNvSpPr txBox="1"/>
          <p:nvPr/>
        </p:nvSpPr>
        <p:spPr>
          <a:xfrm>
            <a:off x="502920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Skill Registry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1454C03-9941-C422-FEA6-1E83B34DB1AE}"/>
              </a:ext>
            </a:extLst>
          </p:cNvPr>
          <p:cNvSpPr txBox="1"/>
          <p:nvPr/>
        </p:nvSpPr>
        <p:spPr>
          <a:xfrm>
            <a:off x="502920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Admin이 사전 등록·검증한 SQL 템플릿·프롬프트만 실행</a:t>
            </a:r>
          </a:p>
        </p:txBody>
      </p:sp>
      <p:sp>
        <p:nvSpPr>
          <p:cNvPr id="20" name="Rectangle 20">
            <a:extLst>
              <a:ext uri="{FF2B5EF4-FFF2-40B4-BE49-F238E27FC236}">
                <a16:creationId xmlns:a16="http://schemas.microsoft.com/office/drawing/2014/main" id="{30A37DA2-BA23-B323-4E71-B6833CE6FF2E}"/>
              </a:ext>
            </a:extLst>
          </p:cNvPr>
          <p:cNvSpPr/>
          <p:nvPr/>
        </p:nvSpPr>
        <p:spPr>
          <a:xfrm>
            <a:off x="402336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153BB75-7B45-BCAA-AC2B-730FDA682A59}"/>
              </a:ext>
            </a:extLst>
          </p:cNvPr>
          <p:cNvSpPr txBox="1"/>
          <p:nvPr/>
        </p:nvSpPr>
        <p:spPr>
          <a:xfrm>
            <a:off x="502920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Multi-LLM Routing</a:t>
            </a:r>
          </a:p>
        </p:txBody>
      </p:sp>
      <p:sp>
        <p:nvSpPr>
          <p:cNvPr id="24" name="TextBox 22">
            <a:extLst>
              <a:ext uri="{FF2B5EF4-FFF2-40B4-BE49-F238E27FC236}">
                <a16:creationId xmlns:a16="http://schemas.microsoft.com/office/drawing/2014/main" id="{BCF1A06F-45F3-A560-E585-41D5C5A94B7C}"/>
              </a:ext>
            </a:extLst>
          </p:cNvPr>
          <p:cNvSpPr txBox="1"/>
          <p:nvPr/>
        </p:nvSpPr>
        <p:spPr>
          <a:xfrm>
            <a:off x="502920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성능·비용·보안 기준 동적 라우팅, 모델 교체에도 로직 유지</a:t>
            </a:r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D5D0EE90-E288-28BB-39E9-0B251C0F1D2C}"/>
              </a:ext>
            </a:extLst>
          </p:cNvPr>
          <p:cNvSpPr/>
          <p:nvPr/>
        </p:nvSpPr>
        <p:spPr>
          <a:xfrm>
            <a:off x="310896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6" name="TextBox 24">
            <a:extLst>
              <a:ext uri="{FF2B5EF4-FFF2-40B4-BE49-F238E27FC236}">
                <a16:creationId xmlns:a16="http://schemas.microsoft.com/office/drawing/2014/main" id="{FD81023D-8A3C-FF34-762D-E397A6121333}"/>
              </a:ext>
            </a:extLst>
          </p:cNvPr>
          <p:cNvSpPr txBox="1"/>
          <p:nvPr/>
        </p:nvSpPr>
        <p:spPr>
          <a:xfrm>
            <a:off x="384048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같은 질문에 같은 답. 환각·랜덤성 원천 차단.</a:t>
            </a:r>
          </a:p>
        </p:txBody>
      </p:sp>
      <p:sp>
        <p:nvSpPr>
          <p:cNvPr id="29" name="TextBox 27">
            <a:extLst>
              <a:ext uri="{FF2B5EF4-FFF2-40B4-BE49-F238E27FC236}">
                <a16:creationId xmlns:a16="http://schemas.microsoft.com/office/drawing/2014/main" id="{A218F870-946F-4681-AC31-AC4A7FFE7AB5}"/>
              </a:ext>
            </a:extLst>
          </p:cNvPr>
          <p:cNvSpPr txBox="1"/>
          <p:nvPr/>
        </p:nvSpPr>
        <p:spPr>
          <a:xfrm>
            <a:off x="2583180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02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222CB00C-06CB-FEFD-D2C1-DBE9659BE41F}"/>
              </a:ext>
            </a:extLst>
          </p:cNvPr>
          <p:cNvSpPr txBox="1"/>
          <p:nvPr/>
        </p:nvSpPr>
        <p:spPr>
          <a:xfrm>
            <a:off x="2583180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격리</a:t>
            </a:r>
          </a:p>
        </p:txBody>
      </p:sp>
      <p:sp>
        <p:nvSpPr>
          <p:cNvPr id="31" name="TextBox 29">
            <a:extLst>
              <a:ext uri="{FF2B5EF4-FFF2-40B4-BE49-F238E27FC236}">
                <a16:creationId xmlns:a16="http://schemas.microsoft.com/office/drawing/2014/main" id="{E09B7D0F-5BA7-2C2F-D504-51E33D23136C}"/>
              </a:ext>
            </a:extLst>
          </p:cNvPr>
          <p:cNvSpPr txBox="1"/>
          <p:nvPr/>
        </p:nvSpPr>
        <p:spPr>
          <a:xfrm>
            <a:off x="2583180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Isolation</a:t>
            </a:r>
          </a:p>
        </p:txBody>
      </p:sp>
      <p:sp>
        <p:nvSpPr>
          <p:cNvPr id="32" name="TextBox 30">
            <a:extLst>
              <a:ext uri="{FF2B5EF4-FFF2-40B4-BE49-F238E27FC236}">
                <a16:creationId xmlns:a16="http://schemas.microsoft.com/office/drawing/2014/main" id="{8B08998C-77F8-26F8-E3DE-3413C76FC888}"/>
              </a:ext>
            </a:extLst>
          </p:cNvPr>
          <p:cNvSpPr txBox="1"/>
          <p:nvPr/>
        </p:nvSpPr>
        <p:spPr>
          <a:xfrm>
            <a:off x="2583180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 dirty="0" err="1">
                <a:solidFill>
                  <a:srgbClr val="0F172A"/>
                </a:solidFill>
                <a:latin typeface="SUIT ExtraBold"/>
              </a:rPr>
              <a:t>쓰기·우회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불가능한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안전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경계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3" name="TextBox 31">
            <a:extLst>
              <a:ext uri="{FF2B5EF4-FFF2-40B4-BE49-F238E27FC236}">
                <a16:creationId xmlns:a16="http://schemas.microsoft.com/office/drawing/2014/main" id="{BBF5B18A-15FD-F4B5-051A-820E28935AB2}"/>
              </a:ext>
            </a:extLst>
          </p:cNvPr>
          <p:cNvSpPr txBox="1"/>
          <p:nvPr/>
        </p:nvSpPr>
        <p:spPr>
          <a:xfrm>
            <a:off x="2583180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무엇을 생성하든 서버 단에서 SELECT 계열 외 실행은 차단됩니다.</a:t>
            </a:r>
          </a:p>
        </p:txBody>
      </p:sp>
      <p:cxnSp>
        <p:nvCxnSpPr>
          <p:cNvPr id="34" name="Connector 32">
            <a:extLst>
              <a:ext uri="{FF2B5EF4-FFF2-40B4-BE49-F238E27FC236}">
                <a16:creationId xmlns:a16="http://schemas.microsoft.com/office/drawing/2014/main" id="{F0AF1387-0B1F-BE11-948D-BD5038513B56}"/>
              </a:ext>
            </a:extLst>
          </p:cNvPr>
          <p:cNvCxnSpPr/>
          <p:nvPr/>
        </p:nvCxnSpPr>
        <p:spPr>
          <a:xfrm>
            <a:off x="2583180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3">
            <a:extLst>
              <a:ext uri="{FF2B5EF4-FFF2-40B4-BE49-F238E27FC236}">
                <a16:creationId xmlns:a16="http://schemas.microsoft.com/office/drawing/2014/main" id="{68C432B9-3B95-638D-A8A4-4E7A8276CC2D}"/>
              </a:ext>
            </a:extLst>
          </p:cNvPr>
          <p:cNvSpPr txBox="1"/>
          <p:nvPr/>
        </p:nvSpPr>
        <p:spPr>
          <a:xfrm>
            <a:off x="2583180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5단계 안전 게이트</a:t>
            </a:r>
          </a:p>
        </p:txBody>
      </p:sp>
      <p:sp>
        <p:nvSpPr>
          <p:cNvPr id="36" name="Rectangle 34">
            <a:extLst>
              <a:ext uri="{FF2B5EF4-FFF2-40B4-BE49-F238E27FC236}">
                <a16:creationId xmlns:a16="http://schemas.microsoft.com/office/drawing/2014/main" id="{4C399B08-D039-6EBD-DF55-C6AEA541F94A}"/>
              </a:ext>
            </a:extLst>
          </p:cNvPr>
          <p:cNvSpPr/>
          <p:nvPr/>
        </p:nvSpPr>
        <p:spPr>
          <a:xfrm>
            <a:off x="2583180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7" name="TextBox 35">
            <a:extLst>
              <a:ext uri="{FF2B5EF4-FFF2-40B4-BE49-F238E27FC236}">
                <a16:creationId xmlns:a16="http://schemas.microsoft.com/office/drawing/2014/main" id="{F14E68EF-8F05-0D26-2FF4-E30A148DECB9}"/>
              </a:ext>
            </a:extLst>
          </p:cNvPr>
          <p:cNvSpPr txBox="1"/>
          <p:nvPr/>
        </p:nvSpPr>
        <p:spPr>
          <a:xfrm>
            <a:off x="2683764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AST Parsing · SELECT/WITH 허용</a:t>
            </a:r>
          </a:p>
        </p:txBody>
      </p:sp>
      <p:sp>
        <p:nvSpPr>
          <p:cNvPr id="38" name="TextBox 36">
            <a:extLst>
              <a:ext uri="{FF2B5EF4-FFF2-40B4-BE49-F238E27FC236}">
                <a16:creationId xmlns:a16="http://schemas.microsoft.com/office/drawing/2014/main" id="{E4BAF7D5-CC9A-96EE-685A-2B7514457098}"/>
              </a:ext>
            </a:extLst>
          </p:cNvPr>
          <p:cNvSpPr txBox="1"/>
          <p:nvPr/>
        </p:nvSpPr>
        <p:spPr>
          <a:xfrm>
            <a:off x="2683764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구문 트리 검증, INSERT·UPDATE·DELETE·DROP 차단</a:t>
            </a:r>
          </a:p>
        </p:txBody>
      </p:sp>
      <p:sp>
        <p:nvSpPr>
          <p:cNvPr id="39" name="Rectangle 37">
            <a:extLst>
              <a:ext uri="{FF2B5EF4-FFF2-40B4-BE49-F238E27FC236}">
                <a16:creationId xmlns:a16="http://schemas.microsoft.com/office/drawing/2014/main" id="{ECEDB166-2822-68E8-FE85-8AFD1898ED13}"/>
              </a:ext>
            </a:extLst>
          </p:cNvPr>
          <p:cNvSpPr/>
          <p:nvPr/>
        </p:nvSpPr>
        <p:spPr>
          <a:xfrm>
            <a:off x="2583180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D940ADC1-C7FD-EE62-FCD0-980FB65344E2}"/>
              </a:ext>
            </a:extLst>
          </p:cNvPr>
          <p:cNvSpPr txBox="1"/>
          <p:nvPr/>
        </p:nvSpPr>
        <p:spPr>
          <a:xfrm>
            <a:off x="2683764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LIMIT 자동 주입</a:t>
            </a:r>
          </a:p>
        </p:txBody>
      </p:sp>
      <p:sp>
        <p:nvSpPr>
          <p:cNvPr id="41" name="TextBox 39">
            <a:extLst>
              <a:ext uri="{FF2B5EF4-FFF2-40B4-BE49-F238E27FC236}">
                <a16:creationId xmlns:a16="http://schemas.microsoft.com/office/drawing/2014/main" id="{6E85DD9E-4495-EF28-29CA-AFE8E9D3A38A}"/>
              </a:ext>
            </a:extLst>
          </p:cNvPr>
          <p:cNvSpPr txBox="1"/>
          <p:nvPr/>
        </p:nvSpPr>
        <p:spPr>
          <a:xfrm>
            <a:off x="2683764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기본 1000건 강제, 결과 폭주·DoS 방지</a:t>
            </a: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87A015ED-C5E6-2803-32E0-2692DC815D7B}"/>
              </a:ext>
            </a:extLst>
          </p:cNvPr>
          <p:cNvSpPr/>
          <p:nvPr/>
        </p:nvSpPr>
        <p:spPr>
          <a:xfrm>
            <a:off x="2583180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3" name="TextBox 41">
            <a:extLst>
              <a:ext uri="{FF2B5EF4-FFF2-40B4-BE49-F238E27FC236}">
                <a16:creationId xmlns:a16="http://schemas.microsoft.com/office/drawing/2014/main" id="{175F6A0A-CE48-2AA5-5254-7ED5492886AD}"/>
              </a:ext>
            </a:extLst>
          </p:cNvPr>
          <p:cNvSpPr txBox="1"/>
          <p:nvPr/>
        </p:nvSpPr>
        <p:spPr>
          <a:xfrm>
            <a:off x="2683764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 dirty="0">
                <a:solidFill>
                  <a:srgbClr val="0F172A"/>
                </a:solidFill>
                <a:latin typeface="SUIT ExtraBold"/>
              </a:rPr>
              <a:t>READ ONLY · 10s Timeout</a:t>
            </a:r>
          </a:p>
        </p:txBody>
      </p:sp>
      <p:sp>
        <p:nvSpPr>
          <p:cNvPr id="44" name="TextBox 42">
            <a:extLst>
              <a:ext uri="{FF2B5EF4-FFF2-40B4-BE49-F238E27FC236}">
                <a16:creationId xmlns:a16="http://schemas.microsoft.com/office/drawing/2014/main" id="{24BAA1E3-73BE-4F76-185F-7C0095CD9CFC}"/>
              </a:ext>
            </a:extLst>
          </p:cNvPr>
          <p:cNvSpPr txBox="1"/>
          <p:nvPr/>
        </p:nvSpPr>
        <p:spPr>
          <a:xfrm>
            <a:off x="2683764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트랜잭션 강제 READ ONLY, 장시간 락 방지</a:t>
            </a: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9BA94D0D-F46E-B092-14C1-FF6937F2758B}"/>
              </a:ext>
            </a:extLst>
          </p:cNvPr>
          <p:cNvSpPr/>
          <p:nvPr/>
        </p:nvSpPr>
        <p:spPr>
          <a:xfrm>
            <a:off x="2491740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6" name="TextBox 44">
            <a:extLst>
              <a:ext uri="{FF2B5EF4-FFF2-40B4-BE49-F238E27FC236}">
                <a16:creationId xmlns:a16="http://schemas.microsoft.com/office/drawing/2014/main" id="{804E62AE-0FAB-31B7-04BC-3FD0454A3F24}"/>
              </a:ext>
            </a:extLst>
          </p:cNvPr>
          <p:cNvSpPr txBox="1"/>
          <p:nvPr/>
        </p:nvSpPr>
        <p:spPr>
          <a:xfrm>
            <a:off x="2564892" y="4304157"/>
            <a:ext cx="1833372" cy="111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 </a:t>
            </a:r>
            <a:r>
              <a:rPr sz="68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LLM이 위험 쿼리를 생성해도 실제 데이터에 닿지 못함</a:t>
            </a:r>
            <a:endParaRPr sz="68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7">
            <a:extLst>
              <a:ext uri="{FF2B5EF4-FFF2-40B4-BE49-F238E27FC236}">
                <a16:creationId xmlns:a16="http://schemas.microsoft.com/office/drawing/2014/main" id="{4D1C7E22-9C13-DCC4-83F8-FA50CD6EE2D1}"/>
              </a:ext>
            </a:extLst>
          </p:cNvPr>
          <p:cNvSpPr txBox="1"/>
          <p:nvPr/>
        </p:nvSpPr>
        <p:spPr>
          <a:xfrm>
            <a:off x="4764024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03</a:t>
            </a:r>
          </a:p>
        </p:txBody>
      </p:sp>
      <p:sp>
        <p:nvSpPr>
          <p:cNvPr id="50" name="TextBox 48">
            <a:extLst>
              <a:ext uri="{FF2B5EF4-FFF2-40B4-BE49-F238E27FC236}">
                <a16:creationId xmlns:a16="http://schemas.microsoft.com/office/drawing/2014/main" id="{674A23CC-D2E8-E923-71B8-F083F7306C4B}"/>
              </a:ext>
            </a:extLst>
          </p:cNvPr>
          <p:cNvSpPr txBox="1"/>
          <p:nvPr/>
        </p:nvSpPr>
        <p:spPr>
          <a:xfrm>
            <a:off x="4764024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추적</a:t>
            </a:r>
          </a:p>
        </p:txBody>
      </p:sp>
      <p:sp>
        <p:nvSpPr>
          <p:cNvPr id="51" name="TextBox 49">
            <a:extLst>
              <a:ext uri="{FF2B5EF4-FFF2-40B4-BE49-F238E27FC236}">
                <a16:creationId xmlns:a16="http://schemas.microsoft.com/office/drawing/2014/main" id="{14BA0F7D-D968-8BD1-544A-D29B14D08CDA}"/>
              </a:ext>
            </a:extLst>
          </p:cNvPr>
          <p:cNvSpPr txBox="1"/>
          <p:nvPr/>
        </p:nvSpPr>
        <p:spPr>
          <a:xfrm>
            <a:off x="4764024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Traceability</a:t>
            </a:r>
          </a:p>
        </p:txBody>
      </p:sp>
      <p:sp>
        <p:nvSpPr>
          <p:cNvPr id="52" name="TextBox 50">
            <a:extLst>
              <a:ext uri="{FF2B5EF4-FFF2-40B4-BE49-F238E27FC236}">
                <a16:creationId xmlns:a16="http://schemas.microsoft.com/office/drawing/2014/main" id="{E1C6CF6A-E570-EFC7-E3E5-DE0B16CA532A}"/>
              </a:ext>
            </a:extLst>
          </p:cNvPr>
          <p:cNvSpPr txBox="1"/>
          <p:nvPr/>
        </p:nvSpPr>
        <p:spPr>
          <a:xfrm>
            <a:off x="4764024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전수 역추적과 규제 컴플라이언스</a:t>
            </a:r>
          </a:p>
        </p:txBody>
      </p:sp>
      <p:sp>
        <p:nvSpPr>
          <p:cNvPr id="53" name="TextBox 51">
            <a:extLst>
              <a:ext uri="{FF2B5EF4-FFF2-40B4-BE49-F238E27FC236}">
                <a16:creationId xmlns:a16="http://schemas.microsoft.com/office/drawing/2014/main" id="{C1E3F0D1-ABB8-2FE7-6F9C-56825073640A}"/>
              </a:ext>
            </a:extLst>
          </p:cNvPr>
          <p:cNvSpPr txBox="1"/>
          <p:nvPr/>
        </p:nvSpPr>
        <p:spPr>
          <a:xfrm>
            <a:off x="4764024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모든 답변이 어떤 사용자·Skill·SQL·원본 데이터에서 왔는지 한 trace_id로 재구성됩니다.</a:t>
            </a:r>
          </a:p>
        </p:txBody>
      </p:sp>
      <p:cxnSp>
        <p:nvCxnSpPr>
          <p:cNvPr id="54" name="Connector 52">
            <a:extLst>
              <a:ext uri="{FF2B5EF4-FFF2-40B4-BE49-F238E27FC236}">
                <a16:creationId xmlns:a16="http://schemas.microsoft.com/office/drawing/2014/main" id="{9144E198-EA6B-9060-9A0A-DDC1ED060E97}"/>
              </a:ext>
            </a:extLst>
          </p:cNvPr>
          <p:cNvCxnSpPr/>
          <p:nvPr/>
        </p:nvCxnSpPr>
        <p:spPr>
          <a:xfrm>
            <a:off x="4764024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3">
            <a:extLst>
              <a:ext uri="{FF2B5EF4-FFF2-40B4-BE49-F238E27FC236}">
                <a16:creationId xmlns:a16="http://schemas.microsoft.com/office/drawing/2014/main" id="{7BD720B0-2D2E-C21F-AC82-746AC66C9F64}"/>
              </a:ext>
            </a:extLst>
          </p:cNvPr>
          <p:cNvSpPr txBox="1"/>
          <p:nvPr/>
        </p:nvSpPr>
        <p:spPr>
          <a:xfrm>
            <a:off x="4764024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추적 자산</a:t>
            </a: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523D65E2-1462-8342-76F6-434CA26D2719}"/>
              </a:ext>
            </a:extLst>
          </p:cNvPr>
          <p:cNvSpPr/>
          <p:nvPr/>
        </p:nvSpPr>
        <p:spPr>
          <a:xfrm>
            <a:off x="4764024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7" name="TextBox 55">
            <a:extLst>
              <a:ext uri="{FF2B5EF4-FFF2-40B4-BE49-F238E27FC236}">
                <a16:creationId xmlns:a16="http://schemas.microsoft.com/office/drawing/2014/main" id="{AF0D777E-7F1A-F52B-F020-BA772528E195}"/>
              </a:ext>
            </a:extLst>
          </p:cNvPr>
          <p:cNvSpPr txBox="1"/>
          <p:nvPr/>
        </p:nvSpPr>
        <p:spPr>
          <a:xfrm>
            <a:off x="4864608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Audit Trail 전수 기록</a:t>
            </a:r>
          </a:p>
        </p:txBody>
      </p:sp>
      <p:sp>
        <p:nvSpPr>
          <p:cNvPr id="58" name="TextBox 56">
            <a:extLst>
              <a:ext uri="{FF2B5EF4-FFF2-40B4-BE49-F238E27FC236}">
                <a16:creationId xmlns:a16="http://schemas.microsoft.com/office/drawing/2014/main" id="{7F577DF4-97D1-5DDD-59AC-77D7AB555A7C}"/>
              </a:ext>
            </a:extLst>
          </p:cNvPr>
          <p:cNvSpPr txBox="1"/>
          <p:nvPr/>
        </p:nvSpPr>
        <p:spPr>
          <a:xfrm>
            <a:off x="4864608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질의·SQL·도구 호출·응답을 trace_id 단위로 묶어 보관</a:t>
            </a: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AAB16A6A-9002-9241-B1EC-D1CADA0A2603}"/>
              </a:ext>
            </a:extLst>
          </p:cNvPr>
          <p:cNvSpPr/>
          <p:nvPr/>
        </p:nvSpPr>
        <p:spPr>
          <a:xfrm>
            <a:off x="4764024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0" name="TextBox 58">
            <a:extLst>
              <a:ext uri="{FF2B5EF4-FFF2-40B4-BE49-F238E27FC236}">
                <a16:creationId xmlns:a16="http://schemas.microsoft.com/office/drawing/2014/main" id="{CE92FBA8-ED60-89D1-4FC8-7487B29B67D9}"/>
              </a:ext>
            </a:extLst>
          </p:cNvPr>
          <p:cNvSpPr txBox="1"/>
          <p:nvPr/>
        </p:nvSpPr>
        <p:spPr>
          <a:xfrm>
            <a:off x="4864608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Lineage Graph 데이터 계보</a:t>
            </a:r>
          </a:p>
        </p:txBody>
      </p:sp>
      <p:sp>
        <p:nvSpPr>
          <p:cNvPr id="61" name="TextBox 59">
            <a:extLst>
              <a:ext uri="{FF2B5EF4-FFF2-40B4-BE49-F238E27FC236}">
                <a16:creationId xmlns:a16="http://schemas.microsoft.com/office/drawing/2014/main" id="{68D50644-6E84-4F90-9675-C81B2380A0DC}"/>
              </a:ext>
            </a:extLst>
          </p:cNvPr>
          <p:cNvSpPr txBox="1"/>
          <p:nvPr/>
        </p:nvSpPr>
        <p:spPr>
          <a:xfrm>
            <a:off x="4864608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KPI·테이블·답변의 의존 관계로 '이 수치가 어디서 왔는가' 즉시 분석</a:t>
            </a:r>
          </a:p>
        </p:txBody>
      </p:sp>
      <p:sp>
        <p:nvSpPr>
          <p:cNvPr id="62" name="Rectangle 60">
            <a:extLst>
              <a:ext uri="{FF2B5EF4-FFF2-40B4-BE49-F238E27FC236}">
                <a16:creationId xmlns:a16="http://schemas.microsoft.com/office/drawing/2014/main" id="{85F785F8-0140-3549-D709-B3FD47FE58DD}"/>
              </a:ext>
            </a:extLst>
          </p:cNvPr>
          <p:cNvSpPr/>
          <p:nvPr/>
        </p:nvSpPr>
        <p:spPr>
          <a:xfrm>
            <a:off x="4764024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3" name="TextBox 61">
            <a:extLst>
              <a:ext uri="{FF2B5EF4-FFF2-40B4-BE49-F238E27FC236}">
                <a16:creationId xmlns:a16="http://schemas.microsoft.com/office/drawing/2014/main" id="{40150D85-23CC-FF8D-F7C7-FABA02352235}"/>
              </a:ext>
            </a:extLst>
          </p:cNvPr>
          <p:cNvSpPr txBox="1"/>
          <p:nvPr/>
        </p:nvSpPr>
        <p:spPr>
          <a:xfrm>
            <a:off x="4864608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Data Provenance 출처 추적</a:t>
            </a:r>
          </a:p>
        </p:txBody>
      </p:sp>
      <p:sp>
        <p:nvSpPr>
          <p:cNvPr id="192" name="TextBox 62">
            <a:extLst>
              <a:ext uri="{FF2B5EF4-FFF2-40B4-BE49-F238E27FC236}">
                <a16:creationId xmlns:a16="http://schemas.microsoft.com/office/drawing/2014/main" id="{0E71577D-04F3-BECB-04AA-0822D2C1FB2C}"/>
              </a:ext>
            </a:extLst>
          </p:cNvPr>
          <p:cNvSpPr txBox="1"/>
          <p:nvPr/>
        </p:nvSpPr>
        <p:spPr>
          <a:xfrm>
            <a:off x="4864608" y="3939285"/>
            <a:ext cx="1687067" cy="2068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 dirty="0" err="1">
                <a:solidFill>
                  <a:srgbClr val="64748B"/>
                </a:solidFill>
                <a:latin typeface="SUIT Light"/>
              </a:rPr>
              <a:t>답변에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사용된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원본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데이터·KPI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정의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시점</a:t>
            </a:r>
            <a:r>
              <a:rPr lang="en-US"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lang="ko-KR" altLang="en-US" sz="630" b="0" dirty="0">
                <a:solidFill>
                  <a:srgbClr val="64748B"/>
                </a:solidFill>
                <a:latin typeface="SUIT Light"/>
              </a:rPr>
              <a:t>이전 추출과 비교 검증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까지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표시</a:t>
            </a:r>
            <a:endParaRPr sz="63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3" name="Rectangle 63">
            <a:extLst>
              <a:ext uri="{FF2B5EF4-FFF2-40B4-BE49-F238E27FC236}">
                <a16:creationId xmlns:a16="http://schemas.microsoft.com/office/drawing/2014/main" id="{30168046-C9CF-6A9B-D884-111C44701F3C}"/>
              </a:ext>
            </a:extLst>
          </p:cNvPr>
          <p:cNvSpPr/>
          <p:nvPr/>
        </p:nvSpPr>
        <p:spPr>
          <a:xfrm>
            <a:off x="4672583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94" name="TextBox 64">
            <a:extLst>
              <a:ext uri="{FF2B5EF4-FFF2-40B4-BE49-F238E27FC236}">
                <a16:creationId xmlns:a16="http://schemas.microsoft.com/office/drawing/2014/main" id="{FF9244D8-9F0F-5166-6160-58BDFB29713E}"/>
              </a:ext>
            </a:extLst>
          </p:cNvPr>
          <p:cNvSpPr txBox="1"/>
          <p:nvPr/>
        </p:nvSpPr>
        <p:spPr>
          <a:xfrm>
            <a:off x="4745736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/>
              </a:rPr>
              <a:t>→  SOX·GDPR 등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규제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산업의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AI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도입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요건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충족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.</a:t>
            </a:r>
          </a:p>
        </p:txBody>
      </p:sp>
      <p:sp>
        <p:nvSpPr>
          <p:cNvPr id="197" name="TextBox 67">
            <a:extLst>
              <a:ext uri="{FF2B5EF4-FFF2-40B4-BE49-F238E27FC236}">
                <a16:creationId xmlns:a16="http://schemas.microsoft.com/office/drawing/2014/main" id="{71C4B949-D85A-DA75-43C9-F55D26D58AC2}"/>
              </a:ext>
            </a:extLst>
          </p:cNvPr>
          <p:cNvSpPr txBox="1"/>
          <p:nvPr/>
        </p:nvSpPr>
        <p:spPr>
          <a:xfrm>
            <a:off x="6944868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04</a:t>
            </a:r>
          </a:p>
        </p:txBody>
      </p:sp>
      <p:sp>
        <p:nvSpPr>
          <p:cNvPr id="198" name="TextBox 68">
            <a:extLst>
              <a:ext uri="{FF2B5EF4-FFF2-40B4-BE49-F238E27FC236}">
                <a16:creationId xmlns:a16="http://schemas.microsoft.com/office/drawing/2014/main" id="{19AFBB67-3C7F-E4E4-E762-CDA13CA52E79}"/>
              </a:ext>
            </a:extLst>
          </p:cNvPr>
          <p:cNvSpPr txBox="1"/>
          <p:nvPr/>
        </p:nvSpPr>
        <p:spPr>
          <a:xfrm>
            <a:off x="6944868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보정</a:t>
            </a:r>
          </a:p>
        </p:txBody>
      </p:sp>
      <p:sp>
        <p:nvSpPr>
          <p:cNvPr id="199" name="TextBox 69">
            <a:extLst>
              <a:ext uri="{FF2B5EF4-FFF2-40B4-BE49-F238E27FC236}">
                <a16:creationId xmlns:a16="http://schemas.microsoft.com/office/drawing/2014/main" id="{553F35BD-42BE-B456-2900-B6E2EEAABA14}"/>
              </a:ext>
            </a:extLst>
          </p:cNvPr>
          <p:cNvSpPr txBox="1"/>
          <p:nvPr/>
        </p:nvSpPr>
        <p:spPr>
          <a:xfrm>
            <a:off x="6944868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Correction</a:t>
            </a:r>
          </a:p>
        </p:txBody>
      </p:sp>
      <p:sp>
        <p:nvSpPr>
          <p:cNvPr id="200" name="TextBox 70">
            <a:extLst>
              <a:ext uri="{FF2B5EF4-FFF2-40B4-BE49-F238E27FC236}">
                <a16:creationId xmlns:a16="http://schemas.microsoft.com/office/drawing/2014/main" id="{79BA4B91-9FB5-4D44-923F-140072DB31FF}"/>
              </a:ext>
            </a:extLst>
          </p:cNvPr>
          <p:cNvSpPr txBox="1"/>
          <p:nvPr/>
        </p:nvSpPr>
        <p:spPr>
          <a:xfrm>
            <a:off x="6944868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통제된 자기개선 루프</a:t>
            </a:r>
          </a:p>
        </p:txBody>
      </p:sp>
      <p:sp>
        <p:nvSpPr>
          <p:cNvPr id="201" name="TextBox 71">
            <a:extLst>
              <a:ext uri="{FF2B5EF4-FFF2-40B4-BE49-F238E27FC236}">
                <a16:creationId xmlns:a16="http://schemas.microsoft.com/office/drawing/2014/main" id="{F68CCF88-FE56-2730-702E-74DD24FA2C92}"/>
              </a:ext>
            </a:extLst>
          </p:cNvPr>
          <p:cNvSpPr txBox="1"/>
          <p:nvPr/>
        </p:nvSpPr>
        <p:spPr>
          <a:xfrm>
            <a:off x="6944868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실패와 거부 신호가 자동 트리거되고, 권한 위계를 거쳐 시스템이 스스로 학습합니다.</a:t>
            </a:r>
          </a:p>
        </p:txBody>
      </p:sp>
      <p:cxnSp>
        <p:nvCxnSpPr>
          <p:cNvPr id="202" name="Connector 72">
            <a:extLst>
              <a:ext uri="{FF2B5EF4-FFF2-40B4-BE49-F238E27FC236}">
                <a16:creationId xmlns:a16="http://schemas.microsoft.com/office/drawing/2014/main" id="{679899C2-477C-E936-1672-F9D7729D0389}"/>
              </a:ext>
            </a:extLst>
          </p:cNvPr>
          <p:cNvCxnSpPr/>
          <p:nvPr/>
        </p:nvCxnSpPr>
        <p:spPr>
          <a:xfrm>
            <a:off x="6944868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73">
            <a:extLst>
              <a:ext uri="{FF2B5EF4-FFF2-40B4-BE49-F238E27FC236}">
                <a16:creationId xmlns:a16="http://schemas.microsoft.com/office/drawing/2014/main" id="{381D298D-65F8-755B-44F3-1F0537C6E6DD}"/>
              </a:ext>
            </a:extLst>
          </p:cNvPr>
          <p:cNvSpPr txBox="1"/>
          <p:nvPr/>
        </p:nvSpPr>
        <p:spPr>
          <a:xfrm>
            <a:off x="6944868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4 TRIGGERS × 3 STEPS</a:t>
            </a:r>
          </a:p>
        </p:txBody>
      </p:sp>
      <p:sp>
        <p:nvSpPr>
          <p:cNvPr id="204" name="Rectangle 74">
            <a:extLst>
              <a:ext uri="{FF2B5EF4-FFF2-40B4-BE49-F238E27FC236}">
                <a16:creationId xmlns:a16="http://schemas.microsoft.com/office/drawing/2014/main" id="{8BF51BB0-9266-0BF9-4879-758F73B42F92}"/>
              </a:ext>
            </a:extLst>
          </p:cNvPr>
          <p:cNvSpPr/>
          <p:nvPr/>
        </p:nvSpPr>
        <p:spPr>
          <a:xfrm>
            <a:off x="6944868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5" name="TextBox 75">
            <a:extLst>
              <a:ext uri="{FF2B5EF4-FFF2-40B4-BE49-F238E27FC236}">
                <a16:creationId xmlns:a16="http://schemas.microsoft.com/office/drawing/2014/main" id="{1751E93C-2E2F-FBE5-C3FE-CFE8550A8084}"/>
              </a:ext>
            </a:extLst>
          </p:cNvPr>
          <p:cNvSpPr txBox="1"/>
          <p:nvPr/>
        </p:nvSpPr>
        <p:spPr>
          <a:xfrm>
            <a:off x="7045452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4가지 자동 트리거</a:t>
            </a:r>
          </a:p>
        </p:txBody>
      </p:sp>
      <p:sp>
        <p:nvSpPr>
          <p:cNvPr id="206" name="TextBox 76">
            <a:extLst>
              <a:ext uri="{FF2B5EF4-FFF2-40B4-BE49-F238E27FC236}">
                <a16:creationId xmlns:a16="http://schemas.microsoft.com/office/drawing/2014/main" id="{B79331A0-58B2-4605-1083-F026537620B1}"/>
              </a:ext>
            </a:extLst>
          </p:cNvPr>
          <p:cNvSpPr txBox="1"/>
          <p:nvPr/>
        </p:nvSpPr>
        <p:spPr>
          <a:xfrm>
            <a:off x="7045452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매칭 실패 · 저신뢰 · 실행 오류 · 사용자 거부 신호</a:t>
            </a:r>
          </a:p>
        </p:txBody>
      </p:sp>
      <p:sp>
        <p:nvSpPr>
          <p:cNvPr id="207" name="Rectangle 77">
            <a:extLst>
              <a:ext uri="{FF2B5EF4-FFF2-40B4-BE49-F238E27FC236}">
                <a16:creationId xmlns:a16="http://schemas.microsoft.com/office/drawing/2014/main" id="{76C945B2-1D6B-91B7-E982-9984633AFDE8}"/>
              </a:ext>
            </a:extLst>
          </p:cNvPr>
          <p:cNvSpPr/>
          <p:nvPr/>
        </p:nvSpPr>
        <p:spPr>
          <a:xfrm>
            <a:off x="6944868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8" name="TextBox 78">
            <a:extLst>
              <a:ext uri="{FF2B5EF4-FFF2-40B4-BE49-F238E27FC236}">
                <a16:creationId xmlns:a16="http://schemas.microsoft.com/office/drawing/2014/main" id="{66F9BC58-0E65-369E-41B9-F619F8CF2816}"/>
              </a:ext>
            </a:extLst>
          </p:cNvPr>
          <p:cNvSpPr txBox="1"/>
          <p:nvPr/>
        </p:nvSpPr>
        <p:spPr>
          <a:xfrm>
            <a:off x="7045452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1 자동 / Step 2 LLM 제안</a:t>
            </a:r>
          </a:p>
        </p:txBody>
      </p:sp>
      <p:sp>
        <p:nvSpPr>
          <p:cNvPr id="209" name="TextBox 79">
            <a:extLst>
              <a:ext uri="{FF2B5EF4-FFF2-40B4-BE49-F238E27FC236}">
                <a16:creationId xmlns:a16="http://schemas.microsoft.com/office/drawing/2014/main" id="{5A817A0F-3C5F-C9DB-2D1E-EBCAA09346AB}"/>
              </a:ext>
            </a:extLst>
          </p:cNvPr>
          <p:cNvSpPr txBox="1"/>
          <p:nvPr/>
        </p:nvSpPr>
        <p:spPr>
          <a:xfrm>
            <a:off x="7045452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동의어·오탈자 자동 학습, 신규 Intent는 PR처럼 리뷰 대기</a:t>
            </a:r>
          </a:p>
        </p:txBody>
      </p:sp>
      <p:sp>
        <p:nvSpPr>
          <p:cNvPr id="210" name="Rectangle 80">
            <a:extLst>
              <a:ext uri="{FF2B5EF4-FFF2-40B4-BE49-F238E27FC236}">
                <a16:creationId xmlns:a16="http://schemas.microsoft.com/office/drawing/2014/main" id="{9036064A-9627-9242-0F5D-410397EA522C}"/>
              </a:ext>
            </a:extLst>
          </p:cNvPr>
          <p:cNvSpPr/>
          <p:nvPr/>
        </p:nvSpPr>
        <p:spPr>
          <a:xfrm>
            <a:off x="6944868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1" name="TextBox 81">
            <a:extLst>
              <a:ext uri="{FF2B5EF4-FFF2-40B4-BE49-F238E27FC236}">
                <a16:creationId xmlns:a16="http://schemas.microsoft.com/office/drawing/2014/main" id="{63431697-2B6C-5CA9-BB68-E4894F24FAC3}"/>
              </a:ext>
            </a:extLst>
          </p:cNvPr>
          <p:cNvSpPr txBox="1"/>
          <p:nvPr/>
        </p:nvSpPr>
        <p:spPr>
          <a:xfrm>
            <a:off x="7045452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3 사람 승인</a:t>
            </a:r>
          </a:p>
        </p:txBody>
      </p:sp>
      <p:sp>
        <p:nvSpPr>
          <p:cNvPr id="212" name="TextBox 82">
            <a:extLst>
              <a:ext uri="{FF2B5EF4-FFF2-40B4-BE49-F238E27FC236}">
                <a16:creationId xmlns:a16="http://schemas.microsoft.com/office/drawing/2014/main" id="{D1676BB9-AC62-22BB-FF2E-E6C14698B2E4}"/>
              </a:ext>
            </a:extLst>
          </p:cNvPr>
          <p:cNvSpPr txBox="1"/>
          <p:nvPr/>
        </p:nvSpPr>
        <p:spPr>
          <a:xfrm>
            <a:off x="7045452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핵심 룰 변경은 도메인 SME 최종 승인 후 반영</a:t>
            </a:r>
          </a:p>
        </p:txBody>
      </p:sp>
      <p:sp>
        <p:nvSpPr>
          <p:cNvPr id="213" name="Rectangle 83">
            <a:extLst>
              <a:ext uri="{FF2B5EF4-FFF2-40B4-BE49-F238E27FC236}">
                <a16:creationId xmlns:a16="http://schemas.microsoft.com/office/drawing/2014/main" id="{6F15F52F-F3D9-1A5A-DC7C-98FA591C6E5F}"/>
              </a:ext>
            </a:extLst>
          </p:cNvPr>
          <p:cNvSpPr/>
          <p:nvPr/>
        </p:nvSpPr>
        <p:spPr>
          <a:xfrm>
            <a:off x="6853427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4" name="TextBox 84">
            <a:extLst>
              <a:ext uri="{FF2B5EF4-FFF2-40B4-BE49-F238E27FC236}">
                <a16:creationId xmlns:a16="http://schemas.microsoft.com/office/drawing/2014/main" id="{00837A42-C986-2833-B81C-8AA19C424041}"/>
              </a:ext>
            </a:extLst>
          </p:cNvPr>
          <p:cNvSpPr txBox="1"/>
          <p:nvPr/>
        </p:nvSpPr>
        <p:spPr>
          <a:xfrm>
            <a:off x="6926579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실패가 통제된 절차로 다음 답변의 자산이 됩니다.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0D3AC0C5-BC05-A200-9665-E91DAFCCDA84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검증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격리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추적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보정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ko-KR" altLang="en-US" sz="1400" b="1" dirty="0">
                <a:latin typeface="+mn-ea"/>
                <a:ea typeface="+mn-ea"/>
              </a:rPr>
              <a:t>일반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 err="1">
                <a:latin typeface="+mn-ea"/>
                <a:ea typeface="+mn-ea"/>
              </a:rPr>
              <a:t>챗봇이</a:t>
            </a:r>
            <a:r>
              <a:rPr lang="ko-KR" altLang="en-US" sz="1400" b="1" dirty="0">
                <a:latin typeface="+mn-ea"/>
                <a:ea typeface="+mn-ea"/>
              </a:rPr>
              <a:t> 못 하는 </a:t>
            </a:r>
            <a:r>
              <a:rPr lang="en-US" altLang="ko-KR" sz="1400" b="1" dirty="0">
                <a:latin typeface="+mn-ea"/>
                <a:ea typeface="+mn-ea"/>
              </a:rPr>
              <a:t>4</a:t>
            </a:r>
            <a:r>
              <a:rPr lang="ko-KR" altLang="en-US" sz="1400" b="1" dirty="0">
                <a:latin typeface="+mn-ea"/>
                <a:ea typeface="+mn-ea"/>
              </a:rPr>
              <a:t>대 통제를 구조로 보장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783F060A-ACAA-8B43-318E-AAE5B9C804A9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3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계층 분리 설계가 만들어내는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4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대 보장과 각 메커니즘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분석 결과를 신뢰할 수 있는 구조적 근거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9962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39343-4097-0480-5CEC-B15C81464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50B78AC2-8587-C3D0-E0B3-91BD4059B3F5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E615AA9E-859D-3735-0B9A-5C92D5937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엔터프라이즈급 보안 및 권한 제어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(Security &amp; Governance)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EBF1851-0085-12CC-1814-0BB2BFF038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2D24A9C-7328-5827-2CCE-6F1CEF3CD8B9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기업의 핵심 자산을 다루는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는 인프라 격리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역할 기반 접근 통제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(RBAC),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데이터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마스킹을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결합한 다중 방어 체계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(Multi-Layer Security)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통해 빈틈없는 거버넌스를 구현합니다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4E3629C3-DF45-54D1-A8E3-F2D8C261EC29}"/>
              </a:ext>
            </a:extLst>
          </p:cNvPr>
          <p:cNvSpPr/>
          <p:nvPr/>
        </p:nvSpPr>
        <p:spPr>
          <a:xfrm>
            <a:off x="237744" y="1266694"/>
            <a:ext cx="8705088" cy="1209044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A44D2D3-38D2-08DB-874B-5FDB97DC5931}"/>
              </a:ext>
            </a:extLst>
          </p:cNvPr>
          <p:cNvCxnSpPr/>
          <p:nvPr/>
        </p:nvCxnSpPr>
        <p:spPr>
          <a:xfrm>
            <a:off x="594360" y="1751076"/>
            <a:ext cx="80010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F519240-F819-C087-212B-493B461DDD00}"/>
              </a:ext>
            </a:extLst>
          </p:cNvPr>
          <p:cNvGrpSpPr/>
          <p:nvPr/>
        </p:nvGrpSpPr>
        <p:grpSpPr>
          <a:xfrm>
            <a:off x="7915268" y="1540570"/>
            <a:ext cx="421012" cy="421012"/>
            <a:chOff x="7915268" y="1709734"/>
            <a:chExt cx="421012" cy="421012"/>
          </a:xfrm>
          <a:solidFill>
            <a:srgbClr val="00A896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2F283C2B-8994-A7F0-A501-F16C693280F3}"/>
                </a:ext>
              </a:extLst>
            </p:cNvPr>
            <p:cNvSpPr/>
            <p:nvPr/>
          </p:nvSpPr>
          <p:spPr>
            <a:xfrm>
              <a:off x="7915268" y="1709734"/>
              <a:ext cx="421012" cy="421012"/>
            </a:xfrm>
            <a:prstGeom prst="ellipse">
              <a:avLst/>
            </a:prstGeom>
            <a:grpFill/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래픽 30" descr="체크리스트 단색으로 채워진">
              <a:extLst>
                <a:ext uri="{FF2B5EF4-FFF2-40B4-BE49-F238E27FC236}">
                  <a16:creationId xmlns:a16="http://schemas.microsoft.com/office/drawing/2014/main" id="{A4DE62A2-81D0-FC26-E85D-28CCE9B554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008727" y="1814530"/>
              <a:ext cx="234094" cy="234094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610405D-552E-24A7-4B71-0CDA182EE1E4}"/>
              </a:ext>
            </a:extLst>
          </p:cNvPr>
          <p:cNvGrpSpPr/>
          <p:nvPr/>
        </p:nvGrpSpPr>
        <p:grpSpPr>
          <a:xfrm>
            <a:off x="6175368" y="1540570"/>
            <a:ext cx="421012" cy="421012"/>
            <a:chOff x="6141740" y="1709734"/>
            <a:chExt cx="421012" cy="421012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4235701B-82CB-E367-E307-9CDD1E0D2FC1}"/>
                </a:ext>
              </a:extLst>
            </p:cNvPr>
            <p:cNvSpPr/>
            <p:nvPr/>
          </p:nvSpPr>
          <p:spPr>
            <a:xfrm>
              <a:off x="6141740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3" name="그래픽 32" descr="프로세서 단색으로 채워진">
              <a:extLst>
                <a:ext uri="{FF2B5EF4-FFF2-40B4-BE49-F238E27FC236}">
                  <a16:creationId xmlns:a16="http://schemas.microsoft.com/office/drawing/2014/main" id="{1D19D7B7-715F-6A23-16CD-643AF7D22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41295" y="1796242"/>
              <a:ext cx="234094" cy="234094"/>
            </a:xfrm>
            <a:prstGeom prst="rect">
              <a:avLst/>
            </a:prstGeom>
          </p:spPr>
        </p:pic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7EDE1CE-3125-1D93-F8F8-05A9B69A0EDC}"/>
              </a:ext>
            </a:extLst>
          </p:cNvPr>
          <p:cNvGrpSpPr/>
          <p:nvPr/>
        </p:nvGrpSpPr>
        <p:grpSpPr>
          <a:xfrm>
            <a:off x="4435468" y="1538210"/>
            <a:ext cx="421012" cy="421012"/>
            <a:chOff x="4379782" y="1707374"/>
            <a:chExt cx="421012" cy="421012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C72D68D-BB0E-572F-2B0B-23B19CDCE738}"/>
                </a:ext>
              </a:extLst>
            </p:cNvPr>
            <p:cNvSpPr/>
            <p:nvPr/>
          </p:nvSpPr>
          <p:spPr>
            <a:xfrm>
              <a:off x="4379782" y="170737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" name="그래픽 34" descr="선글라스 윤곽선">
              <a:extLst>
                <a:ext uri="{FF2B5EF4-FFF2-40B4-BE49-F238E27FC236}">
                  <a16:creationId xmlns:a16="http://schemas.microsoft.com/office/drawing/2014/main" id="{631B1CE7-977D-59B1-FE69-2DEF24672B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45294" y="1788568"/>
              <a:ext cx="305776" cy="271486"/>
            </a:xfrm>
            <a:prstGeom prst="rect">
              <a:avLst/>
            </a:prstGeom>
          </p:spPr>
        </p:pic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F8DBF36-D3F4-F53E-1282-CE317C0671D9}"/>
              </a:ext>
            </a:extLst>
          </p:cNvPr>
          <p:cNvGrpSpPr/>
          <p:nvPr/>
        </p:nvGrpSpPr>
        <p:grpSpPr>
          <a:xfrm>
            <a:off x="2695568" y="1540570"/>
            <a:ext cx="421012" cy="421012"/>
            <a:chOff x="2717626" y="1709734"/>
            <a:chExt cx="421012" cy="421012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3A425E38-308A-D85D-59BB-C85864C89191}"/>
                </a:ext>
              </a:extLst>
            </p:cNvPr>
            <p:cNvSpPr/>
            <p:nvPr/>
          </p:nvSpPr>
          <p:spPr>
            <a:xfrm>
              <a:off x="2717626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사원증 단색으로 채워진">
              <a:extLst>
                <a:ext uri="{FF2B5EF4-FFF2-40B4-BE49-F238E27FC236}">
                  <a16:creationId xmlns:a16="http://schemas.microsoft.com/office/drawing/2014/main" id="{960C522B-03E4-EC61-6C2D-C1D6993933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2749" y="1785649"/>
              <a:ext cx="234094" cy="234094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0B088F4-8C5C-F05A-FB30-B5B6CEEC13F8}"/>
              </a:ext>
            </a:extLst>
          </p:cNvPr>
          <p:cNvGrpSpPr/>
          <p:nvPr/>
        </p:nvGrpSpPr>
        <p:grpSpPr>
          <a:xfrm>
            <a:off x="955668" y="1540570"/>
            <a:ext cx="421012" cy="421012"/>
            <a:chOff x="955668" y="1709734"/>
            <a:chExt cx="421012" cy="421012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5D683A8-CE63-82EF-D1DF-AA61DA27493A}"/>
                </a:ext>
              </a:extLst>
            </p:cNvPr>
            <p:cNvSpPr/>
            <p:nvPr/>
          </p:nvSpPr>
          <p:spPr>
            <a:xfrm>
              <a:off x="955668" y="1709734"/>
              <a:ext cx="421012" cy="421012"/>
            </a:xfrm>
            <a:prstGeom prst="ellipse">
              <a:avLst/>
            </a:prstGeom>
            <a:solidFill>
              <a:srgbClr val="272F40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9" name="그래픽 38" descr="말풍선 단색으로 채워진">
              <a:extLst>
                <a:ext uri="{FF2B5EF4-FFF2-40B4-BE49-F238E27FC236}">
                  <a16:creationId xmlns:a16="http://schemas.microsoft.com/office/drawing/2014/main" id="{E1688958-7C5C-0E66-4CC2-72AC692F8E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9127" y="1811418"/>
              <a:ext cx="234094" cy="234094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58538C9D-2D40-8584-8B82-0778ADAA5D80}"/>
              </a:ext>
            </a:extLst>
          </p:cNvPr>
          <p:cNvSpPr txBox="1"/>
          <p:nvPr/>
        </p:nvSpPr>
        <p:spPr>
          <a:xfrm>
            <a:off x="857305" y="1985084"/>
            <a:ext cx="617737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질의 입력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30165F-B0B2-E2C2-5939-CE2A1CDDA107}"/>
              </a:ext>
            </a:extLst>
          </p:cNvPr>
          <p:cNvSpPr txBox="1"/>
          <p:nvPr/>
        </p:nvSpPr>
        <p:spPr>
          <a:xfrm>
            <a:off x="2493986" y="1965055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RBAC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검증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167F65-C951-4AA9-69C2-544C869E4E5A}"/>
              </a:ext>
            </a:extLst>
          </p:cNvPr>
          <p:cNvSpPr txBox="1"/>
          <p:nvPr/>
        </p:nvSpPr>
        <p:spPr>
          <a:xfrm>
            <a:off x="3955812" y="1965055"/>
            <a:ext cx="14794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PII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마스킹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8F379B-D53E-080A-5F46-67040C32585D}"/>
              </a:ext>
            </a:extLst>
          </p:cNvPr>
          <p:cNvSpPr txBox="1"/>
          <p:nvPr/>
        </p:nvSpPr>
        <p:spPr>
          <a:xfrm>
            <a:off x="5989574" y="19784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안전한 추론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397E4E-5534-EA19-5C20-8702D49CA4DD}"/>
              </a:ext>
            </a:extLst>
          </p:cNvPr>
          <p:cNvSpPr txBox="1"/>
          <p:nvPr/>
        </p:nvSpPr>
        <p:spPr>
          <a:xfrm>
            <a:off x="7737368" y="19846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5.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전수 감사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4E39C33E-D48F-9FDB-0039-752EB9EC3065}"/>
              </a:ext>
            </a:extLst>
          </p:cNvPr>
          <p:cNvSpPr/>
          <p:nvPr/>
        </p:nvSpPr>
        <p:spPr>
          <a:xfrm>
            <a:off x="2655887" y="1338652"/>
            <a:ext cx="500372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SECURITY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AD6FAF21-DAEB-1DAA-999F-C42D8FC02B2F}"/>
              </a:ext>
            </a:extLst>
          </p:cNvPr>
          <p:cNvSpPr/>
          <p:nvPr/>
        </p:nvSpPr>
        <p:spPr>
          <a:xfrm>
            <a:off x="4451804" y="1341784"/>
            <a:ext cx="382231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SHIELD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305A64-D14E-CC4A-F69E-3F9E45A4F50E}"/>
              </a:ext>
            </a:extLst>
          </p:cNvPr>
          <p:cNvSpPr txBox="1"/>
          <p:nvPr/>
        </p:nvSpPr>
        <p:spPr>
          <a:xfrm>
            <a:off x="2559628" y="2121931"/>
            <a:ext cx="818638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사용자 부서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직급별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인가 스킬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데이터 확인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D9B6CB-4228-0D56-6808-5980AAF92571}"/>
              </a:ext>
            </a:extLst>
          </p:cNvPr>
          <p:cNvSpPr txBox="1"/>
          <p:nvPr/>
        </p:nvSpPr>
        <p:spPr>
          <a:xfrm>
            <a:off x="4264118" y="2133966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사전 정의된 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PII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패턴 기반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`***`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비식별화 처리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FE2838-A65E-CDFE-6162-351B3FFCE6C5}"/>
              </a:ext>
            </a:extLst>
          </p:cNvPr>
          <p:cNvSpPr txBox="1"/>
          <p:nvPr/>
        </p:nvSpPr>
        <p:spPr>
          <a:xfrm>
            <a:off x="6012776" y="2131689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검증을 통과한 데이터로만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제한된 내부 런타임 실행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BD689-3B47-F917-C953-E987D9C8932D}"/>
              </a:ext>
            </a:extLst>
          </p:cNvPr>
          <p:cNvSpPr txBox="1"/>
          <p:nvPr/>
        </p:nvSpPr>
        <p:spPr>
          <a:xfrm>
            <a:off x="7737368" y="2143761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모든 트랜잭션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(SQL,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조회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100%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로깅 추적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4C3371C-5683-2078-B290-76A8D9033061}"/>
              </a:ext>
            </a:extLst>
          </p:cNvPr>
          <p:cNvSpPr/>
          <p:nvPr/>
        </p:nvSpPr>
        <p:spPr>
          <a:xfrm>
            <a:off x="237744" y="2580291"/>
            <a:ext cx="8712000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7FE0BE8-1FCC-02D1-1819-11E508E42B78}"/>
              </a:ext>
            </a:extLst>
          </p:cNvPr>
          <p:cNvSpPr/>
          <p:nvPr/>
        </p:nvSpPr>
        <p:spPr>
          <a:xfrm>
            <a:off x="237744" y="3386155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E14578F-D2B8-8B6D-C88F-B318E0D55D5B}"/>
              </a:ext>
            </a:extLst>
          </p:cNvPr>
          <p:cNvSpPr/>
          <p:nvPr/>
        </p:nvSpPr>
        <p:spPr>
          <a:xfrm>
            <a:off x="237744" y="4192018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57EBFACB-AD0F-A096-8D94-0A5112EA2BE5}"/>
              </a:ext>
            </a:extLst>
          </p:cNvPr>
          <p:cNvSpPr/>
          <p:nvPr/>
        </p:nvSpPr>
        <p:spPr>
          <a:xfrm>
            <a:off x="406164" y="2750283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83CAF3E-E038-0442-2AA9-AB774780A633}"/>
              </a:ext>
            </a:extLst>
          </p:cNvPr>
          <p:cNvSpPr/>
          <p:nvPr/>
        </p:nvSpPr>
        <p:spPr>
          <a:xfrm>
            <a:off x="406164" y="3549984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1B0121D5-1BE1-2F40-DF52-665E5BEC83A7}"/>
              </a:ext>
            </a:extLst>
          </p:cNvPr>
          <p:cNvSpPr/>
          <p:nvPr/>
        </p:nvSpPr>
        <p:spPr>
          <a:xfrm>
            <a:off x="406164" y="4349685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그래픽 18" descr="형사 남성 단색으로 채워진">
            <a:extLst>
              <a:ext uri="{FF2B5EF4-FFF2-40B4-BE49-F238E27FC236}">
                <a16:creationId xmlns:a16="http://schemas.microsoft.com/office/drawing/2014/main" id="{82798C5F-B534-85E4-3167-6DA53ECE3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0259" y="4388537"/>
            <a:ext cx="266304" cy="266304"/>
          </a:xfrm>
          <a:prstGeom prst="rect">
            <a:avLst/>
          </a:prstGeom>
        </p:spPr>
      </p:pic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8DEB21AF-C155-D981-6AB9-04659FEB9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5719" y="3577985"/>
            <a:ext cx="297281" cy="297281"/>
          </a:xfrm>
          <a:prstGeom prst="rect">
            <a:avLst/>
          </a:prstGeom>
        </p:spPr>
      </p:pic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5CAB032-A1A6-41BA-557D-ADECA9B9E0EB}"/>
              </a:ext>
            </a:extLst>
          </p:cNvPr>
          <p:cNvSpPr/>
          <p:nvPr/>
        </p:nvSpPr>
        <p:spPr>
          <a:xfrm rot="5400000">
            <a:off x="637589" y="3741645"/>
            <a:ext cx="113142" cy="122905"/>
          </a:xfrm>
          <a:custGeom>
            <a:avLst/>
            <a:gdLst>
              <a:gd name="csX0" fmla="*/ 50628 w 101256"/>
              <a:gd name="csY0" fmla="*/ 68455 h 101018"/>
              <a:gd name="csX1" fmla="*/ 32801 w 101256"/>
              <a:gd name="csY1" fmla="*/ 50628 h 101018"/>
              <a:gd name="csX2" fmla="*/ 50628 w 101256"/>
              <a:gd name="csY2" fmla="*/ 32801 h 101018"/>
              <a:gd name="csX3" fmla="*/ 68455 w 101256"/>
              <a:gd name="csY3" fmla="*/ 50628 h 101018"/>
              <a:gd name="csX4" fmla="*/ 50628 w 101256"/>
              <a:gd name="csY4" fmla="*/ 68455 h 101018"/>
              <a:gd name="csX5" fmla="*/ 50628 w 101256"/>
              <a:gd name="csY5" fmla="*/ 68455 h 101018"/>
              <a:gd name="csX6" fmla="*/ 86995 w 101256"/>
              <a:gd name="csY6" fmla="*/ 30187 h 101018"/>
              <a:gd name="csX7" fmla="*/ 90798 w 101256"/>
              <a:gd name="csY7" fmla="*/ 19015 h 101018"/>
              <a:gd name="csX8" fmla="*/ 82241 w 101256"/>
              <a:gd name="csY8" fmla="*/ 10458 h 101018"/>
              <a:gd name="csX9" fmla="*/ 71069 w 101256"/>
              <a:gd name="csY9" fmla="*/ 14261 h 101018"/>
              <a:gd name="csX10" fmla="*/ 61800 w 101256"/>
              <a:gd name="csY10" fmla="*/ 10458 h 101018"/>
              <a:gd name="csX11" fmla="*/ 56570 w 101256"/>
              <a:gd name="csY11" fmla="*/ 0 h 101018"/>
              <a:gd name="csX12" fmla="*/ 44686 w 101256"/>
              <a:gd name="csY12" fmla="*/ 0 h 101018"/>
              <a:gd name="csX13" fmla="*/ 39457 w 101256"/>
              <a:gd name="csY13" fmla="*/ 10458 h 101018"/>
              <a:gd name="csX14" fmla="*/ 30187 w 101256"/>
              <a:gd name="csY14" fmla="*/ 14261 h 101018"/>
              <a:gd name="csX15" fmla="*/ 19015 w 101256"/>
              <a:gd name="csY15" fmla="*/ 10458 h 101018"/>
              <a:gd name="csX16" fmla="*/ 10696 w 101256"/>
              <a:gd name="csY16" fmla="*/ 18778 h 101018"/>
              <a:gd name="csX17" fmla="*/ 14261 w 101256"/>
              <a:gd name="csY17" fmla="*/ 29949 h 101018"/>
              <a:gd name="csX18" fmla="*/ 10458 w 101256"/>
              <a:gd name="csY18" fmla="*/ 39219 h 101018"/>
              <a:gd name="csX19" fmla="*/ 0 w 101256"/>
              <a:gd name="csY19" fmla="*/ 44448 h 101018"/>
              <a:gd name="csX20" fmla="*/ 0 w 101256"/>
              <a:gd name="csY20" fmla="*/ 56333 h 101018"/>
              <a:gd name="csX21" fmla="*/ 10458 w 101256"/>
              <a:gd name="csY21" fmla="*/ 61562 h 101018"/>
              <a:gd name="csX22" fmla="*/ 14261 w 101256"/>
              <a:gd name="csY22" fmla="*/ 70832 h 101018"/>
              <a:gd name="csX23" fmla="*/ 10696 w 101256"/>
              <a:gd name="csY23" fmla="*/ 82003 h 101018"/>
              <a:gd name="csX24" fmla="*/ 19015 w 101256"/>
              <a:gd name="csY24" fmla="*/ 90322 h 101018"/>
              <a:gd name="csX25" fmla="*/ 30187 w 101256"/>
              <a:gd name="csY25" fmla="*/ 86757 h 101018"/>
              <a:gd name="csX26" fmla="*/ 39457 w 101256"/>
              <a:gd name="csY26" fmla="*/ 90560 h 101018"/>
              <a:gd name="csX27" fmla="*/ 44686 w 101256"/>
              <a:gd name="csY27" fmla="*/ 101019 h 101018"/>
              <a:gd name="csX28" fmla="*/ 56570 w 101256"/>
              <a:gd name="csY28" fmla="*/ 101019 h 101018"/>
              <a:gd name="csX29" fmla="*/ 61800 w 101256"/>
              <a:gd name="csY29" fmla="*/ 90560 h 101018"/>
              <a:gd name="csX30" fmla="*/ 71069 w 101256"/>
              <a:gd name="csY30" fmla="*/ 86757 h 101018"/>
              <a:gd name="csX31" fmla="*/ 82241 w 101256"/>
              <a:gd name="csY31" fmla="*/ 90560 h 101018"/>
              <a:gd name="csX32" fmla="*/ 90560 w 101256"/>
              <a:gd name="csY32" fmla="*/ 82003 h 101018"/>
              <a:gd name="csX33" fmla="*/ 86995 w 101256"/>
              <a:gd name="csY33" fmla="*/ 71070 h 101018"/>
              <a:gd name="csX34" fmla="*/ 90798 w 101256"/>
              <a:gd name="csY34" fmla="*/ 61800 h 101018"/>
              <a:gd name="csX35" fmla="*/ 101256 w 101256"/>
              <a:gd name="csY35" fmla="*/ 56570 h 101018"/>
              <a:gd name="csX36" fmla="*/ 101256 w 101256"/>
              <a:gd name="csY36" fmla="*/ 44686 h 101018"/>
              <a:gd name="csX37" fmla="*/ 90798 w 101256"/>
              <a:gd name="csY37" fmla="*/ 39457 h 101018"/>
              <a:gd name="csX38" fmla="*/ 86995 w 101256"/>
              <a:gd name="csY38" fmla="*/ 30187 h 101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01256" h="101018">
                <a:moveTo>
                  <a:pt x="50628" y="68455"/>
                </a:moveTo>
                <a:cubicBezTo>
                  <a:pt x="40645" y="68455"/>
                  <a:pt x="32801" y="60373"/>
                  <a:pt x="32801" y="50628"/>
                </a:cubicBezTo>
                <a:cubicBezTo>
                  <a:pt x="32801" y="40645"/>
                  <a:pt x="40883" y="32801"/>
                  <a:pt x="50628" y="32801"/>
                </a:cubicBezTo>
                <a:cubicBezTo>
                  <a:pt x="60611" y="32801"/>
                  <a:pt x="68455" y="40883"/>
                  <a:pt x="68455" y="50628"/>
                </a:cubicBezTo>
                <a:cubicBezTo>
                  <a:pt x="68455" y="60373"/>
                  <a:pt x="60611" y="68455"/>
                  <a:pt x="50628" y="68455"/>
                </a:cubicBezTo>
                <a:lnTo>
                  <a:pt x="50628" y="68455"/>
                </a:lnTo>
                <a:close/>
                <a:moveTo>
                  <a:pt x="86995" y="30187"/>
                </a:moveTo>
                <a:lnTo>
                  <a:pt x="90798" y="19015"/>
                </a:lnTo>
                <a:lnTo>
                  <a:pt x="82241" y="10458"/>
                </a:lnTo>
                <a:lnTo>
                  <a:pt x="71069" y="14261"/>
                </a:lnTo>
                <a:cubicBezTo>
                  <a:pt x="68217" y="12598"/>
                  <a:pt x="64890" y="11409"/>
                  <a:pt x="61800" y="10458"/>
                </a:cubicBezTo>
                <a:lnTo>
                  <a:pt x="56570" y="0"/>
                </a:lnTo>
                <a:lnTo>
                  <a:pt x="44686" y="0"/>
                </a:lnTo>
                <a:lnTo>
                  <a:pt x="39457" y="10458"/>
                </a:lnTo>
                <a:cubicBezTo>
                  <a:pt x="36129" y="11409"/>
                  <a:pt x="33039" y="12598"/>
                  <a:pt x="30187" y="14261"/>
                </a:cubicBezTo>
                <a:lnTo>
                  <a:pt x="19015" y="10458"/>
                </a:lnTo>
                <a:lnTo>
                  <a:pt x="10696" y="18778"/>
                </a:lnTo>
                <a:lnTo>
                  <a:pt x="14261" y="29949"/>
                </a:lnTo>
                <a:cubicBezTo>
                  <a:pt x="12598" y="32801"/>
                  <a:pt x="11409" y="36129"/>
                  <a:pt x="10458" y="39219"/>
                </a:cubicBezTo>
                <a:lnTo>
                  <a:pt x="0" y="44448"/>
                </a:lnTo>
                <a:lnTo>
                  <a:pt x="0" y="56333"/>
                </a:lnTo>
                <a:lnTo>
                  <a:pt x="10458" y="61562"/>
                </a:lnTo>
                <a:cubicBezTo>
                  <a:pt x="11409" y="64890"/>
                  <a:pt x="12598" y="67980"/>
                  <a:pt x="14261" y="70832"/>
                </a:cubicBezTo>
                <a:lnTo>
                  <a:pt x="10696" y="82003"/>
                </a:lnTo>
                <a:lnTo>
                  <a:pt x="19015" y="90322"/>
                </a:lnTo>
                <a:lnTo>
                  <a:pt x="30187" y="86757"/>
                </a:lnTo>
                <a:cubicBezTo>
                  <a:pt x="33039" y="88421"/>
                  <a:pt x="36129" y="89609"/>
                  <a:pt x="39457" y="90560"/>
                </a:cubicBezTo>
                <a:lnTo>
                  <a:pt x="44686" y="101019"/>
                </a:lnTo>
                <a:lnTo>
                  <a:pt x="56570" y="101019"/>
                </a:lnTo>
                <a:lnTo>
                  <a:pt x="61800" y="90560"/>
                </a:lnTo>
                <a:cubicBezTo>
                  <a:pt x="65127" y="89609"/>
                  <a:pt x="68217" y="88421"/>
                  <a:pt x="71069" y="86757"/>
                </a:cubicBezTo>
                <a:lnTo>
                  <a:pt x="82241" y="90560"/>
                </a:lnTo>
                <a:lnTo>
                  <a:pt x="90560" y="82003"/>
                </a:lnTo>
                <a:lnTo>
                  <a:pt x="86995" y="71070"/>
                </a:lnTo>
                <a:cubicBezTo>
                  <a:pt x="88659" y="68217"/>
                  <a:pt x="89847" y="65127"/>
                  <a:pt x="90798" y="61800"/>
                </a:cubicBezTo>
                <a:lnTo>
                  <a:pt x="101256" y="56570"/>
                </a:lnTo>
                <a:lnTo>
                  <a:pt x="101256" y="44686"/>
                </a:lnTo>
                <a:lnTo>
                  <a:pt x="90798" y="39457"/>
                </a:lnTo>
                <a:cubicBezTo>
                  <a:pt x="89847" y="36129"/>
                  <a:pt x="88659" y="33039"/>
                  <a:pt x="86995" y="30187"/>
                </a:cubicBezTo>
                <a:close/>
              </a:path>
            </a:pathLst>
          </a:custGeom>
          <a:solidFill>
            <a:srgbClr val="000000"/>
          </a:solidFill>
          <a:ln w="9525" cap="flat">
            <a:solidFill>
              <a:srgbClr val="FFE4E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그래픽 31" descr="서버 단색으로 채워진">
            <a:extLst>
              <a:ext uri="{FF2B5EF4-FFF2-40B4-BE49-F238E27FC236}">
                <a16:creationId xmlns:a16="http://schemas.microsoft.com/office/drawing/2014/main" id="{3D92769E-EB30-2386-9FDD-D8A0717695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47153"/>
          <a:stretch>
            <a:fillRect/>
          </a:stretch>
        </p:blipFill>
        <p:spPr>
          <a:xfrm rot="10800000">
            <a:off x="439939" y="2843343"/>
            <a:ext cx="321349" cy="2029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2CC923AF-A9B7-7394-4752-9470AB02F0B3}"/>
              </a:ext>
            </a:extLst>
          </p:cNvPr>
          <p:cNvSpPr txBox="1"/>
          <p:nvPr/>
        </p:nvSpPr>
        <p:spPr>
          <a:xfrm>
            <a:off x="857305" y="2758359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인프라 보안 및 격리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01. Infrastructure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D92910-64B2-A96D-71E5-5D71604479C2}"/>
              </a:ext>
            </a:extLst>
          </p:cNvPr>
          <p:cNvSpPr txBox="1"/>
          <p:nvPr/>
        </p:nvSpPr>
        <p:spPr>
          <a:xfrm>
            <a:off x="857305" y="3572400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스킬 및 권한 통제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02. Access Control(RBAC)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0CD394-D0B1-9A65-214B-C1833068DEEB}"/>
              </a:ext>
            </a:extLst>
          </p:cNvPr>
          <p:cNvSpPr txBox="1"/>
          <p:nvPr/>
        </p:nvSpPr>
        <p:spPr>
          <a:xfrm>
            <a:off x="857305" y="4364994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보호 및 감사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03. Data Protection &amp; Audit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CA3CF2C-9303-B337-734E-1C2276C47D5B}"/>
              </a:ext>
            </a:extLst>
          </p:cNvPr>
          <p:cNvCxnSpPr>
            <a:cxnSpLocks/>
          </p:cNvCxnSpPr>
          <p:nvPr/>
        </p:nvCxnSpPr>
        <p:spPr>
          <a:xfrm flipV="1">
            <a:off x="2553856" y="2687320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712C6F30-27CC-F57C-D3F6-2C1E3FD847E6}"/>
              </a:ext>
            </a:extLst>
          </p:cNvPr>
          <p:cNvCxnSpPr>
            <a:cxnSpLocks/>
          </p:cNvCxnSpPr>
          <p:nvPr/>
        </p:nvCxnSpPr>
        <p:spPr>
          <a:xfrm flipV="1">
            <a:off x="2553856" y="3494035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782D838-3558-CC56-CF9F-0BB3675AA968}"/>
              </a:ext>
            </a:extLst>
          </p:cNvPr>
          <p:cNvCxnSpPr>
            <a:cxnSpLocks/>
          </p:cNvCxnSpPr>
          <p:nvPr/>
        </p:nvCxnSpPr>
        <p:spPr>
          <a:xfrm flipV="1">
            <a:off x="2553856" y="4300751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AEB9AD62-CBAF-B937-54C7-57986BA601E6}"/>
              </a:ext>
            </a:extLst>
          </p:cNvPr>
          <p:cNvSpPr txBox="1"/>
          <p:nvPr/>
        </p:nvSpPr>
        <p:spPr>
          <a:xfrm>
            <a:off x="2681944" y="2644169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외부망과 완전히 단절된 기업 내부 망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(Air-gapped)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또는 전용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VPC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 시스템을 구축하여 외부 데이터 유출을 물리적으로 원천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 상용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API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연동 시에는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익명화된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범용 데이터만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라우팅되도록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철저히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CE8ABD3-4356-89F4-CD1C-A31E2A49EA42}"/>
              </a:ext>
            </a:extLst>
          </p:cNvPr>
          <p:cNvSpPr txBox="1"/>
          <p:nvPr/>
        </p:nvSpPr>
        <p:spPr>
          <a:xfrm>
            <a:off x="2695568" y="351000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기존 사내 인사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/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조직 시스템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(SSO/AD)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연동하여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사용자의 직급과 소속 부서에 따라 사용할 수 있는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스킬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(Skill)'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열람 가능한 데이터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(Wiki Node/DB)'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 범위를 실시간으로 엄격하게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A94450A0-9532-0E22-F85F-A53B7CE8444D}"/>
              </a:ext>
            </a:extLst>
          </p:cNvPr>
          <p:cNvSpPr txBox="1"/>
          <p:nvPr/>
        </p:nvSpPr>
        <p:spPr>
          <a:xfrm>
            <a:off x="2652805" y="424692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주민등록번호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전화번호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금융 계좌 등 사전에 정의된 민감 개인정보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(PII)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패턴을 기반으로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데이터가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으로 전송되기 전 완벽히 비식별화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(Sanitization)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처리됩니다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또한 누가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언제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어떤 질의를 했는지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100%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로깅합니다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4944D4F8-28E3-9933-B80E-4B9AAC799051}"/>
              </a:ext>
            </a:extLst>
          </p:cNvPr>
          <p:cNvSpPr/>
          <p:nvPr/>
        </p:nvSpPr>
        <p:spPr>
          <a:xfrm>
            <a:off x="2743045" y="3050652"/>
            <a:ext cx="826427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ko-KR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On-Premise</a:t>
            </a:r>
            <a:r>
              <a:rPr lang="ko-KR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구축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0" name="사각형: 둥근 모서리 199">
            <a:extLst>
              <a:ext uri="{FF2B5EF4-FFF2-40B4-BE49-F238E27FC236}">
                <a16:creationId xmlns:a16="http://schemas.microsoft.com/office/drawing/2014/main" id="{DACDC032-32D0-0B4D-3BE7-30A662E49BF8}"/>
              </a:ext>
            </a:extLst>
          </p:cNvPr>
          <p:cNvSpPr/>
          <p:nvPr/>
        </p:nvSpPr>
        <p:spPr>
          <a:xfrm>
            <a:off x="3651598" y="3050652"/>
            <a:ext cx="104392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라우팅</a:t>
            </a:r>
          </a:p>
        </p:txBody>
      </p:sp>
      <p:sp>
        <p:nvSpPr>
          <p:cNvPr id="201" name="사각형: 둥근 모서리 200">
            <a:extLst>
              <a:ext uri="{FF2B5EF4-FFF2-40B4-BE49-F238E27FC236}">
                <a16:creationId xmlns:a16="http://schemas.microsoft.com/office/drawing/2014/main" id="{D159F415-662F-D3EB-DDD4-98162B2099EA}"/>
              </a:ext>
            </a:extLst>
          </p:cNvPr>
          <p:cNvSpPr/>
          <p:nvPr/>
        </p:nvSpPr>
        <p:spPr>
          <a:xfrm>
            <a:off x="2743046" y="3892651"/>
            <a:ext cx="1622580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마케팅팀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ROI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분석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허용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D10C21C5-76F1-A1FC-56D6-1DFDE0FD2DC5}"/>
              </a:ext>
            </a:extLst>
          </p:cNvPr>
          <p:cNvSpPr/>
          <p:nvPr/>
        </p:nvSpPr>
        <p:spPr>
          <a:xfrm>
            <a:off x="4435467" y="3889326"/>
            <a:ext cx="1577309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FFE4E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일반직원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임원용 재무 마트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차단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DA630973-2DEB-E58A-949C-3A3EF59CC4A0}"/>
              </a:ext>
            </a:extLst>
          </p:cNvPr>
          <p:cNvSpPr/>
          <p:nvPr/>
        </p:nvSpPr>
        <p:spPr>
          <a:xfrm>
            <a:off x="2697495" y="4657227"/>
            <a:ext cx="954103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사전 정의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PII </a:t>
            </a:r>
            <a:r>
              <a:rPr lang="ko-KR" altLang="en-US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마스킹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룰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60DEAD50-EA3B-70B6-CF84-EA1970E8431C}"/>
              </a:ext>
            </a:extLst>
          </p:cNvPr>
          <p:cNvSpPr/>
          <p:nvPr/>
        </p:nvSpPr>
        <p:spPr>
          <a:xfrm>
            <a:off x="3733048" y="4657227"/>
            <a:ext cx="138505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전수 트랜잭션 추적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(Audit Trail)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5075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시나리오 및 기대 효과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Scenarios &amp;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3C720-E11A-5369-118B-9CC60A081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BE4F3127-9D0D-87B0-5BF1-E6E9370FB6E6}"/>
              </a:ext>
            </a:extLst>
          </p:cNvPr>
          <p:cNvSpPr/>
          <p:nvPr/>
        </p:nvSpPr>
        <p:spPr>
          <a:xfrm rot="10800000">
            <a:off x="4701538" y="240080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8661089C-83B9-A6E9-81E3-A62D167CC96C}"/>
              </a:ext>
            </a:extLst>
          </p:cNvPr>
          <p:cNvSpPr/>
          <p:nvPr/>
        </p:nvSpPr>
        <p:spPr>
          <a:xfrm rot="10800000">
            <a:off x="4698440" y="322444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A0899031-2266-F4F7-6E0F-9B36702FDE7E}"/>
              </a:ext>
            </a:extLst>
          </p:cNvPr>
          <p:cNvSpPr/>
          <p:nvPr/>
        </p:nvSpPr>
        <p:spPr>
          <a:xfrm rot="10800000">
            <a:off x="4698440" y="408478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E9210936-F2B8-969C-62F4-0FB9666BF050}"/>
              </a:ext>
            </a:extLst>
          </p:cNvPr>
          <p:cNvSpPr txBox="1"/>
          <p:nvPr/>
        </p:nvSpPr>
        <p:spPr>
          <a:xfrm>
            <a:off x="4950751" y="414658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지능형 리포팅 자동화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(Insight to Action)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대화로 도출된 인사이트를 클릭 한 번에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분석 보고서 생성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유저 대상 정기 메일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메신저 자동 배포 및 스케줄링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구독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지원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C3706DBA-83F2-3E79-52D6-8F2561B9B0F9}"/>
              </a:ext>
            </a:extLst>
          </p:cNvPr>
          <p:cNvSpPr txBox="1"/>
          <p:nvPr/>
        </p:nvSpPr>
        <p:spPr>
          <a:xfrm>
            <a:off x="4950751" y="246500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AI </a:t>
            </a:r>
            <a:r>
              <a:rPr lang="ko-KR" altLang="en-US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기반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원인 자동 추론 </a:t>
            </a: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(What + Why)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데이터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이면의 핵심 원인</a:t>
            </a:r>
            <a:r>
              <a:rPr lang="en-US" altLang="ko-KR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(Root-Cause)</a:t>
            </a: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을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자연어로 브리핑</a:t>
            </a:r>
            <a:endParaRPr lang="en-US" altLang="ko-KR" sz="900" b="1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"A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예산 축소와 단가 인상으로 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15%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하락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등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 설명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89A15F6-DC8A-DCD1-5CD9-CC1539726956}"/>
              </a:ext>
            </a:extLst>
          </p:cNvPr>
          <p:cNvSpPr txBox="1"/>
          <p:nvPr/>
        </p:nvSpPr>
        <p:spPr>
          <a:xfrm>
            <a:off x="4950751" y="330579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Zero-IT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즉시 데이터 추출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(Real-time)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부서 개입 없이 권한 내에서 에이전트가 쿼리 자동 작성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즉각적인 데이터 연산 및 엑셀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(CSV)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다운로드 실시간 제공</a:t>
            </a:r>
          </a:p>
        </p:txBody>
      </p: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2FF2FDF-36C1-49D4-AEC5-2F1179F198ED}"/>
              </a:ext>
            </a:extLst>
          </p:cNvPr>
          <p:cNvSpPr/>
          <p:nvPr/>
        </p:nvSpPr>
        <p:spPr>
          <a:xfrm>
            <a:off x="1327960" y="154046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BCA6E27F-472A-FD42-B957-E35CEB98C20A}"/>
              </a:ext>
            </a:extLst>
          </p:cNvPr>
          <p:cNvSpPr txBox="1"/>
          <p:nvPr/>
        </p:nvSpPr>
        <p:spPr>
          <a:xfrm>
            <a:off x="1416158" y="159282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고정된 화면의 제약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(Pre-built)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사전 개발된 대시보드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레포트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내에서만 확인 가능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새로운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분석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차원 추가에 대한 한계 발생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F2C3B99-F480-B967-65CD-B25C3762661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57F5AD5C-5F3F-D0B2-1668-507006D7C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업무 환경의 혁신 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시스템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한계 극복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659548-E272-9893-5628-AE2871524B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06CF31-CCFC-3213-E0D6-5D273F034C94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단순한 결과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(What)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조회를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원인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(Why)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분석부터 리포트 자동화까지 완벽한 패러다임 전환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이룹니다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기존 레거시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가진 파편화된 탐색 한계와 병목을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에이전트가 어떻게 혁신하는지 대조합니다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C6D6F9B-63FE-E3FD-1B1C-906D60FDD450}"/>
              </a:ext>
            </a:extLst>
          </p:cNvPr>
          <p:cNvSpPr/>
          <p:nvPr/>
        </p:nvSpPr>
        <p:spPr>
          <a:xfrm rot="10800000">
            <a:off x="4701538" y="154046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F9FDB6-6513-2493-BC88-43FE5FC1EE38}"/>
              </a:ext>
            </a:extLst>
          </p:cNvPr>
          <p:cNvSpPr/>
          <p:nvPr/>
        </p:nvSpPr>
        <p:spPr>
          <a:xfrm>
            <a:off x="144780" y="15404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AEAB1E5-F0B6-6462-2E8B-2CC9D51908E4}"/>
              </a:ext>
            </a:extLst>
          </p:cNvPr>
          <p:cNvGrpSpPr/>
          <p:nvPr/>
        </p:nvGrpSpPr>
        <p:grpSpPr>
          <a:xfrm>
            <a:off x="492775" y="1624973"/>
            <a:ext cx="416617" cy="417143"/>
            <a:chOff x="1005585" y="2172863"/>
            <a:chExt cx="235386" cy="235683"/>
          </a:xfrm>
          <a:solidFill>
            <a:schemeClr val="tx1"/>
          </a:solidFill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80DAE360-CC3D-169D-929D-94DF07E880BA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632A8DA-CDD4-48A2-BECB-ED50ED4371AC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F81B50B-34F6-64D6-C526-C435FC432CAD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927D7C-7F94-998F-70A8-36AA0F69982C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01F1170-B0CA-A343-C48F-5B9F87255E8A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4" name="TextBox 213">
            <a:extLst>
              <a:ext uri="{FF2B5EF4-FFF2-40B4-BE49-F238E27FC236}">
                <a16:creationId xmlns:a16="http://schemas.microsoft.com/office/drawing/2014/main" id="{40A34C39-E3DB-B99F-88B3-259B9DE31435}"/>
              </a:ext>
            </a:extLst>
          </p:cNvPr>
          <p:cNvSpPr txBox="1"/>
          <p:nvPr/>
        </p:nvSpPr>
        <p:spPr>
          <a:xfrm>
            <a:off x="225579" y="2079978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탐색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2" name="사각형: 둥근 모서리 221">
            <a:extLst>
              <a:ext uri="{FF2B5EF4-FFF2-40B4-BE49-F238E27FC236}">
                <a16:creationId xmlns:a16="http://schemas.microsoft.com/office/drawing/2014/main" id="{DD7D5D69-71B2-FF1B-0D5D-89121F6B1AB2}"/>
              </a:ext>
            </a:extLst>
          </p:cNvPr>
          <p:cNvSpPr/>
          <p:nvPr/>
        </p:nvSpPr>
        <p:spPr>
          <a:xfrm>
            <a:off x="144780" y="2393077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FF8B181A-B30F-6B4B-32F2-5A3F198C52AD}"/>
              </a:ext>
            </a:extLst>
          </p:cNvPr>
          <p:cNvSpPr/>
          <p:nvPr/>
        </p:nvSpPr>
        <p:spPr>
          <a:xfrm>
            <a:off x="135340" y="32303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4" name="사각형: 둥근 모서리 223">
            <a:extLst>
              <a:ext uri="{FF2B5EF4-FFF2-40B4-BE49-F238E27FC236}">
                <a16:creationId xmlns:a16="http://schemas.microsoft.com/office/drawing/2014/main" id="{BEF4A8FF-2F0B-A998-F071-DF26CBD73556}"/>
              </a:ext>
            </a:extLst>
          </p:cNvPr>
          <p:cNvSpPr/>
          <p:nvPr/>
        </p:nvSpPr>
        <p:spPr>
          <a:xfrm>
            <a:off x="150651" y="4078143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A5731BC3-C944-7D18-44CB-EA5A74E829B7}"/>
              </a:ext>
            </a:extLst>
          </p:cNvPr>
          <p:cNvGrpSpPr/>
          <p:nvPr/>
        </p:nvGrpSpPr>
        <p:grpSpPr>
          <a:xfrm>
            <a:off x="453718" y="2514992"/>
            <a:ext cx="386009" cy="353874"/>
            <a:chOff x="1891724" y="3181554"/>
            <a:chExt cx="752474" cy="663984"/>
          </a:xfrm>
          <a:solidFill>
            <a:schemeClr val="tx1"/>
          </a:solidFill>
        </p:grpSpPr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D2579E11-D3C3-220F-23AE-36CBAF668632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06F50E5A-075E-D4FA-8B52-E82B8373CD9D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194856E5-0CC6-BB33-B45C-448BCA59DDA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5EF4A5C9-9296-0B03-FBEF-78189FC818B5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5" name="자유형: 도형 194">
              <a:extLst>
                <a:ext uri="{FF2B5EF4-FFF2-40B4-BE49-F238E27FC236}">
                  <a16:creationId xmlns:a16="http://schemas.microsoft.com/office/drawing/2014/main" id="{D037FB30-8941-BF91-CC87-CAEB92B605FE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6" name="자유형: 도형 195">
              <a:extLst>
                <a:ext uri="{FF2B5EF4-FFF2-40B4-BE49-F238E27FC236}">
                  <a16:creationId xmlns:a16="http://schemas.microsoft.com/office/drawing/2014/main" id="{7BD32946-6AF8-CC86-0FF3-6C3CDAF16A4C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7" name="자유형: 도형 196">
              <a:extLst>
                <a:ext uri="{FF2B5EF4-FFF2-40B4-BE49-F238E27FC236}">
                  <a16:creationId xmlns:a16="http://schemas.microsoft.com/office/drawing/2014/main" id="{55989AEC-40C8-5600-7D35-F17F95CCDFAC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8" name="자유형: 도형 197">
              <a:extLst>
                <a:ext uri="{FF2B5EF4-FFF2-40B4-BE49-F238E27FC236}">
                  <a16:creationId xmlns:a16="http://schemas.microsoft.com/office/drawing/2014/main" id="{495FA067-AB23-6049-E844-C610A39E3451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9" name="자유형: 도형 198">
              <a:extLst>
                <a:ext uri="{FF2B5EF4-FFF2-40B4-BE49-F238E27FC236}">
                  <a16:creationId xmlns:a16="http://schemas.microsoft.com/office/drawing/2014/main" id="{3BB9072F-E0CB-03FE-4331-11B0CA7599D8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0" name="자유형: 도형 199">
              <a:extLst>
                <a:ext uri="{FF2B5EF4-FFF2-40B4-BE49-F238E27FC236}">
                  <a16:creationId xmlns:a16="http://schemas.microsoft.com/office/drawing/2014/main" id="{6C87339F-23D5-8ED8-2054-A1B76D41447D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03074E82-3E7B-8A3E-3750-33F167793C88}"/>
              </a:ext>
            </a:extLst>
          </p:cNvPr>
          <p:cNvGrpSpPr/>
          <p:nvPr/>
        </p:nvGrpSpPr>
        <p:grpSpPr>
          <a:xfrm>
            <a:off x="453720" y="3306405"/>
            <a:ext cx="566553" cy="440924"/>
            <a:chOff x="1864833" y="3584780"/>
            <a:chExt cx="317246" cy="246899"/>
          </a:xfrm>
        </p:grpSpPr>
        <p:pic>
          <p:nvPicPr>
            <p:cNvPr id="203" name="그래픽 202" descr="용지 단색으로 채워진">
              <a:extLst>
                <a:ext uri="{FF2B5EF4-FFF2-40B4-BE49-F238E27FC236}">
                  <a16:creationId xmlns:a16="http://schemas.microsoft.com/office/drawing/2014/main" id="{F858ECCC-DB21-EF44-B733-4D6E30BA4F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64833" y="3584780"/>
              <a:ext cx="246899" cy="246899"/>
            </a:xfrm>
            <a:prstGeom prst="rect">
              <a:avLst/>
            </a:prstGeom>
          </p:spPr>
        </p:pic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D10A04B-B75D-4845-C853-4C714D9CFB23}"/>
                </a:ext>
              </a:extLst>
            </p:cNvPr>
            <p:cNvSpPr txBox="1"/>
            <p:nvPr/>
          </p:nvSpPr>
          <p:spPr>
            <a:xfrm>
              <a:off x="1981282" y="3769261"/>
              <a:ext cx="200797" cy="60320"/>
            </a:xfrm>
            <a:prstGeom prst="rect">
              <a:avLst/>
            </a:prstGeom>
            <a:noFill/>
            <a:effectLst>
              <a:glow rad="228600">
                <a:schemeClr val="bg1">
                  <a:alpha val="40000"/>
                </a:schemeClr>
              </a:glow>
              <a:outerShdw blurRad="63500" sx="102000" sy="102000" algn="ctr" rotWithShape="0">
                <a:schemeClr val="bg1">
                  <a:alpha val="40000"/>
                </a:schemeClr>
              </a:outerShdw>
            </a:effectLst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effectLst>
                    <a:glow rad="177800">
                      <a:schemeClr val="bg1"/>
                    </a:glow>
                  </a:effectLst>
                  <a:latin typeface="SUIT ExtraBold" pitchFamily="50" charset="-127"/>
                  <a:ea typeface="SUIT ExtraBold" pitchFamily="50" charset="-127"/>
                </a:rPr>
                <a:t>CSV</a:t>
              </a:r>
              <a:endParaRPr lang="ko-KR" altLang="en-US" sz="700" dirty="0">
                <a:effectLst>
                  <a:glow rad="177800">
                    <a:schemeClr val="bg1"/>
                  </a:glow>
                </a:effectLst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D8F7220-5546-94F5-4AEF-05DEF33B7468}"/>
              </a:ext>
            </a:extLst>
          </p:cNvPr>
          <p:cNvGrpSpPr/>
          <p:nvPr/>
        </p:nvGrpSpPr>
        <p:grpSpPr>
          <a:xfrm>
            <a:off x="468791" y="4119089"/>
            <a:ext cx="420720" cy="420720"/>
            <a:chOff x="2530648" y="3916717"/>
            <a:chExt cx="246899" cy="246899"/>
          </a:xfrm>
        </p:grpSpPr>
        <p:pic>
          <p:nvPicPr>
            <p:cNvPr id="205" name="그래픽 204" descr="용지 단색으로 채워진">
              <a:extLst>
                <a:ext uri="{FF2B5EF4-FFF2-40B4-BE49-F238E27FC236}">
                  <a16:creationId xmlns:a16="http://schemas.microsoft.com/office/drawing/2014/main" id="{82C98EF6-1771-70CB-245E-6D807CFF37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207" name="그래픽 206" descr="서명 단색으로 채워진">
              <a:extLst>
                <a:ext uri="{FF2B5EF4-FFF2-40B4-BE49-F238E27FC236}">
                  <a16:creationId xmlns:a16="http://schemas.microsoft.com/office/drawing/2014/main" id="{F6DB81A9-2310-642C-4CFF-B4D37FCB72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4557CA9B-3699-AA77-15FD-1B01245DC523}"/>
              </a:ext>
            </a:extLst>
          </p:cNvPr>
          <p:cNvSpPr txBox="1"/>
          <p:nvPr/>
        </p:nvSpPr>
        <p:spPr>
          <a:xfrm>
            <a:off x="187380" y="2931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인사이트 해석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523957CB-D209-C167-8BEC-C2869BB448DD}"/>
              </a:ext>
            </a:extLst>
          </p:cNvPr>
          <p:cNvSpPr txBox="1"/>
          <p:nvPr/>
        </p:nvSpPr>
        <p:spPr>
          <a:xfrm>
            <a:off x="194291" y="3757103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추출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FF9A2C14-1707-1A84-EEB9-A52A40B57F41}"/>
              </a:ext>
            </a:extLst>
          </p:cNvPr>
          <p:cNvSpPr txBox="1"/>
          <p:nvPr/>
        </p:nvSpPr>
        <p:spPr>
          <a:xfrm>
            <a:off x="173210" y="4560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작성 및 자산화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2" name="사각형: 둥근 모서리 231">
            <a:extLst>
              <a:ext uri="{FF2B5EF4-FFF2-40B4-BE49-F238E27FC236}">
                <a16:creationId xmlns:a16="http://schemas.microsoft.com/office/drawing/2014/main" id="{6E5FA1B8-5F7E-88EA-3DBC-C502B23E351B}"/>
              </a:ext>
            </a:extLst>
          </p:cNvPr>
          <p:cNvSpPr/>
          <p:nvPr/>
        </p:nvSpPr>
        <p:spPr>
          <a:xfrm>
            <a:off x="1327960" y="240080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4" name="사각형: 둥근 모서리 233">
            <a:extLst>
              <a:ext uri="{FF2B5EF4-FFF2-40B4-BE49-F238E27FC236}">
                <a16:creationId xmlns:a16="http://schemas.microsoft.com/office/drawing/2014/main" id="{096FB585-CBEF-C892-82B8-2A9496956410}"/>
              </a:ext>
            </a:extLst>
          </p:cNvPr>
          <p:cNvSpPr/>
          <p:nvPr/>
        </p:nvSpPr>
        <p:spPr>
          <a:xfrm>
            <a:off x="1324862" y="322444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53328028-32D8-E05D-DC46-02F9BF9104BC}"/>
              </a:ext>
            </a:extLst>
          </p:cNvPr>
          <p:cNvSpPr/>
          <p:nvPr/>
        </p:nvSpPr>
        <p:spPr>
          <a:xfrm>
            <a:off x="1324862" y="408478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62611DB-8452-C4CA-9D77-D2E7F1749CE8}"/>
              </a:ext>
            </a:extLst>
          </p:cNvPr>
          <p:cNvSpPr txBox="1"/>
          <p:nvPr/>
        </p:nvSpPr>
        <p:spPr>
          <a:xfrm>
            <a:off x="1405040" y="2472324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결과 중심의 시각화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(Only What)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매출 하락 등 지표의 결과만 수치적으로 제공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(Why)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떨어졌는지는 실무자가 다시 데이터를 뒤져야 함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2E099ED-91BD-6BF0-A41B-3D1A263D5734}"/>
              </a:ext>
            </a:extLst>
          </p:cNvPr>
          <p:cNvSpPr txBox="1"/>
          <p:nvPr/>
        </p:nvSpPr>
        <p:spPr>
          <a:xfrm>
            <a:off x="1423862" y="3298003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IT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부서 병목 및 </a:t>
            </a:r>
            <a:r>
              <a:rPr lang="ko-KR" altLang="en-US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대기열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(Delay)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화면에 없는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Raw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데이터 필요 시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부서에 쿼리 요청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승인 및 수령 등 작업에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대기열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발생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CF27E0-2EF7-20DB-C810-B6A845CF56D3}"/>
              </a:ext>
            </a:extLst>
          </p:cNvPr>
          <p:cNvSpPr txBox="1"/>
          <p:nvPr/>
        </p:nvSpPr>
        <p:spPr>
          <a:xfrm>
            <a:off x="1423862" y="415731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100%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파편화된 수작업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</a:t>
            </a:r>
            <a:r>
              <a:rPr lang="en-US" altLang="ko-KR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Copy&amp;Paste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 캡처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엑셀 다운로드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PPT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복붙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등 단순 반복 작업 발생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매주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매월 반복되는 정기 보고서 취합 비효율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E0AD48B9-6DD4-D9A4-2CD2-9E50943059A9}"/>
              </a:ext>
            </a:extLst>
          </p:cNvPr>
          <p:cNvSpPr txBox="1"/>
          <p:nvPr/>
        </p:nvSpPr>
        <p:spPr>
          <a:xfrm>
            <a:off x="1324862" y="1264518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As-Is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기존 레거시 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BI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F31B627-9A1A-EEF9-2163-FB9DF15E4F34}"/>
              </a:ext>
            </a:extLst>
          </p:cNvPr>
          <p:cNvSpPr txBox="1"/>
          <p:nvPr/>
        </p:nvSpPr>
        <p:spPr>
          <a:xfrm>
            <a:off x="5116365" y="1246965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To-Be (aisight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에이전트 환경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)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250" name="그래픽 249" descr="금지 표지 단색으로 채워진">
            <a:extLst>
              <a:ext uri="{FF2B5EF4-FFF2-40B4-BE49-F238E27FC236}">
                <a16:creationId xmlns:a16="http://schemas.microsoft.com/office/drawing/2014/main" id="{1A9F9258-FD29-2CCC-3912-0817BBD0B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54248" y="1273251"/>
            <a:ext cx="208187" cy="208187"/>
          </a:xfrm>
          <a:prstGeom prst="rect">
            <a:avLst/>
          </a:prstGeom>
        </p:spPr>
      </p:pic>
      <p:pic>
        <p:nvPicPr>
          <p:cNvPr id="252" name="그래픽 251" descr="엄지척 기호 단색으로 채워진">
            <a:extLst>
              <a:ext uri="{FF2B5EF4-FFF2-40B4-BE49-F238E27FC236}">
                <a16:creationId xmlns:a16="http://schemas.microsoft.com/office/drawing/2014/main" id="{2897A415-99AC-7111-D363-C89EAB52C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1195" y="1215204"/>
            <a:ext cx="263061" cy="263061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64AE5984-FF91-7F8D-5174-87D3502F550F}"/>
              </a:ext>
            </a:extLst>
          </p:cNvPr>
          <p:cNvSpPr txBox="1"/>
          <p:nvPr/>
        </p:nvSpPr>
        <p:spPr>
          <a:xfrm>
            <a:off x="4950751" y="162421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화면 제약 없는 동적 탐색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(Dynamic Explore)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질문 즉시 대시보드 필터 및 </a:t>
            </a: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UI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를 자동 제어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화면 밖의 데이터도 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Data Mart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와 연동하여 즉시 교차 분석</a:t>
            </a:r>
          </a:p>
        </p:txBody>
      </p:sp>
      <p:pic>
        <p:nvPicPr>
          <p:cNvPr id="254" name="그래픽 253" descr="금지 표지 단색으로 채워진">
            <a:extLst>
              <a:ext uri="{FF2B5EF4-FFF2-40B4-BE49-F238E27FC236}">
                <a16:creationId xmlns:a16="http://schemas.microsoft.com/office/drawing/2014/main" id="{78BC57A5-AC81-67FD-DE4E-F8C375363B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1632190"/>
            <a:ext cx="159050" cy="159050"/>
          </a:xfrm>
          <a:prstGeom prst="rect">
            <a:avLst/>
          </a:prstGeom>
        </p:spPr>
      </p:pic>
      <p:pic>
        <p:nvPicPr>
          <p:cNvPr id="255" name="그래픽 254" descr="금지 표지 단색으로 채워진">
            <a:extLst>
              <a:ext uri="{FF2B5EF4-FFF2-40B4-BE49-F238E27FC236}">
                <a16:creationId xmlns:a16="http://schemas.microsoft.com/office/drawing/2014/main" id="{AAD04916-B16D-2221-5FDE-C3297DD4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2521217"/>
            <a:ext cx="159050" cy="159050"/>
          </a:xfrm>
          <a:prstGeom prst="rect">
            <a:avLst/>
          </a:prstGeom>
        </p:spPr>
      </p:pic>
      <p:pic>
        <p:nvPicPr>
          <p:cNvPr id="256" name="그래픽 255" descr="금지 표지 단색으로 채워진">
            <a:extLst>
              <a:ext uri="{FF2B5EF4-FFF2-40B4-BE49-F238E27FC236}">
                <a16:creationId xmlns:a16="http://schemas.microsoft.com/office/drawing/2014/main" id="{712F4F4C-D588-FBD1-8C62-252D26E6BD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3338093"/>
            <a:ext cx="159050" cy="159050"/>
          </a:xfrm>
          <a:prstGeom prst="rect">
            <a:avLst/>
          </a:prstGeom>
        </p:spPr>
      </p:pic>
      <p:pic>
        <p:nvPicPr>
          <p:cNvPr id="257" name="그래픽 256" descr="금지 표지 단색으로 채워진">
            <a:extLst>
              <a:ext uri="{FF2B5EF4-FFF2-40B4-BE49-F238E27FC236}">
                <a16:creationId xmlns:a16="http://schemas.microsoft.com/office/drawing/2014/main" id="{DDC1F637-BCD6-B557-A093-604D0E0CB6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4200516"/>
            <a:ext cx="159050" cy="159050"/>
          </a:xfrm>
          <a:prstGeom prst="rect">
            <a:avLst/>
          </a:prstGeom>
        </p:spPr>
      </p:pic>
      <p:pic>
        <p:nvPicPr>
          <p:cNvPr id="260" name="그래픽 259" descr="보내다 단색으로 채워진">
            <a:extLst>
              <a:ext uri="{FF2B5EF4-FFF2-40B4-BE49-F238E27FC236}">
                <a16:creationId xmlns:a16="http://schemas.microsoft.com/office/drawing/2014/main" id="{E273F70A-FB3A-A9F5-1CBF-AACCAFD96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9483" y="4183685"/>
            <a:ext cx="197646" cy="197646"/>
          </a:xfrm>
          <a:prstGeom prst="rect">
            <a:avLst/>
          </a:prstGeom>
        </p:spPr>
      </p:pic>
      <p:pic>
        <p:nvPicPr>
          <p:cNvPr id="262" name="그래픽 261" descr="번개 표시 단색으로 채워진">
            <a:extLst>
              <a:ext uri="{FF2B5EF4-FFF2-40B4-BE49-F238E27FC236}">
                <a16:creationId xmlns:a16="http://schemas.microsoft.com/office/drawing/2014/main" id="{D785A4A7-06BF-FB2F-D96E-B3BCAD047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2631" y="3329935"/>
            <a:ext cx="197646" cy="197646"/>
          </a:xfrm>
          <a:prstGeom prst="rect">
            <a:avLst/>
          </a:prstGeom>
        </p:spPr>
      </p:pic>
      <p:pic>
        <p:nvPicPr>
          <p:cNvPr id="264" name="그래픽 263" descr="전구 단색으로 채워진">
            <a:extLst>
              <a:ext uri="{FF2B5EF4-FFF2-40B4-BE49-F238E27FC236}">
                <a16:creationId xmlns:a16="http://schemas.microsoft.com/office/drawing/2014/main" id="{E210327C-FF69-4C87-8E21-5994089B4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8138" y="2493495"/>
            <a:ext cx="197646" cy="197646"/>
          </a:xfrm>
          <a:prstGeom prst="rect">
            <a:avLst/>
          </a:prstGeom>
        </p:spPr>
      </p:pic>
      <p:pic>
        <p:nvPicPr>
          <p:cNvPr id="266" name="그래픽 265" descr="마법 지팡이 자동 단색으로 채워진">
            <a:extLst>
              <a:ext uri="{FF2B5EF4-FFF2-40B4-BE49-F238E27FC236}">
                <a16:creationId xmlns:a16="http://schemas.microsoft.com/office/drawing/2014/main" id="{667D0B27-4A5C-4728-D2A7-7716EF6ACB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5124" y="1650330"/>
            <a:ext cx="197646" cy="19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851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6BFE-E40E-0A60-CE93-1DDEC370F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사각형: 둥근 모서리 1028">
            <a:extLst>
              <a:ext uri="{FF2B5EF4-FFF2-40B4-BE49-F238E27FC236}">
                <a16:creationId xmlns:a16="http://schemas.microsoft.com/office/drawing/2014/main" id="{29984745-45DB-AFC1-7175-FCACDD3F673D}"/>
              </a:ext>
            </a:extLst>
          </p:cNvPr>
          <p:cNvSpPr/>
          <p:nvPr/>
        </p:nvSpPr>
        <p:spPr>
          <a:xfrm>
            <a:off x="3531524" y="1300822"/>
            <a:ext cx="5500757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6D606822-64C6-8EE0-3B04-4A122FFDC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83" y="1332189"/>
            <a:ext cx="5329874" cy="2661031"/>
          </a:xfrm>
          <a:prstGeom prst="rect">
            <a:avLst/>
          </a:prstGeom>
        </p:spPr>
      </p:pic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373C2C1-7308-313E-D2A7-2909923663C0}"/>
              </a:ext>
            </a:extLst>
          </p:cNvPr>
          <p:cNvSpPr/>
          <p:nvPr/>
        </p:nvSpPr>
        <p:spPr>
          <a:xfrm>
            <a:off x="184515" y="1292300"/>
            <a:ext cx="3236845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9D119A6-229E-C7CE-7FD1-F6D8FCE844B9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0E76B2C-6156-0147-4D20-ED3DE377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Dashboard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대화형 자동 제어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88B67DD-A093-55E6-02EE-E6A8DD8EF1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13B0475-D1BF-6C4D-D4C2-02A8A39037CE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챗봇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창에 갇혀 있지 않습니다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대시보드를 보며 질문하면 데이터의 원인을 즉각 분석할 뿐만 아니라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사용자의 화면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필터 및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View)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스스로 조작하여 가장 직관적인 해답을 눈앞에 제시합니다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3" name="Google Shape;141;p13" descr="image.png">
            <a:extLst>
              <a:ext uri="{FF2B5EF4-FFF2-40B4-BE49-F238E27FC236}">
                <a16:creationId xmlns:a16="http://schemas.microsoft.com/office/drawing/2014/main" id="{185DAABD-CACC-8FFB-48A5-F633CE3DA6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750" y="4159548"/>
            <a:ext cx="8572500" cy="79472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2;p13">
            <a:extLst>
              <a:ext uri="{FF2B5EF4-FFF2-40B4-BE49-F238E27FC236}">
                <a16:creationId xmlns:a16="http://schemas.microsoft.com/office/drawing/2014/main" id="{1B962953-79A8-1B5A-D9F7-9FB22108CFD7}"/>
              </a:ext>
            </a:extLst>
          </p:cNvPr>
          <p:cNvSpPr txBox="1"/>
          <p:nvPr/>
        </p:nvSpPr>
        <p:spPr>
          <a:xfrm>
            <a:off x="407194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 맥락 인지 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(Context-Aware)</a:t>
            </a:r>
          </a:p>
        </p:txBody>
      </p:sp>
      <p:sp>
        <p:nvSpPr>
          <p:cNvPr id="7" name="Google Shape;143;p13">
            <a:extLst>
              <a:ext uri="{FF2B5EF4-FFF2-40B4-BE49-F238E27FC236}">
                <a16:creationId xmlns:a16="http://schemas.microsoft.com/office/drawing/2014/main" id="{036AE686-3BD5-AC86-045C-3366FA28718F}"/>
              </a:ext>
            </a:extLst>
          </p:cNvPr>
          <p:cNvSpPr txBox="1"/>
          <p:nvPr/>
        </p:nvSpPr>
        <p:spPr>
          <a:xfrm>
            <a:off x="321762" y="4414113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현재 보고 있는 대시보드의 필터 상태를 에이전트가 인지하고 대화에 즉각 반영합니다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0" name="Google Shape;146;p13">
            <a:extLst>
              <a:ext uri="{FF2B5EF4-FFF2-40B4-BE49-F238E27FC236}">
                <a16:creationId xmlns:a16="http://schemas.microsoft.com/office/drawing/2014/main" id="{2E2707BA-D768-67FA-2DC7-2197C3367CC1}"/>
              </a:ext>
            </a:extLst>
          </p:cNvPr>
          <p:cNvSpPr txBox="1"/>
          <p:nvPr/>
        </p:nvSpPr>
        <p:spPr>
          <a:xfrm>
            <a:off x="2603262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800" b="1" dirty="0">
                <a:latin typeface="SUIT" pitchFamily="2" charset="-127"/>
                <a:sym typeface="SUIT"/>
              </a:rPr>
              <a:t>Zero-Click </a:t>
            </a:r>
            <a:r>
              <a:rPr lang="ko-KR" altLang="en-US" sz="800" b="1" dirty="0">
                <a:latin typeface="SUIT" pitchFamily="2" charset="-127"/>
                <a:sym typeface="SUIT"/>
              </a:rPr>
              <a:t>드릴다운 </a:t>
            </a:r>
            <a:r>
              <a:rPr lang="en-US" altLang="ko-KR" sz="800" b="1" dirty="0">
                <a:latin typeface="SUIT" pitchFamily="2" charset="-127"/>
                <a:sym typeface="SUIT"/>
              </a:rPr>
              <a:t>(Drill-down)</a:t>
            </a:r>
          </a:p>
        </p:txBody>
      </p:sp>
      <p:sp>
        <p:nvSpPr>
          <p:cNvPr id="12" name="Google Shape;147;p13">
            <a:extLst>
              <a:ext uri="{FF2B5EF4-FFF2-40B4-BE49-F238E27FC236}">
                <a16:creationId xmlns:a16="http://schemas.microsoft.com/office/drawing/2014/main" id="{3F74F9C7-7436-65D0-E2ED-8E9E3076B1F2}"/>
              </a:ext>
            </a:extLst>
          </p:cNvPr>
          <p:cNvSpPr txBox="1"/>
          <p:nvPr/>
        </p:nvSpPr>
        <p:spPr>
          <a:xfrm>
            <a:off x="2481819" y="4426745"/>
            <a:ext cx="2033032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수많은 필터와 탭을 마우스로 클릭할 필요 없이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말 한마디로 심층 데이터 화면으로 자동 전환합니다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4" name="Google Shape;148;p13">
            <a:extLst>
              <a:ext uri="{FF2B5EF4-FFF2-40B4-BE49-F238E27FC236}">
                <a16:creationId xmlns:a16="http://schemas.microsoft.com/office/drawing/2014/main" id="{565BA0DE-B496-6995-D94D-0144197447CE}"/>
              </a:ext>
            </a:extLst>
          </p:cNvPr>
          <p:cNvSpPr txBox="1"/>
          <p:nvPr/>
        </p:nvSpPr>
        <p:spPr>
          <a:xfrm>
            <a:off x="6808986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데이터 환각 원천 차단</a:t>
            </a:r>
            <a:endParaRPr sz="1600" dirty="0"/>
          </a:p>
        </p:txBody>
      </p:sp>
      <p:sp>
        <p:nvSpPr>
          <p:cNvPr id="15" name="Google Shape;149;p13">
            <a:extLst>
              <a:ext uri="{FF2B5EF4-FFF2-40B4-BE49-F238E27FC236}">
                <a16:creationId xmlns:a16="http://schemas.microsoft.com/office/drawing/2014/main" id="{AADFCFB5-9870-648C-29FD-5C33CF6709B6}"/>
              </a:ext>
            </a:extLst>
          </p:cNvPr>
          <p:cNvSpPr txBox="1"/>
          <p:nvPr/>
        </p:nvSpPr>
        <p:spPr>
          <a:xfrm>
            <a:off x="6687543" y="4426744"/>
            <a:ext cx="2399307" cy="480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이미 데이터 정합성과 기능 검증이 완료된 사내 대시보드를 기반으로 작동합니다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생성형 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AI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의 치명적 약점인 임의적인 숫자 생성이나 이상 상태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(Hallucination)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를 완벽히 차단하여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신뢰할 수 있는 데이터 로직으로만 결과를 보여줍니다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400" dirty="0"/>
          </a:p>
        </p:txBody>
      </p:sp>
      <p:pic>
        <p:nvPicPr>
          <p:cNvPr id="20" name="그래픽 19" descr="배지 체크 표시1 단색으로 채워진">
            <a:extLst>
              <a:ext uri="{FF2B5EF4-FFF2-40B4-BE49-F238E27FC236}">
                <a16:creationId xmlns:a16="http://schemas.microsoft.com/office/drawing/2014/main" id="{83D73D4C-F78E-3589-29A4-8B1F8E71B8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980" y="4249830"/>
            <a:ext cx="105267" cy="105267"/>
          </a:xfrm>
          <a:prstGeom prst="rect">
            <a:avLst/>
          </a:prstGeom>
        </p:spPr>
      </p:pic>
      <p:pic>
        <p:nvPicPr>
          <p:cNvPr id="21" name="그래픽 20" descr="배지 체크 표시1 단색으로 채워진">
            <a:extLst>
              <a:ext uri="{FF2B5EF4-FFF2-40B4-BE49-F238E27FC236}">
                <a16:creationId xmlns:a16="http://schemas.microsoft.com/office/drawing/2014/main" id="{5E98F2F8-A37D-2900-77A2-5556980FAE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1818" y="4252666"/>
            <a:ext cx="105267" cy="105267"/>
          </a:xfrm>
          <a:prstGeom prst="rect">
            <a:avLst/>
          </a:prstGeom>
        </p:spPr>
      </p:pic>
      <p:pic>
        <p:nvPicPr>
          <p:cNvPr id="25" name="그래픽 24" descr="배지 체크 표시1 단색으로 채워진">
            <a:extLst>
              <a:ext uri="{FF2B5EF4-FFF2-40B4-BE49-F238E27FC236}">
                <a16:creationId xmlns:a16="http://schemas.microsoft.com/office/drawing/2014/main" id="{1311F399-F963-EC37-B0E2-8FC92568EB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0730" y="4252666"/>
            <a:ext cx="105267" cy="105267"/>
          </a:xfrm>
          <a:prstGeom prst="rect">
            <a:avLst/>
          </a:prstGeom>
        </p:spPr>
      </p:pic>
      <p:sp>
        <p:nvSpPr>
          <p:cNvPr id="26" name="Google Shape;144;p13">
            <a:extLst>
              <a:ext uri="{FF2B5EF4-FFF2-40B4-BE49-F238E27FC236}">
                <a16:creationId xmlns:a16="http://schemas.microsoft.com/office/drawing/2014/main" id="{3A8D813B-724F-F5D0-E77C-D6714A83A338}"/>
              </a:ext>
            </a:extLst>
          </p:cNvPr>
          <p:cNvSpPr txBox="1"/>
          <p:nvPr/>
        </p:nvSpPr>
        <p:spPr>
          <a:xfrm>
            <a:off x="4705628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결과의 시각적 증명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(Visual Proof)</a:t>
            </a:r>
          </a:p>
        </p:txBody>
      </p:sp>
      <p:sp>
        <p:nvSpPr>
          <p:cNvPr id="30" name="Google Shape;145;p13">
            <a:extLst>
              <a:ext uri="{FF2B5EF4-FFF2-40B4-BE49-F238E27FC236}">
                <a16:creationId xmlns:a16="http://schemas.microsoft.com/office/drawing/2014/main" id="{E3CD3B34-7B82-AB0C-1806-E917AD234B97}"/>
              </a:ext>
            </a:extLst>
          </p:cNvPr>
          <p:cNvSpPr txBox="1"/>
          <p:nvPr/>
        </p:nvSpPr>
        <p:spPr>
          <a:xfrm>
            <a:off x="4584184" y="4426744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텍스트 답변에 그치지 않고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화면의 차트를 직접 조작하여 답변의 근거를 직관적으로 증명합니다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34" name="그래픽 33" descr="배지 체크 표시1 단색으로 채워진">
            <a:extLst>
              <a:ext uri="{FF2B5EF4-FFF2-40B4-BE49-F238E27FC236}">
                <a16:creationId xmlns:a16="http://schemas.microsoft.com/office/drawing/2014/main" id="{B935F2C8-9624-47F5-8A7D-334D70AE2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5315" y="4252666"/>
            <a:ext cx="105267" cy="105267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7EC0C220-E606-940D-D173-69D78A5CE472}"/>
              </a:ext>
            </a:extLst>
          </p:cNvPr>
          <p:cNvSpPr/>
          <p:nvPr/>
        </p:nvSpPr>
        <p:spPr>
          <a:xfrm>
            <a:off x="735946" y="1478204"/>
            <a:ext cx="2549911" cy="497779"/>
          </a:xfrm>
          <a:prstGeom prst="roundRect">
            <a:avLst>
              <a:gd name="adj" fmla="val 578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64903B-039C-93BC-8412-99B1010A4CFA}"/>
              </a:ext>
            </a:extLst>
          </p:cNvPr>
          <p:cNvSpPr txBox="1"/>
          <p:nvPr/>
        </p:nvSpPr>
        <p:spPr>
          <a:xfrm>
            <a:off x="827410" y="1568882"/>
            <a:ext cx="2392914" cy="3173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이번 분기 전체 영업 매출은 목표를 달성했는데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,</a:t>
            </a:r>
          </a:p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수도권 지역 매출이 유독 빠진 원인이 </a:t>
            </a:r>
            <a:r>
              <a:rPr lang="ko-KR" altLang="en-US" sz="900" b="1" dirty="0" err="1">
                <a:solidFill>
                  <a:schemeClr val="bg1"/>
                </a:solidFill>
                <a:latin typeface="+mn-ea"/>
              </a:rPr>
              <a:t>뭐야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?</a:t>
            </a:r>
            <a:endParaRPr lang="en-US" sz="900" b="1" dirty="0">
              <a:solidFill>
                <a:srgbClr val="41C0C2"/>
              </a:solidFill>
              <a:latin typeface="+mn-ea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F012B39B-7764-904F-2404-00F609361695}"/>
              </a:ext>
            </a:extLst>
          </p:cNvPr>
          <p:cNvSpPr/>
          <p:nvPr/>
        </p:nvSpPr>
        <p:spPr>
          <a:xfrm>
            <a:off x="322607" y="2024156"/>
            <a:ext cx="2225391" cy="598394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9" name="그래픽 38" descr="좌뇌 단색으로 채워진">
            <a:extLst>
              <a:ext uri="{FF2B5EF4-FFF2-40B4-BE49-F238E27FC236}">
                <a16:creationId xmlns:a16="http://schemas.microsoft.com/office/drawing/2014/main" id="{13262270-8D68-781A-7002-C7ADB3321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790" y="2049557"/>
            <a:ext cx="151606" cy="151606"/>
          </a:xfrm>
          <a:prstGeom prst="rect">
            <a:avLst/>
          </a:prstGeom>
        </p:spPr>
      </p:pic>
      <p:sp>
        <p:nvSpPr>
          <p:cNvPr id="40" name="Google Shape;146;p13">
            <a:extLst>
              <a:ext uri="{FF2B5EF4-FFF2-40B4-BE49-F238E27FC236}">
                <a16:creationId xmlns:a16="http://schemas.microsoft.com/office/drawing/2014/main" id="{B2CB2179-5779-8A3E-40B8-ED874445A5C6}"/>
              </a:ext>
            </a:extLst>
          </p:cNvPr>
          <p:cNvSpPr txBox="1"/>
          <p:nvPr/>
        </p:nvSpPr>
        <p:spPr>
          <a:xfrm>
            <a:off x="526396" y="2085746"/>
            <a:ext cx="203837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700" b="1" dirty="0">
                <a:latin typeface="+mn-ea"/>
                <a:sym typeface="SUIT"/>
              </a:rPr>
              <a:t>Agent Reasoning Engine</a:t>
            </a:r>
          </a:p>
        </p:txBody>
      </p:sp>
      <p:sp>
        <p:nvSpPr>
          <p:cNvPr id="41" name="Google Shape;146;p13">
            <a:extLst>
              <a:ext uri="{FF2B5EF4-FFF2-40B4-BE49-F238E27FC236}">
                <a16:creationId xmlns:a16="http://schemas.microsoft.com/office/drawing/2014/main" id="{4E9D5A45-C82A-7EFC-C6A7-B09D0D1A44BD}"/>
              </a:ext>
            </a:extLst>
          </p:cNvPr>
          <p:cNvSpPr txBox="1"/>
          <p:nvPr/>
        </p:nvSpPr>
        <p:spPr>
          <a:xfrm>
            <a:off x="374790" y="2224264"/>
            <a:ext cx="213233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1. </a:t>
            </a:r>
            <a:r>
              <a:rPr lang="ko-KR" altLang="en-US" sz="600" b="1" dirty="0">
                <a:latin typeface="+mn-ea"/>
                <a:sym typeface="SUIT"/>
              </a:rPr>
              <a:t>화면 </a:t>
            </a:r>
            <a:r>
              <a:rPr lang="ko-KR" altLang="en-US" sz="600" b="1" dirty="0" err="1">
                <a:latin typeface="+mn-ea"/>
                <a:sym typeface="SUIT"/>
              </a:rPr>
              <a:t>콘텍스트</a:t>
            </a:r>
            <a:r>
              <a:rPr lang="ko-KR" altLang="en-US" sz="600" b="1" dirty="0">
                <a:latin typeface="+mn-ea"/>
                <a:sym typeface="SUIT"/>
              </a:rPr>
              <a:t> 인지</a:t>
            </a:r>
            <a:r>
              <a:rPr lang="en-US" altLang="ko-KR" sz="600" b="1" dirty="0">
                <a:latin typeface="+mn-ea"/>
                <a:sym typeface="SUIT"/>
              </a:rPr>
              <a:t>: </a:t>
            </a:r>
            <a:r>
              <a:rPr lang="ko-KR" altLang="en-US" sz="600" b="1" dirty="0">
                <a:latin typeface="+mn-ea"/>
                <a:sym typeface="SUIT"/>
              </a:rPr>
              <a:t>현재 뷰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전체 지역</a:t>
            </a:r>
            <a:r>
              <a:rPr lang="en-US" altLang="ko-KR" sz="600" b="1" dirty="0">
                <a:latin typeface="+mn-ea"/>
                <a:sym typeface="SUIT"/>
              </a:rPr>
              <a:t>] / [</a:t>
            </a:r>
            <a:r>
              <a:rPr lang="ko-KR" altLang="en-US" sz="600" b="1" dirty="0">
                <a:latin typeface="+mn-ea"/>
                <a:sym typeface="SUIT"/>
              </a:rPr>
              <a:t>전체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2. </a:t>
            </a:r>
            <a:r>
              <a:rPr lang="ko-KR" altLang="en-US" sz="600" b="1" dirty="0">
                <a:latin typeface="+mn-ea"/>
                <a:sym typeface="SUIT"/>
              </a:rPr>
              <a:t>영업 마트 스킬 호출 ➔ 지역</a:t>
            </a:r>
            <a:r>
              <a:rPr lang="en-US" altLang="ko-KR" sz="600" b="1" dirty="0">
                <a:latin typeface="+mn-ea"/>
                <a:sym typeface="SUIT"/>
              </a:rPr>
              <a:t>='</a:t>
            </a:r>
            <a:r>
              <a:rPr lang="ko-KR" altLang="en-US" sz="600" b="1" dirty="0">
                <a:latin typeface="+mn-ea"/>
                <a:sym typeface="SUIT"/>
              </a:rPr>
              <a:t>수도권</a:t>
            </a:r>
            <a:r>
              <a:rPr lang="en-US" altLang="ko-KR" sz="600" b="1" dirty="0">
                <a:latin typeface="+mn-ea"/>
                <a:sym typeface="SUIT"/>
              </a:rPr>
              <a:t>' </a:t>
            </a:r>
            <a:r>
              <a:rPr lang="ko-KR" altLang="en-US" sz="600" b="1" dirty="0">
                <a:latin typeface="+mn-ea"/>
                <a:sym typeface="SUIT"/>
              </a:rPr>
              <a:t>세부 데이터 쿼리 수행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3. </a:t>
            </a:r>
            <a:r>
              <a:rPr lang="ko-KR" altLang="en-US" sz="600" b="1" dirty="0">
                <a:latin typeface="+mn-ea"/>
                <a:sym typeface="SUIT"/>
              </a:rPr>
              <a:t>하락 요인 도출 ➔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기업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  <a:r>
              <a:rPr lang="ko-KR" altLang="en-US" sz="600" b="1" dirty="0">
                <a:latin typeface="+mn-ea"/>
                <a:sym typeface="SUIT"/>
              </a:rPr>
              <a:t>의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전자제품</a:t>
            </a:r>
            <a:r>
              <a:rPr lang="en-US" altLang="ko-KR" sz="600" b="1" dirty="0">
                <a:latin typeface="+mn-ea"/>
                <a:sym typeface="SUIT"/>
              </a:rPr>
              <a:t>] </a:t>
            </a:r>
            <a:r>
              <a:rPr lang="ko-KR" altLang="en-US" sz="600" b="1" dirty="0">
                <a:latin typeface="+mn-ea"/>
                <a:sym typeface="SUIT"/>
              </a:rPr>
              <a:t>발주 감소 감지</a:t>
            </a:r>
            <a:endParaRPr lang="en-US" altLang="ko-KR" sz="600" b="1" dirty="0">
              <a:latin typeface="+mn-ea"/>
              <a:sym typeface="SUIT"/>
            </a:endParaRP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C32A66E1-DF2B-247B-83F4-98252C425A28}"/>
              </a:ext>
            </a:extLst>
          </p:cNvPr>
          <p:cNvSpPr/>
          <p:nvPr/>
        </p:nvSpPr>
        <p:spPr>
          <a:xfrm rot="10800000">
            <a:off x="322605" y="2757391"/>
            <a:ext cx="2508206" cy="129239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1519">
                <a:srgbClr val="00D4C5"/>
              </a:gs>
              <a:gs pos="15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Google Shape;154;p13">
            <a:extLst>
              <a:ext uri="{FF2B5EF4-FFF2-40B4-BE49-F238E27FC236}">
                <a16:creationId xmlns:a16="http://schemas.microsoft.com/office/drawing/2014/main" id="{666F8992-69D7-6D81-54D4-73C143422F98}"/>
              </a:ext>
            </a:extLst>
          </p:cNvPr>
          <p:cNvSpPr txBox="1"/>
          <p:nvPr/>
        </p:nvSpPr>
        <p:spPr>
          <a:xfrm>
            <a:off x="577654" y="2794737"/>
            <a:ext cx="822961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Agent</a:t>
            </a:r>
            <a:endParaRPr sz="14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5" name="Google Shape;147;p13">
            <a:extLst>
              <a:ext uri="{FF2B5EF4-FFF2-40B4-BE49-F238E27FC236}">
                <a16:creationId xmlns:a16="http://schemas.microsoft.com/office/drawing/2014/main" id="{8531BB42-E70F-53FB-732C-E32B4D3E38DC}"/>
              </a:ext>
            </a:extLst>
          </p:cNvPr>
          <p:cNvSpPr txBox="1"/>
          <p:nvPr/>
        </p:nvSpPr>
        <p:spPr>
          <a:xfrm>
            <a:off x="474091" y="2975267"/>
            <a:ext cx="2226543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수도권 데이터 교차 분석 결과,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'전자제품' 카테고리의 기업 고객 이탈(-11.3%)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이 전분기 대비 주요 하락 원인으로 파악되었습니다.</a:t>
            </a:r>
            <a:br>
              <a:rPr lang="ko-KR" altLang="ko-KR" sz="700" dirty="0"/>
            </a:br>
            <a:br>
              <a:rPr lang="ko-KR" altLang="ko-KR" sz="700" dirty="0"/>
            </a:b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해당 세부 데이터를 직관적으로 확인하실 수 있도록,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현재 보고 계신 대시보드의 필터를 해당 조건으로 자동 전환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했습니다</a:t>
            </a:r>
            <a:endParaRPr lang="en-US" altLang="ko-KR" sz="5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780CAD-C23D-2FA9-1F3D-CC75DF79164C}"/>
              </a:ext>
            </a:extLst>
          </p:cNvPr>
          <p:cNvSpPr txBox="1"/>
          <p:nvPr/>
        </p:nvSpPr>
        <p:spPr>
          <a:xfrm>
            <a:off x="477360" y="3765228"/>
            <a:ext cx="2092987" cy="185751"/>
          </a:xfrm>
          <a:prstGeom prst="rect">
            <a:avLst/>
          </a:prstGeom>
          <a:solidFill>
            <a:srgbClr val="07D2C5">
              <a:alpha val="8000"/>
            </a:srgbClr>
          </a:solidFill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800" b="1" i="0" u="none" strike="noStrike" dirty="0">
                <a:solidFill>
                  <a:srgbClr val="0D9488"/>
                </a:solidFill>
                <a:effectLst/>
                <a:ea typeface="Noto Sans KR" panose="020B0200000000000000" pitchFamily="50" charset="-127"/>
              </a:rPr>
              <a:t>Dashboard Sync – View Updated</a:t>
            </a:r>
            <a:endParaRPr lang="ko-KR" altLang="en-US" sz="700" b="1" dirty="0">
              <a:solidFill>
                <a:srgbClr val="0D9488"/>
              </a:solidFill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47" name="그래픽 46" descr="마법 지팡이 자동 단색으로 채워진">
            <a:extLst>
              <a:ext uri="{FF2B5EF4-FFF2-40B4-BE49-F238E27FC236}">
                <a16:creationId xmlns:a16="http://schemas.microsoft.com/office/drawing/2014/main" id="{4A09F0F5-9189-57EB-4E91-9181451AD7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970" y="3789261"/>
            <a:ext cx="137370" cy="137370"/>
          </a:xfrm>
          <a:prstGeom prst="rect">
            <a:avLst/>
          </a:prstGeom>
        </p:spPr>
      </p:pic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D7D4782E-2FB1-D46E-71F6-8C5DCC9563F3}"/>
              </a:ext>
            </a:extLst>
          </p:cNvPr>
          <p:cNvCxnSpPr>
            <a:cxnSpLocks/>
            <a:stCxn id="46" idx="3"/>
            <a:endCxn id="1025" idx="1"/>
          </p:cNvCxnSpPr>
          <p:nvPr/>
        </p:nvCxnSpPr>
        <p:spPr>
          <a:xfrm flipV="1">
            <a:off x="2570347" y="2440397"/>
            <a:ext cx="1009010" cy="1417707"/>
          </a:xfrm>
          <a:prstGeom prst="bentConnector3">
            <a:avLst>
              <a:gd name="adj1" fmla="val 50000"/>
            </a:avLst>
          </a:prstGeom>
          <a:ln w="9525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FDE91D6-A12C-26AD-8F13-4F4AA41066AB}"/>
              </a:ext>
            </a:extLst>
          </p:cNvPr>
          <p:cNvSpPr/>
          <p:nvPr/>
        </p:nvSpPr>
        <p:spPr>
          <a:xfrm>
            <a:off x="3609764" y="1478204"/>
            <a:ext cx="685905" cy="24306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C44BFDE-9A4C-7BB0-FE61-7DD253CD2E2F}"/>
              </a:ext>
            </a:extLst>
          </p:cNvPr>
          <p:cNvSpPr/>
          <p:nvPr/>
        </p:nvSpPr>
        <p:spPr>
          <a:xfrm rot="2700000">
            <a:off x="8046018" y="1632154"/>
            <a:ext cx="1058362" cy="234459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i="1" dirty="0">
                <a:solidFill>
                  <a:srgbClr val="FFC000"/>
                </a:solidFill>
              </a:rPr>
              <a:t>Illustration</a:t>
            </a:r>
            <a:endParaRPr lang="ko-KR" altLang="en-US" sz="1100" i="1" dirty="0">
              <a:solidFill>
                <a:srgbClr val="FFC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5215-7409-893A-F2B7-63DE4D9F924C}"/>
              </a:ext>
            </a:extLst>
          </p:cNvPr>
          <p:cNvSpPr txBox="1"/>
          <p:nvPr/>
        </p:nvSpPr>
        <p:spPr>
          <a:xfrm>
            <a:off x="3632632" y="1689452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기간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17B3E93A-D82B-EDD4-DE97-CA2F108C2F39}"/>
              </a:ext>
            </a:extLst>
          </p:cNvPr>
          <p:cNvSpPr/>
          <p:nvPr/>
        </p:nvSpPr>
        <p:spPr>
          <a:xfrm>
            <a:off x="3632631" y="1823490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2026.Q2</a:t>
            </a:r>
            <a:endParaRPr lang="ko-KR" altLang="en-US" sz="7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1EDEC3-2AB2-BBE6-12BD-B160181256ED}"/>
              </a:ext>
            </a:extLst>
          </p:cNvPr>
          <p:cNvSpPr txBox="1"/>
          <p:nvPr/>
        </p:nvSpPr>
        <p:spPr>
          <a:xfrm>
            <a:off x="3632633" y="206712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지역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7CE59554-9E10-344A-678B-14691D751C11}"/>
              </a:ext>
            </a:extLst>
          </p:cNvPr>
          <p:cNvSpPr/>
          <p:nvPr/>
        </p:nvSpPr>
        <p:spPr>
          <a:xfrm>
            <a:off x="3632632" y="220116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ko-KR" altLang="en-US" sz="700" dirty="0"/>
              <a:t>수도권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553F78-CDCA-1894-ECB0-07632619B2BE}"/>
              </a:ext>
            </a:extLst>
          </p:cNvPr>
          <p:cNvSpPr txBox="1"/>
          <p:nvPr/>
        </p:nvSpPr>
        <p:spPr>
          <a:xfrm>
            <a:off x="3632634" y="241803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고객군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024" name="Shape 4">
            <a:extLst>
              <a:ext uri="{FF2B5EF4-FFF2-40B4-BE49-F238E27FC236}">
                <a16:creationId xmlns:a16="http://schemas.microsoft.com/office/drawing/2014/main" id="{3A456DEB-471C-2928-3672-5A0B27512EFC}"/>
              </a:ext>
            </a:extLst>
          </p:cNvPr>
          <p:cNvSpPr/>
          <p:nvPr/>
        </p:nvSpPr>
        <p:spPr>
          <a:xfrm>
            <a:off x="3632633" y="255207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B2B</a:t>
            </a:r>
            <a:endParaRPr lang="ko-KR" altLang="en-US" sz="700" dirty="0"/>
          </a:p>
        </p:txBody>
      </p:sp>
      <p:sp>
        <p:nvSpPr>
          <p:cNvPr id="1025" name="Shape 4">
            <a:extLst>
              <a:ext uri="{FF2B5EF4-FFF2-40B4-BE49-F238E27FC236}">
                <a16:creationId xmlns:a16="http://schemas.microsoft.com/office/drawing/2014/main" id="{4F035261-84B9-6DAC-B010-4A6D285AF439}"/>
              </a:ext>
            </a:extLst>
          </p:cNvPr>
          <p:cNvSpPr/>
          <p:nvPr/>
        </p:nvSpPr>
        <p:spPr>
          <a:xfrm>
            <a:off x="3579357" y="2064301"/>
            <a:ext cx="701238" cy="752192"/>
          </a:xfrm>
          <a:prstGeom prst="roundRect">
            <a:avLst>
              <a:gd name="adj" fmla="val 20983"/>
            </a:avLst>
          </a:prstGeom>
          <a:noFill/>
          <a:ln w="9525"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77DFEBB-B109-BE78-2DE9-02A1279D81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506" y="2780996"/>
            <a:ext cx="98245" cy="11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333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15093-7790-9359-DC7F-A7FD736BF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8DBE7307-7EF7-C79D-25FE-28B05BE7AE97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F44887-E1EC-10E7-7BB7-53C27F97CFDD}"/>
              </a:ext>
            </a:extLst>
          </p:cNvPr>
          <p:cNvSpPr txBox="1"/>
          <p:nvPr/>
        </p:nvSpPr>
        <p:spPr>
          <a:xfrm>
            <a:off x="3725482" y="1349112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질문 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-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스킬 라우팅 및 지표 조회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질문의 의도를 분석하여 복수의 스킬 중 최적의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역할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연결하고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실시간 마트 데이터와 연동하여 결과를 </a:t>
            </a:r>
            <a:r>
              <a:rPr lang="ko-KR" altLang="en-US" sz="8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시각화합니다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00630DA-2040-81EA-6BB0-4327EAFC56B3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2464E86-87E9-9404-364D-8086DDE9C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②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에이전트 기반 대화형 데이터 탐색 및 분석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1EAA06-FF93-76DF-6675-5C204C2CB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ED6F2C4-B800-2405-6B09-AF57BD1D2F2C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다중 스킬 기반의 의도 파악부터 데이터 추출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리포트 작성까지 완벽한 분석 자동화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단순 검색을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질문의 의도를 분석해 가장 적합한 역할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스킬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자율적으로 제안하고 데이터 연산 및 추출을 즉시 수행합니다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CEC5FBD-1B1D-F162-0605-B097FB098EBB}"/>
              </a:ext>
            </a:extLst>
          </p:cNvPr>
          <p:cNvSpPr/>
          <p:nvPr/>
        </p:nvSpPr>
        <p:spPr>
          <a:xfrm>
            <a:off x="256032" y="1292300"/>
            <a:ext cx="3035808" cy="359212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325A1E-F468-2731-59E7-97337433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76" y="1374816"/>
            <a:ext cx="2975964" cy="3427088"/>
          </a:xfrm>
          <a:prstGeom prst="rect">
            <a:avLst/>
          </a:prstGeom>
        </p:spPr>
      </p:pic>
      <p:sp>
        <p:nvSpPr>
          <p:cNvPr id="16" name="Shape 4">
            <a:extLst>
              <a:ext uri="{FF2B5EF4-FFF2-40B4-BE49-F238E27FC236}">
                <a16:creationId xmlns:a16="http://schemas.microsoft.com/office/drawing/2014/main" id="{A1D30AFE-EC46-0CE3-2EB4-7E0F9F2FFFE8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A8666CA3-233F-239C-0C23-FB15179F2916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4AEC179-2F55-BE20-ED62-22E746191C25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E6BF794-961A-67B6-EC3E-E5770B5CED4E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87C6E7-9965-D70B-E976-5D04C06DDC23}"/>
              </a:ext>
            </a:extLst>
          </p:cNvPr>
          <p:cNvSpPr txBox="1"/>
          <p:nvPr/>
        </p:nvSpPr>
        <p:spPr>
          <a:xfrm>
            <a:off x="3725482" y="2280778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심층 원인 분석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(Root-Cause)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다차원 교차 분석 및 추론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단순 결과 수치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(What)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제공을 넘어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연관된 여러 테이블을 엮어 데이터 변동의 이면적 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(Why)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도출합니다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4A4FCC6-4D50-3CCB-B33A-D52DAF3E082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194582-6D07-977A-1F6C-5C216FB3742C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원천 데이터 추출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(Raw Data)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Zero-IT!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즉시 다운로드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사용자의 데이터 접근 권한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(RBAC)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검증 후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에이전트가 쿼리를 자동 실행하여 대기 시간 없이 즉각 파일을 제공합니다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D2B50CBF-E590-C06C-BE8D-C8CD1C9610AB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9B26E-7D6C-460E-D92F-16292097F22C}"/>
              </a:ext>
            </a:extLst>
          </p:cNvPr>
          <p:cNvSpPr txBox="1"/>
          <p:nvPr/>
        </p:nvSpPr>
        <p:spPr>
          <a:xfrm>
            <a:off x="3725482" y="4066788"/>
            <a:ext cx="5162486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지능형 리포팅 및 문서 자산화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분석 맥락 기반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Draft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자동 생성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앞선 대화 내역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분석 결과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차트 등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구조화된 텍스트로 변환하여 인사이트가 포함된 리포트 초안을 생성합니다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B497C5BE-35FA-84D7-CAE9-F84263B78949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190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F808-82FA-6676-280B-C389E4F7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DE2E1CD2-6ADF-3F71-E92B-98A2A2893F45}"/>
              </a:ext>
            </a:extLst>
          </p:cNvPr>
          <p:cNvSpPr/>
          <p:nvPr/>
        </p:nvSpPr>
        <p:spPr>
          <a:xfrm rot="10800000">
            <a:off x="4759456" y="129229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7B6E58-E0F4-3D28-EDDC-64DF3BB32918}"/>
              </a:ext>
            </a:extLst>
          </p:cNvPr>
          <p:cNvSpPr txBox="1"/>
          <p:nvPr/>
        </p:nvSpPr>
        <p:spPr>
          <a:xfrm>
            <a:off x="4959517" y="132371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다중 문서 </a:t>
            </a:r>
            <a:r>
              <a:rPr lang="ko-KR" altLang="en-US" sz="9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시맨틱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- 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질문의 숨은 문맥을 파악하여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여러 카테고리와 다양한 포맷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(PDF, Word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등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)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으로 흩어져 있는 위키 페이지들을 한 번에 입체적으로 탐색합니다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CE26F03-2569-A018-9CE4-8EABA42FD72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73DDE0BF-A540-6ECC-477F-EB430A3B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③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(Knowledge 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전문가 질의응답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6C38C9A-75A0-1E80-B198-7C3DD063DF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76BEC0E-1FBA-59FD-79CC-A8D7873B11D8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파편화된 사내 문서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규정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가이드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양식 등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카테고리별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지식 위키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로 통합하고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문서 간의 맥락을 연결하여 출처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(Citation)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명확한 환각 없는 교차 검증 답변을 제공합니다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DE011FC-E30F-DEC0-7DE9-F9F1A78888A5}"/>
              </a:ext>
            </a:extLst>
          </p:cNvPr>
          <p:cNvSpPr/>
          <p:nvPr/>
        </p:nvSpPr>
        <p:spPr>
          <a:xfrm>
            <a:off x="256031" y="1292300"/>
            <a:ext cx="4346445" cy="3631392"/>
          </a:xfrm>
          <a:prstGeom prst="roundRect">
            <a:avLst>
              <a:gd name="adj" fmla="val 1263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8F32D396-0B1D-714D-A5A0-6A441877FCD7}"/>
              </a:ext>
            </a:extLst>
          </p:cNvPr>
          <p:cNvSpPr/>
          <p:nvPr/>
        </p:nvSpPr>
        <p:spPr>
          <a:xfrm rot="10800000">
            <a:off x="4759456" y="220415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61CB0B34-94FF-8690-E6D6-B69575967C43}"/>
              </a:ext>
            </a:extLst>
          </p:cNvPr>
          <p:cNvSpPr/>
          <p:nvPr/>
        </p:nvSpPr>
        <p:spPr>
          <a:xfrm rot="10800000">
            <a:off x="4759456" y="311601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D080B6B-07C4-893C-0A7C-8FA6582D24D4}"/>
              </a:ext>
            </a:extLst>
          </p:cNvPr>
          <p:cNvSpPr/>
          <p:nvPr/>
        </p:nvSpPr>
        <p:spPr>
          <a:xfrm rot="10800000">
            <a:off x="4759456" y="4027875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D5EF901-E160-F5E2-FC0B-D753505DF259}"/>
              </a:ext>
            </a:extLst>
          </p:cNvPr>
          <p:cNvSpPr/>
          <p:nvPr/>
        </p:nvSpPr>
        <p:spPr>
          <a:xfrm>
            <a:off x="4935381" y="140653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48310E-3926-96A4-0B85-709A266B9D05}"/>
              </a:ext>
            </a:extLst>
          </p:cNvPr>
          <p:cNvSpPr txBox="1"/>
          <p:nvPr/>
        </p:nvSpPr>
        <p:spPr>
          <a:xfrm>
            <a:off x="4959517" y="2255378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이종 데이터 교차 검증</a:t>
            </a:r>
            <a:endParaRPr lang="en-US" altLang="ko-KR" sz="800" b="1" dirty="0">
              <a:solidFill>
                <a:srgbClr val="0D9488"/>
              </a:solidFill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ea typeface="SUIT ExtraBold" pitchFamily="50" charset="-127"/>
              </a:rPr>
              <a:t>파편화된 지식의 융합</a:t>
            </a:r>
          </a:p>
          <a:p>
            <a:pPr>
              <a:lnSpc>
                <a:spcPct val="160000"/>
              </a:lnSpc>
            </a:pP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보안 </a:t>
            </a:r>
            <a:r>
              <a:rPr lang="ko-KR" altLang="en-US" sz="7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규정집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기준안과 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신청서 양식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기재 요건 등 성격이 다른 문서들의 내용을 비교 대조하여 종합적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인 하나의 해결책으로 결합합니다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033B5C8C-77E4-FC30-DA7C-4F8EB60312EC}"/>
              </a:ext>
            </a:extLst>
          </p:cNvPr>
          <p:cNvSpPr/>
          <p:nvPr/>
        </p:nvSpPr>
        <p:spPr>
          <a:xfrm>
            <a:off x="4935381" y="233820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C81CC7-4AAD-34FC-DCE2-9A7FC377661C}"/>
              </a:ext>
            </a:extLst>
          </p:cNvPr>
          <p:cNvSpPr txBox="1"/>
          <p:nvPr/>
        </p:nvSpPr>
        <p:spPr>
          <a:xfrm>
            <a:off x="4959518" y="313732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완벽한 출처 제시 </a:t>
            </a: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(Grounded)</a:t>
            </a:r>
            <a:endParaRPr lang="en-US" altLang="ko-KR" sz="800" b="1" dirty="0">
              <a:solidFill>
                <a:srgbClr val="0D9488"/>
              </a:solidFill>
              <a:latin typeface="+mj-lt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AI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환각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(Hallucination)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위험 원천 차단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답변의 근거가 된 원본 위키 문서의 정확한 링크와 매핑 정보를 논문 주석처럼 제공하여 사용자가 즉시 팩트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체크를 할 수 있도록 지원합니다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0412E56-3A15-FC63-CEE5-92D7170BC14E}"/>
              </a:ext>
            </a:extLst>
          </p:cNvPr>
          <p:cNvSpPr/>
          <p:nvPr/>
        </p:nvSpPr>
        <p:spPr>
          <a:xfrm>
            <a:off x="4935382" y="319474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0CAE7-499C-1CB6-306C-6FC0DE4E3774}"/>
              </a:ext>
            </a:extLst>
          </p:cNvPr>
          <p:cNvSpPr txBox="1"/>
          <p:nvPr/>
        </p:nvSpPr>
        <p:spPr>
          <a:xfrm>
            <a:off x="4958643" y="4066788"/>
            <a:ext cx="4147257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지식 그래프 연관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꼬리를 무는 심층 탐색 지원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단순 단답형 결과 제공에 그치지 않고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지식 그래프 구조를 통해 관련된 다른 부서의 가이드나 후속 절차들을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연결망으로 확장 제공합니다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90422D-5674-4A94-E140-26BE1E9C1D55}"/>
              </a:ext>
            </a:extLst>
          </p:cNvPr>
          <p:cNvSpPr/>
          <p:nvPr/>
        </p:nvSpPr>
        <p:spPr>
          <a:xfrm>
            <a:off x="4935381" y="412421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B44DCD-4AE1-D4D7-4F08-67126AF0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04" y="1338044"/>
            <a:ext cx="3035808" cy="354637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133B5E-626E-3BE0-84D4-92705F41C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308" y="1676043"/>
            <a:ext cx="1183090" cy="27693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DDBA53-D433-F42D-49F1-949289FD38EB}"/>
              </a:ext>
            </a:extLst>
          </p:cNvPr>
          <p:cNvSpPr txBox="1"/>
          <p:nvPr/>
        </p:nvSpPr>
        <p:spPr>
          <a:xfrm>
            <a:off x="463731" y="1362344"/>
            <a:ext cx="75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지식 위키</a:t>
            </a:r>
            <a:endParaRPr lang="ko-KR" altLang="en-US" sz="10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63B6A4F-EFC3-74AD-5138-E7E850CBA390}"/>
              </a:ext>
            </a:extLst>
          </p:cNvPr>
          <p:cNvCxnSpPr/>
          <p:nvPr/>
        </p:nvCxnSpPr>
        <p:spPr>
          <a:xfrm>
            <a:off x="308308" y="1625107"/>
            <a:ext cx="1118558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4444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F935F-09C3-AE09-76BF-2D10759BE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D9D2717-3A6B-068C-B6E7-FE1461B3C00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7" name="제목 21">
            <a:extLst>
              <a:ext uri="{FF2B5EF4-FFF2-40B4-BE49-F238E27FC236}">
                <a16:creationId xmlns:a16="http://schemas.microsoft.com/office/drawing/2014/main" id="{9BAD6449-734A-BC87-B255-C82E1EE6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dirty="0"/>
              <a:t>④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루프를 통한 자동화 문서 생성 시스템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001CD1F0-B5AE-E6C3-8032-A1F718811C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28ED096-B0AB-0A3E-1308-DBF515B1A20A}"/>
              </a:ext>
            </a:extLst>
          </p:cNvPr>
          <p:cNvSpPr txBox="1"/>
          <p:nvPr/>
        </p:nvSpPr>
        <p:spPr>
          <a:xfrm>
            <a:off x="256032" y="776121"/>
            <a:ext cx="8595360" cy="193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데이터 질문에서 시작해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분석</a:t>
            </a:r>
            <a:r>
              <a:rPr lang="en-US" altLang="ko-KR" sz="1000" b="1" dirty="0">
                <a:solidFill>
                  <a:srgbClr val="334155"/>
                </a:solidFill>
                <a:latin typeface="+mn-ea"/>
              </a:rPr>
              <a:t>,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보고용 리포트 생성 및 자동 메일 발송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까지 이어지는 </a:t>
            </a:r>
            <a:r>
              <a:rPr lang="en-US" altLang="ko-KR" sz="1000" dirty="0">
                <a:solidFill>
                  <a:srgbClr val="334155"/>
                </a:solidFill>
                <a:latin typeface="+mn-ea"/>
              </a:rPr>
              <a:t>‘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Automation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 지능형 루프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(Intelligence Loop)’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 구현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3DA5447-A9C2-A56E-B915-4F454E6AD03C}"/>
              </a:ext>
            </a:extLst>
          </p:cNvPr>
          <p:cNvSpPr/>
          <p:nvPr/>
        </p:nvSpPr>
        <p:spPr>
          <a:xfrm>
            <a:off x="23527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28A8E8-5413-562D-DE75-273D1A98C073}"/>
              </a:ext>
            </a:extLst>
          </p:cNvPr>
          <p:cNvSpPr/>
          <p:nvPr/>
        </p:nvSpPr>
        <p:spPr>
          <a:xfrm>
            <a:off x="320072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B0E1F0-9C6D-0A73-7E01-36BDA0687E14}"/>
              </a:ext>
            </a:extLst>
          </p:cNvPr>
          <p:cNvSpPr/>
          <p:nvPr/>
        </p:nvSpPr>
        <p:spPr>
          <a:xfrm>
            <a:off x="6166174" y="1459503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A827E030-2799-C97F-6635-6A8FBE7A58B4}"/>
              </a:ext>
            </a:extLst>
          </p:cNvPr>
          <p:cNvSpPr/>
          <p:nvPr/>
        </p:nvSpPr>
        <p:spPr>
          <a:xfrm rot="10800000">
            <a:off x="346206" y="3416900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9845C-CFCA-7772-361F-BEEC2F1B0F51}"/>
              </a:ext>
            </a:extLst>
          </p:cNvPr>
          <p:cNvSpPr txBox="1"/>
          <p:nvPr/>
        </p:nvSpPr>
        <p:spPr>
          <a:xfrm>
            <a:off x="419268" y="3438212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자연어 기반 분석 트리거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지난 분기 대비 매출이 하락한 원인은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?”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같은 현업의 실제 질문을 즉각 데이터 쿼리로 변환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AB621295-7AA2-3CE5-0817-8758710AF952}"/>
              </a:ext>
            </a:extLst>
          </p:cNvPr>
          <p:cNvSpPr/>
          <p:nvPr/>
        </p:nvSpPr>
        <p:spPr>
          <a:xfrm rot="10800000">
            <a:off x="346206" y="4150638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7A9C6-DBDF-E844-A76C-1CBB8ED31892}"/>
              </a:ext>
            </a:extLst>
          </p:cNvPr>
          <p:cNvSpPr txBox="1"/>
          <p:nvPr/>
        </p:nvSpPr>
        <p:spPr>
          <a:xfrm>
            <a:off x="419268" y="4171950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실시간 데이터 동기화 (Live-Sync)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DB와 Real-time 데이터 동기화로 수동 데이터 취합 공수 없이 최신 지표 기반 데이터 제공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D290C23-E25F-47DE-60AC-2A4B2FFE84BB}"/>
              </a:ext>
            </a:extLst>
          </p:cNvPr>
          <p:cNvSpPr/>
          <p:nvPr/>
        </p:nvSpPr>
        <p:spPr>
          <a:xfrm rot="10800000">
            <a:off x="3321815" y="3413425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060CD-98C2-3649-C3FB-E63F76238BFB}"/>
              </a:ext>
            </a:extLst>
          </p:cNvPr>
          <p:cNvSpPr txBox="1"/>
          <p:nvPr/>
        </p:nvSpPr>
        <p:spPr>
          <a:xfrm>
            <a:off x="3394877" y="3434737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AI </a:t>
            </a:r>
            <a:r>
              <a:rPr lang="ko-KR" altLang="en-US" sz="800" dirty="0" err="1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시맨틱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 파싱 </a:t>
            </a: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&amp;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매핑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분석 결과를 슬라이드 레이아웃 및 컴포넌트 규격에 맞춰 지능적으로 </a:t>
            </a:r>
            <a:r>
              <a:rPr lang="ko-KR" altLang="ko-KR" sz="700" dirty="0" err="1"/>
              <a:t>파싱하여</a:t>
            </a:r>
            <a:r>
              <a:rPr lang="ko-KR" altLang="ko-KR" sz="700" dirty="0"/>
              <a:t> 자동 배치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762BE326-FBAE-0FC1-6962-BAC10B6CA421}"/>
              </a:ext>
            </a:extLst>
          </p:cNvPr>
          <p:cNvSpPr/>
          <p:nvPr/>
        </p:nvSpPr>
        <p:spPr>
          <a:xfrm rot="10800000">
            <a:off x="3321815" y="4162303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5A570-860B-2B96-95BE-FB731336E6C1}"/>
              </a:ext>
            </a:extLst>
          </p:cNvPr>
          <p:cNvSpPr txBox="1"/>
          <p:nvPr/>
        </p:nvSpPr>
        <p:spPr>
          <a:xfrm>
            <a:off x="3394877" y="4183615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Smart Draft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생성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사내 표준 템플릿(</a:t>
            </a:r>
            <a:r>
              <a:rPr lang="ko-KR" altLang="ko-KR" sz="700" dirty="0" err="1"/>
              <a:t>Master</a:t>
            </a:r>
            <a:r>
              <a:rPr lang="ko-KR" altLang="ko-KR" sz="700" dirty="0"/>
              <a:t> PPT) 가이드를 준수하여 디자인과 데이터가 결합된 리포트 초안 자동 구성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5EA56177-B324-265C-928C-9185F96F3459}"/>
              </a:ext>
            </a:extLst>
          </p:cNvPr>
          <p:cNvSpPr/>
          <p:nvPr/>
        </p:nvSpPr>
        <p:spPr>
          <a:xfrm rot="10800000">
            <a:off x="6280150" y="3413426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3CFE7-1449-B1CC-0AA5-46E720C167B2}"/>
              </a:ext>
            </a:extLst>
          </p:cNvPr>
          <p:cNvSpPr txBox="1"/>
          <p:nvPr/>
        </p:nvSpPr>
        <p:spPr>
          <a:xfrm>
            <a:off x="6353212" y="3434738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구독 기반 자동 배포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지정된 주기(예: 매주 월요일 9시)</a:t>
            </a:r>
            <a:r>
              <a:rPr lang="ko-KR" altLang="ko-KR" sz="700" dirty="0" err="1"/>
              <a:t>에</a:t>
            </a:r>
            <a:r>
              <a:rPr lang="ko-KR" altLang="ko-KR" sz="700" dirty="0"/>
              <a:t> 따라 분석 리포트를 웹메일로 담당자에게 자동 발송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6F768CF8-4D4D-A7F0-A933-57D7AB2BCD83}"/>
              </a:ext>
            </a:extLst>
          </p:cNvPr>
          <p:cNvSpPr/>
          <p:nvPr/>
        </p:nvSpPr>
        <p:spPr>
          <a:xfrm rot="10800000">
            <a:off x="6280150" y="4162304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FFF5E-9718-F078-8BD6-0989198B4B2E}"/>
              </a:ext>
            </a:extLst>
          </p:cNvPr>
          <p:cNvSpPr txBox="1"/>
          <p:nvPr/>
        </p:nvSpPr>
        <p:spPr>
          <a:xfrm>
            <a:off x="6353212" y="4183616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지식 자산화 루프 </a:t>
            </a:r>
            <a:endParaRPr lang="en-US" altLang="ko-KR" sz="800" dirty="0">
              <a:solidFill>
                <a:srgbClr val="0D9488"/>
              </a:solidFill>
              <a:latin typeface="SUIT ExtraBold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ko-KR" sz="700" dirty="0"/>
              <a:t>수행된 분석 경로를 저장하여 향후 유사 질문 시 즉시 호출 가능한 사내 지식 자산으로 축적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F73C057-C6B6-1376-8CBE-F157E5336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814" y="1580459"/>
            <a:ext cx="2504229" cy="178873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5C64DB40-2CCF-0CD4-8304-76B8CD28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77" t="3008" r="1582" b="1376"/>
          <a:stretch>
            <a:fillRect/>
          </a:stretch>
        </p:blipFill>
        <p:spPr>
          <a:xfrm>
            <a:off x="346206" y="1580459"/>
            <a:ext cx="2517644" cy="181393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87BA846-452F-D03B-D41B-CF965EFB5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50" y="1578888"/>
            <a:ext cx="2517644" cy="179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977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195E-FC1F-C531-DC66-A574CC87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91891F29-B3A4-1143-0BF0-55937136BEE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DD4D14A9-9A92-ADB5-7F2A-1F0F7D63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무인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(Human-less)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F8E29D-CC98-F3D5-8C3A-AB8554EC52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99040956-F2C0-5D8B-8A43-6EE391F9DC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하이브리드 방식으로 수집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된 사내 문서와 실시간 API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데이터를 바탕으로,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에이전트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가 지식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위키화·순차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요약·관계망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형성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을 자율적으로 수행합니다.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지식 관계망 구축을 기반으로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정교화된 지식 자산을 활용하여 사용자 권한에 최적화된 답변을 도출함으로써, 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관리의 전 과정을 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‘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무인(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Human-less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)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자산화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파이프라인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’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으로 구현합니다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AE10725A-842F-1599-66EF-EDF7CCF7F574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8E103E75-10C4-DAA6-104F-1E5BA0DF9FA9}"/>
              </a:ext>
            </a:extLst>
          </p:cNvPr>
          <p:cNvSpPr txBox="1"/>
          <p:nvPr/>
        </p:nvSpPr>
        <p:spPr>
          <a:xfrm>
            <a:off x="3725482" y="1349112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하이브리드 데이터 확보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사내 문서관리 및 외부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API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통합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DB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구축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파일 업로드 창구를 통한 내부 보안 문서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인입과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 외부 데이터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형태의 입력을 통해 양측 데이터를 통합한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DB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를 구축합니다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2" name="Shape 4">
            <a:extLst>
              <a:ext uri="{FF2B5EF4-FFF2-40B4-BE49-F238E27FC236}">
                <a16:creationId xmlns:a16="http://schemas.microsoft.com/office/drawing/2014/main" id="{8EE65F06-3FD0-274C-D8B7-1205A49EDE23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3" name="Shape 4">
            <a:extLst>
              <a:ext uri="{FF2B5EF4-FFF2-40B4-BE49-F238E27FC236}">
                <a16:creationId xmlns:a16="http://schemas.microsoft.com/office/drawing/2014/main" id="{BCAC3257-6084-4721-5D03-4C186F913A35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Shape 4">
            <a:extLst>
              <a:ext uri="{FF2B5EF4-FFF2-40B4-BE49-F238E27FC236}">
                <a16:creationId xmlns:a16="http://schemas.microsoft.com/office/drawing/2014/main" id="{1C4304D3-BF05-CEC6-5221-850F2DBB6242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5" name="Shape 4">
            <a:extLst>
              <a:ext uri="{FF2B5EF4-FFF2-40B4-BE49-F238E27FC236}">
                <a16:creationId xmlns:a16="http://schemas.microsoft.com/office/drawing/2014/main" id="{7AE2E924-60B8-DD44-EB21-775FEAB69E1F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14D65E3D-8040-3772-716C-0D444246E1E6}"/>
              </a:ext>
            </a:extLst>
          </p:cNvPr>
          <p:cNvSpPr txBox="1"/>
          <p:nvPr/>
        </p:nvSpPr>
        <p:spPr>
          <a:xfrm>
            <a:off x="3725482" y="2280778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구조화 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문서 위키화 및 순차 리스트 자동 요약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확보된 비정형 문서를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가 탐색할 수 있는 위키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(wiki)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형태로 변환하고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문서의 핵심 타이틀과 요약을 통해 지식 집합체를 형성합니다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0834FC8F-490B-ABFE-0BBE-6606BB02B40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59A5710F-F80E-4E68-85DC-177E2957CF26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관계망</a:t>
            </a:r>
            <a:r>
              <a:rPr lang="en-US" altLang="ko-KR" sz="8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구축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데이터 간 관계망 형성 및 맥락 키워드 추출 </a:t>
            </a:r>
          </a:p>
          <a:p>
            <a:pPr>
              <a:lnSpc>
                <a:spcPct val="160000"/>
              </a:lnSpc>
            </a:pP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위키화된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목록을 상호 연계하여 복잡한 데이터 간의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‘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지식 관계망</a:t>
            </a:r>
            <a:r>
              <a:rPr lang="en-US" altLang="ko-KR" sz="700" dirty="0"/>
              <a:t>'</a:t>
            </a:r>
            <a:r>
              <a:rPr lang="ko-KR" altLang="en-US" sz="700" dirty="0"/>
              <a:t>을  구축합니다</a:t>
            </a:r>
            <a:r>
              <a:rPr lang="en-US" altLang="ko-KR" sz="700" dirty="0"/>
              <a:t>. </a:t>
            </a:r>
            <a:r>
              <a:rPr lang="ko-KR" altLang="en-US" sz="700" dirty="0"/>
              <a:t>핵심 키워드를 추출하고 설명문을 기록합니다</a:t>
            </a:r>
            <a:r>
              <a:rPr lang="en-US" altLang="ko-KR" sz="700" dirty="0"/>
              <a:t>.</a:t>
            </a:r>
          </a:p>
        </p:txBody>
      </p:sp>
      <p:sp>
        <p:nvSpPr>
          <p:cNvPr id="220" name="Shape 4">
            <a:extLst>
              <a:ext uri="{FF2B5EF4-FFF2-40B4-BE49-F238E27FC236}">
                <a16:creationId xmlns:a16="http://schemas.microsoft.com/office/drawing/2014/main" id="{F8C7E240-A7C7-41CC-49E3-5045A9116AF3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FBDEA19-ACAA-BC66-4D4C-63400951A597}"/>
              </a:ext>
            </a:extLst>
          </p:cNvPr>
          <p:cNvSpPr txBox="1"/>
          <p:nvPr/>
        </p:nvSpPr>
        <p:spPr>
          <a:xfrm>
            <a:off x="3725482" y="4066788"/>
            <a:ext cx="5162486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보안 답변 제공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태그 기반 답변 검색 및 사용자 권한별 보안 답변 제어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태그 관리를 통해 질문과 연관된 최적의 문서를 찾아 답변을 제공하며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최종 출력 단계에서 사용자 권한을 판단해 보안 답변을 분리 제어합니다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22" name="Shape 4">
            <a:extLst>
              <a:ext uri="{FF2B5EF4-FFF2-40B4-BE49-F238E27FC236}">
                <a16:creationId xmlns:a16="http://schemas.microsoft.com/office/drawing/2014/main" id="{B1617265-1060-FFA9-3A40-1B095D24F47C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225" name="그림 224">
            <a:extLst>
              <a:ext uri="{FF2B5EF4-FFF2-40B4-BE49-F238E27FC236}">
                <a16:creationId xmlns:a16="http://schemas.microsoft.com/office/drawing/2014/main" id="{98AE746E-4C72-B805-2CB9-5BF2D6BCC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06" y="1292295"/>
            <a:ext cx="2874725" cy="359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95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74CD-8C37-2DFB-6DF2-6E27D842B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D1DC52C-ED41-A7D8-97DF-E1B64E5AD1E1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2E9EC38-9B0F-CDD9-63E1-95C07D14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비용 효율적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운영 전략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647C74D-74E8-D95C-81EC-0D1A640D0E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Business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CC1565BD-FF5C-070D-5411-AF1D42CEA049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비즈니스 목적에 최적화된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운용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6034ACB4-BB2B-CE87-D1AC-D6F90B9E2414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작업의 난이도와 보안 등급에 따라 최적의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AI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모델을 실시간 매칭하여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,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품질 타협 없이 인프라 운영 비용을 최소화합니다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  <a:endParaRPr lang="ko-KR" altLang="en-US" sz="8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B9856804-947F-5516-A4D6-91824B4B8E23}"/>
              </a:ext>
            </a:extLst>
          </p:cNvPr>
          <p:cNvSpPr/>
          <p:nvPr/>
        </p:nvSpPr>
        <p:spPr>
          <a:xfrm>
            <a:off x="124277" y="1309298"/>
            <a:ext cx="8895446" cy="807401"/>
          </a:xfrm>
          <a:prstGeom prst="roundRect">
            <a:avLst>
              <a:gd name="adj" fmla="val 9193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DB01AEB-3D58-026B-DC2D-9FC582385AA3}"/>
              </a:ext>
            </a:extLst>
          </p:cNvPr>
          <p:cNvCxnSpPr>
            <a:cxnSpLocks/>
          </p:cNvCxnSpPr>
          <p:nvPr/>
        </p:nvCxnSpPr>
        <p:spPr>
          <a:xfrm>
            <a:off x="3085362" y="1307868"/>
            <a:ext cx="0" cy="808831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CB840BB-ABF8-00EF-08D9-4A7829D84D79}"/>
              </a:ext>
            </a:extLst>
          </p:cNvPr>
          <p:cNvCxnSpPr>
            <a:cxnSpLocks/>
          </p:cNvCxnSpPr>
          <p:nvPr/>
        </p:nvCxnSpPr>
        <p:spPr>
          <a:xfrm>
            <a:off x="6046447" y="1303202"/>
            <a:ext cx="0" cy="813497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3CBBBD0-2357-CE74-7B32-A99C1508DDA6}"/>
              </a:ext>
            </a:extLst>
          </p:cNvPr>
          <p:cNvSpPr txBox="1"/>
          <p:nvPr/>
        </p:nvSpPr>
        <p:spPr>
          <a:xfrm>
            <a:off x="307099" y="1504088"/>
            <a:ext cx="1062228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~80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endParaRPr lang="en-US" sz="2400" dirty="0">
              <a:solidFill>
                <a:srgbClr val="00A896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024C56-AD18-CAF9-36DC-93F81186916F}"/>
              </a:ext>
            </a:extLst>
          </p:cNvPr>
          <p:cNvSpPr txBox="1"/>
          <p:nvPr/>
        </p:nvSpPr>
        <p:spPr>
          <a:xfrm>
            <a:off x="3269456" y="1475857"/>
            <a:ext cx="947737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60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r>
              <a:rPr lang="ko-KR" altLang="en-US" sz="1600" dirty="0">
                <a:solidFill>
                  <a:srgbClr val="00A896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↓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B66C39-42A8-551C-6663-AD09D32EE759}"/>
              </a:ext>
            </a:extLst>
          </p:cNvPr>
          <p:cNvSpPr txBox="1"/>
          <p:nvPr/>
        </p:nvSpPr>
        <p:spPr>
          <a:xfrm>
            <a:off x="6159100" y="1475857"/>
            <a:ext cx="93283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 </a:t>
            </a:r>
            <a:r>
              <a:rPr lang="en-US" sz="12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system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97DD617A-0B1D-847E-0A21-EE749325A0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80245" y="1528693"/>
            <a:ext cx="144000" cy="1440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0FC2CDF4-C3B2-C502-E10B-B6A9638865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4196" y="1528767"/>
            <a:ext cx="144000" cy="144000"/>
          </a:xfrm>
          <a:prstGeom prst="rect">
            <a:avLst/>
          </a:prstGeom>
        </p:spPr>
      </p:pic>
      <p:pic>
        <p:nvPicPr>
          <p:cNvPr id="24" name="그래픽 23">
            <a:extLst>
              <a:ext uri="{FF2B5EF4-FFF2-40B4-BE49-F238E27FC236}">
                <a16:creationId xmlns:a16="http://schemas.microsoft.com/office/drawing/2014/main" id="{B923C3DA-53BE-D889-3373-6AEDB142D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9" y="1535982"/>
            <a:ext cx="144000" cy="144000"/>
          </a:xfrm>
          <a:prstGeom prst="rect">
            <a:avLst/>
          </a:prstGeom>
        </p:spPr>
      </p:pic>
      <p:sp>
        <p:nvSpPr>
          <p:cNvPr id="55" name="Shape 4">
            <a:extLst>
              <a:ext uri="{FF2B5EF4-FFF2-40B4-BE49-F238E27FC236}">
                <a16:creationId xmlns:a16="http://schemas.microsoft.com/office/drawing/2014/main" id="{F6ACFD66-A88E-DCB6-5B2C-126A9968BBD0}"/>
              </a:ext>
            </a:extLst>
          </p:cNvPr>
          <p:cNvSpPr/>
          <p:nvPr/>
        </p:nvSpPr>
        <p:spPr>
          <a:xfrm rot="16200000">
            <a:off x="200430" y="2164894"/>
            <a:ext cx="2675838" cy="282814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EF4444"/>
              </a:gs>
              <a:gs pos="1424">
                <a:srgbClr val="EF4444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BB294830-BF67-2955-86FD-9EBA026B94FB}"/>
              </a:ext>
            </a:extLst>
          </p:cNvPr>
          <p:cNvSpPr/>
          <p:nvPr/>
        </p:nvSpPr>
        <p:spPr>
          <a:xfrm rot="16200000">
            <a:off x="4712904" y="610062"/>
            <a:ext cx="2675838" cy="593780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00A896"/>
              </a:gs>
              <a:gs pos="1424">
                <a:srgbClr val="00A896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4" name="그래픽 13">
            <a:extLst>
              <a:ext uri="{FF2B5EF4-FFF2-40B4-BE49-F238E27FC236}">
                <a16:creationId xmlns:a16="http://schemas.microsoft.com/office/drawing/2014/main" id="{8B0B1C1B-E2A6-1BCB-4C3D-5A58DB4EC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288" y="2374208"/>
            <a:ext cx="216000" cy="216000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DC10FB1A-0027-0199-04A9-5AE068E44E12}"/>
              </a:ext>
            </a:extLst>
          </p:cNvPr>
          <p:cNvGrpSpPr/>
          <p:nvPr/>
        </p:nvGrpSpPr>
        <p:grpSpPr>
          <a:xfrm>
            <a:off x="6357938" y="3184579"/>
            <a:ext cx="583093" cy="1137031"/>
            <a:chOff x="6361933" y="3116730"/>
            <a:chExt cx="381000" cy="742950"/>
          </a:xfrm>
        </p:grpSpPr>
        <p:sp>
          <p:nvSpPr>
            <p:cNvPr id="1086" name="자유형: 도형 1085">
              <a:extLst>
                <a:ext uri="{FF2B5EF4-FFF2-40B4-BE49-F238E27FC236}">
                  <a16:creationId xmlns:a16="http://schemas.microsoft.com/office/drawing/2014/main" id="{CAD8C583-9134-5A52-E158-5447978ED6F2}"/>
                </a:ext>
              </a:extLst>
            </p:cNvPr>
            <p:cNvSpPr/>
            <p:nvPr/>
          </p:nvSpPr>
          <p:spPr>
            <a:xfrm>
              <a:off x="6361933" y="3154830"/>
              <a:ext cx="342900" cy="333375"/>
            </a:xfrm>
            <a:custGeom>
              <a:avLst/>
              <a:gdLst>
                <a:gd name="csX0" fmla="*/ 0 w 342900"/>
                <a:gd name="csY0" fmla="*/ 333375 h 333375"/>
                <a:gd name="csX1" fmla="*/ 342900 w 342900"/>
                <a:gd name="csY1" fmla="*/ 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333375"/>
                  </a:moveTo>
                  <a:cubicBezTo>
                    <a:pt x="190500" y="333375"/>
                    <a:pt x="190500" y="0"/>
                    <a:pt x="342900" y="0"/>
                  </a:cubicBezTo>
                </a:path>
              </a:pathLst>
            </a:custGeom>
            <a:noFill/>
            <a:ln w="28575" cap="flat">
              <a:solidFill>
                <a:srgbClr val="00A896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11827C87-0F6E-73A2-1F77-22F1C488A931}"/>
                </a:ext>
              </a:extLst>
            </p:cNvPr>
            <p:cNvSpPr/>
            <p:nvPr/>
          </p:nvSpPr>
          <p:spPr>
            <a:xfrm>
              <a:off x="6695308" y="311673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A89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381A3138-0C5A-1C3B-1293-73360AEA4790}"/>
                </a:ext>
              </a:extLst>
            </p:cNvPr>
            <p:cNvSpPr/>
            <p:nvPr/>
          </p:nvSpPr>
          <p:spPr>
            <a:xfrm>
              <a:off x="6361933" y="3488205"/>
              <a:ext cx="342900" cy="333375"/>
            </a:xfrm>
            <a:custGeom>
              <a:avLst/>
              <a:gdLst>
                <a:gd name="csX0" fmla="*/ 0 w 342900"/>
                <a:gd name="csY0" fmla="*/ 0 h 333375"/>
                <a:gd name="csX1" fmla="*/ 342900 w 342900"/>
                <a:gd name="csY1" fmla="*/ 333375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0"/>
                  </a:moveTo>
                  <a:cubicBezTo>
                    <a:pt x="190500" y="0"/>
                    <a:pt x="190500" y="333375"/>
                    <a:pt x="342900" y="333375"/>
                  </a:cubicBezTo>
                </a:path>
              </a:pathLst>
            </a:custGeom>
            <a:noFill/>
            <a:ln w="28575" cap="flat">
              <a:solidFill>
                <a:srgbClr val="0070C0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1F1C70CD-ECBC-DE55-06F0-98D825DEE8C3}"/>
                </a:ext>
              </a:extLst>
            </p:cNvPr>
            <p:cNvSpPr/>
            <p:nvPr/>
          </p:nvSpPr>
          <p:spPr>
            <a:xfrm>
              <a:off x="6695308" y="378348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70C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8" name="Shape 4">
            <a:extLst>
              <a:ext uri="{FF2B5EF4-FFF2-40B4-BE49-F238E27FC236}">
                <a16:creationId xmlns:a16="http://schemas.microsoft.com/office/drawing/2014/main" id="{3482A6B0-871A-85C3-5754-D73234BF3E30}"/>
              </a:ext>
            </a:extLst>
          </p:cNvPr>
          <p:cNvSpPr/>
          <p:nvPr/>
        </p:nvSpPr>
        <p:spPr>
          <a:xfrm>
            <a:off x="300246" y="2733851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F517BB5A-99D3-16D0-4AC4-02E4991A32FF}"/>
              </a:ext>
            </a:extLst>
          </p:cNvPr>
          <p:cNvSpPr/>
          <p:nvPr/>
        </p:nvSpPr>
        <p:spPr>
          <a:xfrm>
            <a:off x="300246" y="3299050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7D8B777F-A610-497C-1038-50492242833B}"/>
              </a:ext>
            </a:extLst>
          </p:cNvPr>
          <p:cNvSpPr/>
          <p:nvPr/>
        </p:nvSpPr>
        <p:spPr>
          <a:xfrm>
            <a:off x="300246" y="3848823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9EAC2A87-9B98-9E96-F13D-068A08A8FFA3}"/>
              </a:ext>
            </a:extLst>
          </p:cNvPr>
          <p:cNvSpPr/>
          <p:nvPr/>
        </p:nvSpPr>
        <p:spPr>
          <a:xfrm>
            <a:off x="300246" y="4386967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D1A2EEE-A915-8084-8DD6-1119025267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9611" y="3884984"/>
            <a:ext cx="144000" cy="14400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8898B355-5FF3-707D-473F-EB4DE5BFAD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611" y="4424508"/>
            <a:ext cx="144000" cy="1440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D645A8B5-24C9-98DD-4220-45098D99E7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611" y="2774012"/>
            <a:ext cx="144000" cy="144000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5527B5EE-BFFD-96B7-3583-0973802FA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611" y="3336830"/>
            <a:ext cx="144000" cy="144000"/>
          </a:xfrm>
          <a:prstGeom prst="rect">
            <a:avLst/>
          </a:prstGeom>
        </p:spPr>
      </p:pic>
      <p:sp>
        <p:nvSpPr>
          <p:cNvPr id="1026" name="Shape 4">
            <a:extLst>
              <a:ext uri="{FF2B5EF4-FFF2-40B4-BE49-F238E27FC236}">
                <a16:creationId xmlns:a16="http://schemas.microsoft.com/office/drawing/2014/main" id="{778B336F-31C8-7ECF-58B4-B0096630C834}"/>
              </a:ext>
            </a:extLst>
          </p:cNvPr>
          <p:cNvSpPr/>
          <p:nvPr/>
        </p:nvSpPr>
        <p:spPr>
          <a:xfrm rot="16200000">
            <a:off x="4685934" y="2775718"/>
            <a:ext cx="1554013" cy="1854287"/>
          </a:xfrm>
          <a:prstGeom prst="roundRect">
            <a:avLst>
              <a:gd name="adj" fmla="val 5141"/>
            </a:avLst>
          </a:prstGeom>
          <a:gradFill rotWithShape="1">
            <a:gsLst>
              <a:gs pos="0">
                <a:srgbClr val="00D4C5"/>
              </a:gs>
              <a:gs pos="2452">
                <a:srgbClr val="00D4C5"/>
              </a:gs>
              <a:gs pos="245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  <a:effectLst>
            <a:glow rad="127000">
              <a:srgbClr val="00A896">
                <a:alpha val="22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80" name="Shape 4">
            <a:extLst>
              <a:ext uri="{FF2B5EF4-FFF2-40B4-BE49-F238E27FC236}">
                <a16:creationId xmlns:a16="http://schemas.microsoft.com/office/drawing/2014/main" id="{7B03F196-946F-2E39-8305-3624C7881B2F}"/>
              </a:ext>
            </a:extLst>
          </p:cNvPr>
          <p:cNvSpPr/>
          <p:nvPr/>
        </p:nvSpPr>
        <p:spPr>
          <a:xfrm rot="10800000">
            <a:off x="6941032" y="3877918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2055">
                <a:srgbClr val="0070C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4" name="Shape 4">
            <a:extLst>
              <a:ext uri="{FF2B5EF4-FFF2-40B4-BE49-F238E27FC236}">
                <a16:creationId xmlns:a16="http://schemas.microsoft.com/office/drawing/2014/main" id="{D4A52EBF-6F02-9510-E378-0AB58C26ED82}"/>
              </a:ext>
            </a:extLst>
          </p:cNvPr>
          <p:cNvSpPr/>
          <p:nvPr/>
        </p:nvSpPr>
        <p:spPr>
          <a:xfrm rot="10800000">
            <a:off x="6941031" y="2782094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A390"/>
              </a:gs>
              <a:gs pos="2055">
                <a:srgbClr val="00A39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D043FBC0-8607-FC54-3BA2-721E78072E64}"/>
              </a:ext>
            </a:extLst>
          </p:cNvPr>
          <p:cNvSpPr/>
          <p:nvPr/>
        </p:nvSpPr>
        <p:spPr>
          <a:xfrm>
            <a:off x="3276600" y="2925854"/>
            <a:ext cx="947738" cy="1554014"/>
          </a:xfrm>
          <a:prstGeom prst="roundRect">
            <a:avLst>
              <a:gd name="adj" fmla="val 8270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0BBB743C-F220-278F-0736-297BB2F754A0}"/>
              </a:ext>
            </a:extLst>
          </p:cNvPr>
          <p:cNvCxnSpPr>
            <a:cxnSpLocks/>
          </p:cNvCxnSpPr>
          <p:nvPr/>
        </p:nvCxnSpPr>
        <p:spPr>
          <a:xfrm flipV="1">
            <a:off x="4258071" y="3701275"/>
            <a:ext cx="256294" cy="15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래픽 7">
            <a:extLst>
              <a:ext uri="{FF2B5EF4-FFF2-40B4-BE49-F238E27FC236}">
                <a16:creationId xmlns:a16="http://schemas.microsoft.com/office/drawing/2014/main" id="{483508FF-9A3C-4219-8D09-234F4ECC6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99080" y="2381460"/>
            <a:ext cx="216000" cy="216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4E9D13AD-9C6F-7103-5128-B0178F832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48088" y="3115679"/>
            <a:ext cx="329639" cy="32963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23D05A4-DA90-EE8D-30E5-566D080592F4}"/>
              </a:ext>
            </a:extLst>
          </p:cNvPr>
          <p:cNvSpPr txBox="1"/>
          <p:nvPr/>
        </p:nvSpPr>
        <p:spPr>
          <a:xfrm>
            <a:off x="464738" y="2378786"/>
            <a:ext cx="246126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AS-IS: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단일 </a:t>
            </a: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API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의존 구조의 한계</a:t>
            </a:r>
            <a:endParaRPr lang="en-US" sz="120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68AAC4C-5D74-8B2D-59AB-8134AA7A918F}"/>
              </a:ext>
            </a:extLst>
          </p:cNvPr>
          <p:cNvSpPr txBox="1"/>
          <p:nvPr/>
        </p:nvSpPr>
        <p:spPr>
          <a:xfrm>
            <a:off x="3392220" y="2381460"/>
            <a:ext cx="3637706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00A896"/>
                </a:solidFill>
                <a:latin typeface="SUIT"/>
              </a:rPr>
              <a:t>TO-BE: </a:t>
            </a:r>
            <a:r>
              <a:rPr lang="ko-KR" altLang="en-US" sz="1200" dirty="0">
                <a:solidFill>
                  <a:srgbClr val="00A896"/>
                </a:solidFill>
                <a:latin typeface="SUIT"/>
              </a:rPr>
              <a:t>작업 성격 기반 동적 라우팅 아키텍처</a:t>
            </a:r>
            <a:endParaRPr lang="en-US" sz="1200" dirty="0">
              <a:solidFill>
                <a:srgbClr val="00A896"/>
              </a:solidFill>
              <a:latin typeface="SUIT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4458870C-66DD-F146-CAF6-749EE8824736}"/>
              </a:ext>
            </a:extLst>
          </p:cNvPr>
          <p:cNvSpPr txBox="1"/>
          <p:nvPr/>
        </p:nvSpPr>
        <p:spPr>
          <a:xfrm>
            <a:off x="541920" y="2709089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리소스 할당 비효율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918BF-BB4C-F492-A567-3780E151AA8A}"/>
              </a:ext>
            </a:extLst>
          </p:cNvPr>
          <p:cNvSpPr txBox="1"/>
          <p:nvPr/>
        </p:nvSpPr>
        <p:spPr>
          <a:xfrm>
            <a:off x="3311965" y="3345187"/>
            <a:ext cx="965813" cy="92524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단순 질의응답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사내 지식 검색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복합 분석</a:t>
            </a:r>
            <a:r>
              <a:rPr lang="en-US" altLang="ko-KR" sz="900" b="1" dirty="0">
                <a:latin typeface="SUIT"/>
              </a:rPr>
              <a:t>/</a:t>
            </a:r>
            <a:r>
              <a:rPr lang="ko-KR" altLang="en-US" sz="900" b="1" dirty="0">
                <a:latin typeface="SUIT"/>
              </a:rPr>
              <a:t>요약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대시보드 생성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5A2226A-2B81-B2C4-90E2-E586B8888675}"/>
              </a:ext>
            </a:extLst>
          </p:cNvPr>
          <p:cNvSpPr txBox="1"/>
          <p:nvPr/>
        </p:nvSpPr>
        <p:spPr>
          <a:xfrm>
            <a:off x="522868" y="2877934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질의응답에도 고비용 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리소스가 할당되어 핵심 예산이 빠르게 고갈됩니다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AE26B532-3DD3-32D2-9228-F5CAF13461A1}"/>
              </a:ext>
            </a:extLst>
          </p:cNvPr>
          <p:cNvSpPr txBox="1"/>
          <p:nvPr/>
        </p:nvSpPr>
        <p:spPr>
          <a:xfrm>
            <a:off x="556045" y="3276473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선형적인 과금 리스크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67B45EC-EBD7-6607-C6FD-0FBAB71B9CB8}"/>
              </a:ext>
            </a:extLst>
          </p:cNvPr>
          <p:cNvSpPr txBox="1"/>
          <p:nvPr/>
        </p:nvSpPr>
        <p:spPr>
          <a:xfrm>
            <a:off x="536993" y="3445318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사용자가 늘어날수록 인프라 청구서가 폭증하여 중장기적 예산 통제력을 상실합니다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4B6EA23F-CDEB-B5F9-064A-0ABBF32DB1E7}"/>
              </a:ext>
            </a:extLst>
          </p:cNvPr>
          <p:cNvSpPr txBox="1"/>
          <p:nvPr/>
        </p:nvSpPr>
        <p:spPr>
          <a:xfrm>
            <a:off x="556045" y="3820765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데이터 컴플라이언스 위반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D1AC935-6DF5-EA2F-6AF8-F11276262196}"/>
              </a:ext>
            </a:extLst>
          </p:cNvPr>
          <p:cNvSpPr txBox="1"/>
          <p:nvPr/>
        </p:nvSpPr>
        <p:spPr>
          <a:xfrm>
            <a:off x="536993" y="3989610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주요 기밀이 외부망으로 전송되어 심각한 보안 및 데이터 유출 위험에 노출됩니다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7769431-2796-3FA2-DC1E-BBAB99D906E8}"/>
              </a:ext>
            </a:extLst>
          </p:cNvPr>
          <p:cNvSpPr txBox="1"/>
          <p:nvPr/>
        </p:nvSpPr>
        <p:spPr>
          <a:xfrm>
            <a:off x="564964" y="4366424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품질과 비용의 트레이드오프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334E30EB-A389-C9F8-0485-AC485AF46A7C}"/>
              </a:ext>
            </a:extLst>
          </p:cNvPr>
          <p:cNvSpPr txBox="1"/>
          <p:nvPr/>
        </p:nvSpPr>
        <p:spPr>
          <a:xfrm>
            <a:off x="545912" y="4535269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비용 절감을 위해 저렴한 모델을 일괄 도입하면 핵심 분석 작업의 품질이 무너집니다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0E6730EA-2041-733D-B9DA-A9D2E0B8421F}"/>
              </a:ext>
            </a:extLst>
          </p:cNvPr>
          <p:cNvSpPr txBox="1"/>
          <p:nvPr/>
        </p:nvSpPr>
        <p:spPr>
          <a:xfrm>
            <a:off x="1409929" y="1504660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일상 대화 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GPU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오프로딩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3664312-33A7-E8E4-59B6-2B9F2ECFC5C0}"/>
              </a:ext>
            </a:extLst>
          </p:cNvPr>
          <p:cNvSpPr txBox="1"/>
          <p:nvPr/>
        </p:nvSpPr>
        <p:spPr>
          <a:xfrm>
            <a:off x="1212854" y="1673505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대규모 트래픽의 한계비용 제로화 달성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2FB7BE9-3191-79BE-341D-9E656A0DEBB5}"/>
              </a:ext>
            </a:extLst>
          </p:cNvPr>
          <p:cNvSpPr txBox="1"/>
          <p:nvPr/>
        </p:nvSpPr>
        <p:spPr>
          <a:xfrm>
            <a:off x="4290790" y="1496316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API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인프라 비용 절감 여력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30C88295-E198-ACC3-1ED7-31E069BB7749}"/>
              </a:ext>
            </a:extLst>
          </p:cNvPr>
          <p:cNvSpPr txBox="1"/>
          <p:nvPr/>
        </p:nvSpPr>
        <p:spPr>
          <a:xfrm>
            <a:off x="4093715" y="1665161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사용량 비례 과금 폭증 리스크 사전 </a:t>
            </a:r>
            <a:r>
              <a:rPr lang="ko-KR" altLang="en-US" sz="800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헷지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F5D0E20-5F39-7336-DDD5-5AEBFB1260A2}"/>
              </a:ext>
            </a:extLst>
          </p:cNvPr>
          <p:cNvSpPr txBox="1"/>
          <p:nvPr/>
        </p:nvSpPr>
        <p:spPr>
          <a:xfrm>
            <a:off x="7278245" y="1502492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통합 라우팅 아키텍처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39F9270D-52A3-64C4-7D08-142D554207C3}"/>
              </a:ext>
            </a:extLst>
          </p:cNvPr>
          <p:cNvSpPr txBox="1"/>
          <p:nvPr/>
        </p:nvSpPr>
        <p:spPr>
          <a:xfrm>
            <a:off x="7081170" y="1671337"/>
            <a:ext cx="191417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GPU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단일 인프라에서 완벽 통제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00C60AF7-2C6C-5AA8-8EA8-3DB0384AD09F}"/>
              </a:ext>
            </a:extLst>
          </p:cNvPr>
          <p:cNvSpPr txBox="1"/>
          <p:nvPr/>
        </p:nvSpPr>
        <p:spPr>
          <a:xfrm>
            <a:off x="3332116" y="3071570"/>
            <a:ext cx="848129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사용자 요청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AAC03E7-FB96-64CC-97C4-9D233FDB7241}"/>
              </a:ext>
            </a:extLst>
          </p:cNvPr>
          <p:cNvSpPr txBox="1"/>
          <p:nvPr/>
        </p:nvSpPr>
        <p:spPr>
          <a:xfrm>
            <a:off x="4587252" y="3450057"/>
            <a:ext cx="1749254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en-US" altLang="ko-KR" sz="12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2F2658C9-3E54-BC6F-2141-B1B642248822}"/>
              </a:ext>
            </a:extLst>
          </p:cNvPr>
          <p:cNvSpPr txBox="1"/>
          <p:nvPr/>
        </p:nvSpPr>
        <p:spPr>
          <a:xfrm>
            <a:off x="4587252" y="3893795"/>
            <a:ext cx="177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사용자 의도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(Intent),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연산 복잡도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보안 등급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(PII)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판별하여 실시간 최적 경로 배분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AA1A4224-6252-1CC8-7BE7-85352B7A25A4}"/>
              </a:ext>
            </a:extLst>
          </p:cNvPr>
          <p:cNvSpPr txBox="1"/>
          <p:nvPr/>
        </p:nvSpPr>
        <p:spPr>
          <a:xfrm>
            <a:off x="7063016" y="295233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사내 </a:t>
            </a:r>
            <a:r>
              <a:rPr lang="en-US" altLang="ko-KR" sz="1050" dirty="0">
                <a:latin typeface="SUIT"/>
              </a:rPr>
              <a:t>GPU </a:t>
            </a:r>
            <a:r>
              <a:rPr lang="ko-KR" altLang="en-US" sz="1050" dirty="0">
                <a:latin typeface="SUIT"/>
              </a:rPr>
              <a:t>기반 </a:t>
            </a:r>
            <a:r>
              <a:rPr lang="en-US" altLang="ko-KR" sz="1050" dirty="0" err="1">
                <a:latin typeface="SUIT"/>
              </a:rPr>
              <a:t>sLLM</a:t>
            </a:r>
            <a:endParaRPr lang="en-US" altLang="ko-KR" sz="1050" dirty="0">
              <a:latin typeface="SUIT"/>
            </a:endParaRP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3337C108-A6A3-C4D5-ACA0-8DE6B14BEE45}"/>
              </a:ext>
            </a:extLst>
          </p:cNvPr>
          <p:cNvSpPr txBox="1"/>
          <p:nvPr/>
        </p:nvSpPr>
        <p:spPr>
          <a:xfrm>
            <a:off x="7043965" y="3121184"/>
            <a:ext cx="1676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민감 데이터 격리 및 대용량 일상 대화 오프로딩으로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보안 및 고정비 운영 확립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C7FEC255-0AA2-0527-1D5B-7A1FEA16EDCE}"/>
              </a:ext>
            </a:extLst>
          </p:cNvPr>
          <p:cNvSpPr txBox="1"/>
          <p:nvPr/>
        </p:nvSpPr>
        <p:spPr>
          <a:xfrm>
            <a:off x="7077718" y="400674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외부 상용 </a:t>
            </a:r>
            <a:r>
              <a:rPr lang="en-US" altLang="ko-KR" sz="1050" dirty="0">
                <a:latin typeface="SUIT"/>
              </a:rPr>
              <a:t>LLM (API)</a:t>
            </a:r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4C8B45E8-62F2-F15A-15F3-5683C5EB23FF}"/>
              </a:ext>
            </a:extLst>
          </p:cNvPr>
          <p:cNvSpPr txBox="1"/>
          <p:nvPr/>
        </p:nvSpPr>
        <p:spPr>
          <a:xfrm>
            <a:off x="7058667" y="4175594"/>
            <a:ext cx="17351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논리적 추론 및 코드 생성이 필요한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핵심 작업에만 선별적 예산 투입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49" name="Shape 4">
            <a:extLst>
              <a:ext uri="{FF2B5EF4-FFF2-40B4-BE49-F238E27FC236}">
                <a16:creationId xmlns:a16="http://schemas.microsoft.com/office/drawing/2014/main" id="{AC7C98DA-521B-5AAD-8303-8C06F146E755}"/>
              </a:ext>
            </a:extLst>
          </p:cNvPr>
          <p:cNvSpPr/>
          <p:nvPr/>
        </p:nvSpPr>
        <p:spPr>
          <a:xfrm>
            <a:off x="6659411" y="2545660"/>
            <a:ext cx="819547" cy="302045"/>
          </a:xfrm>
          <a:prstGeom prst="roundRect">
            <a:avLst>
              <a:gd name="adj" fmla="val 50000"/>
            </a:avLst>
          </a:prstGeom>
          <a:solidFill>
            <a:srgbClr val="E6F6F4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~80% </a:t>
            </a:r>
            <a:r>
              <a:rPr lang="ko-KR" altLang="en-US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흡수</a:t>
            </a:r>
            <a:endParaRPr lang="ko-KR" altLang="en-US" sz="900" dirty="0">
              <a:solidFill>
                <a:srgbClr val="00A896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106" name="Shape 4">
            <a:extLst>
              <a:ext uri="{FF2B5EF4-FFF2-40B4-BE49-F238E27FC236}">
                <a16:creationId xmlns:a16="http://schemas.microsoft.com/office/drawing/2014/main" id="{F083A20F-DBA2-C44D-4C0F-060EE803A219}"/>
              </a:ext>
            </a:extLst>
          </p:cNvPr>
          <p:cNvSpPr/>
          <p:nvPr/>
        </p:nvSpPr>
        <p:spPr>
          <a:xfrm>
            <a:off x="6534640" y="4571393"/>
            <a:ext cx="990571" cy="30204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20% </a:t>
            </a:r>
            <a:r>
              <a:rPr lang="ko-KR" altLang="en-US" sz="1000" i="0" dirty="0" err="1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선별과금</a:t>
            </a:r>
            <a:endParaRPr lang="ko-KR" altLang="en-US" sz="900" dirty="0">
              <a:solidFill>
                <a:srgbClr val="6D739B"/>
              </a:solidFill>
              <a:latin typeface="SUIT Light" pitchFamily="50" charset="-127"/>
              <a:ea typeface="SUIT Light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3821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F577-15C8-7B33-42D2-0459E9028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그룹 53">
            <a:extLst>
              <a:ext uri="{FF2B5EF4-FFF2-40B4-BE49-F238E27FC236}">
                <a16:creationId xmlns:a16="http://schemas.microsoft.com/office/drawing/2014/main" id="{7AD1BD6C-C0D2-58C2-E103-5C8CE6C9F32E}"/>
              </a:ext>
            </a:extLst>
          </p:cNvPr>
          <p:cNvGrpSpPr/>
          <p:nvPr/>
        </p:nvGrpSpPr>
        <p:grpSpPr>
          <a:xfrm>
            <a:off x="283846" y="1353532"/>
            <a:ext cx="8595360" cy="3418492"/>
            <a:chOff x="283846" y="1353532"/>
            <a:chExt cx="8595360" cy="341849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5566762A-F9AA-77BC-C988-AAD4489D1B23}"/>
                </a:ext>
              </a:extLst>
            </p:cNvPr>
            <p:cNvSpPr/>
            <p:nvPr/>
          </p:nvSpPr>
          <p:spPr>
            <a:xfrm>
              <a:off x="283846" y="1353532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5D5A7D6D-EBDD-BAA4-C246-9C5532F6058C}"/>
                </a:ext>
              </a:extLst>
            </p:cNvPr>
            <p:cNvSpPr/>
            <p:nvPr/>
          </p:nvSpPr>
          <p:spPr>
            <a:xfrm>
              <a:off x="283846" y="2522648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D766D770-F7EE-2BF4-9EF8-60F3580868CD}"/>
                </a:ext>
              </a:extLst>
            </p:cNvPr>
            <p:cNvSpPr/>
            <p:nvPr/>
          </p:nvSpPr>
          <p:spPr>
            <a:xfrm>
              <a:off x="283846" y="3691765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58B5FE9-F7D4-5E16-1D50-F25635F55505}"/>
                </a:ext>
              </a:extLst>
            </p:cNvPr>
            <p:cNvSpPr/>
            <p:nvPr/>
          </p:nvSpPr>
          <p:spPr>
            <a:xfrm>
              <a:off x="1847850" y="3701291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0FFB405-BEEF-33B7-078E-144B4B65EE4A}"/>
                </a:ext>
              </a:extLst>
            </p:cNvPr>
            <p:cNvSpPr/>
            <p:nvPr/>
          </p:nvSpPr>
          <p:spPr>
            <a:xfrm>
              <a:off x="1847850" y="136657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2958231-04A8-B77A-611F-EDA4A5271362}"/>
                </a:ext>
              </a:extLst>
            </p:cNvPr>
            <p:cNvSpPr/>
            <p:nvPr/>
          </p:nvSpPr>
          <p:spPr>
            <a:xfrm>
              <a:off x="1847850" y="253393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Shape 4">
            <a:extLst>
              <a:ext uri="{FF2B5EF4-FFF2-40B4-BE49-F238E27FC236}">
                <a16:creationId xmlns:a16="http://schemas.microsoft.com/office/drawing/2014/main" id="{59599D89-507D-8193-AD46-FAE7F7A1098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F395C7DB-0358-4BE7-C515-84F5BFBC3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바꾸는 새로운 업무 일상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52111A-B4E4-8886-D643-4520CF3D47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F6A88E7-9E3F-6C2C-D1A1-3A93D533B1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수동적으로 대시보드를 해석하던 시대를 마감하고, </a:t>
            </a:r>
            <a:r>
              <a:rPr lang="ko-KR" altLang="ko-KR" sz="10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AI와</a:t>
            </a: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대화하며 인사이트를 지시하는 차세대 생성형 분석 시대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를 엽니다. 현업 실무자는 </a:t>
            </a:r>
            <a:r>
              <a:rPr lang="ko-KR" altLang="ko-KR" sz="1000" b="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IT의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도움 없이 스스로 비즈니스 해답을 찾고, IT 부서는 고품질 데이터와 거버넌스를 통제하는 사령탑으로 진화합니다.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2EF9C0ED-B78E-D5D3-4AD0-E5E8FE36FC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1466450"/>
            <a:ext cx="3649735" cy="809625"/>
          </a:xfrm>
          <a:prstGeom prst="rect">
            <a:avLst/>
          </a:prstGeom>
        </p:spPr>
      </p:pic>
      <p:sp>
        <p:nvSpPr>
          <p:cNvPr id="56" name="Shape 4">
            <a:extLst>
              <a:ext uri="{FF2B5EF4-FFF2-40B4-BE49-F238E27FC236}">
                <a16:creationId xmlns:a16="http://schemas.microsoft.com/office/drawing/2014/main" id="{97309D0E-1D9C-7E87-8D65-DEF81D7C9F48}"/>
              </a:ext>
            </a:extLst>
          </p:cNvPr>
          <p:cNvSpPr/>
          <p:nvPr/>
        </p:nvSpPr>
        <p:spPr>
          <a:xfrm rot="16200000">
            <a:off x="482294" y="1533241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F59E0B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AAC74FB-0F54-FE58-E297-E0C2A64D37E4}"/>
              </a:ext>
            </a:extLst>
          </p:cNvPr>
          <p:cNvSpPr/>
          <p:nvPr/>
        </p:nvSpPr>
        <p:spPr>
          <a:xfrm rot="16200000">
            <a:off x="471817" y="2698115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00A89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B718D5A3-DBEF-46D1-630A-C61A1C780F17}"/>
              </a:ext>
            </a:extLst>
          </p:cNvPr>
          <p:cNvSpPr/>
          <p:nvPr/>
        </p:nvSpPr>
        <p:spPr>
          <a:xfrm rot="16200000">
            <a:off x="481761" y="3895717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CED0D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0B88C13F-9239-F991-ABA4-AB2DA9D77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945" y="2775278"/>
            <a:ext cx="190500" cy="1905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9D5CE866-96C0-CFDD-6F04-7019AB49D2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3459" y="3965623"/>
            <a:ext cx="190500" cy="190500"/>
          </a:xfrm>
          <a:prstGeom prst="rect">
            <a:avLst/>
          </a:prstGeom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6029224B-2E36-856C-0028-B6BFD794D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2255538"/>
            <a:ext cx="104775" cy="104775"/>
          </a:xfrm>
          <a:prstGeom prst="rect">
            <a:avLst/>
          </a:prstGeom>
        </p:spPr>
      </p:pic>
      <p:pic>
        <p:nvPicPr>
          <p:cNvPr id="25" name="그래픽 24">
            <a:extLst>
              <a:ext uri="{FF2B5EF4-FFF2-40B4-BE49-F238E27FC236}">
                <a16:creationId xmlns:a16="http://schemas.microsoft.com/office/drawing/2014/main" id="{AB3ADA04-2120-D3CE-EFC4-4ADF36904A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2394" y="1603460"/>
            <a:ext cx="190500" cy="190500"/>
          </a:xfrm>
          <a:prstGeom prst="rect">
            <a:avLst/>
          </a:prstGeom>
        </p:spPr>
      </p:pic>
      <p:pic>
        <p:nvPicPr>
          <p:cNvPr id="43" name="그래픽 42">
            <a:extLst>
              <a:ext uri="{FF2B5EF4-FFF2-40B4-BE49-F238E27FC236}">
                <a16:creationId xmlns:a16="http://schemas.microsoft.com/office/drawing/2014/main" id="{92FCD08F-5DE7-8312-26B9-20D4023C2E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3454" y="1776931"/>
            <a:ext cx="228600" cy="228600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1DB0E7C-5013-1316-9FEF-BABBDE415B55}"/>
              </a:ext>
            </a:extLst>
          </p:cNvPr>
          <p:cNvSpPr txBox="1"/>
          <p:nvPr/>
        </p:nvSpPr>
        <p:spPr>
          <a:xfrm>
            <a:off x="392559" y="1867344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Decision</a:t>
            </a:r>
            <a:r>
              <a:rPr lang="ko-KR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Maker</a:t>
            </a:r>
            <a:endParaRPr lang="ko-KR" altLang="en-US" sz="10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AA2C212-2048-50DD-34DF-C2FCCB8D058D}"/>
              </a:ext>
            </a:extLst>
          </p:cNvPr>
          <p:cNvSpPr txBox="1"/>
          <p:nvPr/>
        </p:nvSpPr>
        <p:spPr>
          <a:xfrm>
            <a:off x="392559" y="2053243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경영진 (C-</a:t>
            </a:r>
            <a:r>
              <a:rPr lang="ko-KR" altLang="ko-KR" sz="11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Level</a:t>
            </a: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4A785C1-5477-6703-0BA6-7D7CBDD21F8A}"/>
              </a:ext>
            </a:extLst>
          </p:cNvPr>
          <p:cNvSpPr txBox="1"/>
          <p:nvPr/>
        </p:nvSpPr>
        <p:spPr>
          <a:xfrm>
            <a:off x="392559" y="3037156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cap="all" dirty="0">
                <a:solidFill>
                  <a:srgbClr val="64748B"/>
                </a:solidFill>
                <a:latin typeface="Urbanist"/>
              </a:rPr>
              <a:t>Business Operator</a:t>
            </a:r>
            <a:endParaRPr lang="ko-KR" altLang="en-US" sz="10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23D03441-702E-D88B-3C68-D52F7C1FD109}"/>
              </a:ext>
            </a:extLst>
          </p:cNvPr>
          <p:cNvSpPr txBox="1"/>
          <p:nvPr/>
        </p:nvSpPr>
        <p:spPr>
          <a:xfrm>
            <a:off x="392559" y="3223055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비즈니스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실무자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25995EC9-05ED-53B5-FE05-73499769E736}"/>
              </a:ext>
            </a:extLst>
          </p:cNvPr>
          <p:cNvSpPr txBox="1"/>
          <p:nvPr/>
        </p:nvSpPr>
        <p:spPr>
          <a:xfrm>
            <a:off x="392559" y="4231292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IT &amp; Data Engineer</a:t>
            </a:r>
            <a:endParaRPr lang="ko-KR" altLang="en-US" sz="10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4EB6F01A-5B4D-239C-CA7F-F5E772DAC575}"/>
              </a:ext>
            </a:extLst>
          </p:cNvPr>
          <p:cNvSpPr txBox="1"/>
          <p:nvPr/>
        </p:nvSpPr>
        <p:spPr>
          <a:xfrm>
            <a:off x="392559" y="4417191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데이터 운영팀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00CB3155-1D96-1BEB-C238-D28776D72CC9}"/>
              </a:ext>
            </a:extLst>
          </p:cNvPr>
          <p:cNvSpPr txBox="1"/>
          <p:nvPr/>
        </p:nvSpPr>
        <p:spPr>
          <a:xfrm>
            <a:off x="2179860" y="2193841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5" name="그래픽 204">
            <a:extLst>
              <a:ext uri="{FF2B5EF4-FFF2-40B4-BE49-F238E27FC236}">
                <a16:creationId xmlns:a16="http://schemas.microsoft.com/office/drawing/2014/main" id="{1C839F34-EECF-ED66-A413-A32F21A1A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3425533"/>
            <a:ext cx="104775" cy="104775"/>
          </a:xfrm>
          <a:prstGeom prst="rect">
            <a:avLst/>
          </a:prstGeom>
        </p:spPr>
      </p:pic>
      <p:sp>
        <p:nvSpPr>
          <p:cNvPr id="206" name="TextBox 205">
            <a:extLst>
              <a:ext uri="{FF2B5EF4-FFF2-40B4-BE49-F238E27FC236}">
                <a16:creationId xmlns:a16="http://schemas.microsoft.com/office/drawing/2014/main" id="{2C817A68-ED79-7970-9288-F6D377A9C671}"/>
              </a:ext>
            </a:extLst>
          </p:cNvPr>
          <p:cNvSpPr txBox="1"/>
          <p:nvPr/>
        </p:nvSpPr>
        <p:spPr>
          <a:xfrm>
            <a:off x="2179860" y="3363836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7" name="그래픽 206">
            <a:extLst>
              <a:ext uri="{FF2B5EF4-FFF2-40B4-BE49-F238E27FC236}">
                <a16:creationId xmlns:a16="http://schemas.microsoft.com/office/drawing/2014/main" id="{9BFF9971-CBEA-1FC8-7C2A-DEB36AA40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2595806"/>
            <a:ext cx="3649735" cy="809625"/>
          </a:xfrm>
          <a:prstGeom prst="rect">
            <a:avLst/>
          </a:prstGeom>
        </p:spPr>
      </p:pic>
      <p:sp>
        <p:nvSpPr>
          <p:cNvPr id="211" name="TextBox 210">
            <a:extLst>
              <a:ext uri="{FF2B5EF4-FFF2-40B4-BE49-F238E27FC236}">
                <a16:creationId xmlns:a16="http://schemas.microsoft.com/office/drawing/2014/main" id="{7BF87995-F10F-50EB-5041-248CE25FDBF2}"/>
              </a:ext>
            </a:extLst>
          </p:cNvPr>
          <p:cNvSpPr txBox="1"/>
          <p:nvPr/>
        </p:nvSpPr>
        <p:spPr>
          <a:xfrm>
            <a:off x="2047919" y="1564723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"어제 런칭한 신규 캠페인,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지역별 실시간 </a:t>
            </a:r>
            <a:r>
              <a:rPr lang="ko-KR" altLang="ko-KR" sz="9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ROAS랑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주요 이탈 구간 요약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해서 내 폰으로 보내줘. 그리고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매일 아침 8시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마다 브리핑해."</a:t>
            </a:r>
            <a:endParaRPr lang="ko-KR" altLang="en-US" sz="900" dirty="0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FC4C3CF-03DB-923D-0E7F-85B2ED429D17}"/>
              </a:ext>
            </a:extLst>
          </p:cNvPr>
          <p:cNvSpPr txBox="1"/>
          <p:nvPr/>
        </p:nvSpPr>
        <p:spPr>
          <a:xfrm>
            <a:off x="2047919" y="2718801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"올해 1분기 B2B 솔루션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매출 하락 원인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을 파이프라인 </a:t>
            </a:r>
            <a:r>
              <a:rPr lang="ko-KR" altLang="ko-KR" sz="90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전환율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관점에서 다각도로 분석하고,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보고서(PPT) 초안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으로 만들어줘."</a:t>
            </a:r>
            <a:endParaRPr lang="ko-KR" altLang="en-US" sz="900" dirty="0"/>
          </a:p>
        </p:txBody>
      </p:sp>
      <p:pic>
        <p:nvPicPr>
          <p:cNvPr id="228" name="그래픽 227">
            <a:extLst>
              <a:ext uri="{FF2B5EF4-FFF2-40B4-BE49-F238E27FC236}">
                <a16:creationId xmlns:a16="http://schemas.microsoft.com/office/drawing/2014/main" id="{1494D191-3206-3E59-0785-A2EA6C4AE6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4591051"/>
            <a:ext cx="104775" cy="104775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4CFE6ED7-4500-1D37-6091-FCBE537C2F98}"/>
              </a:ext>
            </a:extLst>
          </p:cNvPr>
          <p:cNvSpPr txBox="1"/>
          <p:nvPr/>
        </p:nvSpPr>
        <p:spPr>
          <a:xfrm>
            <a:off x="2179860" y="4529354"/>
            <a:ext cx="31846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데이터 퀄리티(DQ) 검증, 신규 스킬 배포 및 정책 동기화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30" name="그래픽 229">
            <a:extLst>
              <a:ext uri="{FF2B5EF4-FFF2-40B4-BE49-F238E27FC236}">
                <a16:creationId xmlns:a16="http://schemas.microsoft.com/office/drawing/2014/main" id="{ACF6D59B-FA19-2EFB-6C9A-681F45639F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2911432"/>
            <a:ext cx="228600" cy="228600"/>
          </a:xfrm>
          <a:prstGeom prst="rect">
            <a:avLst/>
          </a:prstGeom>
        </p:spPr>
      </p:pic>
      <p:pic>
        <p:nvPicPr>
          <p:cNvPr id="231" name="그래픽 230">
            <a:extLst>
              <a:ext uri="{FF2B5EF4-FFF2-40B4-BE49-F238E27FC236}">
                <a16:creationId xmlns:a16="http://schemas.microsoft.com/office/drawing/2014/main" id="{4AD1BCEC-5588-0880-2F31-BADBBB0F9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4035507"/>
            <a:ext cx="228600" cy="228600"/>
          </a:xfrm>
          <a:prstGeom prst="rect">
            <a:avLst/>
          </a:prstGeom>
        </p:spPr>
      </p:pic>
      <p:pic>
        <p:nvPicPr>
          <p:cNvPr id="233" name="그림 232">
            <a:extLst>
              <a:ext uri="{FF2B5EF4-FFF2-40B4-BE49-F238E27FC236}">
                <a16:creationId xmlns:a16="http://schemas.microsoft.com/office/drawing/2014/main" id="{A08E94EA-0FA0-CD52-F644-11CF7BD5DD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2150" y="3773264"/>
            <a:ext cx="3745604" cy="737324"/>
          </a:xfrm>
          <a:prstGeom prst="rect">
            <a:avLst/>
          </a:prstGeom>
        </p:spPr>
      </p:pic>
      <p:sp>
        <p:nvSpPr>
          <p:cNvPr id="235" name="사각형: 둥근 모서리 234">
            <a:extLst>
              <a:ext uri="{FF2B5EF4-FFF2-40B4-BE49-F238E27FC236}">
                <a16:creationId xmlns:a16="http://schemas.microsoft.com/office/drawing/2014/main" id="{CF41C198-7CAA-B118-0717-6B1B4D3DD349}"/>
              </a:ext>
            </a:extLst>
          </p:cNvPr>
          <p:cNvSpPr/>
          <p:nvPr/>
        </p:nvSpPr>
        <p:spPr>
          <a:xfrm>
            <a:off x="5884771" y="1622755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318E2B28-4935-EC1A-742D-F523B8929964}"/>
              </a:ext>
            </a:extLst>
          </p:cNvPr>
          <p:cNvSpPr/>
          <p:nvPr/>
        </p:nvSpPr>
        <p:spPr>
          <a:xfrm>
            <a:off x="5884771" y="2792341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7" name="사각형: 둥근 모서리 236">
            <a:extLst>
              <a:ext uri="{FF2B5EF4-FFF2-40B4-BE49-F238E27FC236}">
                <a16:creationId xmlns:a16="http://schemas.microsoft.com/office/drawing/2014/main" id="{A9C38EED-74B5-4F9C-379A-4EF2EF195961}"/>
              </a:ext>
            </a:extLst>
          </p:cNvPr>
          <p:cNvSpPr/>
          <p:nvPr/>
        </p:nvSpPr>
        <p:spPr>
          <a:xfrm>
            <a:off x="5884771" y="3982334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B28DC6E3-4E11-BEEF-75F3-88DA34B280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06067" y="4263846"/>
            <a:ext cx="171450" cy="171450"/>
          </a:xfrm>
          <a:prstGeom prst="rect">
            <a:avLst/>
          </a:prstGeom>
        </p:spPr>
      </p:pic>
      <p:pic>
        <p:nvPicPr>
          <p:cNvPr id="6" name="그래픽 5">
            <a:extLst>
              <a:ext uri="{FF2B5EF4-FFF2-40B4-BE49-F238E27FC236}">
                <a16:creationId xmlns:a16="http://schemas.microsoft.com/office/drawing/2014/main" id="{27E48B3D-9468-64DA-C806-50837D28A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17170" y="3051605"/>
            <a:ext cx="171450" cy="17145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590E886F-03AA-1265-7552-4F0D372DC9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94461" y="1434193"/>
            <a:ext cx="114300" cy="1143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DF34578D-74A4-3812-6F52-F0F00D13F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93447" y="2604501"/>
            <a:ext cx="114300" cy="114300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9152A224-84AA-4E6B-86E8-1E8029269E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17170" y="1867327"/>
            <a:ext cx="171450" cy="17145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0421DEDF-347A-D26F-B2C5-F55CEB53E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87135" y="3779796"/>
            <a:ext cx="114300" cy="114300"/>
          </a:xfrm>
          <a:prstGeom prst="rect">
            <a:avLst/>
          </a:prstGeom>
        </p:spPr>
      </p:pic>
      <p:sp>
        <p:nvSpPr>
          <p:cNvPr id="239" name="TextBox 238">
            <a:extLst>
              <a:ext uri="{FF2B5EF4-FFF2-40B4-BE49-F238E27FC236}">
                <a16:creationId xmlns:a16="http://schemas.microsoft.com/office/drawing/2014/main" id="{C1B8FEA3-2AD2-A3BD-E661-077ED83700A6}"/>
              </a:ext>
            </a:extLst>
          </p:cNvPr>
          <p:cNvSpPr txBox="1"/>
          <p:nvPr/>
        </p:nvSpPr>
        <p:spPr>
          <a:xfrm>
            <a:off x="5951611" y="1356868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Mobile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Urbanist"/>
              </a:rPr>
              <a:t> 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Briefing</a:t>
            </a:r>
            <a:endParaRPr lang="ko-KR" altLang="en-US" sz="11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66A6AACC-57C7-4711-C9E4-D0A71B5808F2}"/>
              </a:ext>
            </a:extLst>
          </p:cNvPr>
          <p:cNvSpPr txBox="1"/>
          <p:nvPr/>
        </p:nvSpPr>
        <p:spPr>
          <a:xfrm>
            <a:off x="5957143" y="252280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00A896"/>
                </a:solidFill>
                <a:effectLst/>
                <a:latin typeface="Urbanist"/>
              </a:rPr>
              <a:t>Auto Generation</a:t>
            </a:r>
            <a:endParaRPr lang="ko-KR" altLang="en-US" sz="11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0AB1114-8EC9-EC79-E5B0-C31BBCC8E3BF}"/>
              </a:ext>
            </a:extLst>
          </p:cNvPr>
          <p:cNvSpPr txBox="1"/>
          <p:nvPr/>
        </p:nvSpPr>
        <p:spPr>
          <a:xfrm>
            <a:off x="5958840" y="370088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Urbanist"/>
              </a:rPr>
              <a:t>Skill &amp; Gov. Center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68AF578-1937-9B32-18E3-5F7B23368A29}"/>
              </a:ext>
            </a:extLst>
          </p:cNvPr>
          <p:cNvSpPr txBox="1"/>
          <p:nvPr/>
        </p:nvSpPr>
        <p:spPr>
          <a:xfrm>
            <a:off x="6180284" y="1693144"/>
            <a:ext cx="2578414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실시간 핵심 KPI 요약 리포트 수신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실무진의 보고서 취합(평균 3일)을 기다릴 필요 없이, 모바일을 통해 의사결정 리드타임 '0초' 달성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0E1D390-74E3-F5D5-2867-3AC45564A2C7}"/>
              </a:ext>
            </a:extLst>
          </p:cNvPr>
          <p:cNvSpPr txBox="1"/>
          <p:nvPr/>
        </p:nvSpPr>
        <p:spPr>
          <a:xfrm>
            <a:off x="6201177" y="2872212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맞춤형 대시보드 &amp; PPT 즉시 완성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IT 부서에 추출 티켓을 접수하고 엑셀로 가공하던 '데이터 </a:t>
            </a:r>
            <a:r>
              <a:rPr lang="ko-KR" altLang="ko-KR" sz="9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노가다'에서</a:t>
            </a: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벗어나 본연의 기획 업무 집중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86DFF79-4F97-81B9-3F00-E7ED62EB9D78}"/>
              </a:ext>
            </a:extLst>
          </p:cNvPr>
          <p:cNvSpPr txBox="1"/>
          <p:nvPr/>
        </p:nvSpPr>
        <p:spPr>
          <a:xfrm>
            <a:off x="6205543" y="4029508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스킬 통합 관제 및 DQ 모니터링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단순 쿼리 셔틀을 벗어나 고품질 데이터 기반의 분석 스킬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배포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전사 인프라를 통제하는 거버넌스 사령탑</a:t>
            </a: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26AE229-8286-EEE2-639D-EB80F00DD5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15787" y="2850394"/>
            <a:ext cx="756744" cy="181619"/>
          </a:xfrm>
          <a:prstGeom prst="rect">
            <a:avLst/>
          </a:prstGeom>
        </p:spPr>
      </p:pic>
      <p:pic>
        <p:nvPicPr>
          <p:cNvPr id="31" name="그래픽 30">
            <a:extLst>
              <a:ext uri="{FF2B5EF4-FFF2-40B4-BE49-F238E27FC236}">
                <a16:creationId xmlns:a16="http://schemas.microsoft.com/office/drawing/2014/main" id="{FAA24CC7-DAFE-C983-25E0-ACF9744384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069991" y="1678354"/>
            <a:ext cx="683521" cy="174825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id="{E5D6CFBD-AD22-B1B8-2575-319E153DD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878271" y="4029741"/>
            <a:ext cx="894302" cy="178860"/>
          </a:xfrm>
          <a:prstGeom prst="rect">
            <a:avLst/>
          </a:prstGeom>
        </p:spPr>
      </p:pic>
      <p:sp>
        <p:nvSpPr>
          <p:cNvPr id="250" name="TextBox 249">
            <a:extLst>
              <a:ext uri="{FF2B5EF4-FFF2-40B4-BE49-F238E27FC236}">
                <a16:creationId xmlns:a16="http://schemas.microsoft.com/office/drawing/2014/main" id="{EFCCA961-1B8C-C068-53DC-29E2C8506830}"/>
              </a:ext>
            </a:extLst>
          </p:cNvPr>
          <p:cNvSpPr txBox="1"/>
          <p:nvPr/>
        </p:nvSpPr>
        <p:spPr>
          <a:xfrm>
            <a:off x="8086749" y="1676471"/>
            <a:ext cx="64966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600" b="1" i="0" dirty="0">
                <a:solidFill>
                  <a:srgbClr val="D97706"/>
                </a:solidFill>
                <a:effectLst/>
                <a:latin typeface="Urbanist"/>
              </a:rPr>
              <a:t>DAILY PUSH</a:t>
            </a:r>
            <a:endParaRPr lang="ko-KR" altLang="en-US" sz="600" dirty="0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40F659B-FC9C-7225-E0CF-0B9379D4A8D4}"/>
              </a:ext>
            </a:extLst>
          </p:cNvPr>
          <p:cNvSpPr txBox="1"/>
          <p:nvPr/>
        </p:nvSpPr>
        <p:spPr>
          <a:xfrm>
            <a:off x="8032423" y="2835461"/>
            <a:ext cx="78779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dirty="0">
                <a:solidFill>
                  <a:srgbClr val="0F766E"/>
                </a:solidFill>
                <a:effectLst/>
                <a:latin typeface="Urbanist"/>
              </a:rPr>
              <a:t>INSIGHT ASSET</a:t>
            </a:r>
            <a:endParaRPr lang="ko-KR" altLang="en-US" sz="700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0C8665C5-C292-B9D0-E0D3-5D0E4FE2822E}"/>
              </a:ext>
            </a:extLst>
          </p:cNvPr>
          <p:cNvSpPr txBox="1"/>
          <p:nvPr/>
        </p:nvSpPr>
        <p:spPr>
          <a:xfrm>
            <a:off x="7856712" y="4018662"/>
            <a:ext cx="96031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700" b="1" i="0" dirty="0">
                <a:solidFill>
                  <a:srgbClr val="334155"/>
                </a:solidFill>
                <a:effectLst/>
                <a:latin typeface="Urbanist"/>
              </a:rPr>
              <a:t>BIZ EMPOWERMENT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4707978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FBC5-2861-B6E1-7B03-85F5C76A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B702A7F6-174E-68F3-E3C2-4084C3A71D9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1123FD2-AFEE-1BFA-C642-FB3FECFE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전략적 도입 효과 및 비즈니스 임팩트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(Expected Value &amp; ROI)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80E657B-7EDD-7C92-A5E6-A1D45DD36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B9751E8-9CBB-64C1-69BA-275E86C78961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분석은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추론이 아니라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검증된 데이터에서 출발합니다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이미 검증을 마친 사내 데이터와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Tableau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대시보드를 직접 연동해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환각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(Hallucination)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리스크를 구조적으로 차단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신뢰할 수 있는 사실에 근거한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데이터 기반 의사결정을 지원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899BF1E4-4EB5-CDC6-DF0D-54D7BE478B50}"/>
              </a:ext>
            </a:extLst>
          </p:cNvPr>
          <p:cNvSpPr/>
          <p:nvPr/>
        </p:nvSpPr>
        <p:spPr>
          <a:xfrm rot="16200000">
            <a:off x="-19498" y="1483695"/>
            <a:ext cx="3554021" cy="3171226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072">
                <a:srgbClr val="00D4C5"/>
              </a:gs>
              <a:gs pos="107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10B8D1-3774-3BDA-5731-C29483AF78A0}"/>
              </a:ext>
            </a:extLst>
          </p:cNvPr>
          <p:cNvSpPr txBox="1"/>
          <p:nvPr/>
        </p:nvSpPr>
        <p:spPr>
          <a:xfrm>
            <a:off x="299691" y="1490464"/>
            <a:ext cx="2811018" cy="59438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</a:t>
            </a:r>
          </a:p>
          <a:p>
            <a:r>
              <a:rPr lang="en-US" altLang="ko-KR" sz="1600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Grounded Analytics</a:t>
            </a:r>
            <a:endParaRPr lang="ko-KR" altLang="en-US" sz="14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56640B6-A3BA-1D02-61B0-CB8F045AE123}"/>
              </a:ext>
            </a:extLst>
          </p:cNvPr>
          <p:cNvSpPr/>
          <p:nvPr/>
        </p:nvSpPr>
        <p:spPr>
          <a:xfrm rot="16200000">
            <a:off x="4001849" y="810156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99DD9BC0-663E-42A5-186A-8B532BBED74F}"/>
              </a:ext>
            </a:extLst>
          </p:cNvPr>
          <p:cNvSpPr/>
          <p:nvPr/>
        </p:nvSpPr>
        <p:spPr>
          <a:xfrm rot="16200000">
            <a:off x="6753373" y="812821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4F0D29C-1246-40A9-156B-CD8DE9B8010E}"/>
              </a:ext>
            </a:extLst>
          </p:cNvPr>
          <p:cNvSpPr/>
          <p:nvPr/>
        </p:nvSpPr>
        <p:spPr>
          <a:xfrm rot="16200000">
            <a:off x="4001849" y="2634438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9BA97-D78E-5947-4156-165DC533CD7B}"/>
              </a:ext>
            </a:extLst>
          </p:cNvPr>
          <p:cNvSpPr/>
          <p:nvPr/>
        </p:nvSpPr>
        <p:spPr>
          <a:xfrm rot="16200000">
            <a:off x="6753373" y="2637103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98631-EE96-7ECE-7819-0577822E9999}"/>
              </a:ext>
            </a:extLst>
          </p:cNvPr>
          <p:cNvSpPr txBox="1"/>
          <p:nvPr/>
        </p:nvSpPr>
        <p:spPr>
          <a:xfrm>
            <a:off x="285176" y="1977509"/>
            <a:ext cx="2788695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b="1" dirty="0">
                <a:solidFill>
                  <a:srgbClr val="07D2C5"/>
                </a:solidFill>
                <a:latin typeface="+mj-lt"/>
                <a:ea typeface="SUIT ExtraBold" pitchFamily="50" charset="-127"/>
              </a:rPr>
              <a:t>검증된 데이터 기반 정밀 분석</a:t>
            </a: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99A41585-7F0A-C753-5600-196F72B5FEA7}"/>
              </a:ext>
            </a:extLst>
          </p:cNvPr>
          <p:cNvSpPr/>
          <p:nvPr/>
        </p:nvSpPr>
        <p:spPr>
          <a:xfrm>
            <a:off x="292609" y="2408942"/>
            <a:ext cx="2929562" cy="2022770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단순한 생성형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AI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가 아닙니다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 aisight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정합성 검증을 마친 사내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Data Query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와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Tableau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대시보드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(BI)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를 분석의 원천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(Source)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으로 직접 활용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그 결과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이 임의의 숫자를 만들어내거나 맥락을 잘못 유추하는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환각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(Hallucination)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을 구조적으로 차단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경영진과 실무자는 데이터의 신뢰성을 의심할 필요 없이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검증된 데이터에 근거한 인사이트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로 곧바로 실행에 나설 수 있습니다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1A6AD8-1216-FD8D-D34C-F85235D64A70}"/>
              </a:ext>
            </a:extLst>
          </p:cNvPr>
          <p:cNvSpPr txBox="1"/>
          <p:nvPr/>
        </p:nvSpPr>
        <p:spPr>
          <a:xfrm>
            <a:off x="3675835" y="22951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부서에 쿼리나 대시보드 개발을 요청하고 기다리던 병목을 없앱니다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에이전트가 직접 마트 데이터를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조회·연산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하여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분석에 걸리던 시간을 크게 단축합니다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075B82-F302-48DA-70CD-74214D97CAE9}"/>
              </a:ext>
            </a:extLst>
          </p:cNvPr>
          <p:cNvSpPr txBox="1"/>
          <p:nvPr/>
        </p:nvSpPr>
        <p:spPr>
          <a:xfrm>
            <a:off x="3578202" y="13651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분석 리드타임 단축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BD65017-5AD9-D43B-FEB1-A655C2CC3E00}"/>
              </a:ext>
            </a:extLst>
          </p:cNvPr>
          <p:cNvSpPr/>
          <p:nvPr/>
        </p:nvSpPr>
        <p:spPr>
          <a:xfrm>
            <a:off x="3675835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Days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Minutes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8A27136B-9D16-CCA2-A69A-3C20C78EA48F}"/>
              </a:ext>
            </a:extLst>
          </p:cNvPr>
          <p:cNvSpPr/>
          <p:nvPr/>
        </p:nvSpPr>
        <p:spPr>
          <a:xfrm>
            <a:off x="6428454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Variable Cost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Optimized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5E43DB-1FC0-7A40-C4C7-61BC4873EE04}"/>
              </a:ext>
            </a:extLst>
          </p:cNvPr>
          <p:cNvSpPr txBox="1"/>
          <p:nvPr/>
        </p:nvSpPr>
        <p:spPr>
          <a:xfrm>
            <a:off x="6322614" y="13713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TCO (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총소유비용</a:t>
            </a: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) 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절감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51D21D-963A-A33A-7C16-CAFBC789019D}"/>
              </a:ext>
            </a:extLst>
          </p:cNvPr>
          <p:cNvSpPr txBox="1"/>
          <p:nvPr/>
        </p:nvSpPr>
        <p:spPr>
          <a:xfrm>
            <a:off x="6428453" y="2294993"/>
            <a:ext cx="242293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고가의 외부 상용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에만 의존하지 않습니다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LLM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라우팅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으로 보안 수준과 작업 복잡도에 따라 내부 </a:t>
            </a:r>
            <a:r>
              <a:rPr lang="en-US" altLang="ko-KR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외부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동적으로 배분해 인프라 비용을 최적화합니다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B37C27-A54D-3541-8567-734C16DB398E}"/>
              </a:ext>
            </a:extLst>
          </p:cNvPr>
          <p:cNvSpPr txBox="1"/>
          <p:nvPr/>
        </p:nvSpPr>
        <p:spPr>
          <a:xfrm>
            <a:off x="3675835" y="41239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개발자 없이도 실무자가 직접 가설을 세우고 에이전트와 대화하며 데이터를 교차 검증합니다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시장 변화나 이슈 발생 시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적기에 대응하는 빠른 의사결정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이 가능해집니다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A9E015-2128-02C9-5E3E-C2EB53FE86E0}"/>
              </a:ext>
            </a:extLst>
          </p:cNvPr>
          <p:cNvSpPr txBox="1"/>
          <p:nvPr/>
        </p:nvSpPr>
        <p:spPr>
          <a:xfrm>
            <a:off x="3578202" y="31939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비즈니스 민첩성 향상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480B7B91-483A-8B7F-D208-646C2E9E2ECA}"/>
              </a:ext>
            </a:extLst>
          </p:cNvPr>
          <p:cNvSpPr/>
          <p:nvPr/>
        </p:nvSpPr>
        <p:spPr>
          <a:xfrm>
            <a:off x="3675835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Static View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Interactive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B30C8E9D-198C-C270-6D21-4742F8E4EB4A}"/>
              </a:ext>
            </a:extLst>
          </p:cNvPr>
          <p:cNvSpPr/>
          <p:nvPr/>
        </p:nvSpPr>
        <p:spPr>
          <a:xfrm>
            <a:off x="6428454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Siloed Data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Assetized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DDD1863-93E4-8CB7-3908-CF2E1A12F44F}"/>
              </a:ext>
            </a:extLst>
          </p:cNvPr>
          <p:cNvSpPr txBox="1"/>
          <p:nvPr/>
        </p:nvSpPr>
        <p:spPr>
          <a:xfrm>
            <a:off x="6322614" y="32001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영구적 지식 자산화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92439387-675C-132C-24C1-6181FBE7261C}"/>
              </a:ext>
            </a:extLst>
          </p:cNvPr>
          <p:cNvSpPr txBox="1"/>
          <p:nvPr/>
        </p:nvSpPr>
        <p:spPr>
          <a:xfrm>
            <a:off x="6428453" y="4123793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한 번 쓰고 흩어지던 대화형 분석 결과를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내 정규 대시보드 리포트로 구조화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해 보존합니다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레거시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투자 자산을 조직의 지식 자산으로 축적합니다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B1F3E50F-D066-2385-265A-38B543FD7F38}"/>
              </a:ext>
            </a:extLst>
          </p:cNvPr>
          <p:cNvSpPr/>
          <p:nvPr/>
        </p:nvSpPr>
        <p:spPr>
          <a:xfrm>
            <a:off x="326826" y="4571606"/>
            <a:ext cx="798838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환각률 0% 달성</a:t>
            </a:r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D43E5775-BF63-A8D3-DE01-F842C5CD29F8}"/>
              </a:ext>
            </a:extLst>
          </p:cNvPr>
          <p:cNvSpPr/>
          <p:nvPr/>
        </p:nvSpPr>
        <p:spPr>
          <a:xfrm>
            <a:off x="1264591" y="4571606"/>
            <a:ext cx="920244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데이터 정합성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100%</a:t>
            </a:r>
            <a:endParaRPr lang="ko-KR" altLang="en-US" sz="7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C8B257-53FF-C11A-C3C6-C1564DB1CD13}"/>
              </a:ext>
            </a:extLst>
          </p:cNvPr>
          <p:cNvSpPr/>
          <p:nvPr/>
        </p:nvSpPr>
        <p:spPr>
          <a:xfrm>
            <a:off x="2323763" y="4571606"/>
            <a:ext cx="857357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BI </a:t>
            </a:r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직접 연동</a:t>
            </a:r>
          </a:p>
        </p:txBody>
      </p:sp>
    </p:spTree>
    <p:extLst>
      <p:ext uri="{BB962C8B-B14F-4D97-AF65-F5344CB8AC3E}">
        <p14:creationId xmlns:p14="http://schemas.microsoft.com/office/powerpoint/2010/main" val="12528298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5483-E644-971E-E622-8F0AE0A1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AE2888C-BE36-67C0-EBC9-B52217CFC74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C97E3A-1CB8-174A-EF6A-3C1F675ABA80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성공적인 도입 및 실행 전략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D40DF1-BD51-C915-9077-4DB71E79A35E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Execution Strategy </a:t>
            </a:r>
          </a:p>
        </p:txBody>
      </p:sp>
    </p:spTree>
    <p:extLst>
      <p:ext uri="{BB962C8B-B14F-4D97-AF65-F5344CB8AC3E}">
        <p14:creationId xmlns:p14="http://schemas.microsoft.com/office/powerpoint/2010/main" val="1758516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F686-1B11-B6CD-EF25-A3E6C45C8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EA7CA71F-9781-65BA-BF6E-C6AD33C9528E}"/>
              </a:ext>
            </a:extLst>
          </p:cNvPr>
          <p:cNvSpPr/>
          <p:nvPr/>
        </p:nvSpPr>
        <p:spPr>
          <a:xfrm rot="16200000">
            <a:off x="811545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E2FB6B-BF86-5315-F12E-BF0336658F29}"/>
              </a:ext>
            </a:extLst>
          </p:cNvPr>
          <p:cNvSpPr txBox="1"/>
          <p:nvPr/>
        </p:nvSpPr>
        <p:spPr>
          <a:xfrm>
            <a:off x="256032" y="2180372"/>
            <a:ext cx="205268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진단 및 기획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FE7D0506-9500-8FF6-759D-69F60147E7B4}"/>
              </a:ext>
            </a:extLst>
          </p:cNvPr>
          <p:cNvSpPr/>
          <p:nvPr/>
        </p:nvSpPr>
        <p:spPr>
          <a:xfrm rot="16200000">
            <a:off x="7353752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4043">
                <a:schemeClr val="bg1">
                  <a:lumMod val="65000"/>
                </a:schemeClr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AC21E939-87AD-FFFF-B13D-D27EDA458FCB}"/>
              </a:ext>
            </a:extLst>
          </p:cNvPr>
          <p:cNvSpPr/>
          <p:nvPr/>
        </p:nvSpPr>
        <p:spPr>
          <a:xfrm rot="16200000">
            <a:off x="5173017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4043">
                <a:srgbClr val="00D4C5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13CEC4"/>
            </a:solidFill>
          </a:ln>
          <a:effectLst>
            <a:glow rad="101600">
              <a:srgbClr val="07D2C5">
                <a:alpha val="16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B13DAF98-4E4F-6BBB-06E5-D08F8D460363}"/>
              </a:ext>
            </a:extLst>
          </p:cNvPr>
          <p:cNvSpPr/>
          <p:nvPr/>
        </p:nvSpPr>
        <p:spPr>
          <a:xfrm rot="16200000">
            <a:off x="2992281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B505F86-938D-1E43-ABA3-560B6EA902C0}"/>
              </a:ext>
            </a:extLst>
          </p:cNvPr>
          <p:cNvSpPr/>
          <p:nvPr/>
        </p:nvSpPr>
        <p:spPr>
          <a:xfrm rot="10800000">
            <a:off x="1442106" y="1671374"/>
            <a:ext cx="6352159" cy="48743"/>
          </a:xfrm>
          <a:prstGeom prst="rect">
            <a:avLst/>
          </a:prstGeom>
          <a:gradFill>
            <a:gsLst>
              <a:gs pos="13000">
                <a:schemeClr val="tx1">
                  <a:lumMod val="75000"/>
                  <a:lumOff val="25000"/>
                </a:schemeClr>
              </a:gs>
              <a:gs pos="0">
                <a:schemeClr val="tx1">
                  <a:lumMod val="50000"/>
                  <a:lumOff val="50000"/>
                </a:schemeClr>
              </a:gs>
              <a:gs pos="97826">
                <a:schemeClr val="bg1">
                  <a:lumMod val="85000"/>
                </a:schemeClr>
              </a:gs>
              <a:gs pos="64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0CE8F53-8A71-024B-D683-241BE27EA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Quick Win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달성을 위한 </a:t>
            </a:r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패스트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트랙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(Fast-Track)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도입 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42F9C99-6C21-3472-5AC4-61C0D34770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50C7B27-3BDA-96DC-C738-7EDC3F38B39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FA3D8-B83F-BF6E-9424-EA3194AA4B75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전사 통합 데이터 구축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(EDW)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등 무거운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IT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프로젝트를 기다릴 필요가 없습니다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기존에 가장 활발히 사용 중인 핵심 대시보드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2~3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개와 단일 부서를 대상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6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주 만에 확실한 도입 성과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(Quick Win)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를 증명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13F8211-401C-ED56-D56F-3FA9AC0F8FDD}"/>
              </a:ext>
            </a:extLst>
          </p:cNvPr>
          <p:cNvSpPr/>
          <p:nvPr/>
        </p:nvSpPr>
        <p:spPr>
          <a:xfrm>
            <a:off x="950416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938D643-5BAF-5029-43A2-C574205C4F19}"/>
              </a:ext>
            </a:extLst>
          </p:cNvPr>
          <p:cNvSpPr/>
          <p:nvPr/>
        </p:nvSpPr>
        <p:spPr>
          <a:xfrm>
            <a:off x="3131265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E3E0B3B-AD25-E7CF-8787-292FCF3FFDE3}"/>
              </a:ext>
            </a:extLst>
          </p:cNvPr>
          <p:cNvSpPr/>
          <p:nvPr/>
        </p:nvSpPr>
        <p:spPr>
          <a:xfrm>
            <a:off x="5312114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6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70A33DF-31B9-6C1C-E300-B72635C0AAF5}"/>
              </a:ext>
            </a:extLst>
          </p:cNvPr>
          <p:cNvGrpSpPr/>
          <p:nvPr/>
        </p:nvGrpSpPr>
        <p:grpSpPr>
          <a:xfrm>
            <a:off x="705126" y="2183596"/>
            <a:ext cx="194034" cy="194279"/>
            <a:chOff x="1005585" y="2172863"/>
            <a:chExt cx="235386" cy="235683"/>
          </a:xfrm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04DD8F2D-FDA7-552F-7DEA-F95E8F00764E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solidFill>
              <a:srgbClr val="0D9488"/>
            </a:solidFill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509B447-8FB4-84C1-1359-C7A3CC854D51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9D74C4C-BBE9-3648-8A31-4851CBE9D27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E5BB7C0-42D5-7780-2581-6BBE9DC6206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B087D43-AC1E-074A-4E14-0B10E85692D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AB75591-4365-D867-5862-57C7105A639F}"/>
              </a:ext>
            </a:extLst>
          </p:cNvPr>
          <p:cNvSpPr txBox="1"/>
          <p:nvPr/>
        </p:nvSpPr>
        <p:spPr>
          <a:xfrm>
            <a:off x="243745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연동 및 구축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F666B8-D017-FD70-EB40-74BDB97AFEAD}"/>
              </a:ext>
            </a:extLst>
          </p:cNvPr>
          <p:cNvSpPr txBox="1"/>
          <p:nvPr/>
        </p:nvSpPr>
        <p:spPr>
          <a:xfrm>
            <a:off x="4761184" y="2180372"/>
            <a:ext cx="1909001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    파일럿 오픈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(Quick Win)</a:t>
            </a:r>
          </a:p>
        </p:txBody>
      </p:sp>
      <p:pic>
        <p:nvPicPr>
          <p:cNvPr id="36" name="그래픽 35" descr="합병 단색으로 채워진">
            <a:extLst>
              <a:ext uri="{FF2B5EF4-FFF2-40B4-BE49-F238E27FC236}">
                <a16:creationId xmlns:a16="http://schemas.microsoft.com/office/drawing/2014/main" id="{925B00D0-784D-CC34-CB1A-3FD729A0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073" y="2154362"/>
            <a:ext cx="245938" cy="245938"/>
          </a:xfrm>
          <a:prstGeom prst="rect">
            <a:avLst/>
          </a:prstGeom>
        </p:spPr>
      </p:pic>
      <p:pic>
        <p:nvPicPr>
          <p:cNvPr id="38" name="그래픽 37" descr="로켓 단색으로 채워진">
            <a:extLst>
              <a:ext uri="{FF2B5EF4-FFF2-40B4-BE49-F238E27FC236}">
                <a16:creationId xmlns:a16="http://schemas.microsoft.com/office/drawing/2014/main" id="{490137D0-70F9-9FC6-0724-9948B54E80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8697" y="2163530"/>
            <a:ext cx="220289" cy="220289"/>
          </a:xfrm>
          <a:prstGeom prst="rect">
            <a:avLst/>
          </a:prstGeom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CE4A7B-9D7E-0F8F-0690-0CD4ECA57870}"/>
              </a:ext>
            </a:extLst>
          </p:cNvPr>
          <p:cNvSpPr/>
          <p:nvPr/>
        </p:nvSpPr>
        <p:spPr>
          <a:xfrm>
            <a:off x="256714" y="3286886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246CD6-134E-7FA7-001C-0C8202F4380B}"/>
              </a:ext>
            </a:extLst>
          </p:cNvPr>
          <p:cNvSpPr/>
          <p:nvPr/>
        </p:nvSpPr>
        <p:spPr>
          <a:xfrm>
            <a:off x="4680335" y="3286887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0F172A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5A1D07-DAE9-B67E-32EB-9186B3B780CF}"/>
              </a:ext>
            </a:extLst>
          </p:cNvPr>
          <p:cNvSpPr txBox="1"/>
          <p:nvPr/>
        </p:nvSpPr>
        <p:spPr>
          <a:xfrm>
            <a:off x="564093" y="3376780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초기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AI 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도입의 장벽 </a:t>
            </a:r>
            <a:endParaRPr lang="en-US" altLang="ko-KR" sz="1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pic>
        <p:nvPicPr>
          <p:cNvPr id="43" name="그래픽 42" descr="경고 단색으로 채워진">
            <a:extLst>
              <a:ext uri="{FF2B5EF4-FFF2-40B4-BE49-F238E27FC236}">
                <a16:creationId xmlns:a16="http://schemas.microsoft.com/office/drawing/2014/main" id="{E601F3B8-A6AE-87A0-95C7-C61BA03D1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326" y="3378733"/>
            <a:ext cx="170522" cy="170522"/>
          </a:xfrm>
          <a:prstGeom prst="rect">
            <a:avLst/>
          </a:prstGeom>
        </p:spPr>
      </p:pic>
      <p:pic>
        <p:nvPicPr>
          <p:cNvPr id="45" name="그래픽 44" descr="고전압 단색으로 채워진">
            <a:extLst>
              <a:ext uri="{FF2B5EF4-FFF2-40B4-BE49-F238E27FC236}">
                <a16:creationId xmlns:a16="http://schemas.microsoft.com/office/drawing/2014/main" id="{5B12BCBD-A02C-5C67-FBE8-210E98B56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8697" y="3369285"/>
            <a:ext cx="170522" cy="17052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5B2D267-9C68-205D-92AF-6746B728C029}"/>
              </a:ext>
            </a:extLst>
          </p:cNvPr>
          <p:cNvSpPr txBox="1"/>
          <p:nvPr/>
        </p:nvSpPr>
        <p:spPr>
          <a:xfrm>
            <a:off x="4994511" y="3369285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000" b="1" dirty="0">
                <a:solidFill>
                  <a:schemeClr val="bg1"/>
                </a:solidFill>
                <a:latin typeface="+mn-ea"/>
              </a:rPr>
              <a:t>aisight Fast-Track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도입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7" name="Google Shape;142;p13">
            <a:extLst>
              <a:ext uri="{FF2B5EF4-FFF2-40B4-BE49-F238E27FC236}">
                <a16:creationId xmlns:a16="http://schemas.microsoft.com/office/drawing/2014/main" id="{D6E8ED4F-6913-0DFC-3952-D887BA73F311}"/>
              </a:ext>
            </a:extLst>
          </p:cNvPr>
          <p:cNvSpPr txBox="1"/>
          <p:nvPr/>
        </p:nvSpPr>
        <p:spPr>
          <a:xfrm>
            <a:off x="4842776" y="3637642"/>
            <a:ext cx="3894824" cy="1050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데이터 이관 없이, 검증된 사내 대시보드를 그대로 연결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핵심 대시보드 2~3개·단일 부서로 6주 내 성과 증명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민감 데이터는 사내 sLLM에서 처리, 외부 API는 일반 작업에 한정 (Hybrid 라우팅)</a:t>
            </a:r>
          </a:p>
          <a:p>
            <a:pPr marL="100000" indent="-100000">
              <a:lnSpc>
                <a:spcPct val="170000"/>
              </a:lnSpc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작업 복잡도에 따라 LLM을 동적 분배하여 비용 최적화</a:t>
            </a: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33B1B94-E296-0B3E-0113-A16C4E625314}"/>
              </a:ext>
            </a:extLst>
          </p:cNvPr>
          <p:cNvSpPr/>
          <p:nvPr/>
        </p:nvSpPr>
        <p:spPr>
          <a:xfrm>
            <a:off x="7492963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rgbClr val="0D9488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7 ~</a:t>
            </a:r>
            <a:endParaRPr lang="ko-KR" altLang="en-US" sz="900" dirty="0">
              <a:solidFill>
                <a:srgbClr val="0D9488"/>
              </a:solidFill>
              <a:ea typeface="SUIT ExtraBold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930805-8772-38A9-3A45-91120A9A358F}"/>
              </a:ext>
            </a:extLst>
          </p:cNvPr>
          <p:cNvSpPr txBox="1"/>
          <p:nvPr/>
        </p:nvSpPr>
        <p:spPr>
          <a:xfrm>
            <a:off x="679892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전사 확산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9762FF43-E388-A19C-3D6F-9465DA5DF215}"/>
              </a:ext>
            </a:extLst>
          </p:cNvPr>
          <p:cNvSpPr txBox="1"/>
          <p:nvPr/>
        </p:nvSpPr>
        <p:spPr>
          <a:xfrm>
            <a:off x="369094" y="24469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이관 없는 레거시 환경 진단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가장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파급력이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 큰 핵심 대시보드 선정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가시성 제약 및 보안 권한 매핑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6C30D8E-2E87-A09B-6E3F-667E42B5B226}"/>
              </a:ext>
            </a:extLst>
          </p:cNvPr>
          <p:cNvSpPr/>
          <p:nvPr/>
        </p:nvSpPr>
        <p:spPr>
          <a:xfrm>
            <a:off x="4333169" y="3754282"/>
            <a:ext cx="458012" cy="442964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900" dirty="0">
              <a:solidFill>
                <a:srgbClr val="0D9488"/>
              </a:solidFill>
            </a:endParaRPr>
          </a:p>
        </p:txBody>
      </p:sp>
      <p:sp>
        <p:nvSpPr>
          <p:cNvPr id="26" name="Google Shape;142;p13">
            <a:extLst>
              <a:ext uri="{FF2B5EF4-FFF2-40B4-BE49-F238E27FC236}">
                <a16:creationId xmlns:a16="http://schemas.microsoft.com/office/drawing/2014/main" id="{63AF2540-0993-4543-AFD9-E9E89D716290}"/>
              </a:ext>
            </a:extLst>
          </p:cNvPr>
          <p:cNvSpPr txBox="1"/>
          <p:nvPr/>
        </p:nvSpPr>
        <p:spPr>
          <a:xfrm>
            <a:off x="2617787" y="24247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비즈니스 도메인 맞춤형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Graph DB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셋업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타겟 사내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BI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연동 및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Skill Registry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등록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비용 최적화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Hybrid LLM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라우팅 설정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SUIT"/>
              <a:sym typeface="SUIT"/>
            </a:endParaRPr>
          </a:p>
        </p:txBody>
      </p:sp>
      <p:sp>
        <p:nvSpPr>
          <p:cNvPr id="29" name="Google Shape;142;p13">
            <a:extLst>
              <a:ext uri="{FF2B5EF4-FFF2-40B4-BE49-F238E27FC236}">
                <a16:creationId xmlns:a16="http://schemas.microsoft.com/office/drawing/2014/main" id="{56943529-A139-A5BD-F27E-29EB1BEB61CC}"/>
              </a:ext>
            </a:extLst>
          </p:cNvPr>
          <p:cNvSpPr txBox="1"/>
          <p:nvPr/>
        </p:nvSpPr>
        <p:spPr>
          <a:xfrm>
            <a:off x="6979729" y="2424748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성공 사례 기반 추가 대시보드 확장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ERP, CRM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등 타 시스템 스킬 추가 연동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기반 전사 지식 자산화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DEB851C6-CE46-9028-1FE6-9689BC87CAF0}"/>
              </a:ext>
            </a:extLst>
          </p:cNvPr>
          <p:cNvSpPr/>
          <p:nvPr/>
        </p:nvSpPr>
        <p:spPr>
          <a:xfrm>
            <a:off x="4439830" y="3912416"/>
            <a:ext cx="264340" cy="140697"/>
          </a:xfrm>
          <a:prstGeom prst="rightArrow">
            <a:avLst>
              <a:gd name="adj1" fmla="val 17187"/>
              <a:gd name="adj2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D9488"/>
              </a:solidFill>
            </a:endParaRPr>
          </a:p>
        </p:txBody>
      </p:sp>
      <p:sp>
        <p:nvSpPr>
          <p:cNvPr id="11" name="TextBox PainBody">
            <a:extLst>
              <a:ext uri="{FF2B5EF4-FFF2-40B4-BE49-F238E27FC236}">
                <a16:creationId xmlns:a16="http://schemas.microsoft.com/office/drawing/2014/main" id="{783A0BA5-1F0B-49C7-BA34-9A5341C24F3C}"/>
              </a:ext>
            </a:extLst>
          </p:cNvPr>
          <p:cNvSpPr txBox="1"/>
          <p:nvPr/>
        </p:nvSpPr>
        <p:spPr>
          <a:xfrm>
            <a:off x="369094" y="3594100"/>
            <a:ext cx="3923506" cy="1143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AI 도입을 위해 전사 데이터 통합(EDW)부터 끝내야 한다는 부담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전사 확산을 목표로 진행하다 길어지는 PoC와 흐려지는 성과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사내 민감 데이터를 외부 상용 API에 노출하는 보안 리스크</a:t>
            </a:r>
          </a:p>
          <a:p>
            <a:pPr marL="100000" indent="-100000">
              <a:lnSpc>
                <a:spcPct val="170000"/>
              </a:lnSpc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사용량에 따라 예측·통제가 어려운 토큰 및 인프라 비용</a:t>
            </a:r>
          </a:p>
        </p:txBody>
      </p:sp>
      <p:sp>
        <p:nvSpPr>
          <p:cNvPr id="42" name="Google Shape;142;p13">
            <a:extLst>
              <a:ext uri="{FF2B5EF4-FFF2-40B4-BE49-F238E27FC236}">
                <a16:creationId xmlns:a16="http://schemas.microsoft.com/office/drawing/2014/main" id="{DCF333C8-4AC6-863C-8FE8-B654961F4FBE}"/>
              </a:ext>
            </a:extLst>
          </p:cNvPr>
          <p:cNvSpPr txBox="1"/>
          <p:nvPr/>
        </p:nvSpPr>
        <p:spPr>
          <a:xfrm>
            <a:off x="4803287" y="2398183"/>
            <a:ext cx="1866900" cy="3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핵심 부서 및 임원 대상 런칭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선정 부서의 실제 업무에 바로 적용·검증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2471278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6C89C-3ACC-2E12-0ED5-C825BCD9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13C619D-FAAF-8596-9096-A36EABF87AA3}"/>
              </a:ext>
            </a:extLst>
          </p:cNvPr>
          <p:cNvSpPr/>
          <p:nvPr/>
        </p:nvSpPr>
        <p:spPr>
          <a:xfrm>
            <a:off x="304134" y="1292159"/>
            <a:ext cx="8547258" cy="533803"/>
          </a:xfrm>
          <a:prstGeom prst="roundRect">
            <a:avLst>
              <a:gd name="adj" fmla="val 17476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489910F-E28F-FCF3-4082-C51724BAED74}"/>
              </a:ext>
            </a:extLst>
          </p:cNvPr>
          <p:cNvSpPr/>
          <p:nvPr/>
        </p:nvSpPr>
        <p:spPr>
          <a:xfrm rot="16200000">
            <a:off x="44139" y="2195720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1481">
                <a:schemeClr val="bg1">
                  <a:lumMod val="65000"/>
                </a:schemeClr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9CB05B1E-E285-A063-C74F-C8704D820C57}"/>
              </a:ext>
            </a:extLst>
          </p:cNvPr>
          <p:cNvSpPr/>
          <p:nvPr/>
        </p:nvSpPr>
        <p:spPr>
          <a:xfrm rot="16200000">
            <a:off x="6538928" y="2183561"/>
            <a:ext cx="2571985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81">
                <a:srgbClr val="00A795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BEB9D7F4-E964-2276-B480-D4148849FAE1}"/>
              </a:ext>
            </a:extLst>
          </p:cNvPr>
          <p:cNvSpPr/>
          <p:nvPr/>
        </p:nvSpPr>
        <p:spPr>
          <a:xfrm rot="16200000">
            <a:off x="4358191" y="2183563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81">
                <a:srgbClr val="3B82F6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5E43AFED-EA34-54DF-1BA1-19A0D6C2CDD7}"/>
              </a:ext>
            </a:extLst>
          </p:cNvPr>
          <p:cNvSpPr/>
          <p:nvPr/>
        </p:nvSpPr>
        <p:spPr>
          <a:xfrm rot="16200000">
            <a:off x="2177455" y="2183564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81">
                <a:srgbClr val="028090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6759D5-EA7E-BD99-1CAA-CB9E4379F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표준 구축 및 점진적 확산 로드맵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(12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개월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A109130-B88A-FCE3-EA2A-F502FF13B8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47DEC58-4DD8-3504-E776-5661C0A57FE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888287-DC3C-DF53-2609-DEEDEBBF2DBF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대규모 환경의 리스크를 최소화하기 위해 일괄 오픈하는 빅뱅(Big-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bang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 방식을 지양합니다. 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단위 업무 및 부서별로 </a:t>
            </a:r>
            <a:r>
              <a:rPr lang="ko-KR" altLang="en-US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나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누어 애자일(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Agile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)하게 릴리즈하고, 기 구축된 모듈을 지속적으로 업데이트(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Iteration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하며 확장해 나가는 유연하고 안전한 도입 모델을 적용합니다.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7AD31B85-4BF3-8DFD-80F7-35D7B8BFF996}"/>
              </a:ext>
            </a:extLst>
          </p:cNvPr>
          <p:cNvSpPr txBox="1"/>
          <p:nvPr/>
        </p:nvSpPr>
        <p:spPr>
          <a:xfrm>
            <a:off x="385463" y="2658659"/>
            <a:ext cx="1871663" cy="1131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인프라 및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망분리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 정책 정밀 진단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과제 도출 및 소규모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PoC(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기술 검증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수행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빅뱅 지양 및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 애자일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(Agile)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스프린트 기획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To-Be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아키텍처 및 데이터 파이프라인 마스터플랜 설계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0F2B81-C0D9-1FE4-C525-D4CA053E312A}"/>
              </a:ext>
            </a:extLst>
          </p:cNvPr>
          <p:cNvSpPr txBox="1"/>
          <p:nvPr/>
        </p:nvSpPr>
        <p:spPr>
          <a:xfrm>
            <a:off x="522886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01 ~ 02</a:t>
            </a: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A2674A-CE5E-47C0-53B1-15D8FB59CF24}"/>
              </a:ext>
            </a:extLst>
          </p:cNvPr>
          <p:cNvSpPr txBox="1"/>
          <p:nvPr/>
        </p:nvSpPr>
        <p:spPr>
          <a:xfrm>
            <a:off x="2703735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3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Core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1st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Release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87ADAE-2B6E-739F-B95C-B18EDD1D0165}"/>
              </a:ext>
            </a:extLst>
          </p:cNvPr>
          <p:cNvSpPr txBox="1"/>
          <p:nvPr/>
        </p:nvSpPr>
        <p:spPr>
          <a:xfrm>
            <a:off x="4884584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6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cap="all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10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Iterative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Scale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Out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7C7C9-7FB7-8C06-E43B-A18970A10DEA}"/>
              </a:ext>
            </a:extLst>
          </p:cNvPr>
          <p:cNvSpPr txBox="1"/>
          <p:nvPr/>
        </p:nvSpPr>
        <p:spPr>
          <a:xfrm>
            <a:off x="7065433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1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2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+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Continuous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Ops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DC338A-98DC-9B8E-D8BC-61AC2927A4D3}"/>
              </a:ext>
            </a:extLst>
          </p:cNvPr>
          <p:cNvSpPr txBox="1"/>
          <p:nvPr/>
        </p:nvSpPr>
        <p:spPr>
          <a:xfrm>
            <a:off x="658451" y="205374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환경 진단 및 애자일 계획</a:t>
            </a:r>
            <a:b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Discovery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B7E05F-19D1-B244-7A82-25C0845CF8A1}"/>
              </a:ext>
            </a:extLst>
          </p:cNvPr>
          <p:cNvSpPr txBox="1"/>
          <p:nvPr/>
        </p:nvSpPr>
        <p:spPr>
          <a:xfrm>
            <a:off x="2791766" y="204039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코어 셋업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차 릴리즈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(Core Build &amp; 1st Sprint)</a:t>
            </a:r>
            <a:endParaRPr lang="ko-KR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6924B0-DEF4-293B-F86A-9C8812E10647}"/>
              </a:ext>
            </a:extLst>
          </p:cNvPr>
          <p:cNvSpPr txBox="1"/>
          <p:nvPr/>
        </p:nvSpPr>
        <p:spPr>
          <a:xfrm>
            <a:off x="4970653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+mj-ea"/>
                <a:ea typeface="+mj-ea"/>
              </a:rPr>
              <a:t>단위별 확산 및 지속 개선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 ExtraBold" pitchFamily="50" charset="-127"/>
              </a:rPr>
              <a:t>(Iterative Scale Out)</a:t>
            </a:r>
            <a:endParaRPr lang="ko-KR" altLang="ko-KR" sz="900" i="0" dirty="0">
              <a:solidFill>
                <a:srgbClr val="1E293B"/>
              </a:solidFill>
              <a:effectLst/>
              <a:ea typeface="SUIT ExtraBold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C47E9F-255C-12C4-3515-58D245D52343}"/>
              </a:ext>
            </a:extLst>
          </p:cNvPr>
          <p:cNvSpPr txBox="1"/>
          <p:nvPr/>
        </p:nvSpPr>
        <p:spPr>
          <a:xfrm>
            <a:off x="7153237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전사 정착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CI/CD </a:t>
            </a: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전환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(Continuous Operation)</a:t>
            </a:r>
            <a:endParaRPr lang="ko-KR" altLang="ko-KR" sz="900" i="0" dirty="0">
              <a:solidFill>
                <a:srgbClr val="1E293B"/>
              </a:solidFill>
              <a:effectLst/>
              <a:ea typeface="SUIT" pitchFamily="2" charset="-127"/>
            </a:endParaRP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E47234DC-9E0A-5D6D-28F8-CB01148C854F}"/>
              </a:ext>
            </a:extLst>
          </p:cNvPr>
          <p:cNvSpPr txBox="1"/>
          <p:nvPr/>
        </p:nvSpPr>
        <p:spPr>
          <a:xfrm>
            <a:off x="2553338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Ops / Work Space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프라이빗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코어 인프라 셋업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우선순위가 가장 높은 선도 부서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개 타겟 데이터 연동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해당 업무 단위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(Task)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 한정된 스킬 개발 및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Graph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모델링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차 스프린트 단위 산출물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(MVP)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오픈 및 현업 피드백 수집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99E6FE7D-3CC7-5816-CE0E-D11D3E82899C}"/>
              </a:ext>
            </a:extLst>
          </p:cNvPr>
          <p:cNvSpPr txBox="1"/>
          <p:nvPr/>
        </p:nvSpPr>
        <p:spPr>
          <a:xfrm>
            <a:off x="4721213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타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단위로 애자일 스프린트 반복 및 순차적 릴리즈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릴리즈된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(View)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및 분석 스킬의 지속적 업데이트 병행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이기종 데이터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(ERP, CRM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심층 연동 확대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확장된 조직도 연동 및 세밀한 동적 접근 통제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(RBAC)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튜닝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9" name="Google Shape;142;p13">
            <a:extLst>
              <a:ext uri="{FF2B5EF4-FFF2-40B4-BE49-F238E27FC236}">
                <a16:creationId xmlns:a16="http://schemas.microsoft.com/office/drawing/2014/main" id="{264D1886-D018-856B-1A8C-53FDD3BF9235}"/>
              </a:ext>
            </a:extLst>
          </p:cNvPr>
          <p:cNvSpPr txBox="1"/>
          <p:nvPr/>
        </p:nvSpPr>
        <p:spPr>
          <a:xfrm>
            <a:off x="6889089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단위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안착 및 파워 유저 양성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팀 및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로의 점진적 시스템 인수인계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단발성 구축 종료가 아닌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무중단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CI/CD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체계로의 운영 전환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SLA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기반 정규 유지보수 및 사내 모델 지속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체계화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61" name="그래픽 60">
            <a:extLst>
              <a:ext uri="{FF2B5EF4-FFF2-40B4-BE49-F238E27FC236}">
                <a16:creationId xmlns:a16="http://schemas.microsoft.com/office/drawing/2014/main" id="{E73BB8BE-17D7-BCB1-3664-2F38EF220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1800" y="2240328"/>
            <a:ext cx="228600" cy="228600"/>
          </a:xfrm>
          <a:prstGeom prst="rect">
            <a:avLst/>
          </a:prstGeom>
        </p:spPr>
      </p:pic>
      <p:pic>
        <p:nvPicPr>
          <p:cNvPr id="63" name="그래픽 62">
            <a:extLst>
              <a:ext uri="{FF2B5EF4-FFF2-40B4-BE49-F238E27FC236}">
                <a16:creationId xmlns:a16="http://schemas.microsoft.com/office/drawing/2014/main" id="{DE5F42AC-2A8D-990E-794C-723F5058A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1417" y="2224274"/>
            <a:ext cx="228600" cy="228600"/>
          </a:xfrm>
          <a:prstGeom prst="rect">
            <a:avLst/>
          </a:prstGeom>
        </p:spPr>
      </p:pic>
      <p:pic>
        <p:nvPicPr>
          <p:cNvPr id="67" name="그래픽 66">
            <a:extLst>
              <a:ext uri="{FF2B5EF4-FFF2-40B4-BE49-F238E27FC236}">
                <a16:creationId xmlns:a16="http://schemas.microsoft.com/office/drawing/2014/main" id="{69F4D613-082B-1C50-60B4-E053543E2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977" y="2236400"/>
            <a:ext cx="228600" cy="228600"/>
          </a:xfrm>
          <a:prstGeom prst="rect">
            <a:avLst/>
          </a:prstGeom>
        </p:spPr>
      </p:pic>
      <p:pic>
        <p:nvPicPr>
          <p:cNvPr id="79" name="그래픽 78">
            <a:extLst>
              <a:ext uri="{FF2B5EF4-FFF2-40B4-BE49-F238E27FC236}">
                <a16:creationId xmlns:a16="http://schemas.microsoft.com/office/drawing/2014/main" id="{3BC84817-87AF-F813-B28F-DB1E4108BB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44884" y="2224274"/>
            <a:ext cx="228600" cy="228600"/>
          </a:xfrm>
          <a:prstGeom prst="rect">
            <a:avLst/>
          </a:prstGeom>
        </p:spPr>
      </p:pic>
      <p:sp>
        <p:nvSpPr>
          <p:cNvPr id="83" name="Shape 4">
            <a:extLst>
              <a:ext uri="{FF2B5EF4-FFF2-40B4-BE49-F238E27FC236}">
                <a16:creationId xmlns:a16="http://schemas.microsoft.com/office/drawing/2014/main" id="{DDC56198-3FCF-E6A7-A3F3-766267A7977F}"/>
              </a:ext>
            </a:extLst>
          </p:cNvPr>
          <p:cNvSpPr/>
          <p:nvPr/>
        </p:nvSpPr>
        <p:spPr>
          <a:xfrm rot="16200000">
            <a:off x="1108016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750581F9-31FA-F4A3-4AEB-4AB4A91B49AB}"/>
              </a:ext>
            </a:extLst>
          </p:cNvPr>
          <p:cNvSpPr/>
          <p:nvPr/>
        </p:nvSpPr>
        <p:spPr>
          <a:xfrm rot="16200000">
            <a:off x="3239708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193A1EE-10BA-CF49-0AA7-75EB8BDE74B1}"/>
              </a:ext>
            </a:extLst>
          </p:cNvPr>
          <p:cNvSpPr/>
          <p:nvPr/>
        </p:nvSpPr>
        <p:spPr>
          <a:xfrm rot="16200000">
            <a:off x="5417120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6" name="Shape 4">
            <a:extLst>
              <a:ext uri="{FF2B5EF4-FFF2-40B4-BE49-F238E27FC236}">
                <a16:creationId xmlns:a16="http://schemas.microsoft.com/office/drawing/2014/main" id="{D562E550-B265-23A6-1F47-7D5ED9A3647F}"/>
              </a:ext>
            </a:extLst>
          </p:cNvPr>
          <p:cNvSpPr/>
          <p:nvPr/>
        </p:nvSpPr>
        <p:spPr>
          <a:xfrm rot="16200000">
            <a:off x="7594532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35F64-87BB-EF03-E368-8DD59B103B56}"/>
              </a:ext>
            </a:extLst>
          </p:cNvPr>
          <p:cNvSpPr txBox="1"/>
          <p:nvPr/>
        </p:nvSpPr>
        <p:spPr>
          <a:xfrm>
            <a:off x="777442" y="3921235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ko-KR" sz="700" b="1" i="0" dirty="0" err="1">
                <a:solidFill>
                  <a:srgbClr val="92400E"/>
                </a:solidFill>
                <a:effectLst/>
                <a:latin typeface="+mj-ea"/>
                <a:ea typeface="+mj-ea"/>
              </a:rPr>
              <a:t>PoC</a:t>
            </a: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 검증 완료 및</a:t>
            </a:r>
            <a:br>
              <a:rPr lang="ko-KR" altLang="ko-KR" sz="700" dirty="0">
                <a:latin typeface="+mj-ea"/>
                <a:ea typeface="+mj-ea"/>
              </a:rPr>
            </a:b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단위별 릴리즈 계획 수립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3" name="그래픽 92" descr="배지 체크 표시1 단색으로 채워진">
            <a:extLst>
              <a:ext uri="{FF2B5EF4-FFF2-40B4-BE49-F238E27FC236}">
                <a16:creationId xmlns:a16="http://schemas.microsoft.com/office/drawing/2014/main" id="{2B73AF77-F959-BBE7-2638-76FCB60A5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5590" y="3999676"/>
            <a:ext cx="180000" cy="18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B818BE68-DBCD-07C3-77C1-7F808DEF3D4E}"/>
              </a:ext>
            </a:extLst>
          </p:cNvPr>
          <p:cNvSpPr txBox="1"/>
          <p:nvPr/>
        </p:nvSpPr>
        <p:spPr>
          <a:xfrm>
            <a:off x="2904998" y="3929624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코어 인프라 가동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선도 업무 단위 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1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차 릴리즈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5" name="그래픽 94" descr="배지 체크 표시1 단색으로 채워진">
            <a:extLst>
              <a:ext uri="{FF2B5EF4-FFF2-40B4-BE49-F238E27FC236}">
                <a16:creationId xmlns:a16="http://schemas.microsoft.com/office/drawing/2014/main" id="{738CE8AF-2A39-C240-E1E4-88A937F0D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13146" y="3999676"/>
            <a:ext cx="180000" cy="180000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6A4230F7-8942-1388-9723-4D334B17F386}"/>
              </a:ext>
            </a:extLst>
          </p:cNvPr>
          <p:cNvSpPr txBox="1"/>
          <p:nvPr/>
        </p:nvSpPr>
        <p:spPr>
          <a:xfrm>
            <a:off x="5096752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다수 부서 점진적 확산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버전 업데이트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(CI/CD)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가동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7" name="그래픽 96" descr="배지 체크 표시1 단색으로 채워진">
            <a:extLst>
              <a:ext uri="{FF2B5EF4-FFF2-40B4-BE49-F238E27FC236}">
                <a16:creationId xmlns:a16="http://schemas.microsoft.com/office/drawing/2014/main" id="{3228A011-A4DD-756F-B5BC-104FBC2EC8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04900" y="4007414"/>
            <a:ext cx="180000" cy="180000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18F3C05E-0624-32D3-B1C0-3A9566A413CB}"/>
              </a:ext>
            </a:extLst>
          </p:cNvPr>
          <p:cNvSpPr txBox="1"/>
          <p:nvPr/>
        </p:nvSpPr>
        <p:spPr>
          <a:xfrm>
            <a:off x="7259670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cap="all" dirty="0">
              <a:solidFill>
                <a:srgbClr val="B45309"/>
              </a:solidFill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전사 자율 운영 체계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지속 성장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(CS)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궤도 안착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9" name="그래픽 98" descr="배지 체크 표시1 단색으로 채워진">
            <a:extLst>
              <a:ext uri="{FF2B5EF4-FFF2-40B4-BE49-F238E27FC236}">
                <a16:creationId xmlns:a16="http://schemas.microsoft.com/office/drawing/2014/main" id="{01F4C707-54BA-E389-6B3E-938A50A09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67818" y="4007414"/>
            <a:ext cx="180000" cy="180000"/>
          </a:xfrm>
          <a:prstGeom prst="rect">
            <a:avLst/>
          </a:prstGeom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DA35F41-82BF-3C48-EA8E-7F3FCEF9CAF3}"/>
              </a:ext>
            </a:extLst>
          </p:cNvPr>
          <p:cNvSpPr/>
          <p:nvPr/>
        </p:nvSpPr>
        <p:spPr>
          <a:xfrm>
            <a:off x="304135" y="4576763"/>
            <a:ext cx="8547258" cy="33300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51255BE-3A00-FF93-D54C-3E77D5AE9D4E}"/>
              </a:ext>
            </a:extLst>
          </p:cNvPr>
          <p:cNvSpPr txBox="1"/>
          <p:nvPr/>
        </p:nvSpPr>
        <p:spPr>
          <a:xfrm>
            <a:off x="608709" y="4635298"/>
            <a:ext cx="184308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Sailingstone</a:t>
            </a:r>
            <a:r>
              <a:rPr lang="ko-KR" altLang="ko-KR" sz="900" i="0" dirty="0">
                <a:solidFill>
                  <a:srgbClr val="00E5FF"/>
                </a:solidFill>
                <a:effectLst/>
                <a:ea typeface="SUIT ExtraBold" pitchFamily="50" charset="-127"/>
              </a:rPr>
              <a:t> Enterprise </a:t>
            </a: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전담팀</a:t>
            </a:r>
            <a:endParaRPr lang="ko-KR" altLang="ko-KR" sz="900" i="0" dirty="0">
              <a:solidFill>
                <a:srgbClr val="00E5FF"/>
              </a:solidFill>
              <a:effectLst/>
              <a:ea typeface="SUIT ExtraBold" pitchFamily="50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608D940-174D-37B2-8FCD-1DD72DC75E3A}"/>
              </a:ext>
            </a:extLst>
          </p:cNvPr>
          <p:cNvSpPr txBox="1"/>
          <p:nvPr/>
        </p:nvSpPr>
        <p:spPr>
          <a:xfrm>
            <a:off x="2809748" y="4650759"/>
            <a:ext cx="598455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단순한 IT 시스템 구축(SI)을 넘어, </a:t>
            </a:r>
            <a:r>
              <a:rPr lang="ko-KR" altLang="ko-KR" sz="7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비즈니스 도메인 전문가와 데이터 엔지니어가 한 팀이 되어</a:t>
            </a:r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 기획부터 전사 확산까지 리스크 없는 성공적인 데이터 혁신을 이끕니다.</a:t>
            </a:r>
            <a:endParaRPr lang="ko-KR" altLang="en-US" sz="700" dirty="0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4C64FF53-47E5-6EDC-18F8-2AEB7B3394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437" y="4658574"/>
            <a:ext cx="149816" cy="14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75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0F419-25F5-F90D-328B-5FD6A204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B38D1FA3-4F45-DD28-6882-371B0C4AA5A0}"/>
              </a:ext>
            </a:extLst>
          </p:cNvPr>
          <p:cNvSpPr/>
          <p:nvPr/>
        </p:nvSpPr>
        <p:spPr>
          <a:xfrm rot="16200000" flipV="1">
            <a:off x="-1141217" y="3166158"/>
            <a:ext cx="2965137" cy="18000"/>
          </a:xfrm>
          <a:prstGeom prst="rect">
            <a:avLst/>
          </a:prstGeom>
          <a:gradFill>
            <a:gsLst>
              <a:gs pos="2000">
                <a:srgbClr val="EBEFF5"/>
              </a:gs>
              <a:gs pos="32000">
                <a:srgbClr val="EBEFF5"/>
              </a:gs>
              <a:gs pos="100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4C0F4F-00D3-B8D1-CA8E-9A5F7CA19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자산의 무손실 단계별 전환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(Phased Transition)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C1D36E5-BEA5-6877-658A-0219BCAAEB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EEB1FDD-0B2D-EFAC-8724-0663F80EF7B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F0044C-0961-B7C8-FB89-AEE11619C548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기존 레거시 대시보드의 복잡도와 권한을 자동 분석하여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단순 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KPI는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뷰(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)당 2~4시간 내외로 신속하게 마이그레이션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합니다. 일시에 폐기하는 빅뱅 방식의 리스크를 피해 하이브리드 병행 운영을 거치며, 수년에 걸쳐 설정된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복잡한 권한 체계와 데이터 필터 로직을 100% 무손실 이관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하여 안전하게 전환합니다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C8AED957-77C9-79B7-88DD-7A44A1CD89D2}"/>
              </a:ext>
            </a:extLst>
          </p:cNvPr>
          <p:cNvSpPr/>
          <p:nvPr/>
        </p:nvSpPr>
        <p:spPr>
          <a:xfrm rot="16200000">
            <a:off x="4886811" y="732885"/>
            <a:ext cx="3351809" cy="4497871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137">
                <a:srgbClr val="00D4C5"/>
              </a:gs>
              <a:gs pos="113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64F7CC-9AC7-1465-F40D-D6B7C88C8080}"/>
              </a:ext>
            </a:extLst>
          </p:cNvPr>
          <p:cNvSpPr txBox="1"/>
          <p:nvPr/>
        </p:nvSpPr>
        <p:spPr>
          <a:xfrm>
            <a:off x="4488111" y="1504084"/>
            <a:ext cx="4269988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기존 보안 및 권한 자산의 안전한 재활용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C3A74A3-65C9-CC77-65E0-0235A3A39C89}"/>
              </a:ext>
            </a:extLst>
          </p:cNvPr>
          <p:cNvSpPr/>
          <p:nvPr/>
        </p:nvSpPr>
        <p:spPr>
          <a:xfrm>
            <a:off x="4571999" y="2252947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BF72C37-A6C2-CD49-36C6-18BC57A56D22}"/>
              </a:ext>
            </a:extLst>
          </p:cNvPr>
          <p:cNvSpPr txBox="1"/>
          <p:nvPr/>
        </p:nvSpPr>
        <p:spPr>
          <a:xfrm>
            <a:off x="385901" y="1182538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Phased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Transition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Roadmap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818CC339-A2F0-9A0E-28AC-8AB6145336DC}"/>
              </a:ext>
            </a:extLst>
          </p:cNvPr>
          <p:cNvSpPr/>
          <p:nvPr/>
        </p:nvSpPr>
        <p:spPr>
          <a:xfrm>
            <a:off x="274565" y="1341431"/>
            <a:ext cx="132291" cy="122243"/>
          </a:xfrm>
          <a:custGeom>
            <a:avLst/>
            <a:gdLst>
              <a:gd name="csX0" fmla="*/ 590550 w 742949"/>
              <a:gd name="csY0" fmla="*/ 95250 h 609600"/>
              <a:gd name="csX1" fmla="*/ 742950 w 742949"/>
              <a:gd name="csY1" fmla="*/ 95250 h 609600"/>
              <a:gd name="csX2" fmla="*/ 742950 w 742949"/>
              <a:gd name="csY2" fmla="*/ 0 h 609600"/>
              <a:gd name="csX3" fmla="*/ 495300 w 742949"/>
              <a:gd name="csY3" fmla="*/ 0 h 609600"/>
              <a:gd name="csX4" fmla="*/ 495300 w 742949"/>
              <a:gd name="csY4" fmla="*/ 171450 h 609600"/>
              <a:gd name="csX5" fmla="*/ 323850 w 742949"/>
              <a:gd name="csY5" fmla="*/ 171450 h 609600"/>
              <a:gd name="csX6" fmla="*/ 323850 w 742949"/>
              <a:gd name="csY6" fmla="*/ 342900 h 609600"/>
              <a:gd name="csX7" fmla="*/ 152400 w 742949"/>
              <a:gd name="csY7" fmla="*/ 342900 h 609600"/>
              <a:gd name="csX8" fmla="*/ 152400 w 742949"/>
              <a:gd name="csY8" fmla="*/ 514350 h 609600"/>
              <a:gd name="csX9" fmla="*/ 0 w 742949"/>
              <a:gd name="csY9" fmla="*/ 514350 h 609600"/>
              <a:gd name="csX10" fmla="*/ 0 w 742949"/>
              <a:gd name="csY10" fmla="*/ 609600 h 609600"/>
              <a:gd name="csX11" fmla="*/ 247650 w 742949"/>
              <a:gd name="csY11" fmla="*/ 609600 h 609600"/>
              <a:gd name="csX12" fmla="*/ 247650 w 742949"/>
              <a:gd name="csY12" fmla="*/ 438150 h 609600"/>
              <a:gd name="csX13" fmla="*/ 419100 w 742949"/>
              <a:gd name="csY13" fmla="*/ 438150 h 609600"/>
              <a:gd name="csX14" fmla="*/ 419100 w 742949"/>
              <a:gd name="csY14" fmla="*/ 266700 h 609600"/>
              <a:gd name="csX15" fmla="*/ 590550 w 742949"/>
              <a:gd name="csY15" fmla="*/ 266700 h 609600"/>
              <a:gd name="csX16" fmla="*/ 590550 w 742949"/>
              <a:gd name="csY16" fmla="*/ 95250 h 60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742949" h="609600">
                <a:moveTo>
                  <a:pt x="590550" y="95250"/>
                </a:moveTo>
                <a:lnTo>
                  <a:pt x="742950" y="95250"/>
                </a:lnTo>
                <a:lnTo>
                  <a:pt x="742950" y="0"/>
                </a:lnTo>
                <a:lnTo>
                  <a:pt x="495300" y="0"/>
                </a:lnTo>
                <a:lnTo>
                  <a:pt x="495300" y="171450"/>
                </a:lnTo>
                <a:lnTo>
                  <a:pt x="323850" y="171450"/>
                </a:lnTo>
                <a:lnTo>
                  <a:pt x="323850" y="342900"/>
                </a:lnTo>
                <a:lnTo>
                  <a:pt x="152400" y="342900"/>
                </a:lnTo>
                <a:lnTo>
                  <a:pt x="152400" y="514350"/>
                </a:lnTo>
                <a:lnTo>
                  <a:pt x="0" y="514350"/>
                </a:lnTo>
                <a:lnTo>
                  <a:pt x="0" y="609600"/>
                </a:lnTo>
                <a:lnTo>
                  <a:pt x="247650" y="609600"/>
                </a:lnTo>
                <a:lnTo>
                  <a:pt x="247650" y="438150"/>
                </a:lnTo>
                <a:lnTo>
                  <a:pt x="419100" y="438150"/>
                </a:lnTo>
                <a:lnTo>
                  <a:pt x="419100" y="266700"/>
                </a:lnTo>
                <a:lnTo>
                  <a:pt x="590550" y="266700"/>
                </a:lnTo>
                <a:lnTo>
                  <a:pt x="590550" y="95250"/>
                </a:lnTo>
                <a:close/>
              </a:path>
            </a:pathLst>
          </a:custGeom>
          <a:solidFill>
            <a:srgbClr val="0D9488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826F295B-78C8-DE2F-6B51-5C80CE6D2DA1}"/>
              </a:ext>
            </a:extLst>
          </p:cNvPr>
          <p:cNvSpPr/>
          <p:nvPr/>
        </p:nvSpPr>
        <p:spPr>
          <a:xfrm>
            <a:off x="528776" y="1668669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A913C5B-2EE1-B289-DC36-037D9CB3670E}"/>
              </a:ext>
            </a:extLst>
          </p:cNvPr>
          <p:cNvSpPr/>
          <p:nvPr/>
        </p:nvSpPr>
        <p:spPr>
          <a:xfrm>
            <a:off x="528776" y="2713753"/>
            <a:ext cx="3624124" cy="902316"/>
          </a:xfrm>
          <a:prstGeom prst="roundRect">
            <a:avLst>
              <a:gd name="adj" fmla="val 8431"/>
            </a:avLst>
          </a:prstGeom>
          <a:solidFill>
            <a:srgbClr val="F0FDFA"/>
          </a:solidFill>
          <a:ln w="635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CDD41D4A-FD3F-E194-93E7-1D363A21C90F}"/>
              </a:ext>
            </a:extLst>
          </p:cNvPr>
          <p:cNvSpPr/>
          <p:nvPr/>
        </p:nvSpPr>
        <p:spPr>
          <a:xfrm>
            <a:off x="528776" y="3758837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00BACEF-DF4B-0CC8-280F-954BEF98FD7E}"/>
              </a:ext>
            </a:extLst>
          </p:cNvPr>
          <p:cNvSpPr txBox="1"/>
          <p:nvPr/>
        </p:nvSpPr>
        <p:spPr>
          <a:xfrm>
            <a:off x="2167889" y="1692223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난이도 기반 선별적 마이그레이션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A0F5AC-ED32-F999-35FE-9E2A770E7B99}"/>
              </a:ext>
            </a:extLst>
          </p:cNvPr>
          <p:cNvSpPr txBox="1"/>
          <p:nvPr/>
        </p:nvSpPr>
        <p:spPr>
          <a:xfrm>
            <a:off x="609744" y="1704370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</a:rPr>
              <a:t> 01.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" pitchFamily="2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C7CE722-0220-EFF8-A794-678E57956E4B}"/>
              </a:ext>
            </a:extLst>
          </p:cNvPr>
          <p:cNvSpPr txBox="1"/>
          <p:nvPr/>
        </p:nvSpPr>
        <p:spPr>
          <a:xfrm>
            <a:off x="643889" y="1989134"/>
            <a:ext cx="3362325" cy="5061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대시보드 구조 및 권한을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자동 분석하여, 단순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KPI와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기본 리포트를 뷰(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)당 최소 2~4시간의 짧은 리드타임으로 마이그레이션하고 초기 성과(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Quick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Win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확보합니다.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16" name="원형: 비어 있음 115">
            <a:extLst>
              <a:ext uri="{FF2B5EF4-FFF2-40B4-BE49-F238E27FC236}">
                <a16:creationId xmlns:a16="http://schemas.microsoft.com/office/drawing/2014/main" id="{62E8CE31-CCAA-D139-A086-6EDC6E5B2939}"/>
              </a:ext>
            </a:extLst>
          </p:cNvPr>
          <p:cNvSpPr/>
          <p:nvPr/>
        </p:nvSpPr>
        <p:spPr>
          <a:xfrm>
            <a:off x="269834" y="1803905"/>
            <a:ext cx="152398" cy="152398"/>
          </a:xfrm>
          <a:prstGeom prst="donut">
            <a:avLst>
              <a:gd name="adj" fmla="val 15558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7" name="원형: 비어 있음 116">
            <a:extLst>
              <a:ext uri="{FF2B5EF4-FFF2-40B4-BE49-F238E27FC236}">
                <a16:creationId xmlns:a16="http://schemas.microsoft.com/office/drawing/2014/main" id="{B6702136-2086-EFF8-F95D-44AAA3C7223F}"/>
              </a:ext>
            </a:extLst>
          </p:cNvPr>
          <p:cNvSpPr/>
          <p:nvPr/>
        </p:nvSpPr>
        <p:spPr>
          <a:xfrm>
            <a:off x="258161" y="2868629"/>
            <a:ext cx="152398" cy="152398"/>
          </a:xfrm>
          <a:prstGeom prst="donut">
            <a:avLst>
              <a:gd name="adj" fmla="val 15558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8" name="원형: 비어 있음 117">
            <a:extLst>
              <a:ext uri="{FF2B5EF4-FFF2-40B4-BE49-F238E27FC236}">
                <a16:creationId xmlns:a16="http://schemas.microsoft.com/office/drawing/2014/main" id="{E3A234E4-7D54-D273-3A81-A44784855005}"/>
              </a:ext>
            </a:extLst>
          </p:cNvPr>
          <p:cNvSpPr/>
          <p:nvPr/>
        </p:nvSpPr>
        <p:spPr>
          <a:xfrm>
            <a:off x="258618" y="3885157"/>
            <a:ext cx="152398" cy="152398"/>
          </a:xfrm>
          <a:prstGeom prst="donut">
            <a:avLst>
              <a:gd name="adj" fmla="val 15558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F9B0554-DC33-58FC-BBB9-49495E393E92}"/>
              </a:ext>
            </a:extLst>
          </p:cNvPr>
          <p:cNvSpPr txBox="1"/>
          <p:nvPr/>
        </p:nvSpPr>
        <p:spPr>
          <a:xfrm>
            <a:off x="2016719" y="2773178"/>
            <a:ext cx="198949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하이브리드 병행 운영 및 권한 이관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11A5BA9-88C1-CF53-2BC5-A7958732E4D9}"/>
              </a:ext>
            </a:extLst>
          </p:cNvPr>
          <p:cNvSpPr txBox="1"/>
          <p:nvPr/>
        </p:nvSpPr>
        <p:spPr>
          <a:xfrm>
            <a:off x="609744" y="2785325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1E293B"/>
                </a:solidFill>
                <a:effectLst/>
                <a:latin typeface="+mj-ea"/>
                <a:ea typeface="+mj-ea"/>
              </a:rPr>
              <a:t>Phase</a:t>
            </a:r>
            <a:r>
              <a:rPr lang="ko-KR" altLang="ko-KR" sz="800" i="0" cap="all" dirty="0">
                <a:solidFill>
                  <a:srgbClr val="1E293B"/>
                </a:solidFill>
                <a:effectLst/>
                <a:latin typeface="+mj-ea"/>
                <a:ea typeface="+mj-ea"/>
              </a:rPr>
              <a:t> 02. 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EC931F7-034F-4C3D-C2C4-98A06BB6C635}"/>
              </a:ext>
            </a:extLst>
          </p:cNvPr>
          <p:cNvSpPr txBox="1"/>
          <p:nvPr/>
        </p:nvSpPr>
        <p:spPr>
          <a:xfrm>
            <a:off x="643889" y="3070089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</a:t>
            </a:r>
            <a:r>
              <a:rPr lang="ko-KR" altLang="en-US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레거시는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대시보드 내에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 탑재해 병행 운영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(Hybrid)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조직도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RLS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 보안 필터 로직을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무손실 동기화합니다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1271CE1-C660-16B1-EC85-B32FAF50491C}"/>
              </a:ext>
            </a:extLst>
          </p:cNvPr>
          <p:cNvSpPr txBox="1"/>
          <p:nvPr/>
        </p:nvSpPr>
        <p:spPr>
          <a:xfrm>
            <a:off x="2167889" y="3791334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자율 분석 환경으로의 완전 전환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C73F9E-C9D4-FA4D-3C5B-B4AD8406FB91}"/>
              </a:ext>
            </a:extLst>
          </p:cNvPr>
          <p:cNvSpPr txBox="1"/>
          <p:nvPr/>
        </p:nvSpPr>
        <p:spPr>
          <a:xfrm>
            <a:off x="609744" y="3803481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  <a:latin typeface="+mn-ea"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  <a:latin typeface="+mn-ea"/>
              </a:rPr>
              <a:t> 03</a:t>
            </a:r>
            <a:r>
              <a:rPr lang="en-US" altLang="ko-KR" sz="800" i="0" cap="all" dirty="0">
                <a:solidFill>
                  <a:srgbClr val="00A896"/>
                </a:solidFill>
                <a:effectLst/>
                <a:latin typeface="+mn-ea"/>
              </a:rPr>
              <a:t>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ECD408A-2EA9-D515-EC71-43F0EA053926}"/>
              </a:ext>
            </a:extLst>
          </p:cNvPr>
          <p:cNvSpPr txBox="1"/>
          <p:nvPr/>
        </p:nvSpPr>
        <p:spPr>
          <a:xfrm>
            <a:off x="643889" y="4088245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분석 요건은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en-US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에서 소화하며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점진적인 고도화를 통해 기존 레거시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유지보수 비용 및 의존도를 완전히 탈피합니다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6" name="Shape 4">
            <a:extLst>
              <a:ext uri="{FF2B5EF4-FFF2-40B4-BE49-F238E27FC236}">
                <a16:creationId xmlns:a16="http://schemas.microsoft.com/office/drawing/2014/main" id="{C9A198F3-66F6-9E53-3199-EA0A60D4B3DF}"/>
              </a:ext>
            </a:extLst>
          </p:cNvPr>
          <p:cNvSpPr/>
          <p:nvPr/>
        </p:nvSpPr>
        <p:spPr>
          <a:xfrm>
            <a:off x="6647404" y="2247506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30" name="그래픽 129">
            <a:extLst>
              <a:ext uri="{FF2B5EF4-FFF2-40B4-BE49-F238E27FC236}">
                <a16:creationId xmlns:a16="http://schemas.microsoft.com/office/drawing/2014/main" id="{745B5BE4-2FED-0AB0-4B2A-931343A32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8666" y="2339467"/>
            <a:ext cx="252000" cy="252000"/>
          </a:xfrm>
          <a:prstGeom prst="rect">
            <a:avLst/>
          </a:prstGeom>
        </p:spPr>
      </p:pic>
      <p:pic>
        <p:nvPicPr>
          <p:cNvPr id="132" name="그래픽 131">
            <a:extLst>
              <a:ext uri="{FF2B5EF4-FFF2-40B4-BE49-F238E27FC236}">
                <a16:creationId xmlns:a16="http://schemas.microsoft.com/office/drawing/2014/main" id="{0B8E5116-D114-0BBB-B461-5EBF0A9E53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3260" y="2351955"/>
            <a:ext cx="252000" cy="252000"/>
          </a:xfrm>
          <a:prstGeom prst="rect">
            <a:avLst/>
          </a:prstGeom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EEE3CE-CB61-DD74-47EC-7853EF21ABD0}"/>
              </a:ext>
            </a:extLst>
          </p:cNvPr>
          <p:cNvSpPr txBox="1"/>
          <p:nvPr/>
        </p:nvSpPr>
        <p:spPr>
          <a:xfrm>
            <a:off x="4460298" y="1698649"/>
            <a:ext cx="42306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화면 이관을 넘어, 수년간 많은 시간과 비용을 들여 정립해 둔 복잡한 사내 데이터 접근 제어 및 필터 룰(</a:t>
            </a:r>
            <a:r>
              <a:rPr lang="ko-KR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)을 폐기하지 않고 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Work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Space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 환경으로 매끄럽고 안전하게 이식합니다.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Shape 4">
            <a:extLst>
              <a:ext uri="{FF2B5EF4-FFF2-40B4-BE49-F238E27FC236}">
                <a16:creationId xmlns:a16="http://schemas.microsoft.com/office/drawing/2014/main" id="{19246F36-4140-84F7-5D08-586E746A206A}"/>
              </a:ext>
            </a:extLst>
          </p:cNvPr>
          <p:cNvSpPr/>
          <p:nvPr/>
        </p:nvSpPr>
        <p:spPr>
          <a:xfrm>
            <a:off x="5829300" y="2143336"/>
            <a:ext cx="1557337" cy="18920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Logic</a:t>
            </a:r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Translation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611550B-D823-753D-49DA-B2B8C5BF1B38}"/>
              </a:ext>
            </a:extLst>
          </p:cNvPr>
          <p:cNvSpPr txBox="1"/>
          <p:nvPr/>
        </p:nvSpPr>
        <p:spPr>
          <a:xfrm>
            <a:off x="4571998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Legacy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BI System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D178F6A-6615-D0EC-5577-1F6E0C72C033}"/>
              </a:ext>
            </a:extLst>
          </p:cNvPr>
          <p:cNvSpPr txBox="1"/>
          <p:nvPr/>
        </p:nvSpPr>
        <p:spPr>
          <a:xfrm>
            <a:off x="6647404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Work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Space</a:t>
            </a:r>
            <a:endParaRPr lang="ko-KR" altLang="ko-KR" sz="1050" b="1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31B193E-F637-E2C7-1685-5402D2B6CEF6}"/>
              </a:ext>
            </a:extLst>
          </p:cNvPr>
          <p:cNvSpPr txBox="1"/>
          <p:nvPr/>
        </p:nvSpPr>
        <p:spPr>
          <a:xfrm>
            <a:off x="4635246" y="2861058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조직도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/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직급별 사용자 그룹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행 수준 보안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(RLS)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규칙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맞춤형 대시보드 </a:t>
            </a:r>
            <a:r>
              <a:rPr lang="ko-KR" altLang="en-US" sz="800" b="1" dirty="0">
                <a:solidFill>
                  <a:srgbClr val="FFFFFF"/>
                </a:solidFill>
              </a:rPr>
              <a:t>뷰 필터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</a:rPr>
              <a:t>  데이터 접근 제어 정책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44ECA06-0957-0CFC-E248-817492666CE8}"/>
              </a:ext>
            </a:extLst>
          </p:cNvPr>
          <p:cNvSpPr txBox="1"/>
          <p:nvPr/>
        </p:nvSpPr>
        <p:spPr>
          <a:xfrm>
            <a:off x="6723449" y="2872546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Work Space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권한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(RBAC)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자동 매핑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Agent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쿼리 시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RLS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강제 주입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사용자별 맞춤형 뷰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(View)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필터 적용</a:t>
            </a:r>
            <a:endParaRPr lang="ko-KR" altLang="en-US" sz="800" b="1" dirty="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</a:rPr>
              <a:t>  안전하게 통제된 대시보드 환경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50" name="Shape 4">
            <a:extLst>
              <a:ext uri="{FF2B5EF4-FFF2-40B4-BE49-F238E27FC236}">
                <a16:creationId xmlns:a16="http://schemas.microsoft.com/office/drawing/2014/main" id="{9D9FC207-490C-0750-D7C1-8939CD1D5536}"/>
              </a:ext>
            </a:extLst>
          </p:cNvPr>
          <p:cNvSpPr/>
          <p:nvPr/>
        </p:nvSpPr>
        <p:spPr>
          <a:xfrm>
            <a:off x="4571997" y="3945438"/>
            <a:ext cx="3989932" cy="566604"/>
          </a:xfrm>
          <a:prstGeom prst="roundRect">
            <a:avLst>
              <a:gd name="adj" fmla="val 11262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3E620979-4E93-FF22-BD55-636953F8754E}"/>
              </a:ext>
            </a:extLst>
          </p:cNvPr>
          <p:cNvSpPr/>
          <p:nvPr/>
        </p:nvSpPr>
        <p:spPr>
          <a:xfrm>
            <a:off x="4669179" y="4227572"/>
            <a:ext cx="187699" cy="129043"/>
          </a:xfrm>
          <a:prstGeom prst="roundRect">
            <a:avLst>
              <a:gd name="adj" fmla="val 18181"/>
            </a:avLst>
          </a:prstGeom>
          <a:solidFill>
            <a:schemeClr val="bg1"/>
          </a:solidFill>
          <a:ln w="11509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자유형: 도형 156">
            <a:extLst>
              <a:ext uri="{FF2B5EF4-FFF2-40B4-BE49-F238E27FC236}">
                <a16:creationId xmlns:a16="http://schemas.microsoft.com/office/drawing/2014/main" id="{21826CCA-8680-194F-8CD3-B3B082BE8E8D}"/>
              </a:ext>
            </a:extLst>
          </p:cNvPr>
          <p:cNvSpPr/>
          <p:nvPr/>
        </p:nvSpPr>
        <p:spPr>
          <a:xfrm>
            <a:off x="4704373" y="4133722"/>
            <a:ext cx="117312" cy="93849"/>
          </a:xfrm>
          <a:custGeom>
            <a:avLst/>
            <a:gdLst>
              <a:gd name="csX0" fmla="*/ 0 w 117312"/>
              <a:gd name="csY0" fmla="*/ 93850 h 93849"/>
              <a:gd name="csX1" fmla="*/ 0 w 117312"/>
              <a:gd name="csY1" fmla="*/ 58656 h 93849"/>
              <a:gd name="csX2" fmla="*/ 58656 w 117312"/>
              <a:gd name="csY2" fmla="*/ 0 h 93849"/>
              <a:gd name="csX3" fmla="*/ 117312 w 117312"/>
              <a:gd name="csY3" fmla="*/ 58656 h 93849"/>
              <a:gd name="csX4" fmla="*/ 117312 w 117312"/>
              <a:gd name="csY4" fmla="*/ 93850 h 93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7312" h="93849">
                <a:moveTo>
                  <a:pt x="0" y="93850"/>
                </a:moveTo>
                <a:lnTo>
                  <a:pt x="0" y="58656"/>
                </a:lnTo>
                <a:cubicBezTo>
                  <a:pt x="0" y="26261"/>
                  <a:pt x="26261" y="0"/>
                  <a:pt x="58656" y="0"/>
                </a:cubicBezTo>
                <a:cubicBezTo>
                  <a:pt x="91051" y="0"/>
                  <a:pt x="117312" y="26261"/>
                  <a:pt x="117312" y="58656"/>
                </a:cubicBezTo>
                <a:lnTo>
                  <a:pt x="117312" y="93850"/>
                </a:lnTo>
              </a:path>
            </a:pathLst>
          </a:custGeom>
          <a:noFill/>
          <a:ln w="28773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97E73AF-04C3-84A5-C20C-E10DACCE7008}"/>
              </a:ext>
            </a:extLst>
          </p:cNvPr>
          <p:cNvSpPr txBox="1"/>
          <p:nvPr/>
        </p:nvSpPr>
        <p:spPr>
          <a:xfrm>
            <a:off x="4850582" y="3961773"/>
            <a:ext cx="3764642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i="0" dirty="0">
                <a:solidFill>
                  <a:srgbClr val="00E5FF"/>
                </a:solidFill>
                <a:effectLst/>
                <a:latin typeface="SUIT" pitchFamily="2" charset="-127"/>
                <a:ea typeface="SUIT" pitchFamily="2" charset="-127"/>
              </a:rPr>
              <a:t>"권한 로직 재설계 제로, 보안 누락 제로“</a:t>
            </a:r>
            <a:endParaRPr lang="en-US" altLang="ko-KR" sz="1000" b="1" i="0" dirty="0">
              <a:solidFill>
                <a:srgbClr val="00E5F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en-US" altLang="ko-KR" sz="700" dirty="0"/>
              <a:t> </a:t>
            </a:r>
            <a:br>
              <a:rPr lang="ko-KR" altLang="ko-KR" sz="700" dirty="0"/>
            </a:b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도입 과정에서 IT/보안 부서가 복잡한 권한 체계와 필터 절차를 처음부터 다시 설계할 필요 없이 기존 룰(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)을 그대로 매핑하며, 이 안전한 필터 정책은 AI 답변 생성 시에도 강제(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Enforce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 적용됩니다.</a:t>
            </a:r>
            <a:endParaRPr lang="ko-KR" altLang="en-US" sz="700" dirty="0"/>
          </a:p>
        </p:txBody>
      </p:sp>
      <p:sp>
        <p:nvSpPr>
          <p:cNvPr id="162" name="화살표: 오른쪽 161">
            <a:extLst>
              <a:ext uri="{FF2B5EF4-FFF2-40B4-BE49-F238E27FC236}">
                <a16:creationId xmlns:a16="http://schemas.microsoft.com/office/drawing/2014/main" id="{FA767702-212F-9B25-A495-81BE8631CDA6}"/>
              </a:ext>
            </a:extLst>
          </p:cNvPr>
          <p:cNvSpPr/>
          <p:nvPr/>
        </p:nvSpPr>
        <p:spPr>
          <a:xfrm>
            <a:off x="6378990" y="2445238"/>
            <a:ext cx="367449" cy="117358"/>
          </a:xfrm>
          <a:prstGeom prst="rightArrow">
            <a:avLst>
              <a:gd name="adj1" fmla="val 9987"/>
              <a:gd name="adj2" fmla="val 37403"/>
            </a:avLst>
          </a:prstGeom>
          <a:solidFill>
            <a:srgbClr val="00E5FF"/>
          </a:solidFill>
          <a:ln>
            <a:solidFill>
              <a:srgbClr val="00E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9895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35CD-0227-45A6-CC44-787E4991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D883027D-46AD-AF2A-0CAD-CDF5453A5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전담 파트너십 및 지속 성장 지원 체계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(Customer Success)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A2A0D48-379F-D6D6-379A-940759251C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DB2E92B-EF38-CA8F-D67D-2A823120FEB0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F7473-7368-ED7A-2C28-5F2005FFAC1D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단순한 솔루션 납품으로 끝나지 않습니다. 도입 초기부터 정착, 확산에 이르기까지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전담팀의 상주/비상주 밀착 지원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현업의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역할을 명확히 구분한 하이브리드 거버넌스 체계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를 통해 지속적인 AI 성장을 약속합니다.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80E2756-3E85-9755-A51E-3A383CD85094}"/>
              </a:ext>
            </a:extLst>
          </p:cNvPr>
          <p:cNvSpPr/>
          <p:nvPr/>
        </p:nvSpPr>
        <p:spPr>
          <a:xfrm>
            <a:off x="222476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41BFB1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8482D8D-D366-EFAD-48FA-C258C6F648B1}"/>
              </a:ext>
            </a:extLst>
          </p:cNvPr>
          <p:cNvGrpSpPr/>
          <p:nvPr/>
        </p:nvGrpSpPr>
        <p:grpSpPr>
          <a:xfrm>
            <a:off x="222476" y="1305482"/>
            <a:ext cx="3972822" cy="418946"/>
            <a:chOff x="277659" y="1856168"/>
            <a:chExt cx="8595362" cy="568173"/>
          </a:xfrm>
          <a:solidFill>
            <a:srgbClr val="00A896"/>
          </a:solidFill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526A56B5-D465-C0A4-D709-E5F0002A8E70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B173C5AA-0696-9876-F0C6-549FA6625A38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24" name="Shape 4">
            <a:extLst>
              <a:ext uri="{FF2B5EF4-FFF2-40B4-BE49-F238E27FC236}">
                <a16:creationId xmlns:a16="http://schemas.microsoft.com/office/drawing/2014/main" id="{E879CF94-C732-260E-E2E0-FAE0177117CB}"/>
              </a:ext>
            </a:extLst>
          </p:cNvPr>
          <p:cNvSpPr/>
          <p:nvPr/>
        </p:nvSpPr>
        <p:spPr>
          <a:xfrm>
            <a:off x="4941921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  <a:effectLst>
            <a:glow rad="139700">
              <a:schemeClr val="bg1">
                <a:lumMod val="95000"/>
                <a:alpha val="8000"/>
              </a:scheme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BD0D32D-85C6-1ABC-9E34-234F6242F1A5}"/>
              </a:ext>
            </a:extLst>
          </p:cNvPr>
          <p:cNvGrpSpPr/>
          <p:nvPr/>
        </p:nvGrpSpPr>
        <p:grpSpPr>
          <a:xfrm>
            <a:off x="4941921" y="1305482"/>
            <a:ext cx="3972822" cy="418948"/>
            <a:chOff x="277659" y="1856168"/>
            <a:chExt cx="8595362" cy="568173"/>
          </a:xfrm>
          <a:solidFill>
            <a:srgbClr val="E2E8F0"/>
          </a:solidFill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FC1BFEA9-C6A5-CCE5-BAFD-965392BF5BE8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Shape 4">
              <a:extLst>
                <a:ext uri="{FF2B5EF4-FFF2-40B4-BE49-F238E27FC236}">
                  <a16:creationId xmlns:a16="http://schemas.microsoft.com/office/drawing/2014/main" id="{7EFF7BDD-0069-1649-370E-ECA52AE50BCB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pic>
        <p:nvPicPr>
          <p:cNvPr id="31" name="그림 30">
            <a:extLst>
              <a:ext uri="{FF2B5EF4-FFF2-40B4-BE49-F238E27FC236}">
                <a16:creationId xmlns:a16="http://schemas.microsoft.com/office/drawing/2014/main" id="{B393E6B9-0588-3D60-E87C-59D386D2C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53" y="2137718"/>
            <a:ext cx="495343" cy="541067"/>
          </a:xfrm>
          <a:prstGeom prst="rect">
            <a:avLst/>
          </a:prstGeom>
        </p:spPr>
      </p:pic>
      <p:pic>
        <p:nvPicPr>
          <p:cNvPr id="53" name="그래픽 52">
            <a:extLst>
              <a:ext uri="{FF2B5EF4-FFF2-40B4-BE49-F238E27FC236}">
                <a16:creationId xmlns:a16="http://schemas.microsoft.com/office/drawing/2014/main" id="{5DA62975-696B-261C-074A-D036DBBF8F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23130" y="1392303"/>
            <a:ext cx="273600" cy="273600"/>
          </a:xfrm>
          <a:prstGeom prst="rect">
            <a:avLst/>
          </a:prstGeom>
        </p:spPr>
      </p:pic>
      <p:pic>
        <p:nvPicPr>
          <p:cNvPr id="57" name="그래픽 56">
            <a:extLst>
              <a:ext uri="{FF2B5EF4-FFF2-40B4-BE49-F238E27FC236}">
                <a16:creationId xmlns:a16="http://schemas.microsoft.com/office/drawing/2014/main" id="{FEAE2B55-5402-0A06-3A79-8B16A06896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525" y="1390106"/>
            <a:ext cx="275124" cy="275124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CC42E35-AE6B-DAFD-A5B3-E02F8F234989}"/>
              </a:ext>
            </a:extLst>
          </p:cNvPr>
          <p:cNvSpPr txBox="1"/>
          <p:nvPr/>
        </p:nvSpPr>
        <p:spPr>
          <a:xfrm>
            <a:off x="665649" y="1429740"/>
            <a:ext cx="1968494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지원 (SI 파트너)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7D1FB895-2343-70C9-391C-68B3964F2DA5}"/>
              </a:ext>
            </a:extLst>
          </p:cNvPr>
          <p:cNvSpPr/>
          <p:nvPr/>
        </p:nvSpPr>
        <p:spPr>
          <a:xfrm>
            <a:off x="390525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87C4BD-EF73-463B-F500-B07234DE9D83}"/>
              </a:ext>
            </a:extLst>
          </p:cNvPr>
          <p:cNvSpPr/>
          <p:nvPr/>
        </p:nvSpPr>
        <p:spPr>
          <a:xfrm>
            <a:off x="390525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997DA29-D691-9A38-9BCB-BB14DB4A200C}"/>
              </a:ext>
            </a:extLst>
          </p:cNvPr>
          <p:cNvSpPr/>
          <p:nvPr/>
        </p:nvSpPr>
        <p:spPr>
          <a:xfrm>
            <a:off x="5106352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C591E166-66CB-E0A8-9A23-1016A0F10895}"/>
              </a:ext>
            </a:extLst>
          </p:cNvPr>
          <p:cNvSpPr/>
          <p:nvPr/>
        </p:nvSpPr>
        <p:spPr>
          <a:xfrm>
            <a:off x="5106352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54B4E1-DA0D-201C-4A22-FF86FAFD3E6A}"/>
              </a:ext>
            </a:extLst>
          </p:cNvPr>
          <p:cNvSpPr txBox="1"/>
          <p:nvPr/>
        </p:nvSpPr>
        <p:spPr>
          <a:xfrm>
            <a:off x="5447193" y="1436882"/>
            <a:ext cx="336343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운영 (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Client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highlight>
                  <a:srgbClr val="C0C0C0"/>
                </a:highlight>
                <a:latin typeface="SUIT" pitchFamily="2" charset="-127"/>
                <a:ea typeface="SUIT" pitchFamily="2" charset="-127"/>
              </a:rPr>
              <a:t>BUSINESS &amp; GOV.</a:t>
            </a:r>
          </a:p>
        </p:txBody>
      </p:sp>
      <p:pic>
        <p:nvPicPr>
          <p:cNvPr id="36" name="그래픽 35">
            <a:extLst>
              <a:ext uri="{FF2B5EF4-FFF2-40B4-BE49-F238E27FC236}">
                <a16:creationId xmlns:a16="http://schemas.microsoft.com/office/drawing/2014/main" id="{5E80DF0F-EEFB-87B8-F0BB-6AC0BE548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2189" y="1890713"/>
            <a:ext cx="152400" cy="152400"/>
          </a:xfrm>
          <a:prstGeom prst="rect">
            <a:avLst/>
          </a:prstGeom>
        </p:spPr>
      </p:pic>
      <p:pic>
        <p:nvPicPr>
          <p:cNvPr id="74" name="그래픽 73">
            <a:extLst>
              <a:ext uri="{FF2B5EF4-FFF2-40B4-BE49-F238E27FC236}">
                <a16:creationId xmlns:a16="http://schemas.microsoft.com/office/drawing/2014/main" id="{EC4976E4-896C-A721-E568-AA6E2E36E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1674" y="3083260"/>
            <a:ext cx="152400" cy="152400"/>
          </a:xfrm>
          <a:prstGeom prst="rect">
            <a:avLst/>
          </a:prstGeom>
        </p:spPr>
      </p:pic>
      <p:pic>
        <p:nvPicPr>
          <p:cNvPr id="76" name="그래픽 75">
            <a:extLst>
              <a:ext uri="{FF2B5EF4-FFF2-40B4-BE49-F238E27FC236}">
                <a16:creationId xmlns:a16="http://schemas.microsoft.com/office/drawing/2014/main" id="{5822308D-10A3-1185-FE8B-A683833A73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2765" y="3073708"/>
            <a:ext cx="152400" cy="152400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B75CB088-9E00-03E1-D926-D3D871523445}"/>
              </a:ext>
            </a:extLst>
          </p:cNvPr>
          <p:cNvSpPr/>
          <p:nvPr/>
        </p:nvSpPr>
        <p:spPr>
          <a:xfrm>
            <a:off x="2684606" y="1407992"/>
            <a:ext cx="1383517" cy="238557"/>
          </a:xfrm>
          <a:prstGeom prst="roundRect">
            <a:avLst>
              <a:gd name="adj" fmla="val 49038"/>
            </a:avLst>
          </a:prstGeom>
          <a:solidFill>
            <a:srgbClr val="33B9AB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BI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Consulting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i="0" dirty="0">
                <a:solidFill>
                  <a:schemeClr val="bg1"/>
                </a:solidFill>
                <a:effectLst/>
                <a:latin typeface="Urbanist"/>
              </a:rPr>
              <a:t>&amp; TECH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0" name="Shape 4">
            <a:extLst>
              <a:ext uri="{FF2B5EF4-FFF2-40B4-BE49-F238E27FC236}">
                <a16:creationId xmlns:a16="http://schemas.microsoft.com/office/drawing/2014/main" id="{460D9191-72F5-CA4C-71E0-20EBEDBCE836}"/>
              </a:ext>
            </a:extLst>
          </p:cNvPr>
          <p:cNvSpPr/>
          <p:nvPr/>
        </p:nvSpPr>
        <p:spPr>
          <a:xfrm>
            <a:off x="2523085" y="3081074"/>
            <a:ext cx="1433289" cy="164889"/>
          </a:xfrm>
          <a:prstGeom prst="roundRect">
            <a:avLst>
              <a:gd name="adj" fmla="val 23043"/>
            </a:avLst>
          </a:prstGeom>
          <a:solidFill>
            <a:srgbClr val="DDEDFE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800" b="1" i="0" dirty="0">
                <a:solidFill>
                  <a:srgbClr val="2563EB"/>
                </a:solidFill>
                <a:effectLst/>
                <a:latin typeface="Urbanist"/>
              </a:rPr>
              <a:t>MAINTENANCE &amp; UPDATE</a:t>
            </a:r>
            <a:endParaRPr lang="ko-KR" altLang="en-US" sz="700" dirty="0">
              <a:solidFill>
                <a:schemeClr val="accent4">
                  <a:lumMod val="7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FDF0399-FD97-3E70-A1B7-E27DBBFF9ED9}"/>
              </a:ext>
            </a:extLst>
          </p:cNvPr>
          <p:cNvSpPr txBox="1"/>
          <p:nvPr/>
        </p:nvSpPr>
        <p:spPr>
          <a:xfrm>
            <a:off x="569193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상주 지원 (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On-site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0E883A1-866B-B83B-4614-42C3D1958E3F}"/>
              </a:ext>
            </a:extLst>
          </p:cNvPr>
          <p:cNvSpPr txBox="1"/>
          <p:nvPr/>
        </p:nvSpPr>
        <p:spPr>
          <a:xfrm>
            <a:off x="594360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비상주 지원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(Off-site / Cloud)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1E0A7F1-9789-B306-7D6B-9EE4B7338FDB}"/>
              </a:ext>
            </a:extLst>
          </p:cNvPr>
          <p:cNvSpPr txBox="1"/>
          <p:nvPr/>
        </p:nvSpPr>
        <p:spPr>
          <a:xfrm>
            <a:off x="5287874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비즈니스 현업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(Business Users)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140539-7CA2-1335-FC76-53AF98977D54}"/>
              </a:ext>
            </a:extLst>
          </p:cNvPr>
          <p:cNvSpPr txBox="1"/>
          <p:nvPr/>
        </p:nvSpPr>
        <p:spPr>
          <a:xfrm>
            <a:off x="5313041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및 데이터 운영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(IT / Data Team)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5" name="그래픽 104" descr="남자 옆모습 단색으로 채워진">
            <a:extLst>
              <a:ext uri="{FF2B5EF4-FFF2-40B4-BE49-F238E27FC236}">
                <a16:creationId xmlns:a16="http://schemas.microsoft.com/office/drawing/2014/main" id="{AF9AB26E-899E-F42C-4750-5681DCBF99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59808" y="1900611"/>
            <a:ext cx="140159" cy="151272"/>
          </a:xfrm>
          <a:prstGeom prst="rect">
            <a:avLst/>
          </a:prstGeom>
        </p:spPr>
      </p:pic>
      <p:pic>
        <p:nvPicPr>
          <p:cNvPr id="107" name="그래픽 106" descr="여성 프로필 단색으로 채워진">
            <a:extLst>
              <a:ext uri="{FF2B5EF4-FFF2-40B4-BE49-F238E27FC236}">
                <a16:creationId xmlns:a16="http://schemas.microsoft.com/office/drawing/2014/main" id="{13AE3EF8-04F9-CEF9-0952-46D1F63924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0444" y="1902174"/>
            <a:ext cx="140159" cy="15127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9D1898D0-DDB7-F240-FAEC-E5CAAA91C333}"/>
              </a:ext>
            </a:extLst>
          </p:cNvPr>
          <p:cNvSpPr txBox="1"/>
          <p:nvPr/>
        </p:nvSpPr>
        <p:spPr>
          <a:xfrm>
            <a:off x="430516" y="2157177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레거시 DB 및 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보안망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연동 등 복잡도 높은 초기 아키텍처 셋업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현업의 요구사항을 반영한 고난도 핵심 분석 스킬(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Python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/SQL) 개발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유저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(Evangelist)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대상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온보딩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교육 및 밀착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Q&amp;A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3F91209-1DD2-9A88-CBC9-D0AB126D68D2}"/>
              </a:ext>
            </a:extLst>
          </p:cNvPr>
          <p:cNvSpPr txBox="1"/>
          <p:nvPr/>
        </p:nvSpPr>
        <p:spPr>
          <a:xfrm>
            <a:off x="445556" y="3322646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전용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헬프데스크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운영을 통한 신속한 원격 및 트러블슈팅 지원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상용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LLM(GPT, Claude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버전 패치 및 파이프라인 관리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폐쇄망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백엔드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지속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및 정기 보안 패치 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32A8FB-5091-C2AE-1999-D26D06FAE28F}"/>
              </a:ext>
            </a:extLst>
          </p:cNvPr>
          <p:cNvSpPr txBox="1"/>
          <p:nvPr/>
        </p:nvSpPr>
        <p:spPr>
          <a:xfrm>
            <a:off x="5111006" y="2132274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9D6DC0-323E-1587-B003-78B74797E683}"/>
              </a:ext>
            </a:extLst>
          </p:cNvPr>
          <p:cNvSpPr txBox="1"/>
          <p:nvPr/>
        </p:nvSpPr>
        <p:spPr>
          <a:xfrm>
            <a:off x="5132367" y="3316559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31" name="Shape 4">
            <a:extLst>
              <a:ext uri="{FF2B5EF4-FFF2-40B4-BE49-F238E27FC236}">
                <a16:creationId xmlns:a16="http://schemas.microsoft.com/office/drawing/2014/main" id="{8869BAC5-E53E-949A-1822-89686CDA5B52}"/>
              </a:ext>
            </a:extLst>
          </p:cNvPr>
          <p:cNvSpPr/>
          <p:nvPr/>
        </p:nvSpPr>
        <p:spPr>
          <a:xfrm rot="16200000">
            <a:off x="4236732" y="218639"/>
            <a:ext cx="668718" cy="8685703"/>
          </a:xfrm>
          <a:prstGeom prst="roundRect">
            <a:avLst>
              <a:gd name="adj" fmla="val 13147"/>
            </a:avLst>
          </a:prstGeom>
          <a:gradFill rotWithShape="1">
            <a:gsLst>
              <a:gs pos="0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FA10D3A-0000-3E4D-F403-07E6E2DAB5EB}"/>
              </a:ext>
            </a:extLst>
          </p:cNvPr>
          <p:cNvSpPr txBox="1"/>
          <p:nvPr/>
        </p:nvSpPr>
        <p:spPr>
          <a:xfrm>
            <a:off x="330156" y="4266700"/>
            <a:ext cx="12967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600" b="1" i="0" dirty="0">
                <a:solidFill>
                  <a:srgbClr val="FFFFFF"/>
                </a:solidFill>
                <a:effectLst/>
                <a:latin typeface="Urbanist"/>
              </a:rPr>
              <a:t>Enterprise</a:t>
            </a:r>
            <a:r>
              <a:rPr lang="en-US" altLang="ko-KR" sz="1600" b="1" i="0" dirty="0">
                <a:solidFill>
                  <a:srgbClr val="FFFFFF"/>
                </a:solidFill>
                <a:effectLst/>
                <a:latin typeface="Urbanist"/>
              </a:rPr>
              <a:t>  </a:t>
            </a:r>
          </a:p>
          <a:p>
            <a:pPr algn="l">
              <a:buNone/>
            </a:pPr>
            <a:r>
              <a:rPr lang="ko-KR" altLang="ko-KR" sz="1600" b="1" i="0" dirty="0" err="1">
                <a:solidFill>
                  <a:srgbClr val="00E5FF"/>
                </a:solidFill>
                <a:effectLst/>
                <a:latin typeface="Urbanist"/>
              </a:rPr>
              <a:t>Success</a:t>
            </a:r>
            <a:r>
              <a:rPr lang="ko-KR" altLang="ko-KR" sz="1600" b="1" i="0" dirty="0">
                <a:solidFill>
                  <a:srgbClr val="00E5FF"/>
                </a:solidFill>
                <a:effectLst/>
                <a:latin typeface="Urbanist"/>
              </a:rPr>
              <a:t> SLA</a:t>
            </a:r>
            <a:endParaRPr lang="ko-KR" altLang="ko-KR" sz="1600" b="1" i="0" dirty="0">
              <a:solidFill>
                <a:srgbClr val="FFFFFF"/>
              </a:solidFill>
              <a:effectLst/>
              <a:latin typeface="Urbanist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45B4E0B-0165-7CF6-2224-164996E13A25}"/>
              </a:ext>
            </a:extLst>
          </p:cNvPr>
          <p:cNvSpPr txBox="1"/>
          <p:nvPr/>
        </p:nvSpPr>
        <p:spPr>
          <a:xfrm>
            <a:off x="2096097" y="4287710"/>
            <a:ext cx="189954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Dedicated</a:t>
            </a:r>
            <a:r>
              <a:rPr lang="ko-KR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Tech </a:t>
            </a: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Support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고객사별 전담 기술 엔지니어 매핑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전용 핫라인을 통한 밀착 기술 지원 약속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298E7A-07E0-571E-37FD-5604E622B386}"/>
              </a:ext>
            </a:extLst>
          </p:cNvPr>
          <p:cNvSpPr txBox="1"/>
          <p:nvPr/>
        </p:nvSpPr>
        <p:spPr>
          <a:xfrm>
            <a:off x="4437399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Continuous AI Update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최신 상용 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LLM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버전 자동 업데이트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en-US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지속 </a:t>
            </a:r>
            <a:r>
              <a:rPr lang="ko-KR" altLang="en-US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지원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C6FB0D-20D9-38C0-F674-1477AC56AE3E}"/>
              </a:ext>
            </a:extLst>
          </p:cNvPr>
          <p:cNvSpPr txBox="1"/>
          <p:nvPr/>
        </p:nvSpPr>
        <p:spPr>
          <a:xfrm>
            <a:off x="6758290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Priority Incident Response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장애 발생 시 즉각적인 원인 파악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최우선 원격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방문 복구 프로세스 가동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49" name="그래픽 48">
            <a:extLst>
              <a:ext uri="{FF2B5EF4-FFF2-40B4-BE49-F238E27FC236}">
                <a16:creationId xmlns:a16="http://schemas.microsoft.com/office/drawing/2014/main" id="{3A62AC56-5BC6-C2D7-FA22-4802388FD1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52889" y="4348000"/>
            <a:ext cx="312311" cy="312311"/>
          </a:xfrm>
          <a:prstGeom prst="rect">
            <a:avLst/>
          </a:prstGeom>
        </p:spPr>
      </p:pic>
      <p:pic>
        <p:nvPicPr>
          <p:cNvPr id="45" name="그래픽 44">
            <a:extLst>
              <a:ext uri="{FF2B5EF4-FFF2-40B4-BE49-F238E27FC236}">
                <a16:creationId xmlns:a16="http://schemas.microsoft.com/office/drawing/2014/main" id="{0A762575-C94A-CBE1-C8E9-46E6D96EE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24892" y="4325521"/>
            <a:ext cx="323062" cy="323062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A3C7A3CC-6D9B-C1E4-1A1E-F633D040E0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94393" y="4369766"/>
            <a:ext cx="250477" cy="25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645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5507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726642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68629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332744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16842"/>
            <a:chOff x="466641" y="3391165"/>
            <a:chExt cx="2398480" cy="216842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(Lineage)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꿰뚫는 깊은 통찰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12673"/>
            <a:ext cx="8595360" cy="49709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83885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61528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61528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61528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57856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021" y="4469682"/>
            <a:ext cx="363397" cy="363397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44675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329827"/>
            <a:ext cx="2498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285119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16842"/>
            <a:chOff x="466641" y="3391165"/>
            <a:chExt cx="2398480" cy="216842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16842"/>
            <a:chOff x="466641" y="3391165"/>
            <a:chExt cx="2398480" cy="216842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모델링을 넘어선 비즈니스 임팩트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(ROI)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16842"/>
            <a:chOff x="466641" y="3391165"/>
            <a:chExt cx="2447135" cy="216842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완벽한 융합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16842"/>
            <a:chOff x="466641" y="3391165"/>
            <a:chExt cx="2398480" cy="216842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16842"/>
            <a:chOff x="466641" y="3391165"/>
            <a:chExt cx="2398480" cy="216842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돌파하는 유연하고 빠른 실행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16842"/>
            <a:chOff x="466641" y="3391165"/>
            <a:chExt cx="2463059" cy="216842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납품을 넘어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(Adoption)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16842"/>
            <a:chOff x="466641" y="3391165"/>
            <a:chExt cx="2398480" cy="216842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리터러시를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끌어올리는 맞춤형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16842"/>
            <a:chOff x="466641" y="3391165"/>
            <a:chExt cx="2398480" cy="216842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비즈니스 환경 변화에 대응하는 끊임없는 모델 최적화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5275" y="4427289"/>
            <a:ext cx="3437325" cy="441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2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2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ACDC54C-2326-5C45-8804-9391DA115C4A}"/>
              </a:ext>
            </a:extLst>
          </p:cNvPr>
          <p:cNvSpPr txBox="1"/>
          <p:nvPr/>
        </p:nvSpPr>
        <p:spPr>
          <a:xfrm>
            <a:off x="4292600" y="4486345"/>
            <a:ext cx="4254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Navigating from data to insight.</a:t>
            </a:r>
            <a:endParaRPr lang="ko-KR" altLang="ko-KR" sz="18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08884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BAB3-BE2C-E88C-771A-761B935EF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4C5CFB-A646-E58E-A17C-ADE77A474E4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05.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5C7869-989E-B93A-F0DF-9420F41501BE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시연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B1926F-3EEC-A85B-0A6F-0DEE79DC82E1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798334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F5856-6C8E-1E60-4561-AB842CED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B84BF4E-7902-9915-A3EC-34015E428DCF}"/>
              </a:ext>
            </a:extLst>
          </p:cNvPr>
          <p:cNvSpPr/>
          <p:nvPr/>
        </p:nvSpPr>
        <p:spPr>
          <a:xfrm>
            <a:off x="0" y="23545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감사합니다</a:t>
            </a: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36861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[178608499613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883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26481</TotalTime>
  <Words>9752</Words>
  <Application>Microsoft Office PowerPoint</Application>
  <PresentationFormat>화면 슬라이드 쇼(16:9)</PresentationFormat>
  <Paragraphs>1307</Paragraphs>
  <Slides>43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43</vt:i4>
      </vt:variant>
    </vt:vector>
  </HeadingPairs>
  <TitlesOfParts>
    <vt:vector size="57" baseType="lpstr">
      <vt:lpstr>Inter</vt:lpstr>
      <vt:lpstr>Noto Sans KR</vt:lpstr>
      <vt:lpstr>Noto Sans KR Black</vt:lpstr>
      <vt:lpstr>SUIT</vt:lpstr>
      <vt:lpstr>SUIT ExtraBold</vt:lpstr>
      <vt:lpstr>SUIT Light</vt:lpstr>
      <vt:lpstr>SUIT SemiBold</vt:lpstr>
      <vt:lpstr>SUIT Variable</vt:lpstr>
      <vt:lpstr>Urbanist</vt:lpstr>
      <vt:lpstr>Arial</vt:lpstr>
      <vt:lpstr>Courier New</vt:lpstr>
      <vt:lpstr>Wingdings</vt:lpstr>
      <vt:lpstr>Office Theme [1781772137325]</vt:lpstr>
      <vt:lpstr>Office Theme [1786084996135]</vt:lpstr>
      <vt:lpstr>PowerPoint 프레젠테이션</vt:lpstr>
      <vt:lpstr>목차</vt:lpstr>
      <vt:lpstr>PowerPoint 프레젠테이션</vt:lpstr>
      <vt:lpstr>PowerPoint 프레젠테이션</vt:lpstr>
      <vt:lpstr>솔루션 개요</vt:lpstr>
      <vt:lpstr>PowerPoint 프레젠테이션</vt:lpstr>
      <vt:lpstr>aisight: aisight 서비스 아키텍처</vt:lpstr>
      <vt:lpstr>aisight: aisight 배포 아키텍처 (Deployment Architecture)</vt:lpstr>
      <vt:lpstr>지능형 분석 라이프사이클</vt:lpstr>
      <vt:lpstr>aisight Work Space: 인텔리전스 자산화 및 전사 협업 포털</vt:lpstr>
      <vt:lpstr>aisight Ops: 전사 AI 통합 관제 사령탑</vt:lpstr>
      <vt:lpstr>유연한 LLM 하이브리드 구성</vt:lpstr>
      <vt:lpstr>스킬 기반 시스템 (Skill-Based Intelligent System)</vt:lpstr>
      <vt:lpstr>Graph DB 기반 지능형 지식 모델링 아키텍처</vt:lpstr>
      <vt:lpstr>AI가 답하기 전에, 검증된 지식으로 먼저 확인합니다</vt:lpstr>
      <vt:lpstr>지식 그래프가 의미를 찾아가는 방식</vt:lpstr>
      <vt:lpstr>1단계 모호한 질문이 명확한 의도로 전달되는 과정</vt:lpstr>
      <vt:lpstr>2단계 질의 맥락 라우팅 한 질문, 여러 맥락 을 이해해 필요한 스킬만 조합 </vt:lpstr>
      <vt:lpstr>시맨틱 추론 레이어(SRL)</vt:lpstr>
      <vt:lpstr>SRL 양방향 질의 처리 및 자가 진화 루프</vt:lpstr>
      <vt:lpstr>지능형 LLM 위키(Wiki) 및 전사 지식 자산화 파이프라인</vt:lpstr>
      <vt:lpstr>Document Parser - 지식 자산화 파이프라인 </vt:lpstr>
      <vt:lpstr>Tableau Extension 지원 아키텍처</vt:lpstr>
      <vt:lpstr>aisight가 신뢰를 만드는 4가지 방식</vt:lpstr>
      <vt:lpstr>엔터프라이즈급 보안 및 권한 제어 (Security &amp; Governance)</vt:lpstr>
      <vt:lpstr>PowerPoint 프레젠테이션</vt:lpstr>
      <vt:lpstr>업무 환경의 혁신 : 기존 시스템 한계 극복</vt:lpstr>
      <vt:lpstr>실무 활용 시나리오 ① : Dashboard 양방향 대화형 자동 제어</vt:lpstr>
      <vt:lpstr>실무 활용 시나리오 ② : 에이전트 기반 대화형 데이터 탐색 및 분석</vt:lpstr>
      <vt:lpstr>실무 활용 시나리오 ③ : 지식 위키(Knowledge Wiki) 기반 전문가 질의응답</vt:lpstr>
      <vt:lpstr>실무 활용 시나리오 ④ : 지능형 루프를 통한 자동화 문서 생성 시스템</vt:lpstr>
      <vt:lpstr>실무 활용 시나리오 ⑤ : 무인(Human-less) 지식 자산화 파이프라인 </vt:lpstr>
      <vt:lpstr>비용 효율적 AI 운영 전략</vt:lpstr>
      <vt:lpstr>aisight가 바꾸는 새로운 업무 일상</vt:lpstr>
      <vt:lpstr>전략적 도입 효과 및 비즈니스 임팩트 (Expected Value &amp; ROI)</vt:lpstr>
      <vt:lpstr>PowerPoint 프레젠테이션</vt:lpstr>
      <vt:lpstr>Quick Win 달성을 위한 패스트 트랙(Fast-Track) 도입 전략</vt:lpstr>
      <vt:lpstr>aisight 엔터프라이즈 표준 구축 및 점진적 확산 로드맵 (12개월)</vt:lpstr>
      <vt:lpstr>기존 BI 자산의 무손실 단계별 전환(Phased Transition) 전략</vt:lpstr>
      <vt:lpstr>엔터프라이즈 전담 파트너십 및 지속 성장 지원 체계 (Customer Success)</vt:lpstr>
      <vt:lpstr>세일링스톤</vt:lpstr>
      <vt:lpstr>PowerPoint 프레젠테이션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92</cp:revision>
  <dcterms:created xsi:type="dcterms:W3CDTF">2026-05-21T10:23:19Z</dcterms:created>
  <dcterms:modified xsi:type="dcterms:W3CDTF">2026-08-18T08:12:38Z</dcterms:modified>
</cp:coreProperties>
</file>